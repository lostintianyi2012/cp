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1824" y="11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03T01:30:46.45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 24575,'2660'0'0,"-2618"0"0,122 4 0,-139 3 0,-49 3 0,-104 16 0,-186 13 0,174-25 0,-907 113 0,1009-120 0,76-4 0,5874-8-3965,-10613 5 1476,5017 0 2489,50 0 0,133 0 725,102 0 2172,949-2-3749,1737 4 437,-2818 2 415,874 17-1801,-1274-15 3332,-69-6-1502,0 0 1,0 0 0,0 0 0,0 0-1,-1 1 1,1-1 0,0 0 0,0 0-1,0 0 1,0 0 0,0 0 0,0 0 0,0 1-1,0-1 1,0 0 0,0 0 0,0 0-1,0 0 1,0 0 0,0 0 0,0 1-1,0-1 1,0 0 0,0 0 0,0 0-1,1 0 1,-1 0 0,0 0 0,0 1 0,0-1-1,0 0 1,0 0 0,0 0 0,0 0-1,0 0 1,0 0 0,1 0 0,-1 0-1,0 0 1,0 0 0,0 1 0,0-1-1,0 0 1,0 0 0,0 0 0,1 0 0,-42 5 734,-191 1 903,193-5-1679,-229 1 12,-116-1 0,-111-1-1039,-94 0-3116,-3674-1 1404,7701 1 2341,-1933 0 4449,-1451 0-7363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03T01:31:09.02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1494 596 24575,'1172'1'-14,"1247"-3"-955,-1861-13-1980,-526 15 2102,-60 2 629,-267 18 200,-368 17 20,-988-28 3256,754-10-1749,4963-1-3788,-2034 4 2095,-1973-2 184,159 5 0,-163 5 0,-54-10 0,-1 0 0,1 0 0,-1 0 0,1 0 0,-1 0 0,1 0 0,-1 0-1,0 0 1,1 0 0,-1 1 0,1-1 0,-1 0 0,1 0 0,-1 0 0,1 1 0,-1-1 0,1 0 0,-1 0 0,0 1 0,1-1 0,-1 0 0,0 1 0,1-1 0,-1 1 0,0-1 0,1 0 0,-1 1 0,0-1-1,0 1 1,1-1 0,-1 1 0,0-1 0,0 1 0,0-1 0,0 1 0,0-1 0,0 1 0,0-1 0,0 1 0,0-1 0,0 1 0,0-1 0,0 1 0,0-1 0,0 1 0,0-1 0,0 1 0,-1 0-1,-22 12 168,-5-4 68,0-1 1,0-1-1,-49 4 1,-97 0-369,120-9 200,-1246 11-67,884-15 0,-1130 0 1669,3630 58-2515,425 170 561,-2337-209 268,1182 100 17,-1320-115 0,-26-2 0,0 0 0,0 0 0,0 1 0,0 0 0,0 1 0,0 0 0,8 3 0,-15-3 0,-9 0 0,-62 4 151,-114-6-1,74-2 396,-1347 1-245,1730 1-301,16 0 0,108 0 0,102 0-164,3107 0-1377,-3501-1 1541,-72-2 0,-34 0 0,-17 0 0,-334-13 0,186 13 0,-1556-44 0,743 24 1705,787 9-1705,168 7 0,34 0 0,47-4 0,893-71 0,-425 43 0,-280 18 0,1070-115 0,-1188 115 0,-82 7 0,-44 14 0,-1 0 0,0 0 0,0-1 0,0 1 0,0 0 0,0 0 0,0 0 0,0-1 0,0 1 0,0 0 0,0 0 0,0 0 0,0-1 0,0 1 0,0 0 0,-1 0 0,1 0 0,0 0 0,0-1 0,0 1 0,0 0 0,0 0 0,0 0 0,0 0 0,-1-1 0,1 1 0,0 0 0,0 0 0,0 0 0,0 0 0,0 0 0,-1 0 0,1 0 0,0-1 0,0 1 0,0 0 0,-1 0 0,1 0 0,0 0 0,0 0 0,0 0 0,0 0 0,-1 0 0,1 0 0,0 0 0,0 0 0,0 0 0,-1 0 0,1 0 0,0 0 0,-33-4 0,-207-5 0,117 6 0,-235-6 0,-123-1-164,-2081-7-1396,960 11 1589,1436 2-29,110-3 0,52 3 0,13-1 0,13 0 0,0 2 0,28-2 0,1068-15 0,-771 22 0,3049 0-5,-3371-1 77,-25-1-71,0 0-1,-1 0 0,1 0 0,0 0 1,0 0-1,0 0 0,0 0 0,0 0 0,0 0 1,0 0-1,0 0 0,-1 0 0,1 0 0,0 0 1,0 0-1,0 0 0,0 0 0,0 0 0,0 1 1,0-1-1,0 0 0,-1 0 0,1 0 0,0 0 1,0 0-1,0 0 0,0 0 0,0 0 0,0 0 1,0 0-1,0 0 0,0 0 0,0 1 1,0-1-1,0 0 0,0 0 0,0 0 0,0 0 1,0 0-1,0 0 0,0 0 0,0 0 0,0 1 1,0-1-1,0 0 0,0 0 0,0 0 0,0 0 1,0 0-1,0 0 0,0 0 0,0 0 0,0 1 1,0-1-1,0 0 0,0 0 0,0 0 0,0 0 1,0 0-1,-46 10-6,-496 50 1438,-16-42-1372,492-17-55,-2374 10-3404,945-12-32,1081 10 2702,323-4 729,70 1 0,21-6 0,0 0 0,-1 0 0,1 0 0,0 0 0,0 0 0,0 0 0,0 0 0,0 0 0,0 0 0,0 0 0,0 0 0,-1 0 0,1 1 0,0-1 0,0 0 0,0 0 0,0 0 0,0 0 0,0 0 0,0 0 0,0 0 0,0 1 0,0-1 0,0 0 0,0 0 0,0 0 0,0 0 0,0 0 0,0 1 0,0-1 0,0 0 0,0 0 0,0 0 0,0 0 0,0 0 0,0 0 0,0 1 0,0-1 0,0 0 0,0 0 0,0 0 0,0 0 0,0 0 0,0 0 0,0 0 0,1 1 0,-1-1 0,0 0 0,0 0 0,0 0 0,0 0 0,0 0 0,0 0 0,0 0 0,1 0 0,-1 0 0,0 0 0,32 11 0,331 41 0,-226-36 0,6-1 58,-13-1 405,170 39-1,-279-46 376,0 0 0,0 2 1,-1 0-1,-1 1 0,0 1 1,22 17-1,-40-28-809,0 1 0,0 0 0,1-1 0,-1 1 0,0 0 0,0 0 0,0 0 0,0 0 0,0 0 0,0 0 0,0 1 0,0-1 0,0 0 0,-1 0 0,1 1 0,0-1 0,-1 0 0,1 1 0,-1-1 0,0 0 0,1 1 0,-1-1 0,0 1 0,0-1 0,0 1 0,0 1 0,-1 0-22,0-1 1,0 0 0,0 0-1,0-1 1,-1 1 0,1 0-1,-1 0 1,1-1 0,-1 1-1,1 0 1,-1-1 0,0 0-1,0 1 1,0-1 0,-2 1-1,-9 5-21,0-1-1,-1-1 0,0 0 1,-17 3-1,-109 20 15,-1-6 0,-176 4 0,-293-23 0,304-6 0,-10 5 0,-354-5 0,371-23 0,-45 0 0,-170 7 0,-41-13 0,-665 33 0,1062-14 0,106 6 0,-56 0 0,-1195 8 0,1144 12 0,12 1 0,146-14 0,-67 1 0,-87 12 0,72 3 0,-47 6 0,-220 29 0,-45 3 0,349-47 0,-191 35 0,213-37 0,1 1 0,0 2 0,0 0 0,1 1 0,0 1 0,-39 25 0,53-31 0,-1 0 0,1-1 0,-1 0 0,0-1 0,0 1 0,0-2 0,-18 2 0,24-3 0,0 1 0,0-1 0,0 0 0,0 0 0,0 0 0,0 0 0,0 0 0,0-1 0,0 1 0,0-1 0,0 0 0,0 0 0,0 0 0,0 0 0,1-1 0,-1 1 0,0-1 0,1 1 0,-1-1 0,1 0 0,0 0 0,-1 0 0,1 0 0,0-1 0,0 1 0,-2-4 0,4 4 0,0 1 0,0-1 0,0 0 0,0 1 0,0-1 0,0 1 0,0-1 0,0 1 0,1-1 0,-1 1 0,1-1 0,-1 1 0,1-1 0,0 1 0,-1 0 0,1-1 0,0 1 0,0 0 0,0 0 0,0-1 0,0 1 0,0 0 0,0 0 0,1 0 0,-1 0 0,0 0 0,2 0 0,44-26 0,-39 22 0,29-11 0,69-22 0,-65 25 0,48-23 0,-82 33 0,-1-1 0,1 0 0,-1 0 0,0-1 0,0 0 0,-1 0 0,1 0 0,-1-1 0,0 1 0,-1-1 0,1-1 0,-1 1 0,-1 0 0,1-1 0,-1 0 0,0 0 0,0 0 0,-1 0 0,0 0 0,1-11 0,1-11 0,-2-1 0,-1 0 0,-5-57 0,0 4 0,3 0 0,-17-116 0,12 154 0,3 20 0,-1 0 0,0 1 0,-16-46 0,14 49 0,1-1 0,1 1 0,-3-44 0,9 118 0,-3 279 0,-2-315 0,0 1 0,-2-1 0,0-1 0,-1 1 0,0-1 0,-1 1 0,-10 14 0,10-18 0,0 0 0,0 0 0,2 1 0,-1-1 0,2 1 0,0 1 0,1-1 0,0 0 0,1 1 0,0 17 0,1-31 0,1 0 0,0 0 0,0 0 0,1 0 0,-1 0 0,0 0 0,0 0 0,0 0 0,1 0 0,-1 0 0,1 0 0,-1 0 0,1 0 0,-1 0 0,1 0 0,-1 0 0,1-1 0,0 1 0,-1 0 0,1 0 0,0-1 0,0 1 0,-1 0 0,1-1 0,0 1 0,0-1 0,0 1 0,1 0 0,1-1 0,-1 0 0,1 1 0,0-1 0,-1 0 0,1-1 0,-1 1 0,1 0 0,-1-1 0,1 1 0,-1-1 0,4-1 0,10-5 0,-1-1 0,26-16 0,-33 18 0,39-23 0,223-154 0,-240 159 0,-2-1 0,-1-1 0,-1-2 0,-1 0 0,-2-2 0,34-54 0,18-69 0,-67 135 0,-1-1 0,-1 0 0,-1 0 0,-1 0 0,4-34 0,-9 192 0,-4 107 0,1-196 0,-2 0 0,-23 91 0,12-76 0,7-26 0,-1 0 0,-2-1 0,-22 46 0,35-82 0,-1 1 0,-1-1 0,1 0 0,0 0 0,0 0 0,-1 0 0,1 0 0,-1-1 0,0 1 0,1 0 0,-1-1 0,0 1 0,0-1 0,0 0 0,0 1 0,0-1 0,-1 0 0,1 0 0,-4 1 0,4-2 0,0-1 0,1 1 0,-1-1 0,1 1 0,-1-1 0,1 1 0,-1-1 0,1 0 0,0 0 0,-1 0 0,1 0 0,0 0 0,0 0 0,-1 0 0,1 0 0,0 0 0,0 0 0,0-1 0,0 1 0,1 0 0,-1-1 0,0 1 0,0-1 0,1 1 0,-1-1 0,1 1 0,0-1 0,-1 1 0,1-4 0,-6-21 0,1-1 0,1 1 0,2-1 0,1 0 0,1 0 0,1 1 0,8-50 0,7-6 0,33-94 0,-4 46 0,-45 130 0,0-1 0,0 0 0,0 1 0,0-1 0,0 1 0,0-1 0,0 1 0,0-1 0,0 1 0,1-1 0,-1 1 0,0-1 0,0 1 0,1 0 0,-1-1 0,0 1 0,0-1 0,1 1 0,-1 0 0,1-1 0,-1 1 0,0-1 0,1 1 0,-1 0 0,1 0 0,-1-1 0,1 1 0,-1 0 0,1 0 0,-1 0 0,1-1 0,-1 1 0,1 0 0,-1 0 0,1 0 0,-1 0 0,1 0 0,-1 0 0,1 0 0,-1 0 0,2 0 0,12 23 0,4 38 0,-2 50 0,2 8 0,-16-107 0,2 1 0,0-1 0,0 0 0,1 1 0,1-2 0,12 22 0,-11-25 0,1 0 0,-1 0 0,1-1 0,1 0 0,14 10 0,21 18 0,-32-23 0,2 0 0,-1-1 0,1 0 0,1-1 0,0-1 0,1 0 0,-1-1 0,1-1 0,1 0 0,0-1 0,0-1 0,0-1 0,32 5 0,135 17 0,-28-2 0,248 5 0,1203-31 0,-918 3 0,-460 17 0,-137-9 0,137 29 0,-8-1 0,-187-34 0,3 0 0,46 10 0,-74-11 0,1 1 0,0 0 0,-1 0 0,0 1 0,0 0 0,0 1 0,0-1 0,-1 2 0,14 10 0,-20-15 0,0 1 0,0 0 0,-1-1 0,1 1 0,0 0 0,-1 0 0,0 0 0,1 0 0,-1 0 0,0 0 0,0 1 0,0-1 0,0 0 0,0 1 0,-1-1 0,1 0 0,-1 1 0,1-1 0,-1 1 0,0-1 0,0 1 0,0-1 0,-1 5 0,0-3 0,-1 0 0,0 0 0,0 0 0,0 0 0,0 0 0,-1 0 0,0-1 0,0 1 0,1-1 0,-2 1 0,1-1 0,-4 3 0,-8 5 0,0-1 0,0 0 0,-1-1 0,0-1 0,-25 9 0,17-10 0,0-2 0,0 0 0,-44 2 0,-11 2 0,6-1 0,-1-3 0,-105-7 0,52 0 0,-2820 2 0,2895-1 0,-1-2 0,1-3 0,0-2 0,1-2 0,0-2 0,-70-27 0,-186-103 0,303 139 0,0 0 0,0 0 0,1-1 0,-1 1 0,1-1 0,0 1 0,0-1 0,0 0 0,0 0 0,1 0 0,0-1 0,-1 1 0,2-1 0,-1 1 0,0-1 0,1 0 0,0 1 0,0-1 0,0 0 0,1 0 0,0 0 0,0-6 0,0-11 0,1 0 0,1 0 0,7-34 0,-7 45 0,1-1 0,1 0 0,0 1 0,0 0 0,1 0 0,1 0 0,-1 1 0,2-1 0,0 2 0,0-1 0,0 1 0,1 0 0,1 0 0,0 1 0,11-9 0,-3 6 0,0 0 0,1 2 0,0 0 0,0 1 0,1 0 0,-1 2 0,2 0 0,31-4 0,839-93 0,-462 85 0,165-16 0,-140-24 0,624-9 0,-99 42 0,467-4 0,-770 29 0,-520-12 0,8 0 0,-46 11 0,2926-49 0,-1842-53 0,-902 64 0,213-37 0,-291 50 0,-169 22 0,165-6 0,-2470 87 0,853 6 0,729-35 0,670-47 0,16-1 0,38 0 0,-40 0 0,2755-3-4406,-1622 4 8271,-830 12-3275,8 0-639,-316-13 49,-3 0 0,0 0 0,-1 0 0,1 0 0,-1 0 0,1 1 0,-1 0 0,6 2 0,-10-3 0,0 0 0,1 0 0,-1 0 0,0 0 0,0 0 0,0 0 0,0 1 0,0-1 0,0 0 0,0 0 0,0 0 0,0 0 0,0 1 0,0-1 0,1 0 0,-1 0 0,0 0 0,0 0 0,0 1 0,0-1 0,0 0 0,0 0 0,0 0 0,-1 0 0,1 1 0,0-1 0,0 0 0,0 0 0,0 0 0,0 0 0,0 0 0,0 1 0,0-1 0,0 0 0,0 0 0,0 0 0,-1 0 0,1 0 0,0 1 0,0-1 0,0 0 0,0 0 0,0 0 0,-1 0 0,1 0 0,0 0 0,0 0 0,0 0 0,0 0 0,0 0 0,-1 0 0,1 0 0,0 0 0,0 0 0,0 0 0,0 0 0,-1 0 0,1 0 0,0 0 0,0 0 0,0 0 0,0 0 0,-1 0 0,1 0 0,-16 4 0,-54 4 0,-1-3 0,-85-5 0,51-2 0,-6762 1 0,6427 15 0,18-1 0,132-12 0,-483-4 0,697-2 0,1-3 0,0-4 0,1-2 0,1-4 0,-102-39 0,93 26 0,-1 5 0,-159-31 0,161 51 0,-136 7 0,80 2 0,-882-3 0,991-2 0,-55-9 0,-14-2 0,-446 10 0,278 6 0,-1059-3 0,1299 0 0,12 0 0,0 1 0,0-2 0,-26-4 0,47-1 0,12 1 0,137-6 0,185 10 0,-150 3 0,1116-2 0,-1212 5 0,157 28 0,-93-9 0,1074 91 0,201-109 0,-778-9 0,-236 5 0,573-9 0,-865 3 0,0-7 0,-1-5 0,150-38 0,-273 53 0,399-120 0,-380 108 0,-23 13 0,-1 0 0,0 0 0,0-1 0,0 1 0,0 0 0,0 0 0,0 0 0,0 0 0,0-1 0,0 1 0,0 0 0,0 0 0,0 0 0,0-1 0,0 1 0,0 0 0,0 0 0,0 0 0,0-1 0,0 1 0,0 0 0,0 0 0,0 0 0,0 0 0,0-1 0,0 1 0,0 0 0,-1 0 0,1 0 0,0 0 0,0-1 0,0 1 0,0 0 0,0 0 0,-1 0 0,1 0 0,0 0 0,0 0 0,0 0 0,0-1 0,-1 1 0,1 0 0,0 0 0,0 0 0,0 0 0,0 0 0,-1 0 0,1 0 0,0 0 0,0 0 0,0 0 0,-1 0 0,1 0 0,-50-3 0,-1201 4 0,430 2 0,390-5 0,-436 4 0,4 41 0,296 22 0,480-53 0,-240 13 0,184-13 0,78-8 0,1 2 0,-70 17 0,12 2 0,-34 10 0,73-17 0,-1-2 0,-148 6 0,-145-18 0,207-6 0,120-5 0,50 6 0,-1 1 0,0 0 0,1 0 0,-1 0 0,1 0 0,-1-1 0,0 1 0,1 0 0,-1-1 0,1 1 0,-1 0 0,1-1 0,-1 1 0,1-1 0,-1 1 0,1-1 0,0 1 0,-1-1 0,1 1 0,0-1 0,-1 1 0,1-1 0,0 0 0,0 1 0,-1-2 0,2 1 0,-1 0 0,1 0 0,-1 0 0,1 0 0,0 0 0,0 0 0,-1 0 0,1 0 0,0 0 0,0 0 0,0 0 0,0 0 0,0 1 0,0-1 0,0 0 0,1 1 0,-1-1 0,0 1 0,2-1 0,20-8 0,1 1 0,0 1 0,1 1 0,0 1 0,0 1 0,39 0 0,25-6 0,-59 5 0,1 1 0,-1 2 0,57 2 0,-76 1 0,0 1 0,0 0 0,0 1 0,-1 0 0,1 1 0,-1 0 0,1 0 0,-2 1 0,1 0 0,0 1 0,-1 0 0,0 1 0,14 13 0,-5-1 0,0 2 0,-1 0 0,-1 2 0,-1-1 0,-1 2 0,-2 0 0,0 0 0,12 37 0,-10-19 0,-2 1 0,-1 1 0,-3 0 0,4 60 0,-11-96 0,-1 1 0,0 0 0,-1-1 0,0 1 0,0 0 0,-5 14 0,6-21 0,-1-1 0,1 0 0,-1 1 0,1-1 0,-1 0 0,0 0 0,0 0 0,1 1 0,-1-1 0,0 0 0,0 0 0,0 0 0,0 0 0,0-1 0,-1 1 0,1 0 0,0 0 0,0-1 0,-3 2 0,2-2 0,0 0 0,0 0 0,0 0 0,0 0 0,0 0 0,0-1 0,0 1 0,0-1 0,0 1 0,0-1 0,0 0 0,0 0 0,1 1 0,-1-1 0,0-1 0,0 1 0,1 0 0,-3-2 0,-4-4 0,1-1 0,-1 1 0,1-1 0,1 0 0,-1-1 0,2 0 0,-8-12 0,-30-74 0,28 60 0,-15-48 0,23 59 0,-2 0 0,-18-37 0,24 57 0,0 0 0,0 0 0,0 1 0,-1-1 0,1 1 0,-1 0 0,0 0 0,0 0 0,0 1 0,-1-1 0,1 1 0,-1 0 0,1 0 0,-1 0 0,0 1 0,1 0 0,-1 0 0,0 0 0,-6 0 0,-14-1 0,-1 0 0,-38 5 0,28-2 0,-504 3 0,511-2 0,0 1 0,-29 6 0,0 1 0,0 0 0,40-6 0,1-1 0,-1 0 0,1-2 0,-22 0 0,33-1 0,-1-1 0,1 0 0,-1-1 0,1 0 0,0 0 0,0 0 0,0 0 0,0-1 0,0 0 0,0 0 0,1-1 0,-1 0 0,1 0 0,0 0 0,-6-7 0,-10-13 0,-31-45 0,51 69 0,1-1 0,0 1 0,-1-1 0,1 1 0,-1-1 0,1 0 0,0 1 0,-1-1 0,1 1 0,0-1 0,0 0 0,-1 1 0,1-1 0,0 0 0,0 1 0,0-1 0,0 0 0,0 1 0,0-1 0,0 0 0,0 1 0,0-1 0,0 0 0,0 1 0,1-1 0,-1 1 0,0-1 0,0 0 0,1 1 0,-1-1 0,0 1 0,1-1 0,-1 0 0,0 1 0,1-1 0,-1 1 0,1-1 0,-1 1 0,1 0 0,-1-1 0,1 1 0,-1-1 0,1 1 0,0 0 0,-1 0 0,1-1 0,-1 1 0,2 0 0,37-7 0,-36 6 0,388-4 0,-214 9 0,4111 0 0,-2414-6 0,-1206 16 109,60-2-1583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03T01:31:09.36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24575,'0'0'-8191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2/3/2023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1" i="0">
                <a:solidFill>
                  <a:srgbClr val="C00000"/>
                </a:solidFill>
                <a:latin typeface="等线"/>
                <a:cs typeface="等线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C00000"/>
                </a:solidFill>
                <a:latin typeface="等线"/>
                <a:cs typeface="等线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2/3/2023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1" i="0">
                <a:solidFill>
                  <a:srgbClr val="C00000"/>
                </a:solidFill>
                <a:latin typeface="等线"/>
                <a:cs typeface="等线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2/3/2023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2879" y="978408"/>
            <a:ext cx="8641080" cy="5111496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962656" y="36576"/>
            <a:ext cx="5806440" cy="124358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1" i="0">
                <a:solidFill>
                  <a:srgbClr val="C00000"/>
                </a:solidFill>
                <a:latin typeface="等线"/>
                <a:cs typeface="等线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2/3/2023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2/3/2023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463927" y="1682444"/>
            <a:ext cx="4216145" cy="14376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400" b="1" i="0">
                <a:solidFill>
                  <a:srgbClr val="C00000"/>
                </a:solidFill>
                <a:latin typeface="等线"/>
                <a:cs typeface="等线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86905" y="1164012"/>
            <a:ext cx="8170189" cy="305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C00000"/>
                </a:solidFill>
                <a:latin typeface="等线"/>
                <a:cs typeface="等线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2/3/2023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398002" y="6448892"/>
            <a:ext cx="254000" cy="2000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lt@pku.edu.cn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4.xml"/><Relationship Id="rId6" Type="http://schemas.openxmlformats.org/officeDocument/2006/relationships/customXml" Target="../ink/ink3.xml"/><Relationship Id="rId5" Type="http://schemas.openxmlformats.org/officeDocument/2006/relationships/image" Target="../media/image5.png"/><Relationship Id="rId4" Type="http://schemas.openxmlformats.org/officeDocument/2006/relationships/customXml" Target="../ink/ink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hyperlink" Target="http://course.pku.edu.cn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www.ontoedu.pku.edu.cn/" TargetMode="External"/><Relationship Id="rId4" Type="http://schemas.openxmlformats.org/officeDocument/2006/relationships/image" Target="../media/image13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mailto:wchaoyi@pku.edu.cn" TargetMode="External"/><Relationship Id="rId2" Type="http://schemas.openxmlformats.org/officeDocument/2006/relationships/hyperlink" Target="mailto:lt@pku.edu.cn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531767" rIns="0" bIns="0" rtlCol="0">
            <a:spAutoFit/>
          </a:bodyPr>
          <a:lstStyle/>
          <a:p>
            <a:pPr marL="16510" algn="ctr">
              <a:lnSpc>
                <a:spcPts val="6390"/>
              </a:lnSpc>
              <a:spcBef>
                <a:spcPts val="105"/>
              </a:spcBef>
            </a:pPr>
            <a:r>
              <a:rPr sz="5400" spc="55" dirty="0"/>
              <a:t>集合论与图论</a:t>
            </a:r>
            <a:endParaRPr sz="5400" dirty="0"/>
          </a:p>
          <a:p>
            <a:pPr marL="356235" algn="ctr">
              <a:lnSpc>
                <a:spcPts val="4710"/>
              </a:lnSpc>
            </a:pPr>
            <a:r>
              <a:rPr sz="4000" spc="-25" dirty="0"/>
              <a:t>-离散数学 </a:t>
            </a:r>
            <a:r>
              <a:rPr sz="4000" spc="-50" dirty="0">
                <a:latin typeface="Arial"/>
                <a:cs typeface="Arial"/>
              </a:rPr>
              <a:t>1</a:t>
            </a:r>
            <a:endParaRPr sz="4000" dirty="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885823" y="3493337"/>
            <a:ext cx="5377180" cy="1472565"/>
          </a:xfrm>
          <a:prstGeom prst="rect">
            <a:avLst/>
          </a:prstGeom>
        </p:spPr>
        <p:txBody>
          <a:bodyPr vert="horz" wrap="square" lIns="0" tIns="2552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010"/>
              </a:spcBef>
            </a:pPr>
            <a:r>
              <a:rPr sz="3150" dirty="0">
                <a:latin typeface="Arial"/>
                <a:cs typeface="Arial"/>
              </a:rPr>
              <a:t>Set</a:t>
            </a:r>
            <a:r>
              <a:rPr sz="3150" spc="-55" dirty="0">
                <a:latin typeface="Arial"/>
                <a:cs typeface="Arial"/>
              </a:rPr>
              <a:t> </a:t>
            </a:r>
            <a:r>
              <a:rPr sz="3150" dirty="0">
                <a:latin typeface="Arial"/>
                <a:cs typeface="Arial"/>
              </a:rPr>
              <a:t>Theory</a:t>
            </a:r>
            <a:r>
              <a:rPr sz="3150" spc="185" dirty="0">
                <a:latin typeface="Arial"/>
                <a:cs typeface="Arial"/>
              </a:rPr>
              <a:t> </a:t>
            </a:r>
            <a:r>
              <a:rPr sz="3150" dirty="0">
                <a:latin typeface="Arial"/>
                <a:cs typeface="Arial"/>
              </a:rPr>
              <a:t>and</a:t>
            </a:r>
            <a:r>
              <a:rPr sz="3150" spc="15" dirty="0">
                <a:latin typeface="Arial"/>
                <a:cs typeface="Arial"/>
              </a:rPr>
              <a:t> </a:t>
            </a:r>
            <a:r>
              <a:rPr sz="3150" dirty="0">
                <a:latin typeface="Arial"/>
                <a:cs typeface="Arial"/>
              </a:rPr>
              <a:t>Graph</a:t>
            </a:r>
            <a:r>
              <a:rPr sz="3150" spc="-55" dirty="0">
                <a:latin typeface="Arial"/>
                <a:cs typeface="Arial"/>
              </a:rPr>
              <a:t> </a:t>
            </a:r>
            <a:r>
              <a:rPr sz="3150" spc="-10" dirty="0">
                <a:latin typeface="Arial"/>
                <a:cs typeface="Arial"/>
              </a:rPr>
              <a:t>Theory</a:t>
            </a:r>
            <a:endParaRPr sz="315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1914"/>
              </a:spcBef>
              <a:tabLst>
                <a:tab pos="1024890" algn="l"/>
              </a:tabLst>
            </a:pPr>
            <a:r>
              <a:rPr sz="3150" b="1" spc="65" dirty="0">
                <a:latin typeface="等线"/>
                <a:cs typeface="等线"/>
              </a:rPr>
              <a:t>刘</a:t>
            </a:r>
            <a:r>
              <a:rPr sz="3150" b="1" spc="-50" dirty="0">
                <a:latin typeface="等线"/>
                <a:cs typeface="等线"/>
              </a:rPr>
              <a:t>田</a:t>
            </a:r>
            <a:r>
              <a:rPr sz="3150" b="1" dirty="0">
                <a:latin typeface="等线"/>
                <a:cs typeface="等线"/>
              </a:rPr>
              <a:t>	</a:t>
            </a:r>
            <a:r>
              <a:rPr sz="3150" spc="-10" dirty="0">
                <a:latin typeface="Arial"/>
                <a:cs typeface="Arial"/>
                <a:hlinkClick r:id="rId2"/>
              </a:rPr>
              <a:t>lt@pku.edu.cn</a:t>
            </a:r>
            <a:endParaRPr sz="31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838953" y="212420"/>
            <a:ext cx="142684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54710" algn="l"/>
              </a:tabLst>
            </a:pPr>
            <a:r>
              <a:rPr sz="4400" spc="-50" dirty="0"/>
              <a:t>引</a:t>
            </a:r>
            <a:r>
              <a:rPr sz="4400" dirty="0"/>
              <a:t>	</a:t>
            </a:r>
            <a:r>
              <a:rPr sz="4400" spc="-50" dirty="0"/>
              <a:t>言</a:t>
            </a:r>
            <a:endParaRPr sz="4400"/>
          </a:p>
        </p:txBody>
      </p:sp>
      <p:sp>
        <p:nvSpPr>
          <p:cNvPr id="7" name="object 7"/>
          <p:cNvSpPr txBox="1"/>
          <p:nvPr/>
        </p:nvSpPr>
        <p:spPr>
          <a:xfrm>
            <a:off x="8480297" y="6448892"/>
            <a:ext cx="175895" cy="200025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sz="1200" spc="10" dirty="0">
                <a:solidFill>
                  <a:srgbClr val="888888"/>
                </a:solidFill>
                <a:latin typeface="Arial"/>
                <a:cs typeface="Arial"/>
              </a:rPr>
              <a:t>2</a:t>
            </a:fld>
            <a:endParaRPr sz="12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6575" y="1253092"/>
            <a:ext cx="2231390" cy="3919220"/>
          </a:xfrm>
          <a:prstGeom prst="rect">
            <a:avLst/>
          </a:prstGeom>
        </p:spPr>
        <p:txBody>
          <a:bodyPr vert="horz" wrap="square" lIns="0" tIns="120650" rIns="0" bIns="0" rtlCol="0">
            <a:spAutoFit/>
          </a:bodyPr>
          <a:lstStyle/>
          <a:p>
            <a:pPr marL="360045" indent="-347980">
              <a:lnSpc>
                <a:spcPct val="100000"/>
              </a:lnSpc>
              <a:spcBef>
                <a:spcPts val="950"/>
              </a:spcBef>
              <a:buFont typeface="Arial"/>
              <a:buChar char="•"/>
              <a:tabLst>
                <a:tab pos="360045" algn="l"/>
                <a:tab pos="360680" algn="l"/>
              </a:tabLst>
            </a:pPr>
            <a:r>
              <a:rPr sz="3150" b="1" spc="50" dirty="0">
                <a:solidFill>
                  <a:srgbClr val="C00000"/>
                </a:solidFill>
                <a:latin typeface="等线"/>
                <a:cs typeface="等线"/>
              </a:rPr>
              <a:t>课程简介</a:t>
            </a:r>
            <a:endParaRPr sz="3150">
              <a:latin typeface="等线"/>
              <a:cs typeface="等线"/>
            </a:endParaRPr>
          </a:p>
          <a:p>
            <a:pPr marL="753745" lvl="1" indent="-284480">
              <a:lnSpc>
                <a:spcPct val="100000"/>
              </a:lnSpc>
              <a:spcBef>
                <a:spcPts val="750"/>
              </a:spcBef>
              <a:buFont typeface="Arial"/>
              <a:buChar char="–"/>
              <a:tabLst>
                <a:tab pos="754380" algn="l"/>
              </a:tabLst>
            </a:pPr>
            <a:r>
              <a:rPr sz="2800" b="1" spc="45" dirty="0">
                <a:latin typeface="等线"/>
                <a:cs typeface="等线"/>
              </a:rPr>
              <a:t>集合论</a:t>
            </a:r>
            <a:endParaRPr sz="2800">
              <a:latin typeface="等线"/>
              <a:cs typeface="等线"/>
            </a:endParaRPr>
          </a:p>
          <a:p>
            <a:pPr marL="753745" lvl="1" indent="-284480">
              <a:lnSpc>
                <a:spcPct val="100000"/>
              </a:lnSpc>
              <a:spcBef>
                <a:spcPts val="675"/>
              </a:spcBef>
              <a:buFont typeface="Arial"/>
              <a:buChar char="–"/>
              <a:tabLst>
                <a:tab pos="754380" algn="l"/>
              </a:tabLst>
            </a:pPr>
            <a:r>
              <a:rPr sz="2800" b="1" spc="40" dirty="0">
                <a:latin typeface="等线"/>
                <a:cs typeface="等线"/>
              </a:rPr>
              <a:t>图论</a:t>
            </a:r>
            <a:endParaRPr sz="2800">
              <a:latin typeface="等线"/>
              <a:cs typeface="等线"/>
            </a:endParaRPr>
          </a:p>
          <a:p>
            <a:pPr marL="360045" indent="-347980">
              <a:lnSpc>
                <a:spcPct val="100000"/>
              </a:lnSpc>
              <a:spcBef>
                <a:spcPts val="1914"/>
              </a:spcBef>
              <a:buFont typeface="Arial"/>
              <a:buChar char="•"/>
              <a:tabLst>
                <a:tab pos="360045" algn="l"/>
                <a:tab pos="360680" algn="l"/>
              </a:tabLst>
            </a:pPr>
            <a:r>
              <a:rPr sz="3150" b="1" spc="50" dirty="0">
                <a:solidFill>
                  <a:srgbClr val="C00000"/>
                </a:solidFill>
                <a:latin typeface="等线"/>
                <a:cs typeface="等线"/>
              </a:rPr>
              <a:t>学习安排</a:t>
            </a:r>
            <a:endParaRPr sz="3150">
              <a:latin typeface="等线"/>
              <a:cs typeface="等线"/>
            </a:endParaRPr>
          </a:p>
          <a:p>
            <a:pPr marL="753745" lvl="1" indent="-284480">
              <a:lnSpc>
                <a:spcPct val="100000"/>
              </a:lnSpc>
              <a:spcBef>
                <a:spcPts val="750"/>
              </a:spcBef>
              <a:buFont typeface="Arial"/>
              <a:buChar char="–"/>
              <a:tabLst>
                <a:tab pos="754380" algn="l"/>
              </a:tabLst>
            </a:pPr>
            <a:r>
              <a:rPr sz="2800" b="1" spc="55" dirty="0">
                <a:latin typeface="等线"/>
                <a:cs typeface="等线"/>
              </a:rPr>
              <a:t>教学要求</a:t>
            </a:r>
            <a:endParaRPr sz="2800">
              <a:latin typeface="等线"/>
              <a:cs typeface="等线"/>
            </a:endParaRPr>
          </a:p>
          <a:p>
            <a:pPr marL="753745" lvl="1" indent="-284480">
              <a:lnSpc>
                <a:spcPct val="100000"/>
              </a:lnSpc>
              <a:spcBef>
                <a:spcPts val="680"/>
              </a:spcBef>
              <a:buFont typeface="Arial"/>
              <a:buChar char="–"/>
              <a:tabLst>
                <a:tab pos="754380" algn="l"/>
              </a:tabLst>
            </a:pPr>
            <a:r>
              <a:rPr sz="2800" b="1" spc="55" dirty="0">
                <a:latin typeface="等线"/>
                <a:cs typeface="等线"/>
              </a:rPr>
              <a:t>教学安排</a:t>
            </a:r>
            <a:endParaRPr sz="2800">
              <a:latin typeface="等线"/>
              <a:cs typeface="等线"/>
            </a:endParaRPr>
          </a:p>
          <a:p>
            <a:pPr marL="753745" lvl="1" indent="-284480">
              <a:lnSpc>
                <a:spcPct val="100000"/>
              </a:lnSpc>
              <a:spcBef>
                <a:spcPts val="675"/>
              </a:spcBef>
              <a:buFont typeface="Arial"/>
              <a:buChar char="–"/>
              <a:tabLst>
                <a:tab pos="754380" algn="l"/>
              </a:tabLst>
            </a:pPr>
            <a:r>
              <a:rPr sz="2800" b="1" spc="50" dirty="0">
                <a:latin typeface="等线"/>
                <a:cs typeface="等线"/>
              </a:rPr>
              <a:t>教学资源</a:t>
            </a:r>
            <a:endParaRPr sz="2800">
              <a:latin typeface="等线"/>
              <a:cs typeface="等线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611117" y="245871"/>
            <a:ext cx="453517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dirty="0"/>
              <a:t>集合论的</a:t>
            </a:r>
            <a:r>
              <a:rPr sz="4400" spc="-25" dirty="0"/>
              <a:t>主要</a:t>
            </a:r>
            <a:r>
              <a:rPr sz="4400" spc="-50" dirty="0"/>
              <a:t>内容</a:t>
            </a:r>
            <a:endParaRPr sz="4400"/>
          </a:p>
        </p:txBody>
      </p:sp>
      <p:sp>
        <p:nvSpPr>
          <p:cNvPr id="5" name="object 5"/>
          <p:cNvSpPr txBox="1"/>
          <p:nvPr/>
        </p:nvSpPr>
        <p:spPr>
          <a:xfrm>
            <a:off x="8480297" y="6448892"/>
            <a:ext cx="175895" cy="200025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sz="1200" spc="10" dirty="0">
                <a:solidFill>
                  <a:srgbClr val="888888"/>
                </a:solidFill>
                <a:latin typeface="Arial"/>
                <a:cs typeface="Arial"/>
              </a:rPr>
              <a:t>3</a:t>
            </a:fld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4459" y="1121359"/>
            <a:ext cx="8072120" cy="4565015"/>
          </a:xfrm>
          <a:prstGeom prst="rect">
            <a:avLst/>
          </a:prstGeom>
        </p:spPr>
        <p:txBody>
          <a:bodyPr vert="horz" wrap="square" lIns="0" tIns="90170" rIns="0" bIns="0" rtlCol="0">
            <a:spAutoFit/>
          </a:bodyPr>
          <a:lstStyle/>
          <a:p>
            <a:pPr marL="360045" indent="-347980">
              <a:lnSpc>
                <a:spcPct val="100000"/>
              </a:lnSpc>
              <a:spcBef>
                <a:spcPts val="710"/>
              </a:spcBef>
              <a:buFont typeface="Arial"/>
              <a:buChar char="•"/>
              <a:tabLst>
                <a:tab pos="360045" algn="l"/>
                <a:tab pos="360680" algn="l"/>
              </a:tabLst>
            </a:pPr>
            <a:r>
              <a:rPr sz="2800" b="1" spc="45" dirty="0">
                <a:solidFill>
                  <a:srgbClr val="C00000"/>
                </a:solidFill>
                <a:latin typeface="等线"/>
                <a:cs typeface="等线"/>
              </a:rPr>
              <a:t>研究对象</a:t>
            </a:r>
            <a:r>
              <a:rPr sz="3150" b="1" spc="65" dirty="0">
                <a:latin typeface="等线"/>
                <a:cs typeface="等线"/>
              </a:rPr>
              <a:t>：</a:t>
            </a:r>
            <a:r>
              <a:rPr sz="2350" b="1" spc="20" dirty="0">
                <a:latin typeface="等线"/>
                <a:cs typeface="等线"/>
              </a:rPr>
              <a:t>集合、关系、函数、自然数、基数</a:t>
            </a:r>
            <a:endParaRPr sz="2350">
              <a:latin typeface="等线"/>
              <a:cs typeface="等线"/>
            </a:endParaRPr>
          </a:p>
          <a:p>
            <a:pPr marL="360045" indent="-347980">
              <a:lnSpc>
                <a:spcPct val="100000"/>
              </a:lnSpc>
              <a:spcBef>
                <a:spcPts val="620"/>
              </a:spcBef>
              <a:buFont typeface="Arial"/>
              <a:buChar char="•"/>
              <a:tabLst>
                <a:tab pos="360045" algn="l"/>
                <a:tab pos="360680" algn="l"/>
              </a:tabLst>
            </a:pPr>
            <a:r>
              <a:rPr sz="2800" b="1" spc="45" dirty="0">
                <a:solidFill>
                  <a:srgbClr val="C00000"/>
                </a:solidFill>
                <a:latin typeface="等线"/>
                <a:cs typeface="等线"/>
              </a:rPr>
              <a:t>研究思想</a:t>
            </a:r>
            <a:r>
              <a:rPr sz="3150" b="1" spc="-50" dirty="0">
                <a:latin typeface="等线"/>
                <a:cs typeface="等线"/>
              </a:rPr>
              <a:t>：</a:t>
            </a:r>
            <a:endParaRPr sz="3150">
              <a:latin typeface="等线"/>
              <a:cs typeface="等线"/>
            </a:endParaRPr>
          </a:p>
          <a:p>
            <a:pPr marL="351155">
              <a:lnSpc>
                <a:spcPct val="100000"/>
              </a:lnSpc>
              <a:spcBef>
                <a:spcPts val="695"/>
              </a:spcBef>
            </a:pPr>
            <a:r>
              <a:rPr sz="2350" b="1" spc="85" dirty="0">
                <a:latin typeface="等线"/>
                <a:cs typeface="等线"/>
              </a:rPr>
              <a:t>以逻辑为基础、</a:t>
            </a:r>
            <a:r>
              <a:rPr sz="2350" b="1" spc="25" dirty="0">
                <a:latin typeface="等线"/>
                <a:cs typeface="等线"/>
              </a:rPr>
              <a:t>以集合为工具、表示和构造各</a:t>
            </a:r>
            <a:r>
              <a:rPr sz="2350" b="1" spc="85" dirty="0">
                <a:latin typeface="等线"/>
                <a:cs typeface="等线"/>
              </a:rPr>
              <a:t>种数</a:t>
            </a:r>
            <a:r>
              <a:rPr sz="2350" b="1" dirty="0">
                <a:latin typeface="等线"/>
                <a:cs typeface="等线"/>
              </a:rPr>
              <a:t>学</a:t>
            </a:r>
            <a:r>
              <a:rPr sz="2350" b="1" spc="85" dirty="0">
                <a:latin typeface="等线"/>
                <a:cs typeface="等线"/>
              </a:rPr>
              <a:t>对</a:t>
            </a:r>
            <a:r>
              <a:rPr sz="2350" b="1" spc="35" dirty="0">
                <a:latin typeface="等线"/>
                <a:cs typeface="等线"/>
              </a:rPr>
              <a:t>象</a:t>
            </a:r>
            <a:endParaRPr sz="2350">
              <a:latin typeface="等线"/>
              <a:cs typeface="等线"/>
            </a:endParaRPr>
          </a:p>
          <a:p>
            <a:pPr marL="360045" indent="-347980">
              <a:lnSpc>
                <a:spcPct val="100000"/>
              </a:lnSpc>
              <a:spcBef>
                <a:spcPts val="780"/>
              </a:spcBef>
              <a:buFont typeface="Arial"/>
              <a:buChar char="•"/>
              <a:tabLst>
                <a:tab pos="360045" algn="l"/>
                <a:tab pos="360680" algn="l"/>
              </a:tabLst>
            </a:pPr>
            <a:r>
              <a:rPr sz="2800" b="1" spc="50" dirty="0">
                <a:solidFill>
                  <a:srgbClr val="C00000"/>
                </a:solidFill>
                <a:latin typeface="等线"/>
                <a:cs typeface="等线"/>
              </a:rPr>
              <a:t>研究内容</a:t>
            </a:r>
            <a:r>
              <a:rPr sz="3150" b="1" spc="-50" dirty="0">
                <a:latin typeface="等线"/>
                <a:cs typeface="等线"/>
              </a:rPr>
              <a:t>：</a:t>
            </a:r>
            <a:endParaRPr sz="3150">
              <a:latin typeface="等线"/>
              <a:cs typeface="等线"/>
            </a:endParaRPr>
          </a:p>
          <a:p>
            <a:pPr marL="753745" lvl="1" indent="-284480">
              <a:lnSpc>
                <a:spcPct val="100000"/>
              </a:lnSpc>
              <a:spcBef>
                <a:spcPts val="840"/>
              </a:spcBef>
              <a:buFont typeface="Arial"/>
              <a:buChar char="–"/>
              <a:tabLst>
                <a:tab pos="754380" algn="l"/>
              </a:tabLst>
            </a:pPr>
            <a:r>
              <a:rPr sz="2350" b="1" spc="90" dirty="0">
                <a:latin typeface="等线"/>
                <a:cs typeface="等线"/>
              </a:rPr>
              <a:t>集合的基本概念</a:t>
            </a:r>
            <a:r>
              <a:rPr sz="2350" b="1" spc="30" dirty="0">
                <a:latin typeface="等线"/>
                <a:cs typeface="等线"/>
              </a:rPr>
              <a:t>：集合之间的关系、运算、恒</a:t>
            </a:r>
            <a:r>
              <a:rPr sz="2350" b="1" spc="90" dirty="0">
                <a:latin typeface="等线"/>
                <a:cs typeface="等线"/>
              </a:rPr>
              <a:t>等</a:t>
            </a:r>
            <a:r>
              <a:rPr sz="2350" b="1" spc="40" dirty="0">
                <a:latin typeface="等线"/>
                <a:cs typeface="等线"/>
              </a:rPr>
              <a:t>式</a:t>
            </a:r>
            <a:endParaRPr sz="2350">
              <a:latin typeface="等线"/>
              <a:cs typeface="等线"/>
            </a:endParaRPr>
          </a:p>
          <a:p>
            <a:pPr marL="753745" lvl="1" indent="-284480">
              <a:lnSpc>
                <a:spcPct val="100000"/>
              </a:lnSpc>
              <a:spcBef>
                <a:spcPts val="1000"/>
              </a:spcBef>
              <a:buFont typeface="Arial"/>
              <a:buChar char="–"/>
              <a:tabLst>
                <a:tab pos="754380" algn="l"/>
              </a:tabLst>
            </a:pPr>
            <a:r>
              <a:rPr sz="2350" b="1" spc="90" dirty="0">
                <a:latin typeface="等线"/>
                <a:cs typeface="等线"/>
              </a:rPr>
              <a:t>二元关系：表示</a:t>
            </a:r>
            <a:r>
              <a:rPr sz="2350" b="1" spc="30" dirty="0">
                <a:latin typeface="等线"/>
                <a:cs typeface="等线"/>
              </a:rPr>
              <a:t>、性质、函数、等价关系、序</a:t>
            </a:r>
            <a:r>
              <a:rPr sz="2350" b="1" spc="90" dirty="0">
                <a:latin typeface="等线"/>
                <a:cs typeface="等线"/>
              </a:rPr>
              <a:t>关</a:t>
            </a:r>
            <a:r>
              <a:rPr sz="2350" b="1" spc="40" dirty="0">
                <a:latin typeface="等线"/>
                <a:cs typeface="等线"/>
              </a:rPr>
              <a:t>系</a:t>
            </a:r>
            <a:endParaRPr sz="2350">
              <a:latin typeface="等线"/>
              <a:cs typeface="等线"/>
            </a:endParaRPr>
          </a:p>
          <a:p>
            <a:pPr marL="753745" lvl="1" indent="-284480">
              <a:lnSpc>
                <a:spcPct val="100000"/>
              </a:lnSpc>
              <a:spcBef>
                <a:spcPts val="1000"/>
              </a:spcBef>
              <a:buFont typeface="Arial"/>
              <a:buChar char="–"/>
              <a:tabLst>
                <a:tab pos="754380" algn="l"/>
              </a:tabLst>
            </a:pPr>
            <a:r>
              <a:rPr sz="2350" b="1" spc="90" dirty="0">
                <a:latin typeface="等线"/>
                <a:cs typeface="等线"/>
              </a:rPr>
              <a:t>自然数：皮亚诺</a:t>
            </a:r>
            <a:r>
              <a:rPr sz="2350" b="1" spc="20" dirty="0">
                <a:latin typeface="等线"/>
                <a:cs typeface="等线"/>
              </a:rPr>
              <a:t>系统、自然数的运算、性质</a:t>
            </a:r>
            <a:endParaRPr sz="2350">
              <a:latin typeface="等线"/>
              <a:cs typeface="等线"/>
            </a:endParaRPr>
          </a:p>
          <a:p>
            <a:pPr marL="753745" lvl="1" indent="-284480">
              <a:lnSpc>
                <a:spcPct val="100000"/>
              </a:lnSpc>
              <a:spcBef>
                <a:spcPts val="930"/>
              </a:spcBef>
              <a:buFont typeface="Arial"/>
              <a:buChar char="–"/>
              <a:tabLst>
                <a:tab pos="754380" algn="l"/>
              </a:tabLst>
            </a:pPr>
            <a:r>
              <a:rPr sz="2350" b="1" spc="90" dirty="0">
                <a:latin typeface="等线"/>
                <a:cs typeface="等线"/>
              </a:rPr>
              <a:t>基数：有穷集与</a:t>
            </a:r>
            <a:r>
              <a:rPr sz="2350" b="1" spc="30" dirty="0">
                <a:latin typeface="等线"/>
                <a:cs typeface="等线"/>
              </a:rPr>
              <a:t>无穷集、基数的</a:t>
            </a:r>
            <a:r>
              <a:rPr sz="2350" b="1" spc="90" dirty="0">
                <a:latin typeface="等线"/>
                <a:cs typeface="等线"/>
              </a:rPr>
              <a:t>比</a:t>
            </a:r>
            <a:r>
              <a:rPr sz="2350" b="1" spc="40" dirty="0">
                <a:latin typeface="等线"/>
                <a:cs typeface="等线"/>
              </a:rPr>
              <a:t>较</a:t>
            </a:r>
            <a:endParaRPr sz="2350">
              <a:latin typeface="等线"/>
              <a:cs typeface="等线"/>
            </a:endParaRPr>
          </a:p>
          <a:p>
            <a:pPr marL="753745" lvl="1" indent="-284480">
              <a:lnSpc>
                <a:spcPct val="100000"/>
              </a:lnSpc>
              <a:spcBef>
                <a:spcPts val="1000"/>
              </a:spcBef>
              <a:buFont typeface="Arial"/>
              <a:buChar char="–"/>
              <a:tabLst>
                <a:tab pos="754380" algn="l"/>
              </a:tabLst>
            </a:pPr>
            <a:r>
              <a:rPr sz="2350" b="1" spc="90" dirty="0">
                <a:latin typeface="等线"/>
                <a:cs typeface="等线"/>
              </a:rPr>
              <a:t>序数：良序、超</a:t>
            </a:r>
            <a:r>
              <a:rPr sz="2350" b="1" spc="10" dirty="0">
                <a:latin typeface="等线"/>
                <a:cs typeface="等线"/>
              </a:rPr>
              <a:t>限归纳法</a:t>
            </a:r>
            <a:endParaRPr sz="2350">
              <a:latin typeface="等线"/>
              <a:cs typeface="等线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94963" y="245871"/>
            <a:ext cx="397637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dirty="0"/>
              <a:t>图论的主</a:t>
            </a:r>
            <a:r>
              <a:rPr sz="4400" spc="-35" dirty="0"/>
              <a:t>要内容</a:t>
            </a:r>
            <a:endParaRPr sz="4400"/>
          </a:p>
        </p:txBody>
      </p:sp>
      <p:sp>
        <p:nvSpPr>
          <p:cNvPr id="5" name="object 5"/>
          <p:cNvSpPr txBox="1"/>
          <p:nvPr/>
        </p:nvSpPr>
        <p:spPr>
          <a:xfrm>
            <a:off x="8480297" y="6448892"/>
            <a:ext cx="175895" cy="200025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sz="1200" spc="10" dirty="0">
                <a:solidFill>
                  <a:srgbClr val="888888"/>
                </a:solidFill>
                <a:latin typeface="Arial"/>
                <a:cs typeface="Arial"/>
              </a:rPr>
              <a:t>4</a:t>
            </a:fld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4459" y="1121359"/>
            <a:ext cx="8072120" cy="5050790"/>
          </a:xfrm>
          <a:prstGeom prst="rect">
            <a:avLst/>
          </a:prstGeom>
        </p:spPr>
        <p:txBody>
          <a:bodyPr vert="horz" wrap="square" lIns="0" tIns="90170" rIns="0" bIns="0" rtlCol="0">
            <a:spAutoFit/>
          </a:bodyPr>
          <a:lstStyle/>
          <a:p>
            <a:pPr marL="360045" indent="-347980">
              <a:lnSpc>
                <a:spcPct val="100000"/>
              </a:lnSpc>
              <a:spcBef>
                <a:spcPts val="710"/>
              </a:spcBef>
              <a:buFont typeface="Arial"/>
              <a:buChar char="•"/>
              <a:tabLst>
                <a:tab pos="360045" algn="l"/>
                <a:tab pos="360680" algn="l"/>
              </a:tabLst>
            </a:pPr>
            <a:r>
              <a:rPr sz="2800" b="1" spc="45" dirty="0">
                <a:solidFill>
                  <a:srgbClr val="C00000"/>
                </a:solidFill>
                <a:latin typeface="等线"/>
                <a:cs typeface="等线"/>
              </a:rPr>
              <a:t>研究对象</a:t>
            </a:r>
            <a:r>
              <a:rPr sz="3150" b="1" spc="65" dirty="0">
                <a:latin typeface="等线"/>
                <a:cs typeface="等线"/>
              </a:rPr>
              <a:t>：</a:t>
            </a:r>
            <a:r>
              <a:rPr sz="2350" b="1" spc="25" dirty="0">
                <a:latin typeface="等线"/>
                <a:cs typeface="等线"/>
              </a:rPr>
              <a:t>由顶点和边构成的图</a:t>
            </a:r>
            <a:endParaRPr sz="2350">
              <a:latin typeface="等线"/>
              <a:cs typeface="等线"/>
            </a:endParaRPr>
          </a:p>
          <a:p>
            <a:pPr marL="360045" indent="-347980">
              <a:lnSpc>
                <a:spcPct val="100000"/>
              </a:lnSpc>
              <a:spcBef>
                <a:spcPts val="620"/>
              </a:spcBef>
              <a:buFont typeface="Arial"/>
              <a:buChar char="•"/>
              <a:tabLst>
                <a:tab pos="360045" algn="l"/>
                <a:tab pos="360680" algn="l"/>
              </a:tabLst>
            </a:pPr>
            <a:r>
              <a:rPr sz="2800" b="1" spc="45" dirty="0">
                <a:solidFill>
                  <a:srgbClr val="C00000"/>
                </a:solidFill>
                <a:latin typeface="等线"/>
                <a:cs typeface="等线"/>
              </a:rPr>
              <a:t>研究思想</a:t>
            </a:r>
            <a:r>
              <a:rPr sz="3150" b="1" spc="-50" dirty="0">
                <a:latin typeface="等线"/>
                <a:cs typeface="等线"/>
              </a:rPr>
              <a:t>：</a:t>
            </a:r>
            <a:endParaRPr sz="3150">
              <a:latin typeface="等线"/>
              <a:cs typeface="等线"/>
            </a:endParaRPr>
          </a:p>
          <a:p>
            <a:pPr marL="351155">
              <a:lnSpc>
                <a:spcPct val="100000"/>
              </a:lnSpc>
              <a:spcBef>
                <a:spcPts val="695"/>
              </a:spcBef>
            </a:pPr>
            <a:r>
              <a:rPr sz="2350" b="1" spc="85" dirty="0">
                <a:latin typeface="等线"/>
                <a:cs typeface="等线"/>
              </a:rPr>
              <a:t>以集合论为基础</a:t>
            </a:r>
            <a:r>
              <a:rPr sz="2350" b="1" spc="25" dirty="0">
                <a:latin typeface="等线"/>
                <a:cs typeface="等线"/>
              </a:rPr>
              <a:t>、以图为工具、为各种二元关</a:t>
            </a:r>
            <a:r>
              <a:rPr sz="2350" b="1" spc="85" dirty="0">
                <a:latin typeface="等线"/>
                <a:cs typeface="等线"/>
              </a:rPr>
              <a:t>系建</a:t>
            </a:r>
            <a:r>
              <a:rPr sz="2350" b="1" dirty="0">
                <a:latin typeface="等线"/>
                <a:cs typeface="等线"/>
              </a:rPr>
              <a:t>立</a:t>
            </a:r>
            <a:r>
              <a:rPr sz="2350" b="1" spc="85" dirty="0">
                <a:latin typeface="等线"/>
                <a:cs typeface="等线"/>
              </a:rPr>
              <a:t>模</a:t>
            </a:r>
            <a:r>
              <a:rPr sz="2350" b="1" spc="35" dirty="0">
                <a:latin typeface="等线"/>
                <a:cs typeface="等线"/>
              </a:rPr>
              <a:t>型</a:t>
            </a:r>
            <a:endParaRPr sz="2350">
              <a:latin typeface="等线"/>
              <a:cs typeface="等线"/>
            </a:endParaRPr>
          </a:p>
          <a:p>
            <a:pPr marL="360045" indent="-347980">
              <a:lnSpc>
                <a:spcPct val="100000"/>
              </a:lnSpc>
              <a:spcBef>
                <a:spcPts val="780"/>
              </a:spcBef>
              <a:buFont typeface="Arial"/>
              <a:buChar char="•"/>
              <a:tabLst>
                <a:tab pos="360045" algn="l"/>
                <a:tab pos="360680" algn="l"/>
              </a:tabLst>
            </a:pPr>
            <a:r>
              <a:rPr sz="2800" b="1" spc="50" dirty="0">
                <a:solidFill>
                  <a:srgbClr val="C00000"/>
                </a:solidFill>
                <a:latin typeface="等线"/>
                <a:cs typeface="等线"/>
              </a:rPr>
              <a:t>研究内容</a:t>
            </a:r>
            <a:r>
              <a:rPr sz="3150" b="1" spc="-50" dirty="0">
                <a:latin typeface="等线"/>
                <a:cs typeface="等线"/>
              </a:rPr>
              <a:t>：</a:t>
            </a:r>
            <a:endParaRPr sz="3150">
              <a:latin typeface="等线"/>
              <a:cs typeface="等线"/>
            </a:endParaRPr>
          </a:p>
          <a:p>
            <a:pPr marL="753745" lvl="1" indent="-284480">
              <a:lnSpc>
                <a:spcPct val="100000"/>
              </a:lnSpc>
              <a:spcBef>
                <a:spcPts val="840"/>
              </a:spcBef>
              <a:buFont typeface="Arial"/>
              <a:buChar char="–"/>
              <a:tabLst>
                <a:tab pos="754380" algn="l"/>
              </a:tabLst>
            </a:pPr>
            <a:r>
              <a:rPr sz="2350" b="1" spc="90" dirty="0">
                <a:latin typeface="等线"/>
                <a:cs typeface="等线"/>
              </a:rPr>
              <a:t>图的基本概念</a:t>
            </a:r>
            <a:r>
              <a:rPr sz="2350" b="1" spc="25" dirty="0">
                <a:latin typeface="等线"/>
                <a:cs typeface="等线"/>
              </a:rPr>
              <a:t>：连通性、矩阵表示、带权图</a:t>
            </a:r>
            <a:endParaRPr sz="2350">
              <a:latin typeface="等线"/>
              <a:cs typeface="等线"/>
            </a:endParaRPr>
          </a:p>
          <a:p>
            <a:pPr marL="753745" lvl="1" indent="-284480">
              <a:lnSpc>
                <a:spcPct val="100000"/>
              </a:lnSpc>
              <a:spcBef>
                <a:spcPts val="1000"/>
              </a:spcBef>
              <a:buFont typeface="Arial"/>
              <a:buChar char="–"/>
              <a:tabLst>
                <a:tab pos="754380" algn="l"/>
              </a:tabLst>
            </a:pPr>
            <a:r>
              <a:rPr sz="2350" b="1" spc="90" dirty="0">
                <a:latin typeface="等线"/>
                <a:cs typeface="等线"/>
              </a:rPr>
              <a:t>欧拉图、哈密顿</a:t>
            </a:r>
            <a:r>
              <a:rPr sz="2350" b="1" spc="30" dirty="0">
                <a:latin typeface="等线"/>
                <a:cs typeface="等线"/>
              </a:rPr>
              <a:t>图：边和顶点的</a:t>
            </a:r>
            <a:r>
              <a:rPr sz="2350" b="1" spc="90" dirty="0">
                <a:latin typeface="等线"/>
                <a:cs typeface="等线"/>
              </a:rPr>
              <a:t>遍</a:t>
            </a:r>
            <a:r>
              <a:rPr sz="2350" b="1" spc="40" dirty="0">
                <a:latin typeface="等线"/>
                <a:cs typeface="等线"/>
              </a:rPr>
              <a:t>历</a:t>
            </a:r>
            <a:endParaRPr sz="2350">
              <a:latin typeface="等线"/>
              <a:cs typeface="等线"/>
            </a:endParaRPr>
          </a:p>
          <a:p>
            <a:pPr marL="753745" lvl="1" indent="-284480">
              <a:lnSpc>
                <a:spcPct val="100000"/>
              </a:lnSpc>
              <a:spcBef>
                <a:spcPts val="1000"/>
              </a:spcBef>
              <a:buFont typeface="Arial"/>
              <a:buChar char="–"/>
              <a:tabLst>
                <a:tab pos="754380" algn="l"/>
              </a:tabLst>
            </a:pPr>
            <a:r>
              <a:rPr sz="2350" b="1" spc="90" dirty="0">
                <a:latin typeface="等线"/>
                <a:cs typeface="等线"/>
              </a:rPr>
              <a:t>树：表示层级组</a:t>
            </a:r>
            <a:r>
              <a:rPr sz="2350" b="1" dirty="0">
                <a:latin typeface="等线"/>
                <a:cs typeface="等线"/>
              </a:rPr>
              <a:t>织</a:t>
            </a:r>
            <a:r>
              <a:rPr sz="2350" b="1" spc="90" dirty="0">
                <a:latin typeface="等线"/>
                <a:cs typeface="等线"/>
              </a:rPr>
              <a:t>关</a:t>
            </a:r>
            <a:r>
              <a:rPr sz="2350" b="1" spc="40" dirty="0">
                <a:latin typeface="等线"/>
                <a:cs typeface="等线"/>
              </a:rPr>
              <a:t>系</a:t>
            </a:r>
            <a:endParaRPr sz="2350">
              <a:latin typeface="等线"/>
              <a:cs typeface="等线"/>
            </a:endParaRPr>
          </a:p>
          <a:p>
            <a:pPr marL="753745" lvl="1" indent="-284480">
              <a:lnSpc>
                <a:spcPct val="100000"/>
              </a:lnSpc>
              <a:spcBef>
                <a:spcPts val="930"/>
              </a:spcBef>
              <a:buFont typeface="Arial"/>
              <a:buChar char="–"/>
              <a:tabLst>
                <a:tab pos="754380" algn="l"/>
              </a:tabLst>
            </a:pPr>
            <a:r>
              <a:rPr sz="2350" b="1" spc="90" dirty="0">
                <a:latin typeface="等线"/>
                <a:cs typeface="等线"/>
              </a:rPr>
              <a:t>平面图：判定、</a:t>
            </a:r>
            <a:r>
              <a:rPr sz="2350" b="1" spc="30" dirty="0">
                <a:latin typeface="等线"/>
                <a:cs typeface="等线"/>
              </a:rPr>
              <a:t>表示、</a:t>
            </a:r>
            <a:r>
              <a:rPr sz="2350" b="1" spc="90" dirty="0">
                <a:latin typeface="等线"/>
                <a:cs typeface="等线"/>
              </a:rPr>
              <a:t>性</a:t>
            </a:r>
            <a:r>
              <a:rPr sz="2350" b="1" spc="40" dirty="0">
                <a:latin typeface="等线"/>
                <a:cs typeface="等线"/>
              </a:rPr>
              <a:t>质</a:t>
            </a:r>
            <a:endParaRPr sz="2350">
              <a:latin typeface="等线"/>
              <a:cs typeface="等线"/>
            </a:endParaRPr>
          </a:p>
          <a:p>
            <a:pPr marL="753745" lvl="1" indent="-284480">
              <a:lnSpc>
                <a:spcPct val="100000"/>
              </a:lnSpc>
              <a:spcBef>
                <a:spcPts val="1000"/>
              </a:spcBef>
              <a:buFont typeface="Arial"/>
              <a:buChar char="–"/>
              <a:tabLst>
                <a:tab pos="754380" algn="l"/>
              </a:tabLst>
            </a:pPr>
            <a:r>
              <a:rPr sz="2350" b="1" spc="90" dirty="0">
                <a:latin typeface="等线"/>
                <a:cs typeface="等线"/>
              </a:rPr>
              <a:t>图的着色：各种</a:t>
            </a:r>
            <a:r>
              <a:rPr sz="2350" b="1" spc="35" dirty="0">
                <a:latin typeface="等线"/>
                <a:cs typeface="等线"/>
              </a:rPr>
              <a:t>调度问题的</a:t>
            </a:r>
            <a:r>
              <a:rPr sz="2350" b="1" spc="90" dirty="0">
                <a:latin typeface="等线"/>
                <a:cs typeface="等线"/>
              </a:rPr>
              <a:t>模</a:t>
            </a:r>
            <a:r>
              <a:rPr sz="2350" b="1" spc="40" dirty="0">
                <a:latin typeface="等线"/>
                <a:cs typeface="等线"/>
              </a:rPr>
              <a:t>型</a:t>
            </a:r>
            <a:endParaRPr sz="2350">
              <a:latin typeface="等线"/>
              <a:cs typeface="等线"/>
            </a:endParaRPr>
          </a:p>
          <a:p>
            <a:pPr marL="753745" lvl="1" indent="-284480">
              <a:lnSpc>
                <a:spcPct val="100000"/>
              </a:lnSpc>
              <a:spcBef>
                <a:spcPts val="1005"/>
              </a:spcBef>
              <a:buFont typeface="Arial"/>
              <a:buChar char="–"/>
              <a:tabLst>
                <a:tab pos="754380" algn="l"/>
              </a:tabLst>
            </a:pPr>
            <a:r>
              <a:rPr sz="2350" b="1" spc="85" dirty="0">
                <a:latin typeface="等线"/>
                <a:cs typeface="等线"/>
              </a:rPr>
              <a:t>独立集、支配集</a:t>
            </a:r>
            <a:r>
              <a:rPr sz="2350" b="1" spc="15" dirty="0">
                <a:latin typeface="等线"/>
                <a:cs typeface="等线"/>
              </a:rPr>
              <a:t>、覆盖集、匹配：各种应用问题</a:t>
            </a:r>
            <a:endParaRPr sz="2350">
              <a:latin typeface="等线"/>
              <a:cs typeface="等线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721979" y="6093917"/>
            <a:ext cx="112395" cy="2127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200" spc="10" dirty="0">
                <a:solidFill>
                  <a:srgbClr val="888888"/>
                </a:solidFill>
                <a:latin typeface="Arial"/>
                <a:cs typeface="Arial"/>
              </a:rPr>
              <a:t>5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955541" y="191338"/>
            <a:ext cx="452628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15" dirty="0"/>
              <a:t>集合论的主要模块</a:t>
            </a:r>
            <a:endParaRPr sz="4400"/>
          </a:p>
        </p:txBody>
      </p:sp>
      <p:sp>
        <p:nvSpPr>
          <p:cNvPr id="5" name="object 5"/>
          <p:cNvSpPr txBox="1"/>
          <p:nvPr/>
        </p:nvSpPr>
        <p:spPr>
          <a:xfrm>
            <a:off x="402882" y="1145628"/>
            <a:ext cx="1920239" cy="5226685"/>
          </a:xfrm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35"/>
              </a:spcBef>
            </a:pPr>
            <a:r>
              <a:rPr sz="2350" b="1" spc="90" dirty="0">
                <a:latin typeface="等线"/>
                <a:cs typeface="等线"/>
              </a:rPr>
              <a:t>集</a:t>
            </a:r>
            <a:r>
              <a:rPr sz="2350" b="1" spc="40" dirty="0">
                <a:latin typeface="等线"/>
                <a:cs typeface="等线"/>
              </a:rPr>
              <a:t>合</a:t>
            </a:r>
            <a:endParaRPr sz="2350">
              <a:latin typeface="等线"/>
              <a:cs typeface="等线"/>
            </a:endParaRPr>
          </a:p>
          <a:p>
            <a:pPr marL="351155" marR="5080">
              <a:lnSpc>
                <a:spcPct val="122700"/>
              </a:lnSpc>
            </a:pPr>
            <a:r>
              <a:rPr sz="2350" b="1" spc="90" dirty="0">
                <a:latin typeface="等线"/>
                <a:cs typeface="等线"/>
              </a:rPr>
              <a:t>基本概</a:t>
            </a:r>
            <a:r>
              <a:rPr sz="2350" b="1" spc="40" dirty="0">
                <a:latin typeface="等线"/>
                <a:cs typeface="等线"/>
              </a:rPr>
              <a:t>念 </a:t>
            </a:r>
            <a:r>
              <a:rPr sz="2350" b="1" spc="90" dirty="0">
                <a:latin typeface="等线"/>
                <a:cs typeface="等线"/>
              </a:rPr>
              <a:t>运算、性</a:t>
            </a:r>
            <a:r>
              <a:rPr sz="2350" b="1" spc="40" dirty="0">
                <a:latin typeface="等线"/>
                <a:cs typeface="等线"/>
              </a:rPr>
              <a:t>质</a:t>
            </a:r>
            <a:endParaRPr sz="2350">
              <a:latin typeface="等线"/>
              <a:cs typeface="等线"/>
            </a:endParaRPr>
          </a:p>
          <a:p>
            <a:pPr marL="12700">
              <a:lnSpc>
                <a:spcPct val="100000"/>
              </a:lnSpc>
              <a:spcBef>
                <a:spcPts val="640"/>
              </a:spcBef>
            </a:pPr>
            <a:r>
              <a:rPr sz="2350" b="1" spc="85" dirty="0">
                <a:latin typeface="等线"/>
                <a:cs typeface="等线"/>
              </a:rPr>
              <a:t>二元关</a:t>
            </a:r>
            <a:r>
              <a:rPr sz="2350" b="1" spc="35" dirty="0">
                <a:latin typeface="等线"/>
                <a:cs typeface="等线"/>
              </a:rPr>
              <a:t>系</a:t>
            </a:r>
            <a:endParaRPr sz="2350">
              <a:latin typeface="等线"/>
              <a:cs typeface="等线"/>
            </a:endParaRPr>
          </a:p>
          <a:p>
            <a:pPr marL="351155" marR="5080">
              <a:lnSpc>
                <a:spcPct val="122700"/>
              </a:lnSpc>
            </a:pPr>
            <a:r>
              <a:rPr sz="2350" b="1" spc="85" dirty="0">
                <a:latin typeface="等线"/>
                <a:cs typeface="等线"/>
              </a:rPr>
              <a:t>表示、性</a:t>
            </a:r>
            <a:r>
              <a:rPr sz="2350" b="1" spc="35" dirty="0">
                <a:latin typeface="等线"/>
                <a:cs typeface="等线"/>
              </a:rPr>
              <a:t>质</a:t>
            </a:r>
            <a:r>
              <a:rPr sz="2350" b="1" spc="90" dirty="0">
                <a:latin typeface="等线"/>
                <a:cs typeface="等线"/>
              </a:rPr>
              <a:t>等价关</a:t>
            </a:r>
            <a:r>
              <a:rPr sz="2350" b="1" spc="40" dirty="0">
                <a:latin typeface="等线"/>
                <a:cs typeface="等线"/>
              </a:rPr>
              <a:t>系 </a:t>
            </a:r>
            <a:r>
              <a:rPr sz="2350" b="1" spc="90" dirty="0">
                <a:latin typeface="等线"/>
                <a:cs typeface="等线"/>
              </a:rPr>
              <a:t>序关</a:t>
            </a:r>
            <a:r>
              <a:rPr sz="2350" b="1" spc="40" dirty="0">
                <a:latin typeface="等线"/>
                <a:cs typeface="等线"/>
              </a:rPr>
              <a:t>系</a:t>
            </a:r>
            <a:endParaRPr sz="2350">
              <a:latin typeface="等线"/>
              <a:cs typeface="等线"/>
            </a:endParaRPr>
          </a:p>
          <a:p>
            <a:pPr marL="12700" marR="965835">
              <a:lnSpc>
                <a:spcPct val="122700"/>
              </a:lnSpc>
            </a:pPr>
            <a:r>
              <a:rPr sz="2350" b="1" spc="90" dirty="0">
                <a:latin typeface="等线"/>
                <a:cs typeface="等线"/>
              </a:rPr>
              <a:t>函</a:t>
            </a:r>
            <a:r>
              <a:rPr sz="2350" b="1" spc="40" dirty="0">
                <a:latin typeface="等线"/>
                <a:cs typeface="等线"/>
              </a:rPr>
              <a:t>数 </a:t>
            </a:r>
            <a:r>
              <a:rPr sz="2350" b="1" spc="90" dirty="0">
                <a:latin typeface="等线"/>
                <a:cs typeface="等线"/>
              </a:rPr>
              <a:t>自然</a:t>
            </a:r>
            <a:r>
              <a:rPr sz="2350" b="1" spc="40" dirty="0">
                <a:latin typeface="等线"/>
                <a:cs typeface="等线"/>
              </a:rPr>
              <a:t>数</a:t>
            </a:r>
            <a:endParaRPr sz="2350">
              <a:latin typeface="等线"/>
              <a:cs typeface="等线"/>
            </a:endParaRPr>
          </a:p>
          <a:p>
            <a:pPr marL="351155">
              <a:lnSpc>
                <a:spcPct val="100000"/>
              </a:lnSpc>
              <a:spcBef>
                <a:spcPts val="60"/>
              </a:spcBef>
            </a:pPr>
            <a:r>
              <a:rPr sz="2350" b="1" spc="85" dirty="0">
                <a:latin typeface="等线"/>
                <a:cs typeface="等线"/>
              </a:rPr>
              <a:t>皮亚诺系</a:t>
            </a:r>
            <a:r>
              <a:rPr sz="2350" b="1" spc="35" dirty="0">
                <a:latin typeface="等线"/>
                <a:cs typeface="等线"/>
              </a:rPr>
              <a:t>统</a:t>
            </a:r>
            <a:endParaRPr sz="2350">
              <a:latin typeface="等线"/>
              <a:cs typeface="等线"/>
            </a:endParaRPr>
          </a:p>
          <a:p>
            <a:pPr marL="12700" marR="1276985">
              <a:lnSpc>
                <a:spcPct val="122700"/>
              </a:lnSpc>
              <a:spcBef>
                <a:spcPts val="5"/>
              </a:spcBef>
            </a:pPr>
            <a:r>
              <a:rPr sz="2350" b="1" spc="90" dirty="0">
                <a:latin typeface="等线"/>
                <a:cs typeface="等线"/>
              </a:rPr>
              <a:t>基</a:t>
            </a:r>
            <a:r>
              <a:rPr sz="2350" b="1" spc="40" dirty="0">
                <a:latin typeface="等线"/>
                <a:cs typeface="等线"/>
              </a:rPr>
              <a:t>数</a:t>
            </a:r>
            <a:r>
              <a:rPr sz="2350" b="1" spc="90" dirty="0">
                <a:latin typeface="等线"/>
                <a:cs typeface="等线"/>
              </a:rPr>
              <a:t>序</a:t>
            </a:r>
            <a:r>
              <a:rPr sz="2350" b="1" spc="40" dirty="0">
                <a:latin typeface="等线"/>
                <a:cs typeface="等线"/>
              </a:rPr>
              <a:t>数</a:t>
            </a:r>
            <a:endParaRPr sz="2350">
              <a:latin typeface="等线"/>
              <a:cs typeface="等线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5641843" y="4398259"/>
            <a:ext cx="311150" cy="375285"/>
            <a:chOff x="5641843" y="4398259"/>
            <a:chExt cx="311150" cy="375285"/>
          </a:xfrm>
        </p:grpSpPr>
        <p:sp>
          <p:nvSpPr>
            <p:cNvPr id="7" name="object 7"/>
            <p:cNvSpPr/>
            <p:nvPr/>
          </p:nvSpPr>
          <p:spPr>
            <a:xfrm>
              <a:off x="5646420" y="4402836"/>
              <a:ext cx="302260" cy="365760"/>
            </a:xfrm>
            <a:custGeom>
              <a:avLst/>
              <a:gdLst/>
              <a:ahLst/>
              <a:cxnLst/>
              <a:rect l="l" t="t" r="r" b="b"/>
              <a:pathLst>
                <a:path w="302260" h="365760">
                  <a:moveTo>
                    <a:pt x="150875" y="0"/>
                  </a:moveTo>
                  <a:lnTo>
                    <a:pt x="0" y="93725"/>
                  </a:lnTo>
                  <a:lnTo>
                    <a:pt x="75437" y="93725"/>
                  </a:lnTo>
                  <a:lnTo>
                    <a:pt x="75437" y="365759"/>
                  </a:lnTo>
                  <a:lnTo>
                    <a:pt x="226313" y="365759"/>
                  </a:lnTo>
                  <a:lnTo>
                    <a:pt x="226313" y="93725"/>
                  </a:lnTo>
                  <a:lnTo>
                    <a:pt x="301751" y="93725"/>
                  </a:lnTo>
                  <a:lnTo>
                    <a:pt x="150875" y="0"/>
                  </a:lnTo>
                  <a:close/>
                </a:path>
              </a:pathLst>
            </a:custGeom>
            <a:solidFill>
              <a:srgbClr val="91841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646420" y="4402836"/>
              <a:ext cx="302260" cy="365760"/>
            </a:xfrm>
            <a:custGeom>
              <a:avLst/>
              <a:gdLst/>
              <a:ahLst/>
              <a:cxnLst/>
              <a:rect l="l" t="t" r="r" b="b"/>
              <a:pathLst>
                <a:path w="302260" h="365760">
                  <a:moveTo>
                    <a:pt x="0" y="93725"/>
                  </a:moveTo>
                  <a:lnTo>
                    <a:pt x="150875" y="0"/>
                  </a:lnTo>
                  <a:lnTo>
                    <a:pt x="301751" y="93725"/>
                  </a:lnTo>
                  <a:lnTo>
                    <a:pt x="226313" y="93725"/>
                  </a:lnTo>
                  <a:lnTo>
                    <a:pt x="226313" y="365759"/>
                  </a:lnTo>
                  <a:lnTo>
                    <a:pt x="75437" y="365759"/>
                  </a:lnTo>
                  <a:lnTo>
                    <a:pt x="75437" y="93725"/>
                  </a:lnTo>
                  <a:lnTo>
                    <a:pt x="0" y="93725"/>
                  </a:lnTo>
                  <a:close/>
                </a:path>
              </a:pathLst>
            </a:custGeom>
            <a:ln w="91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5650987" y="2706619"/>
            <a:ext cx="302260" cy="366395"/>
            <a:chOff x="5650987" y="2706619"/>
            <a:chExt cx="302260" cy="366395"/>
          </a:xfrm>
        </p:grpSpPr>
        <p:sp>
          <p:nvSpPr>
            <p:cNvPr id="10" name="object 10"/>
            <p:cNvSpPr/>
            <p:nvPr/>
          </p:nvSpPr>
          <p:spPr>
            <a:xfrm>
              <a:off x="5655563" y="2711196"/>
              <a:ext cx="292735" cy="356870"/>
            </a:xfrm>
            <a:custGeom>
              <a:avLst/>
              <a:gdLst/>
              <a:ahLst/>
              <a:cxnLst/>
              <a:rect l="l" t="t" r="r" b="b"/>
              <a:pathLst>
                <a:path w="292735" h="356869">
                  <a:moveTo>
                    <a:pt x="146303" y="0"/>
                  </a:moveTo>
                  <a:lnTo>
                    <a:pt x="0" y="91058"/>
                  </a:lnTo>
                  <a:lnTo>
                    <a:pt x="73151" y="91058"/>
                  </a:lnTo>
                  <a:lnTo>
                    <a:pt x="73151" y="356615"/>
                  </a:lnTo>
                  <a:lnTo>
                    <a:pt x="219456" y="356615"/>
                  </a:lnTo>
                  <a:lnTo>
                    <a:pt x="219456" y="91058"/>
                  </a:lnTo>
                  <a:lnTo>
                    <a:pt x="292608" y="91058"/>
                  </a:lnTo>
                  <a:lnTo>
                    <a:pt x="146303" y="0"/>
                  </a:lnTo>
                  <a:close/>
                </a:path>
              </a:pathLst>
            </a:custGeom>
            <a:solidFill>
              <a:srgbClr val="91841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655563" y="2711196"/>
              <a:ext cx="292735" cy="356870"/>
            </a:xfrm>
            <a:custGeom>
              <a:avLst/>
              <a:gdLst/>
              <a:ahLst/>
              <a:cxnLst/>
              <a:rect l="l" t="t" r="r" b="b"/>
              <a:pathLst>
                <a:path w="292735" h="356869">
                  <a:moveTo>
                    <a:pt x="0" y="91058"/>
                  </a:moveTo>
                  <a:lnTo>
                    <a:pt x="146303" y="0"/>
                  </a:lnTo>
                  <a:lnTo>
                    <a:pt x="292608" y="91058"/>
                  </a:lnTo>
                  <a:lnTo>
                    <a:pt x="219456" y="91058"/>
                  </a:lnTo>
                  <a:lnTo>
                    <a:pt x="219456" y="356615"/>
                  </a:lnTo>
                  <a:lnTo>
                    <a:pt x="73151" y="356615"/>
                  </a:lnTo>
                  <a:lnTo>
                    <a:pt x="73151" y="91058"/>
                  </a:lnTo>
                  <a:lnTo>
                    <a:pt x="0" y="91058"/>
                  </a:lnTo>
                  <a:close/>
                </a:path>
              </a:pathLst>
            </a:custGeom>
            <a:ln w="91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3054095" y="1472183"/>
          <a:ext cx="4892674" cy="448754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670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28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11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71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30555">
                <a:tc rowSpan="7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marL="122555" marR="133350" algn="just">
                        <a:lnSpc>
                          <a:spcPct val="102299"/>
                        </a:lnSpc>
                      </a:pPr>
                      <a:r>
                        <a:rPr sz="2350" b="1" spc="-50" dirty="0">
                          <a:latin typeface="Microsoft JhengHei"/>
                          <a:cs typeface="Microsoft JhengHei"/>
                        </a:rPr>
                        <a:t>集合论</a:t>
                      </a:r>
                      <a:endParaRPr sz="2350">
                        <a:latin typeface="Microsoft JhengHei"/>
                        <a:cs typeface="Microsoft JhengHei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99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C99FF">
                        <a:alpha val="32156"/>
                      </a:srgb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R="10795" algn="ctr">
                        <a:lnSpc>
                          <a:spcPct val="100000"/>
                        </a:lnSpc>
                        <a:spcBef>
                          <a:spcPts val="1060"/>
                        </a:spcBef>
                      </a:pPr>
                      <a:r>
                        <a:rPr sz="2350" b="1" spc="30" dirty="0">
                          <a:latin typeface="Microsoft JhengHei"/>
                          <a:cs typeface="Microsoft JhengHei"/>
                        </a:rPr>
                        <a:t>基 数</a:t>
                      </a:r>
                      <a:endParaRPr sz="2350">
                        <a:latin typeface="Microsoft JhengHei"/>
                        <a:cs typeface="Microsoft JhengHei"/>
                      </a:endParaRPr>
                    </a:p>
                  </a:txBody>
                  <a:tcPr marL="0" marR="0" marT="134620" marB="0">
                    <a:lnL w="38100" cap="flat" cmpd="sng" algn="ctr">
                      <a:solidFill>
                        <a:srgbClr val="99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>
                      <a:solidFill>
                        <a:srgbClr val="990000"/>
                      </a:solidFill>
                      <a:prstDash val="solid"/>
                    </a:lnR>
                    <a:lnT w="28575">
                      <a:solidFill>
                        <a:srgbClr val="990000"/>
                      </a:solidFill>
                      <a:prstDash val="solid"/>
                    </a:lnT>
                    <a:lnB w="28575">
                      <a:solidFill>
                        <a:srgbClr val="990000"/>
                      </a:solidFill>
                      <a:prstDash val="solid"/>
                    </a:lnB>
                    <a:solidFill>
                      <a:srgbClr val="00AFE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R="6985" algn="ctr">
                        <a:lnSpc>
                          <a:spcPct val="100000"/>
                        </a:lnSpc>
                        <a:spcBef>
                          <a:spcPts val="1055"/>
                        </a:spcBef>
                      </a:pPr>
                      <a:r>
                        <a:rPr sz="2350" b="1" spc="30" dirty="0">
                          <a:latin typeface="Microsoft JhengHei"/>
                          <a:cs typeface="Microsoft JhengHei"/>
                        </a:rPr>
                        <a:t>序 数</a:t>
                      </a:r>
                      <a:endParaRPr sz="2350">
                        <a:latin typeface="Microsoft JhengHei"/>
                        <a:cs typeface="Microsoft JhengHei"/>
                      </a:endParaRPr>
                    </a:p>
                  </a:txBody>
                  <a:tcPr marL="0" marR="0" marT="133985" marB="0">
                    <a:lnL w="28575">
                      <a:solidFill>
                        <a:srgbClr val="990000"/>
                      </a:solidFill>
                      <a:prstDash val="solid"/>
                    </a:lnL>
                    <a:lnR w="28575">
                      <a:solidFill>
                        <a:srgbClr val="990000"/>
                      </a:solidFill>
                      <a:prstDash val="solid"/>
                    </a:lnR>
                    <a:lnT w="28575">
                      <a:solidFill>
                        <a:srgbClr val="990000"/>
                      </a:solidFill>
                      <a:prstDash val="solid"/>
                    </a:lnT>
                    <a:lnB w="28575">
                      <a:solidFill>
                        <a:srgbClr val="990000"/>
                      </a:solidFill>
                      <a:prstDash val="solid"/>
                    </a:lnB>
                    <a:solidFill>
                      <a:srgbClr val="F9F9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594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99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C99FF">
                        <a:alpha val="32156"/>
                      </a:srgbClr>
                    </a:solidFill>
                  </a:tcPr>
                </a:tc>
                <a:tc gridSpan="4">
                  <a:txBody>
                    <a:bodyPr/>
                    <a:lstStyle/>
                    <a:p>
                      <a:pPr marR="5080" algn="ctr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sz="2350" b="1" spc="30" dirty="0">
                          <a:latin typeface="Microsoft JhengHei"/>
                          <a:cs typeface="Microsoft JhengHei"/>
                        </a:rPr>
                        <a:t>自 然 数</a:t>
                      </a:r>
                      <a:endParaRPr sz="2350">
                        <a:latin typeface="Microsoft JhengHei"/>
                        <a:cs typeface="Microsoft JhengHei"/>
                      </a:endParaRPr>
                    </a:p>
                  </a:txBody>
                  <a:tcPr marL="0" marR="0" marT="104775" marB="0">
                    <a:lnL w="38100">
                      <a:solidFill>
                        <a:srgbClr val="990000"/>
                      </a:solidFill>
                      <a:prstDash val="solid"/>
                    </a:lnL>
                    <a:lnR w="28575">
                      <a:solidFill>
                        <a:srgbClr val="990000"/>
                      </a:solidFill>
                      <a:prstDash val="solid"/>
                    </a:lnR>
                    <a:lnT w="28575">
                      <a:solidFill>
                        <a:srgbClr val="990000"/>
                      </a:solidFill>
                      <a:prstDash val="solid"/>
                    </a:lnT>
                    <a:lnB w="28575">
                      <a:solidFill>
                        <a:srgbClr val="990000"/>
                      </a:solidFill>
                      <a:prstDash val="solid"/>
                    </a:lnB>
                    <a:solidFill>
                      <a:srgbClr val="CCEB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259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99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C99FF">
                        <a:alpha val="32156"/>
                      </a:srgbClr>
                    </a:solidFill>
                  </a:tcPr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990000"/>
                      </a:solidFill>
                      <a:prstDash val="solid"/>
                    </a:lnT>
                    <a:lnB w="28575">
                      <a:solidFill>
                        <a:srgbClr val="0033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25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99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C99FF">
                        <a:alpha val="3215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315595">
                        <a:lnSpc>
                          <a:spcPct val="100000"/>
                        </a:lnSpc>
                        <a:spcBef>
                          <a:spcPts val="944"/>
                        </a:spcBef>
                      </a:pPr>
                      <a:r>
                        <a:rPr sz="2350" b="1" spc="90" dirty="0">
                          <a:latin typeface="Microsoft JhengHei"/>
                          <a:cs typeface="Microsoft JhengHei"/>
                        </a:rPr>
                        <a:t>函</a:t>
                      </a:r>
                      <a:r>
                        <a:rPr sz="2350" b="1" spc="40" dirty="0">
                          <a:latin typeface="Microsoft JhengHei"/>
                          <a:cs typeface="Microsoft JhengHei"/>
                        </a:rPr>
                        <a:t>数</a:t>
                      </a:r>
                      <a:endParaRPr sz="2350">
                        <a:latin typeface="Microsoft JhengHei"/>
                        <a:cs typeface="Microsoft JhengHei"/>
                      </a:endParaRPr>
                    </a:p>
                  </a:txBody>
                  <a:tcPr marL="0" marR="0" marT="120014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3300"/>
                      </a:solidFill>
                      <a:prstDash val="solid"/>
                    </a:lnR>
                    <a:lnT w="28575" cap="flat" cmpd="sng" algn="ctr">
                      <a:solidFill>
                        <a:srgbClr val="00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>
                      <a:solidFill>
                        <a:srgbClr val="99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156210">
                        <a:lnSpc>
                          <a:spcPct val="100000"/>
                        </a:lnSpc>
                        <a:spcBef>
                          <a:spcPts val="950"/>
                        </a:spcBef>
                      </a:pPr>
                      <a:r>
                        <a:rPr sz="2350" b="1" spc="85" dirty="0">
                          <a:latin typeface="Microsoft JhengHei"/>
                          <a:cs typeface="Microsoft JhengHei"/>
                        </a:rPr>
                        <a:t>等价</a:t>
                      </a:r>
                      <a:r>
                        <a:rPr sz="2350" b="1" dirty="0">
                          <a:latin typeface="Microsoft JhengHei"/>
                          <a:cs typeface="Microsoft JhengHei"/>
                        </a:rPr>
                        <a:t>关</a:t>
                      </a:r>
                      <a:r>
                        <a:rPr sz="2350" b="1" spc="-50" dirty="0">
                          <a:latin typeface="Microsoft JhengHei"/>
                          <a:cs typeface="Microsoft JhengHei"/>
                        </a:rPr>
                        <a:t>系</a:t>
                      </a:r>
                      <a:endParaRPr sz="2350">
                        <a:latin typeface="Microsoft JhengHei"/>
                        <a:cs typeface="Microsoft JhengHei"/>
                      </a:endParaRPr>
                    </a:p>
                  </a:txBody>
                  <a:tcPr marL="0" marR="0" marT="120650" marB="0">
                    <a:lnL w="28575">
                      <a:solidFill>
                        <a:srgbClr val="003300"/>
                      </a:solidFill>
                      <a:prstDash val="solid"/>
                    </a:lnL>
                    <a:lnR w="28575">
                      <a:solidFill>
                        <a:srgbClr val="003300"/>
                      </a:solidFill>
                      <a:prstDash val="solid"/>
                    </a:lnR>
                    <a:lnT w="28575">
                      <a:solidFill>
                        <a:srgbClr val="003300"/>
                      </a:solidFill>
                      <a:prstDash val="solid"/>
                    </a:lnT>
                    <a:lnB w="28575">
                      <a:solidFill>
                        <a:srgbClr val="003300"/>
                      </a:solidFill>
                      <a:prstDash val="solid"/>
                    </a:lnB>
                    <a:solidFill>
                      <a:srgbClr val="00AFEF">
                        <a:alpha val="61175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04165">
                        <a:lnSpc>
                          <a:spcPct val="100000"/>
                        </a:lnSpc>
                        <a:spcBef>
                          <a:spcPts val="944"/>
                        </a:spcBef>
                      </a:pPr>
                      <a:r>
                        <a:rPr sz="2350" b="1" spc="90" dirty="0">
                          <a:latin typeface="Microsoft JhengHei"/>
                          <a:cs typeface="Microsoft JhengHei"/>
                        </a:rPr>
                        <a:t>序关</a:t>
                      </a:r>
                      <a:r>
                        <a:rPr sz="2350" b="1" spc="40" dirty="0">
                          <a:latin typeface="Microsoft JhengHei"/>
                          <a:cs typeface="Microsoft JhengHei"/>
                        </a:rPr>
                        <a:t>系</a:t>
                      </a:r>
                      <a:endParaRPr sz="2350">
                        <a:latin typeface="Microsoft JhengHei"/>
                        <a:cs typeface="Microsoft JhengHei"/>
                      </a:endParaRPr>
                    </a:p>
                  </a:txBody>
                  <a:tcPr marL="0" marR="0" marT="120014" marB="0">
                    <a:lnL w="28575">
                      <a:solidFill>
                        <a:srgbClr val="003300"/>
                      </a:solidFill>
                      <a:prstDash val="solid"/>
                    </a:lnL>
                    <a:lnR w="28575">
                      <a:solidFill>
                        <a:srgbClr val="003300"/>
                      </a:solidFill>
                      <a:prstDash val="solid"/>
                    </a:lnR>
                    <a:lnT w="28575">
                      <a:solidFill>
                        <a:srgbClr val="003300"/>
                      </a:solidFill>
                      <a:prstDash val="solid"/>
                    </a:lnT>
                    <a:lnB w="28575">
                      <a:solidFill>
                        <a:srgbClr val="003300"/>
                      </a:solidFill>
                      <a:prstDash val="solid"/>
                    </a:lnB>
                    <a:solidFill>
                      <a:srgbClr val="FFFF00">
                        <a:alpha val="6117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42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99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C99FF">
                        <a:alpha val="32156"/>
                      </a:srgbClr>
                    </a:solidFill>
                  </a:tcPr>
                </a:tc>
                <a:tc gridSpan="4">
                  <a:txBody>
                    <a:bodyPr/>
                    <a:lstStyle/>
                    <a:p>
                      <a:pPr marR="14604" algn="ctr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sz="2350" b="1" spc="40" dirty="0">
                          <a:latin typeface="Microsoft JhengHei"/>
                          <a:cs typeface="Microsoft JhengHei"/>
                        </a:rPr>
                        <a:t>二 元 关 系</a:t>
                      </a:r>
                      <a:endParaRPr sz="2350">
                        <a:latin typeface="Microsoft JhengHei"/>
                        <a:cs typeface="Microsoft JhengHei"/>
                      </a:endParaRPr>
                    </a:p>
                  </a:txBody>
                  <a:tcPr marL="0" marR="0" marT="1047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990000"/>
                      </a:solidFill>
                      <a:prstDash val="solid"/>
                    </a:lnR>
                    <a:lnT w="38100" cap="flat" cmpd="sng" algn="ctr">
                      <a:solidFill>
                        <a:srgbClr val="99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>
                      <a:solidFill>
                        <a:srgbClr val="990000"/>
                      </a:solidFill>
                      <a:prstDash val="solid"/>
                    </a:lnB>
                    <a:solidFill>
                      <a:srgbClr val="FFD44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594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99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C99FF">
                        <a:alpha val="32156"/>
                      </a:srgbClr>
                    </a:solidFill>
                  </a:tcPr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990000"/>
                      </a:solidFill>
                      <a:prstDash val="solid"/>
                    </a:lnT>
                    <a:lnB w="28575">
                      <a:solidFill>
                        <a:srgbClr val="99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022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99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C99FF">
                        <a:alpha val="32156"/>
                      </a:srgbClr>
                    </a:solidFill>
                  </a:tcPr>
                </a:tc>
                <a:tc gridSpan="4">
                  <a:txBody>
                    <a:bodyPr/>
                    <a:lstStyle/>
                    <a:p>
                      <a:pPr marR="5080" algn="ctr">
                        <a:lnSpc>
                          <a:spcPct val="100000"/>
                        </a:lnSpc>
                        <a:spcBef>
                          <a:spcPts val="705"/>
                        </a:spcBef>
                      </a:pPr>
                      <a:r>
                        <a:rPr sz="2350" b="1" spc="30" dirty="0">
                          <a:latin typeface="Microsoft JhengHei"/>
                          <a:cs typeface="Microsoft JhengHei"/>
                        </a:rPr>
                        <a:t>集 合</a:t>
                      </a:r>
                      <a:endParaRPr sz="2350">
                        <a:latin typeface="Microsoft JhengHei"/>
                        <a:cs typeface="Microsoft JhengHei"/>
                      </a:endParaRPr>
                    </a:p>
                  </a:txBody>
                  <a:tcPr marL="0" marR="0" marT="8953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990000"/>
                      </a:solidFill>
                      <a:prstDash val="solid"/>
                    </a:lnR>
                    <a:lnT w="28575">
                      <a:solidFill>
                        <a:srgbClr val="990000"/>
                      </a:solidFill>
                      <a:prstDash val="solid"/>
                    </a:lnT>
                    <a:lnB w="28575">
                      <a:solidFill>
                        <a:srgbClr val="99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759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2E2E2E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 gridSpan="4">
                  <a:txBody>
                    <a:bodyPr/>
                    <a:lstStyle/>
                    <a:p>
                      <a:pPr marR="14604" algn="ctr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2350" b="1" spc="40" dirty="0">
                          <a:latin typeface="Microsoft JhengHei"/>
                          <a:cs typeface="Microsoft JhengHei"/>
                        </a:rPr>
                        <a:t>基 本 逻 辑</a:t>
                      </a:r>
                      <a:endParaRPr sz="2350">
                        <a:latin typeface="Microsoft JhengHei"/>
                        <a:cs typeface="Microsoft JhengHei"/>
                      </a:endParaRPr>
                    </a:p>
                  </a:txBody>
                  <a:tcPr marL="0" marR="0" marT="109855" marB="0">
                    <a:lnL w="28575">
                      <a:solidFill>
                        <a:srgbClr val="2E2E2E"/>
                      </a:solidFill>
                      <a:prstDash val="solid"/>
                    </a:lnL>
                    <a:lnR w="28575">
                      <a:solidFill>
                        <a:srgbClr val="2E2E2E"/>
                      </a:solidFill>
                      <a:prstDash val="solid"/>
                    </a:lnR>
                    <a:lnT w="28575">
                      <a:solidFill>
                        <a:srgbClr val="990000"/>
                      </a:solidFill>
                      <a:prstDash val="solid"/>
                    </a:lnT>
                    <a:lnB w="28575">
                      <a:solidFill>
                        <a:srgbClr val="2E2E2E"/>
                      </a:solidFill>
                      <a:prstDash val="solid"/>
                    </a:lnB>
                    <a:solidFill>
                      <a:srgbClr val="CFD2B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239259" y="191338"/>
            <a:ext cx="3967479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15" dirty="0"/>
              <a:t>图论的主要模块</a:t>
            </a:r>
            <a:endParaRPr sz="4400"/>
          </a:p>
        </p:txBody>
      </p:sp>
      <p:sp>
        <p:nvSpPr>
          <p:cNvPr id="4" name="object 4"/>
          <p:cNvSpPr txBox="1"/>
          <p:nvPr/>
        </p:nvSpPr>
        <p:spPr>
          <a:xfrm>
            <a:off x="402882" y="1145628"/>
            <a:ext cx="2515235" cy="4347210"/>
          </a:xfrm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35"/>
              </a:spcBef>
            </a:pPr>
            <a:r>
              <a:rPr sz="2350" b="1" spc="25" dirty="0">
                <a:latin typeface="等线"/>
                <a:cs typeface="等线"/>
              </a:rPr>
              <a:t>图</a:t>
            </a:r>
            <a:endParaRPr sz="2350">
              <a:latin typeface="等线"/>
              <a:cs typeface="等线"/>
            </a:endParaRPr>
          </a:p>
          <a:p>
            <a:pPr marL="351155" marR="911225">
              <a:lnSpc>
                <a:spcPct val="122700"/>
              </a:lnSpc>
            </a:pPr>
            <a:r>
              <a:rPr sz="2350" b="1" spc="90" dirty="0">
                <a:latin typeface="等线"/>
                <a:cs typeface="等线"/>
              </a:rPr>
              <a:t>基本概</a:t>
            </a:r>
            <a:r>
              <a:rPr sz="2350" b="1" spc="40" dirty="0">
                <a:latin typeface="等线"/>
                <a:cs typeface="等线"/>
              </a:rPr>
              <a:t>念</a:t>
            </a:r>
            <a:r>
              <a:rPr sz="2350" b="1" spc="90" dirty="0">
                <a:latin typeface="等线"/>
                <a:cs typeface="等线"/>
              </a:rPr>
              <a:t>连通</a:t>
            </a:r>
            <a:r>
              <a:rPr sz="2350" b="1" spc="40" dirty="0">
                <a:latin typeface="等线"/>
                <a:cs typeface="等线"/>
              </a:rPr>
              <a:t>性</a:t>
            </a:r>
            <a:endParaRPr sz="2350">
              <a:latin typeface="等线"/>
              <a:cs typeface="等线"/>
            </a:endParaRPr>
          </a:p>
          <a:p>
            <a:pPr marL="12700" marR="5080">
              <a:lnSpc>
                <a:spcPts val="3460"/>
              </a:lnSpc>
              <a:spcBef>
                <a:spcPts val="220"/>
              </a:spcBef>
            </a:pPr>
            <a:r>
              <a:rPr sz="2350" b="1" spc="85" dirty="0">
                <a:latin typeface="等线"/>
                <a:cs typeface="等线"/>
              </a:rPr>
              <a:t>欧拉图、哈密顿</a:t>
            </a:r>
            <a:r>
              <a:rPr sz="2350" b="1" spc="35" dirty="0">
                <a:latin typeface="等线"/>
                <a:cs typeface="等线"/>
              </a:rPr>
              <a:t>图</a:t>
            </a:r>
            <a:r>
              <a:rPr sz="2350" b="1" spc="-50" dirty="0">
                <a:latin typeface="等线"/>
                <a:cs typeface="等线"/>
              </a:rPr>
              <a:t>树</a:t>
            </a:r>
            <a:endParaRPr sz="2350">
              <a:latin typeface="等线"/>
              <a:cs typeface="等线"/>
            </a:endParaRPr>
          </a:p>
          <a:p>
            <a:pPr marL="12700" marR="627380">
              <a:lnSpc>
                <a:spcPts val="3460"/>
              </a:lnSpc>
            </a:pPr>
            <a:r>
              <a:rPr sz="2350" b="1" spc="90" dirty="0">
                <a:latin typeface="等线"/>
                <a:cs typeface="等线"/>
              </a:rPr>
              <a:t>图的矩阵表</a:t>
            </a:r>
            <a:r>
              <a:rPr sz="2350" b="1" spc="40" dirty="0">
                <a:latin typeface="等线"/>
                <a:cs typeface="等线"/>
              </a:rPr>
              <a:t>示</a:t>
            </a:r>
            <a:r>
              <a:rPr sz="2350" b="1" spc="90" dirty="0">
                <a:latin typeface="等线"/>
                <a:cs typeface="等线"/>
              </a:rPr>
              <a:t>平面</a:t>
            </a:r>
            <a:r>
              <a:rPr sz="2350" b="1" spc="40" dirty="0">
                <a:latin typeface="等线"/>
                <a:cs typeface="等线"/>
              </a:rPr>
              <a:t>图</a:t>
            </a:r>
            <a:endParaRPr sz="2350">
              <a:latin typeface="等线"/>
              <a:cs typeface="等线"/>
            </a:endParaRPr>
          </a:p>
          <a:p>
            <a:pPr marL="12700">
              <a:lnSpc>
                <a:spcPts val="2665"/>
              </a:lnSpc>
            </a:pPr>
            <a:r>
              <a:rPr sz="2350" b="1" spc="90" dirty="0">
                <a:latin typeface="等线"/>
                <a:cs typeface="等线"/>
              </a:rPr>
              <a:t>着</a:t>
            </a:r>
            <a:r>
              <a:rPr sz="2350" b="1" spc="40" dirty="0">
                <a:latin typeface="等线"/>
                <a:cs typeface="等线"/>
              </a:rPr>
              <a:t>色</a:t>
            </a:r>
            <a:endParaRPr sz="2350">
              <a:latin typeface="等线"/>
              <a:cs typeface="等线"/>
            </a:endParaRPr>
          </a:p>
          <a:p>
            <a:pPr marL="12700" marR="5080">
              <a:lnSpc>
                <a:spcPts val="3460"/>
              </a:lnSpc>
              <a:spcBef>
                <a:spcPts val="110"/>
              </a:spcBef>
            </a:pPr>
            <a:r>
              <a:rPr sz="2350" b="1" spc="85" dirty="0">
                <a:latin typeface="等线"/>
                <a:cs typeface="等线"/>
              </a:rPr>
              <a:t>独立支配覆盖匹</a:t>
            </a:r>
            <a:r>
              <a:rPr sz="2350" b="1" spc="35" dirty="0">
                <a:latin typeface="等线"/>
                <a:cs typeface="等线"/>
              </a:rPr>
              <a:t>配</a:t>
            </a:r>
            <a:r>
              <a:rPr sz="2350" b="1" spc="85" dirty="0">
                <a:latin typeface="等线"/>
                <a:cs typeface="等线"/>
              </a:rPr>
              <a:t>带权</a:t>
            </a:r>
            <a:r>
              <a:rPr sz="2350" b="1" spc="35" dirty="0">
                <a:latin typeface="等线"/>
                <a:cs typeface="等线"/>
              </a:rPr>
              <a:t>图</a:t>
            </a:r>
            <a:endParaRPr sz="2350">
              <a:latin typeface="等线"/>
              <a:cs typeface="等线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5641843" y="4389115"/>
            <a:ext cx="311150" cy="366395"/>
            <a:chOff x="5641843" y="4389115"/>
            <a:chExt cx="311150" cy="366395"/>
          </a:xfrm>
        </p:grpSpPr>
        <p:sp>
          <p:nvSpPr>
            <p:cNvPr id="6" name="object 6"/>
            <p:cNvSpPr/>
            <p:nvPr/>
          </p:nvSpPr>
          <p:spPr>
            <a:xfrm>
              <a:off x="5646420" y="4393691"/>
              <a:ext cx="302260" cy="356870"/>
            </a:xfrm>
            <a:custGeom>
              <a:avLst/>
              <a:gdLst/>
              <a:ahLst/>
              <a:cxnLst/>
              <a:rect l="l" t="t" r="r" b="b"/>
              <a:pathLst>
                <a:path w="302260" h="356870">
                  <a:moveTo>
                    <a:pt x="150875" y="0"/>
                  </a:moveTo>
                  <a:lnTo>
                    <a:pt x="0" y="93725"/>
                  </a:lnTo>
                  <a:lnTo>
                    <a:pt x="75437" y="93725"/>
                  </a:lnTo>
                  <a:lnTo>
                    <a:pt x="75437" y="356615"/>
                  </a:lnTo>
                  <a:lnTo>
                    <a:pt x="226313" y="356615"/>
                  </a:lnTo>
                  <a:lnTo>
                    <a:pt x="226313" y="93725"/>
                  </a:lnTo>
                  <a:lnTo>
                    <a:pt x="301751" y="93725"/>
                  </a:lnTo>
                  <a:lnTo>
                    <a:pt x="150875" y="0"/>
                  </a:lnTo>
                  <a:close/>
                </a:path>
              </a:pathLst>
            </a:custGeom>
            <a:solidFill>
              <a:srgbClr val="91841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646420" y="4393691"/>
              <a:ext cx="302260" cy="356870"/>
            </a:xfrm>
            <a:custGeom>
              <a:avLst/>
              <a:gdLst/>
              <a:ahLst/>
              <a:cxnLst/>
              <a:rect l="l" t="t" r="r" b="b"/>
              <a:pathLst>
                <a:path w="302260" h="356870">
                  <a:moveTo>
                    <a:pt x="0" y="93725"/>
                  </a:moveTo>
                  <a:lnTo>
                    <a:pt x="150875" y="0"/>
                  </a:lnTo>
                  <a:lnTo>
                    <a:pt x="301751" y="93725"/>
                  </a:lnTo>
                  <a:lnTo>
                    <a:pt x="226313" y="93725"/>
                  </a:lnTo>
                  <a:lnTo>
                    <a:pt x="226313" y="356615"/>
                  </a:lnTo>
                  <a:lnTo>
                    <a:pt x="75437" y="356615"/>
                  </a:lnTo>
                  <a:lnTo>
                    <a:pt x="75437" y="93725"/>
                  </a:lnTo>
                  <a:lnTo>
                    <a:pt x="0" y="93725"/>
                  </a:lnTo>
                  <a:close/>
                </a:path>
              </a:pathLst>
            </a:custGeom>
            <a:ln w="91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5650987" y="2130547"/>
            <a:ext cx="302260" cy="375285"/>
            <a:chOff x="5650987" y="2130547"/>
            <a:chExt cx="302260" cy="375285"/>
          </a:xfrm>
        </p:grpSpPr>
        <p:sp>
          <p:nvSpPr>
            <p:cNvPr id="9" name="object 9"/>
            <p:cNvSpPr/>
            <p:nvPr/>
          </p:nvSpPr>
          <p:spPr>
            <a:xfrm>
              <a:off x="5655563" y="2135124"/>
              <a:ext cx="292735" cy="365760"/>
            </a:xfrm>
            <a:custGeom>
              <a:avLst/>
              <a:gdLst/>
              <a:ahLst/>
              <a:cxnLst/>
              <a:rect l="l" t="t" r="r" b="b"/>
              <a:pathLst>
                <a:path w="292735" h="365760">
                  <a:moveTo>
                    <a:pt x="146303" y="0"/>
                  </a:moveTo>
                  <a:lnTo>
                    <a:pt x="0" y="91059"/>
                  </a:lnTo>
                  <a:lnTo>
                    <a:pt x="73151" y="91059"/>
                  </a:lnTo>
                  <a:lnTo>
                    <a:pt x="73151" y="365760"/>
                  </a:lnTo>
                  <a:lnTo>
                    <a:pt x="219456" y="365760"/>
                  </a:lnTo>
                  <a:lnTo>
                    <a:pt x="219456" y="91059"/>
                  </a:lnTo>
                  <a:lnTo>
                    <a:pt x="292608" y="91059"/>
                  </a:lnTo>
                  <a:lnTo>
                    <a:pt x="146303" y="0"/>
                  </a:lnTo>
                  <a:close/>
                </a:path>
              </a:pathLst>
            </a:custGeom>
            <a:solidFill>
              <a:srgbClr val="91841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655563" y="2135124"/>
              <a:ext cx="292735" cy="365760"/>
            </a:xfrm>
            <a:custGeom>
              <a:avLst/>
              <a:gdLst/>
              <a:ahLst/>
              <a:cxnLst/>
              <a:rect l="l" t="t" r="r" b="b"/>
              <a:pathLst>
                <a:path w="292735" h="365760">
                  <a:moveTo>
                    <a:pt x="0" y="91059"/>
                  </a:moveTo>
                  <a:lnTo>
                    <a:pt x="146303" y="0"/>
                  </a:lnTo>
                  <a:lnTo>
                    <a:pt x="292608" y="91059"/>
                  </a:lnTo>
                  <a:lnTo>
                    <a:pt x="219456" y="91059"/>
                  </a:lnTo>
                  <a:lnTo>
                    <a:pt x="219456" y="365760"/>
                  </a:lnTo>
                  <a:lnTo>
                    <a:pt x="73151" y="365760"/>
                  </a:lnTo>
                  <a:lnTo>
                    <a:pt x="73151" y="91059"/>
                  </a:lnTo>
                  <a:lnTo>
                    <a:pt x="0" y="91059"/>
                  </a:lnTo>
                  <a:close/>
                </a:path>
              </a:pathLst>
            </a:custGeom>
            <a:ln w="91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3054095" y="969263"/>
          <a:ext cx="4891404" cy="49917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6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577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5945">
                <a:tc rowSpan="9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3550">
                        <a:latin typeface="Times New Roman"/>
                        <a:cs typeface="Times New Roman"/>
                      </a:endParaRPr>
                    </a:p>
                    <a:p>
                      <a:pPr marL="122555" marR="143510">
                        <a:lnSpc>
                          <a:spcPct val="204500"/>
                        </a:lnSpc>
                      </a:pPr>
                      <a:r>
                        <a:rPr sz="2350" b="1" spc="-50" dirty="0">
                          <a:latin typeface="Microsoft JhengHei"/>
                          <a:cs typeface="Microsoft JhengHei"/>
                        </a:rPr>
                        <a:t>图论</a:t>
                      </a:r>
                      <a:endParaRPr sz="2350">
                        <a:latin typeface="Microsoft JhengHei"/>
                        <a:cs typeface="Microsoft JhengHei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33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C99FF">
                        <a:alpha val="32156"/>
                      </a:srgb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0"/>
                        </a:spcBef>
                      </a:pPr>
                      <a:r>
                        <a:rPr sz="2350" b="1" spc="90" dirty="0">
                          <a:latin typeface="Microsoft JhengHei"/>
                          <a:cs typeface="Microsoft JhengHei"/>
                        </a:rPr>
                        <a:t>带权</a:t>
                      </a:r>
                      <a:r>
                        <a:rPr sz="2350" b="1" spc="40" dirty="0">
                          <a:latin typeface="Microsoft JhengHei"/>
                          <a:cs typeface="Microsoft JhengHei"/>
                        </a:rPr>
                        <a:t>图</a:t>
                      </a:r>
                      <a:endParaRPr sz="2350">
                        <a:latin typeface="Microsoft JhengHei"/>
                        <a:cs typeface="Microsoft JhengHei"/>
                      </a:endParaRPr>
                    </a:p>
                  </a:txBody>
                  <a:tcPr marL="0" marR="0" marT="107950" marB="0">
                    <a:lnL w="28575">
                      <a:solidFill>
                        <a:srgbClr val="003300"/>
                      </a:solidFill>
                      <a:prstDash val="solid"/>
                    </a:lnL>
                    <a:lnR w="28575">
                      <a:solidFill>
                        <a:srgbClr val="003300"/>
                      </a:solidFill>
                      <a:prstDash val="solid"/>
                    </a:lnR>
                    <a:lnT w="28575">
                      <a:solidFill>
                        <a:srgbClr val="003300"/>
                      </a:solidFill>
                      <a:prstDash val="solid"/>
                    </a:lnT>
                    <a:lnB w="28575">
                      <a:solidFill>
                        <a:srgbClr val="003300"/>
                      </a:solidFill>
                      <a:prstDash val="solid"/>
                    </a:lnB>
                    <a:solidFill>
                      <a:srgbClr val="99CC00">
                        <a:alpha val="61175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594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33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C99FF">
                        <a:alpha val="3215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86995">
                        <a:lnSpc>
                          <a:spcPct val="100000"/>
                        </a:lnSpc>
                        <a:spcBef>
                          <a:spcPts val="850"/>
                        </a:spcBef>
                      </a:pPr>
                      <a:r>
                        <a:rPr sz="2350" b="1" spc="85" dirty="0">
                          <a:latin typeface="Microsoft JhengHei"/>
                          <a:cs typeface="Microsoft JhengHei"/>
                        </a:rPr>
                        <a:t>着</a:t>
                      </a:r>
                      <a:r>
                        <a:rPr sz="2350" b="1" spc="35" dirty="0">
                          <a:latin typeface="Microsoft JhengHei"/>
                          <a:cs typeface="Microsoft JhengHei"/>
                        </a:rPr>
                        <a:t>色</a:t>
                      </a:r>
                      <a:endParaRPr sz="2350">
                        <a:latin typeface="Microsoft JhengHei"/>
                        <a:cs typeface="Microsoft JhengHei"/>
                      </a:endParaRPr>
                    </a:p>
                  </a:txBody>
                  <a:tcPr marL="0" marR="0" marT="107950" marB="0">
                    <a:lnL w="28575">
                      <a:solidFill>
                        <a:srgbClr val="990000"/>
                      </a:solidFill>
                      <a:prstDash val="solid"/>
                    </a:lnL>
                    <a:lnR w="28575">
                      <a:solidFill>
                        <a:srgbClr val="990000"/>
                      </a:solidFill>
                      <a:prstDash val="solid"/>
                    </a:lnR>
                    <a:lnT w="28575">
                      <a:solidFill>
                        <a:srgbClr val="003300"/>
                      </a:solidFill>
                      <a:prstDash val="solid"/>
                    </a:lnT>
                    <a:lnB w="28575">
                      <a:solidFill>
                        <a:srgbClr val="990000"/>
                      </a:solidFill>
                      <a:prstDash val="solid"/>
                    </a:lnB>
                    <a:solidFill>
                      <a:srgbClr val="CCEB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sz="2350" b="1" spc="85" dirty="0">
                          <a:latin typeface="Microsoft JhengHei"/>
                          <a:cs typeface="Microsoft JhengHei"/>
                        </a:rPr>
                        <a:t>独立</a:t>
                      </a:r>
                      <a:r>
                        <a:rPr sz="2350" b="1" spc="20" dirty="0">
                          <a:latin typeface="Microsoft JhengHei"/>
                          <a:cs typeface="Microsoft JhengHei"/>
                        </a:rPr>
                        <a:t>、支配、覆盖、匹配</a:t>
                      </a:r>
                      <a:endParaRPr sz="2350">
                        <a:latin typeface="Microsoft JhengHei"/>
                        <a:cs typeface="Microsoft JhengHei"/>
                      </a:endParaRPr>
                    </a:p>
                  </a:txBody>
                  <a:tcPr marL="0" marR="0" marT="109220" marB="0">
                    <a:lnL w="28575">
                      <a:solidFill>
                        <a:srgbClr val="990000"/>
                      </a:solidFill>
                      <a:prstDash val="solid"/>
                    </a:lnL>
                    <a:lnR w="28575">
                      <a:solidFill>
                        <a:srgbClr val="990000"/>
                      </a:solidFill>
                      <a:prstDash val="solid"/>
                    </a:lnR>
                    <a:lnT w="28575">
                      <a:solidFill>
                        <a:srgbClr val="003300"/>
                      </a:solidFill>
                      <a:prstDash val="solid"/>
                    </a:lnT>
                    <a:lnB w="28575">
                      <a:solidFill>
                        <a:srgbClr val="990000"/>
                      </a:solidFill>
                      <a:prstDash val="solid"/>
                    </a:lnB>
                    <a:solidFill>
                      <a:srgbClr val="C1901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33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C99FF">
                        <a:alpha val="32156"/>
                      </a:srgbClr>
                    </a:solidFill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990000"/>
                      </a:solidFill>
                      <a:prstDash val="solid"/>
                    </a:lnT>
                    <a:lnB w="28575">
                      <a:solidFill>
                        <a:srgbClr val="0033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594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33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C99FF">
                        <a:alpha val="32156"/>
                      </a:srgb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R="23495" algn="ctr">
                        <a:lnSpc>
                          <a:spcPct val="100000"/>
                        </a:lnSpc>
                        <a:spcBef>
                          <a:spcPts val="830"/>
                        </a:spcBef>
                        <a:tabLst>
                          <a:tab pos="475615" algn="l"/>
                          <a:tab pos="951230" algn="l"/>
                        </a:tabLst>
                      </a:pPr>
                      <a:r>
                        <a:rPr sz="2350" b="1" spc="-50" dirty="0">
                          <a:latin typeface="Microsoft JhengHei"/>
                          <a:cs typeface="Microsoft JhengHei"/>
                        </a:rPr>
                        <a:t>平</a:t>
                      </a:r>
                      <a:r>
                        <a:rPr sz="2350" b="1" dirty="0">
                          <a:latin typeface="Microsoft JhengHei"/>
                          <a:cs typeface="Microsoft JhengHei"/>
                        </a:rPr>
                        <a:t>	</a:t>
                      </a:r>
                      <a:r>
                        <a:rPr sz="2350" b="1" spc="-50" dirty="0">
                          <a:latin typeface="Microsoft JhengHei"/>
                          <a:cs typeface="Microsoft JhengHei"/>
                        </a:rPr>
                        <a:t>面</a:t>
                      </a:r>
                      <a:r>
                        <a:rPr sz="2350" b="1" dirty="0">
                          <a:latin typeface="Microsoft JhengHei"/>
                          <a:cs typeface="Microsoft JhengHei"/>
                        </a:rPr>
                        <a:t>	</a:t>
                      </a:r>
                      <a:r>
                        <a:rPr sz="2350" b="1" spc="-50" dirty="0">
                          <a:latin typeface="Microsoft JhengHei"/>
                          <a:cs typeface="Microsoft JhengHei"/>
                        </a:rPr>
                        <a:t>图</a:t>
                      </a:r>
                      <a:endParaRPr sz="2350">
                        <a:latin typeface="Microsoft JhengHei"/>
                        <a:cs typeface="Microsoft JhengHei"/>
                      </a:endParaRPr>
                    </a:p>
                  </a:txBody>
                  <a:tcPr marL="0" marR="0" marT="10541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3300"/>
                      </a:solidFill>
                      <a:prstDash val="solid"/>
                    </a:lnR>
                    <a:lnT w="28575">
                      <a:solidFill>
                        <a:srgbClr val="003300"/>
                      </a:solidFill>
                      <a:prstDash val="solid"/>
                    </a:lnT>
                    <a:lnB w="28575">
                      <a:solidFill>
                        <a:srgbClr val="990000"/>
                      </a:solidFill>
                      <a:prstDash val="solid"/>
                    </a:lnB>
                    <a:solidFill>
                      <a:srgbClr val="FFFF00">
                        <a:alpha val="61175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594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33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C99FF">
                        <a:alpha val="32156"/>
                      </a:srgb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R="7620" algn="ctr">
                        <a:lnSpc>
                          <a:spcPct val="100000"/>
                        </a:lnSpc>
                        <a:spcBef>
                          <a:spcPts val="850"/>
                        </a:spcBef>
                      </a:pPr>
                      <a:r>
                        <a:rPr sz="2350" b="1" dirty="0">
                          <a:latin typeface="Microsoft JhengHei"/>
                          <a:cs typeface="Microsoft JhengHei"/>
                        </a:rPr>
                        <a:t>树</a:t>
                      </a:r>
                      <a:endParaRPr sz="2350">
                        <a:latin typeface="Microsoft JhengHei"/>
                        <a:cs typeface="Microsoft JhengHei"/>
                      </a:endParaRPr>
                    </a:p>
                  </a:txBody>
                  <a:tcPr marL="0" marR="0" marT="10795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990000"/>
                      </a:solidFill>
                      <a:prstDash val="solid"/>
                    </a:lnR>
                    <a:lnT w="28575" cap="flat" cmpd="sng" algn="ctr">
                      <a:solidFill>
                        <a:srgbClr val="99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>
                      <a:solidFill>
                        <a:srgbClr val="990000"/>
                      </a:solidFill>
                      <a:prstDash val="solid"/>
                    </a:lnB>
                    <a:solidFill>
                      <a:srgbClr val="99CC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0"/>
                        </a:spcBef>
                      </a:pPr>
                      <a:r>
                        <a:rPr sz="2350" b="1" spc="85" dirty="0">
                          <a:latin typeface="Microsoft JhengHei"/>
                          <a:cs typeface="Microsoft JhengHei"/>
                        </a:rPr>
                        <a:t>图的</a:t>
                      </a:r>
                      <a:r>
                        <a:rPr sz="2350" b="1" spc="40" dirty="0">
                          <a:latin typeface="Microsoft JhengHei"/>
                          <a:cs typeface="Microsoft JhengHei"/>
                        </a:rPr>
                        <a:t>矩阵</a:t>
                      </a:r>
                      <a:r>
                        <a:rPr sz="2350" b="1" dirty="0">
                          <a:latin typeface="Microsoft JhengHei"/>
                          <a:cs typeface="Microsoft JhengHei"/>
                        </a:rPr>
                        <a:t>表</a:t>
                      </a:r>
                      <a:r>
                        <a:rPr sz="2350" b="1" spc="-50" dirty="0">
                          <a:latin typeface="Microsoft JhengHei"/>
                          <a:cs typeface="Microsoft JhengHei"/>
                        </a:rPr>
                        <a:t>示</a:t>
                      </a:r>
                      <a:endParaRPr sz="2350">
                        <a:latin typeface="Microsoft JhengHei"/>
                        <a:cs typeface="Microsoft JhengHei"/>
                      </a:endParaRPr>
                    </a:p>
                  </a:txBody>
                  <a:tcPr marL="0" marR="0" marT="107950" marB="0">
                    <a:lnL w="28575">
                      <a:solidFill>
                        <a:srgbClr val="990000"/>
                      </a:solidFill>
                      <a:prstDash val="solid"/>
                    </a:lnL>
                    <a:lnR w="28575">
                      <a:solidFill>
                        <a:srgbClr val="990000"/>
                      </a:solidFill>
                      <a:prstDash val="solid"/>
                    </a:lnR>
                    <a:lnT w="28575">
                      <a:solidFill>
                        <a:srgbClr val="990000"/>
                      </a:solidFill>
                      <a:prstDash val="solid"/>
                    </a:lnT>
                    <a:lnB w="28575">
                      <a:solidFill>
                        <a:srgbClr val="990000"/>
                      </a:solidFill>
                      <a:prstDash val="solid"/>
                    </a:lnB>
                    <a:solidFill>
                      <a:srgbClr val="CFD2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594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33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C99FF">
                        <a:alpha val="32156"/>
                      </a:srgb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608330">
                        <a:lnSpc>
                          <a:spcPct val="100000"/>
                        </a:lnSpc>
                        <a:spcBef>
                          <a:spcPts val="850"/>
                        </a:spcBef>
                      </a:pPr>
                      <a:r>
                        <a:rPr sz="2350" b="1" spc="85" dirty="0">
                          <a:latin typeface="Microsoft JhengHei"/>
                          <a:cs typeface="Microsoft JhengHei"/>
                        </a:rPr>
                        <a:t>欧拉</a:t>
                      </a:r>
                      <a:r>
                        <a:rPr sz="2350" b="1" spc="35" dirty="0">
                          <a:latin typeface="Microsoft JhengHei"/>
                          <a:cs typeface="Microsoft JhengHei"/>
                        </a:rPr>
                        <a:t>图</a:t>
                      </a:r>
                      <a:endParaRPr sz="2350">
                        <a:latin typeface="Microsoft JhengHei"/>
                        <a:cs typeface="Microsoft JhengHei"/>
                      </a:endParaRPr>
                    </a:p>
                  </a:txBody>
                  <a:tcPr marL="0" marR="0" marT="10795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990000"/>
                      </a:solidFill>
                      <a:prstDash val="solid"/>
                    </a:lnR>
                    <a:lnT w="28575">
                      <a:solidFill>
                        <a:srgbClr val="990000"/>
                      </a:solidFill>
                      <a:prstDash val="solid"/>
                    </a:lnT>
                    <a:lnB w="28575">
                      <a:solidFill>
                        <a:srgbClr val="990000"/>
                      </a:solidFill>
                      <a:prstDash val="solid"/>
                    </a:lnB>
                    <a:solidFill>
                      <a:srgbClr val="00AFE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850"/>
                        </a:spcBef>
                      </a:pPr>
                      <a:r>
                        <a:rPr sz="2350" b="1" spc="85" dirty="0">
                          <a:latin typeface="Microsoft JhengHei"/>
                          <a:cs typeface="Microsoft JhengHei"/>
                        </a:rPr>
                        <a:t>哈密</a:t>
                      </a:r>
                      <a:r>
                        <a:rPr sz="2350" b="1" dirty="0">
                          <a:latin typeface="Microsoft JhengHei"/>
                          <a:cs typeface="Microsoft JhengHei"/>
                        </a:rPr>
                        <a:t>顿</a:t>
                      </a:r>
                      <a:r>
                        <a:rPr sz="2350" b="1" spc="-50" dirty="0">
                          <a:latin typeface="Microsoft JhengHei"/>
                          <a:cs typeface="Microsoft JhengHei"/>
                        </a:rPr>
                        <a:t>图</a:t>
                      </a:r>
                      <a:endParaRPr sz="2350">
                        <a:latin typeface="Microsoft JhengHei"/>
                        <a:cs typeface="Microsoft JhengHei"/>
                      </a:endParaRPr>
                    </a:p>
                  </a:txBody>
                  <a:tcPr marL="0" marR="0" marT="107950" marB="0">
                    <a:lnL w="28575">
                      <a:solidFill>
                        <a:srgbClr val="990000"/>
                      </a:solidFill>
                      <a:prstDash val="solid"/>
                    </a:lnL>
                    <a:lnR w="28575">
                      <a:solidFill>
                        <a:srgbClr val="990000"/>
                      </a:solidFill>
                      <a:prstDash val="solid"/>
                    </a:lnR>
                    <a:lnT w="28575">
                      <a:solidFill>
                        <a:srgbClr val="990000"/>
                      </a:solidFill>
                      <a:prstDash val="solid"/>
                    </a:lnT>
                    <a:lnB w="28575">
                      <a:solidFill>
                        <a:srgbClr val="990000"/>
                      </a:solidFill>
                      <a:prstDash val="solid"/>
                    </a:lnB>
                    <a:solidFill>
                      <a:srgbClr val="DCAC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33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C99FF">
                        <a:alpha val="32156"/>
                      </a:srgbClr>
                    </a:solidFill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990000"/>
                      </a:solidFill>
                      <a:prstDash val="solid"/>
                    </a:lnT>
                    <a:lnB w="28575">
                      <a:solidFill>
                        <a:srgbClr val="2E2E2E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7594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33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C99FF">
                        <a:alpha val="32156"/>
                      </a:srgb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984250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2350" b="1" spc="80" dirty="0">
                          <a:latin typeface="Microsoft JhengHei"/>
                          <a:cs typeface="Microsoft JhengHei"/>
                        </a:rPr>
                        <a:t>连 通 性</a:t>
                      </a:r>
                      <a:r>
                        <a:rPr sz="2350" b="1" spc="160" dirty="0">
                          <a:latin typeface="Microsoft JhengHei"/>
                          <a:cs typeface="Microsoft JhengHei"/>
                        </a:rPr>
                        <a:t>、</a:t>
                      </a:r>
                      <a:r>
                        <a:rPr sz="2350" b="1" spc="85" dirty="0">
                          <a:latin typeface="Microsoft JhengHei"/>
                          <a:cs typeface="Microsoft JhengHei"/>
                        </a:rPr>
                        <a:t>连</a:t>
                      </a:r>
                      <a:r>
                        <a:rPr sz="2350" b="1" dirty="0">
                          <a:latin typeface="Microsoft JhengHei"/>
                          <a:cs typeface="Microsoft JhengHei"/>
                        </a:rPr>
                        <a:t>通</a:t>
                      </a:r>
                      <a:r>
                        <a:rPr sz="2350" b="1" spc="-50" dirty="0">
                          <a:latin typeface="Microsoft JhengHei"/>
                          <a:cs typeface="Microsoft JhengHei"/>
                        </a:rPr>
                        <a:t>度</a:t>
                      </a:r>
                      <a:endParaRPr sz="2350">
                        <a:latin typeface="Microsoft JhengHei"/>
                        <a:cs typeface="Microsoft JhengHei"/>
                      </a:endParaRPr>
                    </a:p>
                  </a:txBody>
                  <a:tcPr marL="0" marR="0" marT="10985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2E2E2E"/>
                      </a:solidFill>
                      <a:prstDash val="solid"/>
                    </a:lnR>
                    <a:lnT w="28575">
                      <a:solidFill>
                        <a:srgbClr val="2E2E2E"/>
                      </a:solidFill>
                      <a:prstDash val="solid"/>
                    </a:lnT>
                    <a:lnB w="28575">
                      <a:solidFill>
                        <a:srgbClr val="2E2E2E"/>
                      </a:solidFill>
                      <a:prstDash val="solid"/>
                    </a:lnB>
                    <a:solidFill>
                      <a:srgbClr val="CCEB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7594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33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C99FF">
                        <a:alpha val="32156"/>
                      </a:srgb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1048385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2350" b="1" spc="70" dirty="0">
                          <a:latin typeface="Microsoft JhengHei"/>
                          <a:cs typeface="Microsoft JhengHei"/>
                        </a:rPr>
                        <a:t>图 的 基 本 概</a:t>
                      </a:r>
                      <a:r>
                        <a:rPr sz="2350" b="1" spc="110" dirty="0">
                          <a:latin typeface="Microsoft JhengHei"/>
                          <a:cs typeface="Microsoft JhengHei"/>
                        </a:rPr>
                        <a:t>念</a:t>
                      </a:r>
                      <a:endParaRPr sz="2350">
                        <a:latin typeface="Microsoft JhengHei"/>
                        <a:cs typeface="Microsoft JhengHei"/>
                      </a:endParaRPr>
                    </a:p>
                  </a:txBody>
                  <a:tcPr marL="0" marR="0" marT="10985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2E2E2E"/>
                      </a:solidFill>
                      <a:prstDash val="solid"/>
                    </a:lnR>
                    <a:lnT w="28575">
                      <a:solidFill>
                        <a:srgbClr val="2E2E2E"/>
                      </a:solidFill>
                      <a:prstDash val="solid"/>
                    </a:lnT>
                    <a:lnB w="28575">
                      <a:solidFill>
                        <a:srgbClr val="2E2E2E"/>
                      </a:solidFill>
                      <a:prstDash val="solid"/>
                    </a:lnB>
                    <a:solidFill>
                      <a:srgbClr val="CFD2B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2" name="object 12"/>
          <p:cNvSpPr txBox="1"/>
          <p:nvPr/>
        </p:nvSpPr>
        <p:spPr>
          <a:xfrm>
            <a:off x="8721979" y="6108672"/>
            <a:ext cx="112395" cy="200025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1200" spc="10" dirty="0">
                <a:solidFill>
                  <a:srgbClr val="888888"/>
                </a:solidFill>
                <a:latin typeface="Arial"/>
                <a:cs typeface="Arial"/>
              </a:rPr>
              <a:t>6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061078" y="252425"/>
            <a:ext cx="397891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35" dirty="0"/>
              <a:t>集合论中的问题</a:t>
            </a:r>
            <a:endParaRPr sz="440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  <p:sp>
        <p:nvSpPr>
          <p:cNvPr id="4" name="object 4"/>
          <p:cNvSpPr txBox="1"/>
          <p:nvPr/>
        </p:nvSpPr>
        <p:spPr>
          <a:xfrm>
            <a:off x="536575" y="1550493"/>
            <a:ext cx="6798309" cy="3230880"/>
          </a:xfrm>
          <a:prstGeom prst="rect">
            <a:avLst/>
          </a:prstGeom>
        </p:spPr>
        <p:txBody>
          <a:bodyPr vert="horz" wrap="square" lIns="0" tIns="227330" rIns="0" bIns="0" rtlCol="0">
            <a:spAutoFit/>
          </a:bodyPr>
          <a:lstStyle/>
          <a:p>
            <a:pPr marL="360045" indent="-347980">
              <a:lnSpc>
                <a:spcPct val="100000"/>
              </a:lnSpc>
              <a:spcBef>
                <a:spcPts val="1790"/>
              </a:spcBef>
              <a:buFont typeface="Arial"/>
              <a:buChar char="•"/>
              <a:tabLst>
                <a:tab pos="360045" algn="l"/>
                <a:tab pos="360680" algn="l"/>
              </a:tabLst>
            </a:pPr>
            <a:r>
              <a:rPr sz="2800" spc="-15" dirty="0">
                <a:latin typeface="宋体"/>
                <a:cs typeface="宋体"/>
              </a:rPr>
              <a:t>如何给集合下定义？</a:t>
            </a:r>
            <a:endParaRPr sz="2800">
              <a:latin typeface="宋体"/>
              <a:cs typeface="宋体"/>
            </a:endParaRPr>
          </a:p>
          <a:p>
            <a:pPr marL="360045" indent="-347980">
              <a:lnSpc>
                <a:spcPct val="100000"/>
              </a:lnSpc>
              <a:spcBef>
                <a:spcPts val="1685"/>
              </a:spcBef>
              <a:buFont typeface="Arial"/>
              <a:buChar char="•"/>
              <a:tabLst>
                <a:tab pos="360045" algn="l"/>
                <a:tab pos="360680" algn="l"/>
              </a:tabLst>
            </a:pPr>
            <a:r>
              <a:rPr sz="2800" spc="-5" dirty="0">
                <a:latin typeface="宋体"/>
                <a:cs typeface="宋体"/>
              </a:rPr>
              <a:t>如何用集合去定义关系、函数、自然数？</a:t>
            </a:r>
            <a:endParaRPr sz="2800">
              <a:latin typeface="宋体"/>
              <a:cs typeface="宋体"/>
            </a:endParaRPr>
          </a:p>
          <a:p>
            <a:pPr marL="360045" indent="-347980">
              <a:lnSpc>
                <a:spcPct val="100000"/>
              </a:lnSpc>
              <a:spcBef>
                <a:spcPts val="1690"/>
              </a:spcBef>
              <a:buFont typeface="Arial"/>
              <a:buChar char="•"/>
              <a:tabLst>
                <a:tab pos="360045" algn="l"/>
                <a:tab pos="360680" algn="l"/>
              </a:tabLst>
            </a:pPr>
            <a:r>
              <a:rPr sz="2800" spc="-5" dirty="0">
                <a:latin typeface="宋体"/>
                <a:cs typeface="宋体"/>
              </a:rPr>
              <a:t>如何比较集合的大小？</a:t>
            </a:r>
            <a:endParaRPr sz="2800">
              <a:latin typeface="宋体"/>
              <a:cs typeface="宋体"/>
            </a:endParaRPr>
          </a:p>
          <a:p>
            <a:pPr marL="360045" indent="-347980">
              <a:lnSpc>
                <a:spcPct val="100000"/>
              </a:lnSpc>
              <a:spcBef>
                <a:spcPts val="1685"/>
              </a:spcBef>
              <a:buFont typeface="Arial"/>
              <a:buChar char="•"/>
              <a:tabLst>
                <a:tab pos="360045" algn="l"/>
                <a:tab pos="360680" algn="l"/>
              </a:tabLst>
            </a:pPr>
            <a:r>
              <a:rPr sz="2800" spc="-15" dirty="0">
                <a:latin typeface="宋体"/>
                <a:cs typeface="宋体"/>
              </a:rPr>
              <a:t>能否把每个集合的元素依次列举出来？</a:t>
            </a:r>
            <a:endParaRPr sz="2800">
              <a:latin typeface="宋体"/>
              <a:cs typeface="宋体"/>
            </a:endParaRPr>
          </a:p>
          <a:p>
            <a:pPr marL="360045" indent="-347980">
              <a:lnSpc>
                <a:spcPct val="100000"/>
              </a:lnSpc>
              <a:spcBef>
                <a:spcPts val="1685"/>
              </a:spcBef>
              <a:buFont typeface="Arial"/>
              <a:buChar char="•"/>
              <a:tabLst>
                <a:tab pos="360045" algn="l"/>
                <a:tab pos="360680" algn="l"/>
              </a:tabLst>
            </a:pPr>
            <a:r>
              <a:rPr sz="2800" spc="-15" dirty="0">
                <a:latin typeface="宋体"/>
                <a:cs typeface="宋体"/>
              </a:rPr>
              <a:t>有没有最大的集合？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344923" y="215849"/>
            <a:ext cx="3430904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55" dirty="0"/>
              <a:t>图论中的问题</a:t>
            </a:r>
            <a:endParaRPr sz="440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  <p:sp>
        <p:nvSpPr>
          <p:cNvPr id="4" name="object 4"/>
          <p:cNvSpPr txBox="1"/>
          <p:nvPr/>
        </p:nvSpPr>
        <p:spPr>
          <a:xfrm>
            <a:off x="536575" y="1085227"/>
            <a:ext cx="6441440" cy="4512310"/>
          </a:xfrm>
          <a:prstGeom prst="rect">
            <a:avLst/>
          </a:prstGeom>
        </p:spPr>
        <p:txBody>
          <a:bodyPr vert="horz" wrap="square" lIns="0" tIns="226695" rIns="0" bIns="0" rtlCol="0">
            <a:spAutoFit/>
          </a:bodyPr>
          <a:lstStyle/>
          <a:p>
            <a:pPr marL="360045" indent="-347980">
              <a:lnSpc>
                <a:spcPct val="100000"/>
              </a:lnSpc>
              <a:spcBef>
                <a:spcPts val="1785"/>
              </a:spcBef>
              <a:buFont typeface="Arial"/>
              <a:buChar char="•"/>
              <a:tabLst>
                <a:tab pos="360045" algn="l"/>
                <a:tab pos="360680" algn="l"/>
              </a:tabLst>
            </a:pPr>
            <a:r>
              <a:rPr sz="2800" spc="-5" dirty="0">
                <a:latin typeface="宋体"/>
                <a:cs typeface="宋体"/>
              </a:rPr>
              <a:t>什么是图？有哪些图？图有什么性质？</a:t>
            </a:r>
            <a:endParaRPr sz="2800">
              <a:latin typeface="宋体"/>
              <a:cs typeface="宋体"/>
            </a:endParaRPr>
          </a:p>
          <a:p>
            <a:pPr marL="360045" indent="-347980">
              <a:lnSpc>
                <a:spcPct val="100000"/>
              </a:lnSpc>
              <a:spcBef>
                <a:spcPts val="1685"/>
              </a:spcBef>
              <a:buFont typeface="Arial"/>
              <a:buChar char="•"/>
              <a:tabLst>
                <a:tab pos="360045" algn="l"/>
                <a:tab pos="360680" algn="l"/>
              </a:tabLst>
            </a:pPr>
            <a:r>
              <a:rPr sz="2800" spc="-5" dirty="0">
                <a:latin typeface="宋体"/>
                <a:cs typeface="宋体"/>
              </a:rPr>
              <a:t>什么是欧拉图？什么是哈密顿图？</a:t>
            </a:r>
            <a:endParaRPr sz="2800">
              <a:latin typeface="宋体"/>
              <a:cs typeface="宋体"/>
            </a:endParaRPr>
          </a:p>
          <a:p>
            <a:pPr marL="360045" indent="-347980">
              <a:lnSpc>
                <a:spcPct val="100000"/>
              </a:lnSpc>
              <a:spcBef>
                <a:spcPts val="1685"/>
              </a:spcBef>
              <a:buFont typeface="Arial"/>
              <a:buChar char="•"/>
              <a:tabLst>
                <a:tab pos="360045" algn="l"/>
                <a:tab pos="360680" algn="l"/>
              </a:tabLst>
            </a:pPr>
            <a:r>
              <a:rPr sz="2800" spc="-15" dirty="0">
                <a:latin typeface="宋体"/>
                <a:cs typeface="宋体"/>
              </a:rPr>
              <a:t>什么是树？如何用矩阵表示图？</a:t>
            </a:r>
            <a:endParaRPr sz="2800">
              <a:latin typeface="宋体"/>
              <a:cs typeface="宋体"/>
            </a:endParaRPr>
          </a:p>
          <a:p>
            <a:pPr marL="360045" indent="-347980">
              <a:lnSpc>
                <a:spcPct val="100000"/>
              </a:lnSpc>
              <a:spcBef>
                <a:spcPts val="1689"/>
              </a:spcBef>
              <a:buFont typeface="Arial"/>
              <a:buChar char="•"/>
              <a:tabLst>
                <a:tab pos="360045" algn="l"/>
                <a:tab pos="360680" algn="l"/>
              </a:tabLst>
            </a:pPr>
            <a:r>
              <a:rPr sz="2800" spc="-20" dirty="0">
                <a:latin typeface="宋体"/>
                <a:cs typeface="宋体"/>
              </a:rPr>
              <a:t>什么是平面图？</a:t>
            </a:r>
            <a:endParaRPr sz="2800">
              <a:latin typeface="宋体"/>
              <a:cs typeface="宋体"/>
            </a:endParaRPr>
          </a:p>
          <a:p>
            <a:pPr marL="360045" indent="-347980">
              <a:lnSpc>
                <a:spcPct val="100000"/>
              </a:lnSpc>
              <a:spcBef>
                <a:spcPts val="1685"/>
              </a:spcBef>
              <a:buFont typeface="Arial"/>
              <a:buChar char="•"/>
              <a:tabLst>
                <a:tab pos="360045" algn="l"/>
                <a:tab pos="360680" algn="l"/>
              </a:tabLst>
            </a:pPr>
            <a:r>
              <a:rPr sz="2800" spc="-10" dirty="0">
                <a:latin typeface="宋体"/>
                <a:cs typeface="宋体"/>
              </a:rPr>
              <a:t>什么是图的着色？</a:t>
            </a:r>
            <a:endParaRPr sz="2800">
              <a:latin typeface="宋体"/>
              <a:cs typeface="宋体"/>
            </a:endParaRPr>
          </a:p>
          <a:p>
            <a:pPr marL="360045" indent="-347980">
              <a:lnSpc>
                <a:spcPct val="100000"/>
              </a:lnSpc>
              <a:spcBef>
                <a:spcPts val="1689"/>
              </a:spcBef>
              <a:buFont typeface="Arial"/>
              <a:buChar char="•"/>
              <a:tabLst>
                <a:tab pos="360045" algn="l"/>
                <a:tab pos="360680" algn="l"/>
              </a:tabLst>
            </a:pPr>
            <a:r>
              <a:rPr sz="2800" spc="-5" dirty="0">
                <a:latin typeface="宋体"/>
                <a:cs typeface="宋体"/>
              </a:rPr>
              <a:t>什么是支配集、独立集、覆盖、匹配？</a:t>
            </a:r>
            <a:endParaRPr sz="2800">
              <a:latin typeface="宋体"/>
              <a:cs typeface="宋体"/>
            </a:endParaRPr>
          </a:p>
          <a:p>
            <a:pPr marL="360045" indent="-347980">
              <a:lnSpc>
                <a:spcPct val="100000"/>
              </a:lnSpc>
              <a:spcBef>
                <a:spcPts val="1685"/>
              </a:spcBef>
              <a:buFont typeface="Arial"/>
              <a:buChar char="•"/>
              <a:tabLst>
                <a:tab pos="360045" algn="l"/>
                <a:tab pos="360680" algn="l"/>
              </a:tabLst>
            </a:pPr>
            <a:r>
              <a:rPr sz="2800" spc="-20" dirty="0">
                <a:latin typeface="宋体"/>
                <a:cs typeface="宋体"/>
              </a:rPr>
              <a:t>什么是带权图？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747514" y="306959"/>
            <a:ext cx="229552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dirty="0"/>
              <a:t>过河问</a:t>
            </a:r>
            <a:r>
              <a:rPr sz="4400" spc="-50" dirty="0"/>
              <a:t>题</a:t>
            </a:r>
            <a:endParaRPr sz="440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  <p:sp>
        <p:nvSpPr>
          <p:cNvPr id="6" name="object 6"/>
          <p:cNvSpPr txBox="1"/>
          <p:nvPr/>
        </p:nvSpPr>
        <p:spPr>
          <a:xfrm>
            <a:off x="536575" y="1148218"/>
            <a:ext cx="7868920" cy="451167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60045" marR="5080" indent="-347980" algn="just">
              <a:lnSpc>
                <a:spcPct val="150200"/>
              </a:lnSpc>
              <a:spcBef>
                <a:spcPts val="90"/>
              </a:spcBef>
              <a:buFont typeface="Arial"/>
              <a:buChar char="•"/>
              <a:tabLst>
                <a:tab pos="360680" algn="l"/>
              </a:tabLst>
            </a:pPr>
            <a:r>
              <a:rPr sz="2800" spc="-5" dirty="0">
                <a:latin typeface="宋体"/>
                <a:cs typeface="宋体"/>
              </a:rPr>
              <a:t>一个人带着一只狼、一只羊、一棵白菜要过河，</a:t>
            </a:r>
            <a:r>
              <a:rPr sz="2800" spc="-15" dirty="0">
                <a:latin typeface="宋体"/>
                <a:cs typeface="宋体"/>
              </a:rPr>
              <a:t>小船一次只能容下一个人和一样动植物。人不在场的时候，狼要吃掉羊、羊要吃掉白菜。问应当</a:t>
            </a:r>
            <a:r>
              <a:rPr sz="2800" spc="-10" dirty="0">
                <a:latin typeface="宋体"/>
                <a:cs typeface="宋体"/>
              </a:rPr>
              <a:t>如何渡河？</a:t>
            </a:r>
            <a:endParaRPr sz="2800">
              <a:latin typeface="宋体"/>
              <a:cs typeface="宋体"/>
            </a:endParaRPr>
          </a:p>
          <a:p>
            <a:pPr marL="360045" indent="-347980">
              <a:lnSpc>
                <a:spcPct val="100000"/>
              </a:lnSpc>
              <a:spcBef>
                <a:spcPts val="1689"/>
              </a:spcBef>
              <a:buFont typeface="Arial"/>
              <a:buChar char="•"/>
              <a:tabLst>
                <a:tab pos="360045" algn="l"/>
                <a:tab pos="360680" algn="l"/>
              </a:tabLst>
            </a:pPr>
            <a:r>
              <a:rPr sz="2800" dirty="0">
                <a:latin typeface="宋体"/>
                <a:cs typeface="宋体"/>
              </a:rPr>
              <a:t>狼</a:t>
            </a:r>
            <a:r>
              <a:rPr sz="2800" spc="-10" dirty="0">
                <a:latin typeface="Calibri"/>
                <a:cs typeface="Calibri"/>
              </a:rPr>
              <a:t>=W</a:t>
            </a:r>
            <a:r>
              <a:rPr sz="2800" spc="-5" dirty="0">
                <a:latin typeface="宋体"/>
                <a:cs typeface="宋体"/>
              </a:rPr>
              <a:t>，羊</a:t>
            </a:r>
            <a:r>
              <a:rPr sz="2800" spc="-10" dirty="0">
                <a:latin typeface="Calibri"/>
                <a:cs typeface="Calibri"/>
              </a:rPr>
              <a:t>=G</a:t>
            </a:r>
            <a:r>
              <a:rPr sz="2800" spc="-5" dirty="0">
                <a:latin typeface="宋体"/>
                <a:cs typeface="宋体"/>
              </a:rPr>
              <a:t>，白菜</a:t>
            </a:r>
            <a:r>
              <a:rPr sz="2800" spc="-10" dirty="0">
                <a:latin typeface="Calibri"/>
                <a:cs typeface="Calibri"/>
              </a:rPr>
              <a:t>=C</a:t>
            </a:r>
            <a:r>
              <a:rPr sz="2800" spc="-5" dirty="0">
                <a:latin typeface="宋体"/>
                <a:cs typeface="宋体"/>
              </a:rPr>
              <a:t>，人</a:t>
            </a:r>
            <a:r>
              <a:rPr sz="2800" spc="-25" dirty="0">
                <a:latin typeface="Calibri"/>
                <a:cs typeface="Calibri"/>
              </a:rPr>
              <a:t>=M</a:t>
            </a:r>
            <a:endParaRPr sz="2800">
              <a:latin typeface="Calibri"/>
              <a:cs typeface="Calibri"/>
            </a:endParaRPr>
          </a:p>
          <a:p>
            <a:pPr marL="360045" marR="847090" indent="-347980">
              <a:lnSpc>
                <a:spcPts val="5050"/>
              </a:lnSpc>
              <a:spcBef>
                <a:spcPts val="245"/>
              </a:spcBef>
              <a:buFont typeface="Arial"/>
              <a:buChar char="•"/>
              <a:tabLst>
                <a:tab pos="360045" algn="l"/>
                <a:tab pos="360680" algn="l"/>
              </a:tabLst>
            </a:pPr>
            <a:r>
              <a:rPr sz="2800" dirty="0">
                <a:latin typeface="Calibri"/>
                <a:cs typeface="Calibri"/>
              </a:rPr>
              <a:t>(CGMW|)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-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(CW|GM)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-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(CMW|G)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-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(W|CGM)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- </a:t>
            </a:r>
            <a:r>
              <a:rPr sz="2800" dirty="0">
                <a:latin typeface="Calibri"/>
                <a:cs typeface="Calibri"/>
              </a:rPr>
              <a:t>(GMW|C)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-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(G|CMW)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-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(GM|CW)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-</a:t>
            </a:r>
            <a:r>
              <a:rPr sz="2800" spc="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(|CGMW)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7E867704-A2FE-733E-D888-A289280DD52F}"/>
                  </a:ext>
                </a:extLst>
              </p14:cNvPr>
              <p14:cNvContentPartPr/>
              <p14:nvPr/>
            </p14:nvContentPartPr>
            <p14:xfrm>
              <a:off x="3620665" y="627669"/>
              <a:ext cx="3942720" cy="102240"/>
            </p14:xfrm>
          </p:contentPart>
        </mc:Choice>
        <mc:Fallback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7E867704-A2FE-733E-D888-A289280DD52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611665" y="619029"/>
                <a:ext cx="3960360" cy="119880"/>
              </a:xfrm>
              <a:prstGeom prst="rect">
                <a:avLst/>
              </a:prstGeom>
            </p:spPr>
          </p:pic>
        </mc:Fallback>
      </mc:AlternateContent>
      <p:grpSp>
        <p:nvGrpSpPr>
          <p:cNvPr id="7" name="组合 6">
            <a:extLst>
              <a:ext uri="{FF2B5EF4-FFF2-40B4-BE49-F238E27FC236}">
                <a16:creationId xmlns:a16="http://schemas.microsoft.com/office/drawing/2014/main" id="{1DB4DA31-94CF-7AE5-0A5B-46BF32024E3C}"/>
              </a:ext>
            </a:extLst>
          </p:cNvPr>
          <p:cNvGrpSpPr/>
          <p:nvPr/>
        </p:nvGrpSpPr>
        <p:grpSpPr>
          <a:xfrm>
            <a:off x="3369025" y="358389"/>
            <a:ext cx="5223240" cy="511560"/>
            <a:chOff x="3369025" y="358389"/>
            <a:chExt cx="5223240" cy="511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5" name="墨迹 4">
                  <a:extLst>
                    <a:ext uri="{FF2B5EF4-FFF2-40B4-BE49-F238E27FC236}">
                      <a16:creationId xmlns:a16="http://schemas.microsoft.com/office/drawing/2014/main" id="{68FE0EF2-9C29-7560-48D9-02CA4B442BC2}"/>
                    </a:ext>
                  </a:extLst>
                </p14:cNvPr>
                <p14:cNvContentPartPr/>
                <p14:nvPr/>
              </p14:nvContentPartPr>
              <p14:xfrm>
                <a:off x="3369025" y="358389"/>
                <a:ext cx="5223240" cy="511560"/>
              </p14:xfrm>
            </p:contentPart>
          </mc:Choice>
          <mc:Fallback>
            <p:pic>
              <p:nvPicPr>
                <p:cNvPr id="5" name="墨迹 4">
                  <a:extLst>
                    <a:ext uri="{FF2B5EF4-FFF2-40B4-BE49-F238E27FC236}">
                      <a16:creationId xmlns:a16="http://schemas.microsoft.com/office/drawing/2014/main" id="{68FE0EF2-9C29-7560-48D9-02CA4B442BC2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306385" y="295749"/>
                  <a:ext cx="5348880" cy="63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6" name="墨迹 5">
                  <a:extLst>
                    <a:ext uri="{FF2B5EF4-FFF2-40B4-BE49-F238E27FC236}">
                      <a16:creationId xmlns:a16="http://schemas.microsoft.com/office/drawing/2014/main" id="{CDBE4AEF-FE2B-742F-02F4-845C494BC5BD}"/>
                    </a:ext>
                  </a:extLst>
                </p14:cNvPr>
                <p14:cNvContentPartPr/>
                <p14:nvPr/>
              </p14:nvContentPartPr>
              <p14:xfrm>
                <a:off x="6612985" y="489429"/>
                <a:ext cx="360" cy="360"/>
              </p14:xfrm>
            </p:contentPart>
          </mc:Choice>
          <mc:Fallback>
            <p:pic>
              <p:nvPicPr>
                <p:cNvPr id="6" name="墨迹 5">
                  <a:extLst>
                    <a:ext uri="{FF2B5EF4-FFF2-40B4-BE49-F238E27FC236}">
                      <a16:creationId xmlns:a16="http://schemas.microsoft.com/office/drawing/2014/main" id="{CDBE4AEF-FE2B-742F-02F4-845C494BC5B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549985" y="426789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39628" y="141449"/>
            <a:ext cx="50927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20" dirty="0"/>
              <a:t>用图来表示问题的解</a:t>
            </a:r>
            <a:endParaRPr sz="4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684270" y="272364"/>
            <a:ext cx="397891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35" dirty="0"/>
              <a:t>学习目标与安排</a:t>
            </a:r>
            <a:endParaRPr sz="4400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  <p:sp>
        <p:nvSpPr>
          <p:cNvPr id="4" name="object 4"/>
          <p:cNvSpPr txBox="1"/>
          <p:nvPr/>
        </p:nvSpPr>
        <p:spPr>
          <a:xfrm>
            <a:off x="474459" y="1247969"/>
            <a:ext cx="7840980" cy="4554855"/>
          </a:xfrm>
          <a:prstGeom prst="rect">
            <a:avLst/>
          </a:prstGeom>
        </p:spPr>
        <p:txBody>
          <a:bodyPr vert="horz" wrap="square" lIns="0" tIns="124460" rIns="0" bIns="0" rtlCol="0">
            <a:spAutoFit/>
          </a:bodyPr>
          <a:lstStyle/>
          <a:p>
            <a:pPr marL="360045" indent="-347980">
              <a:lnSpc>
                <a:spcPct val="100000"/>
              </a:lnSpc>
              <a:spcBef>
                <a:spcPts val="980"/>
              </a:spcBef>
              <a:buFont typeface="Arial"/>
              <a:buChar char="•"/>
              <a:tabLst>
                <a:tab pos="360045" algn="l"/>
                <a:tab pos="360680" algn="l"/>
              </a:tabLst>
            </a:pPr>
            <a:r>
              <a:rPr sz="2800" b="1" spc="55" dirty="0">
                <a:solidFill>
                  <a:srgbClr val="C00000"/>
                </a:solidFill>
                <a:latin typeface="等线"/>
                <a:cs typeface="等线"/>
              </a:rPr>
              <a:t>学习要求</a:t>
            </a:r>
            <a:endParaRPr sz="2800">
              <a:latin typeface="等线"/>
              <a:cs typeface="等线"/>
            </a:endParaRPr>
          </a:p>
          <a:p>
            <a:pPr marL="753745" lvl="1" indent="-284480">
              <a:lnSpc>
                <a:spcPct val="100000"/>
              </a:lnSpc>
              <a:spcBef>
                <a:spcPts val="765"/>
              </a:spcBef>
              <a:buFont typeface="Arial"/>
              <a:buChar char="–"/>
              <a:tabLst>
                <a:tab pos="754380" algn="l"/>
              </a:tabLst>
            </a:pPr>
            <a:r>
              <a:rPr sz="2350" b="1" spc="90" dirty="0">
                <a:latin typeface="等线"/>
                <a:cs typeface="等线"/>
              </a:rPr>
              <a:t>掌握知识体系</a:t>
            </a:r>
            <a:r>
              <a:rPr sz="2350" b="1" spc="20" dirty="0">
                <a:latin typeface="等线"/>
                <a:cs typeface="等线"/>
              </a:rPr>
              <a:t>：基本概念、基本计算、基本证明方法</a:t>
            </a:r>
            <a:endParaRPr sz="2350">
              <a:latin typeface="等线"/>
              <a:cs typeface="等线"/>
            </a:endParaRPr>
          </a:p>
          <a:p>
            <a:pPr marL="753745" lvl="1" indent="-284480">
              <a:lnSpc>
                <a:spcPct val="100000"/>
              </a:lnSpc>
              <a:spcBef>
                <a:spcPts val="930"/>
              </a:spcBef>
              <a:buFont typeface="Arial"/>
              <a:buChar char="–"/>
              <a:tabLst>
                <a:tab pos="754380" algn="l"/>
              </a:tabLst>
            </a:pPr>
            <a:r>
              <a:rPr sz="2350" b="1" spc="90" dirty="0">
                <a:latin typeface="等线"/>
                <a:cs typeface="等线"/>
              </a:rPr>
              <a:t>强化能力的培养</a:t>
            </a:r>
            <a:r>
              <a:rPr sz="2350" b="1" spc="40" dirty="0">
                <a:latin typeface="等线"/>
                <a:cs typeface="等线"/>
              </a:rPr>
              <a:t>：</a:t>
            </a:r>
            <a:endParaRPr sz="2350">
              <a:latin typeface="等线"/>
              <a:cs typeface="等线"/>
            </a:endParaRPr>
          </a:p>
          <a:p>
            <a:pPr marL="744855">
              <a:lnSpc>
                <a:spcPct val="100000"/>
              </a:lnSpc>
              <a:spcBef>
                <a:spcPts val="1000"/>
              </a:spcBef>
            </a:pPr>
            <a:r>
              <a:rPr sz="2350" b="1" spc="90" dirty="0">
                <a:latin typeface="等线"/>
                <a:cs typeface="等线"/>
              </a:rPr>
              <a:t>获取知识的能</a:t>
            </a:r>
            <a:r>
              <a:rPr sz="2350" b="1" dirty="0">
                <a:latin typeface="等线"/>
                <a:cs typeface="等线"/>
              </a:rPr>
              <a:t>力</a:t>
            </a:r>
            <a:r>
              <a:rPr sz="2350" b="1" spc="-10" dirty="0">
                <a:latin typeface="Calibri"/>
                <a:cs typeface="Calibri"/>
              </a:rPr>
              <a:t>----</a:t>
            </a:r>
            <a:r>
              <a:rPr sz="2350" b="1" spc="90" dirty="0">
                <a:latin typeface="等线"/>
                <a:cs typeface="等线"/>
              </a:rPr>
              <a:t>读</a:t>
            </a:r>
            <a:r>
              <a:rPr sz="2350" b="1" spc="40" dirty="0">
                <a:latin typeface="等线"/>
                <a:cs typeface="等线"/>
              </a:rPr>
              <a:t>书</a:t>
            </a:r>
            <a:endParaRPr sz="2350">
              <a:latin typeface="等线"/>
              <a:cs typeface="等线"/>
            </a:endParaRPr>
          </a:p>
          <a:p>
            <a:pPr marL="744855">
              <a:lnSpc>
                <a:spcPct val="100000"/>
              </a:lnSpc>
              <a:spcBef>
                <a:spcPts val="930"/>
              </a:spcBef>
            </a:pPr>
            <a:r>
              <a:rPr sz="2350" b="1" spc="85" dirty="0">
                <a:latin typeface="等线"/>
                <a:cs typeface="等线"/>
              </a:rPr>
              <a:t>分析问题解决</a:t>
            </a:r>
            <a:r>
              <a:rPr sz="2350" b="1" spc="30" dirty="0">
                <a:latin typeface="等线"/>
                <a:cs typeface="等线"/>
              </a:rPr>
              <a:t>问题的能力</a:t>
            </a:r>
            <a:r>
              <a:rPr sz="2350" b="1" spc="-10" dirty="0">
                <a:latin typeface="Calibri"/>
                <a:cs typeface="Calibri"/>
              </a:rPr>
              <a:t>----</a:t>
            </a:r>
            <a:r>
              <a:rPr sz="2350" b="1" spc="90" dirty="0">
                <a:latin typeface="等线"/>
                <a:cs typeface="等线"/>
              </a:rPr>
              <a:t>解</a:t>
            </a:r>
            <a:r>
              <a:rPr sz="2350" b="1" spc="40" dirty="0">
                <a:latin typeface="等线"/>
                <a:cs typeface="等线"/>
              </a:rPr>
              <a:t>题</a:t>
            </a:r>
            <a:endParaRPr sz="2350">
              <a:latin typeface="等线"/>
              <a:cs typeface="等线"/>
            </a:endParaRPr>
          </a:p>
          <a:p>
            <a:pPr marL="763270">
              <a:lnSpc>
                <a:spcPct val="100000"/>
              </a:lnSpc>
              <a:spcBef>
                <a:spcPts val="1000"/>
              </a:spcBef>
            </a:pPr>
            <a:r>
              <a:rPr sz="2350" b="1" spc="90" dirty="0">
                <a:latin typeface="等线"/>
                <a:cs typeface="等线"/>
              </a:rPr>
              <a:t>理论联系实际的</a:t>
            </a:r>
            <a:r>
              <a:rPr sz="2350" b="1" spc="40" dirty="0">
                <a:latin typeface="等线"/>
                <a:cs typeface="等线"/>
              </a:rPr>
              <a:t>能力</a:t>
            </a:r>
            <a:r>
              <a:rPr sz="2350" b="1" spc="-10" dirty="0">
                <a:latin typeface="Calibri"/>
                <a:cs typeface="Calibri"/>
              </a:rPr>
              <a:t>----</a:t>
            </a:r>
            <a:r>
              <a:rPr sz="2350" b="1" spc="85" dirty="0">
                <a:latin typeface="等线"/>
                <a:cs typeface="等线"/>
              </a:rPr>
              <a:t>联系</a:t>
            </a:r>
            <a:r>
              <a:rPr sz="2350" b="1" spc="25" dirty="0">
                <a:latin typeface="等线"/>
                <a:cs typeface="等线"/>
              </a:rPr>
              <a:t>其它课程或研究课题</a:t>
            </a:r>
            <a:endParaRPr sz="2350">
              <a:latin typeface="等线"/>
              <a:cs typeface="等线"/>
            </a:endParaRPr>
          </a:p>
          <a:p>
            <a:pPr marL="360045" indent="-347980">
              <a:lnSpc>
                <a:spcPct val="100000"/>
              </a:lnSpc>
              <a:spcBef>
                <a:spcPts val="1995"/>
              </a:spcBef>
              <a:buFont typeface="Arial"/>
              <a:buChar char="•"/>
              <a:tabLst>
                <a:tab pos="360045" algn="l"/>
                <a:tab pos="360680" algn="l"/>
              </a:tabLst>
            </a:pPr>
            <a:r>
              <a:rPr sz="2800" b="1" spc="55" dirty="0">
                <a:solidFill>
                  <a:srgbClr val="C00000"/>
                </a:solidFill>
                <a:latin typeface="等线"/>
                <a:cs typeface="等线"/>
              </a:rPr>
              <a:t>成绩评定</a:t>
            </a:r>
            <a:endParaRPr sz="2800">
              <a:latin typeface="等线"/>
              <a:cs typeface="等线"/>
            </a:endParaRPr>
          </a:p>
          <a:p>
            <a:pPr marL="753745" lvl="1" indent="-284480">
              <a:lnSpc>
                <a:spcPct val="100000"/>
              </a:lnSpc>
              <a:spcBef>
                <a:spcPts val="765"/>
              </a:spcBef>
              <a:buFont typeface="Arial"/>
              <a:buChar char="–"/>
              <a:tabLst>
                <a:tab pos="754380" algn="l"/>
              </a:tabLst>
            </a:pPr>
            <a:r>
              <a:rPr sz="2350" b="1" spc="90" dirty="0">
                <a:latin typeface="等线"/>
                <a:cs typeface="等线"/>
              </a:rPr>
              <a:t>平时成绩</a:t>
            </a:r>
            <a:r>
              <a:rPr sz="2350" b="1" dirty="0">
                <a:latin typeface="等线"/>
                <a:cs typeface="等线"/>
              </a:rPr>
              <a:t>：</a:t>
            </a:r>
            <a:r>
              <a:rPr sz="2350" b="1" dirty="0">
                <a:latin typeface="Calibri"/>
                <a:cs typeface="Calibri"/>
              </a:rPr>
              <a:t>30%</a:t>
            </a:r>
            <a:r>
              <a:rPr sz="2350" b="1" spc="20" dirty="0">
                <a:latin typeface="等线"/>
                <a:cs typeface="等线"/>
              </a:rPr>
              <a:t>，书面作业</a:t>
            </a:r>
            <a:endParaRPr sz="2350">
              <a:latin typeface="等线"/>
              <a:cs typeface="等线"/>
            </a:endParaRPr>
          </a:p>
          <a:p>
            <a:pPr marL="753745" lvl="1" indent="-284480">
              <a:lnSpc>
                <a:spcPct val="100000"/>
              </a:lnSpc>
              <a:spcBef>
                <a:spcPts val="930"/>
              </a:spcBef>
              <a:buFont typeface="Arial"/>
              <a:buChar char="–"/>
              <a:tabLst>
                <a:tab pos="754380" algn="l"/>
              </a:tabLst>
            </a:pPr>
            <a:r>
              <a:rPr sz="2350" b="1" spc="90" dirty="0">
                <a:latin typeface="等线"/>
                <a:cs typeface="等线"/>
              </a:rPr>
              <a:t>期末笔试</a:t>
            </a:r>
            <a:r>
              <a:rPr sz="2350" b="1" spc="-20" dirty="0">
                <a:latin typeface="等线"/>
                <a:cs typeface="等线"/>
              </a:rPr>
              <a:t>：</a:t>
            </a:r>
            <a:r>
              <a:rPr sz="2350" b="1" spc="-20" dirty="0">
                <a:latin typeface="Calibri"/>
                <a:cs typeface="Calibri"/>
              </a:rPr>
              <a:t>70%</a:t>
            </a:r>
            <a:endParaRPr sz="23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861815" y="281127"/>
            <a:ext cx="42545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65" dirty="0"/>
              <a:t>课程进度</a:t>
            </a:r>
            <a:r>
              <a:rPr sz="4400" dirty="0"/>
              <a:t>（</a:t>
            </a:r>
            <a:r>
              <a:rPr sz="4400" dirty="0">
                <a:latin typeface="Calibri"/>
                <a:cs typeface="Calibri"/>
              </a:rPr>
              <a:t>1</a:t>
            </a:r>
            <a:r>
              <a:rPr sz="4400" spc="-10" dirty="0"/>
              <a:t>章</a:t>
            </a:r>
            <a:r>
              <a:rPr sz="4400" spc="-50" dirty="0"/>
              <a:t>）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547611" y="1201316"/>
            <a:ext cx="5791835" cy="4592320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360045" indent="-347980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60045" algn="l"/>
                <a:tab pos="360680" algn="l"/>
              </a:tabLst>
            </a:pPr>
            <a:r>
              <a:rPr sz="2800" b="1" spc="320" dirty="0">
                <a:solidFill>
                  <a:srgbClr val="C00000"/>
                </a:solidFill>
                <a:latin typeface="等线"/>
                <a:cs typeface="等线"/>
              </a:rPr>
              <a:t>引言</a:t>
            </a:r>
            <a:r>
              <a:rPr sz="2800" b="1" dirty="0">
                <a:solidFill>
                  <a:srgbClr val="C00000"/>
                </a:solidFill>
                <a:latin typeface="等线"/>
                <a:cs typeface="等线"/>
              </a:rPr>
              <a:t>（</a:t>
            </a:r>
            <a:r>
              <a:rPr sz="2800" b="1" dirty="0">
                <a:solidFill>
                  <a:srgbClr val="C00000"/>
                </a:solidFill>
                <a:latin typeface="Calibri"/>
                <a:cs typeface="Calibri"/>
              </a:rPr>
              <a:t>1</a:t>
            </a:r>
            <a:r>
              <a:rPr sz="2800" b="1" spc="70" dirty="0">
                <a:solidFill>
                  <a:srgbClr val="C00000"/>
                </a:solidFill>
                <a:latin typeface="等线"/>
                <a:cs typeface="等线"/>
              </a:rPr>
              <a:t>学时</a:t>
            </a:r>
            <a:r>
              <a:rPr sz="2800" b="1" spc="20" dirty="0">
                <a:solidFill>
                  <a:srgbClr val="C00000"/>
                </a:solidFill>
                <a:latin typeface="等线"/>
                <a:cs typeface="等线"/>
              </a:rPr>
              <a:t>）</a:t>
            </a:r>
            <a:endParaRPr sz="2800">
              <a:latin typeface="等线"/>
              <a:cs typeface="等线"/>
            </a:endParaRPr>
          </a:p>
          <a:p>
            <a:pPr marL="360045" indent="-347980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60045" algn="l"/>
                <a:tab pos="360680" algn="l"/>
              </a:tabLst>
            </a:pPr>
            <a:r>
              <a:rPr sz="2800" b="1" spc="45" dirty="0">
                <a:solidFill>
                  <a:srgbClr val="C00000"/>
                </a:solidFill>
                <a:latin typeface="等线"/>
                <a:cs typeface="等线"/>
              </a:rPr>
              <a:t>预备知识</a:t>
            </a:r>
            <a:r>
              <a:rPr sz="2800" b="1" dirty="0">
                <a:solidFill>
                  <a:srgbClr val="C00000"/>
                </a:solidFill>
                <a:latin typeface="等线"/>
                <a:cs typeface="等线"/>
              </a:rPr>
              <a:t>（</a:t>
            </a:r>
            <a:r>
              <a:rPr sz="2800" b="1" dirty="0">
                <a:solidFill>
                  <a:srgbClr val="C00000"/>
                </a:solidFill>
                <a:latin typeface="Calibri"/>
                <a:cs typeface="Calibri"/>
              </a:rPr>
              <a:t>3</a:t>
            </a:r>
            <a:r>
              <a:rPr sz="2800" b="1" dirty="0">
                <a:solidFill>
                  <a:srgbClr val="C00000"/>
                </a:solidFill>
                <a:latin typeface="等线"/>
                <a:cs typeface="等线"/>
              </a:rPr>
              <a:t>学时</a:t>
            </a:r>
            <a:r>
              <a:rPr sz="2800" b="1" spc="-50" dirty="0">
                <a:solidFill>
                  <a:srgbClr val="C00000"/>
                </a:solidFill>
                <a:latin typeface="等线"/>
                <a:cs typeface="等线"/>
              </a:rPr>
              <a:t>）</a:t>
            </a:r>
            <a:endParaRPr sz="2800">
              <a:latin typeface="等线"/>
              <a:cs typeface="等线"/>
            </a:endParaRPr>
          </a:p>
          <a:p>
            <a:pPr marL="424180">
              <a:lnSpc>
                <a:spcPct val="100000"/>
              </a:lnSpc>
              <a:spcBef>
                <a:spcPts val="765"/>
              </a:spcBef>
              <a:tabLst>
                <a:tab pos="1916430" algn="l"/>
              </a:tabLst>
            </a:pPr>
            <a:r>
              <a:rPr sz="2350" dirty="0">
                <a:latin typeface="宋体"/>
                <a:cs typeface="宋体"/>
              </a:rPr>
              <a:t>命题逻</a:t>
            </a:r>
            <a:r>
              <a:rPr sz="2350" spc="-50" dirty="0">
                <a:latin typeface="宋体"/>
                <a:cs typeface="宋体"/>
              </a:rPr>
              <a:t>辑</a:t>
            </a:r>
            <a:r>
              <a:rPr sz="2350" dirty="0">
                <a:latin typeface="宋体"/>
                <a:cs typeface="宋体"/>
              </a:rPr>
              <a:t>	</a:t>
            </a:r>
            <a:r>
              <a:rPr sz="2350" b="1" spc="60" dirty="0">
                <a:latin typeface="等线"/>
                <a:cs typeface="等线"/>
              </a:rPr>
              <a:t>（</a:t>
            </a:r>
            <a:r>
              <a:rPr sz="2350" b="1" spc="60" dirty="0">
                <a:latin typeface="Calibri"/>
                <a:cs typeface="Calibri"/>
              </a:rPr>
              <a:t>1</a:t>
            </a:r>
            <a:r>
              <a:rPr sz="2350" b="1" spc="90" dirty="0">
                <a:latin typeface="等线"/>
                <a:cs typeface="等线"/>
              </a:rPr>
              <a:t>学时</a:t>
            </a:r>
            <a:r>
              <a:rPr sz="2350" b="1" spc="40" dirty="0">
                <a:latin typeface="等线"/>
                <a:cs typeface="等线"/>
              </a:rPr>
              <a:t>）</a:t>
            </a:r>
            <a:endParaRPr sz="2350">
              <a:latin typeface="等线"/>
              <a:cs typeface="等线"/>
            </a:endParaRPr>
          </a:p>
          <a:p>
            <a:pPr marL="424180">
              <a:lnSpc>
                <a:spcPct val="100000"/>
              </a:lnSpc>
              <a:spcBef>
                <a:spcPts val="930"/>
              </a:spcBef>
            </a:pPr>
            <a:r>
              <a:rPr sz="2350" dirty="0">
                <a:latin typeface="宋体"/>
                <a:cs typeface="宋体"/>
              </a:rPr>
              <a:t>一阶谓词逻辑</a:t>
            </a:r>
            <a:r>
              <a:rPr sz="2350" spc="190" dirty="0">
                <a:latin typeface="宋体"/>
                <a:cs typeface="宋体"/>
              </a:rPr>
              <a:t> </a:t>
            </a:r>
            <a:r>
              <a:rPr sz="2350" b="1" spc="60" dirty="0">
                <a:latin typeface="等线"/>
                <a:cs typeface="等线"/>
              </a:rPr>
              <a:t>（</a:t>
            </a:r>
            <a:r>
              <a:rPr sz="2350" b="1" spc="60" dirty="0">
                <a:latin typeface="Calibri"/>
                <a:cs typeface="Calibri"/>
              </a:rPr>
              <a:t>2</a:t>
            </a:r>
            <a:r>
              <a:rPr sz="2350" b="1" spc="90" dirty="0">
                <a:latin typeface="等线"/>
                <a:cs typeface="等线"/>
              </a:rPr>
              <a:t>学时</a:t>
            </a:r>
            <a:r>
              <a:rPr sz="2350" b="1" spc="40" dirty="0">
                <a:latin typeface="等线"/>
                <a:cs typeface="等线"/>
              </a:rPr>
              <a:t>）</a:t>
            </a:r>
            <a:endParaRPr sz="2350">
              <a:latin typeface="等线"/>
              <a:cs typeface="等线"/>
            </a:endParaRPr>
          </a:p>
          <a:p>
            <a:pPr marL="360045" indent="-347980">
              <a:lnSpc>
                <a:spcPct val="100000"/>
              </a:lnSpc>
              <a:spcBef>
                <a:spcPts val="1850"/>
              </a:spcBef>
              <a:buFont typeface="Arial"/>
              <a:buChar char="•"/>
              <a:tabLst>
                <a:tab pos="360045" algn="l"/>
                <a:tab pos="360680" algn="l"/>
              </a:tabLst>
            </a:pPr>
            <a:r>
              <a:rPr sz="2800" b="1" spc="25" dirty="0">
                <a:solidFill>
                  <a:srgbClr val="C00000"/>
                </a:solidFill>
                <a:latin typeface="等线"/>
                <a:cs typeface="等线"/>
              </a:rPr>
              <a:t>集合的基本概念</a:t>
            </a:r>
            <a:r>
              <a:rPr sz="2800" b="1" dirty="0">
                <a:solidFill>
                  <a:srgbClr val="C00000"/>
                </a:solidFill>
                <a:latin typeface="等线"/>
                <a:cs typeface="等线"/>
              </a:rPr>
              <a:t>（</a:t>
            </a:r>
            <a:r>
              <a:rPr sz="2800" b="1" dirty="0">
                <a:solidFill>
                  <a:srgbClr val="C00000"/>
                </a:solidFill>
                <a:latin typeface="Calibri"/>
                <a:cs typeface="Calibri"/>
              </a:rPr>
              <a:t>4</a:t>
            </a:r>
            <a:r>
              <a:rPr sz="2800" b="1" dirty="0">
                <a:solidFill>
                  <a:srgbClr val="C00000"/>
                </a:solidFill>
                <a:latin typeface="等线"/>
                <a:cs typeface="等线"/>
              </a:rPr>
              <a:t>学时</a:t>
            </a:r>
            <a:r>
              <a:rPr sz="2800" b="1" spc="-50" dirty="0">
                <a:solidFill>
                  <a:srgbClr val="C00000"/>
                </a:solidFill>
                <a:latin typeface="等线"/>
                <a:cs typeface="等线"/>
              </a:rPr>
              <a:t>）</a:t>
            </a:r>
            <a:endParaRPr sz="2800">
              <a:latin typeface="等线"/>
              <a:cs typeface="等线"/>
            </a:endParaRPr>
          </a:p>
          <a:p>
            <a:pPr marL="351155" marR="5080">
              <a:lnSpc>
                <a:spcPts val="3890"/>
              </a:lnSpc>
              <a:spcBef>
                <a:spcPts val="80"/>
              </a:spcBef>
            </a:pPr>
            <a:r>
              <a:rPr sz="2350" dirty="0">
                <a:latin typeface="宋体"/>
                <a:cs typeface="宋体"/>
              </a:rPr>
              <a:t>集合的概念及集合之间的关系 （</a:t>
            </a:r>
            <a:r>
              <a:rPr sz="2350" b="1" dirty="0">
                <a:latin typeface="Calibri"/>
                <a:cs typeface="Calibri"/>
              </a:rPr>
              <a:t>1</a:t>
            </a:r>
            <a:r>
              <a:rPr sz="2350" b="1" spc="90" dirty="0">
                <a:latin typeface="等线"/>
                <a:cs typeface="等线"/>
              </a:rPr>
              <a:t>学时</a:t>
            </a:r>
            <a:r>
              <a:rPr sz="2350" b="1" spc="40" dirty="0">
                <a:latin typeface="等线"/>
                <a:cs typeface="等线"/>
              </a:rPr>
              <a:t>）</a:t>
            </a:r>
            <a:r>
              <a:rPr sz="2350" dirty="0">
                <a:latin typeface="宋体"/>
                <a:cs typeface="宋体"/>
              </a:rPr>
              <a:t>集合的运算</a:t>
            </a:r>
            <a:r>
              <a:rPr sz="2350" spc="165" dirty="0">
                <a:latin typeface="宋体"/>
                <a:cs typeface="宋体"/>
              </a:rPr>
              <a:t> </a:t>
            </a:r>
            <a:r>
              <a:rPr sz="2350" b="1" spc="60" dirty="0">
                <a:latin typeface="等线"/>
                <a:cs typeface="等线"/>
              </a:rPr>
              <a:t>（</a:t>
            </a:r>
            <a:r>
              <a:rPr sz="2350" b="1" spc="60" dirty="0">
                <a:latin typeface="Calibri"/>
                <a:cs typeface="Calibri"/>
              </a:rPr>
              <a:t>1</a:t>
            </a:r>
            <a:r>
              <a:rPr sz="2350" b="1" spc="90" dirty="0">
                <a:latin typeface="等线"/>
                <a:cs typeface="等线"/>
              </a:rPr>
              <a:t>学时</a:t>
            </a:r>
            <a:r>
              <a:rPr sz="2350" b="1" spc="40" dirty="0">
                <a:latin typeface="等线"/>
                <a:cs typeface="等线"/>
              </a:rPr>
              <a:t>）</a:t>
            </a:r>
            <a:endParaRPr sz="2350">
              <a:latin typeface="等线"/>
              <a:cs typeface="等线"/>
            </a:endParaRPr>
          </a:p>
          <a:p>
            <a:pPr marL="351155" marR="1295400">
              <a:lnSpc>
                <a:spcPts val="3890"/>
              </a:lnSpc>
            </a:pPr>
            <a:r>
              <a:rPr sz="2350" dirty="0">
                <a:latin typeface="宋体"/>
                <a:cs typeface="宋体"/>
              </a:rPr>
              <a:t>基本的集合恒等式</a:t>
            </a:r>
            <a:r>
              <a:rPr sz="2350" spc="-220" dirty="0">
                <a:latin typeface="宋体"/>
                <a:cs typeface="宋体"/>
              </a:rPr>
              <a:t> </a:t>
            </a:r>
            <a:r>
              <a:rPr sz="2350" dirty="0">
                <a:latin typeface="宋体"/>
                <a:cs typeface="宋体"/>
              </a:rPr>
              <a:t>（</a:t>
            </a:r>
            <a:r>
              <a:rPr sz="2350" b="1" dirty="0">
                <a:latin typeface="Calibri"/>
                <a:cs typeface="Calibri"/>
              </a:rPr>
              <a:t>1.5</a:t>
            </a:r>
            <a:r>
              <a:rPr sz="2350" b="1" spc="90" dirty="0">
                <a:latin typeface="等线"/>
                <a:cs typeface="等线"/>
              </a:rPr>
              <a:t>学时</a:t>
            </a:r>
            <a:r>
              <a:rPr sz="2350" b="1" spc="40" dirty="0">
                <a:latin typeface="等线"/>
                <a:cs typeface="等线"/>
              </a:rPr>
              <a:t>）</a:t>
            </a:r>
            <a:r>
              <a:rPr sz="2350" dirty="0">
                <a:latin typeface="宋体"/>
                <a:cs typeface="宋体"/>
              </a:rPr>
              <a:t>集合的总结</a:t>
            </a:r>
            <a:r>
              <a:rPr sz="2350" spc="-245" dirty="0">
                <a:latin typeface="宋体"/>
                <a:cs typeface="宋体"/>
              </a:rPr>
              <a:t> </a:t>
            </a:r>
            <a:r>
              <a:rPr sz="2350" b="1" dirty="0">
                <a:latin typeface="等线"/>
                <a:cs typeface="等线"/>
              </a:rPr>
              <a:t>（</a:t>
            </a:r>
            <a:r>
              <a:rPr sz="2350" b="1" dirty="0">
                <a:latin typeface="Calibri"/>
                <a:cs typeface="Calibri"/>
              </a:rPr>
              <a:t>0.5</a:t>
            </a:r>
            <a:r>
              <a:rPr sz="2350" b="1" spc="90" dirty="0">
                <a:latin typeface="等线"/>
                <a:cs typeface="等线"/>
              </a:rPr>
              <a:t>学时</a:t>
            </a:r>
            <a:r>
              <a:rPr sz="2350" b="1" spc="40" dirty="0">
                <a:latin typeface="等线"/>
                <a:cs typeface="等线"/>
              </a:rPr>
              <a:t>）</a:t>
            </a:r>
            <a:endParaRPr sz="2350">
              <a:latin typeface="等线"/>
              <a:cs typeface="等线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7611" y="1142402"/>
            <a:ext cx="5243195" cy="4714875"/>
          </a:xfrm>
          <a:prstGeom prst="rect">
            <a:avLst/>
          </a:prstGeom>
        </p:spPr>
        <p:txBody>
          <a:bodyPr vert="horz" wrap="square" lIns="0" tIns="156845" rIns="0" bIns="0" rtlCol="0">
            <a:spAutoFit/>
          </a:bodyPr>
          <a:lstStyle/>
          <a:p>
            <a:pPr marL="360045" indent="-347980">
              <a:lnSpc>
                <a:spcPct val="100000"/>
              </a:lnSpc>
              <a:spcBef>
                <a:spcPts val="1235"/>
              </a:spcBef>
              <a:buFont typeface="Arial"/>
              <a:buChar char="•"/>
              <a:tabLst>
                <a:tab pos="360045" algn="l"/>
                <a:tab pos="360680" algn="l"/>
              </a:tabLst>
            </a:pPr>
            <a:r>
              <a:rPr sz="2800" b="1" spc="50" dirty="0">
                <a:solidFill>
                  <a:srgbClr val="C00000"/>
                </a:solidFill>
                <a:latin typeface="等线"/>
                <a:cs typeface="等线"/>
              </a:rPr>
              <a:t>二元关系</a:t>
            </a:r>
            <a:r>
              <a:rPr sz="2800" b="1" dirty="0">
                <a:solidFill>
                  <a:srgbClr val="C00000"/>
                </a:solidFill>
                <a:latin typeface="等线"/>
                <a:cs typeface="等线"/>
              </a:rPr>
              <a:t>（</a:t>
            </a:r>
            <a:r>
              <a:rPr sz="2800" b="1" dirty="0">
                <a:solidFill>
                  <a:srgbClr val="C00000"/>
                </a:solidFill>
                <a:latin typeface="Calibri"/>
                <a:cs typeface="Calibri"/>
              </a:rPr>
              <a:t>6</a:t>
            </a:r>
            <a:r>
              <a:rPr sz="2800" b="1" dirty="0">
                <a:solidFill>
                  <a:srgbClr val="C00000"/>
                </a:solidFill>
                <a:latin typeface="等线"/>
                <a:cs typeface="等线"/>
              </a:rPr>
              <a:t>学时</a:t>
            </a:r>
            <a:r>
              <a:rPr sz="2800" b="1" spc="-50" dirty="0">
                <a:solidFill>
                  <a:srgbClr val="C00000"/>
                </a:solidFill>
                <a:latin typeface="等线"/>
                <a:cs typeface="等线"/>
              </a:rPr>
              <a:t>）</a:t>
            </a:r>
            <a:endParaRPr sz="2800">
              <a:latin typeface="等线"/>
              <a:cs typeface="等线"/>
            </a:endParaRPr>
          </a:p>
          <a:p>
            <a:pPr marL="433070" marR="1276985">
              <a:lnSpc>
                <a:spcPct val="122700"/>
              </a:lnSpc>
              <a:spcBef>
                <a:spcPts val="340"/>
              </a:spcBef>
            </a:pPr>
            <a:r>
              <a:rPr sz="2350" dirty="0">
                <a:latin typeface="宋体"/>
                <a:cs typeface="宋体"/>
              </a:rPr>
              <a:t>有序对与卡氏积</a:t>
            </a:r>
            <a:r>
              <a:rPr sz="2350" b="1" dirty="0">
                <a:latin typeface="等线"/>
                <a:cs typeface="等线"/>
              </a:rPr>
              <a:t>（</a:t>
            </a:r>
            <a:r>
              <a:rPr sz="2350" b="1" dirty="0">
                <a:latin typeface="Arial"/>
                <a:cs typeface="Arial"/>
              </a:rPr>
              <a:t>1</a:t>
            </a:r>
            <a:r>
              <a:rPr sz="2350" b="1" spc="90" dirty="0">
                <a:latin typeface="等线"/>
                <a:cs typeface="等线"/>
              </a:rPr>
              <a:t>学时</a:t>
            </a:r>
            <a:r>
              <a:rPr sz="2350" b="1" spc="40" dirty="0">
                <a:latin typeface="等线"/>
                <a:cs typeface="等线"/>
              </a:rPr>
              <a:t>）</a:t>
            </a:r>
            <a:r>
              <a:rPr sz="2350" dirty="0">
                <a:latin typeface="宋体"/>
                <a:cs typeface="宋体"/>
              </a:rPr>
              <a:t>二元关系</a:t>
            </a:r>
            <a:r>
              <a:rPr sz="2350" b="1" dirty="0">
                <a:latin typeface="等线"/>
                <a:cs typeface="等线"/>
              </a:rPr>
              <a:t>（</a:t>
            </a:r>
            <a:r>
              <a:rPr sz="2350" b="1" dirty="0">
                <a:latin typeface="Arial"/>
                <a:cs typeface="Arial"/>
              </a:rPr>
              <a:t>1</a:t>
            </a:r>
            <a:r>
              <a:rPr sz="2350" b="1" spc="90" dirty="0">
                <a:latin typeface="等线"/>
                <a:cs typeface="等线"/>
              </a:rPr>
              <a:t>学时</a:t>
            </a:r>
            <a:r>
              <a:rPr sz="2350" b="1" spc="40" dirty="0">
                <a:latin typeface="等线"/>
                <a:cs typeface="等线"/>
              </a:rPr>
              <a:t>）</a:t>
            </a:r>
            <a:endParaRPr sz="2350">
              <a:latin typeface="等线"/>
              <a:cs typeface="等线"/>
            </a:endParaRPr>
          </a:p>
          <a:p>
            <a:pPr marL="433070" marR="975360">
              <a:lnSpc>
                <a:spcPct val="122700"/>
              </a:lnSpc>
            </a:pPr>
            <a:r>
              <a:rPr sz="2350" dirty="0">
                <a:latin typeface="宋体"/>
                <a:cs typeface="宋体"/>
              </a:rPr>
              <a:t>关系矩阵和关系图</a:t>
            </a:r>
            <a:r>
              <a:rPr sz="2350" b="1" dirty="0">
                <a:latin typeface="等线"/>
                <a:cs typeface="等线"/>
              </a:rPr>
              <a:t>（</a:t>
            </a:r>
            <a:r>
              <a:rPr sz="2350" b="1" dirty="0">
                <a:latin typeface="Arial"/>
                <a:cs typeface="Arial"/>
              </a:rPr>
              <a:t>1</a:t>
            </a:r>
            <a:r>
              <a:rPr sz="2350" b="1" spc="90" dirty="0">
                <a:latin typeface="等线"/>
                <a:cs typeface="等线"/>
              </a:rPr>
              <a:t>学时</a:t>
            </a:r>
            <a:r>
              <a:rPr sz="2350" b="1" spc="40" dirty="0">
                <a:latin typeface="等线"/>
                <a:cs typeface="等线"/>
              </a:rPr>
              <a:t>）</a:t>
            </a:r>
            <a:r>
              <a:rPr sz="2350" dirty="0">
                <a:latin typeface="宋体"/>
                <a:cs typeface="宋体"/>
              </a:rPr>
              <a:t>关系的性质和闭包</a:t>
            </a:r>
            <a:r>
              <a:rPr sz="2350" b="1" dirty="0">
                <a:latin typeface="等线"/>
                <a:cs typeface="等线"/>
              </a:rPr>
              <a:t>（</a:t>
            </a:r>
            <a:r>
              <a:rPr sz="2350" b="1" dirty="0">
                <a:latin typeface="Arial"/>
                <a:cs typeface="Arial"/>
              </a:rPr>
              <a:t>1</a:t>
            </a:r>
            <a:r>
              <a:rPr sz="2350" b="1" spc="90" dirty="0">
                <a:latin typeface="等线"/>
                <a:cs typeface="等线"/>
              </a:rPr>
              <a:t>学时</a:t>
            </a:r>
            <a:r>
              <a:rPr sz="2350" b="1" spc="40" dirty="0">
                <a:latin typeface="等线"/>
                <a:cs typeface="等线"/>
              </a:rPr>
              <a:t>）</a:t>
            </a:r>
            <a:r>
              <a:rPr sz="2350" dirty="0">
                <a:latin typeface="宋体"/>
                <a:cs typeface="宋体"/>
              </a:rPr>
              <a:t>等价关系和划分</a:t>
            </a:r>
            <a:r>
              <a:rPr sz="2350" b="1" dirty="0">
                <a:latin typeface="等线"/>
                <a:cs typeface="等线"/>
              </a:rPr>
              <a:t>（</a:t>
            </a:r>
            <a:r>
              <a:rPr sz="2350" b="1" dirty="0">
                <a:latin typeface="Arial"/>
                <a:cs typeface="Arial"/>
              </a:rPr>
              <a:t>1</a:t>
            </a:r>
            <a:r>
              <a:rPr sz="2350" b="1" spc="85" dirty="0">
                <a:latin typeface="等线"/>
                <a:cs typeface="等线"/>
              </a:rPr>
              <a:t>学时</a:t>
            </a:r>
            <a:r>
              <a:rPr sz="2350" b="1" spc="35" dirty="0">
                <a:latin typeface="等线"/>
                <a:cs typeface="等线"/>
              </a:rPr>
              <a:t>） </a:t>
            </a:r>
            <a:r>
              <a:rPr sz="2350" dirty="0">
                <a:latin typeface="宋体"/>
                <a:cs typeface="宋体"/>
              </a:rPr>
              <a:t>序关系</a:t>
            </a:r>
            <a:r>
              <a:rPr sz="2350" b="1" dirty="0">
                <a:latin typeface="等线"/>
                <a:cs typeface="等线"/>
              </a:rPr>
              <a:t>（</a:t>
            </a:r>
            <a:r>
              <a:rPr sz="2350" b="1" dirty="0">
                <a:latin typeface="Arial"/>
                <a:cs typeface="Arial"/>
              </a:rPr>
              <a:t>1</a:t>
            </a:r>
            <a:r>
              <a:rPr sz="2350" b="1" spc="85" dirty="0">
                <a:latin typeface="等线"/>
                <a:cs typeface="等线"/>
              </a:rPr>
              <a:t>学时</a:t>
            </a:r>
            <a:r>
              <a:rPr sz="2350" b="1" spc="35" dirty="0">
                <a:latin typeface="等线"/>
                <a:cs typeface="等线"/>
              </a:rPr>
              <a:t>）</a:t>
            </a:r>
            <a:endParaRPr sz="2350">
              <a:latin typeface="等线"/>
              <a:cs typeface="等线"/>
            </a:endParaRPr>
          </a:p>
          <a:p>
            <a:pPr marL="360045" indent="-347980">
              <a:lnSpc>
                <a:spcPct val="100000"/>
              </a:lnSpc>
              <a:spcBef>
                <a:spcPts val="1275"/>
              </a:spcBef>
              <a:buFont typeface="Arial"/>
              <a:buChar char="•"/>
              <a:tabLst>
                <a:tab pos="360045" algn="l"/>
                <a:tab pos="360680" algn="l"/>
              </a:tabLst>
            </a:pPr>
            <a:r>
              <a:rPr sz="2800" b="1" spc="70" dirty="0">
                <a:solidFill>
                  <a:srgbClr val="C00000"/>
                </a:solidFill>
                <a:latin typeface="等线"/>
                <a:cs typeface="等线"/>
              </a:rPr>
              <a:t>函数</a:t>
            </a:r>
            <a:r>
              <a:rPr sz="2800" b="1" dirty="0">
                <a:solidFill>
                  <a:srgbClr val="C00000"/>
                </a:solidFill>
                <a:latin typeface="等线"/>
                <a:cs typeface="等线"/>
              </a:rPr>
              <a:t>（</a:t>
            </a:r>
            <a:r>
              <a:rPr sz="2800" b="1" dirty="0">
                <a:solidFill>
                  <a:srgbClr val="C00000"/>
                </a:solidFill>
                <a:latin typeface="Calibri"/>
                <a:cs typeface="Calibri"/>
              </a:rPr>
              <a:t>2</a:t>
            </a:r>
            <a:r>
              <a:rPr sz="2800" b="1" dirty="0">
                <a:solidFill>
                  <a:srgbClr val="C00000"/>
                </a:solidFill>
                <a:latin typeface="等线"/>
                <a:cs typeface="等线"/>
              </a:rPr>
              <a:t>学时</a:t>
            </a:r>
            <a:r>
              <a:rPr sz="2800" b="1" spc="-50" dirty="0">
                <a:solidFill>
                  <a:srgbClr val="C00000"/>
                </a:solidFill>
                <a:latin typeface="等线"/>
                <a:cs typeface="等线"/>
              </a:rPr>
              <a:t>）</a:t>
            </a:r>
            <a:endParaRPr sz="2800">
              <a:latin typeface="等线"/>
              <a:cs typeface="等线"/>
            </a:endParaRPr>
          </a:p>
          <a:p>
            <a:pPr marL="433070">
              <a:lnSpc>
                <a:spcPct val="100000"/>
              </a:lnSpc>
              <a:spcBef>
                <a:spcPts val="550"/>
              </a:spcBef>
            </a:pPr>
            <a:r>
              <a:rPr sz="2350" dirty="0">
                <a:latin typeface="宋体"/>
                <a:cs typeface="宋体"/>
              </a:rPr>
              <a:t>函数</a:t>
            </a:r>
            <a:r>
              <a:rPr sz="2350" spc="-345" dirty="0">
                <a:latin typeface="宋体"/>
                <a:cs typeface="宋体"/>
              </a:rPr>
              <a:t> </a:t>
            </a:r>
            <a:r>
              <a:rPr sz="2350" b="1" dirty="0">
                <a:latin typeface="等线"/>
                <a:cs typeface="等线"/>
              </a:rPr>
              <a:t>（</a:t>
            </a:r>
            <a:r>
              <a:rPr sz="2350" b="1" dirty="0">
                <a:latin typeface="Arial"/>
                <a:cs typeface="Arial"/>
              </a:rPr>
              <a:t>1.5</a:t>
            </a:r>
            <a:r>
              <a:rPr sz="2350" b="1" spc="90" dirty="0">
                <a:latin typeface="等线"/>
                <a:cs typeface="等线"/>
              </a:rPr>
              <a:t>学时</a:t>
            </a:r>
            <a:r>
              <a:rPr sz="2350" b="1" spc="40" dirty="0">
                <a:latin typeface="等线"/>
                <a:cs typeface="等线"/>
              </a:rPr>
              <a:t>）</a:t>
            </a:r>
            <a:endParaRPr sz="2350">
              <a:latin typeface="等线"/>
              <a:cs typeface="等线"/>
            </a:endParaRPr>
          </a:p>
          <a:p>
            <a:pPr marL="433070">
              <a:lnSpc>
                <a:spcPct val="100000"/>
              </a:lnSpc>
              <a:spcBef>
                <a:spcPts val="495"/>
              </a:spcBef>
            </a:pPr>
            <a:r>
              <a:rPr sz="2350" dirty="0">
                <a:latin typeface="宋体"/>
                <a:cs typeface="宋体"/>
              </a:rPr>
              <a:t>二元关系与函数的总结 </a:t>
            </a:r>
            <a:r>
              <a:rPr sz="2350" b="1" dirty="0">
                <a:latin typeface="等线"/>
                <a:cs typeface="等线"/>
              </a:rPr>
              <a:t>（</a:t>
            </a:r>
            <a:r>
              <a:rPr sz="2350" b="1" dirty="0">
                <a:latin typeface="Arial"/>
                <a:cs typeface="Arial"/>
              </a:rPr>
              <a:t>0.5</a:t>
            </a:r>
            <a:r>
              <a:rPr sz="2350" b="1" spc="85" dirty="0">
                <a:latin typeface="等线"/>
                <a:cs typeface="等线"/>
              </a:rPr>
              <a:t>学时</a:t>
            </a:r>
            <a:r>
              <a:rPr sz="2350" b="1" spc="35" dirty="0">
                <a:latin typeface="等线"/>
                <a:cs typeface="等线"/>
              </a:rPr>
              <a:t>）</a:t>
            </a:r>
            <a:endParaRPr sz="2350">
              <a:latin typeface="等线"/>
              <a:cs typeface="等线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3504565" y="281127"/>
            <a:ext cx="47117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65" dirty="0"/>
              <a:t>课程进度</a:t>
            </a:r>
            <a:r>
              <a:rPr sz="4400" dirty="0"/>
              <a:t>（</a:t>
            </a:r>
            <a:r>
              <a:rPr sz="4400" dirty="0">
                <a:latin typeface="Calibri"/>
                <a:cs typeface="Calibri"/>
              </a:rPr>
              <a:t>2-3</a:t>
            </a:r>
            <a:r>
              <a:rPr sz="4400" spc="-10" dirty="0"/>
              <a:t>章</a:t>
            </a:r>
            <a:r>
              <a:rPr sz="4400" spc="-50" dirty="0"/>
              <a:t>）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3804792" y="202946"/>
            <a:ext cx="473011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dirty="0"/>
              <a:t>课程进度</a:t>
            </a:r>
            <a:r>
              <a:rPr sz="4400" spc="-30" dirty="0"/>
              <a:t>（</a:t>
            </a:r>
            <a:r>
              <a:rPr sz="4400" spc="-30" dirty="0">
                <a:latin typeface="Calibri"/>
                <a:cs typeface="Calibri"/>
              </a:rPr>
              <a:t>4-</a:t>
            </a:r>
            <a:r>
              <a:rPr sz="4400" spc="-25" dirty="0">
                <a:latin typeface="Calibri"/>
                <a:cs typeface="Calibri"/>
              </a:rPr>
              <a:t>6</a:t>
            </a:r>
            <a:r>
              <a:rPr sz="4400" dirty="0"/>
              <a:t>章</a:t>
            </a:r>
            <a:r>
              <a:rPr sz="4400" spc="-50" dirty="0"/>
              <a:t>）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  <p:sp>
        <p:nvSpPr>
          <p:cNvPr id="9" name="object 9"/>
          <p:cNvSpPr txBox="1"/>
          <p:nvPr/>
        </p:nvSpPr>
        <p:spPr>
          <a:xfrm>
            <a:off x="474459" y="1101665"/>
            <a:ext cx="5691505" cy="5104130"/>
          </a:xfrm>
          <a:prstGeom prst="rect">
            <a:avLst/>
          </a:prstGeom>
        </p:spPr>
        <p:txBody>
          <a:bodyPr vert="horz" wrap="square" lIns="0" tIns="124460" rIns="0" bIns="0" rtlCol="0">
            <a:spAutoFit/>
          </a:bodyPr>
          <a:lstStyle/>
          <a:p>
            <a:pPr marL="360045" indent="-347980">
              <a:lnSpc>
                <a:spcPct val="100000"/>
              </a:lnSpc>
              <a:spcBef>
                <a:spcPts val="980"/>
              </a:spcBef>
              <a:buFont typeface="Arial"/>
              <a:buChar char="•"/>
              <a:tabLst>
                <a:tab pos="360045" algn="l"/>
                <a:tab pos="360680" algn="l"/>
              </a:tabLst>
            </a:pPr>
            <a:r>
              <a:rPr sz="2800" b="1" spc="70" dirty="0">
                <a:solidFill>
                  <a:srgbClr val="C00000"/>
                </a:solidFill>
                <a:latin typeface="等线"/>
                <a:cs typeface="等线"/>
              </a:rPr>
              <a:t>自然数</a:t>
            </a:r>
            <a:r>
              <a:rPr sz="2800" b="1" dirty="0">
                <a:solidFill>
                  <a:srgbClr val="C00000"/>
                </a:solidFill>
                <a:latin typeface="等线"/>
                <a:cs typeface="等线"/>
              </a:rPr>
              <a:t>（</a:t>
            </a:r>
            <a:r>
              <a:rPr sz="2800" b="1" dirty="0">
                <a:solidFill>
                  <a:srgbClr val="C00000"/>
                </a:solidFill>
                <a:latin typeface="Calibri"/>
                <a:cs typeface="Calibri"/>
              </a:rPr>
              <a:t>2</a:t>
            </a:r>
            <a:r>
              <a:rPr sz="2800" b="1" dirty="0">
                <a:solidFill>
                  <a:srgbClr val="C00000"/>
                </a:solidFill>
                <a:latin typeface="等线"/>
                <a:cs typeface="等线"/>
              </a:rPr>
              <a:t>学时</a:t>
            </a:r>
            <a:r>
              <a:rPr sz="2800" b="1" spc="-50" dirty="0">
                <a:solidFill>
                  <a:srgbClr val="C00000"/>
                </a:solidFill>
                <a:latin typeface="等线"/>
                <a:cs typeface="等线"/>
              </a:rPr>
              <a:t>）</a:t>
            </a:r>
            <a:endParaRPr sz="2800">
              <a:latin typeface="等线"/>
              <a:cs typeface="等线"/>
            </a:endParaRPr>
          </a:p>
          <a:p>
            <a:pPr marL="351155" marR="2027555">
              <a:lnSpc>
                <a:spcPts val="3750"/>
              </a:lnSpc>
              <a:spcBef>
                <a:spcPts val="114"/>
              </a:spcBef>
            </a:pPr>
            <a:r>
              <a:rPr sz="2350" dirty="0">
                <a:latin typeface="宋体"/>
                <a:cs typeface="宋体"/>
              </a:rPr>
              <a:t>自然数的定义</a:t>
            </a:r>
            <a:r>
              <a:rPr sz="2350" spc="-375" dirty="0">
                <a:latin typeface="宋体"/>
                <a:cs typeface="宋体"/>
              </a:rPr>
              <a:t> </a:t>
            </a:r>
            <a:r>
              <a:rPr sz="2350" b="1" spc="60" dirty="0">
                <a:latin typeface="等线"/>
                <a:cs typeface="等线"/>
              </a:rPr>
              <a:t>（</a:t>
            </a:r>
            <a:r>
              <a:rPr sz="2350" b="1" spc="60" dirty="0">
                <a:latin typeface="Calibri"/>
                <a:cs typeface="Calibri"/>
              </a:rPr>
              <a:t>1</a:t>
            </a:r>
            <a:r>
              <a:rPr sz="2350" b="1" spc="90" dirty="0">
                <a:latin typeface="等线"/>
                <a:cs typeface="等线"/>
              </a:rPr>
              <a:t>学时</a:t>
            </a:r>
            <a:r>
              <a:rPr sz="2350" b="1" spc="40" dirty="0">
                <a:latin typeface="等线"/>
                <a:cs typeface="等线"/>
              </a:rPr>
              <a:t>）</a:t>
            </a:r>
            <a:r>
              <a:rPr sz="2350" dirty="0">
                <a:latin typeface="宋体"/>
                <a:cs typeface="宋体"/>
              </a:rPr>
              <a:t>自然数的性质</a:t>
            </a:r>
            <a:r>
              <a:rPr sz="2350" spc="-310" dirty="0">
                <a:latin typeface="宋体"/>
                <a:cs typeface="宋体"/>
              </a:rPr>
              <a:t> </a:t>
            </a:r>
            <a:r>
              <a:rPr sz="2350" b="1" spc="60" dirty="0">
                <a:latin typeface="等线"/>
                <a:cs typeface="等线"/>
              </a:rPr>
              <a:t>（</a:t>
            </a:r>
            <a:r>
              <a:rPr sz="2350" b="1" spc="60" dirty="0">
                <a:latin typeface="Calibri"/>
                <a:cs typeface="Calibri"/>
              </a:rPr>
              <a:t>1</a:t>
            </a:r>
            <a:r>
              <a:rPr sz="2350" b="1" spc="90" dirty="0">
                <a:latin typeface="等线"/>
                <a:cs typeface="等线"/>
              </a:rPr>
              <a:t>学时</a:t>
            </a:r>
            <a:r>
              <a:rPr sz="2350" b="1" spc="40" dirty="0">
                <a:latin typeface="等线"/>
                <a:cs typeface="等线"/>
              </a:rPr>
              <a:t>）</a:t>
            </a:r>
            <a:endParaRPr sz="2350">
              <a:latin typeface="等线"/>
              <a:cs typeface="等线"/>
            </a:endParaRPr>
          </a:p>
          <a:p>
            <a:pPr marL="360045" indent="-347980">
              <a:lnSpc>
                <a:spcPct val="100000"/>
              </a:lnSpc>
              <a:spcBef>
                <a:spcPts val="1135"/>
              </a:spcBef>
              <a:buFont typeface="Arial"/>
              <a:buChar char="•"/>
              <a:tabLst>
                <a:tab pos="360045" algn="l"/>
                <a:tab pos="360680" algn="l"/>
              </a:tabLst>
            </a:pPr>
            <a:r>
              <a:rPr sz="2800" b="1" spc="35" dirty="0">
                <a:solidFill>
                  <a:srgbClr val="C00000"/>
                </a:solidFill>
                <a:latin typeface="等线"/>
                <a:cs typeface="等线"/>
              </a:rPr>
              <a:t>基数、序数</a:t>
            </a:r>
            <a:r>
              <a:rPr sz="2800" b="1" spc="-10" dirty="0">
                <a:solidFill>
                  <a:srgbClr val="C00000"/>
                </a:solidFill>
                <a:latin typeface="等线"/>
                <a:cs typeface="等线"/>
              </a:rPr>
              <a:t>（</a:t>
            </a:r>
            <a:r>
              <a:rPr sz="2800" b="1" spc="-10" dirty="0">
                <a:solidFill>
                  <a:srgbClr val="C00000"/>
                </a:solidFill>
                <a:latin typeface="Calibri"/>
                <a:cs typeface="Calibri"/>
              </a:rPr>
              <a:t>2.5</a:t>
            </a:r>
            <a:r>
              <a:rPr sz="2800" b="1" spc="30" dirty="0">
                <a:solidFill>
                  <a:srgbClr val="C00000"/>
                </a:solidFill>
                <a:latin typeface="等线"/>
                <a:cs typeface="等线"/>
              </a:rPr>
              <a:t>学时</a:t>
            </a:r>
            <a:r>
              <a:rPr sz="2800" b="1" spc="-50" dirty="0">
                <a:solidFill>
                  <a:srgbClr val="C00000"/>
                </a:solidFill>
                <a:latin typeface="等线"/>
                <a:cs typeface="等线"/>
              </a:rPr>
              <a:t>）</a:t>
            </a:r>
            <a:endParaRPr sz="2800">
              <a:latin typeface="等线"/>
              <a:cs typeface="等线"/>
            </a:endParaRPr>
          </a:p>
          <a:p>
            <a:pPr marL="351155">
              <a:lnSpc>
                <a:spcPct val="100000"/>
              </a:lnSpc>
              <a:spcBef>
                <a:spcPts val="765"/>
              </a:spcBef>
            </a:pPr>
            <a:r>
              <a:rPr sz="2350" dirty="0">
                <a:latin typeface="宋体"/>
                <a:cs typeface="宋体"/>
              </a:rPr>
              <a:t>集合的等势、有穷集与无穷集</a:t>
            </a:r>
            <a:r>
              <a:rPr sz="2350" b="1" spc="55" dirty="0">
                <a:latin typeface="等线"/>
                <a:cs typeface="等线"/>
              </a:rPr>
              <a:t>（</a:t>
            </a:r>
            <a:r>
              <a:rPr sz="2350" b="1" spc="55" dirty="0">
                <a:latin typeface="Calibri"/>
                <a:cs typeface="Calibri"/>
              </a:rPr>
              <a:t>1</a:t>
            </a:r>
            <a:r>
              <a:rPr sz="2350" b="1" spc="85" dirty="0">
                <a:latin typeface="等线"/>
                <a:cs typeface="等线"/>
              </a:rPr>
              <a:t>学时</a:t>
            </a:r>
            <a:r>
              <a:rPr sz="2350" b="1" spc="35" dirty="0">
                <a:latin typeface="等线"/>
                <a:cs typeface="等线"/>
              </a:rPr>
              <a:t>）</a:t>
            </a:r>
            <a:endParaRPr sz="2350">
              <a:latin typeface="等线"/>
              <a:cs typeface="等线"/>
            </a:endParaRPr>
          </a:p>
          <a:p>
            <a:pPr marL="351155">
              <a:lnSpc>
                <a:spcPct val="100000"/>
              </a:lnSpc>
              <a:spcBef>
                <a:spcPts val="1005"/>
              </a:spcBef>
            </a:pPr>
            <a:r>
              <a:rPr sz="2350" dirty="0">
                <a:latin typeface="宋体"/>
                <a:cs typeface="宋体"/>
              </a:rPr>
              <a:t>基数、基数的比较</a:t>
            </a:r>
            <a:r>
              <a:rPr sz="2350" b="1" spc="60" dirty="0">
                <a:latin typeface="等线"/>
                <a:cs typeface="等线"/>
              </a:rPr>
              <a:t>（</a:t>
            </a:r>
            <a:r>
              <a:rPr sz="2350" b="1" spc="60" dirty="0">
                <a:latin typeface="Calibri"/>
                <a:cs typeface="Calibri"/>
              </a:rPr>
              <a:t>1</a:t>
            </a:r>
            <a:r>
              <a:rPr sz="2350" b="1" spc="90" dirty="0">
                <a:latin typeface="等线"/>
                <a:cs typeface="等线"/>
              </a:rPr>
              <a:t>学时</a:t>
            </a:r>
            <a:r>
              <a:rPr sz="2350" b="1" spc="40" dirty="0">
                <a:latin typeface="等线"/>
                <a:cs typeface="等线"/>
              </a:rPr>
              <a:t>）</a:t>
            </a:r>
            <a:endParaRPr sz="2350">
              <a:latin typeface="等线"/>
              <a:cs typeface="等线"/>
            </a:endParaRPr>
          </a:p>
          <a:p>
            <a:pPr marL="351155">
              <a:lnSpc>
                <a:spcPct val="100000"/>
              </a:lnSpc>
              <a:spcBef>
                <a:spcPts val="1430"/>
              </a:spcBef>
            </a:pPr>
            <a:r>
              <a:rPr sz="2350" dirty="0">
                <a:latin typeface="宋体"/>
                <a:cs typeface="宋体"/>
              </a:rPr>
              <a:t>序数简介</a:t>
            </a:r>
            <a:r>
              <a:rPr sz="2350" b="1" dirty="0">
                <a:latin typeface="等线"/>
                <a:cs typeface="等线"/>
              </a:rPr>
              <a:t>（</a:t>
            </a:r>
            <a:r>
              <a:rPr sz="2350" b="1" dirty="0">
                <a:latin typeface="Calibri"/>
                <a:cs typeface="Calibri"/>
              </a:rPr>
              <a:t>0.5</a:t>
            </a:r>
            <a:r>
              <a:rPr sz="2350" b="1" spc="90" dirty="0">
                <a:latin typeface="等线"/>
                <a:cs typeface="等线"/>
              </a:rPr>
              <a:t>学时</a:t>
            </a:r>
            <a:r>
              <a:rPr sz="2350" b="1" spc="40" dirty="0">
                <a:latin typeface="等线"/>
                <a:cs typeface="等线"/>
              </a:rPr>
              <a:t>）</a:t>
            </a:r>
            <a:endParaRPr sz="2350">
              <a:latin typeface="等线"/>
              <a:cs typeface="等线"/>
            </a:endParaRPr>
          </a:p>
          <a:p>
            <a:pPr marL="360045" indent="-347980">
              <a:lnSpc>
                <a:spcPct val="100000"/>
              </a:lnSpc>
              <a:spcBef>
                <a:spcPts val="1200"/>
              </a:spcBef>
              <a:buFont typeface="Arial"/>
              <a:buChar char="•"/>
              <a:tabLst>
                <a:tab pos="360045" algn="l"/>
                <a:tab pos="360680" algn="l"/>
              </a:tabLst>
            </a:pPr>
            <a:r>
              <a:rPr sz="2800" b="1" spc="15" dirty="0">
                <a:solidFill>
                  <a:srgbClr val="C00000"/>
                </a:solidFill>
                <a:latin typeface="等线"/>
                <a:cs typeface="等线"/>
              </a:rPr>
              <a:t>集合论总结复习</a:t>
            </a:r>
            <a:r>
              <a:rPr sz="2800" b="1" spc="-10" dirty="0">
                <a:solidFill>
                  <a:srgbClr val="C00000"/>
                </a:solidFill>
                <a:latin typeface="等线"/>
                <a:cs typeface="等线"/>
              </a:rPr>
              <a:t>（</a:t>
            </a:r>
            <a:r>
              <a:rPr sz="2800" b="1" spc="-10" dirty="0">
                <a:solidFill>
                  <a:srgbClr val="C00000"/>
                </a:solidFill>
                <a:latin typeface="Calibri"/>
                <a:cs typeface="Calibri"/>
              </a:rPr>
              <a:t>1.5</a:t>
            </a:r>
            <a:r>
              <a:rPr sz="2800" b="1" spc="30" dirty="0">
                <a:solidFill>
                  <a:srgbClr val="C00000"/>
                </a:solidFill>
                <a:latin typeface="等线"/>
                <a:cs typeface="等线"/>
              </a:rPr>
              <a:t>学时</a:t>
            </a:r>
            <a:r>
              <a:rPr sz="2800" b="1" spc="-50" dirty="0">
                <a:solidFill>
                  <a:srgbClr val="C00000"/>
                </a:solidFill>
                <a:latin typeface="等线"/>
                <a:cs typeface="等线"/>
              </a:rPr>
              <a:t>）</a:t>
            </a:r>
            <a:endParaRPr sz="2800">
              <a:latin typeface="等线"/>
              <a:cs typeface="等线"/>
            </a:endParaRPr>
          </a:p>
          <a:p>
            <a:pPr marL="351155" marR="1881505">
              <a:lnSpc>
                <a:spcPts val="3820"/>
              </a:lnSpc>
            </a:pPr>
            <a:r>
              <a:rPr sz="2350" dirty="0">
                <a:latin typeface="宋体"/>
                <a:cs typeface="宋体"/>
              </a:rPr>
              <a:t>集合论的总结</a:t>
            </a:r>
            <a:r>
              <a:rPr sz="2350" b="1" dirty="0">
                <a:latin typeface="等线"/>
                <a:cs typeface="等线"/>
              </a:rPr>
              <a:t>（</a:t>
            </a:r>
            <a:r>
              <a:rPr sz="2350" b="1" dirty="0">
                <a:latin typeface="Calibri"/>
                <a:cs typeface="Calibri"/>
              </a:rPr>
              <a:t>0.5</a:t>
            </a:r>
            <a:r>
              <a:rPr sz="2350" b="1" spc="85" dirty="0">
                <a:latin typeface="等线"/>
                <a:cs typeface="等线"/>
              </a:rPr>
              <a:t>学时</a:t>
            </a:r>
            <a:r>
              <a:rPr sz="2350" b="1" spc="35" dirty="0">
                <a:latin typeface="等线"/>
                <a:cs typeface="等线"/>
              </a:rPr>
              <a:t>）</a:t>
            </a:r>
            <a:r>
              <a:rPr sz="2350" dirty="0">
                <a:latin typeface="宋体"/>
                <a:cs typeface="宋体"/>
              </a:rPr>
              <a:t>集合论习题课</a:t>
            </a:r>
            <a:r>
              <a:rPr sz="2350" b="1" spc="60" dirty="0">
                <a:latin typeface="等线"/>
                <a:cs typeface="等线"/>
              </a:rPr>
              <a:t>（</a:t>
            </a:r>
            <a:r>
              <a:rPr sz="2350" b="1" spc="60" dirty="0">
                <a:latin typeface="Calibri"/>
                <a:cs typeface="Calibri"/>
              </a:rPr>
              <a:t>1</a:t>
            </a:r>
            <a:r>
              <a:rPr sz="2350" b="1" spc="85" dirty="0">
                <a:latin typeface="等线"/>
                <a:cs typeface="等线"/>
              </a:rPr>
              <a:t>学时</a:t>
            </a:r>
            <a:r>
              <a:rPr sz="2350" b="1" spc="35" dirty="0">
                <a:latin typeface="等线"/>
                <a:cs typeface="等线"/>
              </a:rPr>
              <a:t>）</a:t>
            </a:r>
            <a:endParaRPr sz="2350">
              <a:latin typeface="等线"/>
              <a:cs typeface="等线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3667633" y="202946"/>
            <a:ext cx="501396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dirty="0"/>
              <a:t>课程进度（</a:t>
            </a:r>
            <a:r>
              <a:rPr sz="4400" dirty="0">
                <a:latin typeface="Calibri"/>
                <a:cs typeface="Calibri"/>
              </a:rPr>
              <a:t>7-</a:t>
            </a:r>
            <a:r>
              <a:rPr sz="4400" spc="-60" dirty="0">
                <a:latin typeface="Calibri"/>
                <a:cs typeface="Calibri"/>
              </a:rPr>
              <a:t>10</a:t>
            </a:r>
            <a:r>
              <a:rPr sz="4400" dirty="0"/>
              <a:t>章</a:t>
            </a:r>
            <a:r>
              <a:rPr sz="4400" spc="-50" dirty="0"/>
              <a:t>）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  <p:sp>
        <p:nvSpPr>
          <p:cNvPr id="9" name="object 9"/>
          <p:cNvSpPr txBox="1"/>
          <p:nvPr/>
        </p:nvSpPr>
        <p:spPr>
          <a:xfrm>
            <a:off x="474459" y="957919"/>
            <a:ext cx="4867910" cy="5067935"/>
          </a:xfrm>
          <a:prstGeom prst="rect">
            <a:avLst/>
          </a:prstGeom>
        </p:spPr>
        <p:txBody>
          <a:bodyPr vert="horz" wrap="square" lIns="0" tIns="124460" rIns="0" bIns="0" rtlCol="0">
            <a:spAutoFit/>
          </a:bodyPr>
          <a:lstStyle/>
          <a:p>
            <a:pPr marL="360045" indent="-347980">
              <a:lnSpc>
                <a:spcPct val="100000"/>
              </a:lnSpc>
              <a:spcBef>
                <a:spcPts val="980"/>
              </a:spcBef>
              <a:buFont typeface="Arial"/>
              <a:buChar char="•"/>
              <a:tabLst>
                <a:tab pos="360045" algn="l"/>
                <a:tab pos="360680" algn="l"/>
              </a:tabLst>
            </a:pPr>
            <a:r>
              <a:rPr sz="2800" b="1" spc="65" dirty="0">
                <a:solidFill>
                  <a:srgbClr val="C00000"/>
                </a:solidFill>
                <a:latin typeface="等线"/>
                <a:cs typeface="等线"/>
              </a:rPr>
              <a:t>图</a:t>
            </a:r>
            <a:r>
              <a:rPr sz="2800" b="1" dirty="0">
                <a:solidFill>
                  <a:srgbClr val="C00000"/>
                </a:solidFill>
                <a:latin typeface="等线"/>
                <a:cs typeface="等线"/>
              </a:rPr>
              <a:t>（</a:t>
            </a:r>
            <a:r>
              <a:rPr sz="2800" b="1" dirty="0">
                <a:solidFill>
                  <a:srgbClr val="C00000"/>
                </a:solidFill>
                <a:latin typeface="Calibri"/>
                <a:cs typeface="Calibri"/>
              </a:rPr>
              <a:t>4</a:t>
            </a:r>
            <a:r>
              <a:rPr sz="2800" b="1" spc="30" dirty="0">
                <a:solidFill>
                  <a:srgbClr val="C00000"/>
                </a:solidFill>
                <a:latin typeface="等线"/>
                <a:cs typeface="等线"/>
              </a:rPr>
              <a:t>学时</a:t>
            </a:r>
            <a:r>
              <a:rPr sz="2800" b="1" spc="-50" dirty="0">
                <a:solidFill>
                  <a:srgbClr val="C00000"/>
                </a:solidFill>
                <a:latin typeface="等线"/>
                <a:cs typeface="等线"/>
              </a:rPr>
              <a:t>）</a:t>
            </a:r>
            <a:endParaRPr sz="2800">
              <a:latin typeface="等线"/>
              <a:cs typeface="等线"/>
            </a:endParaRPr>
          </a:p>
          <a:p>
            <a:pPr marL="351155" marR="1295400">
              <a:lnSpc>
                <a:spcPct val="115100"/>
              </a:lnSpc>
              <a:spcBef>
                <a:spcPts val="345"/>
              </a:spcBef>
            </a:pPr>
            <a:r>
              <a:rPr sz="2350" dirty="0">
                <a:latin typeface="宋体"/>
                <a:cs typeface="宋体"/>
              </a:rPr>
              <a:t>图的基本概念</a:t>
            </a:r>
            <a:r>
              <a:rPr sz="2350" b="1" spc="60" dirty="0">
                <a:latin typeface="等线"/>
                <a:cs typeface="等线"/>
              </a:rPr>
              <a:t>（</a:t>
            </a:r>
            <a:r>
              <a:rPr sz="2350" b="1" spc="60" dirty="0">
                <a:latin typeface="Calibri"/>
                <a:cs typeface="Calibri"/>
              </a:rPr>
              <a:t>1</a:t>
            </a:r>
            <a:r>
              <a:rPr sz="2350" b="1" spc="90" dirty="0">
                <a:latin typeface="等线"/>
                <a:cs typeface="等线"/>
              </a:rPr>
              <a:t>学时</a:t>
            </a:r>
            <a:r>
              <a:rPr sz="2350" b="1" spc="40" dirty="0">
                <a:latin typeface="等线"/>
                <a:cs typeface="等线"/>
              </a:rPr>
              <a:t>）</a:t>
            </a:r>
            <a:r>
              <a:rPr sz="2350" dirty="0">
                <a:latin typeface="宋体"/>
                <a:cs typeface="宋体"/>
              </a:rPr>
              <a:t>通路与回路</a:t>
            </a:r>
            <a:r>
              <a:rPr sz="2350" b="1" spc="60" dirty="0">
                <a:latin typeface="等线"/>
                <a:cs typeface="等线"/>
              </a:rPr>
              <a:t>（</a:t>
            </a:r>
            <a:r>
              <a:rPr sz="2350" b="1" spc="60" dirty="0">
                <a:latin typeface="Calibri"/>
                <a:cs typeface="Calibri"/>
              </a:rPr>
              <a:t>1</a:t>
            </a:r>
            <a:r>
              <a:rPr sz="2350" b="1" spc="90" dirty="0">
                <a:latin typeface="等线"/>
                <a:cs typeface="等线"/>
              </a:rPr>
              <a:t>学时</a:t>
            </a:r>
            <a:r>
              <a:rPr sz="2350" b="1" spc="40" dirty="0">
                <a:latin typeface="等线"/>
                <a:cs typeface="等线"/>
              </a:rPr>
              <a:t>）</a:t>
            </a:r>
            <a:endParaRPr sz="2350">
              <a:latin typeface="等线"/>
              <a:cs typeface="等线"/>
            </a:endParaRPr>
          </a:p>
          <a:p>
            <a:pPr marL="351155">
              <a:lnSpc>
                <a:spcPct val="100000"/>
              </a:lnSpc>
              <a:spcBef>
                <a:spcPts val="350"/>
              </a:spcBef>
            </a:pPr>
            <a:r>
              <a:rPr sz="2350" dirty="0">
                <a:latin typeface="宋体"/>
                <a:cs typeface="宋体"/>
              </a:rPr>
              <a:t>连通性与连通度</a:t>
            </a:r>
            <a:r>
              <a:rPr sz="2350" b="1" spc="60" dirty="0">
                <a:latin typeface="等线"/>
                <a:cs typeface="等线"/>
              </a:rPr>
              <a:t>（</a:t>
            </a:r>
            <a:r>
              <a:rPr sz="2350" b="1" spc="60" dirty="0">
                <a:latin typeface="Calibri"/>
                <a:cs typeface="Calibri"/>
              </a:rPr>
              <a:t>2</a:t>
            </a:r>
            <a:r>
              <a:rPr sz="2350" b="1" spc="90" dirty="0">
                <a:latin typeface="等线"/>
                <a:cs typeface="等线"/>
              </a:rPr>
              <a:t>学时</a:t>
            </a:r>
            <a:r>
              <a:rPr sz="2350" b="1" spc="40" dirty="0">
                <a:latin typeface="等线"/>
                <a:cs typeface="等线"/>
              </a:rPr>
              <a:t>）</a:t>
            </a:r>
            <a:endParaRPr sz="2350">
              <a:latin typeface="等线"/>
              <a:cs typeface="等线"/>
            </a:endParaRPr>
          </a:p>
          <a:p>
            <a:pPr marL="360045" indent="-347980">
              <a:lnSpc>
                <a:spcPct val="100000"/>
              </a:lnSpc>
              <a:spcBef>
                <a:spcPts val="1989"/>
              </a:spcBef>
              <a:buFont typeface="Arial"/>
              <a:buChar char="•"/>
              <a:tabLst>
                <a:tab pos="360045" algn="l"/>
                <a:tab pos="360680" algn="l"/>
              </a:tabLst>
            </a:pPr>
            <a:r>
              <a:rPr sz="2800" b="1" spc="20" dirty="0">
                <a:solidFill>
                  <a:srgbClr val="C00000"/>
                </a:solidFill>
                <a:latin typeface="等线"/>
                <a:cs typeface="等线"/>
              </a:rPr>
              <a:t>欧拉图、哈密顿图</a:t>
            </a:r>
            <a:r>
              <a:rPr sz="2800" b="1" spc="-25" dirty="0">
                <a:solidFill>
                  <a:srgbClr val="C00000"/>
                </a:solidFill>
                <a:latin typeface="等线"/>
                <a:cs typeface="等线"/>
              </a:rPr>
              <a:t>（</a:t>
            </a:r>
            <a:r>
              <a:rPr sz="2800" b="1" spc="-25" dirty="0">
                <a:solidFill>
                  <a:srgbClr val="C00000"/>
                </a:solidFill>
                <a:latin typeface="Calibri"/>
                <a:cs typeface="Calibri"/>
              </a:rPr>
              <a:t>2</a:t>
            </a:r>
            <a:r>
              <a:rPr sz="2800" b="1" spc="-10" dirty="0">
                <a:solidFill>
                  <a:srgbClr val="C00000"/>
                </a:solidFill>
                <a:latin typeface="等线"/>
                <a:cs typeface="等线"/>
              </a:rPr>
              <a:t>学时</a:t>
            </a:r>
            <a:r>
              <a:rPr sz="2800" b="1" spc="-50" dirty="0">
                <a:solidFill>
                  <a:srgbClr val="C00000"/>
                </a:solidFill>
                <a:latin typeface="等线"/>
                <a:cs typeface="等线"/>
              </a:rPr>
              <a:t>）</a:t>
            </a:r>
            <a:endParaRPr sz="2800">
              <a:latin typeface="等线"/>
              <a:cs typeface="等线"/>
            </a:endParaRPr>
          </a:p>
          <a:p>
            <a:pPr marL="351155">
              <a:lnSpc>
                <a:spcPct val="100000"/>
              </a:lnSpc>
              <a:spcBef>
                <a:spcPts val="770"/>
              </a:spcBef>
            </a:pPr>
            <a:r>
              <a:rPr sz="2350" dirty="0">
                <a:latin typeface="宋体"/>
                <a:cs typeface="宋体"/>
              </a:rPr>
              <a:t>欧拉图</a:t>
            </a:r>
            <a:r>
              <a:rPr sz="2350" b="1" spc="60" dirty="0">
                <a:latin typeface="等线"/>
                <a:cs typeface="等线"/>
              </a:rPr>
              <a:t>（</a:t>
            </a:r>
            <a:r>
              <a:rPr sz="2350" b="1" spc="60" dirty="0">
                <a:latin typeface="Calibri"/>
                <a:cs typeface="Calibri"/>
              </a:rPr>
              <a:t>1</a:t>
            </a:r>
            <a:r>
              <a:rPr sz="2350" b="1" spc="85" dirty="0">
                <a:latin typeface="等线"/>
                <a:cs typeface="等线"/>
              </a:rPr>
              <a:t>学时</a:t>
            </a:r>
            <a:r>
              <a:rPr sz="2350" b="1" spc="35" dirty="0">
                <a:latin typeface="等线"/>
                <a:cs typeface="等线"/>
              </a:rPr>
              <a:t>）</a:t>
            </a:r>
            <a:endParaRPr sz="2350">
              <a:latin typeface="等线"/>
              <a:cs typeface="等线"/>
            </a:endParaRPr>
          </a:p>
          <a:p>
            <a:pPr marL="351155">
              <a:lnSpc>
                <a:spcPct val="100000"/>
              </a:lnSpc>
              <a:spcBef>
                <a:spcPts val="1005"/>
              </a:spcBef>
            </a:pPr>
            <a:r>
              <a:rPr sz="2350" dirty="0">
                <a:latin typeface="宋体"/>
                <a:cs typeface="宋体"/>
              </a:rPr>
              <a:t>哈密顿图</a:t>
            </a:r>
            <a:r>
              <a:rPr sz="2350" b="1" spc="60" dirty="0">
                <a:latin typeface="等线"/>
                <a:cs typeface="等线"/>
              </a:rPr>
              <a:t>（</a:t>
            </a:r>
            <a:r>
              <a:rPr sz="2350" b="1" spc="60" dirty="0">
                <a:latin typeface="Calibri"/>
                <a:cs typeface="Calibri"/>
              </a:rPr>
              <a:t>1</a:t>
            </a:r>
            <a:r>
              <a:rPr sz="2350" b="1" spc="90" dirty="0">
                <a:latin typeface="等线"/>
                <a:cs typeface="等线"/>
              </a:rPr>
              <a:t>学时</a:t>
            </a:r>
            <a:r>
              <a:rPr sz="2350" b="1" spc="40" dirty="0">
                <a:latin typeface="等线"/>
                <a:cs typeface="等线"/>
              </a:rPr>
              <a:t>）</a:t>
            </a:r>
            <a:endParaRPr sz="2350">
              <a:latin typeface="等线"/>
              <a:cs typeface="等线"/>
            </a:endParaRPr>
          </a:p>
          <a:p>
            <a:pPr marL="360045" indent="-347980">
              <a:lnSpc>
                <a:spcPct val="100000"/>
              </a:lnSpc>
              <a:spcBef>
                <a:spcPts val="1989"/>
              </a:spcBef>
              <a:buFont typeface="Arial"/>
              <a:buChar char="•"/>
              <a:tabLst>
                <a:tab pos="360045" algn="l"/>
                <a:tab pos="360680" algn="l"/>
              </a:tabLst>
            </a:pPr>
            <a:r>
              <a:rPr sz="2800" b="1" spc="20" dirty="0">
                <a:solidFill>
                  <a:srgbClr val="C00000"/>
                </a:solidFill>
                <a:latin typeface="等线"/>
                <a:cs typeface="等线"/>
              </a:rPr>
              <a:t>树、图的矩阵表示</a:t>
            </a:r>
            <a:r>
              <a:rPr sz="2800" b="1" spc="-25" dirty="0">
                <a:solidFill>
                  <a:srgbClr val="C00000"/>
                </a:solidFill>
                <a:latin typeface="等线"/>
                <a:cs typeface="等线"/>
              </a:rPr>
              <a:t>（</a:t>
            </a:r>
            <a:r>
              <a:rPr sz="2800" b="1" spc="-25" dirty="0">
                <a:solidFill>
                  <a:srgbClr val="C00000"/>
                </a:solidFill>
                <a:latin typeface="Calibri"/>
                <a:cs typeface="Calibri"/>
              </a:rPr>
              <a:t>2</a:t>
            </a:r>
            <a:r>
              <a:rPr sz="2800" b="1" spc="-10" dirty="0">
                <a:solidFill>
                  <a:srgbClr val="C00000"/>
                </a:solidFill>
                <a:latin typeface="等线"/>
                <a:cs typeface="等线"/>
              </a:rPr>
              <a:t>学时</a:t>
            </a:r>
            <a:r>
              <a:rPr sz="2800" b="1" spc="-50" dirty="0">
                <a:solidFill>
                  <a:srgbClr val="C00000"/>
                </a:solidFill>
                <a:latin typeface="等线"/>
                <a:cs typeface="等线"/>
              </a:rPr>
              <a:t>）</a:t>
            </a:r>
            <a:endParaRPr sz="2800">
              <a:latin typeface="等线"/>
              <a:cs typeface="等线"/>
            </a:endParaRPr>
          </a:p>
          <a:p>
            <a:pPr marL="351155">
              <a:lnSpc>
                <a:spcPct val="100000"/>
              </a:lnSpc>
              <a:spcBef>
                <a:spcPts val="765"/>
              </a:spcBef>
            </a:pPr>
            <a:r>
              <a:rPr sz="2350" dirty="0">
                <a:latin typeface="宋体"/>
                <a:cs typeface="宋体"/>
              </a:rPr>
              <a:t>树</a:t>
            </a:r>
            <a:r>
              <a:rPr sz="2350" b="1" spc="60" dirty="0">
                <a:latin typeface="等线"/>
                <a:cs typeface="等线"/>
              </a:rPr>
              <a:t>（</a:t>
            </a:r>
            <a:r>
              <a:rPr sz="2350" b="1" spc="60" dirty="0">
                <a:latin typeface="Calibri"/>
                <a:cs typeface="Calibri"/>
              </a:rPr>
              <a:t>1</a:t>
            </a:r>
            <a:r>
              <a:rPr sz="2350" b="1" spc="85" dirty="0">
                <a:latin typeface="等线"/>
                <a:cs typeface="等线"/>
              </a:rPr>
              <a:t>学时</a:t>
            </a:r>
            <a:r>
              <a:rPr sz="2350" b="1" spc="35" dirty="0">
                <a:latin typeface="等线"/>
                <a:cs typeface="等线"/>
              </a:rPr>
              <a:t>）</a:t>
            </a:r>
            <a:endParaRPr sz="2350">
              <a:latin typeface="等线"/>
              <a:cs typeface="等线"/>
            </a:endParaRPr>
          </a:p>
          <a:p>
            <a:pPr marL="351155">
              <a:lnSpc>
                <a:spcPct val="100000"/>
              </a:lnSpc>
              <a:spcBef>
                <a:spcPts val="930"/>
              </a:spcBef>
            </a:pPr>
            <a:r>
              <a:rPr sz="2350" dirty="0">
                <a:latin typeface="宋体"/>
                <a:cs typeface="宋体"/>
              </a:rPr>
              <a:t>图的矩阵表示</a:t>
            </a:r>
            <a:r>
              <a:rPr sz="2350" b="1" spc="60" dirty="0">
                <a:latin typeface="等线"/>
                <a:cs typeface="等线"/>
              </a:rPr>
              <a:t>（</a:t>
            </a:r>
            <a:r>
              <a:rPr sz="2350" b="1" spc="60" dirty="0">
                <a:latin typeface="Calibri"/>
                <a:cs typeface="Calibri"/>
              </a:rPr>
              <a:t>1</a:t>
            </a:r>
            <a:r>
              <a:rPr sz="2350" b="1" spc="85" dirty="0">
                <a:latin typeface="等线"/>
                <a:cs typeface="等线"/>
              </a:rPr>
              <a:t>学时</a:t>
            </a:r>
            <a:r>
              <a:rPr sz="2350" b="1" spc="35" dirty="0">
                <a:latin typeface="等线"/>
                <a:cs typeface="等线"/>
              </a:rPr>
              <a:t>）</a:t>
            </a:r>
            <a:endParaRPr sz="2350">
              <a:latin typeface="等线"/>
              <a:cs typeface="等线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4459" y="1256972"/>
            <a:ext cx="6369050" cy="3710940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360045" indent="-347980">
              <a:lnSpc>
                <a:spcPct val="100000"/>
              </a:lnSpc>
              <a:spcBef>
                <a:spcPts val="894"/>
              </a:spcBef>
              <a:buFont typeface="Arial"/>
              <a:buChar char="•"/>
              <a:tabLst>
                <a:tab pos="360045" algn="l"/>
                <a:tab pos="360680" algn="l"/>
              </a:tabLst>
            </a:pPr>
            <a:r>
              <a:rPr sz="2800" b="1" spc="70" dirty="0">
                <a:solidFill>
                  <a:srgbClr val="C00000"/>
                </a:solidFill>
                <a:latin typeface="等线"/>
                <a:cs typeface="等线"/>
              </a:rPr>
              <a:t>平面图</a:t>
            </a:r>
            <a:r>
              <a:rPr sz="2800" b="1" dirty="0">
                <a:solidFill>
                  <a:srgbClr val="C00000"/>
                </a:solidFill>
                <a:latin typeface="等线"/>
                <a:cs typeface="等线"/>
              </a:rPr>
              <a:t>（</a:t>
            </a:r>
            <a:r>
              <a:rPr sz="2800" b="1" dirty="0">
                <a:solidFill>
                  <a:srgbClr val="C00000"/>
                </a:solidFill>
                <a:latin typeface="Calibri"/>
                <a:cs typeface="Calibri"/>
              </a:rPr>
              <a:t>4</a:t>
            </a:r>
            <a:r>
              <a:rPr sz="2800" b="1" dirty="0">
                <a:solidFill>
                  <a:srgbClr val="C00000"/>
                </a:solidFill>
                <a:latin typeface="等线"/>
                <a:cs typeface="等线"/>
              </a:rPr>
              <a:t>学时</a:t>
            </a:r>
            <a:r>
              <a:rPr sz="2800" b="1" spc="-50" dirty="0">
                <a:solidFill>
                  <a:srgbClr val="C00000"/>
                </a:solidFill>
                <a:latin typeface="等线"/>
                <a:cs typeface="等线"/>
              </a:rPr>
              <a:t>）</a:t>
            </a:r>
            <a:endParaRPr sz="2800">
              <a:latin typeface="等线"/>
              <a:cs typeface="等线"/>
            </a:endParaRPr>
          </a:p>
          <a:p>
            <a:pPr marL="424180">
              <a:lnSpc>
                <a:spcPct val="100000"/>
              </a:lnSpc>
              <a:spcBef>
                <a:spcPts val="695"/>
              </a:spcBef>
            </a:pPr>
            <a:r>
              <a:rPr sz="2350" dirty="0">
                <a:latin typeface="宋体"/>
                <a:cs typeface="宋体"/>
              </a:rPr>
              <a:t>平面图的概念</a:t>
            </a:r>
            <a:r>
              <a:rPr sz="2350" b="1" spc="60" dirty="0">
                <a:latin typeface="等线"/>
                <a:cs typeface="等线"/>
              </a:rPr>
              <a:t>（</a:t>
            </a:r>
            <a:r>
              <a:rPr sz="2350" b="1" spc="60" dirty="0">
                <a:latin typeface="Calibri"/>
                <a:cs typeface="Calibri"/>
              </a:rPr>
              <a:t>1</a:t>
            </a:r>
            <a:r>
              <a:rPr sz="2350" b="1" spc="90" dirty="0">
                <a:latin typeface="等线"/>
                <a:cs typeface="等线"/>
              </a:rPr>
              <a:t>学时</a:t>
            </a:r>
            <a:r>
              <a:rPr sz="2350" b="1" spc="40" dirty="0">
                <a:latin typeface="等线"/>
                <a:cs typeface="等线"/>
              </a:rPr>
              <a:t>）</a:t>
            </a:r>
            <a:endParaRPr sz="2350">
              <a:latin typeface="等线"/>
              <a:cs typeface="等线"/>
            </a:endParaRPr>
          </a:p>
          <a:p>
            <a:pPr marL="424180">
              <a:lnSpc>
                <a:spcPct val="100000"/>
              </a:lnSpc>
              <a:spcBef>
                <a:spcPts val="640"/>
              </a:spcBef>
            </a:pPr>
            <a:r>
              <a:rPr sz="2350" dirty="0">
                <a:latin typeface="宋体"/>
                <a:cs typeface="宋体"/>
              </a:rPr>
              <a:t>欧拉公式与平面图的判断</a:t>
            </a:r>
            <a:r>
              <a:rPr sz="2350" b="1" spc="60" dirty="0">
                <a:latin typeface="等线"/>
                <a:cs typeface="等线"/>
              </a:rPr>
              <a:t>（</a:t>
            </a:r>
            <a:r>
              <a:rPr sz="2350" b="1" spc="60" dirty="0">
                <a:latin typeface="Calibri"/>
                <a:cs typeface="Calibri"/>
              </a:rPr>
              <a:t>1</a:t>
            </a:r>
            <a:r>
              <a:rPr sz="2350" b="1" spc="90" dirty="0">
                <a:latin typeface="等线"/>
                <a:cs typeface="等线"/>
              </a:rPr>
              <a:t>学时</a:t>
            </a:r>
            <a:r>
              <a:rPr sz="2350" b="1" spc="40" dirty="0">
                <a:latin typeface="等线"/>
                <a:cs typeface="等线"/>
              </a:rPr>
              <a:t>）</a:t>
            </a:r>
            <a:endParaRPr sz="2350">
              <a:latin typeface="等线"/>
              <a:cs typeface="等线"/>
            </a:endParaRPr>
          </a:p>
          <a:p>
            <a:pPr marL="424180" marR="2118995">
              <a:lnSpc>
                <a:spcPts val="3460"/>
              </a:lnSpc>
              <a:spcBef>
                <a:spcPts val="220"/>
              </a:spcBef>
            </a:pPr>
            <a:r>
              <a:rPr sz="2350" dirty="0">
                <a:latin typeface="宋体"/>
                <a:cs typeface="宋体"/>
              </a:rPr>
              <a:t>对偶图、外平面图</a:t>
            </a:r>
            <a:r>
              <a:rPr sz="2350" b="1" spc="60" dirty="0">
                <a:latin typeface="等线"/>
                <a:cs typeface="等线"/>
              </a:rPr>
              <a:t>（</a:t>
            </a:r>
            <a:r>
              <a:rPr sz="2350" b="1" spc="60" dirty="0">
                <a:latin typeface="Calibri"/>
                <a:cs typeface="Calibri"/>
              </a:rPr>
              <a:t>1</a:t>
            </a:r>
            <a:r>
              <a:rPr sz="2350" b="1" spc="85" dirty="0">
                <a:latin typeface="等线"/>
                <a:cs typeface="等线"/>
              </a:rPr>
              <a:t>学时</a:t>
            </a:r>
            <a:r>
              <a:rPr sz="2350" b="1" spc="35" dirty="0">
                <a:latin typeface="等线"/>
                <a:cs typeface="等线"/>
              </a:rPr>
              <a:t>）</a:t>
            </a:r>
            <a:r>
              <a:rPr sz="2350" dirty="0">
                <a:latin typeface="宋体"/>
                <a:cs typeface="宋体"/>
              </a:rPr>
              <a:t>平面图与哈密顿图</a:t>
            </a:r>
            <a:r>
              <a:rPr sz="2350" b="1" spc="60" dirty="0">
                <a:latin typeface="等线"/>
                <a:cs typeface="等线"/>
              </a:rPr>
              <a:t>（</a:t>
            </a:r>
            <a:r>
              <a:rPr sz="2350" b="1" spc="60" dirty="0">
                <a:latin typeface="Calibri"/>
                <a:cs typeface="Calibri"/>
              </a:rPr>
              <a:t>1</a:t>
            </a:r>
            <a:r>
              <a:rPr sz="2350" b="1" spc="85" dirty="0">
                <a:latin typeface="等线"/>
                <a:cs typeface="等线"/>
              </a:rPr>
              <a:t>学时</a:t>
            </a:r>
            <a:r>
              <a:rPr sz="2350" b="1" spc="35" dirty="0">
                <a:latin typeface="等线"/>
                <a:cs typeface="等线"/>
              </a:rPr>
              <a:t>）</a:t>
            </a:r>
            <a:endParaRPr sz="2350">
              <a:latin typeface="等线"/>
              <a:cs typeface="等线"/>
            </a:endParaRPr>
          </a:p>
          <a:p>
            <a:pPr marL="360045" indent="-347980">
              <a:lnSpc>
                <a:spcPct val="100000"/>
              </a:lnSpc>
              <a:spcBef>
                <a:spcPts val="400"/>
              </a:spcBef>
              <a:buFont typeface="Arial"/>
              <a:buChar char="•"/>
              <a:tabLst>
                <a:tab pos="360045" algn="l"/>
                <a:tab pos="360680" algn="l"/>
              </a:tabLst>
            </a:pPr>
            <a:r>
              <a:rPr sz="2800" b="1" spc="45" dirty="0">
                <a:solidFill>
                  <a:srgbClr val="C00000"/>
                </a:solidFill>
                <a:latin typeface="等线"/>
                <a:cs typeface="等线"/>
              </a:rPr>
              <a:t>图的着色</a:t>
            </a:r>
            <a:r>
              <a:rPr sz="2800" b="1" dirty="0">
                <a:solidFill>
                  <a:srgbClr val="C00000"/>
                </a:solidFill>
                <a:latin typeface="等线"/>
                <a:cs typeface="等线"/>
              </a:rPr>
              <a:t>（</a:t>
            </a:r>
            <a:r>
              <a:rPr sz="2800" b="1" dirty="0">
                <a:solidFill>
                  <a:srgbClr val="C00000"/>
                </a:solidFill>
                <a:latin typeface="Calibri"/>
                <a:cs typeface="Calibri"/>
              </a:rPr>
              <a:t>2</a:t>
            </a:r>
            <a:r>
              <a:rPr sz="2800" b="1" spc="-10" dirty="0">
                <a:solidFill>
                  <a:srgbClr val="C00000"/>
                </a:solidFill>
                <a:latin typeface="等线"/>
                <a:cs typeface="等线"/>
              </a:rPr>
              <a:t>学时</a:t>
            </a:r>
            <a:r>
              <a:rPr sz="2800" b="1" spc="-50" dirty="0">
                <a:solidFill>
                  <a:srgbClr val="C00000"/>
                </a:solidFill>
                <a:latin typeface="等线"/>
                <a:cs typeface="等线"/>
              </a:rPr>
              <a:t>）</a:t>
            </a:r>
            <a:endParaRPr sz="2800">
              <a:latin typeface="等线"/>
              <a:cs typeface="等线"/>
            </a:endParaRPr>
          </a:p>
          <a:p>
            <a:pPr marL="424180">
              <a:lnSpc>
                <a:spcPct val="100000"/>
              </a:lnSpc>
              <a:spcBef>
                <a:spcPts val="695"/>
              </a:spcBef>
            </a:pPr>
            <a:r>
              <a:rPr sz="2350" dirty="0">
                <a:latin typeface="宋体"/>
                <a:cs typeface="宋体"/>
              </a:rPr>
              <a:t>点着色、色多项式</a:t>
            </a:r>
            <a:r>
              <a:rPr sz="2350" b="1" spc="60" dirty="0">
                <a:latin typeface="等线"/>
                <a:cs typeface="等线"/>
              </a:rPr>
              <a:t>（</a:t>
            </a:r>
            <a:r>
              <a:rPr sz="2350" b="1" spc="60" dirty="0">
                <a:latin typeface="Calibri"/>
                <a:cs typeface="Calibri"/>
              </a:rPr>
              <a:t>1</a:t>
            </a:r>
            <a:r>
              <a:rPr sz="2350" b="1" spc="85" dirty="0">
                <a:latin typeface="等线"/>
                <a:cs typeface="等线"/>
              </a:rPr>
              <a:t>学时</a:t>
            </a:r>
            <a:r>
              <a:rPr sz="2350" b="1" spc="35" dirty="0">
                <a:latin typeface="等线"/>
                <a:cs typeface="等线"/>
              </a:rPr>
              <a:t>）</a:t>
            </a:r>
            <a:endParaRPr sz="2350">
              <a:latin typeface="等线"/>
              <a:cs typeface="等线"/>
            </a:endParaRPr>
          </a:p>
          <a:p>
            <a:pPr marL="424180">
              <a:lnSpc>
                <a:spcPct val="100000"/>
              </a:lnSpc>
              <a:spcBef>
                <a:spcPts val="645"/>
              </a:spcBef>
            </a:pPr>
            <a:r>
              <a:rPr sz="2350" dirty="0">
                <a:latin typeface="宋体"/>
                <a:cs typeface="宋体"/>
              </a:rPr>
              <a:t>地图着色与平面图点着色、边着色</a:t>
            </a:r>
            <a:r>
              <a:rPr sz="2350" b="1" spc="55" dirty="0">
                <a:latin typeface="等线"/>
                <a:cs typeface="等线"/>
              </a:rPr>
              <a:t>（</a:t>
            </a:r>
            <a:r>
              <a:rPr sz="2350" b="1" spc="55" dirty="0">
                <a:latin typeface="Calibri"/>
                <a:cs typeface="Calibri"/>
              </a:rPr>
              <a:t>1</a:t>
            </a:r>
            <a:r>
              <a:rPr sz="2350" b="1" spc="85" dirty="0">
                <a:latin typeface="等线"/>
                <a:cs typeface="等线"/>
              </a:rPr>
              <a:t>学时</a:t>
            </a:r>
            <a:r>
              <a:rPr sz="2350" b="1" spc="35" dirty="0">
                <a:latin typeface="等线"/>
                <a:cs typeface="等线"/>
              </a:rPr>
              <a:t>）</a:t>
            </a:r>
            <a:endParaRPr sz="2350">
              <a:latin typeface="等线"/>
              <a:cs typeface="等线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081527" y="0"/>
            <a:ext cx="5989320" cy="1252855"/>
            <a:chOff x="3081527" y="0"/>
            <a:chExt cx="5989320" cy="125285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81527" y="0"/>
              <a:ext cx="3566160" cy="120700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07023" y="9144"/>
              <a:ext cx="1307592" cy="124358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73951" y="9144"/>
              <a:ext cx="914400" cy="1243583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647687" y="9144"/>
              <a:ext cx="1307592" cy="1243583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214616" y="0"/>
              <a:ext cx="1856231" cy="1207008"/>
            </a:xfrm>
            <a:prstGeom prst="rect">
              <a:avLst/>
            </a:prstGeom>
          </p:spPr>
        </p:pic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3423920" y="144017"/>
            <a:ext cx="527939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dirty="0"/>
              <a:t>课程进度</a:t>
            </a:r>
            <a:r>
              <a:rPr sz="4400" spc="-25" dirty="0"/>
              <a:t>（</a:t>
            </a:r>
            <a:r>
              <a:rPr sz="4400" spc="-25" dirty="0">
                <a:latin typeface="Calibri"/>
                <a:cs typeface="Calibri"/>
              </a:rPr>
              <a:t>11-12</a:t>
            </a:r>
            <a:r>
              <a:rPr sz="4400" spc="-50" dirty="0"/>
              <a:t>章）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4459" y="1185622"/>
            <a:ext cx="5948680" cy="4891405"/>
          </a:xfrm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360045" marR="5080" indent="-360045">
              <a:lnSpc>
                <a:spcPct val="121700"/>
              </a:lnSpc>
              <a:spcBef>
                <a:spcPts val="165"/>
              </a:spcBef>
              <a:buFont typeface="Arial"/>
              <a:buChar char="•"/>
              <a:tabLst>
                <a:tab pos="360045" algn="l"/>
                <a:tab pos="360680" algn="l"/>
              </a:tabLst>
            </a:pPr>
            <a:r>
              <a:rPr sz="2800" b="1" spc="15" dirty="0">
                <a:solidFill>
                  <a:srgbClr val="C00000"/>
                </a:solidFill>
                <a:latin typeface="等线"/>
                <a:cs typeface="等线"/>
              </a:rPr>
              <a:t>支配、覆盖、独立、匹配</a:t>
            </a:r>
            <a:r>
              <a:rPr sz="2800" b="1" dirty="0">
                <a:solidFill>
                  <a:srgbClr val="C00000"/>
                </a:solidFill>
                <a:latin typeface="等线"/>
                <a:cs typeface="等线"/>
              </a:rPr>
              <a:t>（</a:t>
            </a:r>
            <a:r>
              <a:rPr sz="2800" b="1" dirty="0">
                <a:solidFill>
                  <a:srgbClr val="C00000"/>
                </a:solidFill>
                <a:latin typeface="Calibri"/>
                <a:cs typeface="Calibri"/>
              </a:rPr>
              <a:t>3</a:t>
            </a:r>
            <a:r>
              <a:rPr sz="2800" b="1" dirty="0">
                <a:solidFill>
                  <a:srgbClr val="C00000"/>
                </a:solidFill>
                <a:latin typeface="等线"/>
                <a:cs typeface="等线"/>
              </a:rPr>
              <a:t>学时</a:t>
            </a:r>
            <a:r>
              <a:rPr sz="2800" b="1" spc="-50" dirty="0">
                <a:solidFill>
                  <a:srgbClr val="C00000"/>
                </a:solidFill>
                <a:latin typeface="等线"/>
                <a:cs typeface="等线"/>
              </a:rPr>
              <a:t>）</a:t>
            </a:r>
            <a:r>
              <a:rPr sz="2350" dirty="0">
                <a:latin typeface="宋体"/>
                <a:cs typeface="宋体"/>
              </a:rPr>
              <a:t>支配集、点覆盖集、点独立集</a:t>
            </a:r>
            <a:r>
              <a:rPr sz="2350" b="1" spc="60" dirty="0">
                <a:latin typeface="等线"/>
                <a:cs typeface="等线"/>
              </a:rPr>
              <a:t>（</a:t>
            </a:r>
            <a:r>
              <a:rPr sz="2350" b="1" spc="60" dirty="0">
                <a:latin typeface="Calibri"/>
                <a:cs typeface="Calibri"/>
              </a:rPr>
              <a:t>1</a:t>
            </a:r>
            <a:r>
              <a:rPr sz="2350" b="1" spc="90" dirty="0">
                <a:latin typeface="等线"/>
                <a:cs typeface="等线"/>
              </a:rPr>
              <a:t>学时</a:t>
            </a:r>
            <a:r>
              <a:rPr sz="2350" b="1" spc="40" dirty="0">
                <a:latin typeface="等线"/>
                <a:cs typeface="等线"/>
              </a:rPr>
              <a:t>）</a:t>
            </a:r>
            <a:r>
              <a:rPr sz="2350" dirty="0">
                <a:latin typeface="宋体"/>
                <a:cs typeface="宋体"/>
              </a:rPr>
              <a:t>边覆盖集与匹配</a:t>
            </a:r>
            <a:r>
              <a:rPr sz="2350" b="1" spc="60" dirty="0">
                <a:latin typeface="等线"/>
                <a:cs typeface="等线"/>
              </a:rPr>
              <a:t>（</a:t>
            </a:r>
            <a:r>
              <a:rPr sz="2350" b="1" spc="60" dirty="0">
                <a:latin typeface="Calibri"/>
                <a:cs typeface="Calibri"/>
              </a:rPr>
              <a:t>1</a:t>
            </a:r>
            <a:r>
              <a:rPr sz="2350" b="1" spc="90" dirty="0">
                <a:latin typeface="等线"/>
                <a:cs typeface="等线"/>
              </a:rPr>
              <a:t>学时</a:t>
            </a:r>
            <a:r>
              <a:rPr sz="2350" b="1" spc="40" dirty="0">
                <a:latin typeface="等线"/>
                <a:cs typeface="等线"/>
              </a:rPr>
              <a:t>）</a:t>
            </a:r>
            <a:endParaRPr sz="2350">
              <a:latin typeface="等线"/>
              <a:cs typeface="等线"/>
            </a:endParaRPr>
          </a:p>
          <a:p>
            <a:pPr marL="424180">
              <a:lnSpc>
                <a:spcPct val="100000"/>
              </a:lnSpc>
              <a:spcBef>
                <a:spcPts val="640"/>
              </a:spcBef>
            </a:pPr>
            <a:r>
              <a:rPr sz="2350" dirty="0">
                <a:latin typeface="宋体"/>
                <a:cs typeface="宋体"/>
              </a:rPr>
              <a:t>二部图中的匹配</a:t>
            </a:r>
            <a:r>
              <a:rPr sz="2350" b="1" spc="60" dirty="0">
                <a:latin typeface="等线"/>
                <a:cs typeface="等线"/>
              </a:rPr>
              <a:t>（</a:t>
            </a:r>
            <a:r>
              <a:rPr sz="2350" b="1" spc="60" dirty="0">
                <a:latin typeface="Calibri"/>
                <a:cs typeface="Calibri"/>
              </a:rPr>
              <a:t>1</a:t>
            </a:r>
            <a:r>
              <a:rPr sz="2350" b="1" spc="90" dirty="0">
                <a:latin typeface="等线"/>
                <a:cs typeface="等线"/>
              </a:rPr>
              <a:t>学时</a:t>
            </a:r>
            <a:r>
              <a:rPr sz="2350" b="1" spc="40" dirty="0">
                <a:latin typeface="等线"/>
                <a:cs typeface="等线"/>
              </a:rPr>
              <a:t>）</a:t>
            </a:r>
            <a:endParaRPr sz="2350">
              <a:latin typeface="等线"/>
              <a:cs typeface="等线"/>
            </a:endParaRPr>
          </a:p>
          <a:p>
            <a:pPr marL="360045" indent="-347980">
              <a:lnSpc>
                <a:spcPct val="100000"/>
              </a:lnSpc>
              <a:spcBef>
                <a:spcPts val="1125"/>
              </a:spcBef>
              <a:buFont typeface="Arial"/>
              <a:buChar char="•"/>
              <a:tabLst>
                <a:tab pos="360045" algn="l"/>
                <a:tab pos="360680" algn="l"/>
              </a:tabLst>
            </a:pPr>
            <a:r>
              <a:rPr sz="2800" b="1" spc="70" dirty="0">
                <a:solidFill>
                  <a:srgbClr val="C00000"/>
                </a:solidFill>
                <a:latin typeface="等线"/>
                <a:cs typeface="等线"/>
              </a:rPr>
              <a:t>带权图</a:t>
            </a:r>
            <a:r>
              <a:rPr sz="2800" b="1" dirty="0">
                <a:solidFill>
                  <a:srgbClr val="C00000"/>
                </a:solidFill>
                <a:latin typeface="等线"/>
                <a:cs typeface="等线"/>
              </a:rPr>
              <a:t>（</a:t>
            </a:r>
            <a:r>
              <a:rPr sz="2800" b="1" dirty="0">
                <a:solidFill>
                  <a:srgbClr val="C00000"/>
                </a:solidFill>
                <a:latin typeface="Calibri"/>
                <a:cs typeface="Calibri"/>
              </a:rPr>
              <a:t>1</a:t>
            </a:r>
            <a:r>
              <a:rPr sz="2800" b="1" dirty="0">
                <a:solidFill>
                  <a:srgbClr val="C00000"/>
                </a:solidFill>
                <a:latin typeface="等线"/>
                <a:cs typeface="等线"/>
              </a:rPr>
              <a:t>学时</a:t>
            </a:r>
            <a:r>
              <a:rPr sz="2800" b="1" spc="-50" dirty="0">
                <a:solidFill>
                  <a:srgbClr val="C00000"/>
                </a:solidFill>
                <a:latin typeface="等线"/>
                <a:cs typeface="等线"/>
              </a:rPr>
              <a:t>）</a:t>
            </a:r>
            <a:endParaRPr sz="2800">
              <a:latin typeface="等线"/>
              <a:cs typeface="等线"/>
            </a:endParaRPr>
          </a:p>
          <a:p>
            <a:pPr marL="424180">
              <a:lnSpc>
                <a:spcPct val="100000"/>
              </a:lnSpc>
              <a:spcBef>
                <a:spcPts val="695"/>
              </a:spcBef>
            </a:pPr>
            <a:r>
              <a:rPr sz="2350" dirty="0">
                <a:latin typeface="宋体"/>
                <a:cs typeface="宋体"/>
              </a:rPr>
              <a:t>中国邮递员问题、货郎担问</a:t>
            </a:r>
            <a:r>
              <a:rPr sz="2350" spc="-15" dirty="0">
                <a:latin typeface="宋体"/>
                <a:cs typeface="宋体"/>
              </a:rPr>
              <a:t>题 </a:t>
            </a:r>
            <a:r>
              <a:rPr sz="2350" b="1" spc="60" dirty="0">
                <a:latin typeface="等线"/>
                <a:cs typeface="等线"/>
              </a:rPr>
              <a:t>（</a:t>
            </a:r>
            <a:r>
              <a:rPr sz="2350" b="1" spc="60" dirty="0">
                <a:latin typeface="Calibri"/>
                <a:cs typeface="Calibri"/>
              </a:rPr>
              <a:t>1</a:t>
            </a:r>
            <a:r>
              <a:rPr sz="2350" b="1" spc="90" dirty="0">
                <a:latin typeface="等线"/>
                <a:cs typeface="等线"/>
              </a:rPr>
              <a:t>学时</a:t>
            </a:r>
            <a:r>
              <a:rPr sz="2350" b="1" spc="40" dirty="0">
                <a:latin typeface="等线"/>
                <a:cs typeface="等线"/>
              </a:rPr>
              <a:t>）</a:t>
            </a:r>
            <a:endParaRPr sz="2350">
              <a:latin typeface="等线"/>
              <a:cs typeface="等线"/>
            </a:endParaRPr>
          </a:p>
          <a:p>
            <a:pPr marL="360045" indent="-347980">
              <a:lnSpc>
                <a:spcPct val="100000"/>
              </a:lnSpc>
              <a:spcBef>
                <a:spcPts val="1200"/>
              </a:spcBef>
              <a:buFont typeface="Arial"/>
              <a:buChar char="•"/>
              <a:tabLst>
                <a:tab pos="360045" algn="l"/>
                <a:tab pos="360680" algn="l"/>
              </a:tabLst>
            </a:pPr>
            <a:r>
              <a:rPr sz="2800" b="1" spc="25" dirty="0">
                <a:solidFill>
                  <a:srgbClr val="C00000"/>
                </a:solidFill>
                <a:latin typeface="等线"/>
                <a:cs typeface="等线"/>
              </a:rPr>
              <a:t>图论总结复习</a:t>
            </a:r>
            <a:r>
              <a:rPr sz="2800" b="1" dirty="0">
                <a:solidFill>
                  <a:srgbClr val="C00000"/>
                </a:solidFill>
                <a:latin typeface="等线"/>
                <a:cs typeface="等线"/>
              </a:rPr>
              <a:t>（</a:t>
            </a:r>
            <a:r>
              <a:rPr sz="2800" b="1" dirty="0">
                <a:solidFill>
                  <a:srgbClr val="C00000"/>
                </a:solidFill>
                <a:latin typeface="Calibri"/>
                <a:cs typeface="Calibri"/>
              </a:rPr>
              <a:t>2</a:t>
            </a:r>
            <a:r>
              <a:rPr sz="2800" b="1" spc="-10" dirty="0">
                <a:solidFill>
                  <a:srgbClr val="C00000"/>
                </a:solidFill>
                <a:latin typeface="等线"/>
                <a:cs typeface="等线"/>
              </a:rPr>
              <a:t>学时</a:t>
            </a:r>
            <a:r>
              <a:rPr sz="2800" b="1" spc="-50" dirty="0">
                <a:solidFill>
                  <a:srgbClr val="C00000"/>
                </a:solidFill>
                <a:latin typeface="等线"/>
                <a:cs typeface="等线"/>
              </a:rPr>
              <a:t>）</a:t>
            </a:r>
            <a:endParaRPr sz="2800">
              <a:latin typeface="等线"/>
              <a:cs typeface="等线"/>
            </a:endParaRPr>
          </a:p>
          <a:p>
            <a:pPr marL="351155" marR="2678430">
              <a:lnSpc>
                <a:spcPts val="3750"/>
              </a:lnSpc>
              <a:spcBef>
                <a:spcPts val="120"/>
              </a:spcBef>
            </a:pPr>
            <a:r>
              <a:rPr sz="2350" dirty="0">
                <a:latin typeface="宋体"/>
                <a:cs typeface="宋体"/>
              </a:rPr>
              <a:t>图论的总结</a:t>
            </a:r>
            <a:r>
              <a:rPr sz="2350" b="1" spc="55" dirty="0">
                <a:latin typeface="等线"/>
                <a:cs typeface="等线"/>
              </a:rPr>
              <a:t>（</a:t>
            </a:r>
            <a:r>
              <a:rPr sz="2350" b="1" spc="55" dirty="0">
                <a:latin typeface="Calibri"/>
                <a:cs typeface="Calibri"/>
              </a:rPr>
              <a:t>1</a:t>
            </a:r>
            <a:r>
              <a:rPr sz="2350" b="1" spc="85" dirty="0">
                <a:latin typeface="等线"/>
                <a:cs typeface="等线"/>
              </a:rPr>
              <a:t>学时</a:t>
            </a:r>
            <a:r>
              <a:rPr sz="2350" b="1" spc="35" dirty="0">
                <a:latin typeface="等线"/>
                <a:cs typeface="等线"/>
              </a:rPr>
              <a:t>）</a:t>
            </a:r>
            <a:r>
              <a:rPr sz="2350" dirty="0">
                <a:latin typeface="宋体"/>
                <a:cs typeface="宋体"/>
              </a:rPr>
              <a:t>图论习题课</a:t>
            </a:r>
            <a:r>
              <a:rPr sz="2350" b="1" spc="55" dirty="0">
                <a:latin typeface="等线"/>
                <a:cs typeface="等线"/>
              </a:rPr>
              <a:t>（</a:t>
            </a:r>
            <a:r>
              <a:rPr sz="2350" b="1" spc="55" dirty="0">
                <a:latin typeface="Calibri"/>
                <a:cs typeface="Calibri"/>
              </a:rPr>
              <a:t>1</a:t>
            </a:r>
            <a:r>
              <a:rPr sz="2350" b="1" spc="85" dirty="0">
                <a:latin typeface="等线"/>
                <a:cs typeface="等线"/>
              </a:rPr>
              <a:t>学时</a:t>
            </a:r>
            <a:r>
              <a:rPr sz="2350" b="1" spc="35" dirty="0">
                <a:latin typeface="等线"/>
                <a:cs typeface="等线"/>
              </a:rPr>
              <a:t>）</a:t>
            </a:r>
            <a:endParaRPr sz="2350">
              <a:latin typeface="等线"/>
              <a:cs typeface="等线"/>
            </a:endParaRPr>
          </a:p>
          <a:p>
            <a:pPr marL="360045" indent="-347980">
              <a:lnSpc>
                <a:spcPct val="100000"/>
              </a:lnSpc>
              <a:spcBef>
                <a:spcPts val="720"/>
              </a:spcBef>
              <a:buFont typeface="Arial"/>
              <a:buChar char="•"/>
              <a:tabLst>
                <a:tab pos="360045" algn="l"/>
                <a:tab pos="360680" algn="l"/>
              </a:tabLst>
            </a:pPr>
            <a:r>
              <a:rPr sz="2350" b="1" spc="85" dirty="0">
                <a:solidFill>
                  <a:srgbClr val="C00000"/>
                </a:solidFill>
                <a:latin typeface="等线"/>
                <a:cs typeface="等线"/>
              </a:rPr>
              <a:t>课程总结</a:t>
            </a:r>
            <a:r>
              <a:rPr sz="2350" b="1" spc="55" dirty="0">
                <a:solidFill>
                  <a:srgbClr val="C00000"/>
                </a:solidFill>
                <a:latin typeface="等线"/>
                <a:cs typeface="等线"/>
              </a:rPr>
              <a:t>（</a:t>
            </a:r>
            <a:r>
              <a:rPr sz="2350" b="1" spc="55" dirty="0">
                <a:solidFill>
                  <a:srgbClr val="C00000"/>
                </a:solidFill>
                <a:latin typeface="Calibri"/>
                <a:cs typeface="Calibri"/>
              </a:rPr>
              <a:t>2</a:t>
            </a:r>
            <a:r>
              <a:rPr sz="2350" b="1" spc="85" dirty="0">
                <a:solidFill>
                  <a:srgbClr val="C00000"/>
                </a:solidFill>
                <a:latin typeface="等线"/>
                <a:cs typeface="等线"/>
              </a:rPr>
              <a:t>学</a:t>
            </a:r>
            <a:r>
              <a:rPr sz="2350" b="1" dirty="0">
                <a:solidFill>
                  <a:srgbClr val="C00000"/>
                </a:solidFill>
                <a:latin typeface="等线"/>
                <a:cs typeface="等线"/>
              </a:rPr>
              <a:t>时</a:t>
            </a:r>
            <a:r>
              <a:rPr sz="2350" b="1" spc="-50" dirty="0">
                <a:solidFill>
                  <a:srgbClr val="C00000"/>
                </a:solidFill>
                <a:latin typeface="等线"/>
                <a:cs typeface="等线"/>
              </a:rPr>
              <a:t>）</a:t>
            </a:r>
            <a:endParaRPr sz="2350">
              <a:latin typeface="等线"/>
              <a:cs typeface="等线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3145789" y="288671"/>
            <a:ext cx="527939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dirty="0"/>
              <a:t>课程进度</a:t>
            </a:r>
            <a:r>
              <a:rPr sz="4400" spc="-25" dirty="0"/>
              <a:t>（</a:t>
            </a:r>
            <a:r>
              <a:rPr sz="4400" spc="-25" dirty="0">
                <a:latin typeface="Calibri"/>
                <a:cs typeface="Calibri"/>
              </a:rPr>
              <a:t>13-14</a:t>
            </a:r>
            <a:r>
              <a:rPr sz="4400" spc="-50" dirty="0"/>
              <a:t>章）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396232" y="182117"/>
            <a:ext cx="3430904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dirty="0"/>
              <a:t>教材与参考</a:t>
            </a:r>
            <a:r>
              <a:rPr sz="4400" spc="-50" dirty="0"/>
              <a:t>书</a:t>
            </a:r>
            <a:endParaRPr sz="440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5255" rIns="0" bIns="0" rtlCol="0">
            <a:spAutoFit/>
          </a:bodyPr>
          <a:lstStyle/>
          <a:p>
            <a:pPr marL="708025" indent="-347980">
              <a:lnSpc>
                <a:spcPct val="100000"/>
              </a:lnSpc>
              <a:spcBef>
                <a:spcPts val="1065"/>
              </a:spcBef>
              <a:buFont typeface="Arial"/>
              <a:buChar char="•"/>
              <a:tabLst>
                <a:tab pos="708025" algn="l"/>
                <a:tab pos="708660" algn="l"/>
              </a:tabLst>
            </a:pPr>
            <a:r>
              <a:rPr spc="40" dirty="0"/>
              <a:t>教材</a:t>
            </a:r>
          </a:p>
          <a:p>
            <a:pPr marL="1101725" marR="288925" lvl="1" indent="-283845">
              <a:lnSpc>
                <a:spcPct val="117600"/>
              </a:lnSpc>
              <a:spcBef>
                <a:spcPts val="340"/>
              </a:spcBef>
              <a:buFont typeface="Arial"/>
              <a:buChar char="–"/>
              <a:tabLst>
                <a:tab pos="1102360" algn="l"/>
              </a:tabLst>
            </a:pPr>
            <a:r>
              <a:rPr sz="2350" b="1" spc="90" dirty="0">
                <a:latin typeface="等线"/>
                <a:cs typeface="等线"/>
              </a:rPr>
              <a:t>《离散数学教</a:t>
            </a:r>
            <a:r>
              <a:rPr sz="2350" b="1" spc="20" dirty="0">
                <a:latin typeface="等线"/>
                <a:cs typeface="等线"/>
              </a:rPr>
              <a:t>程》，耿素云、屈婉玲、王捍贫，北</a:t>
            </a:r>
            <a:r>
              <a:rPr sz="2350" b="1" spc="90" dirty="0">
                <a:latin typeface="等线"/>
                <a:cs typeface="等线"/>
              </a:rPr>
              <a:t>京大学出版社</a:t>
            </a:r>
            <a:r>
              <a:rPr sz="2350" b="1" spc="-10" dirty="0">
                <a:latin typeface="等线"/>
                <a:cs typeface="等线"/>
              </a:rPr>
              <a:t>，</a:t>
            </a:r>
            <a:r>
              <a:rPr sz="2350" spc="-10" dirty="0">
                <a:latin typeface="Arial"/>
                <a:cs typeface="Arial"/>
              </a:rPr>
              <a:t>2004.</a:t>
            </a:r>
            <a:endParaRPr sz="2350">
              <a:latin typeface="Arial"/>
              <a:cs typeface="Arial"/>
            </a:endParaRPr>
          </a:p>
          <a:p>
            <a:pPr marL="708025" indent="-347980">
              <a:lnSpc>
                <a:spcPct val="100000"/>
              </a:lnSpc>
              <a:spcBef>
                <a:spcPts val="1995"/>
              </a:spcBef>
              <a:buFont typeface="Arial"/>
              <a:buChar char="•"/>
              <a:tabLst>
                <a:tab pos="708025" algn="l"/>
                <a:tab pos="708660" algn="l"/>
              </a:tabLst>
            </a:pPr>
            <a:r>
              <a:rPr spc="50" dirty="0"/>
              <a:t>参考书</a:t>
            </a:r>
          </a:p>
          <a:p>
            <a:pPr marL="1101725" lvl="1" indent="-284480">
              <a:lnSpc>
                <a:spcPct val="100000"/>
              </a:lnSpc>
              <a:spcBef>
                <a:spcPts val="910"/>
              </a:spcBef>
              <a:buFont typeface="Arial"/>
              <a:buChar char="–"/>
              <a:tabLst>
                <a:tab pos="1102360" algn="l"/>
              </a:tabLst>
            </a:pPr>
            <a:r>
              <a:rPr sz="2350" b="1" spc="10" dirty="0">
                <a:latin typeface="等线"/>
                <a:cs typeface="等线"/>
              </a:rPr>
              <a:t>《离散数学习题解析》，屈婉玲，耿素云，王捍贫，</a:t>
            </a:r>
            <a:endParaRPr sz="2350">
              <a:latin typeface="等线"/>
              <a:cs typeface="等线"/>
            </a:endParaRPr>
          </a:p>
          <a:p>
            <a:pPr marL="1101725">
              <a:lnSpc>
                <a:spcPct val="100000"/>
              </a:lnSpc>
              <a:spcBef>
                <a:spcPts val="640"/>
              </a:spcBef>
            </a:pPr>
            <a:r>
              <a:rPr sz="2350" spc="85" dirty="0">
                <a:solidFill>
                  <a:srgbClr val="000000"/>
                </a:solidFill>
              </a:rPr>
              <a:t>刘田，北京大学</a:t>
            </a:r>
            <a:r>
              <a:rPr sz="2350" spc="25" dirty="0">
                <a:solidFill>
                  <a:srgbClr val="000000"/>
                </a:solidFill>
              </a:rPr>
              <a:t>出版社</a:t>
            </a:r>
            <a:r>
              <a:rPr sz="2350" b="0" spc="-10" dirty="0">
                <a:solidFill>
                  <a:srgbClr val="000000"/>
                </a:solidFill>
                <a:latin typeface="宋体"/>
                <a:cs typeface="宋体"/>
              </a:rPr>
              <a:t>，</a:t>
            </a:r>
            <a:r>
              <a:rPr sz="2350" b="0" spc="-10" dirty="0">
                <a:solidFill>
                  <a:srgbClr val="000000"/>
                </a:solidFill>
                <a:latin typeface="Arial"/>
                <a:cs typeface="Arial"/>
              </a:rPr>
              <a:t>2008.</a:t>
            </a:r>
            <a:endParaRPr sz="23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749928" y="163195"/>
            <a:ext cx="4279900" cy="11410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5140"/>
              </a:lnSpc>
              <a:spcBef>
                <a:spcPts val="95"/>
              </a:spcBef>
            </a:pPr>
            <a:r>
              <a:rPr sz="4400" dirty="0"/>
              <a:t>网上教学平</a:t>
            </a:r>
            <a:r>
              <a:rPr sz="4400" spc="-50" dirty="0"/>
              <a:t>台</a:t>
            </a:r>
            <a:endParaRPr sz="4400"/>
          </a:p>
          <a:p>
            <a:pPr marL="21590">
              <a:lnSpc>
                <a:spcPts val="3640"/>
              </a:lnSpc>
            </a:pPr>
            <a:r>
              <a:rPr sz="3150" b="0" spc="-10" dirty="0">
                <a:latin typeface="Calibri"/>
                <a:cs typeface="Calibri"/>
                <a:hlinkClick r:id="rId2"/>
              </a:rPr>
              <a:t>http://course.pku.edu.cn/</a:t>
            </a:r>
            <a:endParaRPr sz="315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42032" y="1344167"/>
            <a:ext cx="6126480" cy="240487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32103" y="4215384"/>
            <a:ext cx="7415783" cy="187452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512610" y="1614131"/>
            <a:ext cx="6689725" cy="2618740"/>
          </a:xfrm>
          <a:prstGeom prst="rect">
            <a:avLst/>
          </a:prstGeom>
        </p:spPr>
        <p:txBody>
          <a:bodyPr vert="horz" wrap="square" lIns="0" tIns="1663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10"/>
              </a:spcBef>
            </a:pPr>
            <a:r>
              <a:rPr sz="2350" b="1" spc="90" dirty="0">
                <a:latin typeface="等线"/>
                <a:cs typeface="等线"/>
              </a:rPr>
              <a:t>内容包括</a:t>
            </a:r>
            <a:r>
              <a:rPr sz="2350" b="1" spc="-50" dirty="0">
                <a:latin typeface="Arial"/>
                <a:cs typeface="Arial"/>
              </a:rPr>
              <a:t>:</a:t>
            </a:r>
            <a:endParaRPr sz="2350">
              <a:latin typeface="Arial"/>
              <a:cs typeface="Arial"/>
            </a:endParaRPr>
          </a:p>
          <a:p>
            <a:pPr marL="12700" marR="5424170" algn="just">
              <a:lnSpc>
                <a:spcPts val="4110"/>
              </a:lnSpc>
              <a:spcBef>
                <a:spcPts val="280"/>
              </a:spcBef>
            </a:pPr>
            <a:r>
              <a:rPr sz="2350" b="1" spc="90" dirty="0">
                <a:latin typeface="等线"/>
                <a:cs typeface="等线"/>
              </a:rPr>
              <a:t>课件发</a:t>
            </a:r>
            <a:r>
              <a:rPr sz="2350" b="1" spc="40" dirty="0">
                <a:latin typeface="等线"/>
                <a:cs typeface="等线"/>
              </a:rPr>
              <a:t>布</a:t>
            </a:r>
            <a:r>
              <a:rPr sz="2350" b="1" spc="90" dirty="0">
                <a:latin typeface="等线"/>
                <a:cs typeface="等线"/>
              </a:rPr>
              <a:t>作业布</a:t>
            </a:r>
            <a:r>
              <a:rPr sz="2350" b="1" spc="40" dirty="0">
                <a:latin typeface="等线"/>
                <a:cs typeface="等线"/>
              </a:rPr>
              <a:t>置</a:t>
            </a:r>
            <a:r>
              <a:rPr sz="2350" b="1" spc="85" dirty="0">
                <a:latin typeface="等线"/>
                <a:cs typeface="等线"/>
              </a:rPr>
              <a:t>通</a:t>
            </a:r>
            <a:r>
              <a:rPr sz="2350" b="1" spc="35" dirty="0">
                <a:latin typeface="等线"/>
                <a:cs typeface="等线"/>
              </a:rPr>
              <a:t>知</a:t>
            </a:r>
            <a:endParaRPr sz="2350">
              <a:latin typeface="等线"/>
              <a:cs typeface="等线"/>
            </a:endParaRPr>
          </a:p>
          <a:p>
            <a:pPr marL="1156970">
              <a:lnSpc>
                <a:spcPts val="3775"/>
              </a:lnSpc>
            </a:pPr>
            <a:r>
              <a:rPr sz="3150" spc="-10" dirty="0">
                <a:solidFill>
                  <a:srgbClr val="C00000"/>
                </a:solidFill>
                <a:latin typeface="Calibri"/>
                <a:cs typeface="Calibri"/>
                <a:hlinkClick r:id="rId5"/>
              </a:rPr>
              <a:t>http://www.ontoedu.pku.edu.cn/</a:t>
            </a:r>
            <a:endParaRPr sz="315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spc="-25" dirty="0"/>
              <a:t>19</a:t>
            </a:fld>
            <a:endParaRPr spc="-2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438652" y="252425"/>
            <a:ext cx="509587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25" dirty="0"/>
              <a:t>教师及助教联系方法</a:t>
            </a:r>
            <a:endParaRPr sz="440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spc="-25" dirty="0"/>
              <a:t>20</a:t>
            </a:fld>
            <a:endParaRPr spc="-25" dirty="0"/>
          </a:p>
        </p:txBody>
      </p:sp>
      <p:sp>
        <p:nvSpPr>
          <p:cNvPr id="4" name="object 4"/>
          <p:cNvSpPr txBox="1"/>
          <p:nvPr/>
        </p:nvSpPr>
        <p:spPr>
          <a:xfrm>
            <a:off x="619175" y="1292348"/>
            <a:ext cx="4528820" cy="4277360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295910" indent="-283845">
              <a:lnSpc>
                <a:spcPct val="100000"/>
              </a:lnSpc>
              <a:spcBef>
                <a:spcPts val="810"/>
              </a:spcBef>
              <a:buClr>
                <a:srgbClr val="2E2E2E"/>
              </a:buClr>
              <a:buSzPct val="75000"/>
              <a:buFont typeface="Wingdings"/>
              <a:buChar char=""/>
              <a:tabLst>
                <a:tab pos="296545" algn="l"/>
              </a:tabLst>
            </a:pPr>
            <a:r>
              <a:rPr sz="2800" b="1" spc="40" dirty="0">
                <a:latin typeface="等线"/>
                <a:cs typeface="等线"/>
              </a:rPr>
              <a:t>刘田</a:t>
            </a:r>
            <a:endParaRPr sz="2800">
              <a:latin typeface="等线"/>
              <a:cs typeface="等线"/>
            </a:endParaRPr>
          </a:p>
          <a:p>
            <a:pPr marL="469900" marR="615315">
              <a:lnSpc>
                <a:spcPts val="3460"/>
              </a:lnSpc>
              <a:spcBef>
                <a:spcPts val="204"/>
              </a:spcBef>
            </a:pPr>
            <a:r>
              <a:rPr sz="2350" dirty="0">
                <a:latin typeface="宋体"/>
                <a:cs typeface="宋体"/>
              </a:rPr>
              <a:t>办公室：理科一号楼</a:t>
            </a:r>
            <a:r>
              <a:rPr sz="2350" spc="-20" dirty="0">
                <a:latin typeface="Arial"/>
                <a:cs typeface="Arial"/>
              </a:rPr>
              <a:t>1625</a:t>
            </a:r>
            <a:r>
              <a:rPr sz="2350" dirty="0">
                <a:latin typeface="宋体"/>
                <a:cs typeface="宋体"/>
              </a:rPr>
              <a:t>电子邮件</a:t>
            </a:r>
            <a:r>
              <a:rPr sz="2350" spc="-10" dirty="0">
                <a:latin typeface="宋体"/>
                <a:cs typeface="宋体"/>
              </a:rPr>
              <a:t>：</a:t>
            </a:r>
            <a:r>
              <a:rPr sz="2350" spc="-10" dirty="0">
                <a:latin typeface="Arial"/>
                <a:cs typeface="Arial"/>
                <a:hlinkClick r:id="rId2"/>
              </a:rPr>
              <a:t>lt@pku.edu.cn</a:t>
            </a:r>
            <a:endParaRPr sz="2350">
              <a:latin typeface="Arial"/>
              <a:cs typeface="Arial"/>
            </a:endParaRPr>
          </a:p>
          <a:p>
            <a:pPr marL="295910" indent="-283845">
              <a:lnSpc>
                <a:spcPct val="100000"/>
              </a:lnSpc>
              <a:spcBef>
                <a:spcPts val="1630"/>
              </a:spcBef>
              <a:buClr>
                <a:srgbClr val="2E2E2E"/>
              </a:buClr>
              <a:buSzPct val="75000"/>
              <a:buFont typeface="Wingdings"/>
              <a:buChar char=""/>
              <a:tabLst>
                <a:tab pos="296545" algn="l"/>
              </a:tabLst>
            </a:pPr>
            <a:r>
              <a:rPr sz="2800" b="1" spc="40" dirty="0">
                <a:latin typeface="等线"/>
                <a:cs typeface="等线"/>
              </a:rPr>
              <a:t>助教</a:t>
            </a:r>
            <a:endParaRPr sz="2800">
              <a:latin typeface="等线"/>
              <a:cs typeface="等线"/>
            </a:endParaRPr>
          </a:p>
          <a:p>
            <a:pPr marL="433070">
              <a:lnSpc>
                <a:spcPct val="100000"/>
              </a:lnSpc>
              <a:spcBef>
                <a:spcPts val="625"/>
              </a:spcBef>
            </a:pPr>
            <a:r>
              <a:rPr sz="2350" dirty="0">
                <a:latin typeface="宋体"/>
                <a:cs typeface="宋体"/>
              </a:rPr>
              <a:t>卢钊</a:t>
            </a:r>
            <a:r>
              <a:rPr sz="2350" spc="-10" dirty="0">
                <a:latin typeface="宋体"/>
                <a:cs typeface="宋体"/>
              </a:rPr>
              <a:t>：</a:t>
            </a:r>
            <a:r>
              <a:rPr sz="2350" spc="-10" dirty="0">
                <a:latin typeface="Arial"/>
                <a:cs typeface="Arial"/>
              </a:rPr>
              <a:t>luzhaopku@163.com</a:t>
            </a:r>
            <a:endParaRPr sz="2350">
              <a:latin typeface="Arial"/>
              <a:cs typeface="Arial"/>
            </a:endParaRPr>
          </a:p>
          <a:p>
            <a:pPr marL="433070">
              <a:lnSpc>
                <a:spcPct val="100000"/>
              </a:lnSpc>
              <a:spcBef>
                <a:spcPts val="635"/>
              </a:spcBef>
            </a:pPr>
            <a:r>
              <a:rPr sz="2350" dirty="0">
                <a:latin typeface="宋体"/>
                <a:cs typeface="宋体"/>
              </a:rPr>
              <a:t>陆敏</a:t>
            </a:r>
            <a:r>
              <a:rPr sz="2350" spc="-10" dirty="0">
                <a:latin typeface="宋体"/>
                <a:cs typeface="宋体"/>
              </a:rPr>
              <a:t>：</a:t>
            </a:r>
            <a:r>
              <a:rPr sz="2350" spc="-10" dirty="0">
                <a:latin typeface="Arial"/>
                <a:cs typeface="Arial"/>
              </a:rPr>
              <a:t>lummy@pku.edu.cn</a:t>
            </a:r>
            <a:endParaRPr sz="2350">
              <a:latin typeface="Arial"/>
              <a:cs typeface="Arial"/>
            </a:endParaRPr>
          </a:p>
          <a:p>
            <a:pPr marL="433070" marR="5080" algn="just">
              <a:lnSpc>
                <a:spcPct val="122700"/>
              </a:lnSpc>
            </a:pPr>
            <a:r>
              <a:rPr sz="2350" dirty="0">
                <a:latin typeface="宋体"/>
                <a:cs typeface="宋体"/>
              </a:rPr>
              <a:t>王超一</a:t>
            </a:r>
            <a:r>
              <a:rPr sz="2350" spc="-10" dirty="0">
                <a:latin typeface="宋体"/>
                <a:cs typeface="宋体"/>
              </a:rPr>
              <a:t>：</a:t>
            </a:r>
            <a:r>
              <a:rPr sz="2350" spc="-10" dirty="0">
                <a:latin typeface="Arial"/>
                <a:cs typeface="Arial"/>
                <a:hlinkClick r:id="rId3"/>
              </a:rPr>
              <a:t>wchaoyi@pku.edu.cn</a:t>
            </a:r>
            <a:r>
              <a:rPr sz="2350" dirty="0">
                <a:latin typeface="宋体"/>
                <a:cs typeface="宋体"/>
              </a:rPr>
              <a:t>刘亚雄</a:t>
            </a:r>
            <a:r>
              <a:rPr sz="2350" spc="-10" dirty="0">
                <a:latin typeface="宋体"/>
                <a:cs typeface="宋体"/>
              </a:rPr>
              <a:t>：</a:t>
            </a:r>
            <a:r>
              <a:rPr sz="2350" spc="-10" dirty="0">
                <a:latin typeface="Arial"/>
                <a:cs typeface="Arial"/>
              </a:rPr>
              <a:t>hupo250@gmail.com</a:t>
            </a:r>
            <a:r>
              <a:rPr sz="2350" b="1" spc="90" dirty="0">
                <a:latin typeface="等线"/>
                <a:cs typeface="等线"/>
              </a:rPr>
              <a:t>实验室：理科一</a:t>
            </a:r>
            <a:r>
              <a:rPr sz="2350" b="1" spc="45" dirty="0">
                <a:latin typeface="等线"/>
                <a:cs typeface="等线"/>
              </a:rPr>
              <a:t>号楼</a:t>
            </a:r>
            <a:r>
              <a:rPr sz="2350" spc="-20" dirty="0">
                <a:latin typeface="Arial"/>
                <a:cs typeface="Arial"/>
              </a:rPr>
              <a:t>1708</a:t>
            </a:r>
            <a:endParaRPr sz="23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Words>827</Words>
  <Application>Microsoft Office PowerPoint</Application>
  <PresentationFormat>全屏显示(4:3)</PresentationFormat>
  <Paragraphs>193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8" baseType="lpstr">
      <vt:lpstr>Microsoft JhengHei</vt:lpstr>
      <vt:lpstr>等线</vt:lpstr>
      <vt:lpstr>宋体</vt:lpstr>
      <vt:lpstr>Arial</vt:lpstr>
      <vt:lpstr>Calibri</vt:lpstr>
      <vt:lpstr>Times New Roman</vt:lpstr>
      <vt:lpstr>Wingdings</vt:lpstr>
      <vt:lpstr>Office Theme</vt:lpstr>
      <vt:lpstr>PowerPoint 演示文稿</vt:lpstr>
      <vt:lpstr>引 言</vt:lpstr>
      <vt:lpstr>集合论的主要内容</vt:lpstr>
      <vt:lpstr>图论的主要内容</vt:lpstr>
      <vt:lpstr>集合论的主要模块</vt:lpstr>
      <vt:lpstr>图论的主要模块</vt:lpstr>
      <vt:lpstr>集合论中的问题</vt:lpstr>
      <vt:lpstr>图论中的问题</vt:lpstr>
      <vt:lpstr>过河问题</vt:lpstr>
      <vt:lpstr>用图来表示问题的解</vt:lpstr>
      <vt:lpstr>学习目标与安排</vt:lpstr>
      <vt:lpstr>课程进度（1章）</vt:lpstr>
      <vt:lpstr>课程进度（2-3章）</vt:lpstr>
      <vt:lpstr>课程进度（4-6章）</vt:lpstr>
      <vt:lpstr>课程进度（7-10章）</vt:lpstr>
      <vt:lpstr>课程进度（11-12章）</vt:lpstr>
      <vt:lpstr>课程进度（13-14章）</vt:lpstr>
      <vt:lpstr>教材与参考书</vt:lpstr>
      <vt:lpstr>网上教学平台 http://course.pku.edu.cn/</vt:lpstr>
      <vt:lpstr>教师及助教联系方法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cp:lastModifiedBy>澪 懿</cp:lastModifiedBy>
  <cp:revision>1</cp:revision>
  <dcterms:created xsi:type="dcterms:W3CDTF">2023-02-03T01:28:43Z</dcterms:created>
  <dcterms:modified xsi:type="dcterms:W3CDTF">2023-02-03T01:32:37Z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2018-01-29T00:00:00Z</vt:filetime>
  </property>
  <property fmtid="{D5CDD505-2E9C-101B-9397-08002B2CF9AE}" pid="3" name="Creator">
    <vt:lpwstr>PDFium</vt:lpwstr>
  </property>
  <property fmtid="{D5CDD505-2E9C-101B-9397-08002B2CF9AE}" pid="4" name="LastSaved">
    <vt:filetime>2018-01-29T00:00:00Z</vt:filetime>
  </property>
</Properties>
</file>