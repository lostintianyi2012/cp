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9" r:id="rId1"/>
  </p:sldMasterIdLst>
  <p:notesMasterIdLst>
    <p:notesMasterId r:id="rId23"/>
  </p:notesMasterIdLst>
  <p:sldIdLst>
    <p:sldId id="309" r:id="rId2"/>
    <p:sldId id="310" r:id="rId3"/>
    <p:sldId id="311" r:id="rId4"/>
    <p:sldId id="312" r:id="rId5"/>
    <p:sldId id="313" r:id="rId6"/>
    <p:sldId id="314" r:id="rId7"/>
    <p:sldId id="315" r:id="rId8"/>
    <p:sldId id="316" r:id="rId9"/>
    <p:sldId id="317" r:id="rId10"/>
    <p:sldId id="318" r:id="rId11"/>
    <p:sldId id="319" r:id="rId12"/>
    <p:sldId id="320" r:id="rId13"/>
    <p:sldId id="321" r:id="rId14"/>
    <p:sldId id="322" r:id="rId15"/>
    <p:sldId id="323" r:id="rId16"/>
    <p:sldId id="324" r:id="rId17"/>
    <p:sldId id="325" r:id="rId18"/>
    <p:sldId id="326" r:id="rId19"/>
    <p:sldId id="327" r:id="rId20"/>
    <p:sldId id="328" r:id="rId21"/>
    <p:sldId id="329" r:id="rId22"/>
  </p:sldIdLst>
  <p:sldSz cx="9144000" cy="6858000" type="screen4x3"/>
  <p:notesSz cx="7099300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6600"/>
    <a:srgbClr val="008000"/>
    <a:srgbClr val="669900"/>
    <a:srgbClr val="99CC00"/>
    <a:srgbClr val="CC0000"/>
    <a:srgbClr val="FFD54F"/>
    <a:srgbClr val="4D4D4D"/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32" autoAdjust="0"/>
    <p:restoredTop sz="93231" autoAdjust="0"/>
  </p:normalViewPr>
  <p:slideViewPr>
    <p:cSldViewPr>
      <p:cViewPr varScale="1">
        <p:scale>
          <a:sx n="80" d="100"/>
          <a:sy n="80" d="100"/>
        </p:scale>
        <p:origin x="1301" y="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4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Relationship Id="rId4" Type="http://schemas.openxmlformats.org/officeDocument/2006/relationships/image" Target="../media/image10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8A013541-CDE8-4B19-91BF-C1B17E7BD52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BB9F64E-CB8D-4B67-A6BB-5B66FBB4BDA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CC18404F-90F7-4999-B3A9-EFC390DE7413}" type="datetimeFigureOut">
              <a:rPr lang="zh-CN" altLang="en-US"/>
              <a:pPr>
                <a:defRPr/>
              </a:pPr>
              <a:t>2020/7/6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09C87D74-3570-42FC-8AA4-5A01926199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392913D3-BB2D-4313-8181-FDF6AC5849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vert="horz" lIns="99048" tIns="49524" rIns="99048" bIns="49524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89B605C-AE3D-4DD8-A57A-259304EA568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214FD49-5007-47FC-8875-75EA54292C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fld id="{3AA51944-46E5-4572-B88A-D0456554D54B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>
            <a:extLst>
              <a:ext uri="{FF2B5EF4-FFF2-40B4-BE49-F238E27FC236}">
                <a16:creationId xmlns:a16="http://schemas.microsoft.com/office/drawing/2014/main" id="{A0123577-0B74-41FB-9185-97E0204169F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7D2BAFB-5D1C-46A0-B565-B9C0C482684C}" type="slidenum">
              <a:rPr lang="en-US" altLang="zh-CN"/>
              <a:pPr eaLnBrk="1" hangingPunct="1"/>
              <a:t>1</a:t>
            </a:fld>
            <a:endParaRPr lang="en-US" altLang="zh-CN"/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82A79A92-9764-4AED-B761-6EA789CF1D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98E0270A-49EA-476B-B6E5-BEA3D33EAD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>
            <a:extLst>
              <a:ext uri="{FF2B5EF4-FFF2-40B4-BE49-F238E27FC236}">
                <a16:creationId xmlns:a16="http://schemas.microsoft.com/office/drawing/2014/main" id="{6CBF978B-A00E-4DD9-8450-D2FABB59997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FB8D0E3-D87F-40FF-8045-148B7463DAF9}" type="slidenum">
              <a:rPr lang="en-US" altLang="zh-CN"/>
              <a:pPr eaLnBrk="1" hangingPunct="1"/>
              <a:t>2</a:t>
            </a:fld>
            <a:endParaRPr lang="en-US" altLang="zh-CN"/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19BA0572-A8E1-4455-9D6F-5560435BD2D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A8EE85A9-3C85-400F-9C5C-3E4A277FE5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id="{2F28798B-A877-4E83-829E-4471D171A89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B10DBB8-7C39-4F45-93AF-DB9D8C06A487}" type="slidenum">
              <a:rPr lang="en-US" altLang="zh-CN"/>
              <a:pPr eaLnBrk="1" hangingPunct="1"/>
              <a:t>3</a:t>
            </a:fld>
            <a:endParaRPr lang="en-US" altLang="zh-CN"/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915706EB-73CC-468E-BD34-4D20B3EC29F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90709419-C14A-43EA-8256-8954C705F2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>
            <a:extLst>
              <a:ext uri="{FF2B5EF4-FFF2-40B4-BE49-F238E27FC236}">
                <a16:creationId xmlns:a16="http://schemas.microsoft.com/office/drawing/2014/main" id="{854441C4-EBA1-4D7F-A0B5-6C7637A72FC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374CF27-D742-444A-9BFA-A930C60FCA1C}" type="slidenum">
              <a:rPr lang="en-US" altLang="zh-CN"/>
              <a:pPr eaLnBrk="1" hangingPunct="1"/>
              <a:t>4</a:t>
            </a:fld>
            <a:endParaRPr lang="en-US" altLang="zh-CN"/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57BC7CCA-FAF8-43CC-86EE-F52A8D09BA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3AA2FCB8-456B-4484-98B5-79820A9B37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F22E72ED-09FC-47B3-A697-EF4A094FA17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6A88395-4860-4865-B2D3-BAF1F6A60C6A}" type="slidenum">
              <a:rPr lang="en-US" altLang="zh-CN"/>
              <a:pPr eaLnBrk="1" hangingPunct="1"/>
              <a:t>6</a:t>
            </a:fld>
            <a:endParaRPr lang="en-US" altLang="zh-CN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11F56E06-4497-4B43-B919-560CC089CDC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9E675A72-2C0E-491D-9289-8E5622F58F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872C2ECA-598A-4F8E-8C95-881009036B8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F9F4DCF-C2CC-43D5-BF57-E5BBCD01DC45}" type="slidenum">
              <a:rPr lang="en-US" altLang="zh-CN"/>
              <a:pPr eaLnBrk="1" hangingPunct="1"/>
              <a:t>7</a:t>
            </a:fld>
            <a:endParaRPr lang="en-US" altLang="zh-CN"/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40DEF321-19BF-45E0-B1D8-8BCF07DDD50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F043F5ED-2F02-487E-976B-DDC269C2B1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8D1ABF1F-64ED-42BD-A9E9-17059A7EBFD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5CCE91E-9DB4-468C-ABD2-29CEB564C05C}" type="slidenum">
              <a:rPr lang="en-US" altLang="zh-CN"/>
              <a:pPr eaLnBrk="1" hangingPunct="1"/>
              <a:t>8</a:t>
            </a:fld>
            <a:endParaRPr lang="en-US" altLang="zh-CN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C79DDDF2-E651-492A-830C-BAE3B167065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2A8F3743-FCE5-4956-9C01-8E0F910E25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D20E97B3-4E20-4B56-9A61-EB68BB74A8A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5895A68-D4C1-4E39-9FEA-39265F43D19A}" type="slidenum">
              <a:rPr lang="en-US" altLang="zh-CN"/>
              <a:pPr eaLnBrk="1" hangingPunct="1"/>
              <a:t>9</a:t>
            </a:fld>
            <a:endParaRPr lang="en-US" altLang="zh-CN"/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1B3C60FA-F716-42E0-91CC-E5D18455737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A76DE22C-D6A0-47C0-B955-5BFA08D69D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>
            <a:extLst>
              <a:ext uri="{FF2B5EF4-FFF2-40B4-BE49-F238E27FC236}">
                <a16:creationId xmlns:a16="http://schemas.microsoft.com/office/drawing/2014/main" id="{BDC73F0A-38D2-4CFF-A7BF-B1C03CAB212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D939412-7539-40F1-9A91-FCCA2AB121F1}" type="slidenum">
              <a:rPr lang="en-US" altLang="zh-CN"/>
              <a:pPr eaLnBrk="1" hangingPunct="1"/>
              <a:t>10</a:t>
            </a:fld>
            <a:endParaRPr lang="en-US" altLang="zh-CN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88824A89-F3EB-4166-A9F4-AD6D7E515C5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FA71DA85-873B-4FDA-8571-F9B18E4E57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>
            <a:extLst>
              <a:ext uri="{FF2B5EF4-FFF2-40B4-BE49-F238E27FC236}">
                <a16:creationId xmlns:a16="http://schemas.microsoft.com/office/drawing/2014/main" id="{9B8111D8-6287-46A3-8753-9157313AC42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828534A-58A6-4EFC-BD9F-4968E23C1100}" type="slidenum">
              <a:rPr lang="en-US" altLang="zh-CN"/>
              <a:pPr eaLnBrk="1" hangingPunct="1"/>
              <a:t>11</a:t>
            </a:fld>
            <a:endParaRPr lang="en-US" altLang="zh-CN"/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E96B195B-527B-4E0C-A85B-2C9E008EF30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BD9D9B6E-93F0-480F-8F1B-8E1F945B48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:a16="http://schemas.microsoft.com/office/drawing/2014/main" id="{92927E31-FD4D-4F59-9B09-428CDFE954A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6BC1B34-0604-40B5-A502-8076060E3D6F}" type="slidenum">
              <a:rPr lang="en-US" altLang="zh-CN"/>
              <a:pPr eaLnBrk="1" hangingPunct="1"/>
              <a:t>12</a:t>
            </a:fld>
            <a:endParaRPr lang="en-US" altLang="zh-CN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4E591D9A-9C51-40D6-B11B-4941DDE7E4C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19C8C4FE-E73F-4C1B-ABF4-24654EC12F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11873CE1-CE5D-4D05-AE77-88B3A2C73EC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BF528C5-1CB3-4F35-A6A2-2696C8E073F0}" type="slidenum">
              <a:rPr lang="en-US" altLang="zh-CN"/>
              <a:pPr eaLnBrk="1" hangingPunct="1"/>
              <a:t>13</a:t>
            </a:fld>
            <a:endParaRPr lang="en-US" altLang="zh-CN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E855C9E6-3EF3-4001-86FB-2835E654724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854D3DB0-662F-4899-B48E-DEC42A940B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>
            <a:extLst>
              <a:ext uri="{FF2B5EF4-FFF2-40B4-BE49-F238E27FC236}">
                <a16:creationId xmlns:a16="http://schemas.microsoft.com/office/drawing/2014/main" id="{93640E4A-3756-4791-8D17-EEFC931B732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DC41DAF-52C6-48C1-AC90-9432A433EACB}" type="slidenum">
              <a:rPr lang="en-US" altLang="zh-CN"/>
              <a:pPr eaLnBrk="1" hangingPunct="1"/>
              <a:t>14</a:t>
            </a:fld>
            <a:endParaRPr lang="en-US" altLang="zh-CN"/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8A3D4795-EBB6-41A0-BB51-B27BCBE08EC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9E7C3EF9-3169-46A9-8F11-2B86386397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B71B6BF2-BE73-4022-B7AC-0B7F2FC6DF8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D1B1704-9AF4-4FFD-A9BA-B151E38E9FF0}" type="slidenum">
              <a:rPr lang="en-US" altLang="zh-CN"/>
              <a:pPr eaLnBrk="1" hangingPunct="1"/>
              <a:t>15</a:t>
            </a:fld>
            <a:endParaRPr lang="en-US" altLang="zh-CN"/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7F157D49-5F67-470D-8FA3-81AE5493B83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64E27C34-F430-4A6A-9B9A-639C65613B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>
            <a:extLst>
              <a:ext uri="{FF2B5EF4-FFF2-40B4-BE49-F238E27FC236}">
                <a16:creationId xmlns:a16="http://schemas.microsoft.com/office/drawing/2014/main" id="{19344242-81FA-434B-8C44-49C07E063B0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D0A4DF9-83B8-434B-B7EF-B2F4E292F89E}" type="slidenum">
              <a:rPr lang="en-US" altLang="zh-CN"/>
              <a:pPr eaLnBrk="1" hangingPunct="1"/>
              <a:t>16</a:t>
            </a:fld>
            <a:endParaRPr lang="en-US" altLang="zh-CN"/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A9C63EB0-6AA6-4744-B599-4E17DA6BDF0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25A48207-D1EC-4173-B7A8-65F7625B34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CF49B1DE-4C85-4533-BB1C-566647DC8BB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CFADF39-11BF-4522-943A-E6B2A4A22648}" type="slidenum">
              <a:rPr lang="en-US" altLang="zh-CN"/>
              <a:pPr eaLnBrk="1" hangingPunct="1"/>
              <a:t>17</a:t>
            </a:fld>
            <a:endParaRPr lang="en-US" altLang="zh-CN"/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2205E881-ADB9-4A23-BA5F-B6C0D9BB867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6A0231F1-5BC1-451A-AB21-818E64D78C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>
            <a:extLst>
              <a:ext uri="{FF2B5EF4-FFF2-40B4-BE49-F238E27FC236}">
                <a16:creationId xmlns:a16="http://schemas.microsoft.com/office/drawing/2014/main" id="{2978343A-7EA6-4D12-8BC8-DA197CAD268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541869D-8999-4D70-95CF-953118DDAB92}" type="slidenum">
              <a:rPr lang="en-US" altLang="zh-CN"/>
              <a:pPr eaLnBrk="1" hangingPunct="1"/>
              <a:t>18</a:t>
            </a:fld>
            <a:endParaRPr lang="en-US" altLang="zh-CN"/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4B169097-F24F-4514-ACE2-0D6057DD222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144067C0-5683-448C-9D53-F8020634C1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>
            <a:extLst>
              <a:ext uri="{FF2B5EF4-FFF2-40B4-BE49-F238E27FC236}">
                <a16:creationId xmlns:a16="http://schemas.microsoft.com/office/drawing/2014/main" id="{9F13CA6D-360A-4473-A487-99117A9C32A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062D74D-E385-4F3C-A9CB-EA5601FA0055}" type="slidenum">
              <a:rPr lang="en-US" altLang="zh-CN"/>
              <a:pPr eaLnBrk="1" hangingPunct="1"/>
              <a:t>19</a:t>
            </a:fld>
            <a:endParaRPr lang="en-US" altLang="zh-CN"/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AC800542-8618-45DE-857A-54CBD38DAE5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06D55019-0D3E-4509-B3AB-BF36598D0C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>
            <a:extLst>
              <a:ext uri="{FF2B5EF4-FFF2-40B4-BE49-F238E27FC236}">
                <a16:creationId xmlns:a16="http://schemas.microsoft.com/office/drawing/2014/main" id="{6B73F368-4092-4BBA-B548-F95A82FB25B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A142EED-BE99-4324-8305-9EB97C5D0A0E}" type="slidenum">
              <a:rPr lang="en-US" altLang="zh-CN"/>
              <a:pPr eaLnBrk="1" hangingPunct="1"/>
              <a:t>20</a:t>
            </a:fld>
            <a:endParaRPr lang="en-US" altLang="zh-CN"/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9B1095C9-DCE7-4F1D-AA17-D4B052A310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4F7FDFE5-ACBC-439D-A452-28DFA7469D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>
            <a:extLst>
              <a:ext uri="{FF2B5EF4-FFF2-40B4-BE49-F238E27FC236}">
                <a16:creationId xmlns:a16="http://schemas.microsoft.com/office/drawing/2014/main" id="{1F0D2A4F-F92D-493D-9FBB-1A10BE44C0A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AF08184-A252-4E30-9EBA-69226B80A7F9}" type="slidenum">
              <a:rPr lang="en-US" altLang="zh-CN"/>
              <a:pPr eaLnBrk="1" hangingPunct="1"/>
              <a:t>21</a:t>
            </a:fld>
            <a:endParaRPr lang="en-US" altLang="zh-CN"/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EC478113-61FA-46D5-A5E8-788C658474F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FBB1FA14-83DD-4802-9F9D-2167F1FACE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4530"/>
            <a:ext cx="6858000" cy="2387600"/>
          </a:xfrm>
        </p:spPr>
        <p:txBody>
          <a:bodyPr anchor="b">
            <a:normAutofit/>
          </a:bodyPr>
          <a:lstStyle>
            <a:lvl1pPr algn="ctr">
              <a:defRPr sz="450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zh-CN" altLang="en-US" noProof="1"/>
              <a:t>单击此处编辑母版副标题样式</a:t>
            </a:r>
            <a:endParaRPr lang="en-US" noProof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C302FB-ECBB-4181-BEAC-75E5AD4D8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044936-3FE8-4186-AAFA-A6A52493B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A8976-C2FE-4A99-BF8D-52F451515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121839-4B49-475C-89E7-B8C31EE58E2A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44753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78ECD6-6DE1-442B-B5A0-C847BC381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712DB9-2F7E-4D22-8307-61F0B7736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BEB7D0-3C40-4C38-B8F0-1CA91BE98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627DBA3-2E61-4C10-995E-4E321D3E890E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10235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12423"/>
            <a:ext cx="7886700" cy="2851208"/>
          </a:xfrm>
        </p:spPr>
        <p:txBody>
          <a:bodyPr anchor="b">
            <a:normAutofit/>
          </a:bodyPr>
          <a:lstStyle>
            <a:lvl1pPr>
              <a:defRPr sz="4500" b="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5263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B7BDF6-4F17-4692-AA70-0696F7822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58B359-034A-4589-9748-9B077717F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D4759B-2BFD-4394-9510-E4EFA530A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D45529-934B-4AC0-9A41-02A94879A366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89874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3845" y="1828801"/>
            <a:ext cx="3886200" cy="435133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8801"/>
            <a:ext cx="3886200" cy="435133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C3B0C42-1B67-4DF6-BB0A-476FB12BD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89F5DBE-72F9-4365-85FA-41EC1CB2B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C6DA02B-39B3-4BC0-81C3-BF13A68F2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A45723-3FBB-453A-B847-52303367247C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46902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845" y="1681851"/>
            <a:ext cx="3867150" cy="825699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45" y="2507551"/>
            <a:ext cx="3867150" cy="368052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851"/>
            <a:ext cx="38862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7551"/>
            <a:ext cx="3886201" cy="368052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5CFAED1-575A-4879-9D8C-4794E13E4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FF9D973-1A10-4A91-8EF1-468D9342C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4ADF493-71C3-43F0-B09E-26C2A41E5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F3C299-F624-4D68-84A0-98068894C2A4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324673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6492A12-AAED-4B63-BBC2-66BC9FD75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033C87E-CC8D-444B-8D0A-2A8C6EDB7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40900BF-CDF2-45B9-9106-6AEACC82F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365D113-F0D2-47C0-8D4C-FFDDD82B6391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87576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02FBF27B-9518-48EF-992A-F6E90B2EF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16399A0-9354-4706-93F0-C3D62C401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F6D78E-0DD8-4BD2-AD64-DA29B3CB6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D7A071-846C-4479-8E71-0829C8681997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007171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1"/>
            <a:ext cx="2948940" cy="1600197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990600"/>
            <a:ext cx="4629150" cy="48768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57399"/>
            <a:ext cx="2948940" cy="3810001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A33AD2E-6DEB-4AF4-A79C-128340565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F46D1DB-23D2-45A0-B12B-31DB83381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417D2F3-2191-4AE0-8322-90EAED316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3B3CB44-E8AD-4ECA-A854-CE2FC64225D9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88480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0"/>
            <a:ext cx="2948940" cy="160020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6200" y="990600"/>
            <a:ext cx="4629150" cy="4876800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57400"/>
            <a:ext cx="2948940" cy="3810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FE11BA2-2645-4C86-BF7B-DA6370188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CF70980-D09A-4988-A0F8-4D86BA374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3B8F944-89CC-4976-B04A-25BDBFAF7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ACB6CD-88E7-4E7F-A185-C9B996550EFB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67084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EEA7E6-CC2A-44FB-9827-7901DE7DB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0B0C6C-4F52-4307-B118-8EA1B2599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321E3C-95E3-4173-A314-9B6B9C42A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342AA6-E241-4EF0-9658-A1D08EC7D91A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52395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0362"/>
            <a:ext cx="1971675" cy="5811838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0363"/>
            <a:ext cx="5800725" cy="5811837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7E3772-D4C0-460C-AE3A-DA07F0D01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F17A07-0398-4508-A4EB-5F91716CE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0656AB-A5D4-4116-9083-0DFD3809A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E988C77-4779-4BFC-8FC8-A0DBBF688436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94847502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30725"/>
          </a:xfrm>
        </p:spPr>
        <p:txBody>
          <a:bodyPr rtlCol="0">
            <a:normAutofit/>
          </a:bodyPr>
          <a:lstStyle/>
          <a:p>
            <a:pPr lvl="0"/>
            <a:r>
              <a:rPr lang="zh-CN" altLang="en-US" noProof="0"/>
              <a:t>单击图标添加表格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12C9AE-DCDD-4E04-A04F-F233CFAEC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215395-8C76-4F42-B5A2-248312DCA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E1F831-1DA4-4961-BA8E-42854D1E8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E988C77-4779-4BFC-8FC8-A0DBBF688436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75058756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BF95526C-889A-4522-8763-411DACBF5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E0FC0D56-8FDA-4152-B6EC-34B64573A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7B57B4DD-C894-46DC-976A-C8099D602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E5F41E-25D7-4AF9-8F24-F4EF81FB31A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9444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0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70E1B553-E368-40D3-9D3E-3BD6D64E1BC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33413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2D4F9B0E-3BF4-4FE4-8C05-05BA84AA6F3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33413" y="1828800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altLang="zh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B03578-8626-4448-B336-3FEB4105EF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825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E14521-3337-49DA-BA1B-81BE548869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825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837BF5-319D-4483-810E-894D2B2F12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62713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800" smtClean="0">
                <a:solidFill>
                  <a:srgbClr val="898989"/>
                </a:solidFill>
              </a:defRPr>
            </a:lvl1pPr>
          </a:lstStyle>
          <a:p>
            <a:fld id="{BE988C77-4779-4BFC-8FC8-A0DBBF688436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06174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  <p:sldLayoutId id="2147483721" r:id="rId12"/>
    <p:sldLayoutId id="2147483722" r:id="rId13"/>
  </p:sldLayoutIdLst>
  <p:hf hdr="0" ftr="0" dt="0"/>
  <p:txStyles>
    <p:titleStyle>
      <a:lvl1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2pPr>
      <a:lvl3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3pPr>
      <a:lvl4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4pPr>
      <a:lvl5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5pPr>
      <a:lvl6pPr marL="4572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6pPr>
      <a:lvl7pPr marL="9144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7pPr>
      <a:lvl8pPr marL="13716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8pPr>
      <a:lvl9pPr marL="18288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171450" indent="-171450" algn="l" defTabSz="685800" rtl="0" eaLnBrk="1" fontAlgn="base" hangingPunct="1">
        <a:lnSpc>
          <a:spcPct val="90000"/>
        </a:lnSpc>
        <a:spcBef>
          <a:spcPts val="750"/>
        </a:spcBef>
        <a:spcAft>
          <a:spcPct val="0"/>
        </a:spcAft>
        <a:buFont typeface="Wingdings 2" panose="05020102010507070707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3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5.wmf"/><Relationship Id="rId5" Type="http://schemas.openxmlformats.org/officeDocument/2006/relationships/image" Target="../media/image2.w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4.w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6.wmf"/><Relationship Id="rId4" Type="http://schemas.openxmlformats.org/officeDocument/2006/relationships/oleObject" Target="../embeddings/oleObject5.bin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8.w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7.bin"/><Relationship Id="rId11" Type="http://schemas.openxmlformats.org/officeDocument/2006/relationships/image" Target="../media/image10.wmf"/><Relationship Id="rId5" Type="http://schemas.openxmlformats.org/officeDocument/2006/relationships/image" Target="../media/image7.wmf"/><Relationship Id="rId10" Type="http://schemas.openxmlformats.org/officeDocument/2006/relationships/oleObject" Target="../embeddings/oleObject9.bin"/><Relationship Id="rId4" Type="http://schemas.openxmlformats.org/officeDocument/2006/relationships/oleObject" Target="../embeddings/oleObject6.bin"/><Relationship Id="rId9" Type="http://schemas.openxmlformats.org/officeDocument/2006/relationships/image" Target="../media/image9.w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12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11.wmf"/><Relationship Id="rId4" Type="http://schemas.openxmlformats.org/officeDocument/2006/relationships/oleObject" Target="../embeddings/oleObject10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3.emf"/><Relationship Id="rId4" Type="http://schemas.openxmlformats.org/officeDocument/2006/relationships/oleObject" Target="../embeddings/oleObject12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15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4.bin"/><Relationship Id="rId5" Type="http://schemas.openxmlformats.org/officeDocument/2006/relationships/image" Target="../media/image14.wmf"/><Relationship Id="rId4" Type="http://schemas.openxmlformats.org/officeDocument/2006/relationships/oleObject" Target="../embeddings/oleObject13.bin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16.emf"/><Relationship Id="rId4" Type="http://schemas.openxmlformats.org/officeDocument/2006/relationships/oleObject" Target="../embeddings/oleObject15.bin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2">
            <a:extLst>
              <a:ext uri="{FF2B5EF4-FFF2-40B4-BE49-F238E27FC236}">
                <a16:creationId xmlns:a16="http://schemas.microsoft.com/office/drawing/2014/main" id="{A83CB984-BC6A-4BFB-842F-E58FBD9A91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1188" y="115888"/>
            <a:ext cx="8229600" cy="8509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zh-C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15.4  </a:t>
            </a: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同余关系与商代数</a:t>
            </a:r>
          </a:p>
        </p:txBody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ABB25F64-B6D3-4C99-A7F7-7FBADAC7369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8313" y="1268413"/>
            <a:ext cx="8229600" cy="4525962"/>
          </a:xfrm>
        </p:spPr>
        <p:txBody>
          <a:bodyPr/>
          <a:lstStyle/>
          <a:p>
            <a:pPr eaLnBrk="1" hangingPunct="1"/>
            <a:r>
              <a:rPr lang="zh-CN" altLang="en-US" b="1"/>
              <a:t>同余关系</a:t>
            </a:r>
          </a:p>
          <a:p>
            <a:pPr lvl="1" eaLnBrk="1" hangingPunct="1"/>
            <a:r>
              <a:rPr lang="zh-CN" altLang="en-US" b="1"/>
              <a:t>同余关系与同余类</a:t>
            </a:r>
          </a:p>
          <a:p>
            <a:pPr lvl="1" eaLnBrk="1" hangingPunct="1"/>
            <a:r>
              <a:rPr lang="zh-CN" altLang="en-US" b="1"/>
              <a:t>同余关系的实例</a:t>
            </a:r>
          </a:p>
          <a:p>
            <a:pPr eaLnBrk="1" hangingPunct="1"/>
            <a:r>
              <a:rPr lang="zh-CN" altLang="en-US" b="1"/>
              <a:t>商代数</a:t>
            </a:r>
          </a:p>
          <a:p>
            <a:pPr lvl="1" eaLnBrk="1" hangingPunct="1"/>
            <a:r>
              <a:rPr lang="zh-CN" altLang="en-US" b="1"/>
              <a:t>商代数定义</a:t>
            </a:r>
          </a:p>
          <a:p>
            <a:pPr lvl="1" eaLnBrk="1" hangingPunct="1"/>
            <a:r>
              <a:rPr lang="zh-CN" altLang="en-US" b="1"/>
              <a:t>商代数性质</a:t>
            </a:r>
          </a:p>
          <a:p>
            <a:pPr eaLnBrk="1" hangingPunct="1"/>
            <a:r>
              <a:rPr lang="zh-CN" altLang="en-US" b="1"/>
              <a:t>同态映射、同余关系与商代数之间的联系</a:t>
            </a:r>
          </a:p>
        </p:txBody>
      </p:sp>
      <p:sp>
        <p:nvSpPr>
          <p:cNvPr id="21506" name="灯片编号占位符 5">
            <a:extLst>
              <a:ext uri="{FF2B5EF4-FFF2-40B4-BE49-F238E27FC236}">
                <a16:creationId xmlns:a16="http://schemas.microsoft.com/office/drawing/2014/main" id="{83E3BBD7-C4B1-43B1-A9A7-FEE45B905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53527BE-96D9-4821-8AB7-7193B7D8A82F}" type="slidenum">
              <a:rPr lang="en-US" altLang="zh-CN">
                <a:solidFill>
                  <a:srgbClr val="898989"/>
                </a:solidFill>
              </a:rPr>
              <a:pPr eaLnBrk="1" hangingPunct="1"/>
              <a:t>1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>
            <a:extLst>
              <a:ext uri="{FF2B5EF4-FFF2-40B4-BE49-F238E27FC236}">
                <a16:creationId xmlns:a16="http://schemas.microsoft.com/office/drawing/2014/main" id="{29C1D226-7125-4B5E-856A-463ED95DF6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8" y="188913"/>
            <a:ext cx="8229600" cy="777875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同余关系</a:t>
            </a: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与同余类</a:t>
            </a:r>
          </a:p>
        </p:txBody>
      </p:sp>
      <p:sp>
        <p:nvSpPr>
          <p:cNvPr id="22530" name="灯片编号占位符 4">
            <a:extLst>
              <a:ext uri="{FF2B5EF4-FFF2-40B4-BE49-F238E27FC236}">
                <a16:creationId xmlns:a16="http://schemas.microsoft.com/office/drawing/2014/main" id="{F4E4D2B5-7149-4B07-84AC-DFB033E1B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1AA43DB-78EC-4B18-9E7F-9BD6DE45509A}" type="slidenum">
              <a:rPr lang="en-US" altLang="zh-CN">
                <a:solidFill>
                  <a:srgbClr val="898989"/>
                </a:solidFill>
              </a:rPr>
              <a:pPr eaLnBrk="1" hangingPunct="1"/>
              <a:t>2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80E4DAC5-C46D-46AB-8204-E6FB245044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268413"/>
            <a:ext cx="8064500" cy="403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304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定义   </a:t>
            </a:r>
            <a:r>
              <a:rPr lang="zh-CN" altLang="en-US" sz="2400" b="1" dirty="0">
                <a:latin typeface="Times New Roman" panose="02020603050405020304" pitchFamily="18" charset="0"/>
              </a:rPr>
              <a:t>设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2400" b="1" dirty="0">
                <a:latin typeface="Times New Roman" panose="02020603050405020304" pitchFamily="18" charset="0"/>
              </a:rPr>
              <a:t>=&lt;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400" b="1" dirty="0">
                <a:latin typeface="Times New Roman" panose="02020603050405020304" pitchFamily="18" charset="0"/>
              </a:rPr>
              <a:t>,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o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</a:rPr>
              <a:t>,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o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400" b="1" dirty="0">
                <a:latin typeface="Times New Roman" panose="02020603050405020304" pitchFamily="18" charset="0"/>
              </a:rPr>
              <a:t>,…,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o</a:t>
            </a:r>
            <a:r>
              <a:rPr lang="en-US" altLang="zh-CN" sz="2400" b="1" i="1" baseline="-25000" dirty="0">
                <a:latin typeface="Times New Roman" panose="02020603050405020304" pitchFamily="18" charset="0"/>
              </a:rPr>
              <a:t>r</a:t>
            </a:r>
            <a:r>
              <a:rPr lang="en-US" altLang="zh-CN" sz="2400" b="1" dirty="0">
                <a:latin typeface="Times New Roman" panose="02020603050405020304" pitchFamily="18" charset="0"/>
              </a:rPr>
              <a:t>&gt; </a:t>
            </a:r>
            <a:r>
              <a:rPr lang="zh-CN" altLang="en-US" sz="2400" b="1" dirty="0">
                <a:latin typeface="Times New Roman" panose="02020603050405020304" pitchFamily="18" charset="0"/>
              </a:rPr>
              <a:t>是代数系统，其中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o</a:t>
            </a:r>
            <a:r>
              <a:rPr lang="en-US" altLang="zh-CN" sz="2400" b="1" i="1" baseline="-25000" dirty="0">
                <a:latin typeface="Times New Roman" panose="02020603050405020304" pitchFamily="18" charset="0"/>
              </a:rPr>
              <a:t>i </a:t>
            </a:r>
            <a:r>
              <a:rPr lang="zh-CN" altLang="en-US" sz="2400" b="1" dirty="0">
                <a:latin typeface="Times New Roman" panose="02020603050405020304" pitchFamily="18" charset="0"/>
              </a:rPr>
              <a:t>为 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k</a:t>
            </a:r>
            <a:r>
              <a:rPr lang="en-US" altLang="zh-CN" sz="2400" b="1" i="1" baseline="-25000" dirty="0" err="1">
                <a:latin typeface="Times New Roman" panose="02020603050405020304" pitchFamily="18" charset="0"/>
              </a:rPr>
              <a:t>i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</a:rPr>
              <a:t>元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400" b="1" dirty="0">
                <a:latin typeface="Times New Roman" panose="02020603050405020304" pitchFamily="18" charset="0"/>
              </a:rPr>
              <a:t>运算，关系</a:t>
            </a: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</a:t>
            </a:r>
            <a:r>
              <a:rPr lang="zh-CN" altLang="en-US" sz="2400" b="1" dirty="0">
                <a:latin typeface="Times New Roman" panose="02020603050405020304" pitchFamily="18" charset="0"/>
              </a:rPr>
              <a:t>为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上的等价关系，任取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上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altLang="zh-CN" sz="2400" b="1" i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i </a:t>
            </a: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个元素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, …, </a:t>
            </a:r>
            <a:r>
              <a:rPr lang="en-US" altLang="zh-CN" sz="2400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 i="1" baseline="-250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ki</a:t>
            </a:r>
            <a:r>
              <a:rPr lang="en-US" altLang="zh-CN" sz="2400" b="1" i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400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400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, …, </a:t>
            </a:r>
            <a:r>
              <a:rPr lang="en-US" altLang="zh-CN" sz="2400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400" b="1" i="1" baseline="-250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ki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如果对于所有的 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j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=1,2,…,</a:t>
            </a:r>
            <a:r>
              <a:rPr lang="en-US" altLang="zh-CN" sz="2400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altLang="zh-CN" sz="2400" b="1" i="1" baseline="-250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400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 i="1" baseline="-250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j</a:t>
            </a:r>
            <a:r>
              <a:rPr lang="en-US" altLang="zh-CN" sz="24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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b</a:t>
            </a:r>
            <a:r>
              <a:rPr lang="en-US" altLang="zh-CN" sz="2400" b="1" i="1" baseline="-250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j</a:t>
            </a:r>
            <a:r>
              <a:rPr lang="en-US" altLang="zh-CN" sz="2400" b="1" i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就有</a:t>
            </a:r>
            <a:endParaRPr lang="zh-CN" altLang="en-US" sz="2400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         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o</a:t>
            </a:r>
            <a:r>
              <a:rPr lang="en-US" altLang="zh-CN" sz="2400" b="1" i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i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, … , </a:t>
            </a:r>
            <a:r>
              <a:rPr lang="en-US" altLang="zh-CN" sz="2400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 i="1" baseline="-250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ki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) 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o</a:t>
            </a:r>
            <a:r>
              <a:rPr lang="en-US" altLang="zh-CN" sz="2400" b="1" i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i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400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400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, … , </a:t>
            </a:r>
            <a:r>
              <a:rPr lang="en-US" altLang="zh-CN" sz="2400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400" b="1" i="1" baseline="-250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ki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lang="en-US" altLang="zh-CN" sz="2400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则称等价关系  </a:t>
            </a:r>
            <a:r>
              <a:rPr lang="zh-CN" altLang="en-US" sz="2400" b="1" dirty="0">
                <a:latin typeface="Times New Roman" panose="02020603050405020304" pitchFamily="18" charset="0"/>
              </a:rPr>
              <a:t>对于运算 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o</a:t>
            </a:r>
            <a:r>
              <a:rPr lang="en-US" altLang="zh-CN" sz="2400" b="1" i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i </a:t>
            </a: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具有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置换性质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. </a:t>
            </a:r>
            <a:endParaRPr lang="en-US" altLang="zh-CN" sz="2400" dirty="0">
              <a:solidFill>
                <a:srgbClr val="C00000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</a:pPr>
            <a:endParaRPr lang="en-US" altLang="zh-CN" sz="24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如果等价关系  </a:t>
            </a:r>
            <a:r>
              <a:rPr lang="zh-CN" altLang="en-US" sz="2400" b="1" dirty="0">
                <a:latin typeface="Times New Roman" panose="02020603050405020304" pitchFamily="18" charset="0"/>
              </a:rPr>
              <a:t>对于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V </a:t>
            </a: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中的所有运算都具有置换性质，</a:t>
            </a:r>
            <a:endParaRPr lang="en-US" altLang="zh-CN" sz="24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则称  </a:t>
            </a:r>
            <a:r>
              <a:rPr lang="zh-CN" altLang="en-US" sz="2400" b="1" dirty="0">
                <a:latin typeface="Times New Roman" panose="02020603050405020304" pitchFamily="18" charset="0"/>
              </a:rPr>
              <a:t>是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上的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同余关系</a:t>
            </a: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，称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中相关的等价类为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同余类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>
            <a:extLst>
              <a:ext uri="{FF2B5EF4-FFF2-40B4-BE49-F238E27FC236}">
                <a16:creationId xmlns:a16="http://schemas.microsoft.com/office/drawing/2014/main" id="{0DD686D1-D95E-4C7C-8F79-0CFC379486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188913"/>
            <a:ext cx="7772400" cy="7747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实例 </a:t>
            </a:r>
          </a:p>
        </p:txBody>
      </p:sp>
      <p:sp>
        <p:nvSpPr>
          <p:cNvPr id="23554" name="灯片编号占位符 4">
            <a:extLst>
              <a:ext uri="{FF2B5EF4-FFF2-40B4-BE49-F238E27FC236}">
                <a16:creationId xmlns:a16="http://schemas.microsoft.com/office/drawing/2014/main" id="{56380CC5-4200-4F6B-8ECC-A0ED4DBFC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2AD9998-2217-48DD-8AAA-BD6E5AD12A0F}" type="slidenum">
              <a:rPr lang="en-US" altLang="zh-CN">
                <a:solidFill>
                  <a:srgbClr val="898989"/>
                </a:solidFill>
              </a:rPr>
              <a:pPr eaLnBrk="1" hangingPunct="1"/>
              <a:t>3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7223E1F5-787B-4F27-9E29-5182FB2550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976313"/>
            <a:ext cx="8074025" cy="535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indent="152400" eaLnBrk="0" hangingPunct="0">
              <a:tabLst>
                <a:tab pos="14128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14128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14128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14128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14128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128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128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128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128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1 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2400" b="1" dirty="0">
                <a:latin typeface="Times New Roman" panose="02020603050405020304" pitchFamily="18" charset="0"/>
              </a:rPr>
              <a:t>=&lt;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Z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4</a:t>
            </a:r>
            <a:r>
              <a:rPr lang="en-US" altLang="zh-CN" sz="2400" b="1" dirty="0">
                <a:latin typeface="Times New Roman" panose="02020603050405020304" pitchFamily="18" charset="0"/>
              </a:rPr>
              <a:t>,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</a:t>
            </a:r>
            <a:r>
              <a:rPr lang="en-US" altLang="zh-CN" sz="2400" b="1" dirty="0">
                <a:latin typeface="Times New Roman" panose="02020603050405020304" pitchFamily="18" charset="0"/>
              </a:rPr>
              <a:t>&gt;, </a:t>
            </a: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有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15</a:t>
            </a: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个等价关系，采用对应的划分表示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endParaRPr lang="en-US" altLang="zh-CN" sz="2400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划分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{{0},{1,2,3}} </a:t>
            </a: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对应的不是同余关系，因为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1</a:t>
            </a:r>
            <a:r>
              <a:rPr lang="en-US" altLang="zh-CN" sz="2400" b="1" dirty="0">
                <a:latin typeface="Times New Roman" panose="02020603050405020304" pitchFamily="18" charset="0"/>
              </a:rPr>
              <a:t>3</a:t>
            </a: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，但是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1</a:t>
            </a:r>
            <a:r>
              <a:rPr lang="en-US" altLang="zh-CN" sz="2400" b="1" dirty="0">
                <a:latin typeface="Times New Roman" panose="02020603050405020304" pitchFamily="18" charset="0"/>
              </a:rPr>
              <a:t>3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</a:t>
            </a:r>
            <a:r>
              <a:rPr lang="en-US" altLang="zh-CN" sz="2400" b="1" dirty="0">
                <a:latin typeface="Times New Roman" panose="02020603050405020304" pitchFamily="18" charset="0"/>
              </a:rPr>
              <a:t>3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</a:t>
            </a:r>
            <a:r>
              <a:rPr lang="en-US" altLang="zh-CN" sz="2400" b="1" dirty="0">
                <a:latin typeface="Times New Roman" panose="02020603050405020304" pitchFamily="18" charset="0"/>
              </a:rPr>
              <a:t>3</a:t>
            </a: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不成立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.    </a:t>
            </a:r>
            <a:endParaRPr lang="en-US" altLang="zh-CN" sz="2400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  <a:spcBef>
                <a:spcPts val="12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同理可以验证以下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11</a:t>
            </a: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个划分对应的也不是同余关系</a:t>
            </a:r>
            <a:endParaRPr lang="zh-CN" altLang="en-US" sz="2400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   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{{1},{0,2,3}}      {{2},{1,3,0}}      {{3},{1,2,0}}   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    {{0,1},{2,3}}      {{0,3},{1,2}} </a:t>
            </a:r>
            <a:endParaRPr lang="en-US" altLang="zh-CN" sz="2400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    {{0},{1},{2,3}}   {{0},{2},{1,3}}   {{0},{3},{1,2}} 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    {{1},{2},{0,3}}   {{1},{3},{0,2}}   {{2},{3},{0,1}}  </a:t>
            </a:r>
            <a:endParaRPr lang="en-US" altLang="zh-CN" sz="2400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  <a:spcBef>
                <a:spcPts val="18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只有以下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个划分对应于同余关系：</a:t>
            </a:r>
            <a:endParaRPr lang="zh-CN" altLang="en-US" sz="2400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   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{{0},{1},{2},{3}}    {{0,1,2,3}}      {{0,2},{1,3}}</a:t>
            </a:r>
            <a:endParaRPr lang="en-US" altLang="zh-CN" sz="2400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恒等关系与全域关系都是同余关系，任何代数系统都存在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同余关系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1" name="Rectangle 2">
            <a:extLst>
              <a:ext uri="{FF2B5EF4-FFF2-40B4-BE49-F238E27FC236}">
                <a16:creationId xmlns:a16="http://schemas.microsoft.com/office/drawing/2014/main" id="{490E241A-9A47-4F23-B341-D14BBE6916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47713" y="215107"/>
            <a:ext cx="7772400" cy="774700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商代数定义</a:t>
            </a:r>
          </a:p>
        </p:txBody>
      </p:sp>
      <p:sp>
        <p:nvSpPr>
          <p:cNvPr id="6150" name="灯片编号占位符 4">
            <a:extLst>
              <a:ext uri="{FF2B5EF4-FFF2-40B4-BE49-F238E27FC236}">
                <a16:creationId xmlns:a16="http://schemas.microsoft.com/office/drawing/2014/main" id="{F1ACD271-BF74-4D87-BC41-0EB711364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0D2BAC9-98E8-40B1-8565-88126F36E249}" type="slidenum">
              <a:rPr lang="en-US" altLang="zh-CN">
                <a:solidFill>
                  <a:srgbClr val="898989"/>
                </a:solidFill>
              </a:rPr>
              <a:pPr eaLnBrk="1" hangingPunct="1"/>
              <a:t>4</a:t>
            </a:fld>
            <a:endParaRPr lang="en-US" altLang="zh-CN">
              <a:solidFill>
                <a:srgbClr val="898989"/>
              </a:solidFill>
            </a:endParaRPr>
          </a:p>
        </p:txBody>
      </p:sp>
      <p:graphicFrame>
        <p:nvGraphicFramePr>
          <p:cNvPr id="1026" name="Object 3">
            <a:extLst>
              <a:ext uri="{FF2B5EF4-FFF2-40B4-BE49-F238E27FC236}">
                <a16:creationId xmlns:a16="http://schemas.microsoft.com/office/drawing/2014/main" id="{60369521-6321-4D0F-9E18-B78D7B5BF43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2794000"/>
          <a:ext cx="114300" cy="200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6" name="公式" r:id="rId4" imgW="114201" imgH="203024" progId="Equation.3">
                  <p:embed/>
                </p:oleObj>
              </mc:Choice>
              <mc:Fallback>
                <p:oleObj name="公式" r:id="rId4" imgW="114201" imgH="203024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2794000"/>
                        <a:ext cx="114300" cy="200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32" name="Group 4">
            <a:extLst>
              <a:ext uri="{FF2B5EF4-FFF2-40B4-BE49-F238E27FC236}">
                <a16:creationId xmlns:a16="http://schemas.microsoft.com/office/drawing/2014/main" id="{9A70A65B-7CB4-4A92-9965-B1C06F35C2D8}"/>
              </a:ext>
            </a:extLst>
          </p:cNvPr>
          <p:cNvGrpSpPr>
            <a:grpSpLocks/>
          </p:cNvGrpSpPr>
          <p:nvPr/>
        </p:nvGrpSpPr>
        <p:grpSpPr bwMode="auto">
          <a:xfrm>
            <a:off x="611188" y="1404938"/>
            <a:ext cx="8027987" cy="3454400"/>
            <a:chOff x="385" y="885"/>
            <a:chExt cx="5057" cy="2176"/>
          </a:xfrm>
        </p:grpSpPr>
        <p:grpSp>
          <p:nvGrpSpPr>
            <p:cNvPr id="1033" name="Group 5">
              <a:extLst>
                <a:ext uri="{FF2B5EF4-FFF2-40B4-BE49-F238E27FC236}">
                  <a16:creationId xmlns:a16="http://schemas.microsoft.com/office/drawing/2014/main" id="{A7099B09-9269-469E-BBA3-FC4250DABD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5" y="885"/>
              <a:ext cx="5057" cy="2176"/>
              <a:chOff x="385" y="885"/>
              <a:chExt cx="5057" cy="2176"/>
            </a:xfrm>
          </p:grpSpPr>
          <p:sp>
            <p:nvSpPr>
              <p:cNvPr id="1034" name="Rectangle 6">
                <a:extLst>
                  <a:ext uri="{FF2B5EF4-FFF2-40B4-BE49-F238E27FC236}">
                    <a16:creationId xmlns:a16="http://schemas.microsoft.com/office/drawing/2014/main" id="{C809A9A3-8D28-4F1D-A61A-8D60BFEC7B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5" y="885"/>
                <a:ext cx="5057" cy="8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20000"/>
                  </a:lnSpc>
                </a:pPr>
                <a:r>
                  <a:rPr lang="zh-CN" altLang="en-US" sz="2400" b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定义</a:t>
                </a:r>
                <a:r>
                  <a:rPr lang="zh-CN" altLang="en-US" sz="2400" b="1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zh-CN" altLang="en-US" sz="2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设代数系统</a:t>
                </a:r>
                <a:r>
                  <a:rPr lang="en-US" altLang="zh-CN" sz="2400" b="1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sz="2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=&lt;</a:t>
                </a:r>
                <a:r>
                  <a:rPr lang="en-US" altLang="zh-CN" sz="2400" b="1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CN" sz="2400" b="1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r>
                  <a:rPr lang="en-US" altLang="zh-CN" sz="2400" b="1" baseline="-30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CN" sz="2400" b="1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r>
                  <a:rPr lang="en-US" altLang="zh-CN" sz="2400" b="1" baseline="-30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,…,</a:t>
                </a:r>
                <a:r>
                  <a:rPr lang="en-US" altLang="zh-CN" sz="2400" b="1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r>
                  <a:rPr lang="en-US" altLang="zh-CN" sz="2400" b="1" i="1" baseline="-30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en-US" altLang="zh-CN" sz="2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&gt;</a:t>
                </a:r>
                <a:r>
                  <a:rPr lang="zh-CN" altLang="en-US" sz="2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，其中 </a:t>
                </a:r>
                <a:r>
                  <a:rPr lang="en-US" altLang="zh-CN" sz="2400" b="1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r>
                  <a:rPr lang="en-US" altLang="zh-CN" sz="2400" b="1" i="1" baseline="-30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 </a:t>
                </a:r>
                <a:r>
                  <a:rPr lang="zh-CN" altLang="en-US" sz="2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为</a:t>
                </a:r>
                <a:r>
                  <a:rPr lang="zh-CN" altLang="en-US" sz="2400" b="1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b="1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altLang="zh-CN" sz="2400" b="1" i="1" baseline="-30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 </a:t>
                </a:r>
                <a:r>
                  <a:rPr lang="zh-CN" altLang="en-US" sz="2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元运算，</a:t>
                </a:r>
              </a:p>
              <a:p>
                <a:pPr eaLnBrk="1" hangingPunct="1">
                  <a:lnSpc>
                    <a:spcPct val="120000"/>
                  </a:lnSpc>
                </a:pPr>
                <a:r>
                  <a:rPr lang="en-US" altLang="zh-CN" sz="2400" b="1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 </a:t>
                </a:r>
                <a:r>
                  <a:rPr lang="en-US" altLang="zh-CN" sz="2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=1, 2, … , </a:t>
                </a:r>
                <a:r>
                  <a:rPr lang="en-US" altLang="zh-CN" sz="2400" b="1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en-US" altLang="zh-CN" sz="2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zh-CN" altLang="en-US" sz="2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关系 </a:t>
                </a:r>
                <a:r>
                  <a:rPr lang="en-US" altLang="zh-CN" sz="2400" b="1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 </a:t>
                </a:r>
                <a:r>
                  <a:rPr lang="zh-CN" altLang="en-US" sz="2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为</a:t>
                </a:r>
                <a:r>
                  <a:rPr lang="en-US" altLang="zh-CN" sz="2400" b="1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zh-CN" altLang="en-US" sz="2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上的同余关系，</a:t>
                </a:r>
                <a:r>
                  <a:rPr lang="en-US" altLang="zh-CN" sz="2400" b="1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zh-CN" altLang="en-US" sz="2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关于</a:t>
                </a:r>
                <a:r>
                  <a:rPr lang="en-US" altLang="zh-CN" sz="2400" b="1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zh-CN" altLang="en-US" sz="2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</a:t>
                </a:r>
                <a:r>
                  <a:rPr lang="zh-CN" altLang="en-US" sz="2400" b="1">
                    <a:solidFill>
                      <a:srgbClr val="8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商代数</a:t>
                </a:r>
              </a:p>
              <a:p>
                <a:pPr eaLnBrk="1" hangingPunct="1">
                  <a:lnSpc>
                    <a:spcPct val="120000"/>
                  </a:lnSpc>
                </a:pPr>
                <a:r>
                  <a:rPr lang="zh-CN" altLang="en-US" sz="2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记作</a:t>
                </a:r>
                <a:r>
                  <a:rPr lang="zh-CN" altLang="en-US" sz="12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</a:t>
                </a:r>
                <a:endParaRPr lang="zh-CN" altLang="en-US"/>
              </a:p>
            </p:txBody>
          </p:sp>
          <p:grpSp>
            <p:nvGrpSpPr>
              <p:cNvPr id="1035" name="Group 7">
                <a:extLst>
                  <a:ext uri="{FF2B5EF4-FFF2-40B4-BE49-F238E27FC236}">
                    <a16:creationId xmlns:a16="http://schemas.microsoft.com/office/drawing/2014/main" id="{CD9C92AD-78FC-4C72-BBF8-655F719943C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85" y="1979"/>
                <a:ext cx="4725" cy="1082"/>
                <a:chOff x="385" y="1979"/>
                <a:chExt cx="4725" cy="1082"/>
              </a:xfrm>
            </p:grpSpPr>
            <p:graphicFrame>
              <p:nvGraphicFramePr>
                <p:cNvPr id="1028" name="Object 8">
                  <a:extLst>
                    <a:ext uri="{FF2B5EF4-FFF2-40B4-BE49-F238E27FC236}">
                      <a16:creationId xmlns:a16="http://schemas.microsoft.com/office/drawing/2014/main" id="{9BBB6CCF-D09F-4455-8553-ED3D6D78D580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975" y="2659"/>
                <a:ext cx="3674" cy="40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057" name="公式" r:id="rId6" imgW="2349500" imgH="254000" progId="Equation.3">
                        <p:embed/>
                      </p:oleObj>
                    </mc:Choice>
                    <mc:Fallback>
                      <p:oleObj name="公式" r:id="rId6" imgW="2349500" imgH="254000" progId="Equation.3">
                        <p:embed/>
                        <p:pic>
                          <p:nvPicPr>
                            <p:cNvPr id="0" name="Object 8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975" y="2659"/>
                              <a:ext cx="3674" cy="402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pSp>
              <p:nvGrpSpPr>
                <p:cNvPr id="1036" name="Group 9">
                  <a:extLst>
                    <a:ext uri="{FF2B5EF4-FFF2-40B4-BE49-F238E27FC236}">
                      <a16:creationId xmlns:a16="http://schemas.microsoft.com/office/drawing/2014/main" id="{75EB6F4B-B8A6-4050-8498-1EF058AD066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85" y="1979"/>
                  <a:ext cx="4725" cy="605"/>
                  <a:chOff x="385" y="1979"/>
                  <a:chExt cx="4725" cy="605"/>
                </a:xfrm>
              </p:grpSpPr>
              <p:grpSp>
                <p:nvGrpSpPr>
                  <p:cNvPr id="1037" name="Group 10">
                    <a:extLst>
                      <a:ext uri="{FF2B5EF4-FFF2-40B4-BE49-F238E27FC236}">
                        <a16:creationId xmlns:a16="http://schemas.microsoft.com/office/drawing/2014/main" id="{23AA4FB8-ABA1-471F-9ACD-608ECB88A3E3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85" y="1979"/>
                    <a:ext cx="4725" cy="317"/>
                    <a:chOff x="385" y="1979"/>
                    <a:chExt cx="4725" cy="317"/>
                  </a:xfrm>
                </p:grpSpPr>
                <p:graphicFrame>
                  <p:nvGraphicFramePr>
                    <p:cNvPr id="1029" name="Object 11">
                      <a:extLst>
                        <a:ext uri="{FF2B5EF4-FFF2-40B4-BE49-F238E27FC236}">
                          <a16:creationId xmlns:a16="http://schemas.microsoft.com/office/drawing/2014/main" id="{81FD441B-93F5-48A8-89E9-1C32BC2D40E7}"/>
                        </a:ext>
                      </a:extLst>
                    </p:cNvPr>
                    <p:cNvGraphicFramePr>
                      <a:graphicFrameLocks noChangeAspect="1"/>
                    </p:cNvGraphicFramePr>
                    <p:nvPr/>
                  </p:nvGraphicFramePr>
                  <p:xfrm>
                    <a:off x="4876" y="1979"/>
                    <a:ext cx="234" cy="317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spid="_x0000_s1058" name="公式" r:id="rId8" imgW="164885" imgH="215619" progId="Equation.3">
                            <p:embed/>
                          </p:oleObj>
                        </mc:Choice>
                        <mc:Fallback>
                          <p:oleObj name="公式" r:id="rId8" imgW="164885" imgH="215619" progId="Equation.3">
                            <p:embed/>
                            <p:pic>
                              <p:nvPicPr>
                                <p:cNvPr id="0" name="Object 11"/>
                                <p:cNvPicPr>
                                  <a:picLocks noChangeAspect="1" noChangeArrowheads="1"/>
                                </p:cNvPicPr>
                                <p:nvPr/>
                              </p:nvPicPr>
                              <p:blipFill>
                                <a:blip r:embed="rId9">
                                  <a:extLst>
                                    <a:ext uri="{28A0092B-C50C-407E-A947-70E740481C1C}">
                                      <a14:useLocalDpi xmlns:a14="http://schemas.microsoft.com/office/drawing/2010/main" val="0"/>
                                    </a:ext>
                                  </a:extLst>
                                </a:blip>
                                <a:srcRect/>
                                <a:stretch>
                                  <a:fillRect/>
                                </a:stretch>
                              </p:blipFill>
                              <p:spPr bwMode="auto">
                                <a:xfrm>
                                  <a:off x="4876" y="1979"/>
                                  <a:ext cx="234" cy="317"/>
                                </a:xfrm>
                                <a:prstGeom prst="rect">
                                  <a:avLst/>
                                </a:prstGeom>
                                <a:noFill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</a:extLst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  <p:sp>
                  <p:nvSpPr>
                    <p:cNvPr id="1039" name="Rectangle 12">
                      <a:extLst>
                        <a:ext uri="{FF2B5EF4-FFF2-40B4-BE49-F238E27FC236}">
                          <a16:creationId xmlns:a16="http://schemas.microsoft.com/office/drawing/2014/main" id="{D54A04BA-AEFA-45A1-8F1F-3F90E725D8D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85" y="1990"/>
                      <a:ext cx="4566" cy="28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>
                      <a:spAutoFit/>
                    </a:bodyPr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/>
                      <a:r>
                        <a:rPr lang="zh-CN" altLang="en-US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其中</a:t>
                      </a:r>
                      <a:r>
                        <a:rPr lang="en-US" altLang="zh-CN" sz="2400" b="1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altLang="zh-CN" sz="2400" b="1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 </a:t>
                      </a:r>
                      <a:r>
                        <a:rPr lang="zh-CN" altLang="en-US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是关于同余关系的商集</a:t>
                      </a:r>
                      <a:r>
                        <a:rPr lang="en-US" altLang="zh-CN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zh-CN" altLang="en-US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对于</a:t>
                      </a:r>
                      <a:r>
                        <a:rPr lang="en-US" altLang="zh-CN" sz="2400" b="1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 </a:t>
                      </a:r>
                      <a:r>
                        <a:rPr lang="en-US" altLang="zh-CN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=1,2,</a:t>
                      </a:r>
                      <a:r>
                        <a:rPr lang="en-US" altLang="zh-CN" sz="2400" b="1">
                          <a:cs typeface="Times New Roman" panose="02020603050405020304" pitchFamily="18" charset="0"/>
                        </a:rPr>
                        <a:t>…</a:t>
                      </a:r>
                      <a:r>
                        <a:rPr lang="en-US" altLang="zh-CN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altLang="zh-CN" sz="2400" b="1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lang="en-US" altLang="zh-CN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zh-CN" altLang="en-US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运算</a:t>
                      </a:r>
                      <a:endParaRPr lang="zh-CN" altLang="en-US" sz="2400"/>
                    </a:p>
                  </p:txBody>
                </p:sp>
              </p:grpSp>
              <p:sp>
                <p:nvSpPr>
                  <p:cNvPr id="1038" name="Rectangle 13">
                    <a:extLst>
                      <a:ext uri="{FF2B5EF4-FFF2-40B4-BE49-F238E27FC236}">
                        <a16:creationId xmlns:a16="http://schemas.microsoft.com/office/drawing/2014/main" id="{5325EC2B-DB52-4001-8D75-8B9F575BF3E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85" y="2296"/>
                    <a:ext cx="695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zh-CN" altLang="en-US" sz="2400" b="1"/>
                      <a:t>定义为</a:t>
                    </a:r>
                  </a:p>
                </p:txBody>
              </p:sp>
            </p:grpSp>
          </p:grpSp>
        </p:grpSp>
        <p:graphicFrame>
          <p:nvGraphicFramePr>
            <p:cNvPr id="1027" name="Object 14">
              <a:extLst>
                <a:ext uri="{FF2B5EF4-FFF2-40B4-BE49-F238E27FC236}">
                  <a16:creationId xmlns:a16="http://schemas.microsoft.com/office/drawing/2014/main" id="{836B3758-324D-4DCD-8506-E7D94DB9D15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11" y="1627"/>
            <a:ext cx="2086" cy="2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9" name="公式" r:id="rId10" imgW="1625600" imgH="228600" progId="Equation.3">
                    <p:embed/>
                  </p:oleObj>
                </mc:Choice>
                <mc:Fallback>
                  <p:oleObj name="公式" r:id="rId10" imgW="1625600" imgH="228600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11" y="1627"/>
                          <a:ext cx="2086" cy="29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标题 1">
            <a:extLst>
              <a:ext uri="{FF2B5EF4-FFF2-40B4-BE49-F238E27FC236}">
                <a16:creationId xmlns:a16="http://schemas.microsoft.com/office/drawing/2014/main" id="{B2B84A97-5250-40A4-9EAA-96B04808A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pPr algn="ctr"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实例：模</a:t>
            </a:r>
            <a:r>
              <a:rPr lang="en-US" altLang="zh-CN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n</a:t>
            </a: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的同余类</a:t>
            </a:r>
          </a:p>
        </p:txBody>
      </p:sp>
      <p:sp>
        <p:nvSpPr>
          <p:cNvPr id="12291" name="内容占位符 3">
            <a:extLst>
              <a:ext uri="{FF2B5EF4-FFF2-40B4-BE49-F238E27FC236}">
                <a16:creationId xmlns:a16="http://schemas.microsoft.com/office/drawing/2014/main" id="{08525D39-E537-4252-935C-471E3A6BB4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750" y="1382713"/>
            <a:ext cx="8229600" cy="1685925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V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= &lt;Z,+&gt;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，同余关系：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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y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y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mod 3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Z/ = { [0], [1], [2] }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 = &lt;Z/,&gt;, 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[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],[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]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Z/,  [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][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] = [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x+y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]</a:t>
            </a:r>
            <a:endParaRPr lang="zh-CN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580" name="灯片编号占位符 2">
            <a:extLst>
              <a:ext uri="{FF2B5EF4-FFF2-40B4-BE49-F238E27FC236}">
                <a16:creationId xmlns:a16="http://schemas.microsoft.com/office/drawing/2014/main" id="{96AD7C5B-A201-450E-A497-766CCD907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3A62807-6FA0-458C-B66E-007C7FAAC8DD}" type="slidenum">
              <a:rPr lang="en-US" altLang="zh-CN">
                <a:solidFill>
                  <a:srgbClr val="898989"/>
                </a:solidFill>
              </a:rPr>
              <a:pPr eaLnBrk="1" hangingPunct="1"/>
              <a:t>5</a:t>
            </a:fld>
            <a:endParaRPr lang="en-US" altLang="zh-CN">
              <a:solidFill>
                <a:srgbClr val="898989"/>
              </a:solidFill>
            </a:endParaRP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E65252D6-D567-406C-ADFB-6DEE71C00B0F}"/>
              </a:ext>
            </a:extLst>
          </p:cNvPr>
          <p:cNvGraphicFramePr>
            <a:graphicFrameLocks noGrp="1"/>
          </p:cNvGraphicFramePr>
          <p:nvPr/>
        </p:nvGraphicFramePr>
        <p:xfrm>
          <a:off x="1763713" y="3259138"/>
          <a:ext cx="4032250" cy="23288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13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108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15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ts val="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5E5C00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Symbol"/>
                        </a:rPr>
                        <a:t> </a:t>
                      </a:r>
                      <a:endParaRPr lang="zh-CN" altLang="en-US" sz="2800" b="1" dirty="0"/>
                    </a:p>
                  </a:txBody>
                  <a:tcPr marL="91436" marR="91436" marT="46444" marB="464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000"/>
                        </a:lnSpc>
                      </a:pPr>
                      <a:r>
                        <a:rPr lang="en-US" altLang="zh-CN" sz="2800" b="1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[0]      [1]       [2]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36" marR="91436" marT="46444" marB="464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57347">
                <a:tc>
                  <a:txBody>
                    <a:bodyPr/>
                    <a:lstStyle/>
                    <a:p>
                      <a:pPr algn="ctr">
                        <a:lnSpc>
                          <a:spcPts val="4000"/>
                        </a:lnSpc>
                      </a:pPr>
                      <a:r>
                        <a:rPr lang="en-US" altLang="zh-CN" sz="2800" b="1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[0]</a:t>
                      </a:r>
                    </a:p>
                    <a:p>
                      <a:pPr algn="ctr">
                        <a:lnSpc>
                          <a:spcPts val="4000"/>
                        </a:lnSpc>
                      </a:pPr>
                      <a:r>
                        <a:rPr lang="en-US" altLang="zh-CN" sz="2800" b="1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[1]</a:t>
                      </a:r>
                    </a:p>
                    <a:p>
                      <a:pPr algn="ctr">
                        <a:lnSpc>
                          <a:spcPts val="4000"/>
                        </a:lnSpc>
                      </a:pPr>
                      <a:r>
                        <a:rPr lang="en-US" altLang="zh-CN" sz="2800" b="1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[2]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36" marR="91436" marT="46444" marB="464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000"/>
                        </a:lnSpc>
                      </a:pPr>
                      <a:r>
                        <a:rPr lang="en-US" altLang="zh-CN" sz="2800" b="1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[0]      [1]       [2] </a:t>
                      </a:r>
                    </a:p>
                    <a:p>
                      <a:pPr algn="ctr">
                        <a:lnSpc>
                          <a:spcPts val="4000"/>
                        </a:lnSpc>
                      </a:pPr>
                      <a:r>
                        <a:rPr lang="en-US" altLang="zh-CN" sz="2800" b="1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[1]      [2]       [0]</a:t>
                      </a:r>
                    </a:p>
                    <a:p>
                      <a:pPr algn="ctr">
                        <a:lnSpc>
                          <a:spcPts val="4000"/>
                        </a:lnSpc>
                      </a:pPr>
                      <a:r>
                        <a:rPr lang="en-US" altLang="zh-CN" sz="2800" b="1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[2]      [0]       [1] 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36" marR="91436" marT="46444" marB="464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2">
            <a:extLst>
              <a:ext uri="{FF2B5EF4-FFF2-40B4-BE49-F238E27FC236}">
                <a16:creationId xmlns:a16="http://schemas.microsoft.com/office/drawing/2014/main" id="{6AD65B49-735E-4A26-89DE-4A094E84F2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277813"/>
            <a:ext cx="7931150" cy="774700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商代数的良定义性</a:t>
            </a:r>
          </a:p>
        </p:txBody>
      </p:sp>
      <p:sp>
        <p:nvSpPr>
          <p:cNvPr id="7171" name="灯片编号占位符 4">
            <a:extLst>
              <a:ext uri="{FF2B5EF4-FFF2-40B4-BE49-F238E27FC236}">
                <a16:creationId xmlns:a16="http://schemas.microsoft.com/office/drawing/2014/main" id="{C932A638-8F78-4192-9238-D76CFEF81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F16BFA9-8BE9-4716-B0B5-00C63616FF9B}" type="slidenum">
              <a:rPr lang="en-US" altLang="zh-CN">
                <a:solidFill>
                  <a:srgbClr val="898989"/>
                </a:solidFill>
              </a:rPr>
              <a:pPr eaLnBrk="1" hangingPunct="1"/>
              <a:t>6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2053" name="Rectangle 3">
            <a:extLst>
              <a:ext uri="{FF2B5EF4-FFF2-40B4-BE49-F238E27FC236}">
                <a16:creationId xmlns:a16="http://schemas.microsoft.com/office/drawing/2014/main" id="{5E416221-338C-4631-A156-4BC89B1CBB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274763"/>
            <a:ext cx="8604250" cy="186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6127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400" b="1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运算的</a:t>
            </a:r>
            <a:r>
              <a:rPr lang="zh-CN" altLang="en-US" sz="2400" b="1">
                <a:solidFill>
                  <a:srgbClr val="C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良定义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400" b="1">
                <a:latin typeface="宋体" panose="02010600030101010101" pitchFamily="2" charset="-122"/>
                <a:cs typeface="Times New Roman" panose="02020603050405020304" pitchFamily="18" charset="0"/>
              </a:rPr>
              <a:t>运算结果与参与运算元素的表示无关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400" b="1">
                <a:latin typeface="宋体" panose="02010600030101010101" pitchFamily="2" charset="-122"/>
                <a:cs typeface="Times New Roman" panose="02020603050405020304" pitchFamily="18" charset="0"/>
              </a:rPr>
              <a:t>对于任意运算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400" b="1" i="1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设为</a:t>
            </a:r>
            <a:r>
              <a:rPr lang="zh-CN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400" b="1" i="1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元运算，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 i="1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j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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="1" i="1" baseline="-30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j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j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=1, 2, … ,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altLang="zh-CN" sz="2400" b="1" i="1" baseline="-30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则</a:t>
            </a:r>
          </a:p>
        </p:txBody>
      </p:sp>
      <p:graphicFrame>
        <p:nvGraphicFramePr>
          <p:cNvPr id="2050" name="Object 4">
            <a:extLst>
              <a:ext uri="{FF2B5EF4-FFF2-40B4-BE49-F238E27FC236}">
                <a16:creationId xmlns:a16="http://schemas.microsoft.com/office/drawing/2014/main" id="{EF5D7324-CE08-4989-B9B8-3C44FF736BF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35150" y="3357563"/>
          <a:ext cx="3451225" cy="226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" name="公式" r:id="rId4" imgW="1295400" imgH="1016000" progId="Equation.3">
                  <p:embed/>
                </p:oleObj>
              </mc:Choice>
              <mc:Fallback>
                <p:oleObj name="公式" r:id="rId4" imgW="1295400" imgH="10160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3357563"/>
                        <a:ext cx="3451225" cy="2266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>
            <a:extLst>
              <a:ext uri="{FF2B5EF4-FFF2-40B4-BE49-F238E27FC236}">
                <a16:creationId xmlns:a16="http://schemas.microsoft.com/office/drawing/2014/main" id="{AC5DF011-718F-47E2-8D8E-0E571131C3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277813"/>
            <a:ext cx="7772400" cy="847725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商代数的性质</a:t>
            </a:r>
          </a:p>
        </p:txBody>
      </p:sp>
      <p:sp>
        <p:nvSpPr>
          <p:cNvPr id="25602" name="灯片编号占位符 4">
            <a:extLst>
              <a:ext uri="{FF2B5EF4-FFF2-40B4-BE49-F238E27FC236}">
                <a16:creationId xmlns:a16="http://schemas.microsoft.com/office/drawing/2014/main" id="{D9A308A5-694D-4C77-8F8F-E3671D5C4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EEF1BF9-7F72-4903-A240-0801A52C4D8F}" type="slidenum">
              <a:rPr lang="en-US" altLang="zh-CN">
                <a:solidFill>
                  <a:srgbClr val="898989"/>
                </a:solidFill>
              </a:rPr>
              <a:pPr eaLnBrk="1" hangingPunct="1"/>
              <a:t>7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8EBBEC6A-189C-42AC-9984-7683789BD2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1157288"/>
            <a:ext cx="8497887" cy="4935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latin typeface="Times New Roman" panose="02020603050405020304" pitchFamily="18" charset="0"/>
              </a:rPr>
              <a:t>设代数系统 </a:t>
            </a:r>
            <a:r>
              <a:rPr lang="en-US" altLang="zh-CN" sz="2400" b="1" i="1">
                <a:latin typeface="Times New Roman" panose="02020603050405020304" pitchFamily="18" charset="0"/>
              </a:rPr>
              <a:t>V</a:t>
            </a:r>
            <a:r>
              <a:rPr lang="en-US" altLang="zh-CN" sz="2400" b="1">
                <a:latin typeface="Times New Roman" panose="02020603050405020304" pitchFamily="18" charset="0"/>
              </a:rPr>
              <a:t>,  </a:t>
            </a:r>
            <a:r>
              <a:rPr lang="en-US" altLang="zh-CN" sz="2400" b="1" i="1">
                <a:latin typeface="Times New Roman" panose="02020603050405020304" pitchFamily="18" charset="0"/>
              </a:rPr>
              <a:t>R</a:t>
            </a:r>
            <a:r>
              <a:rPr lang="zh-CN" altLang="en-US" sz="2400" b="1">
                <a:latin typeface="Times New Roman" panose="02020603050405020304" pitchFamily="18" charset="0"/>
              </a:rPr>
              <a:t>是</a:t>
            </a:r>
            <a:r>
              <a:rPr lang="en-US" altLang="zh-CN" sz="2400" b="1" i="1">
                <a:latin typeface="Times New Roman" panose="02020603050405020304" pitchFamily="18" charset="0"/>
              </a:rPr>
              <a:t>V</a:t>
            </a:r>
            <a:r>
              <a:rPr lang="zh-CN" altLang="en-US" sz="2400" b="1">
                <a:latin typeface="Times New Roman" panose="02020603050405020304" pitchFamily="18" charset="0"/>
              </a:rPr>
              <a:t>上的同余关系，</a:t>
            </a:r>
            <a:r>
              <a:rPr lang="en-US" altLang="zh-CN" sz="2400" b="1" i="1">
                <a:latin typeface="Times New Roman" panose="02020603050405020304" pitchFamily="18" charset="0"/>
              </a:rPr>
              <a:t>V </a:t>
            </a:r>
            <a:r>
              <a:rPr lang="zh-CN" altLang="en-US" sz="2400" b="1">
                <a:latin typeface="Times New Roman" panose="02020603050405020304" pitchFamily="18" charset="0"/>
              </a:rPr>
              <a:t>关于 </a:t>
            </a:r>
            <a:r>
              <a:rPr lang="en-US" altLang="zh-CN" sz="2400" b="1" i="1">
                <a:latin typeface="Times New Roman" panose="02020603050405020304" pitchFamily="18" charset="0"/>
              </a:rPr>
              <a:t>R </a:t>
            </a:r>
            <a:r>
              <a:rPr lang="zh-CN" altLang="en-US" sz="2400" b="1">
                <a:latin typeface="Times New Roman" panose="02020603050405020304" pitchFamily="18" charset="0"/>
              </a:rPr>
              <a:t>的</a:t>
            </a:r>
          </a:p>
          <a:p>
            <a:pPr eaLnBrk="1" hangingPunct="1"/>
            <a:r>
              <a:rPr lang="zh-CN" altLang="en-US" sz="2400" b="1">
                <a:latin typeface="Times New Roman" panose="02020603050405020304" pitchFamily="18" charset="0"/>
              </a:rPr>
              <a:t>商代数 </a:t>
            </a:r>
            <a:r>
              <a:rPr lang="en-US" altLang="zh-CN" sz="2400" b="1" i="1">
                <a:latin typeface="Times New Roman" panose="02020603050405020304" pitchFamily="18" charset="0"/>
              </a:rPr>
              <a:t>V</a:t>
            </a:r>
            <a:r>
              <a:rPr lang="en-US" altLang="zh-CN" sz="2400" b="1">
                <a:latin typeface="Times New Roman" panose="02020603050405020304" pitchFamily="18" charset="0"/>
              </a:rPr>
              <a:t>/</a:t>
            </a:r>
            <a:r>
              <a:rPr lang="en-US" altLang="zh-CN" sz="2400" b="1" i="1">
                <a:latin typeface="Times New Roman" panose="02020603050405020304" pitchFamily="18" charset="0"/>
              </a:rPr>
              <a:t>R</a:t>
            </a:r>
            <a:r>
              <a:rPr lang="zh-CN" altLang="en-US" sz="2400" b="1">
                <a:latin typeface="Times New Roman" panose="02020603050405020304" pitchFamily="18" charset="0"/>
              </a:rPr>
              <a:t>，那么</a:t>
            </a:r>
            <a:endParaRPr lang="zh-CN" altLang="en-US" sz="2400">
              <a:latin typeface="Times New Roman" panose="02020603050405020304" pitchFamily="18" charset="0"/>
            </a:endParaRPr>
          </a:p>
          <a:p>
            <a:pPr eaLnBrk="1" hangingPunct="1">
              <a:spcBef>
                <a:spcPts val="600"/>
              </a:spcBef>
            </a:pPr>
            <a:r>
              <a:rPr lang="zh-CN" altLang="en-US" sz="2400" b="1">
                <a:latin typeface="Times New Roman" panose="02020603050405020304" pitchFamily="18" charset="0"/>
              </a:rPr>
              <a:t>  </a:t>
            </a:r>
            <a:r>
              <a:rPr lang="en-US" altLang="zh-CN" sz="2400" b="1">
                <a:latin typeface="Times New Roman" panose="02020603050405020304" pitchFamily="18" charset="0"/>
              </a:rPr>
              <a:t>(1) </a:t>
            </a:r>
            <a:r>
              <a:rPr lang="en-US" altLang="zh-CN" sz="2400" b="1" i="1">
                <a:latin typeface="Times New Roman" panose="02020603050405020304" pitchFamily="18" charset="0"/>
              </a:rPr>
              <a:t>V</a:t>
            </a:r>
            <a:r>
              <a:rPr lang="en-US" altLang="zh-CN" sz="2400" b="1">
                <a:latin typeface="Times New Roman" panose="02020603050405020304" pitchFamily="18" charset="0"/>
              </a:rPr>
              <a:t>/</a:t>
            </a:r>
            <a:r>
              <a:rPr lang="en-US" altLang="zh-CN" sz="2400" b="1" i="1">
                <a:latin typeface="Times New Roman" panose="02020603050405020304" pitchFamily="18" charset="0"/>
              </a:rPr>
              <a:t>R</a:t>
            </a: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  <a:r>
              <a:rPr lang="zh-CN" altLang="en-US" sz="2400" b="1">
                <a:latin typeface="Times New Roman" panose="02020603050405020304" pitchFamily="18" charset="0"/>
              </a:rPr>
              <a:t>保持 </a:t>
            </a:r>
            <a:r>
              <a:rPr lang="en-US" altLang="zh-CN" sz="2400" b="1" i="1">
                <a:latin typeface="Times New Roman" panose="02020603050405020304" pitchFamily="18" charset="0"/>
              </a:rPr>
              <a:t>V </a:t>
            </a:r>
            <a:r>
              <a:rPr lang="zh-CN" altLang="en-US" sz="2400" b="1">
                <a:latin typeface="Times New Roman" panose="02020603050405020304" pitchFamily="18" charset="0"/>
              </a:rPr>
              <a:t>的下述性质：</a:t>
            </a:r>
            <a:endParaRPr lang="zh-CN" altLang="en-US" sz="240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sz="2400" b="1">
                <a:solidFill>
                  <a:srgbClr val="C00000"/>
                </a:solidFill>
                <a:latin typeface="Times New Roman" panose="02020603050405020304" pitchFamily="18" charset="0"/>
              </a:rPr>
              <a:t>        交换、结合、幂等、分配、吸收律</a:t>
            </a:r>
            <a:endParaRPr lang="zh-CN" altLang="en-US" sz="2400">
              <a:solidFill>
                <a:srgbClr val="C00000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ts val="600"/>
              </a:spcBef>
            </a:pPr>
            <a:r>
              <a:rPr lang="zh-CN" altLang="en-US" sz="2400" b="1">
                <a:latin typeface="Times New Roman" panose="02020603050405020304" pitchFamily="18" charset="0"/>
              </a:rPr>
              <a:t>  </a:t>
            </a:r>
            <a:r>
              <a:rPr lang="en-US" altLang="zh-CN" sz="2400" b="1">
                <a:latin typeface="Times New Roman" panose="02020603050405020304" pitchFamily="18" charset="0"/>
              </a:rPr>
              <a:t>(2) </a:t>
            </a:r>
            <a:r>
              <a:rPr lang="en-US" altLang="zh-CN" sz="2400" b="1" i="1">
                <a:latin typeface="Times New Roman" panose="02020603050405020304" pitchFamily="18" charset="0"/>
              </a:rPr>
              <a:t>V</a:t>
            </a:r>
            <a:r>
              <a:rPr lang="en-US" altLang="zh-CN" sz="2400" b="1">
                <a:latin typeface="Times New Roman" panose="02020603050405020304" pitchFamily="18" charset="0"/>
              </a:rPr>
              <a:t>/</a:t>
            </a:r>
            <a:r>
              <a:rPr lang="en-US" altLang="zh-CN" sz="2400" b="1" i="1">
                <a:latin typeface="Times New Roman" panose="02020603050405020304" pitchFamily="18" charset="0"/>
              </a:rPr>
              <a:t>R </a:t>
            </a:r>
            <a:r>
              <a:rPr lang="zh-CN" altLang="en-US" sz="2400" b="1">
                <a:latin typeface="Times New Roman" panose="02020603050405020304" pitchFamily="18" charset="0"/>
              </a:rPr>
              <a:t>保持</a:t>
            </a:r>
            <a:r>
              <a:rPr lang="en-US" altLang="zh-CN" sz="2400" b="1" i="1">
                <a:latin typeface="Times New Roman" panose="02020603050405020304" pitchFamily="18" charset="0"/>
              </a:rPr>
              <a:t>V </a:t>
            </a:r>
            <a:r>
              <a:rPr lang="zh-CN" altLang="en-US" sz="2400" b="1">
                <a:latin typeface="Times New Roman" panose="02020603050405020304" pitchFamily="18" charset="0"/>
              </a:rPr>
              <a:t>的单位元、零元、逆元，即</a:t>
            </a:r>
            <a:endParaRPr lang="zh-CN" altLang="en-US" sz="240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sz="2400" b="1">
                <a:latin typeface="Times New Roman" panose="02020603050405020304" pitchFamily="18" charset="0"/>
              </a:rPr>
              <a:t>        </a:t>
            </a:r>
            <a:r>
              <a:rPr lang="en-US" altLang="zh-CN" sz="2400" b="1">
                <a:latin typeface="Times New Roman" panose="02020603050405020304" pitchFamily="18" charset="0"/>
              </a:rPr>
              <a:t>[</a:t>
            </a:r>
            <a:r>
              <a:rPr lang="en-US" altLang="zh-CN" sz="2400" b="1" i="1">
                <a:latin typeface="Times New Roman" panose="02020603050405020304" pitchFamily="18" charset="0"/>
              </a:rPr>
              <a:t>e</a:t>
            </a:r>
            <a:r>
              <a:rPr lang="en-US" altLang="zh-CN" sz="2400" b="1">
                <a:latin typeface="Times New Roman" panose="02020603050405020304" pitchFamily="18" charset="0"/>
              </a:rPr>
              <a:t>]</a:t>
            </a:r>
            <a:r>
              <a:rPr lang="zh-CN" altLang="en-US" sz="2400" b="1">
                <a:latin typeface="Times New Roman" panose="02020603050405020304" pitchFamily="18" charset="0"/>
              </a:rPr>
              <a:t>是商代数的</a:t>
            </a:r>
            <a:r>
              <a:rPr lang="zh-CN" altLang="en-US" sz="2400" b="1">
                <a:solidFill>
                  <a:srgbClr val="C00000"/>
                </a:solidFill>
                <a:latin typeface="Times New Roman" panose="02020603050405020304" pitchFamily="18" charset="0"/>
              </a:rPr>
              <a:t>单位元</a:t>
            </a:r>
            <a:r>
              <a:rPr lang="zh-CN" altLang="en-US" sz="2400" b="1">
                <a:solidFill>
                  <a:srgbClr val="800000"/>
                </a:solidFill>
                <a:latin typeface="Times New Roman" panose="02020603050405020304" pitchFamily="18" charset="0"/>
              </a:rPr>
              <a:t> </a:t>
            </a:r>
            <a:endParaRPr lang="zh-CN" altLang="en-US" sz="2400">
              <a:solidFill>
                <a:srgbClr val="800000"/>
              </a:solidFill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sz="2400" b="1">
                <a:latin typeface="Times New Roman" panose="02020603050405020304" pitchFamily="18" charset="0"/>
              </a:rPr>
              <a:t>        </a:t>
            </a:r>
            <a:r>
              <a:rPr lang="en-US" altLang="zh-CN" sz="2400" b="1">
                <a:latin typeface="Times New Roman" panose="02020603050405020304" pitchFamily="18" charset="0"/>
              </a:rPr>
              <a:t>[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lang="en-US" altLang="zh-CN" sz="2400" b="1">
                <a:latin typeface="Times New Roman" panose="02020603050405020304" pitchFamily="18" charset="0"/>
              </a:rPr>
              <a:t>]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是商代数的</a:t>
            </a:r>
            <a:r>
              <a:rPr lang="zh-CN" altLang="en-US" sz="2400" b="1">
                <a:solidFill>
                  <a:srgbClr val="C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零元</a:t>
            </a:r>
            <a:endParaRPr lang="zh-CN" altLang="en-US" sz="2400">
              <a:solidFill>
                <a:srgbClr val="C00000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       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[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1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]=[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]</a:t>
            </a:r>
            <a:r>
              <a:rPr lang="en-US" altLang="zh-CN" sz="24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1 </a:t>
            </a:r>
            <a:endParaRPr lang="en-US" altLang="zh-CN" sz="2400" baseline="300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70000"/>
              </a:spcBef>
            </a:pPr>
            <a:r>
              <a:rPr lang="zh-CN" altLang="en-US" sz="2400" b="1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注</a:t>
            </a:r>
            <a:r>
              <a:rPr lang="zh-CN" altLang="en-US" sz="2400" b="1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消去律不一定保持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.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例如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&lt;Z,</a:t>
            </a:r>
            <a:r>
              <a:rPr lang="en-US" altLang="zh-CN" sz="2400" b="1">
                <a:latin typeface="Lucida Sans Unicode" panose="020B0602030504020204" pitchFamily="34" charset="0"/>
                <a:cs typeface="Lucida Sans Unicode" panose="020B0602030504020204" pitchFamily="34" charset="0"/>
                <a:sym typeface="Symbol" panose="05050102010706020507" pitchFamily="18" charset="2"/>
              </a:rPr>
              <a:t>⋅</a:t>
            </a:r>
            <a:r>
              <a:rPr lang="en-US" altLang="zh-CN" sz="2400" b="1">
                <a:latin typeface="Times New Roman" panose="02020603050405020304" pitchFamily="18" charset="0"/>
              </a:rPr>
              <a:t>&gt;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有消去律，定义等价关 </a:t>
            </a:r>
          </a:p>
          <a:p>
            <a:pPr eaLnBrk="1" hangingPunct="1"/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     系如下：</a:t>
            </a:r>
            <a:r>
              <a:rPr lang="zh-CN" altLang="en-US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xRy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</a:t>
            </a: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</a:t>
            </a:r>
            <a:r>
              <a:rPr lang="en-US" altLang="zh-CN" sz="2400" b="1" i="1">
                <a:latin typeface="Times New Roman" panose="02020603050405020304" pitchFamily="18" charset="0"/>
              </a:rPr>
              <a:t>y </a:t>
            </a:r>
            <a:r>
              <a:rPr lang="en-US" altLang="zh-CN" sz="2400" b="1">
                <a:latin typeface="Times New Roman" panose="02020603050405020304" pitchFamily="18" charset="0"/>
              </a:rPr>
              <a:t>(mod 4). </a:t>
            </a:r>
            <a:endParaRPr lang="en-US" altLang="zh-CN" sz="24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   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商代数为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/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R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= &lt;{[0],[1],[2],[3]},</a:t>
            </a:r>
            <a:r>
              <a:rPr lang="en-US" altLang="zh-CN" sz="2400" b="1">
                <a:latin typeface="Times New Roman" panose="02020603050405020304" pitchFamily="18" charset="0"/>
              </a:rPr>
              <a:t>&gt;.</a:t>
            </a:r>
            <a:endParaRPr lang="en-US" altLang="zh-CN" sz="24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   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没有消去律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. [2]</a:t>
            </a:r>
            <a:r>
              <a:rPr lang="en-US" altLang="zh-CN" sz="2400" b="1">
                <a:latin typeface="Times New Roman" panose="02020603050405020304" pitchFamily="18" charset="0"/>
              </a:rPr>
              <a:t>[2] = [0]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</a:t>
            </a:r>
            <a:r>
              <a:rPr lang="en-US" altLang="zh-CN" sz="2400" b="1">
                <a:latin typeface="Times New Roman" panose="02020603050405020304" pitchFamily="18" charset="0"/>
              </a:rPr>
              <a:t>[2],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但是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[0]  </a:t>
            </a:r>
            <a:r>
              <a:rPr lang="en-US" altLang="zh-CN" sz="2400" b="1">
                <a:latin typeface="Times New Roman" panose="02020603050405020304" pitchFamily="18" charset="0"/>
              </a:rPr>
              <a:t>[2].  </a:t>
            </a:r>
            <a:r>
              <a:rPr lang="en-US" altLang="zh-CN" sz="2400">
                <a:latin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>
            <a:extLst>
              <a:ext uri="{FF2B5EF4-FFF2-40B4-BE49-F238E27FC236}">
                <a16:creationId xmlns:a16="http://schemas.microsoft.com/office/drawing/2014/main" id="{528CCEE4-1753-42AF-BA76-A33670E65D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2588" y="288925"/>
            <a:ext cx="8229600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同态、同余关系与商代数的联系</a:t>
            </a:r>
          </a:p>
        </p:txBody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30C936E7-9B7F-4B02-8CC2-D2D6667505B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11188" y="1628775"/>
            <a:ext cx="7772400" cy="4530725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zh-CN" altLang="en-US" b="1"/>
              <a:t>同态映射导出同余关系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b="1"/>
              <a:t>商代数是原代数的同态像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b="1"/>
              <a:t>   通过自然映射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b="1"/>
              <a:t>同态基本定理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b="1"/>
              <a:t>   代数系统的同态像同构于它的商代数</a:t>
            </a:r>
          </a:p>
        </p:txBody>
      </p:sp>
      <p:sp>
        <p:nvSpPr>
          <p:cNvPr id="26626" name="灯片编号占位符 5">
            <a:extLst>
              <a:ext uri="{FF2B5EF4-FFF2-40B4-BE49-F238E27FC236}">
                <a16:creationId xmlns:a16="http://schemas.microsoft.com/office/drawing/2014/main" id="{90D9E34A-95D8-43BC-A81E-B7EB9D590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F5C2FD4-E5AF-4585-9DEE-8EB1DEBF32AC}" type="slidenum">
              <a:rPr lang="en-US" altLang="zh-CN">
                <a:solidFill>
                  <a:srgbClr val="898989"/>
                </a:solidFill>
              </a:rPr>
              <a:pPr eaLnBrk="1" hangingPunct="1"/>
              <a:t>8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0" name="Rectangle 3">
            <a:extLst>
              <a:ext uri="{FF2B5EF4-FFF2-40B4-BE49-F238E27FC236}">
                <a16:creationId xmlns:a16="http://schemas.microsoft.com/office/drawing/2014/main" id="{EB64514B-DF6B-4A70-849B-9BD179A431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188913"/>
            <a:ext cx="8229600" cy="849312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同态映射导出同余关系</a:t>
            </a:r>
          </a:p>
        </p:txBody>
      </p:sp>
      <p:sp>
        <p:nvSpPr>
          <p:cNvPr id="8198" name="灯片编号占位符 6">
            <a:extLst>
              <a:ext uri="{FF2B5EF4-FFF2-40B4-BE49-F238E27FC236}">
                <a16:creationId xmlns:a16="http://schemas.microsoft.com/office/drawing/2014/main" id="{05D8C022-8EE9-423B-987C-9CE51E619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3C6D9E1-1AEE-4E64-BB38-9383E9E46341}" type="slidenum">
              <a:rPr lang="en-US" altLang="zh-CN">
                <a:solidFill>
                  <a:srgbClr val="898989"/>
                </a:solidFill>
              </a:rPr>
              <a:pPr eaLnBrk="1" hangingPunct="1"/>
              <a:t>9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3079" name="Rectangle 2">
            <a:extLst>
              <a:ext uri="{FF2B5EF4-FFF2-40B4-BE49-F238E27FC236}">
                <a16:creationId xmlns:a16="http://schemas.microsoft.com/office/drawing/2014/main" id="{568A8123-59EA-42E0-A08E-AFC9574B19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1581150"/>
            <a:ext cx="856932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3063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是同类型的代数系统，对于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=1, 2, …,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400" b="1" i="1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为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400" b="1" i="1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i 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元运算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 eaLnBrk="1" hangingPunct="1"/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函数 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为代数系统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sz="2400" b="1" baseline="-30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到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sz="2400" b="1" baseline="-30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的同态映射，则由 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f 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导</a:t>
            </a:r>
          </a:p>
          <a:p>
            <a:pPr eaLnBrk="1" hangingPunct="1"/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出的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上的等价关系为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sz="2400" b="1" baseline="-30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上的同余关系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. </a:t>
            </a:r>
            <a:endParaRPr lang="en-US" altLang="zh-CN" sz="240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grpSp>
        <p:nvGrpSpPr>
          <p:cNvPr id="3081" name="Group 4">
            <a:extLst>
              <a:ext uri="{FF2B5EF4-FFF2-40B4-BE49-F238E27FC236}">
                <a16:creationId xmlns:a16="http://schemas.microsoft.com/office/drawing/2014/main" id="{A01B4C26-FB36-41B6-B5CB-3FF432785E46}"/>
              </a:ext>
            </a:extLst>
          </p:cNvPr>
          <p:cNvGrpSpPr>
            <a:grpSpLocks/>
          </p:cNvGrpSpPr>
          <p:nvPr/>
        </p:nvGrpSpPr>
        <p:grpSpPr bwMode="auto">
          <a:xfrm>
            <a:off x="468313" y="1081088"/>
            <a:ext cx="7604125" cy="476250"/>
            <a:chOff x="545" y="1017"/>
            <a:chExt cx="4520" cy="300"/>
          </a:xfrm>
        </p:grpSpPr>
        <p:graphicFrame>
          <p:nvGraphicFramePr>
            <p:cNvPr id="3077" name="Object 5">
              <a:extLst>
                <a:ext uri="{FF2B5EF4-FFF2-40B4-BE49-F238E27FC236}">
                  <a16:creationId xmlns:a16="http://schemas.microsoft.com/office/drawing/2014/main" id="{0285C435-D083-41A3-9682-E572360C59E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38" y="1017"/>
            <a:ext cx="3627" cy="2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4" name="公式" r:id="rId4" imgW="3073320" imgH="215640" progId="Equation.3">
                    <p:embed/>
                  </p:oleObj>
                </mc:Choice>
                <mc:Fallback>
                  <p:oleObj name="公式" r:id="rId4" imgW="3073320" imgH="21564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38" y="1017"/>
                          <a:ext cx="3627" cy="29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87" name="Rectangle 6">
              <a:extLst>
                <a:ext uri="{FF2B5EF4-FFF2-40B4-BE49-F238E27FC236}">
                  <a16:creationId xmlns:a16="http://schemas.microsoft.com/office/drawing/2014/main" id="{38806AD7-D424-497A-A047-9E80233B60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5" y="1026"/>
              <a:ext cx="93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 b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定理</a:t>
              </a:r>
              <a:r>
                <a:rPr lang="en-US" altLang="zh-CN" sz="2400" b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400" b="1">
                  <a:latin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lang="zh-CN" altLang="en-US" sz="2400" b="1">
                  <a:latin typeface="宋体" panose="02010600030101010101" pitchFamily="2" charset="-122"/>
                  <a:cs typeface="Times New Roman" panose="02020603050405020304" pitchFamily="18" charset="0"/>
                </a:rPr>
                <a:t>设 </a:t>
              </a:r>
              <a:endParaRPr lang="zh-CN" altLang="en-US" sz="2400"/>
            </a:p>
          </p:txBody>
        </p:sp>
      </p:grpSp>
      <p:sp>
        <p:nvSpPr>
          <p:cNvPr id="325640" name="Rectangle 8">
            <a:extLst>
              <a:ext uri="{FF2B5EF4-FFF2-40B4-BE49-F238E27FC236}">
                <a16:creationId xmlns:a16="http://schemas.microsoft.com/office/drawing/2014/main" id="{5F5D21C2-B45A-4887-A125-605FAB5E63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138" y="2852738"/>
            <a:ext cx="81057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3063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证  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x, y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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zh-CN" sz="240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grpSp>
        <p:nvGrpSpPr>
          <p:cNvPr id="3" name="Group 17">
            <a:extLst>
              <a:ext uri="{FF2B5EF4-FFF2-40B4-BE49-F238E27FC236}">
                <a16:creationId xmlns:a16="http://schemas.microsoft.com/office/drawing/2014/main" id="{5ED910E2-BF0C-42DD-9410-AED1482F0F13}"/>
              </a:ext>
            </a:extLst>
          </p:cNvPr>
          <p:cNvGrpSpPr>
            <a:grpSpLocks/>
          </p:cNvGrpSpPr>
          <p:nvPr/>
        </p:nvGrpSpPr>
        <p:grpSpPr bwMode="auto">
          <a:xfrm>
            <a:off x="661988" y="5157788"/>
            <a:ext cx="4630737" cy="503237"/>
            <a:chOff x="567" y="3612"/>
            <a:chExt cx="2917" cy="317"/>
          </a:xfrm>
        </p:grpSpPr>
        <p:graphicFrame>
          <p:nvGraphicFramePr>
            <p:cNvPr id="3075" name="Object 11">
              <a:extLst>
                <a:ext uri="{FF2B5EF4-FFF2-40B4-BE49-F238E27FC236}">
                  <a16:creationId xmlns:a16="http://schemas.microsoft.com/office/drawing/2014/main" id="{F4C22D5D-5219-4869-9587-779E6A1012A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67" y="3612"/>
            <a:ext cx="1430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5" name="公式" r:id="rId6" imgW="939600" imgH="228600" progId="Equation.3">
                    <p:embed/>
                  </p:oleObj>
                </mc:Choice>
                <mc:Fallback>
                  <p:oleObj name="公式" r:id="rId6" imgW="939600" imgH="228600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7" y="3612"/>
                          <a:ext cx="1430" cy="3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6" name="Object 12">
              <a:extLst>
                <a:ext uri="{FF2B5EF4-FFF2-40B4-BE49-F238E27FC236}">
                  <a16:creationId xmlns:a16="http://schemas.microsoft.com/office/drawing/2014/main" id="{CB91F88B-0A81-4854-82B1-5877C9D06AE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52" y="3612"/>
            <a:ext cx="1232" cy="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6" name="公式" r:id="rId8" imgW="990360" imgH="253800" progId="Equation.3">
                    <p:embed/>
                  </p:oleObj>
                </mc:Choice>
                <mc:Fallback>
                  <p:oleObj name="公式" r:id="rId8" imgW="990360" imgH="25380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52" y="3612"/>
                          <a:ext cx="1232" cy="3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86" name="Text Box 13">
              <a:extLst>
                <a:ext uri="{FF2B5EF4-FFF2-40B4-BE49-F238E27FC236}">
                  <a16:creationId xmlns:a16="http://schemas.microsoft.com/office/drawing/2014/main" id="{D0B5B5C9-762E-421B-8AEE-06A2A6B25E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52" y="3612"/>
              <a:ext cx="22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b="1">
                  <a:sym typeface="Symbol" panose="05050102010706020507" pitchFamily="18" charset="2"/>
                </a:rPr>
                <a:t></a:t>
              </a:r>
            </a:p>
          </p:txBody>
        </p:sp>
      </p:grpSp>
      <p:graphicFrame>
        <p:nvGraphicFramePr>
          <p:cNvPr id="325647" name="Object 15">
            <a:extLst>
              <a:ext uri="{FF2B5EF4-FFF2-40B4-BE49-F238E27FC236}">
                <a16:creationId xmlns:a16="http://schemas.microsoft.com/office/drawing/2014/main" id="{453AEA32-15B1-49FA-970B-C6272DE804E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16050" y="3860800"/>
          <a:ext cx="6324600" cy="1319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7" name="公式" r:id="rId10" imgW="3670200" imgH="761760" progId="Equation.3">
                  <p:embed/>
                </p:oleObj>
              </mc:Choice>
              <mc:Fallback>
                <p:oleObj name="公式" r:id="rId10" imgW="3670200" imgH="76176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6050" y="3860800"/>
                        <a:ext cx="6324600" cy="1319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5648" name="Rectangle 16">
            <a:extLst>
              <a:ext uri="{FF2B5EF4-FFF2-40B4-BE49-F238E27FC236}">
                <a16:creationId xmlns:a16="http://schemas.microsoft.com/office/drawing/2014/main" id="{5CA914A1-47EF-40E8-B359-86148CEAFB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900" y="3357563"/>
            <a:ext cx="91090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3063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任取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sz="2400" b="1" baseline="-30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上的运算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o</a:t>
            </a:r>
            <a:r>
              <a:rPr lang="en-US" altLang="zh-CN" sz="2400" b="1" i="1" baseline="-30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,(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altLang="zh-CN" sz="2400" b="1" i="1" baseline="-30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，对任意的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 i="1" baseline="-30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j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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="1" i="1" baseline="-30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j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j 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=1, 2, … , 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altLang="zh-CN" sz="2400" b="1" i="1" baseline="-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 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endParaRPr lang="en-US" altLang="zh-CN" sz="2400" b="1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25650" name="Text Box 18">
            <a:extLst>
              <a:ext uri="{FF2B5EF4-FFF2-40B4-BE49-F238E27FC236}">
                <a16:creationId xmlns:a16="http://schemas.microsoft.com/office/drawing/2014/main" id="{8ACF8FC6-89D9-441C-8AE7-8CA058A034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5635625"/>
            <a:ext cx="7620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>
                <a:sym typeface="Symbol" panose="05050102010706020507" pitchFamily="18" charset="2"/>
              </a:rPr>
              <a:t></a:t>
            </a:r>
            <a:r>
              <a:rPr lang="zh-CN" altLang="en-US" sz="2400" b="1"/>
              <a:t>关于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o</a:t>
            </a:r>
            <a:r>
              <a:rPr lang="en-US" altLang="zh-CN" sz="240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zh-CN" altLang="en-US" sz="2400" b="1">
                <a:sym typeface="Symbol" panose="05050102010706020507" pitchFamily="18" charset="2"/>
              </a:rPr>
              <a:t>运算具有置换性质，根据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o</a:t>
            </a:r>
            <a:r>
              <a:rPr lang="en-US" altLang="zh-CN" sz="240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zh-CN" altLang="en-US" sz="2400" b="1">
                <a:sym typeface="Symbol" panose="05050102010706020507" pitchFamily="18" charset="2"/>
              </a:rPr>
              <a:t>的任意性，定理得证</a:t>
            </a:r>
            <a:r>
              <a:rPr lang="en-US" altLang="zh-CN" sz="2400" b="1">
                <a:sym typeface="Symbol" panose="05050102010706020507" pitchFamily="18" charset="2"/>
              </a:rPr>
              <a:t>.</a:t>
            </a:r>
            <a:endParaRPr lang="en-US" altLang="zh-CN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56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56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56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256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256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256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256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256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5640" grpId="0"/>
      <p:bldP spid="325648" grpId="0"/>
      <p:bldP spid="32565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2">
            <a:extLst>
              <a:ext uri="{FF2B5EF4-FFF2-40B4-BE49-F238E27FC236}">
                <a16:creationId xmlns:a16="http://schemas.microsoft.com/office/drawing/2014/main" id="{2322612C-56F9-4CF4-BD65-A4721F8CC4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实例</a:t>
            </a:r>
          </a:p>
        </p:txBody>
      </p:sp>
      <p:sp>
        <p:nvSpPr>
          <p:cNvPr id="27650" name="灯片编号占位符 4">
            <a:extLst>
              <a:ext uri="{FF2B5EF4-FFF2-40B4-BE49-F238E27FC236}">
                <a16:creationId xmlns:a16="http://schemas.microsoft.com/office/drawing/2014/main" id="{0C183B27-AEC3-412F-948C-90A8959D9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D2D6754-0D1A-4206-B414-423A9A9DF5F4}" type="slidenum">
              <a:rPr lang="en-US" altLang="zh-CN">
                <a:solidFill>
                  <a:srgbClr val="898989"/>
                </a:solidFill>
              </a:rPr>
              <a:pPr eaLnBrk="1" hangingPunct="1"/>
              <a:t>10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D1036930-FA11-4BE1-AF0F-FFE934505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196975"/>
            <a:ext cx="81724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fr-FR" altLang="zh-CN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 </a:t>
            </a:r>
            <a:r>
              <a:rPr lang="fr-FR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fr-FR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=&lt;Z</a:t>
            </a:r>
            <a:r>
              <a:rPr lang="fr-FR" altLang="zh-CN" sz="2400" b="1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fr-FR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</a:t>
            </a:r>
            <a:r>
              <a:rPr lang="fr-FR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&gt;,</a:t>
            </a:r>
            <a:r>
              <a:rPr lang="fr-FR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f</a:t>
            </a:r>
            <a:r>
              <a:rPr lang="fr-FR" altLang="zh-CN" sz="2400" b="1" i="1" baseline="-30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fr-FR" altLang="zh-CN" sz="2400" b="1" baseline="-30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fr-FR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: Z</a:t>
            </a:r>
            <a:r>
              <a:rPr lang="fr-FR" altLang="zh-CN" sz="2400" b="1" baseline="-30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4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fr-FR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fr-FR" altLang="zh-CN" sz="2400" b="1" baseline="-30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4</a:t>
            </a:r>
            <a:r>
              <a:rPr lang="fr-FR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  </a:t>
            </a:r>
            <a:r>
              <a:rPr lang="fr-FR" altLang="zh-CN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fr-FR" altLang="zh-CN" sz="2400" b="1" i="1" baseline="-30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 </a:t>
            </a:r>
            <a:r>
              <a:rPr lang="fr-FR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fr-FR" altLang="zh-CN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fr-FR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= (</a:t>
            </a:r>
            <a:r>
              <a:rPr lang="fr-FR" altLang="zh-CN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 x</a:t>
            </a:r>
            <a:r>
              <a:rPr lang="fr-FR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mod 4</a:t>
            </a:r>
            <a:r>
              <a:rPr lang="zh-CN" altLang="fr-FR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= 0,1,2,3 </a:t>
            </a:r>
          </a:p>
        </p:txBody>
      </p:sp>
      <p:graphicFrame>
        <p:nvGraphicFramePr>
          <p:cNvPr id="327705" name="Group 25">
            <a:extLst>
              <a:ext uri="{FF2B5EF4-FFF2-40B4-BE49-F238E27FC236}">
                <a16:creationId xmlns:a16="http://schemas.microsoft.com/office/drawing/2014/main" id="{21D1A9A3-A75D-4B7A-A922-6C6D0499FAAD}"/>
              </a:ext>
            </a:extLst>
          </p:cNvPr>
          <p:cNvGraphicFramePr>
            <a:graphicFrameLocks noGrp="1"/>
          </p:cNvGraphicFramePr>
          <p:nvPr/>
        </p:nvGraphicFramePr>
        <p:xfrm>
          <a:off x="755650" y="1844675"/>
          <a:ext cx="7745413" cy="3241675"/>
        </p:xfrm>
        <a:graphic>
          <a:graphicData uri="http://schemas.openxmlformats.org/drawingml/2006/table">
            <a:tbl>
              <a:tblPr/>
              <a:tblGrid>
                <a:gridCol w="33620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3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函数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导出的同余关系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16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f</a:t>
                      </a:r>
                      <a:r>
                        <a:rPr kumimoji="0" lang="en-US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(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x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)=0,  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x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=0,1,2,3    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全域关系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16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f</a:t>
                      </a:r>
                      <a:r>
                        <a:rPr kumimoji="0" lang="en-US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(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x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)=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x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,  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x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=0,1,2,3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恒等关系 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I</a:t>
                      </a:r>
                      <a:r>
                        <a:rPr kumimoji="0" lang="en-US" altLang="zh-CN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Z</a:t>
                      </a:r>
                      <a:r>
                        <a:rPr kumimoji="0" lang="en-US" altLang="zh-CN" sz="18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4</a:t>
                      </a:r>
                      <a:endParaRPr kumimoji="0" lang="en-US" altLang="zh-CN" sz="18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4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f</a:t>
                      </a:r>
                      <a:r>
                        <a:rPr kumimoji="0" lang="en-US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(0)=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f</a:t>
                      </a:r>
                      <a:r>
                        <a:rPr kumimoji="0" lang="en-US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(2)=0,        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f</a:t>
                      </a:r>
                      <a:r>
                        <a:rPr kumimoji="0" lang="en-US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(1)=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f</a:t>
                      </a:r>
                      <a:r>
                        <a:rPr kumimoji="0" lang="en-US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(3)=2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{&lt;0,2&gt;,&lt;2,0&gt;,&lt;1,3&gt;,&lt;3,1&gt;}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  <a:sym typeface="Symbol" pitchFamily="18" charset="2"/>
                        </a:rPr>
                        <a:t>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Z4</a:t>
                      </a:r>
                      <a:endParaRPr kumimoji="0" lang="en-US" altLang="zh-CN" sz="24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6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f</a:t>
                      </a:r>
                      <a:r>
                        <a:rPr kumimoji="0" lang="en-US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(0)=0,  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f</a:t>
                      </a:r>
                      <a:r>
                        <a:rPr kumimoji="0" lang="en-US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(1)=3,</a:t>
                      </a:r>
                      <a:endParaRPr kumimoji="0" lang="en-US" altLang="zh-CN" sz="2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f</a:t>
                      </a:r>
                      <a:r>
                        <a:rPr kumimoji="0" lang="en-US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(2)=2,  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f</a:t>
                      </a:r>
                      <a:r>
                        <a:rPr kumimoji="0" lang="en-US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(3)=1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恒等关系 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Z4</a:t>
                      </a:r>
                      <a:endParaRPr kumimoji="0" lang="en-US" altLang="zh-CN" sz="24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</a:t>
                      </a:r>
                      <a:endParaRPr kumimoji="0" lang="en-US" altLang="zh-CN" sz="2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385" name="Rectangle 24">
            <a:extLst>
              <a:ext uri="{FF2B5EF4-FFF2-40B4-BE49-F238E27FC236}">
                <a16:creationId xmlns:a16="http://schemas.microsoft.com/office/drawing/2014/main" id="{0F496B33-C2CF-44B5-91C9-FC6A148B91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5229225"/>
            <a:ext cx="7632700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zh-CN" altLang="en-US" sz="2400" b="1"/>
              <a:t>注意：在这个例子中，每个同态都可以导出一个同余关系；不同的同态，若同态像一样，导出相同的同余关系</a:t>
            </a:r>
            <a:r>
              <a:rPr lang="en-US" altLang="zh-CN" sz="2400" b="1"/>
              <a:t>.</a:t>
            </a:r>
            <a:r>
              <a:rPr lang="en-US" altLang="zh-CN" sz="2400"/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2" name="Rectangle 3">
            <a:extLst>
              <a:ext uri="{FF2B5EF4-FFF2-40B4-BE49-F238E27FC236}">
                <a16:creationId xmlns:a16="http://schemas.microsoft.com/office/drawing/2014/main" id="{0BCD5710-5A33-426A-9639-BBF62626F5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507413" cy="70643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 商代数是原代数同态像</a:t>
            </a:r>
          </a:p>
        </p:txBody>
      </p:sp>
      <p:sp>
        <p:nvSpPr>
          <p:cNvPr id="9220" name="灯片编号占位符 4">
            <a:extLst>
              <a:ext uri="{FF2B5EF4-FFF2-40B4-BE49-F238E27FC236}">
                <a16:creationId xmlns:a16="http://schemas.microsoft.com/office/drawing/2014/main" id="{3F57DA3D-4B6C-48D3-8853-2D7DC023E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9DCBC43-F915-45A9-A8A2-335558BFA544}" type="slidenum">
              <a:rPr lang="en-US" altLang="zh-CN">
                <a:solidFill>
                  <a:srgbClr val="898989"/>
                </a:solidFill>
              </a:rPr>
              <a:pPr eaLnBrk="1" hangingPunct="1"/>
              <a:t>11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4101" name="Rectangle 2">
            <a:extLst>
              <a:ext uri="{FF2B5EF4-FFF2-40B4-BE49-F238E27FC236}">
                <a16:creationId xmlns:a16="http://schemas.microsoft.com/office/drawing/2014/main" id="{BA3C522D-E8F2-4335-B75A-CF3AF9167B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341438"/>
            <a:ext cx="8135938" cy="184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indent="3063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400" b="1">
                <a:solidFill>
                  <a:srgbClr val="8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定理</a:t>
            </a:r>
            <a:r>
              <a:rPr lang="en-US" altLang="zh-CN" sz="2400" b="1">
                <a:solidFill>
                  <a:srgbClr val="8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设代数系统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=&lt;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400" b="1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400" b="1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400" b="1">
                <a:cs typeface="Times New Roman" panose="02020603050405020304" pitchFamily="18" charset="0"/>
              </a:rPr>
              <a:t>…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400" b="1" i="1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，其中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400" b="1" i="1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为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400" b="1" i="1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元运算，</a:t>
            </a:r>
            <a:endParaRPr lang="zh-CN" altLang="en-US" sz="2400"/>
          </a:p>
          <a:p>
            <a:pPr>
              <a:lnSpc>
                <a:spcPct val="120000"/>
              </a:lnSpc>
            </a:pP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=1,2,</a:t>
            </a:r>
            <a:r>
              <a:rPr lang="en-US" altLang="zh-CN" sz="2400" b="1">
                <a:cs typeface="Times New Roman" panose="02020603050405020304" pitchFamily="18" charset="0"/>
              </a:rPr>
              <a:t>…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上的同余关系， 则自然映射</a:t>
            </a:r>
            <a:endParaRPr lang="zh-CN" altLang="en-US" sz="2400"/>
          </a:p>
          <a:p>
            <a:pPr>
              <a:lnSpc>
                <a:spcPct val="120000"/>
              </a:lnSpc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)=[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],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endParaRPr lang="en-US" altLang="zh-CN" sz="2400">
              <a:sym typeface="Symbol" panose="05050102010706020507" pitchFamily="18" charset="2"/>
            </a:endParaRPr>
          </a:p>
          <a:p>
            <a:pPr>
              <a:lnSpc>
                <a:spcPct val="120000"/>
              </a:lnSpc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是从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到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/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的同态映射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.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81CBAD81-D5D3-4A97-AEF5-D543CAAF20E2}"/>
              </a:ext>
            </a:extLst>
          </p:cNvPr>
          <p:cNvGrpSpPr>
            <a:grpSpLocks/>
          </p:cNvGrpSpPr>
          <p:nvPr/>
        </p:nvGrpSpPr>
        <p:grpSpPr bwMode="auto">
          <a:xfrm>
            <a:off x="323850" y="4076700"/>
            <a:ext cx="7993063" cy="1731963"/>
            <a:chOff x="204" y="2568"/>
            <a:chExt cx="5035" cy="1091"/>
          </a:xfrm>
        </p:grpSpPr>
        <p:graphicFrame>
          <p:nvGraphicFramePr>
            <p:cNvPr id="4099" name="Object 5">
              <a:extLst>
                <a:ext uri="{FF2B5EF4-FFF2-40B4-BE49-F238E27FC236}">
                  <a16:creationId xmlns:a16="http://schemas.microsoft.com/office/drawing/2014/main" id="{9D8888C7-9582-4A96-9179-3E7B1288612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30" y="2931"/>
            <a:ext cx="4247" cy="7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16" name="公式" r:id="rId4" imgW="3085920" imgH="533160" progId="Equation.3">
                    <p:embed/>
                  </p:oleObj>
                </mc:Choice>
                <mc:Fallback>
                  <p:oleObj name="公式" r:id="rId4" imgW="3085920" imgH="53316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30" y="2931"/>
                          <a:ext cx="4247" cy="72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07" name="Rectangle 6">
              <a:extLst>
                <a:ext uri="{FF2B5EF4-FFF2-40B4-BE49-F238E27FC236}">
                  <a16:creationId xmlns:a16="http://schemas.microsoft.com/office/drawing/2014/main" id="{2059177F-DE33-4608-AC55-F85B571B2B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" y="2568"/>
              <a:ext cx="503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indent="306388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考虑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r>
                <a:rPr lang="en-US" altLang="zh-CN" sz="2400" b="1" i="1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zh-CN" altLang="en-US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设为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en-US" altLang="zh-CN" sz="2400" b="1" i="1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i </a:t>
              </a:r>
              <a:r>
                <a:rPr lang="zh-CN" altLang="en-US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元运算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.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en-US" altLang="zh-CN" sz="2400" b="1" i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i 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&gt; 0.  </a:t>
              </a:r>
              <a:r>
                <a:rPr lang="zh-CN" altLang="en-US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任取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="1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="1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zh-CN" sz="2400" b="1">
                  <a:cs typeface="Times New Roman" panose="02020603050405020304" pitchFamily="18" charset="0"/>
                </a:rPr>
                <a:t>…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,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="1" i="1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ki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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</p:grpSp>
      <p:sp>
        <p:nvSpPr>
          <p:cNvPr id="329735" name="Rectangle 7">
            <a:extLst>
              <a:ext uri="{FF2B5EF4-FFF2-40B4-BE49-F238E27FC236}">
                <a16:creationId xmlns:a16="http://schemas.microsoft.com/office/drawing/2014/main" id="{D1019BF6-9CF8-48DA-B1D6-4FFCBFBE00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5949950"/>
            <a:ext cx="38909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由于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400" b="1" i="1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的任意性，定理得证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zh-CN" sz="2400"/>
          </a:p>
        </p:txBody>
      </p:sp>
      <p:grpSp>
        <p:nvGrpSpPr>
          <p:cNvPr id="3" name="Group 8">
            <a:extLst>
              <a:ext uri="{FF2B5EF4-FFF2-40B4-BE49-F238E27FC236}">
                <a16:creationId xmlns:a16="http://schemas.microsoft.com/office/drawing/2014/main" id="{E212671E-E7BA-4DBF-9850-0E6AE83817F9}"/>
              </a:ext>
            </a:extLst>
          </p:cNvPr>
          <p:cNvGrpSpPr>
            <a:grpSpLocks/>
          </p:cNvGrpSpPr>
          <p:nvPr/>
        </p:nvGrpSpPr>
        <p:grpSpPr bwMode="auto">
          <a:xfrm>
            <a:off x="684213" y="3405188"/>
            <a:ext cx="5065712" cy="528637"/>
            <a:chOff x="556" y="2226"/>
            <a:chExt cx="3191" cy="333"/>
          </a:xfrm>
        </p:grpSpPr>
        <p:graphicFrame>
          <p:nvGraphicFramePr>
            <p:cNvPr id="4098" name="Object 9">
              <a:extLst>
                <a:ext uri="{FF2B5EF4-FFF2-40B4-BE49-F238E27FC236}">
                  <a16:creationId xmlns:a16="http://schemas.microsoft.com/office/drawing/2014/main" id="{B479438A-16C7-4D37-AB6F-19E5C648DE9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27" y="2226"/>
            <a:ext cx="2420" cy="3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17" name="公式" r:id="rId6" imgW="1752480" imgH="241200" progId="Equation.3">
                    <p:embed/>
                  </p:oleObj>
                </mc:Choice>
                <mc:Fallback>
                  <p:oleObj name="公式" r:id="rId6" imgW="1752480" imgH="24120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27" y="2226"/>
                          <a:ext cx="2420" cy="33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06" name="Text Box 10">
              <a:extLst>
                <a:ext uri="{FF2B5EF4-FFF2-40B4-BE49-F238E27FC236}">
                  <a16:creationId xmlns:a16="http://schemas.microsoft.com/office/drawing/2014/main" id="{D155FECA-0B6C-433F-A7F1-3C13E7B3F3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6" y="2235"/>
              <a:ext cx="613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 b="1"/>
                <a:t>证  设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297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297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973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3">
            <a:extLst>
              <a:ext uri="{FF2B5EF4-FFF2-40B4-BE49-F238E27FC236}">
                <a16:creationId xmlns:a16="http://schemas.microsoft.com/office/drawing/2014/main" id="{6B4DBAF6-A2E5-4231-A103-AC80E99D72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277813"/>
            <a:ext cx="7772400" cy="558800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同态基本定理</a:t>
            </a:r>
          </a:p>
        </p:txBody>
      </p:sp>
      <p:sp>
        <p:nvSpPr>
          <p:cNvPr id="10243" name="灯片编号占位符 4">
            <a:extLst>
              <a:ext uri="{FF2B5EF4-FFF2-40B4-BE49-F238E27FC236}">
                <a16:creationId xmlns:a16="http://schemas.microsoft.com/office/drawing/2014/main" id="{A9B6B9C8-D34B-4122-91E7-2A19719E9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388E59E-CAFE-4374-8C85-9F577B0F4010}" type="slidenum">
              <a:rPr lang="en-US" altLang="zh-CN">
                <a:solidFill>
                  <a:srgbClr val="898989"/>
                </a:solidFill>
              </a:rPr>
              <a:pPr eaLnBrk="1" hangingPunct="1"/>
              <a:t>12</a:t>
            </a:fld>
            <a:endParaRPr lang="en-US" altLang="zh-CN">
              <a:solidFill>
                <a:srgbClr val="898989"/>
              </a:solidFill>
            </a:endParaRPr>
          </a:p>
        </p:txBody>
      </p:sp>
      <p:graphicFrame>
        <p:nvGraphicFramePr>
          <p:cNvPr id="5122" name="Object 2">
            <a:extLst>
              <a:ext uri="{FF2B5EF4-FFF2-40B4-BE49-F238E27FC236}">
                <a16:creationId xmlns:a16="http://schemas.microsoft.com/office/drawing/2014/main" id="{8E529771-0D6F-4910-AA0F-DF2F5FB015D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9750" y="1196975"/>
          <a:ext cx="8083550" cy="2466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3" name="Document" r:id="rId4" imgW="4188716" imgH="1275609" progId="Word.Document.8">
                  <p:embed/>
                </p:oleObj>
              </mc:Choice>
              <mc:Fallback>
                <p:oleObj name="Document" r:id="rId4" imgW="4188716" imgH="1275609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1196975"/>
                        <a:ext cx="8083550" cy="2466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1780" name="Text Box 4">
            <a:extLst>
              <a:ext uri="{FF2B5EF4-FFF2-40B4-BE49-F238E27FC236}">
                <a16:creationId xmlns:a16="http://schemas.microsoft.com/office/drawing/2014/main" id="{5CF647B0-095A-4818-AE27-1B4ECDADE1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1275" y="4724400"/>
            <a:ext cx="4321175" cy="53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400" b="1">
                <a:latin typeface="Times New Roman" panose="02020603050405020304" pitchFamily="18" charset="0"/>
              </a:rPr>
              <a:t>[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</a:rPr>
              <a:t>]=[</a:t>
            </a:r>
            <a:r>
              <a:rPr lang="en-US" altLang="zh-CN" sz="2400" b="1" i="1">
                <a:latin typeface="Times New Roman" panose="02020603050405020304" pitchFamily="18" charset="0"/>
              </a:rPr>
              <a:t>b</a:t>
            </a:r>
            <a:r>
              <a:rPr lang="en-US" altLang="zh-CN" sz="2400" b="1">
                <a:latin typeface="Times New Roman" panose="02020603050405020304" pitchFamily="18" charset="0"/>
              </a:rPr>
              <a:t>]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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aRb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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)=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</p:txBody>
      </p:sp>
      <p:sp>
        <p:nvSpPr>
          <p:cNvPr id="331781" name="Rectangle 5">
            <a:extLst>
              <a:ext uri="{FF2B5EF4-FFF2-40B4-BE49-F238E27FC236}">
                <a16:creationId xmlns:a16="http://schemas.microsoft.com/office/drawing/2014/main" id="{5C0A279C-7DB2-4F12-B62C-F999C64C41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3789363"/>
            <a:ext cx="4618038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indent="76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400" b="1"/>
              <a:t>证明思路：</a:t>
            </a:r>
            <a:endParaRPr lang="zh-CN" altLang="en-US" sz="2400"/>
          </a:p>
          <a:p>
            <a:pPr eaLnBrk="1" hangingPunct="1">
              <a:lnSpc>
                <a:spcPct val="120000"/>
              </a:lnSpc>
            </a:pPr>
            <a:r>
              <a:rPr lang="en-US" altLang="zh-CN" sz="2400" b="1">
                <a:latin typeface="Times New Roman" panose="02020603050405020304" pitchFamily="18" charset="0"/>
              </a:rPr>
              <a:t>(1) </a:t>
            </a:r>
            <a:r>
              <a:rPr lang="zh-CN" altLang="en-US" sz="2400" b="1">
                <a:latin typeface="Times New Roman" panose="02020603050405020304" pitchFamily="18" charset="0"/>
              </a:rPr>
              <a:t>定义</a:t>
            </a:r>
            <a:r>
              <a:rPr lang="en-US" altLang="zh-CN" sz="2400" b="1" i="1">
                <a:latin typeface="Times New Roman" panose="02020603050405020304" pitchFamily="18" charset="0"/>
              </a:rPr>
              <a:t>h</a:t>
            </a:r>
            <a:r>
              <a:rPr lang="zh-CN" altLang="en-US" sz="2400" b="1">
                <a:latin typeface="Times New Roman" panose="02020603050405020304" pitchFamily="18" charset="0"/>
              </a:rPr>
              <a:t>：</a:t>
            </a:r>
            <a:r>
              <a:rPr lang="en-US" altLang="zh-CN" sz="2400" b="1" i="1">
                <a:latin typeface="Times New Roman" panose="02020603050405020304" pitchFamily="18" charset="0"/>
              </a:rPr>
              <a:t>V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</a:rPr>
              <a:t>/</a:t>
            </a:r>
            <a:r>
              <a:rPr lang="en-US" altLang="zh-CN" sz="2400" b="1" i="1">
                <a:latin typeface="Times New Roman" panose="02020603050405020304" pitchFamily="18" charset="0"/>
              </a:rPr>
              <a:t>R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 i="1">
                <a:latin typeface="Times New Roman" panose="02020603050405020304" pitchFamily="18" charset="0"/>
              </a:rPr>
              <a:t>f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),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h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([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])=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lang="en-US" altLang="zh-CN" sz="240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31782" name="Rectangle 6">
            <a:extLst>
              <a:ext uri="{FF2B5EF4-FFF2-40B4-BE49-F238E27FC236}">
                <a16:creationId xmlns:a16="http://schemas.microsoft.com/office/drawing/2014/main" id="{051E44FE-30E5-4792-B4E2-0C4C2789BD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975" y="4724400"/>
            <a:ext cx="2930525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indent="76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(2)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验证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h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是良定义的</a:t>
            </a:r>
            <a:endParaRPr lang="zh-CN" altLang="en-US" sz="24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(3)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验证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h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是双射的</a:t>
            </a:r>
            <a:endParaRPr lang="zh-CN" altLang="en-US" sz="240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31783" name="Rectangle 7">
            <a:extLst>
              <a:ext uri="{FF2B5EF4-FFF2-40B4-BE49-F238E27FC236}">
                <a16:creationId xmlns:a16="http://schemas.microsoft.com/office/drawing/2014/main" id="{CBA7DAF7-B912-402E-A765-988EC87B4A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5661025"/>
            <a:ext cx="3579813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76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(4)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验证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h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是同态映射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17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17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317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317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317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317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317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317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1780" grpId="0"/>
      <p:bldP spid="331781" grpId="0"/>
      <p:bldP spid="331782" grpId="0"/>
      <p:bldP spid="33178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9" name="Rectangle 2">
            <a:extLst>
              <a:ext uri="{FF2B5EF4-FFF2-40B4-BE49-F238E27FC236}">
                <a16:creationId xmlns:a16="http://schemas.microsoft.com/office/drawing/2014/main" id="{B8B0EE04-E918-4689-9169-237D53BCAD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8926" y="227013"/>
            <a:ext cx="8459787" cy="790575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同态的验证</a:t>
            </a:r>
          </a:p>
        </p:txBody>
      </p:sp>
      <p:sp>
        <p:nvSpPr>
          <p:cNvPr id="11268" name="灯片编号占位符 4">
            <a:extLst>
              <a:ext uri="{FF2B5EF4-FFF2-40B4-BE49-F238E27FC236}">
                <a16:creationId xmlns:a16="http://schemas.microsoft.com/office/drawing/2014/main" id="{34A3F9C6-6CB3-4ED1-A63A-152EEB886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7A0148D-422F-44B3-A968-1E0B18150AD7}" type="slidenum">
              <a:rPr lang="en-US" altLang="zh-CN">
                <a:solidFill>
                  <a:srgbClr val="898989"/>
                </a:solidFill>
              </a:rPr>
              <a:pPr eaLnBrk="1" hangingPunct="1"/>
              <a:t>13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6150" name="Rectangle 3">
            <a:extLst>
              <a:ext uri="{FF2B5EF4-FFF2-40B4-BE49-F238E27FC236}">
                <a16:creationId xmlns:a16="http://schemas.microsoft.com/office/drawing/2014/main" id="{5AC4F321-9650-4A81-9966-82BBEF4B97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19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6146" name="Object 4">
            <a:extLst>
              <a:ext uri="{FF2B5EF4-FFF2-40B4-BE49-F238E27FC236}">
                <a16:creationId xmlns:a16="http://schemas.microsoft.com/office/drawing/2014/main" id="{7393B6C7-6A87-4065-9434-B6015382AEC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76375" y="1844675"/>
          <a:ext cx="5616575" cy="2532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2" name="公式" r:id="rId4" imgW="2705100" imgH="1219200" progId="Equation.3">
                  <p:embed/>
                </p:oleObj>
              </mc:Choice>
              <mc:Fallback>
                <p:oleObj name="公式" r:id="rId4" imgW="2705100" imgH="1219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1844675"/>
                        <a:ext cx="5616575" cy="2532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151" name="Group 5">
            <a:extLst>
              <a:ext uri="{FF2B5EF4-FFF2-40B4-BE49-F238E27FC236}">
                <a16:creationId xmlns:a16="http://schemas.microsoft.com/office/drawing/2014/main" id="{CF26071F-492E-4121-A65D-32F01035D9CD}"/>
              </a:ext>
            </a:extLst>
          </p:cNvPr>
          <p:cNvGrpSpPr>
            <a:grpSpLocks/>
          </p:cNvGrpSpPr>
          <p:nvPr/>
        </p:nvGrpSpPr>
        <p:grpSpPr bwMode="auto">
          <a:xfrm>
            <a:off x="611188" y="1268413"/>
            <a:ext cx="8137525" cy="457200"/>
            <a:chOff x="385" y="1071"/>
            <a:chExt cx="5126" cy="288"/>
          </a:xfrm>
        </p:grpSpPr>
        <p:sp>
          <p:nvSpPr>
            <p:cNvPr id="6153" name="Rectangle 6">
              <a:extLst>
                <a:ext uri="{FF2B5EF4-FFF2-40B4-BE49-F238E27FC236}">
                  <a16:creationId xmlns:a16="http://schemas.microsoft.com/office/drawing/2014/main" id="{487E6573-EA3B-4C75-BE54-C8E9E16EC2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" y="1071"/>
              <a:ext cx="512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考虑任意运算      ，</a:t>
              </a:r>
              <a:r>
                <a:rPr lang="zh-CN" altLang="en-US" sz="2400" b="1">
                  <a:latin typeface="Times New Roman" panose="02020603050405020304" pitchFamily="18" charset="0"/>
                </a:rPr>
                <a:t>设为 </a:t>
              </a:r>
              <a:r>
                <a:rPr lang="en-US" altLang="zh-CN" sz="2400" b="1" i="1">
                  <a:latin typeface="Times New Roman" panose="02020603050405020304" pitchFamily="18" charset="0"/>
                </a:rPr>
                <a:t>k</a:t>
              </a:r>
              <a:r>
                <a:rPr lang="en-US" altLang="zh-CN" sz="2400" b="1" i="1" baseline="-25000">
                  <a:latin typeface="Times New Roman" panose="02020603050405020304" pitchFamily="18" charset="0"/>
                </a:rPr>
                <a:t>i </a:t>
              </a:r>
              <a:r>
                <a:rPr lang="zh-CN" altLang="en-US" sz="2400" b="1">
                  <a:latin typeface="Times New Roman" panose="02020603050405020304" pitchFamily="18" charset="0"/>
                </a:rPr>
                <a:t>元，</a:t>
              </a:r>
              <a:r>
                <a:rPr lang="en-US" altLang="zh-CN" sz="2400" b="1" i="1">
                  <a:latin typeface="Times New Roman" panose="02020603050405020304" pitchFamily="18" charset="0"/>
                </a:rPr>
                <a:t>k</a:t>
              </a:r>
              <a:r>
                <a:rPr lang="en-US" altLang="zh-CN" sz="2400" b="1" i="1" baseline="-25000">
                  <a:latin typeface="Times New Roman" panose="02020603050405020304" pitchFamily="18" charset="0"/>
                </a:rPr>
                <a:t>i </a:t>
              </a:r>
              <a:r>
                <a:rPr lang="en-US" altLang="zh-CN" sz="2400" b="1">
                  <a:latin typeface="Times New Roman" panose="02020603050405020304" pitchFamily="18" charset="0"/>
                </a:rPr>
                <a:t>&gt;0, </a:t>
              </a:r>
              <a:r>
                <a:rPr lang="en-US" altLang="zh-CN" sz="2400" b="1" i="1">
                  <a:latin typeface="Times New Roman" panose="02020603050405020304" pitchFamily="18" charset="0"/>
                </a:rPr>
                <a:t>i</a:t>
              </a:r>
              <a:r>
                <a:rPr lang="en-US" altLang="zh-CN" sz="2400" b="1">
                  <a:latin typeface="Times New Roman" panose="02020603050405020304" pitchFamily="18" charset="0"/>
                </a:rPr>
                <a:t>=1,2,…,</a:t>
              </a:r>
              <a:r>
                <a:rPr lang="en-US" altLang="zh-CN" sz="2400" b="1" i="1">
                  <a:latin typeface="Times New Roman" panose="02020603050405020304" pitchFamily="18" charset="0"/>
                </a:rPr>
                <a:t>r</a:t>
              </a:r>
              <a:endParaRPr lang="en-US" altLang="zh-CN" sz="2400" i="1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6147" name="Object 7">
              <a:extLst>
                <a:ext uri="{FF2B5EF4-FFF2-40B4-BE49-F238E27FC236}">
                  <a16:creationId xmlns:a16="http://schemas.microsoft.com/office/drawing/2014/main" id="{9385B67A-F49F-4B63-93DA-73D11900C3A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746" y="1071"/>
            <a:ext cx="193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63" name="公式" r:id="rId6" imgW="165028" imgH="228501" progId="Equation.3">
                    <p:embed/>
                  </p:oleObj>
                </mc:Choice>
                <mc:Fallback>
                  <p:oleObj name="公式" r:id="rId6" imgW="165028" imgH="228501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46" y="1071"/>
                          <a:ext cx="193" cy="27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152" name="Rectangle 8">
            <a:extLst>
              <a:ext uri="{FF2B5EF4-FFF2-40B4-BE49-F238E27FC236}">
                <a16:creationId xmlns:a16="http://schemas.microsoft.com/office/drawing/2014/main" id="{49C72283-A67E-46AC-8BDB-2A02366828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4437063"/>
            <a:ext cx="7056438" cy="140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1524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如果是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元运算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b="1" baseline="-30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/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则   </a:t>
            </a:r>
            <a:endParaRPr lang="zh-CN" altLang="en-US" sz="24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lnSpc>
                <a:spcPct val="120000"/>
              </a:lnSpc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h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([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]) =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=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’</a:t>
            </a:r>
            <a:endParaRPr lang="en-US" altLang="zh-CN" sz="24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lnSpc>
                <a:spcPct val="120000"/>
              </a:lnSpc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且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’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是 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中对应的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0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元运算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2">
            <a:extLst>
              <a:ext uri="{FF2B5EF4-FFF2-40B4-BE49-F238E27FC236}">
                <a16:creationId xmlns:a16="http://schemas.microsoft.com/office/drawing/2014/main" id="{68EB2083-5296-4DCF-ABE3-9683947BBD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2600" y="269875"/>
            <a:ext cx="7772400" cy="9906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同态、同余关系与商代数的联系</a:t>
            </a:r>
          </a:p>
        </p:txBody>
      </p:sp>
      <p:sp>
        <p:nvSpPr>
          <p:cNvPr id="28674" name="灯片编号占位符 5">
            <a:extLst>
              <a:ext uri="{FF2B5EF4-FFF2-40B4-BE49-F238E27FC236}">
                <a16:creationId xmlns:a16="http://schemas.microsoft.com/office/drawing/2014/main" id="{375A1E95-67FE-4379-BC5F-B50F7E665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37300" y="6592888"/>
            <a:ext cx="2133600" cy="365125"/>
          </a:xfrm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72A4421-191D-411B-9C0B-3CC09A3D361B}" type="slidenum">
              <a:rPr lang="en-US" altLang="zh-CN">
                <a:solidFill>
                  <a:srgbClr val="898989"/>
                </a:solidFill>
              </a:rPr>
              <a:pPr eaLnBrk="1" hangingPunct="1"/>
              <a:t>14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1C3A173A-F116-4A17-A082-01E9E1F526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673225"/>
            <a:ext cx="7777163" cy="1355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solidFill>
                  <a:srgbClr val="C00000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sz="2400" b="1">
                <a:solidFill>
                  <a:srgbClr val="C00000"/>
                </a:solidFill>
                <a:latin typeface="Times New Roman" panose="02020603050405020304" pitchFamily="18" charset="0"/>
              </a:rPr>
              <a:t>2  </a:t>
            </a:r>
            <a:r>
              <a:rPr lang="zh-CN" altLang="en-US" sz="2400" b="1">
                <a:latin typeface="Times New Roman" panose="02020603050405020304" pitchFamily="18" charset="0"/>
              </a:rPr>
              <a:t>任何商代数都是同态像</a:t>
            </a:r>
            <a:endParaRPr lang="zh-CN" altLang="en-US" sz="240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sz="2400" b="1">
                <a:solidFill>
                  <a:srgbClr val="C00000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sz="2400" b="1">
                <a:solidFill>
                  <a:srgbClr val="C00000"/>
                </a:solidFill>
                <a:latin typeface="Times New Roman" panose="02020603050405020304" pitchFamily="18" charset="0"/>
              </a:rPr>
              <a:t>3  </a:t>
            </a:r>
            <a:r>
              <a:rPr lang="zh-CN" altLang="en-US" sz="2400" b="1">
                <a:latin typeface="Times New Roman" panose="02020603050405020304" pitchFamily="18" charset="0"/>
              </a:rPr>
              <a:t>任何同态像在同构意义下是商代数</a:t>
            </a:r>
            <a:endParaRPr lang="zh-CN" altLang="en-US" sz="2400">
              <a:latin typeface="Times New Roman" panose="02020603050405020304" pitchFamily="18" charset="0"/>
            </a:endParaRPr>
          </a:p>
          <a:p>
            <a:pPr eaLnBrk="1" hangingPunct="1">
              <a:spcBef>
                <a:spcPts val="1200"/>
              </a:spcBef>
            </a:pPr>
            <a:r>
              <a:rPr lang="zh-CN" altLang="en-US" sz="2400" b="1">
                <a:latin typeface="Times New Roman" panose="02020603050405020304" pitchFamily="18" charset="0"/>
              </a:rPr>
              <a:t>同余关系、商代数、同态、同态像的对应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184ACB32-042A-4E68-8ADE-C1B55FE1422C}"/>
              </a:ext>
            </a:extLst>
          </p:cNvPr>
          <p:cNvGrpSpPr>
            <a:grpSpLocks/>
          </p:cNvGrpSpPr>
          <p:nvPr/>
        </p:nvGrpSpPr>
        <p:grpSpPr bwMode="auto">
          <a:xfrm>
            <a:off x="1403350" y="5264150"/>
            <a:ext cx="2274888" cy="1189038"/>
            <a:chOff x="793" y="3113"/>
            <a:chExt cx="1433" cy="749"/>
          </a:xfrm>
        </p:grpSpPr>
        <p:sp>
          <p:nvSpPr>
            <p:cNvPr id="16420" name="Oval 5">
              <a:extLst>
                <a:ext uri="{FF2B5EF4-FFF2-40B4-BE49-F238E27FC236}">
                  <a16:creationId xmlns:a16="http://schemas.microsoft.com/office/drawing/2014/main" id="{8A359EAC-EC56-4E01-84C2-89834E791F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4" y="3113"/>
              <a:ext cx="181" cy="181"/>
            </a:xfrm>
            <a:prstGeom prst="ellipse">
              <a:avLst/>
            </a:prstGeom>
            <a:solidFill>
              <a:srgbClr val="CCCC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6421" name="Oval 6">
              <a:extLst>
                <a:ext uri="{FF2B5EF4-FFF2-40B4-BE49-F238E27FC236}">
                  <a16:creationId xmlns:a16="http://schemas.microsoft.com/office/drawing/2014/main" id="{618EC72A-250E-4436-AC70-583BA3EC81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1" y="3294"/>
              <a:ext cx="181" cy="181"/>
            </a:xfrm>
            <a:prstGeom prst="ellipse">
              <a:avLst/>
            </a:prstGeom>
            <a:solidFill>
              <a:srgbClr val="CCCC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6422" name="Oval 7">
              <a:extLst>
                <a:ext uri="{FF2B5EF4-FFF2-40B4-BE49-F238E27FC236}">
                  <a16:creationId xmlns:a16="http://schemas.microsoft.com/office/drawing/2014/main" id="{F36D4CDD-A227-4D5C-B447-7510651362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4" y="3475"/>
              <a:ext cx="182" cy="182"/>
            </a:xfrm>
            <a:prstGeom prst="ellipse">
              <a:avLst/>
            </a:prstGeom>
            <a:solidFill>
              <a:srgbClr val="CCCC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6423" name="Text Box 8">
              <a:extLst>
                <a:ext uri="{FF2B5EF4-FFF2-40B4-BE49-F238E27FC236}">
                  <a16:creationId xmlns:a16="http://schemas.microsoft.com/office/drawing/2014/main" id="{5C30E4D2-75E3-4C01-8319-F1739575E3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3" y="3339"/>
              <a:ext cx="896" cy="5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 b="1">
                  <a:solidFill>
                    <a:srgbClr val="005400"/>
                  </a:solidFill>
                </a:rPr>
                <a:t>同态映射</a:t>
              </a:r>
            </a:p>
            <a:p>
              <a:pPr eaLnBrk="1" hangingPunct="1"/>
              <a:r>
                <a:rPr lang="zh-CN" altLang="en-US" sz="2400" b="1" i="1">
                  <a:solidFill>
                    <a:srgbClr val="005400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400" b="1" i="1">
                  <a:solidFill>
                    <a:srgbClr val="005400"/>
                  </a:solidFill>
                  <a:latin typeface="Times New Roman" panose="02020603050405020304" pitchFamily="18" charset="0"/>
                </a:rPr>
                <a:t>f</a:t>
              </a:r>
              <a:r>
                <a:rPr lang="en-US" altLang="zh-CN" sz="2400" b="1">
                  <a:solidFill>
                    <a:srgbClr val="005400"/>
                  </a:solidFill>
                  <a:latin typeface="Times New Roman" panose="02020603050405020304" pitchFamily="18" charset="0"/>
                </a:rPr>
                <a:t>:</a:t>
              </a:r>
              <a:r>
                <a:rPr lang="en-US" altLang="zh-CN" sz="2400" b="1" i="1">
                  <a:solidFill>
                    <a:srgbClr val="005400"/>
                  </a:solidFill>
                  <a:latin typeface="Times New Roman" panose="02020603050405020304" pitchFamily="18" charset="0"/>
                </a:rPr>
                <a:t>V</a:t>
              </a:r>
              <a:r>
                <a:rPr lang="en-US" altLang="zh-CN" sz="2400" b="1">
                  <a:solidFill>
                    <a:srgbClr val="0054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</a:t>
              </a:r>
              <a:r>
                <a:rPr lang="en-US" altLang="zh-CN" sz="2400" b="1" i="1">
                  <a:solidFill>
                    <a:srgbClr val="0054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V’</a:t>
              </a:r>
            </a:p>
          </p:txBody>
        </p:sp>
      </p:grpSp>
      <p:grpSp>
        <p:nvGrpSpPr>
          <p:cNvPr id="3" name="Group 10">
            <a:extLst>
              <a:ext uri="{FF2B5EF4-FFF2-40B4-BE49-F238E27FC236}">
                <a16:creationId xmlns:a16="http://schemas.microsoft.com/office/drawing/2014/main" id="{54FC095B-4306-4463-B230-6648B9080C8D}"/>
              </a:ext>
            </a:extLst>
          </p:cNvPr>
          <p:cNvGrpSpPr>
            <a:grpSpLocks/>
          </p:cNvGrpSpPr>
          <p:nvPr/>
        </p:nvGrpSpPr>
        <p:grpSpPr bwMode="auto">
          <a:xfrm>
            <a:off x="2124075" y="4149725"/>
            <a:ext cx="1368425" cy="1635125"/>
            <a:chOff x="1474" y="2478"/>
            <a:chExt cx="862" cy="1030"/>
          </a:xfrm>
        </p:grpSpPr>
        <p:sp>
          <p:nvSpPr>
            <p:cNvPr id="16416" name="Text Box 11">
              <a:extLst>
                <a:ext uri="{FF2B5EF4-FFF2-40B4-BE49-F238E27FC236}">
                  <a16:creationId xmlns:a16="http://schemas.microsoft.com/office/drawing/2014/main" id="{0EE867CC-5AAC-4649-89BC-DBC33D4694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74" y="2614"/>
              <a:ext cx="289" cy="4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b="1"/>
                <a:t>导出</a:t>
              </a:r>
            </a:p>
          </p:txBody>
        </p:sp>
        <p:sp>
          <p:nvSpPr>
            <p:cNvPr id="28701" name="Line 12">
              <a:extLst>
                <a:ext uri="{FF2B5EF4-FFF2-40B4-BE49-F238E27FC236}">
                  <a16:creationId xmlns:a16="http://schemas.microsoft.com/office/drawing/2014/main" id="{2042D4DD-FDE2-4A1B-9172-4C02A2089C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01" y="2478"/>
              <a:ext cx="136" cy="667"/>
            </a:xfrm>
            <a:prstGeom prst="lin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28702" name="Line 13">
              <a:extLst>
                <a:ext uri="{FF2B5EF4-FFF2-40B4-BE49-F238E27FC236}">
                  <a16:creationId xmlns:a16="http://schemas.microsoft.com/office/drawing/2014/main" id="{AD44A2F2-CDC1-4AF0-874A-9D568A6B29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882" y="2478"/>
              <a:ext cx="136" cy="849"/>
            </a:xfrm>
            <a:prstGeom prst="lin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6" name="Line 14">
              <a:extLst>
                <a:ext uri="{FF2B5EF4-FFF2-40B4-BE49-F238E27FC236}">
                  <a16:creationId xmlns:a16="http://schemas.microsoft.com/office/drawing/2014/main" id="{7B531988-332E-42D9-8744-EA678EF06D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245" y="2659"/>
              <a:ext cx="91" cy="849"/>
            </a:xfrm>
            <a:prstGeom prst="lin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</p:grpSp>
      <p:grpSp>
        <p:nvGrpSpPr>
          <p:cNvPr id="4" name="Group 15">
            <a:extLst>
              <a:ext uri="{FF2B5EF4-FFF2-40B4-BE49-F238E27FC236}">
                <a16:creationId xmlns:a16="http://schemas.microsoft.com/office/drawing/2014/main" id="{A70A9B0C-AE53-4192-BBC8-E948AF759410}"/>
              </a:ext>
            </a:extLst>
          </p:cNvPr>
          <p:cNvGrpSpPr>
            <a:grpSpLocks/>
          </p:cNvGrpSpPr>
          <p:nvPr/>
        </p:nvGrpSpPr>
        <p:grpSpPr bwMode="auto">
          <a:xfrm>
            <a:off x="2700338" y="5013325"/>
            <a:ext cx="2735262" cy="863600"/>
            <a:chOff x="944" y="2976"/>
            <a:chExt cx="1450" cy="544"/>
          </a:xfrm>
        </p:grpSpPr>
        <p:sp>
          <p:nvSpPr>
            <p:cNvPr id="8" name="Line 16">
              <a:extLst>
                <a:ext uri="{FF2B5EF4-FFF2-40B4-BE49-F238E27FC236}">
                  <a16:creationId xmlns:a16="http://schemas.microsoft.com/office/drawing/2014/main" id="{54C0A05E-146C-4C00-B0E8-19670A6709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4" y="3191"/>
              <a:ext cx="1450" cy="45"/>
            </a:xfrm>
            <a:prstGeom prst="lin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11" name="Line 17">
              <a:extLst>
                <a:ext uri="{FF2B5EF4-FFF2-40B4-BE49-F238E27FC236}">
                  <a16:creationId xmlns:a16="http://schemas.microsoft.com/office/drawing/2014/main" id="{B13B1437-6445-4C05-BDF3-FD9C394B79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73" y="3327"/>
              <a:ext cx="1181" cy="45"/>
            </a:xfrm>
            <a:prstGeom prst="lin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12" name="Line 18">
              <a:extLst>
                <a:ext uri="{FF2B5EF4-FFF2-40B4-BE49-F238E27FC236}">
                  <a16:creationId xmlns:a16="http://schemas.microsoft.com/office/drawing/2014/main" id="{26329A72-BC92-47D6-BC3E-44BBA1C9830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16" y="3418"/>
              <a:ext cx="839" cy="102"/>
            </a:xfrm>
            <a:prstGeom prst="lin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16415" name="Text Box 19">
              <a:extLst>
                <a:ext uri="{FF2B5EF4-FFF2-40B4-BE49-F238E27FC236}">
                  <a16:creationId xmlns:a16="http://schemas.microsoft.com/office/drawing/2014/main" id="{D5ACB6F3-2F56-4639-B9CD-E14235D7F5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39" y="2976"/>
              <a:ext cx="47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b="1"/>
                <a:t>多对一</a:t>
              </a:r>
            </a:p>
          </p:txBody>
        </p:sp>
      </p:grpSp>
      <p:grpSp>
        <p:nvGrpSpPr>
          <p:cNvPr id="5" name="Group 26">
            <a:extLst>
              <a:ext uri="{FF2B5EF4-FFF2-40B4-BE49-F238E27FC236}">
                <a16:creationId xmlns:a16="http://schemas.microsoft.com/office/drawing/2014/main" id="{2BDABC82-914B-44A7-AB8C-000A8EBEECA1}"/>
              </a:ext>
            </a:extLst>
          </p:cNvPr>
          <p:cNvGrpSpPr>
            <a:grpSpLocks/>
          </p:cNvGrpSpPr>
          <p:nvPr/>
        </p:nvGrpSpPr>
        <p:grpSpPr bwMode="auto">
          <a:xfrm>
            <a:off x="1763713" y="3232150"/>
            <a:ext cx="2141537" cy="1152525"/>
            <a:chOff x="1247" y="1935"/>
            <a:chExt cx="1349" cy="726"/>
          </a:xfrm>
        </p:grpSpPr>
        <p:sp>
          <p:nvSpPr>
            <p:cNvPr id="16408" name="Rectangle 27">
              <a:extLst>
                <a:ext uri="{FF2B5EF4-FFF2-40B4-BE49-F238E27FC236}">
                  <a16:creationId xmlns:a16="http://schemas.microsoft.com/office/drawing/2014/main" id="{355BAEFE-C2ED-49FB-881B-94638C2D3F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6" y="2331"/>
              <a:ext cx="227" cy="136"/>
            </a:xfrm>
            <a:prstGeom prst="rect">
              <a:avLst/>
            </a:prstGeom>
            <a:solidFill>
              <a:srgbClr val="CC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pSp>
          <p:nvGrpSpPr>
            <p:cNvPr id="16409" name="Group 28">
              <a:extLst>
                <a:ext uri="{FF2B5EF4-FFF2-40B4-BE49-F238E27FC236}">
                  <a16:creationId xmlns:a16="http://schemas.microsoft.com/office/drawing/2014/main" id="{C31D45EC-4B8E-463E-A31A-66506FC5E27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47" y="1935"/>
              <a:ext cx="1349" cy="726"/>
              <a:chOff x="1247" y="1935"/>
              <a:chExt cx="1349" cy="726"/>
            </a:xfrm>
          </p:grpSpPr>
          <p:sp>
            <p:nvSpPr>
              <p:cNvPr id="16410" name="Text Box 29">
                <a:extLst>
                  <a:ext uri="{FF2B5EF4-FFF2-40B4-BE49-F238E27FC236}">
                    <a16:creationId xmlns:a16="http://schemas.microsoft.com/office/drawing/2014/main" id="{915ADD97-905A-464E-96E9-963788A3CF0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47" y="1935"/>
                <a:ext cx="1349" cy="291"/>
              </a:xfrm>
              <a:prstGeom prst="rect">
                <a:avLst/>
              </a:prstGeom>
              <a:solidFill>
                <a:schemeClr val="bg1">
                  <a:alpha val="87057"/>
                </a:schemeClr>
              </a:solidFill>
              <a:ln w="2857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400" b="1" i="1">
                    <a:solidFill>
                      <a:srgbClr val="008000"/>
                    </a:solidFill>
                    <a:latin typeface="Times New Roman" panose="02020603050405020304" pitchFamily="18" charset="0"/>
                  </a:rPr>
                  <a:t>V</a:t>
                </a:r>
                <a:r>
                  <a:rPr lang="zh-CN" altLang="en-US" sz="2400" b="1">
                    <a:solidFill>
                      <a:srgbClr val="008000"/>
                    </a:solidFill>
                  </a:rPr>
                  <a:t>上同余关系</a:t>
                </a:r>
                <a:r>
                  <a:rPr lang="en-US" altLang="zh-CN" sz="2400" b="1" i="1">
                    <a:solidFill>
                      <a:srgbClr val="008000"/>
                    </a:solidFill>
                    <a:latin typeface="Times New Roman" panose="02020603050405020304" pitchFamily="18" charset="0"/>
                  </a:rPr>
                  <a:t>R</a:t>
                </a:r>
              </a:p>
            </p:txBody>
          </p:sp>
          <p:sp>
            <p:nvSpPr>
              <p:cNvPr id="16411" name="Rectangle 30">
                <a:extLst>
                  <a:ext uri="{FF2B5EF4-FFF2-40B4-BE49-F238E27FC236}">
                    <a16:creationId xmlns:a16="http://schemas.microsoft.com/office/drawing/2014/main" id="{0CA543D7-21F9-47A5-8D2E-17D1202E6C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10" y="2525"/>
                <a:ext cx="226" cy="136"/>
              </a:xfrm>
              <a:prstGeom prst="rect">
                <a:avLst/>
              </a:prstGeom>
              <a:solidFill>
                <a:srgbClr val="CCCC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</p:grpSp>
      <p:sp>
        <p:nvSpPr>
          <p:cNvPr id="27661" name="Text Box 33">
            <a:extLst>
              <a:ext uri="{FF2B5EF4-FFF2-40B4-BE49-F238E27FC236}">
                <a16:creationId xmlns:a16="http://schemas.microsoft.com/office/drawing/2014/main" id="{D0590801-D206-40E4-99F6-708B39676D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6325" y="2944813"/>
            <a:ext cx="1617663" cy="850900"/>
          </a:xfrm>
          <a:prstGeom prst="rect">
            <a:avLst/>
          </a:prstGeom>
          <a:solidFill>
            <a:schemeClr val="bg1">
              <a:alpha val="39999"/>
            </a:schemeClr>
          </a:solidFill>
          <a:ln w="28575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solidFill>
                  <a:srgbClr val="005400"/>
                </a:solidFill>
                <a:latin typeface="Times New Roman" panose="02020603050405020304" pitchFamily="18" charset="0"/>
              </a:rPr>
              <a:t>商代数</a:t>
            </a:r>
            <a:r>
              <a:rPr lang="en-US" altLang="zh-CN" sz="2400" b="1" i="1">
                <a:solidFill>
                  <a:srgbClr val="005400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2400" b="1">
                <a:solidFill>
                  <a:srgbClr val="0054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zh-CN" sz="2400" b="1" i="1">
                <a:solidFill>
                  <a:srgbClr val="005400"/>
                </a:solidFill>
                <a:latin typeface="Times New Roman" panose="02020603050405020304" pitchFamily="18" charset="0"/>
              </a:rPr>
              <a:t>R</a:t>
            </a:r>
            <a:r>
              <a:rPr lang="zh-CN" altLang="en-US" sz="2400" b="1">
                <a:solidFill>
                  <a:srgbClr val="005400"/>
                </a:solidFill>
                <a:latin typeface="Times New Roman" panose="02020603050405020304" pitchFamily="18" charset="0"/>
              </a:rPr>
              <a:t>彼此同构</a:t>
            </a:r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0A61C4B5-CA48-4B90-B559-D972902BDF42}"/>
              </a:ext>
            </a:extLst>
          </p:cNvPr>
          <p:cNvSpPr/>
          <p:nvPr/>
        </p:nvSpPr>
        <p:spPr>
          <a:xfrm>
            <a:off x="5435600" y="5281613"/>
            <a:ext cx="1368425" cy="81121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b="1" dirty="0">
                <a:solidFill>
                  <a:srgbClr val="005400"/>
                </a:solidFill>
                <a:latin typeface="Arial" charset="0"/>
              </a:rPr>
              <a:t>同态像 </a:t>
            </a:r>
            <a:r>
              <a:rPr lang="en-US" altLang="zh-CN" b="1" i="1" dirty="0">
                <a:solidFill>
                  <a:srgbClr val="005400"/>
                </a:solidFill>
                <a:latin typeface="Times New Roman" pitchFamily="18" charset="0"/>
              </a:rPr>
              <a:t>f</a:t>
            </a:r>
            <a:r>
              <a:rPr lang="en-US" altLang="zh-CN" b="1" dirty="0">
                <a:solidFill>
                  <a:srgbClr val="005400"/>
                </a:solidFill>
                <a:latin typeface="Times New Roman" pitchFamily="18" charset="0"/>
              </a:rPr>
              <a:t>(</a:t>
            </a:r>
            <a:r>
              <a:rPr lang="en-US" altLang="zh-CN" b="1" i="1" dirty="0">
                <a:solidFill>
                  <a:srgbClr val="005400"/>
                </a:solidFill>
                <a:latin typeface="Times New Roman" pitchFamily="18" charset="0"/>
              </a:rPr>
              <a:t>V</a:t>
            </a:r>
            <a:r>
              <a:rPr lang="en-US" altLang="zh-CN" b="1" dirty="0">
                <a:solidFill>
                  <a:srgbClr val="005400"/>
                </a:solidFill>
                <a:latin typeface="Times New Roman" pitchFamily="18" charset="0"/>
              </a:rPr>
              <a:t>)</a:t>
            </a:r>
            <a:endParaRPr lang="zh-CN" altLang="en-US" dirty="0"/>
          </a:p>
        </p:txBody>
      </p:sp>
      <p:grpSp>
        <p:nvGrpSpPr>
          <p:cNvPr id="9" name="组合 71">
            <a:extLst>
              <a:ext uri="{FF2B5EF4-FFF2-40B4-BE49-F238E27FC236}">
                <a16:creationId xmlns:a16="http://schemas.microsoft.com/office/drawing/2014/main" id="{7F10A382-296E-420A-93E6-F71142ABB875}"/>
              </a:ext>
            </a:extLst>
          </p:cNvPr>
          <p:cNvGrpSpPr>
            <a:grpSpLocks/>
          </p:cNvGrpSpPr>
          <p:nvPr/>
        </p:nvGrpSpPr>
        <p:grpSpPr bwMode="auto">
          <a:xfrm>
            <a:off x="5324475" y="3716338"/>
            <a:ext cx="1511300" cy="1633537"/>
            <a:chOff x="5324343" y="3717032"/>
            <a:chExt cx="1512168" cy="1632545"/>
          </a:xfrm>
        </p:grpSpPr>
        <p:grpSp>
          <p:nvGrpSpPr>
            <p:cNvPr id="16404" name="组合 65">
              <a:extLst>
                <a:ext uri="{FF2B5EF4-FFF2-40B4-BE49-F238E27FC236}">
                  <a16:creationId xmlns:a16="http://schemas.microsoft.com/office/drawing/2014/main" id="{ADFE9FEE-B54D-4A49-86CE-67EAB75A14C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12160" y="4612837"/>
              <a:ext cx="605681" cy="736740"/>
              <a:chOff x="6012160" y="4612837"/>
              <a:chExt cx="605681" cy="736740"/>
            </a:xfrm>
          </p:grpSpPr>
          <p:sp>
            <p:nvSpPr>
              <p:cNvPr id="28693" name="Text Box 25">
                <a:extLst>
                  <a:ext uri="{FF2B5EF4-FFF2-40B4-BE49-F238E27FC236}">
                    <a16:creationId xmlns:a16="http://schemas.microsoft.com/office/drawing/2014/main" id="{C3023651-1270-408C-870D-5D6AB793519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56671" y="4613425"/>
                <a:ext cx="460640" cy="7361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eaVert" wrap="none">
                <a:spAutoFit/>
              </a:bodyPr>
              <a:lstStyle/>
              <a:p>
                <a:pPr>
                  <a:defRPr/>
                </a:pPr>
                <a:r>
                  <a:rPr lang="zh-CN" altLang="en-US" b="1" spc="-100" dirty="0">
                    <a:latin typeface="Arial" charset="0"/>
                  </a:rPr>
                  <a:t>一对一</a:t>
                </a:r>
              </a:p>
            </p:txBody>
          </p:sp>
          <p:cxnSp>
            <p:nvCxnSpPr>
              <p:cNvPr id="62" name="直接箭头连接符 61">
                <a:extLst>
                  <a:ext uri="{FF2B5EF4-FFF2-40B4-BE49-F238E27FC236}">
                    <a16:creationId xmlns:a16="http://schemas.microsoft.com/office/drawing/2014/main" id="{FBFDA0AE-7202-4716-B5E0-B43D5F500F47}"/>
                  </a:ext>
                </a:extLst>
              </p:cNvPr>
              <p:cNvCxnSpPr/>
              <p:nvPr/>
            </p:nvCxnSpPr>
            <p:spPr>
              <a:xfrm>
                <a:off x="6012126" y="4726069"/>
                <a:ext cx="0" cy="502931"/>
              </a:xfrm>
              <a:prstGeom prst="straightConnector1">
                <a:avLst/>
              </a:prstGeom>
              <a:ln w="25400">
                <a:solidFill>
                  <a:schemeClr val="bg1">
                    <a:lumMod val="50000"/>
                  </a:schemeClr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2" name="椭圆 51">
              <a:extLst>
                <a:ext uri="{FF2B5EF4-FFF2-40B4-BE49-F238E27FC236}">
                  <a16:creationId xmlns:a16="http://schemas.microsoft.com/office/drawing/2014/main" id="{095B1A73-64EE-4D41-84D8-1DB6F5A3F389}"/>
                </a:ext>
              </a:extLst>
            </p:cNvPr>
            <p:cNvSpPr/>
            <p:nvPr/>
          </p:nvSpPr>
          <p:spPr>
            <a:xfrm rot="1500000">
              <a:off x="5324343" y="3717032"/>
              <a:ext cx="1512168" cy="864662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grpSp>
        <p:nvGrpSpPr>
          <p:cNvPr id="13" name="组合 67">
            <a:extLst>
              <a:ext uri="{FF2B5EF4-FFF2-40B4-BE49-F238E27FC236}">
                <a16:creationId xmlns:a16="http://schemas.microsoft.com/office/drawing/2014/main" id="{D4178792-2128-4083-B6B3-AA264C1314EA}"/>
              </a:ext>
            </a:extLst>
          </p:cNvPr>
          <p:cNvGrpSpPr>
            <a:grpSpLocks/>
          </p:cNvGrpSpPr>
          <p:nvPr/>
        </p:nvGrpSpPr>
        <p:grpSpPr bwMode="auto">
          <a:xfrm>
            <a:off x="5651500" y="3860800"/>
            <a:ext cx="722313" cy="504825"/>
            <a:chOff x="5652120" y="3861048"/>
            <a:chExt cx="721419" cy="503932"/>
          </a:xfrm>
        </p:grpSpPr>
        <p:sp>
          <p:nvSpPr>
            <p:cNvPr id="16402" name="Oval 35">
              <a:extLst>
                <a:ext uri="{FF2B5EF4-FFF2-40B4-BE49-F238E27FC236}">
                  <a16:creationId xmlns:a16="http://schemas.microsoft.com/office/drawing/2014/main" id="{D7C63C7B-147C-4EAA-8ABC-108D3DFC4F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40152" y="4149080"/>
              <a:ext cx="433387" cy="215900"/>
            </a:xfrm>
            <a:prstGeom prst="ellipse">
              <a:avLst/>
            </a:prstGeom>
            <a:solidFill>
              <a:srgbClr val="CCCC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6403" name="Oval 34">
              <a:extLst>
                <a:ext uri="{FF2B5EF4-FFF2-40B4-BE49-F238E27FC236}">
                  <a16:creationId xmlns:a16="http://schemas.microsoft.com/office/drawing/2014/main" id="{8F4278EC-591E-444B-81B2-C98CE53491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52120" y="3861048"/>
              <a:ext cx="360362" cy="217487"/>
            </a:xfrm>
            <a:prstGeom prst="ellipse">
              <a:avLst/>
            </a:prstGeom>
            <a:solidFill>
              <a:srgbClr val="CCCC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14" name="组合 63">
            <a:extLst>
              <a:ext uri="{FF2B5EF4-FFF2-40B4-BE49-F238E27FC236}">
                <a16:creationId xmlns:a16="http://schemas.microsoft.com/office/drawing/2014/main" id="{7B818880-94A7-4F7B-B98C-3BF265416B48}"/>
              </a:ext>
            </a:extLst>
          </p:cNvPr>
          <p:cNvGrpSpPr>
            <a:grpSpLocks/>
          </p:cNvGrpSpPr>
          <p:nvPr/>
        </p:nvGrpSpPr>
        <p:grpSpPr bwMode="auto">
          <a:xfrm>
            <a:off x="2916238" y="3592513"/>
            <a:ext cx="2951162" cy="700087"/>
            <a:chOff x="2915816" y="3592909"/>
            <a:chExt cx="2952328" cy="700187"/>
          </a:xfrm>
        </p:grpSpPr>
        <p:sp>
          <p:nvSpPr>
            <p:cNvPr id="16398" name="Text Box 22">
              <a:extLst>
                <a:ext uri="{FF2B5EF4-FFF2-40B4-BE49-F238E27FC236}">
                  <a16:creationId xmlns:a16="http://schemas.microsoft.com/office/drawing/2014/main" id="{41983BFE-9494-4D55-9000-792985846F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95936" y="3592909"/>
              <a:ext cx="874712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b="1"/>
                <a:t>一对一</a:t>
              </a:r>
            </a:p>
          </p:txBody>
        </p:sp>
        <p:grpSp>
          <p:nvGrpSpPr>
            <p:cNvPr id="16399" name="组合 62">
              <a:extLst>
                <a:ext uri="{FF2B5EF4-FFF2-40B4-BE49-F238E27FC236}">
                  <a16:creationId xmlns:a16="http://schemas.microsoft.com/office/drawing/2014/main" id="{B2BAB819-A2A6-4401-B2D9-04C6CD52A3C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15816" y="3933056"/>
              <a:ext cx="2952328" cy="360040"/>
              <a:chOff x="2915816" y="3933056"/>
              <a:chExt cx="2952328" cy="360040"/>
            </a:xfrm>
          </p:grpSpPr>
          <p:cxnSp>
            <p:nvCxnSpPr>
              <p:cNvPr id="49" name="直接箭头连接符 48">
                <a:extLst>
                  <a:ext uri="{FF2B5EF4-FFF2-40B4-BE49-F238E27FC236}">
                    <a16:creationId xmlns:a16="http://schemas.microsoft.com/office/drawing/2014/main" id="{D7558C66-760D-4807-B140-24BAD0FCD738}"/>
                  </a:ext>
                </a:extLst>
              </p:cNvPr>
              <p:cNvCxnSpPr/>
              <p:nvPr/>
            </p:nvCxnSpPr>
            <p:spPr>
              <a:xfrm>
                <a:off x="2915816" y="3932683"/>
                <a:ext cx="2664877" cy="36517"/>
              </a:xfrm>
              <a:prstGeom prst="straightConnector1">
                <a:avLst/>
              </a:prstGeom>
              <a:ln w="25400">
                <a:solidFill>
                  <a:schemeClr val="bg1">
                    <a:lumMod val="50000"/>
                  </a:schemeClr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箭头连接符 49">
                <a:extLst>
                  <a:ext uri="{FF2B5EF4-FFF2-40B4-BE49-F238E27FC236}">
                    <a16:creationId xmlns:a16="http://schemas.microsoft.com/office/drawing/2014/main" id="{D33F7330-DF19-4256-8F05-D634445AC960}"/>
                  </a:ext>
                </a:extLst>
              </p:cNvPr>
              <p:cNvCxnSpPr/>
              <p:nvPr/>
            </p:nvCxnSpPr>
            <p:spPr>
              <a:xfrm>
                <a:off x="3563772" y="4293096"/>
                <a:ext cx="2304372" cy="0"/>
              </a:xfrm>
              <a:prstGeom prst="straightConnector1">
                <a:avLst/>
              </a:prstGeom>
              <a:ln w="25400">
                <a:solidFill>
                  <a:schemeClr val="bg1">
                    <a:lumMod val="50000"/>
                  </a:schemeClr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76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76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61" grpId="0" animBg="1"/>
      <p:bldP spid="3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2">
            <a:extLst>
              <a:ext uri="{FF2B5EF4-FFF2-40B4-BE49-F238E27FC236}">
                <a16:creationId xmlns:a16="http://schemas.microsoft.com/office/drawing/2014/main" id="{06B01541-D462-4309-9FB6-6B84FC1642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63023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实例说明</a:t>
            </a:r>
          </a:p>
        </p:txBody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31538B20-D89F-488E-B054-813343847BFE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11188" y="1125538"/>
            <a:ext cx="7834312" cy="5334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1" i="1">
                <a:latin typeface="Times New Roman" panose="02020603050405020304" pitchFamily="18" charset="0"/>
              </a:rPr>
              <a:t>G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800" b="1" i="1">
                <a:latin typeface="Times New Roman" panose="02020603050405020304" pitchFamily="18" charset="0"/>
              </a:rPr>
              <a:t> </a:t>
            </a:r>
            <a:r>
              <a:rPr lang="en-US" altLang="zh-CN" sz="2800" b="1">
                <a:latin typeface="Times New Roman" panose="02020603050405020304" pitchFamily="18" charset="0"/>
              </a:rPr>
              <a:t>= { </a:t>
            </a:r>
            <a:r>
              <a:rPr lang="en-US" altLang="zh-CN" sz="2800" b="1" i="1">
                <a:latin typeface="Times New Roman" panose="02020603050405020304" pitchFamily="18" charset="0"/>
              </a:rPr>
              <a:t>e, a, b, c </a:t>
            </a:r>
            <a:r>
              <a:rPr lang="en-US" altLang="zh-CN" sz="2800" b="1">
                <a:latin typeface="Times New Roman" panose="02020603050405020304" pitchFamily="18" charset="0"/>
              </a:rPr>
              <a:t>}, Klein</a:t>
            </a:r>
            <a:r>
              <a:rPr lang="zh-CN" altLang="en-US" sz="2800" b="1">
                <a:latin typeface="Times New Roman" panose="02020603050405020304" pitchFamily="18" charset="0"/>
              </a:rPr>
              <a:t>四元群</a:t>
            </a:r>
            <a:r>
              <a:rPr lang="en-US" altLang="zh-CN" sz="2800" b="1">
                <a:latin typeface="Times New Roman" panose="02020603050405020304" pitchFamily="18" charset="0"/>
              </a:rPr>
              <a:t>,    </a:t>
            </a:r>
            <a:r>
              <a:rPr lang="en-US" altLang="zh-CN" sz="2800" b="1" i="1">
                <a:latin typeface="Times New Roman" panose="02020603050405020304" pitchFamily="18" charset="0"/>
              </a:rPr>
              <a:t>G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2 </a:t>
            </a:r>
            <a:r>
              <a:rPr lang="en-US" altLang="zh-CN" sz="2800" b="1">
                <a:latin typeface="Times New Roman" panose="02020603050405020304" pitchFamily="18" charset="0"/>
              </a:rPr>
              <a:t>= { </a:t>
            </a:r>
            <a:r>
              <a:rPr lang="en-US" altLang="zh-CN" sz="2800" b="1" i="1">
                <a:latin typeface="Times New Roman" panose="02020603050405020304" pitchFamily="18" charset="0"/>
              </a:rPr>
              <a:t>e</a:t>
            </a:r>
            <a:r>
              <a:rPr lang="en-US" altLang="zh-CN" sz="2800" b="1">
                <a:latin typeface="Times New Roman" panose="02020603050405020304" pitchFamily="18" charset="0"/>
              </a:rPr>
              <a:t>, </a:t>
            </a: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</a:rPr>
              <a:t> }</a:t>
            </a:r>
            <a:endParaRPr lang="en-US" altLang="zh-CN" sz="2800" b="1"/>
          </a:p>
        </p:txBody>
      </p:sp>
      <p:graphicFrame>
        <p:nvGraphicFramePr>
          <p:cNvPr id="337924" name="Group 4">
            <a:extLst>
              <a:ext uri="{FF2B5EF4-FFF2-40B4-BE49-F238E27FC236}">
                <a16:creationId xmlns:a16="http://schemas.microsoft.com/office/drawing/2014/main" id="{F8EDDB51-5E28-4FBB-8AFB-2EBF7B614157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868363" y="1989138"/>
          <a:ext cx="2346325" cy="2087889"/>
        </p:xfrm>
        <a:graphic>
          <a:graphicData uri="http://schemas.openxmlformats.org/drawingml/2006/table">
            <a:tbl>
              <a:tblPr/>
              <a:tblGrid>
                <a:gridCol w="5921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41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027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marT="45710" marB="4571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 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e   a   b   c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728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  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a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b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c</a:t>
                      </a:r>
                    </a:p>
                  </a:txBody>
                  <a:tcPr marT="45710" marB="4571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 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e   a   b   c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a   e   c   b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b   c   e   a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c   b   a   e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9698" name="灯片编号占位符 6">
            <a:extLst>
              <a:ext uri="{FF2B5EF4-FFF2-40B4-BE49-F238E27FC236}">
                <a16:creationId xmlns:a16="http://schemas.microsoft.com/office/drawing/2014/main" id="{27D43234-421F-43C9-8B49-009712101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25D540E-0428-4541-9A13-51F1C7E11D53}" type="slidenum">
              <a:rPr lang="en-US" altLang="zh-CN">
                <a:solidFill>
                  <a:srgbClr val="898989"/>
                </a:solidFill>
              </a:rPr>
              <a:pPr eaLnBrk="1" hangingPunct="1"/>
              <a:t>15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337935" name="Text Box 15">
            <a:extLst>
              <a:ext uri="{FF2B5EF4-FFF2-40B4-BE49-F238E27FC236}">
                <a16:creationId xmlns:a16="http://schemas.microsoft.com/office/drawing/2014/main" id="{F3A93761-E2B4-477E-AC6A-17F7C28FAA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3938" y="1844675"/>
            <a:ext cx="4968875" cy="269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CN" sz="2800" b="1" i="1">
                <a:latin typeface="Times New Roman" panose="02020603050405020304" pitchFamily="18" charset="0"/>
              </a:rPr>
              <a:t> f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</a:rPr>
              <a:t>:</a:t>
            </a:r>
            <a:r>
              <a:rPr lang="en-US" altLang="zh-CN" sz="2800" b="1" i="1">
                <a:latin typeface="Times New Roman" panose="02020603050405020304" pitchFamily="18" charset="0"/>
              </a:rPr>
              <a:t>G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sz="28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 f</a:t>
            </a:r>
            <a:r>
              <a:rPr lang="en-US" altLang="zh-CN" sz="28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={&lt;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e,e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&gt;,&lt;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a,e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&gt;,&lt;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b,x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&gt;,&lt;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c,x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&gt;}</a:t>
            </a:r>
          </a:p>
          <a:p>
            <a:pPr eaLnBrk="1" hangingPunct="1">
              <a:lnSpc>
                <a:spcPct val="110000"/>
              </a:lnSpc>
              <a:spcBef>
                <a:spcPct val="30000"/>
              </a:spcBef>
            </a:pP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 f</a:t>
            </a:r>
            <a:r>
              <a:rPr lang="en-US" altLang="zh-CN" sz="28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: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sz="28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sz="28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 f</a:t>
            </a:r>
            <a:r>
              <a:rPr lang="en-US" altLang="zh-CN" sz="28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={&lt;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e,e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&gt;,&lt;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b,e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&gt;,&lt;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a,x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&gt;,&lt;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c,x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&gt;}</a:t>
            </a:r>
          </a:p>
          <a:p>
            <a:pPr eaLnBrk="1" hangingPunct="1">
              <a:lnSpc>
                <a:spcPct val="110000"/>
              </a:lnSpc>
              <a:spcBef>
                <a:spcPct val="30000"/>
              </a:spcBef>
            </a:pP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8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sz="28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)=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 f</a:t>
            </a:r>
            <a:r>
              <a:rPr lang="en-US" altLang="zh-CN" sz="28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sz="28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) =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sz="28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2 </a:t>
            </a:r>
          </a:p>
        </p:txBody>
      </p:sp>
      <p:sp>
        <p:nvSpPr>
          <p:cNvPr id="337936" name="Text Box 16">
            <a:extLst>
              <a:ext uri="{FF2B5EF4-FFF2-40B4-BE49-F238E27FC236}">
                <a16:creationId xmlns:a16="http://schemas.microsoft.com/office/drawing/2014/main" id="{98CF1D95-C2AA-42D8-A63C-087E7F85A7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" y="4581525"/>
            <a:ext cx="7956550" cy="150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CN" sz="2800" b="1" i="1">
                <a:latin typeface="Times New Roman" panose="02020603050405020304" pitchFamily="18" charset="0"/>
              </a:rPr>
              <a:t> f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1</a:t>
            </a:r>
            <a:r>
              <a:rPr lang="zh-CN" altLang="en-US" sz="2800" b="1">
                <a:latin typeface="Times New Roman" panose="02020603050405020304" pitchFamily="18" charset="0"/>
              </a:rPr>
              <a:t>导出的同余关系</a:t>
            </a:r>
            <a:r>
              <a:rPr lang="en-US" altLang="zh-CN" sz="2800" b="1" i="1">
                <a:latin typeface="Times New Roman" panose="02020603050405020304" pitchFamily="18" charset="0"/>
              </a:rPr>
              <a:t>R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1</a:t>
            </a:r>
            <a:r>
              <a:rPr lang="zh-CN" altLang="en-US" sz="2800" b="1">
                <a:latin typeface="Times New Roman" panose="02020603050405020304" pitchFamily="18" charset="0"/>
              </a:rPr>
              <a:t>：</a:t>
            </a:r>
            <a:r>
              <a:rPr lang="en-US" altLang="zh-CN" sz="2800" b="1" i="1">
                <a:latin typeface="Times New Roman" panose="02020603050405020304" pitchFamily="18" charset="0"/>
              </a:rPr>
              <a:t>e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a, bc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,  </a:t>
            </a: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en-US" altLang="zh-CN" sz="2800" b="1" i="1">
                <a:latin typeface="Times New Roman" panose="02020603050405020304" pitchFamily="18" charset="0"/>
              </a:rPr>
              <a:t>G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</a:rPr>
              <a:t>/</a:t>
            </a:r>
            <a:r>
              <a:rPr lang="en-US" altLang="zh-CN" sz="2800" b="1" i="1">
                <a:latin typeface="Times New Roman" panose="02020603050405020304" pitchFamily="18" charset="0"/>
              </a:rPr>
              <a:t>R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</a:rPr>
              <a:t>={[</a:t>
            </a:r>
            <a:r>
              <a:rPr lang="en-US" altLang="zh-CN" sz="2800" b="1" i="1">
                <a:latin typeface="Times New Roman" panose="02020603050405020304" pitchFamily="18" charset="0"/>
              </a:rPr>
              <a:t>e</a:t>
            </a:r>
            <a:r>
              <a:rPr lang="en-US" altLang="zh-CN" sz="2800" b="1">
                <a:latin typeface="Times New Roman" panose="02020603050405020304" pitchFamily="18" charset="0"/>
              </a:rPr>
              <a:t>],[</a:t>
            </a:r>
            <a:r>
              <a:rPr lang="en-US" altLang="zh-CN" sz="2800" b="1" i="1">
                <a:latin typeface="Times New Roman" panose="02020603050405020304" pitchFamily="18" charset="0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</a:rPr>
              <a:t>]}  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en-US" altLang="zh-CN" sz="2800" b="1" i="1">
                <a:latin typeface="Times New Roman" panose="02020603050405020304" pitchFamily="18" charset="0"/>
              </a:rPr>
              <a:t>f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2</a:t>
            </a:r>
            <a:r>
              <a:rPr lang="zh-CN" altLang="en-US" sz="2800" b="1">
                <a:latin typeface="Times New Roman" panose="02020603050405020304" pitchFamily="18" charset="0"/>
              </a:rPr>
              <a:t>导出的同余关系</a:t>
            </a:r>
            <a:r>
              <a:rPr lang="en-US" altLang="zh-CN" sz="2800" b="1" i="1">
                <a:latin typeface="Times New Roman" panose="02020603050405020304" pitchFamily="18" charset="0"/>
              </a:rPr>
              <a:t>R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2</a:t>
            </a:r>
            <a:r>
              <a:rPr lang="zh-CN" altLang="en-US" sz="2800" b="1">
                <a:latin typeface="Times New Roman" panose="02020603050405020304" pitchFamily="18" charset="0"/>
              </a:rPr>
              <a:t>：</a:t>
            </a:r>
            <a:r>
              <a:rPr lang="en-US" altLang="zh-CN" sz="2800" b="1" i="1">
                <a:latin typeface="Times New Roman" panose="02020603050405020304" pitchFamily="18" charset="0"/>
              </a:rPr>
              <a:t>e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b, ac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,  </a:t>
            </a: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en-US" altLang="zh-CN" sz="2800" b="1" i="1">
                <a:latin typeface="Times New Roman" panose="02020603050405020304" pitchFamily="18" charset="0"/>
              </a:rPr>
              <a:t>G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</a:rPr>
              <a:t>/</a:t>
            </a:r>
            <a:r>
              <a:rPr lang="en-US" altLang="zh-CN" sz="2800" b="1" i="1">
                <a:latin typeface="Times New Roman" panose="02020603050405020304" pitchFamily="18" charset="0"/>
              </a:rPr>
              <a:t>R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2</a:t>
            </a:r>
            <a:r>
              <a:rPr lang="en-US" altLang="zh-CN" sz="2800" b="1">
                <a:latin typeface="Times New Roman" panose="02020603050405020304" pitchFamily="18" charset="0"/>
              </a:rPr>
              <a:t>={[</a:t>
            </a:r>
            <a:r>
              <a:rPr lang="en-US" altLang="zh-CN" sz="2800" b="1" i="1">
                <a:latin typeface="Times New Roman" panose="02020603050405020304" pitchFamily="18" charset="0"/>
              </a:rPr>
              <a:t>e</a:t>
            </a:r>
            <a:r>
              <a:rPr lang="en-US" altLang="zh-CN" sz="2800" b="1">
                <a:latin typeface="Times New Roman" panose="02020603050405020304" pitchFamily="18" charset="0"/>
              </a:rPr>
              <a:t>],[</a:t>
            </a: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</a:rPr>
              <a:t>]}   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800" b="1">
                <a:latin typeface="Times New Roman" panose="02020603050405020304" pitchFamily="18" charset="0"/>
              </a:rPr>
              <a:t>          </a:t>
            </a:r>
            <a:r>
              <a:rPr lang="en-US" altLang="zh-CN" sz="2800" b="1" i="1">
                <a:latin typeface="Times New Roman" panose="02020603050405020304" pitchFamily="18" charset="0"/>
              </a:rPr>
              <a:t>G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</a:rPr>
              <a:t>/</a:t>
            </a:r>
            <a:r>
              <a:rPr lang="en-US" altLang="zh-CN" sz="2800" b="1" i="1">
                <a:latin typeface="Times New Roman" panose="02020603050405020304" pitchFamily="18" charset="0"/>
              </a:rPr>
              <a:t>R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1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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sz="28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/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8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2  </a:t>
            </a:r>
            <a:r>
              <a:rPr lang="en-US" altLang="zh-CN" sz="2800" b="1">
                <a:sym typeface="Symbol" panose="05050102010706020507" pitchFamily="18" charset="2"/>
              </a:rPr>
              <a:t>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sz="28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79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79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379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379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35" grpId="0"/>
      <p:bldP spid="33793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3">
            <a:extLst>
              <a:ext uri="{FF2B5EF4-FFF2-40B4-BE49-F238E27FC236}">
                <a16:creationId xmlns:a16="http://schemas.microsoft.com/office/drawing/2014/main" id="{3F994E78-0D92-4AF3-B16E-F9DDF02FB7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778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例题</a:t>
            </a:r>
          </a:p>
        </p:txBody>
      </p:sp>
      <p:sp>
        <p:nvSpPr>
          <p:cNvPr id="18436" name="Rectangle 4">
            <a:extLst>
              <a:ext uri="{FF2B5EF4-FFF2-40B4-BE49-F238E27FC236}">
                <a16:creationId xmlns:a16="http://schemas.microsoft.com/office/drawing/2014/main" id="{2183D5CA-042A-4912-9DC4-72E8850E982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8313" y="1196975"/>
            <a:ext cx="8291512" cy="492442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b="1">
                <a:solidFill>
                  <a:srgbClr val="800000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sz="2400" b="1">
                <a:solidFill>
                  <a:srgbClr val="800000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sz="2400" b="1">
                <a:latin typeface="Times New Roman" panose="02020603050405020304" pitchFamily="18" charset="0"/>
              </a:rPr>
              <a:t>  </a:t>
            </a:r>
            <a:r>
              <a:rPr lang="en-US" altLang="zh-CN" sz="2400" b="1" i="1">
                <a:latin typeface="Times New Roman" panose="02020603050405020304" pitchFamily="18" charset="0"/>
              </a:rPr>
              <a:t>V </a:t>
            </a:r>
            <a:r>
              <a:rPr lang="en-US" altLang="zh-CN" sz="2400" b="1">
                <a:latin typeface="Times New Roman" panose="02020603050405020304" pitchFamily="18" charset="0"/>
              </a:rPr>
              <a:t>= &lt; Z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6</a:t>
            </a:r>
            <a:r>
              <a:rPr lang="en-US" altLang="zh-CN" sz="2400" b="1">
                <a:latin typeface="Times New Roman" panose="02020603050405020304" pitchFamily="18" charset="0"/>
              </a:rPr>
              <a:t>,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 </a:t>
            </a:r>
            <a:r>
              <a:rPr lang="en-US" altLang="zh-CN" sz="2400" b="1">
                <a:latin typeface="Times New Roman" panose="02020603050405020304" pitchFamily="18" charset="0"/>
              </a:rPr>
              <a:t>&gt;,  </a:t>
            </a:r>
            <a:r>
              <a:rPr lang="zh-CN" altLang="en-US" sz="2400" b="1">
                <a:latin typeface="Times New Roman" panose="02020603050405020304" pitchFamily="18" charset="0"/>
              </a:rPr>
              <a:t>求</a:t>
            </a:r>
            <a:r>
              <a:rPr lang="en-US" altLang="zh-CN" sz="2400" b="1" i="1">
                <a:latin typeface="Times New Roman" panose="02020603050405020304" pitchFamily="18" charset="0"/>
              </a:rPr>
              <a:t>V</a:t>
            </a:r>
            <a:r>
              <a:rPr lang="zh-CN" altLang="en-US" sz="2400" b="1">
                <a:latin typeface="Times New Roman" panose="02020603050405020304" pitchFamily="18" charset="0"/>
              </a:rPr>
              <a:t>上的同余关系</a:t>
            </a:r>
          </a:p>
          <a:p>
            <a:pPr eaLnBrk="1" hangingPunct="1">
              <a:lnSpc>
                <a:spcPct val="90000"/>
              </a:lnSpc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方法一：确定所有的等价关系，然后判断置换性质</a:t>
            </a:r>
          </a:p>
          <a:p>
            <a:pPr eaLnBrk="1" hangingPunct="1">
              <a:lnSpc>
                <a:spcPct val="90000"/>
              </a:lnSpc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方法二：先找自同态，由同态像确定同余关系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自同态为：</a:t>
            </a:r>
            <a:r>
              <a:rPr lang="en-US" altLang="zh-CN" sz="2400" b="1" i="1">
                <a:latin typeface="Times New Roman" panose="02020603050405020304" pitchFamily="18" charset="0"/>
              </a:rPr>
              <a:t>f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i </a:t>
            </a:r>
            <a:r>
              <a:rPr lang="en-US" altLang="zh-CN" sz="2400" b="1">
                <a:latin typeface="Times New Roman" panose="02020603050405020304" pitchFamily="18" charset="0"/>
              </a:rPr>
              <a:t>: Z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6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>
                <a:latin typeface="Times New Roman" panose="02020603050405020304" pitchFamily="18" charset="0"/>
              </a:rPr>
              <a:t>Z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6</a:t>
            </a:r>
            <a:r>
              <a:rPr lang="en-US" altLang="zh-CN" sz="2400" b="1">
                <a:latin typeface="Times New Roman" panose="02020603050405020304" pitchFamily="18" charset="0"/>
              </a:rPr>
              <a:t>,   </a:t>
            </a:r>
            <a:r>
              <a:rPr lang="en-US" altLang="zh-CN" sz="2400" b="1" i="1">
                <a:latin typeface="Times New Roman" panose="02020603050405020304" pitchFamily="18" charset="0"/>
              </a:rPr>
              <a:t>f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i </a:t>
            </a:r>
            <a:r>
              <a:rPr lang="en-US" altLang="zh-CN" sz="2400" b="1">
                <a:latin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</a:rPr>
              <a:t>) = (</a:t>
            </a:r>
            <a:r>
              <a:rPr lang="en-US" altLang="zh-CN" sz="2400" b="1" i="1">
                <a:latin typeface="Times New Roman" panose="02020603050405020304" pitchFamily="18" charset="0"/>
              </a:rPr>
              <a:t>i x</a:t>
            </a:r>
            <a:r>
              <a:rPr lang="en-US" altLang="zh-CN" sz="2400" b="1">
                <a:latin typeface="Times New Roman" panose="02020603050405020304" pitchFamily="18" charset="0"/>
              </a:rPr>
              <a:t>) mod 6,</a:t>
            </a:r>
            <a:r>
              <a:rPr lang="en-US" altLang="zh-CN" sz="2400" b="1" i="1">
                <a:latin typeface="Times New Roman" panose="02020603050405020304" pitchFamily="18" charset="0"/>
              </a:rPr>
              <a:t>   i </a:t>
            </a:r>
            <a:r>
              <a:rPr lang="en-US" altLang="zh-CN" sz="2400" b="1">
                <a:latin typeface="Times New Roman" panose="02020603050405020304" pitchFamily="18" charset="0"/>
              </a:rPr>
              <a:t>= 0,1,2,3,4,5</a:t>
            </a:r>
            <a:endParaRPr lang="en-US" altLang="zh-CN" sz="2400" b="1" i="1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 i="1">
                <a:latin typeface="Times New Roman" panose="02020603050405020304" pitchFamily="18" charset="0"/>
              </a:rPr>
              <a:t>      f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0  </a:t>
            </a:r>
            <a:r>
              <a:rPr lang="zh-CN" altLang="en-US" sz="2400" b="1">
                <a:latin typeface="Times New Roman" panose="02020603050405020304" pitchFamily="18" charset="0"/>
              </a:rPr>
              <a:t>的同态像为</a:t>
            </a:r>
            <a:r>
              <a:rPr lang="en-US" altLang="zh-CN" sz="2400" b="1">
                <a:latin typeface="Times New Roman" panose="02020603050405020304" pitchFamily="18" charset="0"/>
              </a:rPr>
              <a:t>{ 0 },   </a:t>
            </a:r>
            <a:r>
              <a:rPr lang="en-US" altLang="zh-CN" sz="2400" b="1" i="1">
                <a:latin typeface="Times New Roman" panose="02020603050405020304" pitchFamily="18" charset="0"/>
              </a:rPr>
              <a:t>f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0 </a:t>
            </a:r>
            <a:r>
              <a:rPr lang="zh-CN" altLang="en-US" sz="2400" b="1">
                <a:latin typeface="Times New Roman" panose="02020603050405020304" pitchFamily="18" charset="0"/>
              </a:rPr>
              <a:t>导出的同余关系为</a:t>
            </a:r>
            <a:r>
              <a:rPr lang="zh-CN" altLang="en-US" sz="2400" b="1">
                <a:solidFill>
                  <a:srgbClr val="800000"/>
                </a:solidFill>
                <a:latin typeface="Times New Roman" panose="02020603050405020304" pitchFamily="18" charset="0"/>
              </a:rPr>
              <a:t>全域关系</a:t>
            </a:r>
            <a:endParaRPr lang="zh-CN" altLang="en-US" sz="2400" b="1" i="1">
              <a:solidFill>
                <a:srgbClr val="800000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b="1" i="1">
                <a:latin typeface="Times New Roman" panose="02020603050405020304" pitchFamily="18" charset="0"/>
              </a:rPr>
              <a:t>      </a:t>
            </a:r>
            <a:r>
              <a:rPr lang="en-US" altLang="zh-CN" sz="2400" b="1" i="1">
                <a:latin typeface="Times New Roman" panose="02020603050405020304" pitchFamily="18" charset="0"/>
              </a:rPr>
              <a:t>f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1 </a:t>
            </a:r>
            <a:r>
              <a:rPr lang="zh-CN" altLang="en-US" sz="2400" b="1">
                <a:latin typeface="Times New Roman" panose="02020603050405020304" pitchFamily="18" charset="0"/>
              </a:rPr>
              <a:t>和 </a:t>
            </a:r>
            <a:r>
              <a:rPr lang="en-US" altLang="zh-CN" sz="2400" b="1" i="1">
                <a:latin typeface="Times New Roman" panose="02020603050405020304" pitchFamily="18" charset="0"/>
              </a:rPr>
              <a:t>f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5 </a:t>
            </a:r>
            <a:r>
              <a:rPr lang="zh-CN" altLang="en-US" sz="2400" b="1">
                <a:latin typeface="Times New Roman" panose="02020603050405020304" pitchFamily="18" charset="0"/>
              </a:rPr>
              <a:t>的同态像为 </a:t>
            </a:r>
            <a:r>
              <a:rPr lang="en-US" altLang="zh-CN" sz="2400" b="1">
                <a:latin typeface="Times New Roman" panose="02020603050405020304" pitchFamily="18" charset="0"/>
              </a:rPr>
              <a:t>Z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6</a:t>
            </a:r>
            <a:r>
              <a:rPr lang="zh-CN" altLang="en-US" sz="2400" b="1">
                <a:latin typeface="Times New Roman" panose="02020603050405020304" pitchFamily="18" charset="0"/>
              </a:rPr>
              <a:t>，</a:t>
            </a:r>
            <a:r>
              <a:rPr lang="zh-CN" altLang="en-US" sz="2400" b="1" i="1">
                <a:latin typeface="Times New Roman" panose="02020603050405020304" pitchFamily="18" charset="0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</a:rPr>
              <a:t>f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1 </a:t>
            </a:r>
            <a:r>
              <a:rPr lang="zh-CN" altLang="en-US" sz="2400" b="1">
                <a:latin typeface="Times New Roman" panose="02020603050405020304" pitchFamily="18" charset="0"/>
              </a:rPr>
              <a:t>导出的同余关系为</a:t>
            </a:r>
            <a:r>
              <a:rPr lang="zh-CN" altLang="en-US" sz="2400" b="1">
                <a:solidFill>
                  <a:srgbClr val="800000"/>
                </a:solidFill>
                <a:latin typeface="Times New Roman" panose="02020603050405020304" pitchFamily="18" charset="0"/>
              </a:rPr>
              <a:t>恒等关系</a:t>
            </a:r>
            <a:endParaRPr lang="zh-CN" altLang="en-US" sz="2400" b="1" i="1">
              <a:solidFill>
                <a:srgbClr val="800000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b="1" i="1">
                <a:latin typeface="Times New Roman" panose="02020603050405020304" pitchFamily="18" charset="0"/>
              </a:rPr>
              <a:t>      </a:t>
            </a:r>
            <a:r>
              <a:rPr lang="en-US" altLang="zh-CN" sz="2400" b="1" i="1">
                <a:latin typeface="Times New Roman" panose="02020603050405020304" pitchFamily="18" charset="0"/>
              </a:rPr>
              <a:t>f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2 </a:t>
            </a:r>
            <a:r>
              <a:rPr lang="zh-CN" altLang="en-US" sz="2400" b="1">
                <a:latin typeface="Times New Roman" panose="02020603050405020304" pitchFamily="18" charset="0"/>
              </a:rPr>
              <a:t>和 </a:t>
            </a:r>
            <a:r>
              <a:rPr lang="en-US" altLang="zh-CN" sz="2400" b="1" i="1">
                <a:latin typeface="Times New Roman" panose="02020603050405020304" pitchFamily="18" charset="0"/>
              </a:rPr>
              <a:t>f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4 </a:t>
            </a:r>
            <a:r>
              <a:rPr lang="zh-CN" altLang="en-US" sz="2400" b="1">
                <a:latin typeface="Times New Roman" panose="02020603050405020304" pitchFamily="18" charset="0"/>
              </a:rPr>
              <a:t>的同态像为 </a:t>
            </a:r>
            <a:r>
              <a:rPr lang="en-US" altLang="zh-CN" sz="2400" b="1">
                <a:latin typeface="Times New Roman" panose="02020603050405020304" pitchFamily="18" charset="0"/>
              </a:rPr>
              <a:t>{ 0, 2, 4 } </a:t>
            </a:r>
            <a:endParaRPr lang="en-US" altLang="zh-CN" sz="2400" b="1" i="1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 i="1">
                <a:latin typeface="Times New Roman" panose="02020603050405020304" pitchFamily="18" charset="0"/>
              </a:rPr>
              <a:t>      f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2 </a:t>
            </a:r>
            <a:r>
              <a:rPr lang="zh-CN" altLang="en-US" sz="2400" b="1">
                <a:latin typeface="Times New Roman" panose="02020603050405020304" pitchFamily="18" charset="0"/>
              </a:rPr>
              <a:t>导出的同余关系为</a:t>
            </a:r>
            <a:r>
              <a:rPr lang="en-US" altLang="zh-CN" sz="2400" b="1">
                <a:latin typeface="Times New Roman" panose="02020603050405020304" pitchFamily="18" charset="0"/>
              </a:rPr>
              <a:t>: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             </a:t>
            </a:r>
            <a:r>
              <a:rPr lang="en-US" altLang="zh-CN" sz="2400" b="1">
                <a:solidFill>
                  <a:srgbClr val="800000"/>
                </a:solidFill>
                <a:latin typeface="Times New Roman" panose="02020603050405020304" pitchFamily="18" charset="0"/>
              </a:rPr>
              <a:t>{&lt;0,3&gt;,&lt;1,4&gt;,&lt;2,5&gt;,&lt;3,0&gt;,&lt;4,1&gt;,&lt;5,2&gt;} </a:t>
            </a:r>
            <a:r>
              <a:rPr lang="en-US" altLang="zh-CN" sz="2400" b="1">
                <a:solidFill>
                  <a:srgbClr val="8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 </a:t>
            </a:r>
            <a:r>
              <a:rPr lang="en-US" altLang="zh-CN" sz="2400" b="1" i="1">
                <a:solidFill>
                  <a:srgbClr val="80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400" b="1" baseline="-25000">
                <a:solidFill>
                  <a:srgbClr val="800000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1400" b="1" baseline="-25000">
                <a:solidFill>
                  <a:srgbClr val="800000"/>
                </a:solidFill>
                <a:latin typeface="Times New Roman" panose="02020603050405020304" pitchFamily="18" charset="0"/>
              </a:rPr>
              <a:t>6   </a:t>
            </a:r>
            <a:endParaRPr lang="en-US" altLang="zh-CN" sz="1400" b="1" i="1" baseline="-25000">
              <a:solidFill>
                <a:srgbClr val="800000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 i="1">
                <a:latin typeface="Times New Roman" panose="02020603050405020304" pitchFamily="18" charset="0"/>
              </a:rPr>
              <a:t>      f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3 </a:t>
            </a:r>
            <a:r>
              <a:rPr lang="zh-CN" altLang="en-US" sz="2400" b="1">
                <a:latin typeface="Times New Roman" panose="02020603050405020304" pitchFamily="18" charset="0"/>
              </a:rPr>
              <a:t>的同态像为</a:t>
            </a:r>
            <a:r>
              <a:rPr lang="en-US" altLang="zh-CN" sz="2400" b="1">
                <a:latin typeface="Times New Roman" panose="02020603050405020304" pitchFamily="18" charset="0"/>
              </a:rPr>
              <a:t>{ 0, 3 }, </a:t>
            </a:r>
            <a:r>
              <a:rPr lang="en-US" altLang="zh-CN" sz="2400" b="1" i="1">
                <a:latin typeface="Times New Roman" panose="02020603050405020304" pitchFamily="18" charset="0"/>
              </a:rPr>
              <a:t> f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3 </a:t>
            </a:r>
            <a:r>
              <a:rPr lang="zh-CN" altLang="en-US" sz="2400" b="1">
                <a:latin typeface="Times New Roman" panose="02020603050405020304" pitchFamily="18" charset="0"/>
              </a:rPr>
              <a:t>导出的同余关系为</a:t>
            </a:r>
            <a:r>
              <a:rPr lang="en-US" altLang="zh-CN" sz="2400" b="1">
                <a:latin typeface="Times New Roman" panose="02020603050405020304" pitchFamily="18" charset="0"/>
              </a:rPr>
              <a:t>: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             </a:t>
            </a:r>
            <a:r>
              <a:rPr lang="en-US" altLang="zh-CN" sz="2400" b="1">
                <a:solidFill>
                  <a:srgbClr val="800000"/>
                </a:solidFill>
                <a:latin typeface="Times New Roman" panose="02020603050405020304" pitchFamily="18" charset="0"/>
              </a:rPr>
              <a:t>{&lt;0,2&gt;,&lt;2,0&gt;,&lt;4,0&gt;,&lt;0,4&gt;,&lt;2,4&gt;,&lt;4,2&gt;,</a:t>
            </a:r>
            <a:r>
              <a:rPr lang="en-US" altLang="zh-CN" sz="2400" b="1">
                <a:solidFill>
                  <a:srgbClr val="800000"/>
                </a:solidFill>
              </a:rPr>
              <a:t> </a:t>
            </a:r>
            <a:r>
              <a:rPr lang="en-US" altLang="zh-CN" sz="2400" b="1">
                <a:solidFill>
                  <a:srgbClr val="800000"/>
                </a:solidFill>
                <a:latin typeface="Times New Roman" panose="02020603050405020304" pitchFamily="18" charset="0"/>
              </a:rPr>
              <a:t>&lt;1,3&gt;,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>
                <a:solidFill>
                  <a:srgbClr val="800000"/>
                </a:solidFill>
                <a:latin typeface="Times New Roman" panose="02020603050405020304" pitchFamily="18" charset="0"/>
              </a:rPr>
              <a:t>              &lt;3,1&gt;,&lt;1,5&gt;,&lt;5,1&gt;,&lt;3,5&gt;,&lt;5,3&gt;} </a:t>
            </a:r>
            <a:r>
              <a:rPr lang="en-US" altLang="zh-CN" sz="2400" b="1">
                <a:solidFill>
                  <a:srgbClr val="8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 </a:t>
            </a:r>
            <a:r>
              <a:rPr lang="en-US" altLang="zh-CN" sz="2400" b="1" i="1">
                <a:solidFill>
                  <a:srgbClr val="80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400" b="1" baseline="-25000">
                <a:solidFill>
                  <a:srgbClr val="800000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1800" b="1" baseline="-25000">
                <a:solidFill>
                  <a:srgbClr val="800000"/>
                </a:solidFill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30722" name="灯片编号占位符 5">
            <a:extLst>
              <a:ext uri="{FF2B5EF4-FFF2-40B4-BE49-F238E27FC236}">
                <a16:creationId xmlns:a16="http://schemas.microsoft.com/office/drawing/2014/main" id="{4015C92B-CB89-473E-9420-84BE53254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F9A9530-6F8F-45E1-8BEF-284DE8111DE6}" type="slidenum">
              <a:rPr lang="en-US" altLang="zh-CN">
                <a:solidFill>
                  <a:srgbClr val="898989"/>
                </a:solidFill>
              </a:rPr>
              <a:pPr eaLnBrk="1" hangingPunct="1"/>
              <a:t>16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3">
            <a:extLst>
              <a:ext uri="{FF2B5EF4-FFF2-40B4-BE49-F238E27FC236}">
                <a16:creationId xmlns:a16="http://schemas.microsoft.com/office/drawing/2014/main" id="{1DD79C75-66C7-4D3C-AE20-2F1136AF99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60350"/>
            <a:ext cx="8229600" cy="6350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例题（续）</a:t>
            </a:r>
          </a:p>
        </p:txBody>
      </p:sp>
      <p:sp>
        <p:nvSpPr>
          <p:cNvPr id="12291" name="灯片编号占位符 5">
            <a:extLst>
              <a:ext uri="{FF2B5EF4-FFF2-40B4-BE49-F238E27FC236}">
                <a16:creationId xmlns:a16="http://schemas.microsoft.com/office/drawing/2014/main" id="{DE4C31C7-4E42-4365-8C63-3F2A03930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761BA01-94F9-491B-8FE8-136890EBF66E}" type="slidenum">
              <a:rPr lang="en-US" altLang="zh-CN">
                <a:solidFill>
                  <a:srgbClr val="898989"/>
                </a:solidFill>
              </a:rPr>
              <a:pPr eaLnBrk="1" hangingPunct="1"/>
              <a:t>17</a:t>
            </a:fld>
            <a:endParaRPr lang="en-US" altLang="zh-CN">
              <a:solidFill>
                <a:srgbClr val="898989"/>
              </a:solidFill>
            </a:endParaRPr>
          </a:p>
        </p:txBody>
      </p:sp>
      <p:graphicFrame>
        <p:nvGraphicFramePr>
          <p:cNvPr id="7170" name="Object 2">
            <a:extLst>
              <a:ext uri="{FF2B5EF4-FFF2-40B4-BE49-F238E27FC236}">
                <a16:creationId xmlns:a16="http://schemas.microsoft.com/office/drawing/2014/main" id="{0D6ED1D5-F596-4064-9C70-E7F6C9B1AD0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5650" y="1052513"/>
          <a:ext cx="7504113" cy="155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1" name="Document" r:id="rId4" imgW="4114469" imgH="852322" progId="Word.Document.8">
                  <p:embed/>
                </p:oleObj>
              </mc:Choice>
              <mc:Fallback>
                <p:oleObj name="Document" r:id="rId4" imgW="4114469" imgH="852322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1052513"/>
                        <a:ext cx="7504113" cy="1552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2020" name="Rectangle 4">
            <a:extLst>
              <a:ext uri="{FF2B5EF4-FFF2-40B4-BE49-F238E27FC236}">
                <a16:creationId xmlns:a16="http://schemas.microsoft.com/office/drawing/2014/main" id="{19F4BE0F-968D-4463-AE8B-EC03AA679A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2708275"/>
            <a:ext cx="469265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latin typeface="Times New Roman" panose="02020603050405020304" pitchFamily="18" charset="0"/>
              </a:rPr>
              <a:t>证明思路：</a:t>
            </a:r>
            <a:endParaRPr lang="zh-CN" altLang="en-US" sz="240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sz="2400" b="1">
                <a:latin typeface="Times New Roman" panose="02020603050405020304" pitchFamily="18" charset="0"/>
              </a:rPr>
              <a:t>(1) </a:t>
            </a:r>
            <a:r>
              <a:rPr lang="zh-CN" altLang="en-US" sz="2400" b="1">
                <a:latin typeface="Times New Roman" panose="02020603050405020304" pitchFamily="18" charset="0"/>
              </a:rPr>
              <a:t>证明 </a:t>
            </a:r>
            <a:r>
              <a:rPr lang="en-US" altLang="zh-CN" sz="2400" b="1" i="1">
                <a:latin typeface="Times New Roman" panose="02020603050405020304" pitchFamily="18" charset="0"/>
              </a:rPr>
              <a:t>R </a:t>
            </a:r>
            <a:r>
              <a:rPr lang="zh-CN" altLang="en-US" sz="2400" b="1">
                <a:latin typeface="Times New Roman" panose="02020603050405020304" pitchFamily="18" charset="0"/>
              </a:rPr>
              <a:t>的自反、对称、传递性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342021" name="Rectangle 5">
            <a:extLst>
              <a:ext uri="{FF2B5EF4-FFF2-40B4-BE49-F238E27FC236}">
                <a16:creationId xmlns:a16="http://schemas.microsoft.com/office/drawing/2014/main" id="{4A2FEFA5-07FE-4A79-BEB5-5176E8F0CD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3429000"/>
            <a:ext cx="7848600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>
                <a:latin typeface="Times New Roman" panose="02020603050405020304" pitchFamily="18" charset="0"/>
              </a:rPr>
              <a:t>(2) </a:t>
            </a:r>
            <a:r>
              <a:rPr lang="zh-CN" altLang="en-US" sz="2400" b="1">
                <a:latin typeface="Times New Roman" panose="02020603050405020304" pitchFamily="18" charset="0"/>
              </a:rPr>
              <a:t>证明 </a:t>
            </a:r>
            <a:r>
              <a:rPr lang="en-US" altLang="zh-CN" sz="2400" b="1" i="1">
                <a:latin typeface="Times New Roman" panose="02020603050405020304" pitchFamily="18" charset="0"/>
              </a:rPr>
              <a:t>R </a:t>
            </a:r>
            <a:r>
              <a:rPr lang="zh-CN" altLang="en-US" sz="2400" b="1">
                <a:latin typeface="Times New Roman" panose="02020603050405020304" pitchFamily="18" charset="0"/>
              </a:rPr>
              <a:t>具有置换性质，即令</a:t>
            </a:r>
            <a:r>
              <a:rPr lang="en-US" altLang="zh-CN" sz="2400" b="1" i="1">
                <a:latin typeface="Times New Roman" panose="02020603050405020304" pitchFamily="18" charset="0"/>
              </a:rPr>
              <a:t>V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400" b="1" i="1">
                <a:latin typeface="Times New Roman" panose="02020603050405020304" pitchFamily="18" charset="0"/>
              </a:rPr>
              <a:t>V</a:t>
            </a:r>
            <a:r>
              <a:rPr lang="en-US" altLang="zh-CN" sz="24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=&lt;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400" b="1" i="1">
                <a:latin typeface="Times New Roman" panose="02020603050405020304" pitchFamily="18" charset="0"/>
              </a:rPr>
              <a:t>B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, </a:t>
            </a:r>
            <a:r>
              <a:rPr lang="en-US" altLang="zh-CN" sz="2400" b="1">
                <a:latin typeface="Times New Roman" panose="02020603050405020304" pitchFamily="18" charset="0"/>
              </a:rPr>
              <a:t>,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</a:t>
            </a:r>
            <a:r>
              <a:rPr lang="en-US" altLang="zh-CN" sz="2400" b="1">
                <a:latin typeface="Times New Roman" panose="02020603050405020304" pitchFamily="18" charset="0"/>
              </a:rPr>
              <a:t>,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&gt;,</a:t>
            </a:r>
            <a:endParaRPr lang="en-US" altLang="zh-CN" sz="24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       &lt;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a,b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&gt;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R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&lt;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c,d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&gt;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且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&lt;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a’,b’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&gt;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R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&lt;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c’,d’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&gt;</a:t>
            </a:r>
            <a:endParaRPr lang="en-US" altLang="zh-CN" sz="24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    </a:t>
            </a:r>
            <a:r>
              <a:rPr lang="en-US" altLang="zh-CN" sz="2400" b="1">
                <a:latin typeface="Times New Roman" panose="02020603050405020304" pitchFamily="18" charset="0"/>
              </a:rPr>
              <a:t> &lt;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a,b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&gt;</a:t>
            </a:r>
            <a:r>
              <a:rPr lang="en-US" altLang="zh-CN" sz="2400" b="1">
                <a:latin typeface="Times New Roman" panose="02020603050405020304" pitchFamily="18" charset="0"/>
              </a:rPr>
              <a:t>&lt;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a’,b’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&gt;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R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&lt;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c,d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&gt;</a:t>
            </a:r>
            <a:r>
              <a:rPr lang="en-US" altLang="zh-CN" sz="2400" b="1">
                <a:latin typeface="Times New Roman" panose="02020603050405020304" pitchFamily="18" charset="0"/>
              </a:rPr>
              <a:t>&lt;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c’,d’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&gt; </a:t>
            </a:r>
            <a:endParaRPr lang="en-US" altLang="zh-CN" sz="24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       &lt;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a,b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&gt;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R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&lt;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c,d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&gt; </a:t>
            </a: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</a:t>
            </a:r>
            <a:r>
              <a:rPr lang="en-US" altLang="zh-CN" sz="2400" b="1">
                <a:latin typeface="Times New Roman" panose="02020603050405020304" pitchFamily="18" charset="0"/>
              </a:rPr>
              <a:t>&lt;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a,b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&gt;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R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</a:t>
            </a:r>
            <a:r>
              <a:rPr lang="en-US" altLang="zh-CN" sz="2400" b="1">
                <a:latin typeface="Times New Roman" panose="02020603050405020304" pitchFamily="18" charset="0"/>
              </a:rPr>
              <a:t>&lt;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c,d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&gt; </a:t>
            </a:r>
            <a:endParaRPr lang="en-US" altLang="zh-CN" sz="240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42022" name="Rectangle 6">
            <a:extLst>
              <a:ext uri="{FF2B5EF4-FFF2-40B4-BE49-F238E27FC236}">
                <a16:creationId xmlns:a16="http://schemas.microsoft.com/office/drawing/2014/main" id="{5954C9C8-DB3B-429B-B180-26B981BBF3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4868863"/>
            <a:ext cx="73437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(3)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定义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: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sz="24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400" b="1" i="1">
                <a:latin typeface="Times New Roman" panose="02020603050405020304" pitchFamily="18" charset="0"/>
              </a:rPr>
              <a:t>V</a:t>
            </a:r>
            <a:r>
              <a:rPr lang="en-US" altLang="zh-CN" sz="24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 i="1">
                <a:latin typeface="Times New Roman" panose="02020603050405020304" pitchFamily="18" charset="0"/>
              </a:rPr>
              <a:t>V</a:t>
            </a:r>
            <a:r>
              <a:rPr lang="en-US" altLang="zh-CN" sz="24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, 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(&lt;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a,b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&gt;)=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, 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证明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为满同态 </a:t>
            </a:r>
            <a:endParaRPr lang="zh-CN" altLang="en-US" sz="240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42023" name="Rectangle 7">
            <a:extLst>
              <a:ext uri="{FF2B5EF4-FFF2-40B4-BE49-F238E27FC236}">
                <a16:creationId xmlns:a16="http://schemas.microsoft.com/office/drawing/2014/main" id="{BF6D414B-4E8B-49C8-BBE7-C03428926A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5300663"/>
            <a:ext cx="734377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 (4)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证明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R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是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导出的同余关系，即</a:t>
            </a:r>
            <a:endParaRPr lang="zh-CN" altLang="en-US" sz="24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           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(&lt;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a,b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&gt;)=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(&lt;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c,d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&gt;) </a:t>
            </a: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a=c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400" b="1">
                <a:latin typeface="Times New Roman" panose="02020603050405020304" pitchFamily="18" charset="0"/>
              </a:rPr>
              <a:t> &lt;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a,b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&gt;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&lt;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c,d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&gt;</a:t>
            </a:r>
            <a:r>
              <a:rPr lang="en-US" altLang="zh-CN" sz="240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20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20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420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420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420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420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420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420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2020" grpId="0"/>
      <p:bldP spid="342021" grpId="0"/>
      <p:bldP spid="342022" grpId="0"/>
      <p:bldP spid="34202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2">
            <a:extLst>
              <a:ext uri="{FF2B5EF4-FFF2-40B4-BE49-F238E27FC236}">
                <a16:creationId xmlns:a16="http://schemas.microsoft.com/office/drawing/2014/main" id="{6B53F068-9DCB-46BE-9DCF-EB9D8ABC5B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146050"/>
            <a:ext cx="8229600" cy="792162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進程代数</a:t>
            </a:r>
            <a:r>
              <a:rPr lang="en-US" altLang="zh-C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</a:t>
            </a:r>
            <a:r>
              <a:rPr lang="en-US" altLang="zh-CN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Process Algebra</a:t>
            </a:r>
          </a:p>
        </p:txBody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3FBD9946-9536-4727-97E7-07FC12D7A13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8313" y="981075"/>
            <a:ext cx="8218487" cy="540067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b="1">
                <a:solidFill>
                  <a:srgbClr val="800000"/>
                </a:solidFill>
              </a:rPr>
              <a:t>实例</a:t>
            </a:r>
          </a:p>
          <a:p>
            <a:pPr eaLnBrk="1" hangingPunct="1"/>
            <a:r>
              <a:rPr lang="zh-CN" altLang="en-US" b="1"/>
              <a:t>基础单元</a:t>
            </a:r>
            <a:r>
              <a:rPr lang="en-US" altLang="zh-CN" b="1"/>
              <a:t>——</a:t>
            </a:r>
            <a:r>
              <a:rPr lang="en-US" altLang="zh-CN">
                <a:latin typeface="Arial" panose="020B0604020202020204" pitchFamily="34" charset="0"/>
              </a:rPr>
              <a:t>Bunit</a:t>
            </a:r>
          </a:p>
          <a:p>
            <a:pPr eaLnBrk="1" hangingPunct="1"/>
            <a:r>
              <a:rPr lang="zh-CN" altLang="en-US" b="1"/>
              <a:t>进程</a:t>
            </a:r>
          </a:p>
          <a:p>
            <a:pPr lvl="1" eaLnBrk="1" hangingPunct="1"/>
            <a:r>
              <a:rPr lang="zh-CN" altLang="en-US" b="1"/>
              <a:t>接受加工命令</a:t>
            </a:r>
            <a:r>
              <a:rPr lang="en-US" altLang="zh-CN" b="1"/>
              <a:t>——</a:t>
            </a:r>
            <a:r>
              <a:rPr lang="en-US" altLang="zh-CN">
                <a:latin typeface="Arial" panose="020B0604020202020204" pitchFamily="34" charset="0"/>
              </a:rPr>
              <a:t>cmd</a:t>
            </a:r>
          </a:p>
          <a:p>
            <a:pPr lvl="1" eaLnBrk="1" hangingPunct="1"/>
            <a:r>
              <a:rPr lang="zh-CN" altLang="en-US" b="1"/>
              <a:t>请求输入工件</a:t>
            </a:r>
            <a:r>
              <a:rPr lang="en-US" altLang="zh-CN" b="1"/>
              <a:t>——</a:t>
            </a:r>
            <a:r>
              <a:rPr lang="en-US" altLang="zh-CN">
                <a:latin typeface="Arial" panose="020B0604020202020204" pitchFamily="34" charset="0"/>
              </a:rPr>
              <a:t>irq</a:t>
            </a:r>
          </a:p>
          <a:p>
            <a:pPr lvl="1" eaLnBrk="1" hangingPunct="1"/>
            <a:r>
              <a:rPr lang="zh-CN" altLang="en-US" b="1"/>
              <a:t>接受输入工件</a:t>
            </a:r>
            <a:r>
              <a:rPr lang="en-US" altLang="zh-CN" b="1"/>
              <a:t>——</a:t>
            </a:r>
            <a:r>
              <a:rPr lang="en-US" altLang="zh-CN">
                <a:latin typeface="Arial" panose="020B0604020202020204" pitchFamily="34" charset="0"/>
              </a:rPr>
              <a:t>imt</a:t>
            </a:r>
          </a:p>
          <a:p>
            <a:pPr lvl="1" eaLnBrk="1" hangingPunct="1"/>
            <a:r>
              <a:rPr lang="zh-CN" altLang="en-US" b="1">
                <a:latin typeface="Arial" panose="020B0604020202020204" pitchFamily="34" charset="0"/>
              </a:rPr>
              <a:t>发送新命令的请求</a:t>
            </a:r>
            <a:r>
              <a:rPr lang="en-US" altLang="zh-CN" b="1">
                <a:latin typeface="Arial" panose="020B0604020202020204" pitchFamily="34" charset="0"/>
              </a:rPr>
              <a:t>——</a:t>
            </a:r>
            <a:r>
              <a:rPr lang="en-US" altLang="zh-CN">
                <a:latin typeface="Arial" panose="020B0604020202020204" pitchFamily="34" charset="0"/>
              </a:rPr>
              <a:t>ncrq</a:t>
            </a:r>
          </a:p>
          <a:p>
            <a:pPr lvl="1" eaLnBrk="1" hangingPunct="1"/>
            <a:r>
              <a:rPr lang="zh-CN" altLang="en-US" b="1">
                <a:latin typeface="Arial" panose="020B0604020202020204" pitchFamily="34" charset="0"/>
              </a:rPr>
              <a:t>接受输出请求</a:t>
            </a:r>
            <a:r>
              <a:rPr lang="en-US" altLang="zh-CN" b="1">
                <a:latin typeface="Arial" panose="020B0604020202020204" pitchFamily="34" charset="0"/>
              </a:rPr>
              <a:t>——</a:t>
            </a:r>
            <a:r>
              <a:rPr lang="en-US" altLang="zh-CN">
                <a:latin typeface="Arial" panose="020B0604020202020204" pitchFamily="34" charset="0"/>
              </a:rPr>
              <a:t>orq</a:t>
            </a:r>
          </a:p>
          <a:p>
            <a:pPr lvl="1" eaLnBrk="1" hangingPunct="1"/>
            <a:r>
              <a:rPr lang="zh-CN" altLang="en-US" b="1">
                <a:latin typeface="Arial" panose="020B0604020202020204" pitchFamily="34" charset="0"/>
              </a:rPr>
              <a:t>提交输出工件</a:t>
            </a:r>
            <a:r>
              <a:rPr lang="en-US" altLang="zh-CN" b="1">
                <a:latin typeface="Arial" panose="020B0604020202020204" pitchFamily="34" charset="0"/>
              </a:rPr>
              <a:t>——</a:t>
            </a:r>
            <a:r>
              <a:rPr lang="en-US" altLang="zh-CN">
                <a:latin typeface="Arial" panose="020B0604020202020204" pitchFamily="34" charset="0"/>
              </a:rPr>
              <a:t>omt</a:t>
            </a:r>
          </a:p>
          <a:p>
            <a:pPr lvl="1" eaLnBrk="1" hangingPunct="1"/>
            <a:r>
              <a:rPr lang="zh-CN" altLang="en-US" b="1"/>
              <a:t>空进程</a:t>
            </a:r>
            <a:r>
              <a:rPr lang="en-US" altLang="zh-CN" b="1"/>
              <a:t>——</a:t>
            </a:r>
            <a:r>
              <a:rPr lang="en-US" altLang="zh-CN" b="1">
                <a:sym typeface="Symbol" panose="05050102010706020507" pitchFamily="18" charset="2"/>
              </a:rPr>
              <a:t></a:t>
            </a:r>
          </a:p>
          <a:p>
            <a:pPr lvl="1" eaLnBrk="1" hangingPunct="1"/>
            <a:endParaRPr lang="en-US" altLang="zh-CN">
              <a:sym typeface="Symbol" panose="05050102010706020507" pitchFamily="18" charset="2"/>
            </a:endParaRPr>
          </a:p>
        </p:txBody>
      </p:sp>
      <p:sp>
        <p:nvSpPr>
          <p:cNvPr id="31746" name="灯片编号占位符 5">
            <a:extLst>
              <a:ext uri="{FF2B5EF4-FFF2-40B4-BE49-F238E27FC236}">
                <a16:creationId xmlns:a16="http://schemas.microsoft.com/office/drawing/2014/main" id="{EC6A58A3-6F66-4511-8420-15C084603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7939276-A926-4BB8-89D1-2FED7F64FB9F}" type="slidenum">
              <a:rPr lang="en-US" altLang="zh-CN">
                <a:solidFill>
                  <a:srgbClr val="898989"/>
                </a:solidFill>
              </a:rPr>
              <a:pPr eaLnBrk="1" hangingPunct="1"/>
              <a:t>18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2" name="Rectangle 2">
            <a:extLst>
              <a:ext uri="{FF2B5EF4-FFF2-40B4-BE49-F238E27FC236}">
                <a16:creationId xmlns:a16="http://schemas.microsoft.com/office/drawing/2014/main" id="{8292C088-32B9-4D41-BA62-C32B4CCACC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113" y="133004"/>
            <a:ext cx="8578850" cy="846137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基础单元的工作流程</a:t>
            </a:r>
          </a:p>
        </p:txBody>
      </p:sp>
      <p:sp>
        <p:nvSpPr>
          <p:cNvPr id="32770" name="灯片编号占位符 5">
            <a:extLst>
              <a:ext uri="{FF2B5EF4-FFF2-40B4-BE49-F238E27FC236}">
                <a16:creationId xmlns:a16="http://schemas.microsoft.com/office/drawing/2014/main" id="{9C66A7D6-E01E-40E5-9E05-471C9EE43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5905500"/>
            <a:ext cx="2133600" cy="365125"/>
          </a:xfrm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CA0D20D-5A86-4DD7-BC31-6851C375C191}" type="slidenum">
              <a:rPr lang="en-US" altLang="zh-CN">
                <a:solidFill>
                  <a:srgbClr val="898989"/>
                </a:solidFill>
              </a:rPr>
              <a:pPr eaLnBrk="1" hangingPunct="1"/>
              <a:t>19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20483" name="AutoShape 37">
            <a:extLst>
              <a:ext uri="{FF2B5EF4-FFF2-40B4-BE49-F238E27FC236}">
                <a16:creationId xmlns:a16="http://schemas.microsoft.com/office/drawing/2014/main" id="{7E6BB3A1-5ABB-429B-80AD-93464EBEA9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8263" y="2762250"/>
            <a:ext cx="1871662" cy="863600"/>
          </a:xfrm>
          <a:prstGeom prst="roundRect">
            <a:avLst>
              <a:gd name="adj" fmla="val 16667"/>
            </a:avLst>
          </a:prstGeom>
          <a:solidFill>
            <a:schemeClr val="accent1">
              <a:alpha val="0"/>
            </a:schemeClr>
          </a:solidFill>
          <a:ln w="9525" algn="ctr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32773" name="AutoShape 5">
            <a:extLst>
              <a:ext uri="{FF2B5EF4-FFF2-40B4-BE49-F238E27FC236}">
                <a16:creationId xmlns:a16="http://schemas.microsoft.com/office/drawing/2014/main" id="{DD737B17-CA88-4602-8226-864E1AC1BD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2617788"/>
            <a:ext cx="792163" cy="503237"/>
          </a:xfrm>
          <a:prstGeom prst="roundRect">
            <a:avLst>
              <a:gd name="adj" fmla="val 16667"/>
            </a:avLst>
          </a:prstGeom>
          <a:solidFill>
            <a:schemeClr val="bg1">
              <a:lumMod val="7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r>
              <a:rPr lang="en-US" altLang="zh-CN" b="1" dirty="0">
                <a:latin typeface="Arial" charset="0"/>
              </a:rPr>
              <a:t>cmd?</a:t>
            </a:r>
          </a:p>
        </p:txBody>
      </p:sp>
      <p:sp>
        <p:nvSpPr>
          <p:cNvPr id="32774" name="AutoShape 10">
            <a:extLst>
              <a:ext uri="{FF2B5EF4-FFF2-40B4-BE49-F238E27FC236}">
                <a16:creationId xmlns:a16="http://schemas.microsoft.com/office/drawing/2014/main" id="{134EA429-E7C6-4C4F-A69B-1C55D24E6B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4163" y="2978150"/>
            <a:ext cx="719137" cy="503238"/>
          </a:xfrm>
          <a:prstGeom prst="roundRect">
            <a:avLst>
              <a:gd name="adj" fmla="val 16667"/>
            </a:avLst>
          </a:prstGeom>
          <a:solidFill>
            <a:schemeClr val="bg1">
              <a:lumMod val="7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r>
              <a:rPr lang="en-US" altLang="zh-CN" b="1">
                <a:latin typeface="Arial" charset="0"/>
              </a:rPr>
              <a:t>orq?</a:t>
            </a:r>
          </a:p>
        </p:txBody>
      </p:sp>
      <p:sp>
        <p:nvSpPr>
          <p:cNvPr id="32775" name="AutoShape 11">
            <a:extLst>
              <a:ext uri="{FF2B5EF4-FFF2-40B4-BE49-F238E27FC236}">
                <a16:creationId xmlns:a16="http://schemas.microsoft.com/office/drawing/2014/main" id="{55FAF092-E2CB-4666-A053-9618A208F4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3000" y="2617788"/>
            <a:ext cx="719138" cy="503237"/>
          </a:xfrm>
          <a:prstGeom prst="roundRect">
            <a:avLst>
              <a:gd name="adj" fmla="val 16667"/>
            </a:avLst>
          </a:prstGeom>
          <a:solidFill>
            <a:schemeClr val="bg1">
              <a:lumMod val="7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r>
              <a:rPr lang="en-US" altLang="zh-CN" b="1" dirty="0">
                <a:latin typeface="Arial" charset="0"/>
              </a:rPr>
              <a:t>irq!</a:t>
            </a:r>
          </a:p>
        </p:txBody>
      </p:sp>
      <p:sp>
        <p:nvSpPr>
          <p:cNvPr id="32776" name="AutoShape 12">
            <a:extLst>
              <a:ext uri="{FF2B5EF4-FFF2-40B4-BE49-F238E27FC236}">
                <a16:creationId xmlns:a16="http://schemas.microsoft.com/office/drawing/2014/main" id="{E1382A70-732E-4FFF-994C-038912E09D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8400" y="2617788"/>
            <a:ext cx="647700" cy="503237"/>
          </a:xfrm>
          <a:prstGeom prst="roundRect">
            <a:avLst>
              <a:gd name="adj" fmla="val 16667"/>
            </a:avLst>
          </a:prstGeom>
          <a:solidFill>
            <a:schemeClr val="bg1">
              <a:lumMod val="7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r>
              <a:rPr lang="en-US" altLang="zh-CN" b="1">
                <a:latin typeface="Arial" charset="0"/>
              </a:rPr>
              <a:t>imt?</a:t>
            </a:r>
          </a:p>
        </p:txBody>
      </p:sp>
      <p:sp>
        <p:nvSpPr>
          <p:cNvPr id="32777" name="AutoShape 13">
            <a:extLst>
              <a:ext uri="{FF2B5EF4-FFF2-40B4-BE49-F238E27FC236}">
                <a16:creationId xmlns:a16="http://schemas.microsoft.com/office/drawing/2014/main" id="{6E7A1A99-7127-4BC3-8258-CDA2739EAA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8263" y="1825625"/>
            <a:ext cx="719137" cy="503238"/>
          </a:xfrm>
          <a:prstGeom prst="roundRect">
            <a:avLst>
              <a:gd name="adj" fmla="val 16667"/>
            </a:avLst>
          </a:prstGeom>
          <a:solidFill>
            <a:schemeClr val="bg1">
              <a:lumMod val="7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r>
              <a:rPr lang="en-US" altLang="zh-CN" b="1">
                <a:latin typeface="Arial" charset="0"/>
              </a:rPr>
              <a:t>ncrq!</a:t>
            </a:r>
          </a:p>
        </p:txBody>
      </p:sp>
      <p:sp>
        <p:nvSpPr>
          <p:cNvPr id="32778" name="AutoShape 14">
            <a:extLst>
              <a:ext uri="{FF2B5EF4-FFF2-40B4-BE49-F238E27FC236}">
                <a16:creationId xmlns:a16="http://schemas.microsoft.com/office/drawing/2014/main" id="{ED7CF2D5-B952-4D9A-A18C-BE9CCC7EA8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9200" y="1825625"/>
            <a:ext cx="720725" cy="503238"/>
          </a:xfrm>
          <a:prstGeom prst="roundRect">
            <a:avLst>
              <a:gd name="adj" fmla="val 16667"/>
            </a:avLst>
          </a:prstGeom>
          <a:solidFill>
            <a:schemeClr val="bg1">
              <a:lumMod val="7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r>
              <a:rPr lang="en-US" altLang="zh-CN" b="1" dirty="0">
                <a:latin typeface="Arial" charset="0"/>
              </a:rPr>
              <a:t>cmd?</a:t>
            </a:r>
          </a:p>
        </p:txBody>
      </p:sp>
      <p:sp>
        <p:nvSpPr>
          <p:cNvPr id="32779" name="AutoShape 15">
            <a:extLst>
              <a:ext uri="{FF2B5EF4-FFF2-40B4-BE49-F238E27FC236}">
                <a16:creationId xmlns:a16="http://schemas.microsoft.com/office/drawing/2014/main" id="{E1CBEF06-7A43-4866-97DD-EE8AC46F56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2978150"/>
            <a:ext cx="719138" cy="503238"/>
          </a:xfrm>
          <a:prstGeom prst="roundRect">
            <a:avLst>
              <a:gd name="adj" fmla="val 16667"/>
            </a:avLst>
          </a:prstGeom>
          <a:solidFill>
            <a:schemeClr val="bg1">
              <a:lumMod val="7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r>
              <a:rPr lang="en-US" altLang="zh-CN" b="1">
                <a:latin typeface="Arial" charset="0"/>
              </a:rPr>
              <a:t> omt</a:t>
            </a:r>
            <a:r>
              <a:rPr lang="zh-CN" altLang="en-US" b="1">
                <a:latin typeface="Arial" charset="0"/>
              </a:rPr>
              <a:t>！</a:t>
            </a:r>
          </a:p>
        </p:txBody>
      </p:sp>
      <p:sp>
        <p:nvSpPr>
          <p:cNvPr id="20492" name="Line 16">
            <a:extLst>
              <a:ext uri="{FF2B5EF4-FFF2-40B4-BE49-F238E27FC236}">
                <a16:creationId xmlns:a16="http://schemas.microsoft.com/office/drawing/2014/main" id="{57272D9C-269A-4094-9D70-137091517D0D}"/>
              </a:ext>
            </a:extLst>
          </p:cNvPr>
          <p:cNvSpPr>
            <a:spLocks noChangeShapeType="1"/>
          </p:cNvSpPr>
          <p:nvPr/>
        </p:nvSpPr>
        <p:spPr bwMode="auto">
          <a:xfrm>
            <a:off x="1835150" y="2906713"/>
            <a:ext cx="5048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93" name="Line 17">
            <a:extLst>
              <a:ext uri="{FF2B5EF4-FFF2-40B4-BE49-F238E27FC236}">
                <a16:creationId xmlns:a16="http://schemas.microsoft.com/office/drawing/2014/main" id="{8DBCBE9A-CCDD-4162-91B3-F922D110738D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2138" y="2906713"/>
            <a:ext cx="5048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94" name="Line 18">
            <a:extLst>
              <a:ext uri="{FF2B5EF4-FFF2-40B4-BE49-F238E27FC236}">
                <a16:creationId xmlns:a16="http://schemas.microsoft.com/office/drawing/2014/main" id="{64232F05-A470-46EA-82A5-A0D3A2699864}"/>
              </a:ext>
            </a:extLst>
          </p:cNvPr>
          <p:cNvSpPr>
            <a:spLocks noChangeShapeType="1"/>
          </p:cNvSpPr>
          <p:nvPr/>
        </p:nvSpPr>
        <p:spPr bwMode="auto">
          <a:xfrm>
            <a:off x="4427538" y="2906713"/>
            <a:ext cx="936625" cy="2873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95" name="Line 19">
            <a:extLst>
              <a:ext uri="{FF2B5EF4-FFF2-40B4-BE49-F238E27FC236}">
                <a16:creationId xmlns:a16="http://schemas.microsoft.com/office/drawing/2014/main" id="{4B278CAE-5FCF-452B-8EE6-8FEE7C734E8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27538" y="2041525"/>
            <a:ext cx="649287" cy="7207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96" name="Text Box 21">
            <a:extLst>
              <a:ext uri="{FF2B5EF4-FFF2-40B4-BE49-F238E27FC236}">
                <a16:creationId xmlns:a16="http://schemas.microsoft.com/office/drawing/2014/main" id="{1BB49355-87F1-4DF7-882C-FF60FE37BB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4888" y="3338513"/>
            <a:ext cx="9747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/>
              <a:t>接收加</a:t>
            </a:r>
          </a:p>
          <a:p>
            <a:pPr eaLnBrk="1" hangingPunct="1"/>
            <a:r>
              <a:rPr lang="zh-CN" altLang="en-US" b="1"/>
              <a:t>工命令</a:t>
            </a:r>
          </a:p>
        </p:txBody>
      </p:sp>
      <p:sp>
        <p:nvSpPr>
          <p:cNvPr id="20497" name="Text Box 22">
            <a:extLst>
              <a:ext uri="{FF2B5EF4-FFF2-40B4-BE49-F238E27FC236}">
                <a16:creationId xmlns:a16="http://schemas.microsoft.com/office/drawing/2014/main" id="{7105AD55-588B-4A96-81DE-9C67BBA0A0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98700" y="3338513"/>
            <a:ext cx="874713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/>
              <a:t>请求输</a:t>
            </a:r>
          </a:p>
          <a:p>
            <a:pPr eaLnBrk="1" hangingPunct="1"/>
            <a:r>
              <a:rPr lang="zh-CN" altLang="en-US" b="1"/>
              <a:t>入工件</a:t>
            </a:r>
          </a:p>
        </p:txBody>
      </p:sp>
      <p:sp>
        <p:nvSpPr>
          <p:cNvPr id="20498" name="Text Box 23">
            <a:extLst>
              <a:ext uri="{FF2B5EF4-FFF2-40B4-BE49-F238E27FC236}">
                <a16:creationId xmlns:a16="http://schemas.microsoft.com/office/drawing/2014/main" id="{365E9C5C-2D87-4A9B-8E91-19FEB9E089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3938" y="3338513"/>
            <a:ext cx="1008062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/>
              <a:t>接收输</a:t>
            </a:r>
          </a:p>
          <a:p>
            <a:pPr eaLnBrk="1" hangingPunct="1"/>
            <a:r>
              <a:rPr lang="zh-CN" altLang="en-US" b="1"/>
              <a:t>入工件</a:t>
            </a:r>
          </a:p>
        </p:txBody>
      </p:sp>
      <p:sp>
        <p:nvSpPr>
          <p:cNvPr id="20499" name="Text Box 24">
            <a:extLst>
              <a:ext uri="{FF2B5EF4-FFF2-40B4-BE49-F238E27FC236}">
                <a16:creationId xmlns:a16="http://schemas.microsoft.com/office/drawing/2014/main" id="{771ACDB7-A1D1-464A-8557-77D695C0C8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4263" y="1187450"/>
            <a:ext cx="1182687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/>
              <a:t> </a:t>
            </a:r>
            <a:r>
              <a:rPr lang="zh-CN" altLang="en-US" b="1"/>
              <a:t>发送新命</a:t>
            </a:r>
          </a:p>
          <a:p>
            <a:pPr eaLnBrk="1" hangingPunct="1"/>
            <a:r>
              <a:rPr lang="zh-CN" altLang="en-US" b="1"/>
              <a:t>令请求</a:t>
            </a:r>
          </a:p>
        </p:txBody>
      </p:sp>
      <p:sp>
        <p:nvSpPr>
          <p:cNvPr id="20500" name="Text Box 25">
            <a:extLst>
              <a:ext uri="{FF2B5EF4-FFF2-40B4-BE49-F238E27FC236}">
                <a16:creationId xmlns:a16="http://schemas.microsoft.com/office/drawing/2014/main" id="{BC5E0AB8-0E46-4486-ACC9-449D7766A9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6325" y="1184275"/>
            <a:ext cx="101758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/>
              <a:t>接收加</a:t>
            </a:r>
          </a:p>
          <a:p>
            <a:pPr eaLnBrk="1" hangingPunct="1"/>
            <a:r>
              <a:rPr lang="zh-CN" altLang="en-US" b="1"/>
              <a:t>工命令</a:t>
            </a:r>
          </a:p>
        </p:txBody>
      </p:sp>
      <p:sp>
        <p:nvSpPr>
          <p:cNvPr id="20501" name="Text Box 26">
            <a:extLst>
              <a:ext uri="{FF2B5EF4-FFF2-40B4-BE49-F238E27FC236}">
                <a16:creationId xmlns:a16="http://schemas.microsoft.com/office/drawing/2014/main" id="{0EDF9FF8-2CB4-407D-B6E0-FE4B514526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9700" y="3632200"/>
            <a:ext cx="9366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/>
              <a:t>接收输</a:t>
            </a:r>
          </a:p>
          <a:p>
            <a:pPr eaLnBrk="1" hangingPunct="1"/>
            <a:r>
              <a:rPr lang="zh-CN" altLang="en-US" b="1"/>
              <a:t>出请求</a:t>
            </a:r>
          </a:p>
        </p:txBody>
      </p:sp>
      <p:sp>
        <p:nvSpPr>
          <p:cNvPr id="20502" name="Text Box 27">
            <a:extLst>
              <a:ext uri="{FF2B5EF4-FFF2-40B4-BE49-F238E27FC236}">
                <a16:creationId xmlns:a16="http://schemas.microsoft.com/office/drawing/2014/main" id="{DAB239BC-C05B-4270-AC5F-46DEB3F82C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4888" y="3632200"/>
            <a:ext cx="1087437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/>
              <a:t>提交输</a:t>
            </a:r>
          </a:p>
          <a:p>
            <a:pPr eaLnBrk="1" hangingPunct="1"/>
            <a:r>
              <a:rPr lang="zh-CN" altLang="en-US" b="1"/>
              <a:t>出工件</a:t>
            </a:r>
          </a:p>
        </p:txBody>
      </p:sp>
      <p:sp>
        <p:nvSpPr>
          <p:cNvPr id="20503" name="Line 28">
            <a:extLst>
              <a:ext uri="{FF2B5EF4-FFF2-40B4-BE49-F238E27FC236}">
                <a16:creationId xmlns:a16="http://schemas.microsoft.com/office/drawing/2014/main" id="{E20082D4-FF3E-4355-943F-1234D7E3AAD7}"/>
              </a:ext>
            </a:extLst>
          </p:cNvPr>
          <p:cNvSpPr>
            <a:spLocks noChangeShapeType="1"/>
          </p:cNvSpPr>
          <p:nvPr/>
        </p:nvSpPr>
        <p:spPr bwMode="auto">
          <a:xfrm>
            <a:off x="7092950" y="2257425"/>
            <a:ext cx="576263" cy="6492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504" name="Line 29">
            <a:extLst>
              <a:ext uri="{FF2B5EF4-FFF2-40B4-BE49-F238E27FC236}">
                <a16:creationId xmlns:a16="http://schemas.microsoft.com/office/drawing/2014/main" id="{32A8A1C9-5DD6-4B39-894C-92E0BE07CDB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77050" y="2906713"/>
            <a:ext cx="790575" cy="3587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505" name="Line 31">
            <a:extLst>
              <a:ext uri="{FF2B5EF4-FFF2-40B4-BE49-F238E27FC236}">
                <a16:creationId xmlns:a16="http://schemas.microsoft.com/office/drawing/2014/main" id="{4321D587-5903-44A3-A57D-7A1511EDA06A}"/>
              </a:ext>
            </a:extLst>
          </p:cNvPr>
          <p:cNvSpPr>
            <a:spLocks noChangeShapeType="1"/>
          </p:cNvSpPr>
          <p:nvPr/>
        </p:nvSpPr>
        <p:spPr bwMode="auto">
          <a:xfrm>
            <a:off x="7667625" y="2906713"/>
            <a:ext cx="5778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506" name="Line 32">
            <a:extLst>
              <a:ext uri="{FF2B5EF4-FFF2-40B4-BE49-F238E27FC236}">
                <a16:creationId xmlns:a16="http://schemas.microsoft.com/office/drawing/2014/main" id="{4FE9BC17-7287-4CA6-AAD5-FB7EBBFD5F53}"/>
              </a:ext>
            </a:extLst>
          </p:cNvPr>
          <p:cNvSpPr>
            <a:spLocks noChangeShapeType="1"/>
          </p:cNvSpPr>
          <p:nvPr/>
        </p:nvSpPr>
        <p:spPr bwMode="auto">
          <a:xfrm>
            <a:off x="8243888" y="2906713"/>
            <a:ext cx="0" cy="18002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507" name="Line 33">
            <a:extLst>
              <a:ext uri="{FF2B5EF4-FFF2-40B4-BE49-F238E27FC236}">
                <a16:creationId xmlns:a16="http://schemas.microsoft.com/office/drawing/2014/main" id="{9E4AD3C3-7A23-49D8-81B2-36EABD77F72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24075" y="4706938"/>
            <a:ext cx="611981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508" name="Line 34">
            <a:extLst>
              <a:ext uri="{FF2B5EF4-FFF2-40B4-BE49-F238E27FC236}">
                <a16:creationId xmlns:a16="http://schemas.microsoft.com/office/drawing/2014/main" id="{462D37F0-D074-4617-AA94-C7A543BE0DD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24075" y="2906713"/>
            <a:ext cx="0" cy="18002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509" name="Text Box 35">
            <a:extLst>
              <a:ext uri="{FF2B5EF4-FFF2-40B4-BE49-F238E27FC236}">
                <a16:creationId xmlns:a16="http://schemas.microsoft.com/office/drawing/2014/main" id="{84258055-442D-4611-ACFA-B3D6A3DFAA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7125" y="4941888"/>
            <a:ext cx="7116763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/>
              <a:t>？表示进程有输入，！表示进程有输出</a:t>
            </a:r>
            <a:r>
              <a:rPr lang="en-US" altLang="zh-CN" sz="2400" b="1"/>
              <a:t>. </a:t>
            </a:r>
          </a:p>
          <a:p>
            <a:pPr eaLnBrk="1" hangingPunct="1"/>
            <a:r>
              <a:rPr lang="zh-CN" altLang="en-US" sz="2400" b="1"/>
              <a:t>不与外部进行交互的称为内部行为，用 </a:t>
            </a:r>
            <a:r>
              <a:rPr lang="zh-CN" altLang="en-US" sz="2400" b="1">
                <a:sym typeface="Symbol" panose="05050102010706020507" pitchFamily="18" charset="2"/>
              </a:rPr>
              <a:t> 表示</a:t>
            </a:r>
            <a:r>
              <a:rPr lang="en-US" altLang="zh-CN" sz="2400" b="1">
                <a:sym typeface="Symbol" panose="05050102010706020507" pitchFamily="18" charset="2"/>
              </a:rPr>
              <a:t>.</a:t>
            </a:r>
          </a:p>
        </p:txBody>
      </p:sp>
      <p:sp>
        <p:nvSpPr>
          <p:cNvPr id="20510" name="Line 36">
            <a:extLst>
              <a:ext uri="{FF2B5EF4-FFF2-40B4-BE49-F238E27FC236}">
                <a16:creationId xmlns:a16="http://schemas.microsoft.com/office/drawing/2014/main" id="{71DA4117-0C73-45E5-9326-20DB066E8E35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7400" y="2041525"/>
            <a:ext cx="3603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2">
            <a:extLst>
              <a:ext uri="{FF2B5EF4-FFF2-40B4-BE49-F238E27FC236}">
                <a16:creationId xmlns:a16="http://schemas.microsoft.com/office/drawing/2014/main" id="{585D41C5-54B6-41A0-8DA2-DF432E1F62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65907"/>
            <a:ext cx="8229600" cy="70643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    基础单元的代数规范</a:t>
            </a:r>
          </a:p>
        </p:txBody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B3990496-7FB1-4756-AB58-11140CC9A46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9750" y="1125538"/>
            <a:ext cx="8075613" cy="492442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Bunit</a:t>
            </a:r>
            <a:r>
              <a:rPr lang="en-US" altLang="zh-CN" sz="2400" b="1">
                <a:latin typeface="Arial" panose="020B0604020202020204" pitchFamily="34" charset="0"/>
              </a:rPr>
              <a:t>= </a:t>
            </a:r>
            <a:r>
              <a:rPr lang="en-US" altLang="zh-CN" sz="2400" b="1">
                <a:latin typeface="Times New Roman" panose="02020603050405020304" pitchFamily="18" charset="0"/>
              </a:rPr>
              <a:t>cmd? </a:t>
            </a:r>
            <a:r>
              <a:rPr lang="en-US" altLang="zh-CN" sz="1600" b="1">
                <a:latin typeface="Times New Roman" panose="02020603050405020304" pitchFamily="18" charset="0"/>
                <a:sym typeface="Symbol" panose="05050102010706020507" pitchFamily="18" charset="2"/>
              </a:rPr>
              <a:t>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((irq! </a:t>
            </a:r>
            <a:r>
              <a:rPr lang="en-US" altLang="zh-CN" sz="1600" b="1">
                <a:latin typeface="Times New Roman" panose="02020603050405020304" pitchFamily="18" charset="0"/>
                <a:sym typeface="Symbol" panose="05050102010706020507" pitchFamily="18" charset="2"/>
              </a:rPr>
              <a:t>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imt? </a:t>
            </a:r>
            <a:r>
              <a:rPr lang="en-US" altLang="zh-CN" sz="1600" b="1">
                <a:latin typeface="Times New Roman" panose="02020603050405020304" pitchFamily="18" charset="0"/>
                <a:sym typeface="Symbol" panose="05050102010706020507" pitchFamily="18" charset="2"/>
              </a:rPr>
              <a:t>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(ncrq! </a:t>
            </a:r>
            <a:r>
              <a:rPr lang="en-US" altLang="zh-CN" sz="1600" b="1">
                <a:latin typeface="Times New Roman" panose="02020603050405020304" pitchFamily="18" charset="0"/>
                <a:sym typeface="Symbol" panose="05050102010706020507" pitchFamily="18" charset="2"/>
              </a:rPr>
              <a:t>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cmd? || orq? | omt!))*)</a:t>
            </a:r>
          </a:p>
          <a:p>
            <a:pPr eaLnBrk="1" hangingPunct="1">
              <a:spcBef>
                <a:spcPct val="80000"/>
              </a:spcBef>
            </a:pPr>
            <a:r>
              <a:rPr lang="zh-CN" altLang="en-US" sz="2400" b="1">
                <a:latin typeface="Arial" panose="020B0604020202020204" pitchFamily="34" charset="0"/>
                <a:sym typeface="Symbol" panose="05050102010706020507" pitchFamily="18" charset="2"/>
              </a:rPr>
              <a:t>进程集合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其中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={cmd, irq, imt, ncrq, orq, omt}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  <a:p>
            <a:pPr eaLnBrk="1" hangingPunct="1"/>
            <a:r>
              <a:rPr lang="zh-CN" altLang="en-US" sz="2400" b="1">
                <a:latin typeface="Arial" panose="020B0604020202020204" pitchFamily="34" charset="0"/>
                <a:sym typeface="Symbol" panose="05050102010706020507" pitchFamily="18" charset="2"/>
              </a:rPr>
              <a:t>算子   </a:t>
            </a:r>
            <a:r>
              <a:rPr lang="en-US" altLang="zh-CN" sz="2400" b="1">
                <a:latin typeface="Arial" panose="020B0604020202020204" pitchFamily="34" charset="0"/>
                <a:sym typeface="Symbol" panose="05050102010706020507" pitchFamily="18" charset="2"/>
              </a:rPr>
              <a:t>|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：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，同步，   </a:t>
            </a:r>
            <a:r>
              <a:rPr lang="en-US" altLang="zh-CN" sz="2400" b="1">
                <a:latin typeface="Arial" panose="020B0604020202020204" pitchFamily="34" charset="0"/>
                <a:sym typeface="Symbol" panose="05050102010706020507" pitchFamily="18" charset="2"/>
              </a:rPr>
              <a:t>||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：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，并发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>
                <a:latin typeface="Arial" panose="020B0604020202020204" pitchFamily="34" charset="0"/>
                <a:sym typeface="Symbol" panose="05050102010706020507" pitchFamily="18" charset="2"/>
              </a:rPr>
              <a:t>               ：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，顺序， 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+ </a:t>
            </a:r>
            <a:r>
              <a:rPr lang="zh-CN" altLang="en-US" sz="2400" b="1">
                <a:latin typeface="Arial" panose="020B0604020202020204" pitchFamily="34" charset="0"/>
                <a:sym typeface="Symbol" panose="05050102010706020507" pitchFamily="18" charset="2"/>
              </a:rPr>
              <a:t>：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，选择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                *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: 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重复        *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: 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非终止重复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    优先级：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| &gt;  </a:t>
            </a:r>
            <a:r>
              <a:rPr lang="en-US" altLang="zh-CN" sz="1600" b="1">
                <a:latin typeface="Arial" panose="020B0604020202020204" pitchFamily="34" charset="0"/>
                <a:sym typeface="Symbol" panose="05050102010706020507" pitchFamily="18" charset="2"/>
              </a:rPr>
              <a:t>  </a:t>
            </a:r>
            <a:r>
              <a:rPr lang="en-US" altLang="zh-CN" sz="2400" b="1">
                <a:latin typeface="Arial" panose="020B0604020202020204" pitchFamily="34" charset="0"/>
                <a:sym typeface="Symbol" panose="05050102010706020507" pitchFamily="18" charset="2"/>
              </a:rPr>
              <a:t>&gt; ||</a:t>
            </a:r>
            <a:r>
              <a:rPr lang="zh-CN" altLang="en-US" sz="2400" b="1">
                <a:latin typeface="Arial" panose="020B0604020202020204" pitchFamily="34" charset="0"/>
                <a:sym typeface="Symbol" panose="05050102010706020507" pitchFamily="18" charset="2"/>
              </a:rPr>
              <a:t>，* 优先于</a:t>
            </a:r>
            <a:r>
              <a:rPr lang="en-US" altLang="zh-CN" sz="2400" b="1">
                <a:latin typeface="Arial" panose="020B0604020202020204" pitchFamily="34" charset="0"/>
                <a:sym typeface="Symbol" panose="05050102010706020507" pitchFamily="18" charset="2"/>
              </a:rPr>
              <a:t>||   </a:t>
            </a:r>
            <a:endParaRPr lang="en-US" altLang="zh-CN" sz="2400" b="1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70000"/>
              </a:spcBef>
            </a:pP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算律 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+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y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=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+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,  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+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 +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z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=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+ 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y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 z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，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>
                <a:latin typeface="Arial" panose="020B0604020202020204" pitchFamily="34" charset="0"/>
                <a:sym typeface="Symbol" panose="05050102010706020507" pitchFamily="18" charset="2"/>
              </a:rPr>
              <a:t>            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+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 y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2400" b="1"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zh-CN" sz="1600" b="1"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=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zh-CN" sz="1600" b="1">
                <a:latin typeface="Arial" panose="020B0604020202020204" pitchFamily="34" charset="0"/>
                <a:sym typeface="Symbol" panose="05050102010706020507" pitchFamily="18" charset="2"/>
              </a:rPr>
              <a:t></a:t>
            </a:r>
            <a:r>
              <a:rPr lang="en-US" altLang="zh-CN" sz="1600" b="1" i="1"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z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+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y </a:t>
            </a:r>
            <a:r>
              <a:rPr lang="en-US" altLang="zh-CN" sz="1600" b="1"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,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             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+  =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,  </a:t>
            </a:r>
            <a:r>
              <a:rPr lang="en-US" altLang="zh-CN" sz="2400" b="1">
                <a:latin typeface="Arial" panose="020B0604020202020204" pitchFamily="34" charset="0"/>
                <a:sym typeface="Symbol" panose="05050102010706020507" pitchFamily="18" charset="2"/>
              </a:rPr>
              <a:t> </a:t>
            </a:r>
            <a:r>
              <a:rPr lang="en-US" altLang="zh-CN" sz="1600" b="1"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=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，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             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||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 ||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=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|| 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||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),  …</a:t>
            </a:r>
            <a:r>
              <a:rPr lang="en-US" altLang="zh-CN" sz="2400">
                <a:latin typeface="Times New Roman" panose="02020603050405020304" pitchFamily="18" charset="0"/>
                <a:sym typeface="Symbol" panose="05050102010706020507" pitchFamily="18" charset="2"/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33794" name="灯片编号占位符 5">
            <a:extLst>
              <a:ext uri="{FF2B5EF4-FFF2-40B4-BE49-F238E27FC236}">
                <a16:creationId xmlns:a16="http://schemas.microsoft.com/office/drawing/2014/main" id="{0CC19193-BA96-467C-8D70-87D32D9BD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D26AA16-8A1F-452B-88D2-8A31DC3B0EAF}" type="slidenum">
              <a:rPr lang="en-US" altLang="zh-CN">
                <a:solidFill>
                  <a:srgbClr val="898989"/>
                </a:solidFill>
              </a:rPr>
              <a:pPr eaLnBrk="1" hangingPunct="1"/>
              <a:t>20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2">
            <a:extLst>
              <a:ext uri="{FF2B5EF4-FFF2-40B4-BE49-F238E27FC236}">
                <a16:creationId xmlns:a16="http://schemas.microsoft.com/office/drawing/2014/main" id="{93A5F49F-36FC-46AC-A2CE-2D92ADD6DE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4450"/>
            <a:ext cx="8229600" cy="635000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小结</a:t>
            </a:r>
          </a:p>
        </p:txBody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CBF5C442-2CCD-4954-BAC9-C9878AAFED0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95288" y="1052513"/>
            <a:ext cx="8496300" cy="5113337"/>
          </a:xfrm>
        </p:spPr>
        <p:txBody>
          <a:bodyPr/>
          <a:lstStyle/>
          <a:p>
            <a:pPr eaLnBrk="1" hangingPunct="1"/>
            <a:r>
              <a:rPr lang="zh-CN" altLang="en-US" sz="2800" b="1" dirty="0"/>
              <a:t>代数系统的基本概念</a:t>
            </a:r>
          </a:p>
          <a:p>
            <a:pPr lvl="1" eaLnBrk="1" hangingPunct="1"/>
            <a:r>
              <a:rPr lang="zh-CN" altLang="en-US" sz="2400" b="1" dirty="0"/>
              <a:t>构成：载体</a:t>
            </a:r>
            <a:r>
              <a:rPr lang="en-US" altLang="zh-CN" sz="2400" b="1" dirty="0"/>
              <a:t>,  </a:t>
            </a:r>
            <a:r>
              <a:rPr lang="zh-CN" altLang="en-US" sz="2400" b="1" dirty="0"/>
              <a:t>运算集</a:t>
            </a:r>
            <a:r>
              <a:rPr lang="en-US" altLang="zh-CN" sz="2400" b="1" dirty="0"/>
              <a:t>(</a:t>
            </a:r>
            <a:r>
              <a:rPr lang="zh-CN" altLang="en-US" sz="2400" b="1" dirty="0"/>
              <a:t>包括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b="1" dirty="0"/>
              <a:t>元运算</a:t>
            </a:r>
            <a:r>
              <a:rPr lang="en-US" altLang="zh-CN" sz="2400" b="1" dirty="0"/>
              <a:t>), </a:t>
            </a:r>
            <a:r>
              <a:rPr lang="zh-CN" altLang="en-US" sz="2400" b="1" dirty="0"/>
              <a:t>公理</a:t>
            </a:r>
            <a:r>
              <a:rPr lang="en-US" altLang="zh-CN" sz="2400" b="1" dirty="0"/>
              <a:t>(</a:t>
            </a:r>
            <a:r>
              <a:rPr lang="zh-CN" altLang="en-US" sz="2400" b="1" dirty="0"/>
              <a:t>算律</a:t>
            </a:r>
            <a:r>
              <a:rPr lang="en-US" altLang="zh-CN" sz="2400" b="1" dirty="0"/>
              <a:t>,</a:t>
            </a:r>
            <a:r>
              <a:rPr lang="zh-CN" altLang="en-US" sz="2400" b="1" dirty="0"/>
              <a:t>特异元素</a:t>
            </a:r>
            <a:r>
              <a:rPr lang="en-US" altLang="zh-CN" sz="2400" b="1" dirty="0"/>
              <a:t>)</a:t>
            </a:r>
            <a:endParaRPr lang="zh-CN" altLang="en-US" sz="2400" b="1" dirty="0"/>
          </a:p>
          <a:p>
            <a:pPr lvl="1" eaLnBrk="1" hangingPunct="1"/>
            <a:r>
              <a:rPr lang="zh-CN" altLang="en-US" sz="2400" b="1" dirty="0"/>
              <a:t>分类</a:t>
            </a:r>
          </a:p>
          <a:p>
            <a:pPr eaLnBrk="1" hangingPunct="1"/>
            <a:r>
              <a:rPr lang="zh-CN" altLang="en-US" sz="2800" b="1" dirty="0"/>
              <a:t>子代数、积代数、商代数</a:t>
            </a:r>
          </a:p>
          <a:p>
            <a:pPr lvl="1" eaLnBrk="1" hangingPunct="1"/>
            <a:r>
              <a:rPr lang="zh-CN" altLang="en-US" sz="2400" b="1" dirty="0"/>
              <a:t>子代数：构成</a:t>
            </a:r>
            <a:r>
              <a:rPr lang="en-US" altLang="zh-CN" sz="2400" b="1" dirty="0"/>
              <a:t>,  </a:t>
            </a:r>
            <a:r>
              <a:rPr lang="zh-CN" altLang="en-US" sz="2400" b="1" dirty="0"/>
              <a:t>判定</a:t>
            </a:r>
            <a:r>
              <a:rPr lang="en-US" altLang="zh-CN" sz="2400" b="1" dirty="0"/>
              <a:t>(</a:t>
            </a:r>
            <a:r>
              <a:rPr lang="zh-CN" altLang="en-US" sz="2400" b="1" dirty="0"/>
              <a:t>封闭</a:t>
            </a:r>
            <a:r>
              <a:rPr lang="en-US" altLang="zh-CN" sz="2400" b="1" dirty="0"/>
              <a:t>),  </a:t>
            </a:r>
            <a:r>
              <a:rPr lang="zh-CN" altLang="en-US" sz="2400" b="1" dirty="0"/>
              <a:t>性质</a:t>
            </a:r>
            <a:r>
              <a:rPr lang="en-US" altLang="zh-CN" sz="2400" b="1" dirty="0"/>
              <a:t>(</a:t>
            </a:r>
            <a:r>
              <a:rPr lang="zh-CN" altLang="en-US" sz="2400" b="1" dirty="0"/>
              <a:t>同种代数</a:t>
            </a:r>
            <a:r>
              <a:rPr lang="en-US" altLang="zh-CN" sz="2400" b="1" dirty="0"/>
              <a:t>)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——</a:t>
            </a:r>
            <a:r>
              <a:rPr lang="zh-CN" altLang="en-US" sz="2400" b="1" dirty="0"/>
              <a:t>分解</a:t>
            </a:r>
          </a:p>
          <a:p>
            <a:pPr lvl="1" eaLnBrk="1" hangingPunct="1"/>
            <a:r>
              <a:rPr lang="zh-CN" altLang="en-US" sz="2400" b="1" dirty="0"/>
              <a:t>积代数：构成</a:t>
            </a:r>
            <a:r>
              <a:rPr lang="en-US" altLang="zh-CN" sz="2400" b="1" dirty="0"/>
              <a:t>(</a:t>
            </a:r>
            <a:r>
              <a:rPr lang="zh-CN" altLang="en-US" sz="2400" b="1" dirty="0"/>
              <a:t>直积</a:t>
            </a:r>
            <a:r>
              <a:rPr lang="en-US" altLang="zh-CN" sz="2400" b="1" dirty="0"/>
              <a:t>), </a:t>
            </a:r>
            <a:r>
              <a:rPr lang="zh-CN" altLang="en-US" sz="2400" b="1" dirty="0"/>
              <a:t>性质</a:t>
            </a:r>
            <a:r>
              <a:rPr lang="en-US" altLang="zh-CN" sz="2400" b="1" dirty="0"/>
              <a:t>(</a:t>
            </a:r>
            <a:r>
              <a:rPr lang="zh-CN" altLang="en-US" sz="2400" b="1" dirty="0"/>
              <a:t>同类型</a:t>
            </a:r>
            <a:r>
              <a:rPr lang="en-US" altLang="zh-CN" sz="2400" b="1" dirty="0"/>
              <a:t>,</a:t>
            </a:r>
            <a:r>
              <a:rPr lang="zh-CN" altLang="en-US" sz="2400" b="1" dirty="0"/>
              <a:t>消去律例外</a:t>
            </a:r>
            <a:r>
              <a:rPr lang="en-US" altLang="zh-CN" sz="2400" b="1" dirty="0"/>
              <a:t>)——</a:t>
            </a:r>
            <a:r>
              <a:rPr lang="zh-CN" altLang="en-US" sz="2400" b="1" dirty="0"/>
              <a:t>组合</a:t>
            </a:r>
          </a:p>
          <a:p>
            <a:pPr lvl="1" eaLnBrk="1" hangingPunct="1"/>
            <a:r>
              <a:rPr lang="zh-CN" altLang="en-US" sz="2400" b="1" dirty="0"/>
              <a:t>商代数：构成</a:t>
            </a:r>
            <a:r>
              <a:rPr lang="en-US" altLang="zh-CN" sz="2400" b="1" dirty="0"/>
              <a:t>(</a:t>
            </a:r>
            <a:r>
              <a:rPr lang="zh-CN" altLang="en-US" sz="2400" b="1" dirty="0"/>
              <a:t>同余</a:t>
            </a:r>
            <a:r>
              <a:rPr lang="en-US" altLang="zh-CN" sz="2400" b="1" dirty="0"/>
              <a:t>), </a:t>
            </a:r>
            <a:r>
              <a:rPr lang="zh-CN" altLang="en-US" sz="2400" b="1" dirty="0"/>
              <a:t>性质</a:t>
            </a:r>
            <a:r>
              <a:rPr lang="en-US" altLang="zh-CN" sz="2400" b="1" dirty="0"/>
              <a:t>(</a:t>
            </a:r>
            <a:r>
              <a:rPr lang="zh-CN" altLang="en-US" sz="2400" b="1" dirty="0"/>
              <a:t>同类型</a:t>
            </a:r>
            <a:r>
              <a:rPr lang="en-US" altLang="zh-CN" sz="2400" b="1" dirty="0"/>
              <a:t>,</a:t>
            </a:r>
            <a:r>
              <a:rPr lang="zh-CN" altLang="en-US" sz="2400" b="1" dirty="0"/>
              <a:t>消去律例外</a:t>
            </a:r>
            <a:r>
              <a:rPr lang="en-US" altLang="zh-CN" sz="2400" b="1" dirty="0"/>
              <a:t>)——</a:t>
            </a:r>
            <a:r>
              <a:rPr lang="zh-CN" altLang="en-US" sz="2400" b="1" dirty="0"/>
              <a:t>抽象</a:t>
            </a:r>
          </a:p>
          <a:p>
            <a:pPr eaLnBrk="1" hangingPunct="1"/>
            <a:r>
              <a:rPr lang="zh-CN" altLang="en-US" sz="2800" b="1" dirty="0"/>
              <a:t>同态</a:t>
            </a:r>
          </a:p>
          <a:p>
            <a:pPr lvl="1" eaLnBrk="1" hangingPunct="1"/>
            <a:r>
              <a:rPr lang="zh-CN" altLang="en-US" sz="2400" b="1" dirty="0"/>
              <a:t>同态映射的概念</a:t>
            </a:r>
          </a:p>
          <a:p>
            <a:pPr lvl="1" eaLnBrk="1" hangingPunct="1"/>
            <a:r>
              <a:rPr lang="zh-CN" altLang="en-US" sz="2400" b="1" dirty="0"/>
              <a:t>性质</a:t>
            </a:r>
            <a:r>
              <a:rPr lang="en-US" altLang="zh-CN" sz="2400" b="1" dirty="0"/>
              <a:t>(</a:t>
            </a:r>
            <a:r>
              <a:rPr lang="zh-CN" altLang="en-US" sz="2400" b="1" dirty="0"/>
              <a:t>同类型</a:t>
            </a:r>
            <a:r>
              <a:rPr lang="en-US" altLang="zh-CN" sz="2400" b="1" dirty="0"/>
              <a:t>, </a:t>
            </a:r>
            <a:r>
              <a:rPr lang="zh-CN" altLang="en-US" sz="2400" b="1" dirty="0"/>
              <a:t>消去律例外</a:t>
            </a:r>
            <a:r>
              <a:rPr lang="en-US" altLang="zh-CN" sz="2400" b="1" dirty="0"/>
              <a:t>)</a:t>
            </a:r>
            <a:endParaRPr lang="zh-CN" altLang="en-US" sz="2400" b="1" dirty="0"/>
          </a:p>
          <a:p>
            <a:pPr lvl="1" eaLnBrk="1" hangingPunct="1"/>
            <a:r>
              <a:rPr lang="zh-CN" altLang="en-US" sz="2400" b="1" dirty="0"/>
              <a:t>同态映射与商代数之间的关系</a:t>
            </a:r>
          </a:p>
          <a:p>
            <a:pPr lvl="3" eaLnBrk="1" hangingPunct="1"/>
            <a:endParaRPr lang="en-US" altLang="zh-CN" sz="1600" dirty="0"/>
          </a:p>
        </p:txBody>
      </p:sp>
      <p:sp>
        <p:nvSpPr>
          <p:cNvPr id="34818" name="灯片编号占位符 5">
            <a:extLst>
              <a:ext uri="{FF2B5EF4-FFF2-40B4-BE49-F238E27FC236}">
                <a16:creationId xmlns:a16="http://schemas.microsoft.com/office/drawing/2014/main" id="{A86D9B16-785D-4CFB-9000-31561D363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ADAD0D4-D717-4F2C-9077-86E1A686BB9E}" type="slidenum">
              <a:rPr lang="en-US" altLang="zh-CN">
                <a:solidFill>
                  <a:srgbClr val="898989"/>
                </a:solidFill>
              </a:rPr>
              <a:pPr eaLnBrk="1" hangingPunct="1"/>
              <a:t>21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代数结构PP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代数结构PPT" id="{59FB3D3D-6029-4102-98A0-9B60F27E0E23}" vid="{0AB676A5-E0BB-48C0-B1BF-4DD3C7F3CCB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代数结构PPT主题</Template>
  <TotalTime>2778</TotalTime>
  <Words>2329</Words>
  <Application>Microsoft Office PowerPoint</Application>
  <PresentationFormat>全屏显示(4:3)</PresentationFormat>
  <Paragraphs>272</Paragraphs>
  <Slides>21</Slides>
  <Notes>20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21</vt:i4>
      </vt:variant>
    </vt:vector>
  </HeadingPairs>
  <TitlesOfParts>
    <vt:vector size="34" baseType="lpstr">
      <vt:lpstr>黑体</vt:lpstr>
      <vt:lpstr>宋体</vt:lpstr>
      <vt:lpstr>Arial</vt:lpstr>
      <vt:lpstr>Calibri</vt:lpstr>
      <vt:lpstr>Calibri Light</vt:lpstr>
      <vt:lpstr>Lucida Sans Unicode</vt:lpstr>
      <vt:lpstr>Times New Roman</vt:lpstr>
      <vt:lpstr>Verdana</vt:lpstr>
      <vt:lpstr>Wingdings</vt:lpstr>
      <vt:lpstr>Wingdings 2</vt:lpstr>
      <vt:lpstr>代数结构PPT</vt:lpstr>
      <vt:lpstr>公式</vt:lpstr>
      <vt:lpstr>Document</vt:lpstr>
      <vt:lpstr>15.4  同余关系与商代数</vt:lpstr>
      <vt:lpstr>同余关系与同余类</vt:lpstr>
      <vt:lpstr>实例 </vt:lpstr>
      <vt:lpstr>商代数定义</vt:lpstr>
      <vt:lpstr>实例：模n的同余类</vt:lpstr>
      <vt:lpstr>商代数的良定义性</vt:lpstr>
      <vt:lpstr>商代数的性质</vt:lpstr>
      <vt:lpstr>同态、同余关系与商代数的联系</vt:lpstr>
      <vt:lpstr>                同态映射导出同余关系</vt:lpstr>
      <vt:lpstr>实例</vt:lpstr>
      <vt:lpstr>                  商代数是原代数同态像</vt:lpstr>
      <vt:lpstr>同态基本定理</vt:lpstr>
      <vt:lpstr>同态的验证</vt:lpstr>
      <vt:lpstr>同态、同余关系与商代数的联系</vt:lpstr>
      <vt:lpstr>实例说明</vt:lpstr>
      <vt:lpstr>例题</vt:lpstr>
      <vt:lpstr>例题（续）</vt:lpstr>
      <vt:lpstr>進程代数: Process Algebra</vt:lpstr>
      <vt:lpstr>基础单元的工作流程</vt:lpstr>
      <vt:lpstr>                     基础单元的代数规范</vt:lpstr>
      <vt:lpstr>小结</vt:lpstr>
    </vt:vector>
  </TitlesOfParts>
  <Company>深圳市斯尔顿科技有限公司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user</dc:creator>
  <cp:lastModifiedBy>付 康</cp:lastModifiedBy>
  <cp:revision>311</cp:revision>
  <dcterms:created xsi:type="dcterms:W3CDTF">2005-12-02T07:25:32Z</dcterms:created>
  <dcterms:modified xsi:type="dcterms:W3CDTF">2020-07-06T06:14:13Z</dcterms:modified>
</cp:coreProperties>
</file>