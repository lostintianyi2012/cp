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7"/>
  </p:notesMasterIdLst>
  <p:sldIdLst>
    <p:sldId id="271" r:id="rId2"/>
    <p:sldId id="272" r:id="rId3"/>
    <p:sldId id="273" r:id="rId4"/>
    <p:sldId id="3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>
        <p:scale>
          <a:sx n="70" d="100"/>
          <a:sy n="70" d="100"/>
        </p:scale>
        <p:origin x="1589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716AB03-8DCE-4C7B-A1AE-18548972F5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47651F-04EF-4EC1-B1C3-2BE737659EC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8199032-72A1-499A-9DDB-4E39599DC2D3}" type="datetimeFigureOut">
              <a:rPr lang="zh-CN" altLang="en-US"/>
              <a:pPr>
                <a:defRPr/>
              </a:pPr>
              <a:t>2020/8/9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31F05A1-2958-44BA-98B3-27865CAE3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991F5C9-88A6-4EFB-8310-DB639287D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CE86A-17EA-401C-BBFE-CC19C25ED9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FC5801-86DE-4788-B441-B31C8C5F9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9674BC7-413C-40BF-9E1D-BA22BEC7889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B20B220-F74C-4E5C-A742-FBC990C984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0108E3-350C-4425-9523-0168E2B49865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8A86DED-D7F6-48AB-BB7E-CA2507B55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726DB4B-E044-49AA-B9B9-20294F8FD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B3DB605-7442-44FE-BE54-D7B9D15153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8F37FF-05D6-4824-B057-06899A43002E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C138BDF-220D-4403-ADC3-4A1BD0313A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A89F609B-5FF1-43B5-89DC-F7A0A13C2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6834D8E-C8CF-4A70-B59B-F39EDD9BE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4AAF67-BC5A-4BD4-8279-D4107A5D3FEF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3654F52-7B05-4857-B863-413B474542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F1D5560-4D85-4237-977D-98EAADA5B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9F30D96-71ED-4111-9380-73FCD16015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3D9752-CA6A-4A9F-B3D9-C74D5B82FEDF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133C92D-2E4B-4841-A92A-C12AE7047F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CDA877A-A919-4780-A2A9-99E37F9AD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3A92A8D-AE9E-4376-BD8B-BE2B654A2B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E51EC4-FD38-4AD1-9C3D-68BEBE2C82DD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9DB0009-2941-4C81-BF78-AA875EBD4E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791F30E-066F-4F4B-9A7C-CA31DBE5B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4AF5766-87A5-456A-B00E-18F2982F30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791127-A592-4EDE-9E6A-B501A1E58E93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9E3F303-D4C6-402F-B319-13C336C0F2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3121D3F-20A0-4D59-B3BE-D2754568C1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4F36E85-9E68-4A81-8BC2-C0503C5C19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BABD99-F229-48F6-B71B-9FE065492DDC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3BC10D2-8093-4C6D-AF4B-627AC28FC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9C0EE28-7A82-4294-AF0F-1E367DDB6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9409586-E027-4F7C-B575-7B273521C1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1E1FAF-01F4-4075-8C48-F87D6EA0755E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61C3703-D05B-4EC9-B983-C51D050AF2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6BD85FD-9489-4386-ADB1-ED979E8C4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9E9FB412-AF78-42A0-B17F-79AFCEE6C3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0B9EE9-48BF-4A50-85CD-F8003F79838D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89AB8D5-DE2D-40D0-8642-CDA06F2BB2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22E062C-1A12-4E1B-B5C7-EA83A716C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50D63B2-AA1C-47CE-B782-4D9662176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4C471F-F9DA-48F2-A098-9013E43CCA20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95A023E-354E-414B-8195-CDCF6A92A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B7A57BF-20F9-4381-B4E7-B544ABEFE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EE4F4D8-9B3C-4371-B8BE-BA2AC4DFC4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925142-493C-44E6-84C9-41F23BCBF85E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0F4D8216-EC0A-49A3-BAF4-1209721BF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A5192E2-9AD4-4B28-B6BD-E4E9D8331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9FAF341-1A36-4C17-B11A-28FE75870F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E6755C-7D49-4F2F-8302-BABEAB53961A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04771BA-80B3-4514-83EF-5E38224EF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D0A6C84-9855-4DB3-8296-7A86F2D3F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139CBBCF-8283-48D8-823A-0B0CF8364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832B87-1825-4ECA-9897-71C25A1A8559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0963FF8-2631-4EDD-BCC6-3EDAD33D86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475470BC-78F2-42DD-85C1-DE8548F6E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874450C-7E4C-40F3-AF9F-848FB9898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F2FADC-3214-4DFE-8B33-00D915EF1D0E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7742217-7D2A-4BD8-9E59-B1772BDDDD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7DBB08B-5F4F-4332-AA14-1EEFC5025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8995735B-AE0C-4DF6-A7F7-EDC2A08953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559332-0076-4B0C-8778-529F351B7997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274521D-6C01-4756-B0AD-F810D3D72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B75122C5-8F83-4C85-BF23-099F16D76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B6E70B9-292E-4A15-86D8-84C466B3A8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79739B2-AB45-4456-B64C-23F72599017B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0D83FE6-6DB5-4322-8D59-4B221D704F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69E837F-7245-4CFA-B8A9-B4B95E656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7088B273-1A2F-4377-A38E-B74008920D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6A06C0-D30A-4627-8AA8-1F309FBAE13D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1A690D2-6FD9-4607-9AEF-EC3FEBEA46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0DD95C1-3717-42AE-A7C2-42BF49D1B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98E6E6D7-25E3-4A08-9FB9-A97ED3251C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D61240-1B14-4D35-90A1-747CBB23D54A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079D1BB-B112-4DEB-A9EC-2F3F0CE62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6FE0C53-9BAD-4857-9A54-286D35F17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3DFD674-4868-4D46-933A-794544245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1C3C14-3860-4B11-B82C-AFED35A026E2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C62AC06-3D81-4D2C-81DB-66CD21C9A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88C080F-45B5-48A1-8509-7FBDD7768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483ACD4-B1AD-49BB-8CE0-9A713A8B4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47E26B-6950-4809-BDBE-FC5183F015FF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9FD81E3-C629-48FD-B330-74C644A3AF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656D3EB-9DB6-4AC0-8021-2F25FC54A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26C3A7E-BE3B-4851-B9ED-A540A20D5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E9C319-44F5-427F-AA6E-3256F64893F9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11C701C-03DA-45FD-AEA9-382E05513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2323AD0-69CB-45D8-BCA0-7AC67755A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908B411-E11F-4981-A14F-999CF146ED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9F3067-7000-4E44-B240-05EC7346EB0E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DA46C6A9-3CFA-4FA0-AA68-6B1A480A1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13B0F23-617B-4051-B249-D139BF14C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84632-7F04-4339-82C7-53B1426C0E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5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3208A-9A15-4B4A-A6B7-6F0B616C636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69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5FCA19-267B-4ECA-BD10-CD4B9488CF5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11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A370C-E0D3-448F-A24B-859234B2EBB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9240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A6041-4383-467D-B5B3-F7E12AAF738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910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61FF7-61E8-43DB-AF6F-6C96D25DE7F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12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1B480-2FFD-41F8-8280-26966EB227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331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D3987-1665-4E5C-872F-2AC9A5C78C2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40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94246-75D4-4AC2-A9FA-5230FA57B7E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61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A842C-9572-47D3-AD14-5471BB4ED58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22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79C93-8A3B-4409-9B6E-CCE928382E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39611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79C93-8A3B-4409-9B6E-CCE928382E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7150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42D79C93-8A3B-4409-9B6E-CCE928382E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639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3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oleObject" Target="../embeddings/Microsoft_Word_97_-_2003_Document.doc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ED6EBD5-3E31-47DF-B5AE-728C3F85D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55189"/>
            <a:ext cx="86868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第二十二章  组合计数方法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FB14D9A-E1FA-4E9D-A2AE-9ED4C90C96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z="2800" b="1"/>
              <a:t>22.1 </a:t>
            </a:r>
            <a:r>
              <a:rPr lang="zh-CN" altLang="en-US" sz="2800" b="1"/>
              <a:t>递推方程的公式解法</a:t>
            </a:r>
          </a:p>
          <a:p>
            <a:pPr eaLnBrk="1" hangingPunct="1"/>
            <a:r>
              <a:rPr lang="en-US" altLang="zh-CN" sz="2800" b="1"/>
              <a:t>22.2 </a:t>
            </a:r>
            <a:r>
              <a:rPr lang="zh-CN" altLang="en-US" sz="2800" b="1"/>
              <a:t>递推方程的其他解法</a:t>
            </a:r>
          </a:p>
          <a:p>
            <a:pPr eaLnBrk="1" hangingPunct="1"/>
            <a:r>
              <a:rPr lang="en-US" altLang="zh-CN" sz="2800" b="1"/>
              <a:t>22.3 </a:t>
            </a:r>
            <a:r>
              <a:rPr lang="zh-CN" altLang="en-US" sz="2800" b="1"/>
              <a:t>生成函数的定义及其性质</a:t>
            </a:r>
          </a:p>
          <a:p>
            <a:pPr eaLnBrk="1" hangingPunct="1"/>
            <a:r>
              <a:rPr lang="en-US" altLang="zh-CN" sz="2800" b="1"/>
              <a:t>22.4 </a:t>
            </a:r>
            <a:r>
              <a:rPr lang="zh-CN" altLang="en-US" sz="2800" b="1"/>
              <a:t>生成函数的应用</a:t>
            </a:r>
          </a:p>
          <a:p>
            <a:pPr eaLnBrk="1" hangingPunct="1"/>
            <a:r>
              <a:rPr lang="en-US" altLang="zh-CN" sz="2800" b="1"/>
              <a:t>22.5 </a:t>
            </a:r>
            <a:r>
              <a:rPr lang="zh-CN" altLang="en-US" sz="2800" b="1"/>
              <a:t>指数生成函数及其应用</a:t>
            </a:r>
          </a:p>
          <a:p>
            <a:pPr eaLnBrk="1" hangingPunct="1"/>
            <a:r>
              <a:rPr lang="en-US" altLang="zh-CN" sz="2800" b="1"/>
              <a:t>22.6 </a:t>
            </a:r>
            <a:r>
              <a:rPr lang="zh-CN" altLang="en-US" sz="2800" b="1"/>
              <a:t>高级计数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5DF428-EC94-48A6-9A19-C8EE1C08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5BD8C7-6DD5-428F-9D36-9F9393844DA7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CA938398-F438-4FFF-89F8-DCA9C9EBB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8293" y="279400"/>
            <a:ext cx="8507413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22.1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递推方程的公式解法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089B3B9-D5F7-4EFF-A7C4-D3F1512F74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341438"/>
            <a:ext cx="7777162" cy="45307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递推方程的定义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递推方程的实例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常系数线性递推方程的求解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常系数线性递推方程定义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公式解法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递推方程在计数问题中的应用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ADDC7B-84FA-4835-B7FD-02002EAD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ADF7AD-F6D0-46DC-9722-FC66534B7C73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1A7F6AE5-B828-49E5-B4F4-3CD2A659D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递推方程的定义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107B12-2422-4B87-B090-6AD11600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A9D999-F6E8-4DA8-A6AA-180DDBE0B786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5A535FE8-1749-4164-A15F-868FB21A593C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1262063"/>
          <a:ext cx="8520113" cy="484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ument" r:id="rId4" imgW="4000892" imgH="2275255" progId="Word.Document.8">
                  <p:embed/>
                </p:oleObj>
              </mc:Choice>
              <mc:Fallback>
                <p:oleObj name="Document" r:id="rId4" imgW="4000892" imgH="227525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62063"/>
                        <a:ext cx="8520113" cy="484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6FACD4C5-F683-4425-BBA8-9E6EB98F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997"/>
            <a:ext cx="8229600" cy="635000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组合数：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Fibnacci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数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24949EB4-AD04-45B7-8E25-30D0BE25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412875"/>
            <a:ext cx="3529013" cy="16557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1, 1, 2, 3, 5, 8, 13,…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f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n-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f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f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=1</a:t>
            </a:r>
            <a:endParaRPr lang="en-US" altLang="zh-CN" sz="2400" b="1" baseline="-250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400" b="1" baseline="-250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9E9DFDF-1B29-45E4-8E59-797EE3BC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C1DE28-4C58-4739-A10B-8947B60825A6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B762F698-C958-4BAB-AC20-58258DBD7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341438"/>
            <a:ext cx="3138488" cy="197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7">
            <a:extLst>
              <a:ext uri="{FF2B5EF4-FFF2-40B4-BE49-F238E27FC236}">
                <a16:creationId xmlns:a16="http://schemas.microsoft.com/office/drawing/2014/main" id="{A8007884-F43E-4019-BDA7-B9B1F894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38" y="1052513"/>
            <a:ext cx="1584325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89B4978C-0A58-47A8-8DE3-EEB185B81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644900"/>
            <a:ext cx="1716088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5">
            <a:extLst>
              <a:ext uri="{FF2B5EF4-FFF2-40B4-BE49-F238E27FC236}">
                <a16:creationId xmlns:a16="http://schemas.microsoft.com/office/drawing/2014/main" id="{A88B86AD-F1CA-468E-856C-B04B8DE9E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789363"/>
            <a:ext cx="2070100" cy="211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3">
            <a:extLst>
              <a:ext uri="{FF2B5EF4-FFF2-40B4-BE49-F238E27FC236}">
                <a16:creationId xmlns:a16="http://schemas.microsoft.com/office/drawing/2014/main" id="{07721939-9797-4734-AD5B-E4C115147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860800"/>
            <a:ext cx="1785938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3" name="TextBox 10">
            <a:extLst>
              <a:ext uri="{FF2B5EF4-FFF2-40B4-BE49-F238E27FC236}">
                <a16:creationId xmlns:a16="http://schemas.microsoft.com/office/drawing/2014/main" id="{5124BDD9-F30C-405C-A153-4C1410383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2852738"/>
            <a:ext cx="21288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Times New Roman" pitchFamily="18" charset="0"/>
                <a:ea typeface="+mn-ea"/>
                <a:cs typeface="Times New Roman" pitchFamily="18" charset="0"/>
              </a:rPr>
              <a:t>数学家</a:t>
            </a:r>
            <a:r>
              <a:rPr lang="en-US" altLang="zh-CN" sz="2000" b="1" dirty="0">
                <a:latin typeface="Times New Roman" pitchFamily="18" charset="0"/>
                <a:ea typeface="+mn-ea"/>
                <a:cs typeface="Times New Roman" pitchFamily="18" charset="0"/>
              </a:rPr>
              <a:t>Fibonacci</a:t>
            </a:r>
          </a:p>
          <a:p>
            <a:pPr>
              <a:defRPr/>
            </a:pPr>
            <a:r>
              <a:rPr lang="zh-CN" altLang="en-US" sz="2000" b="1" dirty="0">
                <a:latin typeface="Times New Roman" pitchFamily="18" charset="0"/>
                <a:ea typeface="+mn-ea"/>
                <a:cs typeface="Times New Roman" pitchFamily="18" charset="0"/>
              </a:rPr>
              <a:t>意大利</a:t>
            </a:r>
            <a:r>
              <a:rPr lang="en-US" altLang="zh-CN" sz="2000" b="1" dirty="0">
                <a:latin typeface="Times New Roman" pitchFamily="18" charset="0"/>
                <a:ea typeface="+mn-ea"/>
                <a:cs typeface="Times New Roman" pitchFamily="18" charset="0"/>
              </a:rPr>
              <a:t>1170- 1240</a:t>
            </a:r>
            <a:endParaRPr lang="zh-CN" altLang="en-US" sz="20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2538" name="Picture 4">
            <a:extLst>
              <a:ext uri="{FF2B5EF4-FFF2-40B4-BE49-F238E27FC236}">
                <a16:creationId xmlns:a16="http://schemas.microsoft.com/office/drawing/2014/main" id="{849EC5FB-87E8-408C-B923-A2C32330D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284538"/>
            <a:ext cx="1944687" cy="25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E8970F11-D9EF-4347-ABAF-629908F07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196975"/>
          <a:ext cx="7853362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Document" r:id="rId4" imgW="3684496" imgH="1264470" progId="Word.Document.8">
                  <p:embed/>
                </p:oleObj>
              </mc:Choice>
              <mc:Fallback>
                <p:oleObj name="Document" r:id="rId4" imgW="3684496" imgH="126447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96975"/>
                        <a:ext cx="7853362" cy="270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3">
            <a:extLst>
              <a:ext uri="{FF2B5EF4-FFF2-40B4-BE49-F238E27FC236}">
                <a16:creationId xmlns:a16="http://schemas.microsoft.com/office/drawing/2014/main" id="{283199F4-D731-486B-8834-451151541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递推方程的实例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43E38824-4AD9-4146-A9A6-B9B3B994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207986-D767-40C7-BCD6-1C091A281AB4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4CB620F-5AE4-464C-AB44-37FEB8B456F1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4492625"/>
            <a:ext cx="2660650" cy="503238"/>
            <a:chOff x="2789" y="2841"/>
            <a:chExt cx="1676" cy="317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F216856-292E-4B2A-A08B-2505FAF69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841"/>
              <a:ext cx="272" cy="27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4200" dirty="0">
                  <a:solidFill>
                    <a:schemeClr val="tx2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2800" b="1" i="1" dirty="0">
                  <a:latin typeface="Times New Roman" pitchFamily="18" charset="0"/>
                  <a:ea typeface="宋体" charset="-122"/>
                </a:rPr>
                <a:t>x</a:t>
              </a:r>
            </a:p>
          </p:txBody>
        </p:sp>
        <p:sp>
          <p:nvSpPr>
            <p:cNvPr id="2066" name="Text Box 7">
              <a:extLst>
                <a:ext uri="{FF2B5EF4-FFF2-40B4-BE49-F238E27FC236}">
                  <a16:creationId xmlns:a16="http://schemas.microsoft.com/office/drawing/2014/main" id="{7A1CA69E-33AD-4742-9924-512E81661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" y="2870"/>
              <a:ext cx="1281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</a:rPr>
                <a:t>=0,1,2,3,4,5,6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4268F0A0-09ED-45CF-8345-B1A2B755BD70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5475288"/>
            <a:ext cx="1363662" cy="457200"/>
            <a:chOff x="3198" y="3641"/>
            <a:chExt cx="859" cy="288"/>
          </a:xfrm>
        </p:grpSpPr>
        <p:sp>
          <p:nvSpPr>
            <p:cNvPr id="2063" name="Rectangle 9">
              <a:extLst>
                <a:ext uri="{FF2B5EF4-FFF2-40B4-BE49-F238E27FC236}">
                  <a16:creationId xmlns:a16="http://schemas.microsoft.com/office/drawing/2014/main" id="{95051C12-8E46-46EB-ADD7-6B84A6CF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3657"/>
              <a:ext cx="272" cy="272"/>
            </a:xfrm>
            <a:prstGeom prst="rect">
              <a:avLst/>
            </a:prstGeom>
            <a:solidFill>
              <a:schemeClr val="bg2">
                <a:alpha val="54901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064" name="Text Box 10">
              <a:extLst>
                <a:ext uri="{FF2B5EF4-FFF2-40B4-BE49-F238E27FC236}">
                  <a16:creationId xmlns:a16="http://schemas.microsoft.com/office/drawing/2014/main" id="{22BFC76E-D858-49B0-A43D-B4D433CB2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3641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</a:rPr>
                <a:t>=7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35DDA51D-FD42-4F6F-A0E8-012C80466467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499100"/>
            <a:ext cx="3095625" cy="882650"/>
            <a:chOff x="975" y="3476"/>
            <a:chExt cx="1950" cy="556"/>
          </a:xfrm>
        </p:grpSpPr>
        <p:sp>
          <p:nvSpPr>
            <p:cNvPr id="2061" name="Rectangle 12">
              <a:extLst>
                <a:ext uri="{FF2B5EF4-FFF2-40B4-BE49-F238E27FC236}">
                  <a16:creationId xmlns:a16="http://schemas.microsoft.com/office/drawing/2014/main" id="{23F57721-1999-4686-A3EB-1563380A3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476"/>
              <a:ext cx="1814" cy="272"/>
            </a:xfrm>
            <a:prstGeom prst="rect">
              <a:avLst/>
            </a:prstGeom>
            <a:solidFill>
              <a:schemeClr val="tx2">
                <a:alpha val="32941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62" name="Text Box 13">
              <a:extLst>
                <a:ext uri="{FF2B5EF4-FFF2-40B4-BE49-F238E27FC236}">
                  <a16:creationId xmlns:a16="http://schemas.microsoft.com/office/drawing/2014/main" id="{FCF295F7-09FB-4C5B-A8FA-C48AF6547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3744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含奇数个</a:t>
              </a:r>
              <a:r>
                <a:rPr lang="en-US" altLang="zh-CN" sz="2400" b="1">
                  <a:latin typeface="Times New Roman" panose="02020603050405020304" pitchFamily="18" charset="0"/>
                </a:rPr>
                <a:t>7</a:t>
              </a:r>
              <a:r>
                <a:rPr lang="en-US" altLang="zh-CN" sz="240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8</a:t>
              </a:r>
              <a:r>
                <a:rPr lang="en-US" altLang="zh-CN" sz="24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30000">
                  <a:latin typeface="Times New Roman" panose="02020603050405020304" pitchFamily="18" charset="0"/>
                </a:rPr>
                <a:t>-1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-1</a:t>
              </a:r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7934150D-5B90-4A0C-8AD8-B8CD6A369EA4}"/>
              </a:ext>
            </a:extLst>
          </p:cNvPr>
          <p:cNvGrpSpPr>
            <a:grpSpLocks/>
          </p:cNvGrpSpPr>
          <p:nvPr/>
        </p:nvGrpSpPr>
        <p:grpSpPr bwMode="auto">
          <a:xfrm>
            <a:off x="1401763" y="3987800"/>
            <a:ext cx="2879725" cy="1441450"/>
            <a:chOff x="975" y="2523"/>
            <a:chExt cx="1814" cy="908"/>
          </a:xfrm>
        </p:grpSpPr>
        <p:sp>
          <p:nvSpPr>
            <p:cNvPr id="2057" name="Text Box 15">
              <a:extLst>
                <a:ext uri="{FF2B5EF4-FFF2-40B4-BE49-F238E27FC236}">
                  <a16:creationId xmlns:a16="http://schemas.microsoft.com/office/drawing/2014/main" id="{8C692ABA-4E51-4DF8-AE53-4EC6F594F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3143"/>
              <a:ext cx="16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含偶数个</a:t>
              </a:r>
              <a:r>
                <a:rPr lang="en-US" altLang="zh-CN" sz="2400" b="1">
                  <a:latin typeface="Times New Roman" panose="02020603050405020304" pitchFamily="18" charset="0"/>
                </a:rPr>
                <a:t>7</a:t>
              </a:r>
              <a:r>
                <a:rPr lang="en-US" altLang="zh-CN" sz="2400">
                  <a:latin typeface="Times New Roman" panose="02020603050405020304" pitchFamily="18" charset="0"/>
                </a:rPr>
                <a:t>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-1</a:t>
              </a:r>
            </a:p>
          </p:txBody>
        </p:sp>
        <p:grpSp>
          <p:nvGrpSpPr>
            <p:cNvPr id="2058" name="Group 16">
              <a:extLst>
                <a:ext uri="{FF2B5EF4-FFF2-40B4-BE49-F238E27FC236}">
                  <a16:creationId xmlns:a16="http://schemas.microsoft.com/office/drawing/2014/main" id="{DEE4A819-E8DF-4184-8508-C2A91FA1FD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2523"/>
              <a:ext cx="1814" cy="590"/>
              <a:chOff x="975" y="2523"/>
              <a:chExt cx="1814" cy="590"/>
            </a:xfrm>
          </p:grpSpPr>
          <p:sp>
            <p:nvSpPr>
              <p:cNvPr id="2059" name="Rectangle 17">
                <a:extLst>
                  <a:ext uri="{FF2B5EF4-FFF2-40B4-BE49-F238E27FC236}">
                    <a16:creationId xmlns:a16="http://schemas.microsoft.com/office/drawing/2014/main" id="{003C81E1-AD49-4302-9498-D87157E49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" y="2841"/>
                <a:ext cx="1814" cy="272"/>
              </a:xfrm>
              <a:prstGeom prst="rect">
                <a:avLst/>
              </a:prstGeom>
              <a:solidFill>
                <a:srgbClr val="92D050">
                  <a:alpha val="34901"/>
                </a:srgb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0" name="Text Box 18">
                <a:extLst>
                  <a:ext uri="{FF2B5EF4-FFF2-40B4-BE49-F238E27FC236}">
                    <a16:creationId xmlns:a16="http://schemas.microsoft.com/office/drawing/2014/main" id="{3E64C4AD-B261-46F6-BCBA-CDFFEB50A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2523"/>
                <a:ext cx="173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-1</a:t>
                </a:r>
                <a:r>
                  <a:rPr lang="zh-CN" altLang="en-US" sz="2400" b="1">
                    <a:latin typeface="Times New Roman" panose="02020603050405020304" pitchFamily="18" charset="0"/>
                  </a:rPr>
                  <a:t>位长的八进制串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BD211D6-21BF-4930-AC0C-944420431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8" y="1593850"/>
            <a:ext cx="482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solidFill>
                  <a:srgbClr val="000000"/>
                </a:solidFill>
              </a:rPr>
              <a:t>  </a:t>
            </a:r>
            <a:r>
              <a:rPr lang="en-US" altLang="zh-CN" sz="1000" b="1">
                <a:solidFill>
                  <a:srgbClr val="000000"/>
                </a:solidFill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) = 2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1) + 1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(1) = 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555" name="Rectangle 14">
            <a:extLst>
              <a:ext uri="{FF2B5EF4-FFF2-40B4-BE49-F238E27FC236}">
                <a16:creationId xmlns:a16="http://schemas.microsoft.com/office/drawing/2014/main" id="{FB410A6F-D4D5-414A-B75E-D1474B538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19275"/>
            <a:ext cx="262731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解得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) = 2</a:t>
            </a:r>
            <a:r>
              <a:rPr lang="en-US" altLang="zh-CN" sz="2400" b="1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42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1140" name="Rectangle 16">
            <a:extLst>
              <a:ext uri="{FF2B5EF4-FFF2-40B4-BE49-F238E27FC236}">
                <a16:creationId xmlns:a16="http://schemas.microsoft.com/office/drawing/2014/main" id="{E52363DA-4734-4C32-9925-6D40CFA80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递推方程的实例（续）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0BE5E5A-5B84-4335-BD3F-2FBC8815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6C1ED1-BD73-4D03-BFCC-CD3D4125BE77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7" name="Rectangle 17">
            <a:extLst>
              <a:ext uri="{FF2B5EF4-FFF2-40B4-BE49-F238E27FC236}">
                <a16:creationId xmlns:a16="http://schemas.microsoft.com/office/drawing/2014/main" id="{5048B950-C32F-425E-8B82-1A0D17294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2600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/>
              <a:t>Hanoi</a:t>
            </a:r>
            <a:r>
              <a:rPr lang="en-US" altLang="zh-CN" sz="2400" b="1"/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塔问题</a:t>
            </a:r>
          </a:p>
        </p:txBody>
      </p:sp>
      <p:sp>
        <p:nvSpPr>
          <p:cNvPr id="433170" name="Rectangle 18">
            <a:extLst>
              <a:ext uri="{FF2B5EF4-FFF2-40B4-BE49-F238E27FC236}">
                <a16:creationId xmlns:a16="http://schemas.microsoft.com/office/drawing/2014/main" id="{0DB9B045-743A-4EAB-80CA-52A4B355D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790825"/>
            <a:ext cx="8643937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>
                <a:solidFill>
                  <a:srgbClr val="C00000"/>
                </a:solidFill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插入排序    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1)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= 0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解得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归并排序，不妨设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2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2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/2)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－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= 0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解得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log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>
            <a:extLst>
              <a:ext uri="{FF2B5EF4-FFF2-40B4-BE49-F238E27FC236}">
                <a16:creationId xmlns:a16="http://schemas.microsoft.com/office/drawing/2014/main" id="{0B5947E4-A011-43DC-A6F7-566362F47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7" y="228600"/>
            <a:ext cx="8569325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常系数线性齐次递推方程</a:t>
            </a:r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id="{B0AAE553-9D70-4395-BF90-60F591BA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常系数线性齐次递推方程的定义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为常数，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0 , 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阶常系数线性齐次递推方程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个初值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F19CE3-D556-452C-8E55-E50F49F0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7A713E-44C7-4368-B2F2-89C1BE0BE270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7D92D270-C22C-4A55-8DE6-2D765860D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1">
            <a:extLst>
              <a:ext uri="{FF2B5EF4-FFF2-40B4-BE49-F238E27FC236}">
                <a16:creationId xmlns:a16="http://schemas.microsoft.com/office/drawing/2014/main" id="{77C5871D-F3E1-40C0-9F8E-0A013DC8C7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773238"/>
          <a:ext cx="71628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公式" r:id="rId3" imgW="3187700" imgH="457200" progId="Equation.3">
                  <p:embed/>
                </p:oleObj>
              </mc:Choice>
              <mc:Fallback>
                <p:oleObj name="公式" r:id="rId3" imgW="31877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73238"/>
                        <a:ext cx="7162800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0602DBF-642E-4F67-88D3-6A5E7DF92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公式解法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044911E-4DC8-4A4A-B107-0B61990DD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413"/>
            <a:ext cx="8002587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特征方程、特征根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递推方程的解与特征根的关系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解的线性性质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无重根下通解的结构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求解实例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有重根下通解结构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求解实例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F8993C-D8BC-4863-B535-7805FCB5A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A30F3F-AE57-4CD8-BA47-E90B1C5E015D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2">
            <a:extLst>
              <a:ext uri="{FF2B5EF4-FFF2-40B4-BE49-F238E27FC236}">
                <a16:creationId xmlns:a16="http://schemas.microsoft.com/office/drawing/2014/main" id="{7069F8BE-E34F-4C4F-83FA-C824D2C5C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特征方程与特征根</a:t>
            </a:r>
          </a:p>
        </p:txBody>
      </p:sp>
      <p:sp>
        <p:nvSpPr>
          <p:cNvPr id="4100" name="内容占位符 2">
            <a:extLst>
              <a:ext uri="{FF2B5EF4-FFF2-40B4-BE49-F238E27FC236}">
                <a16:creationId xmlns:a16="http://schemas.microsoft.com/office/drawing/2014/main" id="{C5237D4C-2DBB-401E-9BC5-95BE910F0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441575"/>
            <a:ext cx="8229600" cy="10588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特征方程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特征方程的根称为递推方程的特征根</a:t>
            </a:r>
          </a:p>
          <a:p>
            <a:pPr eaLnBrk="1" hangingPunct="1"/>
            <a:endParaRPr lang="zh-CN" altLang="en-US" sz="2800" b="1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7522C6F-E970-4267-AFCC-6EFC3079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D476A3-4BD5-4A56-B967-7D7F514912E6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D658C952-461C-438A-A2F6-59FD2E167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8" name="Object 1">
            <a:extLst>
              <a:ext uri="{FF2B5EF4-FFF2-40B4-BE49-F238E27FC236}">
                <a16:creationId xmlns:a16="http://schemas.microsoft.com/office/drawing/2014/main" id="{DD4C77ED-D740-455A-8EBC-C2F36FEF6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268413"/>
          <a:ext cx="662463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公式" r:id="rId3" imgW="3200400" imgH="457200" progId="Equation.3">
                  <p:embed/>
                </p:oleObj>
              </mc:Choice>
              <mc:Fallback>
                <p:oleObj name="公式" r:id="rId3" imgW="32004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268413"/>
                        <a:ext cx="6624638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4">
            <a:extLst>
              <a:ext uri="{FF2B5EF4-FFF2-40B4-BE49-F238E27FC236}">
                <a16:creationId xmlns:a16="http://schemas.microsoft.com/office/drawing/2014/main" id="{FC8F400B-BDEE-447A-B06A-40BD188E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73463"/>
            <a:ext cx="8786813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3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2400"/>
          </a:p>
          <a:p>
            <a:pPr>
              <a:lnSpc>
                <a:spcPts val="4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递推方程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US" altLang="zh-CN" sz="2400"/>
          </a:p>
          <a:p>
            <a:pPr>
              <a:lnSpc>
                <a:spcPts val="4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特征方程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1= 0</a:t>
            </a:r>
            <a:endParaRPr lang="en-US" altLang="zh-CN" sz="2400">
              <a:sym typeface="Symbol" panose="05050102010706020507" pitchFamily="18" charset="2"/>
            </a:endParaRP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特征根   </a:t>
            </a:r>
          </a:p>
        </p:txBody>
      </p:sp>
      <p:sp>
        <p:nvSpPr>
          <p:cNvPr id="4103" name="Rectangle 5">
            <a:extLst>
              <a:ext uri="{FF2B5EF4-FFF2-40B4-BE49-F238E27FC236}">
                <a16:creationId xmlns:a16="http://schemas.microsoft.com/office/drawing/2014/main" id="{128D5F5F-40A9-458E-A70E-3FFE0C8C6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/>
          </a:p>
        </p:txBody>
      </p:sp>
      <p:sp>
        <p:nvSpPr>
          <p:cNvPr id="4104" name="Rectangle 7">
            <a:extLst>
              <a:ext uri="{FF2B5EF4-FFF2-40B4-BE49-F238E27FC236}">
                <a16:creationId xmlns:a16="http://schemas.microsoft.com/office/drawing/2014/main" id="{6CBB98C1-79F2-455F-98E8-889F0C7B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9" name="Object 6">
            <a:extLst>
              <a:ext uri="{FF2B5EF4-FFF2-40B4-BE49-F238E27FC236}">
                <a16:creationId xmlns:a16="http://schemas.microsoft.com/office/drawing/2014/main" id="{9B7C33CD-0423-4597-9712-460BCEA437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5157788"/>
          <a:ext cx="1854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公式" r:id="rId5" imgW="888614" imgH="406224" progId="Equation.3">
                  <p:embed/>
                </p:oleObj>
              </mc:Choice>
              <mc:Fallback>
                <p:oleObj name="公式" r:id="rId5" imgW="888614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157788"/>
                        <a:ext cx="185420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886C267C-7793-44CD-995D-8D0B764C1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341438"/>
          <a:ext cx="6769100" cy="381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文档" r:id="rId4" imgW="3455117" imgH="1942990" progId="Word.Document.8">
                  <p:embed/>
                </p:oleObj>
              </mc:Choice>
              <mc:Fallback>
                <p:oleObj name="文档" r:id="rId4" imgW="3455117" imgH="19429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341438"/>
                        <a:ext cx="6769100" cy="381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3">
            <a:extLst>
              <a:ext uri="{FF2B5EF4-FFF2-40B4-BE49-F238E27FC236}">
                <a16:creationId xmlns:a16="http://schemas.microsoft.com/office/drawing/2014/main" id="{B6B13D6D-C736-4D05-B04F-40F63C351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975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方程解与特征根的关系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7C86DB-84AB-446F-B812-B0F93267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B21B92-4FF5-41F1-A23C-171E177ED143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0A564474-F7F5-4B18-9600-88BEFCCB1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125538"/>
          <a:ext cx="7740650" cy="500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文档" r:id="rId4" imgW="3703471" imgH="2552492" progId="Word.Document.8">
                  <p:embed/>
                </p:oleObj>
              </mc:Choice>
              <mc:Fallback>
                <p:oleObj name="文档" r:id="rId4" imgW="3703471" imgH="255249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25538"/>
                        <a:ext cx="7740650" cy="500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3">
            <a:extLst>
              <a:ext uri="{FF2B5EF4-FFF2-40B4-BE49-F238E27FC236}">
                <a16:creationId xmlns:a16="http://schemas.microsoft.com/office/drawing/2014/main" id="{3AA94DAC-7CFC-4752-9BB6-2684E8BF3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解的线性性质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EA9D5A-3601-4210-ADCF-C2062172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09B506-B6FE-4B09-B590-DC540136E8B8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0D2CA8A0-EB9D-4D77-91F0-0E084A5F80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2863" y="1412875"/>
          <a:ext cx="8010526" cy="383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文档" r:id="rId4" imgW="3751977" imgH="1800065" progId="Word.Document.8">
                  <p:embed/>
                </p:oleObj>
              </mc:Choice>
              <mc:Fallback>
                <p:oleObj name="文档" r:id="rId4" imgW="3751977" imgH="180006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2863" y="1412875"/>
                        <a:ext cx="8010526" cy="383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3">
            <a:extLst>
              <a:ext uri="{FF2B5EF4-FFF2-40B4-BE49-F238E27FC236}">
                <a16:creationId xmlns:a16="http://schemas.microsoft.com/office/drawing/2014/main" id="{92471DC4-3E9A-445B-B64C-AE9BB6ACC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无重根下通解的结构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88E88-04C7-4A0E-A418-B7345557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276431-3092-4C4D-81CD-6956FC2EBFC5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9116BE99-9146-448F-BBDD-5ACC3214B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定理的证明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DE6332EA-ACB2-485A-AC72-2D21C8E460B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-252413" y="1196975"/>
          <a:ext cx="8167688" cy="467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文档" r:id="rId4" imgW="4149327" imgH="2373207" progId="Word.Document.8">
                  <p:embed/>
                </p:oleObj>
              </mc:Choice>
              <mc:Fallback>
                <p:oleObj name="文档" r:id="rId4" imgW="4149327" imgH="2373207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52413" y="1196975"/>
                        <a:ext cx="8167688" cy="467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707C14-9AA9-4154-8780-C8EF5285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7535B7-7ADB-4F03-95A0-1001C3EF198B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7236A9AD-A05B-49DA-BD76-BA09BC856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4925" y="765175"/>
          <a:ext cx="8558213" cy="599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Document" r:id="rId4" imgW="5077526" imgH="3552661" progId="Word.Document.8">
                  <p:embed/>
                </p:oleObj>
              </mc:Choice>
              <mc:Fallback>
                <p:oleObj name="Document" r:id="rId4" imgW="5077526" imgH="355266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4925" y="765175"/>
                        <a:ext cx="8558213" cy="599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>
            <a:extLst>
              <a:ext uri="{FF2B5EF4-FFF2-40B4-BE49-F238E27FC236}">
                <a16:creationId xmlns:a16="http://schemas.microsoft.com/office/drawing/2014/main" id="{2871376C-DD09-49DB-B1DD-623816A63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求解实例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34A71-1F83-4ECA-B066-43B7040F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C5B6CB-5154-44F2-A7C9-A8835BA258A0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A7CFBD7A-6B43-4A25-AEF1-1BA29EE39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1273175"/>
          <a:ext cx="6530975" cy="415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Document" r:id="rId4" imgW="3223493" imgH="2053551" progId="Word.Document.8">
                  <p:embed/>
                </p:oleObj>
              </mc:Choice>
              <mc:Fallback>
                <p:oleObj name="Document" r:id="rId4" imgW="3223493" imgH="205355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1273175"/>
                        <a:ext cx="6530975" cy="415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>
            <a:extLst>
              <a:ext uri="{FF2B5EF4-FFF2-40B4-BE49-F238E27FC236}">
                <a16:creationId xmlns:a16="http://schemas.microsoft.com/office/drawing/2014/main" id="{5486808D-B286-4C70-92BB-EC4B1A6C0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有重根下求解中的问题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2B3B12-8874-4E0B-89C0-8309F0FF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5CDC6F-EF28-44A2-A7D5-24AF339F3C7E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A7687324-7CA5-4F7A-B326-E45637F3F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268413"/>
          <a:ext cx="8694738" cy="444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Document" r:id="rId4" imgW="4182024" imgH="2145539" progId="Word.Document.8">
                  <p:embed/>
                </p:oleObj>
              </mc:Choice>
              <mc:Fallback>
                <p:oleObj name="Document" r:id="rId4" imgW="4182024" imgH="214553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68413"/>
                        <a:ext cx="8694738" cy="444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>
            <a:extLst>
              <a:ext uri="{FF2B5EF4-FFF2-40B4-BE49-F238E27FC236}">
                <a16:creationId xmlns:a16="http://schemas.microsoft.com/office/drawing/2014/main" id="{4F2C16C7-F933-44E4-817D-708679DAB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有重根下的通解结构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850C65-E85B-44D1-B884-47B94732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8C2D67-258C-429D-A491-2930BA48043D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43204F7B-3D60-4ED7-98D1-08AFE4E92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625" y="1268413"/>
          <a:ext cx="7880350" cy="483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Document" r:id="rId4" imgW="4416552" imgH="2711118" progId="Word.Document.8">
                  <p:embed/>
                </p:oleObj>
              </mc:Choice>
              <mc:Fallback>
                <p:oleObj name="Document" r:id="rId4" imgW="4416552" imgH="271111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" y="1268413"/>
                        <a:ext cx="7880350" cy="483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>
            <a:extLst>
              <a:ext uri="{FF2B5EF4-FFF2-40B4-BE49-F238E27FC236}">
                <a16:creationId xmlns:a16="http://schemas.microsoft.com/office/drawing/2014/main" id="{118F5227-C36D-455C-9ECE-2D48FFA77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求解实例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294FDB-807D-4159-BBD9-679C5382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3663" y="630872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E9CF69-7983-4E9C-94C5-8457EAAD98ED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6573801-B5A6-4192-9BA5-3D381779E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" y="260648"/>
            <a:ext cx="867568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常系数线性非齐次递推方程求解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FED61DF-2F1F-428E-A677-0B3BBCEE4B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/>
            <a:r>
              <a:rPr lang="zh-CN" altLang="en-US" b="1"/>
              <a:t>递推方程的标准型</a:t>
            </a:r>
          </a:p>
          <a:p>
            <a:pPr marL="533400" indent="-533400" eaLnBrk="1" hangingPunct="1"/>
            <a:r>
              <a:rPr lang="zh-CN" altLang="en-US" b="1"/>
              <a:t>通解结构</a:t>
            </a:r>
          </a:p>
          <a:p>
            <a:pPr marL="533400" indent="-533400" eaLnBrk="1" hangingPunct="1"/>
            <a:r>
              <a:rPr lang="zh-CN" altLang="en-US" b="1"/>
              <a:t>特解的求法</a:t>
            </a:r>
          </a:p>
          <a:p>
            <a:pPr marL="952500" lvl="1" indent="-495300" eaLnBrk="1" hangingPunct="1"/>
            <a:r>
              <a:rPr lang="zh-CN" altLang="en-US" b="1"/>
              <a:t>多项式函数</a:t>
            </a:r>
          </a:p>
          <a:p>
            <a:pPr marL="952500" lvl="1" indent="-495300" eaLnBrk="1" hangingPunct="1"/>
            <a:r>
              <a:rPr lang="zh-CN" altLang="en-US" b="1"/>
              <a:t>指数函数</a:t>
            </a:r>
          </a:p>
          <a:p>
            <a:pPr marL="952500" lvl="1" indent="-495300" eaLnBrk="1" hangingPunct="1"/>
            <a:r>
              <a:rPr lang="zh-CN" altLang="en-US" b="1"/>
              <a:t>组合形式</a:t>
            </a:r>
          </a:p>
          <a:p>
            <a:pPr marL="533400" indent="-533400" eaLnBrk="1" hangingPunct="1"/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2EB60B-55FD-474E-BBCF-B19E04E9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783761-780B-4C24-836E-A76E2A6EA51C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5954F2CD-1003-44EE-A5C5-46B34084A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19" y="136525"/>
            <a:ext cx="8208962" cy="6492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递推方程的标准型及通解 </a:t>
            </a:r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38062B07-8E5E-424A-B90C-BE18F5D0449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649829"/>
              </p:ext>
            </p:extLst>
          </p:nvPr>
        </p:nvGraphicFramePr>
        <p:xfrm>
          <a:off x="68263" y="696913"/>
          <a:ext cx="8896350" cy="555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Document" r:id="rId4" imgW="4723691" imgH="2948656" progId="Word.Document.8">
                  <p:embed/>
                </p:oleObj>
              </mc:Choice>
              <mc:Fallback>
                <p:oleObj name="Document" r:id="rId4" imgW="4723691" imgH="2948656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3" y="696913"/>
                        <a:ext cx="8896350" cy="555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790365-1F19-4524-8589-7B62BCDA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D78FAEB-7A54-4FBE-8C80-A84488C1C70A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F8F683C0-F2CD-42D1-AD7E-BE43F40F3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07950" y="1052513"/>
          <a:ext cx="8505825" cy="529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Document" r:id="rId4" imgW="4807558" imgH="2996424" progId="Word.Document.8">
                  <p:embed/>
                </p:oleObj>
              </mc:Choice>
              <mc:Fallback>
                <p:oleObj name="Document" r:id="rId4" imgW="4807558" imgH="299642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7950" y="1052513"/>
                        <a:ext cx="8505825" cy="529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>
            <a:extLst>
              <a:ext uri="{FF2B5EF4-FFF2-40B4-BE49-F238E27FC236}">
                <a16:creationId xmlns:a16="http://schemas.microsoft.com/office/drawing/2014/main" id="{A9314354-0797-4664-899D-4E0A0CFB4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特解的求法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037055-AE29-4E12-A853-84FD2BF8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B8C2D7-964E-4571-9CCC-DC746B397969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3362AC45-361E-404E-A5EB-73C64C173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52413" y="1196975"/>
          <a:ext cx="9031288" cy="529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文档" r:id="rId4" imgW="4644866" imgH="2718001" progId="Word.Document.8">
                  <p:embed/>
                </p:oleObj>
              </mc:Choice>
              <mc:Fallback>
                <p:oleObj name="文档" r:id="rId4" imgW="4644866" imgH="271800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52413" y="1196975"/>
                        <a:ext cx="9031288" cy="529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3">
            <a:extLst>
              <a:ext uri="{FF2B5EF4-FFF2-40B4-BE49-F238E27FC236}">
                <a16:creationId xmlns:a16="http://schemas.microsoft.com/office/drawing/2014/main" id="{A99B2692-B5FB-4B9F-AA33-7C9AA1301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1F8CCC-0E96-4074-A477-7909210F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433DD4-B704-4E58-907B-7C101815FA04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40638E19-2112-48EE-9BAE-773346E8E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196975"/>
          <a:ext cx="7632700" cy="423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文档" r:id="rId4" imgW="3880923" imgH="2152517" progId="Word.Document.8">
                  <p:embed/>
                </p:oleObj>
              </mc:Choice>
              <mc:Fallback>
                <p:oleObj name="文档" r:id="rId4" imgW="3880923" imgH="215251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96975"/>
                        <a:ext cx="7632700" cy="423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">
            <a:extLst>
              <a:ext uri="{FF2B5EF4-FFF2-40B4-BE49-F238E27FC236}">
                <a16:creationId xmlns:a16="http://schemas.microsoft.com/office/drawing/2014/main" id="{1F55F37A-170A-4E8F-B579-AD8F3DF90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635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特解的求法（续）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3078A-A8E5-46BC-9152-982D17DA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AF7C58-296A-46F7-AAA7-0F3E0C779109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3D16AB68-69CB-403E-B1EE-499B1E89F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341438"/>
          <a:ext cx="7739062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Document" r:id="rId4" imgW="3796969" imgH="2071158" progId="Word.Document.8">
                  <p:embed/>
                </p:oleObj>
              </mc:Choice>
              <mc:Fallback>
                <p:oleObj name="Document" r:id="rId4" imgW="3796969" imgH="207115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341438"/>
                        <a:ext cx="7739062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>
            <a:extLst>
              <a:ext uri="{FF2B5EF4-FFF2-40B4-BE49-F238E27FC236}">
                <a16:creationId xmlns:a16="http://schemas.microsoft.com/office/drawing/2014/main" id="{1433A1BC-06B6-42C1-BED2-3181ABFF2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特解的求法（续）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AF06D3-F19F-4705-A431-0C3B852D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989342-CE43-4938-A442-941AED7816E3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2AFEE33B-B8B4-4420-B044-F5C3A1DCEE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754063" y="1196975"/>
          <a:ext cx="8504238" cy="544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Document" r:id="rId4" imgW="4135319" imgH="2641409" progId="Word.Document.8">
                  <p:embed/>
                </p:oleObj>
              </mc:Choice>
              <mc:Fallback>
                <p:oleObj name="Document" r:id="rId4" imgW="4135319" imgH="264140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54063" y="1196975"/>
                        <a:ext cx="8504238" cy="544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3">
            <a:extLst>
              <a:ext uri="{FF2B5EF4-FFF2-40B4-BE49-F238E27FC236}">
                <a16:creationId xmlns:a16="http://schemas.microsoft.com/office/drawing/2014/main" id="{105EC36E-0C8C-490C-AE68-527C8E5D2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特解的求法（续）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71A3DE-CCA1-4F7F-8CFE-6ECEA181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0F9E60-F975-46D4-A44F-93C151215FC2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9E33EF1-A28B-4F4B-87BB-2FA33178C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计数排列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的逆序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en-US" altLang="zh-CN" sz="4000" b="1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endParaRPr lang="en-US" altLang="zh-CN" sz="40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E056920-DDA9-4598-8129-2F53A4D090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1831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算法：基于二分归并排序的算法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1. </a:t>
            </a:r>
            <a:r>
              <a:rPr lang="en-US" altLang="zh-CN" sz="2400" b="1" i="1">
                <a:latin typeface="Times New Roman" panose="02020603050405020304" pitchFamily="18" charset="0"/>
              </a:rPr>
              <a:t>count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0; </a:t>
            </a:r>
            <a:r>
              <a:rPr lang="zh-CN" altLang="en-US" sz="2400" b="1">
                <a:latin typeface="Times New Roman" panose="02020603050405020304" pitchFamily="18" charset="0"/>
              </a:rPr>
              <a:t>将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zh-CN" altLang="en-US" sz="2400" b="1">
                <a:latin typeface="Times New Roman" panose="02020603050405020304" pitchFamily="18" charset="0"/>
              </a:rPr>
              <a:t>划分成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；  </a:t>
            </a:r>
            <a:r>
              <a:rPr lang="en-US" altLang="zh-CN" sz="2400" b="1">
                <a:latin typeface="Times New Roman" panose="02020603050405020304" pitchFamily="18" charset="0"/>
              </a:rPr>
              <a:t>/*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[1..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/2], 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/2+1..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2. </a:t>
            </a:r>
            <a:r>
              <a:rPr lang="zh-CN" altLang="en-US" sz="2400" b="1">
                <a:latin typeface="Times New Roman" panose="02020603050405020304" pitchFamily="18" charset="0"/>
              </a:rPr>
              <a:t>递归处理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3. while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</a:rPr>
              <a:t>next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null and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next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null  do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sz="2400" b="1">
                <a:latin typeface="Times New Roman" panose="02020603050405020304" pitchFamily="18" charset="0"/>
              </a:rPr>
              <a:t>if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</a:rPr>
              <a:t>key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</a:rPr>
              <a:t>key</a:t>
            </a:r>
            <a:r>
              <a:rPr lang="en-US" altLang="zh-CN" sz="2400" b="1">
                <a:latin typeface="Times New Roman" panose="02020603050405020304" pitchFamily="18" charset="0"/>
              </a:rPr>
              <a:t>  then  /*</a:t>
            </a:r>
            <a:r>
              <a:rPr lang="en-US" altLang="zh-CN" sz="2400" b="1" i="1">
                <a:latin typeface="Times New Roman" panose="02020603050405020304" pitchFamily="18" charset="0"/>
              </a:rPr>
              <a:t>p,q</a:t>
            </a:r>
            <a:r>
              <a:rPr lang="zh-CN" altLang="en-US" sz="2400" b="1">
                <a:latin typeface="Times New Roman" panose="02020603050405020304" pitchFamily="18" charset="0"/>
              </a:rPr>
              <a:t>分别指向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首元素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5.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count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>
                <a:latin typeface="Times New Roman" panose="02020603050405020304" pitchFamily="18" charset="0"/>
              </a:rPr>
              <a:t>count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</a:rPr>
              <a:t>num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)   /*</a:t>
            </a:r>
            <a:r>
              <a:rPr lang="en-US" altLang="zh-CN" sz="2400" b="1" i="1">
                <a:latin typeface="Times New Roman" panose="02020603050405020304" pitchFamily="18" charset="0"/>
              </a:rPr>
              <a:t>num</a:t>
            </a:r>
            <a:r>
              <a:rPr lang="zh-CN" altLang="en-US" sz="2400" b="1">
                <a:latin typeface="Times New Roman" panose="02020603050405020304" pitchFamily="18" charset="0"/>
              </a:rPr>
              <a:t>为当前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元素数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6.          </a:t>
            </a:r>
            <a:r>
              <a:rPr lang="zh-CN" altLang="en-US" sz="2400" b="1">
                <a:latin typeface="Times New Roman" panose="02020603050405020304" pitchFamily="18" charset="0"/>
              </a:rPr>
              <a:t>移走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zh-CN" altLang="en-US" sz="2400" b="1">
                <a:latin typeface="Times New Roman" panose="02020603050405020304" pitchFamily="18" charset="0"/>
              </a:rPr>
              <a:t>指向的元素；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next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7.  else  </a:t>
            </a:r>
            <a:r>
              <a:rPr lang="zh-CN" altLang="en-US" sz="2400" b="1">
                <a:latin typeface="Times New Roman" panose="02020603050405020304" pitchFamily="18" charset="0"/>
              </a:rPr>
              <a:t>移走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指向的元素；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next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8. if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2400" b="1" i="1">
                <a:latin typeface="Times New Roman" panose="02020603050405020304" pitchFamily="18" charset="0"/>
              </a:rPr>
              <a:t>next</a:t>
            </a:r>
            <a:r>
              <a:rPr lang="en-US" altLang="zh-CN" sz="2400" b="1">
                <a:latin typeface="Times New Roman" panose="02020603050405020304" pitchFamily="18" charset="0"/>
              </a:rPr>
              <a:t>=null then </a:t>
            </a:r>
            <a:r>
              <a:rPr lang="zh-CN" altLang="en-US" sz="2400" b="1">
                <a:latin typeface="Times New Roman" panose="02020603050405020304" pitchFamily="18" charset="0"/>
              </a:rPr>
              <a:t>将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的剩下的全体元素接在后面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9. else </a:t>
            </a:r>
            <a:r>
              <a:rPr lang="zh-CN" altLang="en-US" sz="2400" b="1">
                <a:latin typeface="Times New Roman" panose="02020603050405020304" pitchFamily="18" charset="0"/>
              </a:rPr>
              <a:t>将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的剩下的全体元素接在后面 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10.  </a:t>
            </a:r>
            <a:r>
              <a:rPr lang="zh-CN" altLang="en-US" sz="2400" b="1">
                <a:latin typeface="Times New Roman" panose="02020603050405020304" pitchFamily="18" charset="0"/>
              </a:rPr>
              <a:t>将排好序的全体元素放回到 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zh-CN" altLang="en-US" sz="2400" b="1">
                <a:latin typeface="Times New Roman" panose="02020603050405020304" pitchFamily="18" charset="0"/>
              </a:rPr>
              <a:t>中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)=2</a:t>
            </a:r>
            <a:r>
              <a:rPr lang="en-US" altLang="zh-CN" sz="2400" b="1" i="1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/2)+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log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D68343-D2BB-4C5A-86C9-23D97388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1697EF-0BD0-4B19-A6FD-E3973915E7F5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3322</TotalTime>
  <Words>766</Words>
  <Application>Microsoft Office PowerPoint</Application>
  <PresentationFormat>全屏显示(4:3)</PresentationFormat>
  <Paragraphs>146</Paragraphs>
  <Slides>25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Times New Roman</vt:lpstr>
      <vt:lpstr>Wingdings</vt:lpstr>
      <vt:lpstr>Wingdings 2</vt:lpstr>
      <vt:lpstr>代数结构PPT</vt:lpstr>
      <vt:lpstr>Document</vt:lpstr>
      <vt:lpstr>公式</vt:lpstr>
      <vt:lpstr>文档</vt:lpstr>
      <vt:lpstr>Microsoft Word 97 - 2003 文档</vt:lpstr>
      <vt:lpstr>第二十二章  组合计数方法</vt:lpstr>
      <vt:lpstr>22.1 递推方程的公式解法</vt:lpstr>
      <vt:lpstr>递推方程的定义</vt:lpstr>
      <vt:lpstr>组合数：Fibnacci数</vt:lpstr>
      <vt:lpstr>递推方程的实例</vt:lpstr>
      <vt:lpstr>递推方程的实例（续）</vt:lpstr>
      <vt:lpstr>常系数线性齐次递推方程</vt:lpstr>
      <vt:lpstr>公式解法</vt:lpstr>
      <vt:lpstr>特征方程与特征根</vt:lpstr>
      <vt:lpstr>方程解与特征根的关系</vt:lpstr>
      <vt:lpstr>解的线性性质</vt:lpstr>
      <vt:lpstr>无重根下通解的结构</vt:lpstr>
      <vt:lpstr>定理的证明</vt:lpstr>
      <vt:lpstr>求解实例</vt:lpstr>
      <vt:lpstr>有重根下求解中的问题</vt:lpstr>
      <vt:lpstr>有重根下的通解结构</vt:lpstr>
      <vt:lpstr>求解实例</vt:lpstr>
      <vt:lpstr>常系数线性非齐次递推方程求解</vt:lpstr>
      <vt:lpstr>递推方程的标准型及通解 </vt:lpstr>
      <vt:lpstr>特解的求法</vt:lpstr>
      <vt:lpstr>实例</vt:lpstr>
      <vt:lpstr>特解的求法（续）</vt:lpstr>
      <vt:lpstr>特解的求法（续）</vt:lpstr>
      <vt:lpstr>特解的求法（续）</vt:lpstr>
      <vt:lpstr>计数排列L的逆序, n=2k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326</cp:revision>
  <dcterms:created xsi:type="dcterms:W3CDTF">2005-12-02T07:25:32Z</dcterms:created>
  <dcterms:modified xsi:type="dcterms:W3CDTF">2020-08-09T06:37:22Z</dcterms:modified>
</cp:coreProperties>
</file>