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4"/>
  </p:notesMasterIdLst>
  <p:sldIdLst>
    <p:sldId id="288" r:id="rId2"/>
    <p:sldId id="289" r:id="rId3"/>
    <p:sldId id="290" r:id="rId4"/>
    <p:sldId id="331" r:id="rId5"/>
    <p:sldId id="292" r:id="rId6"/>
    <p:sldId id="293" r:id="rId7"/>
    <p:sldId id="294" r:id="rId8"/>
    <p:sldId id="333" r:id="rId9"/>
    <p:sldId id="295" r:id="rId10"/>
    <p:sldId id="296" r:id="rId11"/>
    <p:sldId id="334" r:id="rId12"/>
    <p:sldId id="297" r:id="rId13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3231" autoAdjust="0"/>
  </p:normalViewPr>
  <p:slideViewPr>
    <p:cSldViewPr>
      <p:cViewPr varScale="1">
        <p:scale>
          <a:sx n="80" d="100"/>
          <a:sy n="80" d="100"/>
        </p:scale>
        <p:origin x="130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B9AFEE0-02EE-492E-835B-E09B956A39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0BFEBC-AB21-4F98-92EC-EC72E3B20D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B14339A-AC3F-4DA2-83CC-473B96848730}" type="datetimeFigureOut">
              <a:rPr lang="zh-CN" altLang="en-US"/>
              <a:pPr>
                <a:defRPr/>
              </a:pPr>
              <a:t>2020/7/5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DCA428F-9C36-4A1C-872D-6F6DCFA7B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B5DB7F8-99D0-42D7-9B20-A7EB520D1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246335-0EAD-4251-B871-1EA09677E8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D9C61B-A7D3-4E67-A08B-4FAFE3180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5CDC7D16-57E8-4144-A13F-83353B8791E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065C89FF-3D83-4F99-AB0C-8CF445D4A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BC08EB-51CB-454A-8D42-295B1FF07311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26EFF6F-DAE5-46C0-999B-6F3A25797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39F28D55-652A-4C55-A640-5B36E317D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117A2CBC-CC3D-43D2-84E0-63C1A58671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8EE374-5CFC-465F-8702-69420748C4DB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3C92995-9750-4392-AA49-73B5591823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757BF63-7FE2-4B41-9D14-B3A3FBCF3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99DD749-3B15-4A05-992E-DBFB8360E6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96AB42-0D3A-447F-AC94-7DA864DCD327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4C1D7C3-2C10-4FBC-BE6B-2C42038976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BDCB678-9C81-459C-9B47-F310E135E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6813B61-F6E8-4178-B07E-7AB2A49942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DE1B879-A9D6-42EC-AF73-57E8A2FA881F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109841C-66F0-48D3-8AD1-35DE6253FA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4D56217-A267-43A0-A24F-132381A58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60917CF-3DC6-481D-8082-69E2848B1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75A1CF-E9F0-4094-A2D0-7F2E78D625C3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A06D1FC-97D2-4063-BA44-C3675FE23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5EFB4C9-4B5B-458A-849D-5AF4E4983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ECAB86A-55F0-4800-8C93-E68776625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42DDD6-F9B4-4239-9BB9-E6251E308C51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62AE100-2F3F-412E-8E38-3B1336A9B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C5BF255-1197-4529-9C06-2B27BD0AE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C2642EE-73AE-4E39-9D96-E24D7B50F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2F3431-EFA2-4BE5-99D5-D21D657CC4FB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7D25FBE-A836-4251-B794-16CFFAD3DF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DB0FBFEC-C745-47F8-BEB1-24C43A649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24A1C26-AC2E-4998-BC3A-5E9D2D6BCC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11F267-4DF4-408E-97DA-8CD7D30942CB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D17DF1E-31E8-41D5-B894-D2B0625C6F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8B6A8A5-E8E2-46B6-8D33-C19DAC1C20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22CA9B61-48FE-403D-999C-84D839747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5EC856-4843-4269-A75B-1EB6DA101915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9E48BDD4-DA92-4EAE-AD9B-E15A4FFF8A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53D04AD-FB6A-4F18-B7BC-42623F407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5D24592-5BE8-4873-841B-C1FFDE3C40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4BCFBC3-77FA-4921-96B9-D188C8584FBC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305A9C4-3D85-4A75-A0A5-8228E3C1C2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1FDEB624-90CE-4B3A-B63C-9FFF73481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83D3832-5F8A-491D-9D05-B50D2E77F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89916F-42CC-4931-AF19-B08A768DAD1E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A63CF0C-4095-4839-93A2-53C1B53DBD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385B2D79-0210-41B9-9A04-DB2EB4D0B0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EBECFA-FE73-45AF-9C00-64E50B7B39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22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72B686-47BE-4247-B56D-5C50F99B149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690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FF670-459F-4586-BD2A-4F88963B198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87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00965C-E47E-4810-9A49-2A2FA022D64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708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42FC7-0CA2-4A65-9DA5-CBCCAFF291A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07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FB07B-722E-426F-A703-21D916A15E2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8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A9CA7-0405-4C10-97DF-F64F59D7E92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853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98861-5644-42B6-B44A-69487165C10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407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1EDF69-76C1-44F7-B687-81C67E21B16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444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2F8FC-4C2F-43B4-9866-801285F88FA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58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770D-A72E-4E9F-ACFD-A32D8F865F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302990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E770D-A72E-4E9F-ACFD-A32D8F865F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564262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BC6CD162-8E4F-4E9D-8E7C-FA36CDBD7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08BE322F-9EA5-465F-9BAD-529B304A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D593AE1-8593-429D-9C23-E06DA373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1A549-F389-4247-920F-DCF8BAB2C0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933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546E770D-A72E-4E9F-ACFD-A32D8F865F7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845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F300D20-3367-4A13-B327-462F11D4D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15.2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代数系统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D381EBB-FF61-40C0-98C1-A81BFD366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7772400" cy="5113337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代数系统的定义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构成成分、公理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 dirty="0"/>
              <a:t>代数系统的分类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同类型的代数系统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  </a:t>
            </a:r>
            <a:r>
              <a:rPr lang="zh-CN" altLang="en-US" b="1" dirty="0"/>
              <a:t>同种的代数系统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2800" b="1" dirty="0"/>
              <a:t>构造代数系统的方法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/>
              <a:t>        子代数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      </a:t>
            </a:r>
            <a:r>
              <a:rPr lang="zh-CN" altLang="en-US" b="1" dirty="0"/>
              <a:t>积代数</a:t>
            </a:r>
          </a:p>
        </p:txBody>
      </p:sp>
      <p:sp>
        <p:nvSpPr>
          <p:cNvPr id="26628" name="灯片编号占位符 3">
            <a:extLst>
              <a:ext uri="{FF2B5EF4-FFF2-40B4-BE49-F238E27FC236}">
                <a16:creationId xmlns:a16="http://schemas.microsoft.com/office/drawing/2014/main" id="{9F04B16E-02F8-404E-89D8-5A99571E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A4958D-DD83-4FA2-968A-2578E8E3B3E9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6">
            <a:extLst>
              <a:ext uri="{FF2B5EF4-FFF2-40B4-BE49-F238E27FC236}">
                <a16:creationId xmlns:a16="http://schemas.microsoft.com/office/drawing/2014/main" id="{144DC200-BD38-4B4A-AB9D-C3AACCE8A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07413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代数系统构成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成分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公理</a:t>
            </a:r>
          </a:p>
        </p:txBody>
      </p:sp>
      <p:sp>
        <p:nvSpPr>
          <p:cNvPr id="4106" name="灯片编号占位符 13">
            <a:extLst>
              <a:ext uri="{FF2B5EF4-FFF2-40B4-BE49-F238E27FC236}">
                <a16:creationId xmlns:a16="http://schemas.microsoft.com/office/drawing/2014/main" id="{DD5CC619-DA18-47DB-911E-07370110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8EFB80-3655-429F-A1C6-1D0BA1739BC2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E69A71F6-0C9C-4750-B5B4-1095398EA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30" name="Rectangle 8">
            <a:extLst>
              <a:ext uri="{FF2B5EF4-FFF2-40B4-BE49-F238E27FC236}">
                <a16:creationId xmlns:a16="http://schemas.microsoft.com/office/drawing/2014/main" id="{E399082A-E328-43D4-8563-EAA4D8E2E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31" name="Group 20">
            <a:extLst>
              <a:ext uri="{FF2B5EF4-FFF2-40B4-BE49-F238E27FC236}">
                <a16:creationId xmlns:a16="http://schemas.microsoft.com/office/drawing/2014/main" id="{FC0D4539-A2B2-489C-8127-D9EEBE3D8671}"/>
              </a:ext>
            </a:extLst>
          </p:cNvPr>
          <p:cNvGrpSpPr>
            <a:grpSpLocks/>
          </p:cNvGrpSpPr>
          <p:nvPr/>
        </p:nvGrpSpPr>
        <p:grpSpPr bwMode="auto">
          <a:xfrm>
            <a:off x="682625" y="1268413"/>
            <a:ext cx="7496175" cy="2314575"/>
            <a:chOff x="516" y="1034"/>
            <a:chExt cx="4722" cy="1458"/>
          </a:xfrm>
        </p:grpSpPr>
        <p:sp>
          <p:nvSpPr>
            <p:cNvPr id="1037" name="Rectangle 3">
              <a:extLst>
                <a:ext uri="{FF2B5EF4-FFF2-40B4-BE49-F238E27FC236}">
                  <a16:creationId xmlns:a16="http://schemas.microsoft.com/office/drawing/2014/main" id="{47017551-E208-4ACF-8854-303DFB97B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" y="1034"/>
              <a:ext cx="4722" cy="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8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记法一</a:t>
              </a:r>
              <a:r>
                <a:rPr lang="zh-CN" altLang="en-US" sz="2800" b="1"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V </a:t>
              </a:r>
              <a:r>
                <a:rPr lang="en-US" altLang="zh-CN" sz="2800" b="1">
                  <a:latin typeface="Times New Roman" panose="02020603050405020304" pitchFamily="18" charset="0"/>
                </a:rPr>
                <a:t>= &lt;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800" b="1">
                  <a:latin typeface="Times New Roman" panose="02020603050405020304" pitchFamily="18" charset="0"/>
                </a:rPr>
                <a:t>&gt;,  </a:t>
              </a:r>
            </a:p>
            <a:p>
              <a:pPr eaLnBrk="1" hangingPunct="1">
                <a:spcBef>
                  <a:spcPts val="600"/>
                </a:spcBef>
              </a:pPr>
              <a:r>
                <a:rPr lang="en-US" altLang="zh-CN" sz="2800" b="1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：载体，非空   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：运算集，非空，</a:t>
              </a:r>
            </a:p>
            <a:p>
              <a:pPr eaLnBrk="1" hangingPunct="1"/>
              <a:r>
                <a:rPr lang="zh-CN" altLang="en-US" sz="2800" b="1">
                  <a:latin typeface="Times New Roman" panose="02020603050405020304" pitchFamily="18" charset="0"/>
                </a:rPr>
                <a:t>  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K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：代数常数集，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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K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endParaRPr lang="en-US" altLang="zh-CN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7" name="Object 10">
              <a:extLst>
                <a:ext uri="{FF2B5EF4-FFF2-40B4-BE49-F238E27FC236}">
                  <a16:creationId xmlns:a16="http://schemas.microsoft.com/office/drawing/2014/main" id="{FF31A0E8-D62E-49C5-A61B-55245F2267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4" y="1894"/>
            <a:ext cx="909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公式" r:id="rId4" imgW="698400" imgH="457200" progId="Equation.3">
                    <p:embed/>
                  </p:oleObj>
                </mc:Choice>
                <mc:Fallback>
                  <p:oleObj name="公式" r:id="rId4" imgW="698400" imgH="4572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" y="1894"/>
                          <a:ext cx="909" cy="5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B1DB7BF9-2DC6-42E8-8CD6-95C1BB036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1984"/>
              <a:ext cx="32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={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|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为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上的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j 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元运算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}</a:t>
              </a:r>
            </a:p>
          </p:txBody>
        </p:sp>
      </p:grpSp>
      <p:grpSp>
        <p:nvGrpSpPr>
          <p:cNvPr id="1032" name="Group 21">
            <a:extLst>
              <a:ext uri="{FF2B5EF4-FFF2-40B4-BE49-F238E27FC236}">
                <a16:creationId xmlns:a16="http://schemas.microsoft.com/office/drawing/2014/main" id="{197ECA06-FFB0-4D67-9A98-70CB23F828DB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860800"/>
            <a:ext cx="7721600" cy="1495425"/>
            <a:chOff x="567" y="2200"/>
            <a:chExt cx="4864" cy="942"/>
          </a:xfrm>
        </p:grpSpPr>
        <p:graphicFrame>
          <p:nvGraphicFramePr>
            <p:cNvPr id="1026" name="Object 4">
              <a:extLst>
                <a:ext uri="{FF2B5EF4-FFF2-40B4-BE49-F238E27FC236}">
                  <a16:creationId xmlns:a16="http://schemas.microsoft.com/office/drawing/2014/main" id="{66BE1A13-E7F6-4EC0-8AFE-77351D2179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5" y="2563"/>
            <a:ext cx="880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公式" r:id="rId6" imgW="698400" imgH="457200" progId="Equation.3">
                    <p:embed/>
                  </p:oleObj>
                </mc:Choice>
                <mc:Fallback>
                  <p:oleObj name="公式" r:id="rId6" imgW="698400" imgH="457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5" y="2563"/>
                          <a:ext cx="880" cy="5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5" name="Rectangle 5">
              <a:extLst>
                <a:ext uri="{FF2B5EF4-FFF2-40B4-BE49-F238E27FC236}">
                  <a16:creationId xmlns:a16="http://schemas.microsoft.com/office/drawing/2014/main" id="{680BDCCD-0A6B-4A30-9D03-02DB4261C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641"/>
              <a:ext cx="32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={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|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r>
                <a:rPr lang="en-US" altLang="zh-CN" sz="2800" b="1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j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为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上的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j </a:t>
              </a:r>
              <a:r>
                <a:rPr lang="zh-CN" altLang="en-US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元运算</a:t>
              </a:r>
              <a:r>
                <a:rPr lang="en-US" altLang="zh-CN" sz="2800" b="1">
                  <a:latin typeface="Times New Roman" panose="02020603050405020304" pitchFamily="18" charset="0"/>
                  <a:sym typeface="Symbol" panose="05050102010706020507" pitchFamily="18" charset="2"/>
                </a:rPr>
                <a:t>}</a:t>
              </a:r>
            </a:p>
          </p:txBody>
        </p:sp>
        <p:sp>
          <p:nvSpPr>
            <p:cNvPr id="1036" name="Rectangle 13">
              <a:extLst>
                <a:ext uri="{FF2B5EF4-FFF2-40B4-BE49-F238E27FC236}">
                  <a16:creationId xmlns:a16="http://schemas.microsoft.com/office/drawing/2014/main" id="{B0A0543E-48CF-4B79-98E3-1E5A3248A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200"/>
              <a:ext cx="4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</a:pPr>
              <a:r>
                <a:rPr lang="zh-CN" altLang="en-US" sz="2800" b="1">
                  <a:solidFill>
                    <a:srgbClr val="80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记法二</a:t>
              </a:r>
              <a:r>
                <a:rPr lang="zh-CN" altLang="en-US" sz="2800" b="1">
                  <a:latin typeface="Times New Roman" panose="02020603050405020304" pitchFamily="18" charset="0"/>
                </a:rPr>
                <a:t>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V </a:t>
              </a:r>
              <a:r>
                <a:rPr lang="en-US" altLang="zh-CN" sz="2800" b="1">
                  <a:latin typeface="Times New Roman" panose="02020603050405020304" pitchFamily="18" charset="0"/>
                </a:rPr>
                <a:t>= &lt;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r>
                <a:rPr lang="en-US" altLang="zh-CN" sz="2800" b="1">
                  <a:latin typeface="Times New Roman" panose="02020603050405020304" pitchFamily="18" charset="0"/>
                </a:rPr>
                <a:t>&gt;, </a:t>
              </a:r>
              <a:r>
                <a:rPr lang="zh-CN" altLang="en-US" sz="2800" b="1">
                  <a:latin typeface="Times New Roman" panose="02020603050405020304" pitchFamily="18" charset="0"/>
                </a:rPr>
                <a:t>其中</a:t>
              </a:r>
              <a:endParaRPr lang="zh-CN" altLang="en-US" sz="280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033" name="Rectangle 17">
            <a:extLst>
              <a:ext uri="{FF2B5EF4-FFF2-40B4-BE49-F238E27FC236}">
                <a16:creationId xmlns:a16="http://schemas.microsoft.com/office/drawing/2014/main" id="{C8F816DB-31F6-4D19-9C7D-631D4CD88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445125"/>
            <a:ext cx="772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记法三</a:t>
            </a:r>
            <a:r>
              <a:rPr lang="zh-CN" altLang="en-US" sz="2800" b="1">
                <a:latin typeface="Times New Roman" panose="02020603050405020304" pitchFamily="18" charset="0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</a:rPr>
              <a:t>V </a:t>
            </a:r>
            <a:r>
              <a:rPr lang="en-US" altLang="zh-CN" sz="2800" b="1">
                <a:latin typeface="Times New Roman" panose="02020603050405020304" pitchFamily="18" charset="0"/>
              </a:rPr>
              <a:t>= &lt;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o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o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/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o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800" b="1">
                <a:latin typeface="Times New Roman" panose="02020603050405020304" pitchFamily="18" charset="0"/>
              </a:rPr>
              <a:t>&gt;</a:t>
            </a:r>
            <a:endParaRPr lang="en-US" altLang="zh-CN" sz="28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5087F2A-F781-46A0-8882-64EF1108D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代数系统的实例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8F13AEE-6E62-4FCF-992D-053A71494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96975"/>
            <a:ext cx="7772400" cy="5054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&lt;Z, +,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</a:rPr>
              <a:t>&gt;, &lt;Q, + 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</a:rPr>
              <a:t>&gt;, &lt;R, + 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</a:rPr>
              <a:t>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(R), +,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="1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</a:rPr>
              <a:t>),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b="1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&lt;{0,1},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&lt;Z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800" b="1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</a:t>
            </a:r>
            <a:r>
              <a:rPr lang="en-US" altLang="zh-CN" sz="2800" b="1" i="1">
                <a:latin typeface="Times New Roman" panose="02020603050405020304" pitchFamily="18" charset="0"/>
              </a:rPr>
              <a:t>   </a:t>
            </a:r>
            <a:r>
              <a:rPr lang="en-US" altLang="zh-CN" sz="2800" b="1">
                <a:latin typeface="Times New Roman" panose="02020603050405020304" pitchFamily="18" charset="0"/>
              </a:rPr>
              <a:t>Z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 = {0, 1,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-1}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</a:rPr>
              <a:t>= (</a:t>
            </a:r>
            <a:r>
              <a:rPr lang="en-US" altLang="zh-CN" sz="2800" b="1" i="1">
                <a:latin typeface="Times New Roman" panose="02020603050405020304" pitchFamily="18" charset="0"/>
              </a:rPr>
              <a:t>x+y</a:t>
            </a:r>
            <a:r>
              <a:rPr lang="en-US" altLang="zh-CN" sz="2800" b="1">
                <a:latin typeface="Times New Roman" panose="02020603050405020304" pitchFamily="18" charset="0"/>
              </a:rPr>
              <a:t>) mod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y </a:t>
            </a:r>
            <a:r>
              <a:rPr lang="en-US" altLang="zh-CN" sz="2800" b="1">
                <a:latin typeface="Times New Roman" panose="02020603050405020304" pitchFamily="18" charset="0"/>
              </a:rPr>
              <a:t>= (</a:t>
            </a:r>
            <a:r>
              <a:rPr lang="en-US" altLang="zh-CN" sz="2800" b="1" i="1">
                <a:latin typeface="Times New Roman" panose="02020603050405020304" pitchFamily="18" charset="0"/>
              </a:rPr>
              <a:t>xy</a:t>
            </a:r>
            <a:r>
              <a:rPr lang="en-US" altLang="zh-CN" sz="2800" b="1">
                <a:latin typeface="Times New Roman" panose="02020603050405020304" pitchFamily="18" charset="0"/>
              </a:rPr>
              <a:t>) mod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30000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800" b="1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Peano </a:t>
            </a:r>
            <a:r>
              <a:rPr lang="zh-CN" altLang="en-US" sz="2800" b="1">
                <a:latin typeface="Times New Roman" panose="02020603050405020304" pitchFamily="18" charset="0"/>
              </a:rPr>
              <a:t>系统</a:t>
            </a:r>
            <a:r>
              <a:rPr lang="en-US" altLang="zh-CN" sz="2800" b="1">
                <a:latin typeface="Times New Roman" panose="02020603050405020304" pitchFamily="18" charset="0"/>
              </a:rPr>
              <a:t>&lt;</a:t>
            </a:r>
            <a:r>
              <a:rPr lang="en-US" altLang="zh-CN" sz="2800" b="1" i="1">
                <a:latin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F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endParaRPr lang="en-US" altLang="en-US" sz="2800" b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4FC9C647-32B3-43D1-9A8C-D65D6B32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E955FF-59D9-4456-A903-E18B196052CF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BAF0070-9891-4480-A970-931911FC2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代数系统的分类</a:t>
            </a:r>
            <a:endParaRPr lang="zh-CN" altLang="en-US" sz="3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45D28F-38BF-47E3-B973-0E98852BC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052513"/>
            <a:ext cx="8281987" cy="51133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同类型的</a:t>
            </a:r>
            <a:r>
              <a:rPr lang="zh-CN" altLang="en-US" sz="2400" b="1">
                <a:latin typeface="Times New Roman" panose="02020603050405020304" pitchFamily="18" charset="0"/>
              </a:rPr>
              <a:t>：构成成分相同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同种的</a:t>
            </a:r>
            <a:r>
              <a:rPr lang="zh-CN" altLang="en-US" sz="2400" b="1">
                <a:latin typeface="Times New Roman" panose="02020603050405020304" pitchFamily="18" charset="0"/>
              </a:rPr>
              <a:t>：构成成分与公理都相同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构成成份：</a:t>
            </a:r>
            <a:r>
              <a:rPr lang="zh-CN" altLang="en-US" sz="2400" b="1" i="1">
                <a:latin typeface="Times New Roman" panose="02020603050405020304" pitchFamily="18" charset="0"/>
              </a:rPr>
              <a:t>运算</a:t>
            </a:r>
            <a:r>
              <a:rPr lang="zh-CN" altLang="en-US" sz="2400" b="1">
                <a:latin typeface="Times New Roman" panose="02020603050405020304" pitchFamily="18" charset="0"/>
              </a:rPr>
              <a:t>个数，对应运算的元数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公理：交换、结合，幂等，吸收，分配，消去律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单位元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每个元素可逆，</a:t>
            </a: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实例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</a:rPr>
              <a:t>∘,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&gt;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zh-CN" altLang="en-US" sz="2400" b="1">
                <a:latin typeface="Times New Roman" panose="02020603050405020304" pitchFamily="18" charset="0"/>
              </a:rPr>
              <a:t>可结合；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zh-CN" altLang="en-US" sz="2400" b="1">
                <a:latin typeface="Times New Roman" panose="02020603050405020304" pitchFamily="18" charset="0"/>
              </a:rPr>
              <a:t>对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</a:rPr>
              <a:t>可分配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</a:rPr>
              <a:t>&lt;Z,+,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</a:rPr>
              <a:t>&gt;, &lt;Z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400" b="1">
                <a:latin typeface="Times New Roman" panose="02020603050405020304" pitchFamily="18" charset="0"/>
              </a:rPr>
              <a:t>&gt;, &lt;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(R),+,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与 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是同种的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cs typeface="Lucida Sans Unicode" panose="020B0602030504020204" pitchFamily="34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</a:rPr>
              <a:t>,∘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&gt;: 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zh-CN" altLang="en-US" sz="2400" b="1">
                <a:latin typeface="Times New Roman" panose="02020603050405020304" pitchFamily="18" charset="0"/>
              </a:rPr>
              <a:t>可交换、结合、幂等；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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zh-CN" altLang="en-US" sz="2400" b="1">
                <a:latin typeface="Times New Roman" panose="02020603050405020304" pitchFamily="18" charset="0"/>
              </a:rPr>
              <a:t>相互分配、吸收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),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>
                <a:latin typeface="Times New Roman" panose="02020603050405020304" pitchFamily="18" charset="0"/>
              </a:rPr>
              <a:t>&gt;, &lt;{0,1},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与 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是同种的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 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与 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 </a:t>
            </a:r>
            <a:r>
              <a:rPr lang="zh-CN" altLang="en-US" sz="2400" b="1">
                <a:latin typeface="Times New Roman" panose="02020603050405020304" pitchFamily="18" charset="0"/>
                <a:cs typeface="Lucida Sans Unicode" panose="020B0602030504020204" pitchFamily="34" charset="0"/>
                <a:sym typeface="Symbol" panose="05050102010706020507" pitchFamily="18" charset="2"/>
              </a:rPr>
              <a:t>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同类型的</a:t>
            </a: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8DC91D28-984E-4EBF-ABAA-BEB06431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A54BD5-2593-444A-989C-84C41E5E11D4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27F53CD-6FC8-4556-8727-9412EC156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子代数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FDE0423-FB3E-47AF-9C59-58627B2CE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341438"/>
            <a:ext cx="8353425" cy="48958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定义 </a:t>
            </a:r>
            <a:r>
              <a:rPr lang="zh-CN" altLang="en-US" sz="2400" b="1">
                <a:latin typeface="Times New Roman" panose="02020603050405020304" pitchFamily="18" charset="0"/>
              </a:rPr>
              <a:t> 设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是代数系统，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zh-CN" altLang="en-US" sz="2400" b="1"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的非空子集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zh-CN" altLang="en-US" sz="2400" b="1">
                <a:latin typeface="Times New Roman" panose="02020603050405020304" pitchFamily="18" charset="0"/>
              </a:rPr>
              <a:t>对于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中的所有运算封闭（含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元运算在内），则称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               V’</a:t>
            </a:r>
            <a:r>
              <a:rPr lang="en-US" altLang="zh-CN" sz="2400" b="1">
                <a:latin typeface="Times New Roman" panose="02020603050405020304" pitchFamily="18" charset="0"/>
              </a:rPr>
              <a:t>=&lt;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子代数</a:t>
            </a:r>
            <a:r>
              <a:rPr lang="zh-CN" altLang="en-US" sz="2400" b="1">
                <a:latin typeface="Times New Roman" panose="02020603050405020304" pitchFamily="18" charset="0"/>
              </a:rPr>
              <a:t>，若 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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zh-CN" altLang="en-US" sz="2400" b="1">
                <a:latin typeface="Times New Roman" panose="02020603050405020304" pitchFamily="18" charset="0"/>
              </a:rPr>
              <a:t>子代数</a:t>
            </a:r>
            <a:r>
              <a:rPr lang="en-US" altLang="zh-CN" sz="2400" b="1" i="1">
                <a:latin typeface="Times New Roman" panose="02020603050405020304" pitchFamily="18" charset="0"/>
              </a:rPr>
              <a:t>V’  </a:t>
            </a:r>
            <a:r>
              <a:rPr lang="zh-CN" altLang="en-US" sz="2400" b="1">
                <a:latin typeface="Times New Roman" panose="02020603050405020304" pitchFamily="18" charset="0"/>
              </a:rPr>
              <a:t>称为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真子代数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平凡子代数</a:t>
            </a:r>
            <a:r>
              <a:rPr lang="zh-CN" altLang="en-US" sz="2400" b="1">
                <a:latin typeface="Times New Roman" panose="02020603050405020304" pitchFamily="18" charset="0"/>
              </a:rPr>
              <a:t>：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</a:rPr>
              <a:t>V  </a:t>
            </a:r>
            <a:r>
              <a:rPr lang="zh-CN" altLang="en-US" sz="2400" b="1">
                <a:latin typeface="Times New Roman" panose="02020603050405020304" pitchFamily="18" charset="0"/>
              </a:rPr>
              <a:t>的平凡子代数</a:t>
            </a:r>
            <a:r>
              <a:rPr lang="en-US" altLang="zh-CN" sz="2400" b="1">
                <a:latin typeface="Times New Roman" panose="02020603050405020304" pitchFamily="18" charset="0"/>
              </a:rPr>
              <a:t>.  </a:t>
            </a:r>
            <a:r>
              <a:rPr lang="zh-CN" altLang="en-US" sz="2400" b="1">
                <a:latin typeface="Times New Roman" panose="02020603050405020304" pitchFamily="18" charset="0"/>
              </a:rPr>
              <a:t>除此之外，若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 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…,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的代数常数集合为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，且 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zh-CN" altLang="en-US" sz="2400" b="1">
                <a:latin typeface="Times New Roman" panose="02020603050405020304" pitchFamily="18" charset="0"/>
              </a:rPr>
              <a:t>对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上所有的运算封闭，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那么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,…,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也为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的平凡的子代数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说明：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若公理是二元运算的性质，子代数与原代数是同种的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子代数一定存在（至少存在平凡子代数）</a:t>
            </a: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78E00015-E03C-482F-B741-1769FD3E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9D58B7-44FF-4F2B-A630-3AB6658B8C72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4C4E4DD-AA8A-4A09-95B4-EE67C1CEB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5782AC2-BB26-4552-846E-F9F4E3A648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8229600" cy="45259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1   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en-US" altLang="zh-CN" sz="2400" b="1">
                <a:latin typeface="Times New Roman" panose="02020603050405020304" pitchFamily="18" charset="0"/>
              </a:rPr>
              <a:t>= &lt;Z,+,0&gt;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公理：</a:t>
            </a:r>
            <a:r>
              <a:rPr lang="en-US" altLang="zh-CN" sz="2400" b="1">
                <a:latin typeface="Times New Roman" panose="02020603050405020304" pitchFamily="18" charset="0"/>
              </a:rPr>
              <a:t>+</a:t>
            </a:r>
            <a:r>
              <a:rPr lang="zh-CN" altLang="en-US" sz="2400" b="1">
                <a:latin typeface="Times New Roman" panose="02020603050405020304" pitchFamily="18" charset="0"/>
              </a:rPr>
              <a:t>满足结合律，每个元素可逆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子代数为：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Z,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，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=0  </a:t>
            </a:r>
            <a:r>
              <a:rPr lang="zh-CN" altLang="en-US" sz="2400" b="1">
                <a:latin typeface="Times New Roman" panose="02020603050405020304" pitchFamily="18" charset="0"/>
              </a:rPr>
              <a:t>平凡的真子代数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=1  </a:t>
            </a:r>
            <a:r>
              <a:rPr lang="zh-CN" altLang="en-US" sz="2400" b="1">
                <a:latin typeface="Times New Roman" panose="02020603050405020304" pitchFamily="18" charset="0"/>
              </a:rPr>
              <a:t>平凡子代数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i="1">
                <a:latin typeface="Times New Roman" panose="02020603050405020304" pitchFamily="18" charset="0"/>
              </a:rPr>
              <a:t>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&gt;1  </a:t>
            </a:r>
            <a:r>
              <a:rPr lang="zh-CN" altLang="en-US" sz="2400" b="1">
                <a:latin typeface="Times New Roman" panose="02020603050405020304" pitchFamily="18" charset="0"/>
              </a:rPr>
              <a:t>非平凡的真子代数</a:t>
            </a: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en-US" altLang="zh-CN" sz="2400" b="1">
                <a:latin typeface="Times New Roman" panose="02020603050405020304" pitchFamily="18" charset="0"/>
              </a:rPr>
              <a:t>= &lt;Z,+&gt;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公理：</a:t>
            </a:r>
            <a:r>
              <a:rPr lang="en-US" altLang="zh-CN" sz="2400" b="1">
                <a:latin typeface="Times New Roman" panose="02020603050405020304" pitchFamily="18" charset="0"/>
              </a:rPr>
              <a:t>+ </a:t>
            </a:r>
            <a:r>
              <a:rPr lang="zh-CN" altLang="en-US" sz="2400" b="1">
                <a:latin typeface="Times New Roman" panose="02020603050405020304" pitchFamily="18" charset="0"/>
              </a:rPr>
              <a:t>满足结合律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子代数为：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Z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），</a:t>
            </a:r>
            <a:r>
              <a:rPr lang="en-US" altLang="zh-CN" sz="2400" b="1">
                <a:latin typeface="Times New Roman" panose="02020603050405020304" pitchFamily="18" charset="0"/>
              </a:rPr>
              <a:t>N,  Z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+</a:t>
            </a:r>
            <a:r>
              <a:rPr lang="zh-CN" altLang="en-US" sz="2400" b="1">
                <a:latin typeface="Times New Roman" panose="02020603050405020304" pitchFamily="18" charset="0"/>
              </a:rPr>
              <a:t>等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6525ACEA-8BD4-4A00-B92F-B6A47ED9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BD2A3C-1DFC-4D24-8E33-52C0719A55E0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A86E02D7-24A5-428A-81AF-5DACAB81B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032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积代数</a:t>
            </a:r>
          </a:p>
        </p:txBody>
      </p:sp>
      <p:sp>
        <p:nvSpPr>
          <p:cNvPr id="2053" name="Rectangle 3">
            <a:extLst>
              <a:ext uri="{FF2B5EF4-FFF2-40B4-BE49-F238E27FC236}">
                <a16:creationId xmlns:a16="http://schemas.microsoft.com/office/drawing/2014/main" id="{98B58983-1470-4AEB-ADB2-80E810B764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268413"/>
            <a:ext cx="7786687" cy="45307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400" b="1" dirty="0">
                <a:latin typeface="Times New Roman" panose="02020603050405020304" pitchFamily="18" charset="0"/>
              </a:rPr>
              <a:t>  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12</a:t>
            </a:r>
            <a:r>
              <a:rPr lang="en-US" altLang="zh-CN" sz="2400" b="1" dirty="0">
                <a:latin typeface="Times New Roman" panose="02020603050405020304" pitchFamily="18" charset="0"/>
              </a:rPr>
              <a:t>,…,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latin typeface="Times New Roman" panose="02020603050405020304" pitchFamily="18" charset="0"/>
              </a:rPr>
              <a:t>是同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类型的代数系统，对于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=1, 2,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元运算，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的积代数是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          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其中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i </a:t>
            </a:r>
            <a:r>
              <a:rPr lang="zh-CN" altLang="en-US" sz="2400" b="1" dirty="0">
                <a:latin typeface="Times New Roman" panose="02020603050405020304" pitchFamily="18" charset="0"/>
              </a:rPr>
              <a:t>是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元运算，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=1, 2, …,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对于任意的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… ,        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积代数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，也称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因子代数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5F8F34D4-D6B2-4E0E-A2C5-D453A4D5474F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239882207"/>
              </p:ext>
            </p:extLst>
          </p:nvPr>
        </p:nvGraphicFramePr>
        <p:xfrm>
          <a:off x="2233613" y="3831134"/>
          <a:ext cx="13858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公式" r:id="rId4" imgW="685800" imgH="228600" progId="Equation.3">
                  <p:embed/>
                </p:oleObj>
              </mc:Choice>
              <mc:Fallback>
                <p:oleObj name="公式" r:id="rId4" imgW="6858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3831134"/>
                        <a:ext cx="13858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>
            <a:extLst>
              <a:ext uri="{FF2B5EF4-FFF2-40B4-BE49-F238E27FC236}">
                <a16:creationId xmlns:a16="http://schemas.microsoft.com/office/drawing/2014/main" id="{15B7B0E6-47B7-4569-8FD5-93D98699808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942975" y="4365625"/>
          <a:ext cx="77676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公式" r:id="rId6" imgW="3784320" imgH="241200" progId="Equation.3">
                  <p:embed/>
                </p:oleObj>
              </mc:Choice>
              <mc:Fallback>
                <p:oleObj name="公式" r:id="rId6" imgW="378432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4365625"/>
                        <a:ext cx="77676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灯片编号占位符 5">
            <a:extLst>
              <a:ext uri="{FF2B5EF4-FFF2-40B4-BE49-F238E27FC236}">
                <a16:creationId xmlns:a16="http://schemas.microsoft.com/office/drawing/2014/main" id="{AFEEE18E-BDE5-40A9-AC73-1C88C8DE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C561FE-84FA-4F0F-B794-7999788826C9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783CAFC-B27F-48B6-9F53-FF60A2675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0C3A695-1023-41C7-B448-8B31EB0A9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229600" cy="39592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2  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 &lt;Z,+&gt;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</a:rPr>
              <a:t> 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= &lt;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(R),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   </a:t>
            </a:r>
            <a:r>
              <a:rPr lang="zh-CN" altLang="en-US" sz="2400" b="1">
                <a:latin typeface="Times New Roman" panose="02020603050405020304" pitchFamily="18" charset="0"/>
              </a:rPr>
              <a:t>积代数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=&lt;Z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(R),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∘&gt;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endParaRPr lang="en-US" altLang="zh-CN" sz="24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2400"/>
              </a:spcBef>
              <a:buFont typeface="Wingdings" panose="05000000000000000000" pitchFamily="2" charset="2"/>
              <a:buNone/>
            </a:pPr>
            <a:endParaRPr lang="en-US" altLang="zh-CN" sz="2400" b="1" i="1">
              <a:latin typeface="Times New Roman" panose="02020603050405020304" pitchFamily="18" charset="0"/>
            </a:endParaRPr>
          </a:p>
        </p:txBody>
      </p:sp>
      <p:sp>
        <p:nvSpPr>
          <p:cNvPr id="30724" name="灯片编号占位符 3">
            <a:extLst>
              <a:ext uri="{FF2B5EF4-FFF2-40B4-BE49-F238E27FC236}">
                <a16:creationId xmlns:a16="http://schemas.microsoft.com/office/drawing/2014/main" id="{86F47496-43A2-4F89-A7F7-EE7FD4CF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DC2D68-780D-492E-BF38-94B63039A7B8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3074" name="Object 7">
            <a:extLst>
              <a:ext uri="{FF2B5EF4-FFF2-40B4-BE49-F238E27FC236}">
                <a16:creationId xmlns:a16="http://schemas.microsoft.com/office/drawing/2014/main" id="{C3823C1F-A2C9-4DEA-B1A1-C84C532430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205038"/>
          <a:ext cx="5689600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公式" r:id="rId4" imgW="3136680" imgH="1447560" progId="Equation.3">
                  <p:embed/>
                </p:oleObj>
              </mc:Choice>
              <mc:Fallback>
                <p:oleObj name="公式" r:id="rId4" imgW="3136680" imgH="14475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05038"/>
                        <a:ext cx="5689600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8">
            <a:extLst>
              <a:ext uri="{FF2B5EF4-FFF2-40B4-BE49-F238E27FC236}">
                <a16:creationId xmlns:a16="http://schemas.microsoft.com/office/drawing/2014/main" id="{6D27E8D8-0F74-478C-A70A-CF2B6B42F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5302250"/>
          <a:ext cx="52117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公式" r:id="rId6" imgW="2946240" imgH="469800" progId="Equation.3">
                  <p:embed/>
                </p:oleObj>
              </mc:Choice>
              <mc:Fallback>
                <p:oleObj name="公式" r:id="rId6" imgW="294624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302250"/>
                        <a:ext cx="5211763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2C8379E-897D-41C9-8CDA-A459F50EFD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341438"/>
            <a:ext cx="8229600" cy="4525962"/>
          </a:xfrm>
        </p:spPr>
        <p:txBody>
          <a:bodyPr/>
          <a:lstStyle/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</a:rPr>
              <a:t>1  </a:t>
            </a: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400" b="1">
                <a:latin typeface="Times New Roman" panose="02020603050405020304" pitchFamily="18" charset="0"/>
              </a:rPr>
              <a:t>,…,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=&lt;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22</a:t>
            </a:r>
            <a:r>
              <a:rPr lang="en-US" altLang="zh-CN" sz="2400" b="1">
                <a:latin typeface="Times New Roman" panose="02020603050405020304" pitchFamily="18" charset="0"/>
              </a:rPr>
              <a:t>,…,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是同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类型的代数系统，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的积代数是   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400" b="1">
                <a:latin typeface="Times New Roman" panose="02020603050405020304" pitchFamily="18" charset="0"/>
              </a:rPr>
              <a:t>= 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，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分别在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中可交换（可结合或幂等）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</a:rPr>
              <a:t>则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中也可交换（可结合或幂等）；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对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对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j </a:t>
            </a: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中分别适合分配律，则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对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j </a:t>
            </a: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中也适合分配律；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j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j</a:t>
            </a: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中分别适合吸收律，则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j</a:t>
            </a:r>
          </a:p>
          <a:p>
            <a:pPr marL="533400" indent="-5334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 baseline="-25000">
                <a:latin typeface="Times New Roman" panose="02020603050405020304" pitchFamily="18" charset="0"/>
              </a:rPr>
              <a:t>         </a:t>
            </a:r>
            <a:r>
              <a:rPr lang="zh-CN" altLang="en-US" sz="2400" b="1">
                <a:latin typeface="Times New Roman" panose="02020603050405020304" pitchFamily="18" charset="0"/>
              </a:rPr>
              <a:t>在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中也适合吸收律；</a:t>
            </a: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5560BAF3-B91A-4C2F-A778-CE963853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C070BE-B2B6-4222-854F-6D48258F25D6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E341012-7E86-42DA-ADB3-9EE24DFFC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2" y="327025"/>
            <a:ext cx="7516812" cy="769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积代数的性质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616D178B-7F54-49A4-ACBC-50AE972A7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064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积代数的性质（续）</a:t>
            </a: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A12FC2A6-62DA-4D71-969A-1D7153AAE7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(4) </a:t>
            </a: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），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</a:rPr>
              <a:t>）分别为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中关于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baseline="-25000">
                <a:latin typeface="Times New Roman" panose="02020603050405020304" pitchFamily="18" charset="0"/>
              </a:rPr>
              <a:t>        </a:t>
            </a:r>
            <a:r>
              <a:rPr lang="zh-CN" altLang="en-US" sz="2400" b="1">
                <a:latin typeface="Times New Roman" panose="02020603050405020304" pitchFamily="18" charset="0"/>
              </a:rPr>
              <a:t>运算的单位元（零元），则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）为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中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关于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运算的单位元（零元）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(5) </a:t>
            </a:r>
            <a:r>
              <a:rPr lang="zh-CN" altLang="en-US" sz="2400" b="1">
                <a:latin typeface="Times New Roman" panose="02020603050405020304" pitchFamily="18" charset="0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分别为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 </a:t>
            </a:r>
            <a:r>
              <a:rPr lang="zh-CN" altLang="en-US" sz="2400" b="1">
                <a:latin typeface="Times New Roman" panose="02020603050405020304" pitchFamily="18" charset="0"/>
              </a:rPr>
              <a:t>中含单位元的运算，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  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zh-CN" altLang="en-US" sz="2400" b="1">
                <a:latin typeface="Times New Roman" panose="02020603050405020304" pitchFamily="18" charset="0"/>
              </a:rPr>
              <a:t>分别关于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运算存在逆元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则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</a:rPr>
              <a:t>中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关于</a:t>
            </a:r>
            <a:r>
              <a:rPr lang="en-US" altLang="zh-CN" sz="2400" b="1" i="1">
                <a:latin typeface="Times New Roman" panose="02020603050405020304" pitchFamily="18" charset="0"/>
              </a:rPr>
              <a:t>o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</a:rPr>
              <a:t>运算的逆元 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04F54684-03A3-4B97-8C6C-DADF84D3F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EAA252-8222-4951-801B-48C9A926F93F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D39D826-0B53-4CF3-A6BF-F5E50D5C1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064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性质证明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9E309-2311-4180-B28A-DBE2D4BF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13" y="1196975"/>
            <a:ext cx="8229600" cy="5040313"/>
          </a:xfrm>
        </p:spPr>
        <p:txBody>
          <a:bodyPr/>
          <a:lstStyle/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</a:rPr>
              <a:t>(4) </a:t>
            </a:r>
            <a:r>
              <a:rPr lang="zh-CN" altLang="en-US" sz="2400" b="1" dirty="0">
                <a:latin typeface="Times New Roman" pitchFamily="18" charset="0"/>
              </a:rPr>
              <a:t>若</a:t>
            </a:r>
            <a:r>
              <a:rPr lang="en-US" altLang="zh-CN" sz="2400" b="1" i="1" dirty="0">
                <a:latin typeface="Times New Roman" pitchFamily="18" charset="0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</a:rPr>
              <a:t>i  </a:t>
            </a:r>
            <a:r>
              <a:rPr lang="zh-CN" altLang="en-US" sz="2400" b="1" dirty="0">
                <a:latin typeface="Times New Roman" pitchFamily="18" charset="0"/>
              </a:rPr>
              <a:t>对</a:t>
            </a:r>
            <a:r>
              <a:rPr lang="en-US" altLang="zh-CN" sz="2400" b="1" i="1" dirty="0">
                <a:latin typeface="Times New Roman" pitchFamily="18" charset="0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</a:rPr>
              <a:t>j 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</a:rPr>
              <a:t>i </a:t>
            </a:r>
            <a:r>
              <a:rPr lang="zh-CN" altLang="en-US" sz="2400" b="1" dirty="0">
                <a:latin typeface="Times New Roman" pitchFamily="18" charset="0"/>
              </a:rPr>
              <a:t>对 </a:t>
            </a:r>
            <a:r>
              <a:rPr lang="en-US" altLang="zh-CN" sz="2400" b="1" i="1" dirty="0">
                <a:latin typeface="Times New Roman" pitchFamily="18" charset="0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</a:rPr>
              <a:t>j </a:t>
            </a:r>
            <a:r>
              <a:rPr lang="zh-CN" altLang="en-US" sz="2400" b="1" dirty="0">
                <a:latin typeface="Times New Roman" pitchFamily="18" charset="0"/>
              </a:rPr>
              <a:t>在</a:t>
            </a:r>
            <a:r>
              <a:rPr lang="en-US" altLang="zh-CN" sz="2400" b="1" i="1" dirty="0">
                <a:latin typeface="Times New Roman" pitchFamily="18" charset="0"/>
              </a:rPr>
              <a:t>V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</a:rPr>
              <a:t>与</a:t>
            </a:r>
            <a:r>
              <a:rPr lang="en-US" altLang="zh-CN" sz="2400" b="1" i="1" dirty="0">
                <a:latin typeface="Times New Roman" pitchFamily="18" charset="0"/>
              </a:rPr>
              <a:t>V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</a:rPr>
              <a:t>中分别适合分配律，则 </a:t>
            </a:r>
            <a:r>
              <a:rPr lang="en-US" altLang="zh-CN" sz="2400" b="1" i="1" dirty="0" err="1">
                <a:latin typeface="Times New Roman" pitchFamily="18" charset="0"/>
              </a:rPr>
              <a:t>o</a:t>
            </a:r>
            <a:r>
              <a:rPr lang="en-US" altLang="zh-CN" sz="2400" b="1" i="1" baseline="-25000" dirty="0" err="1">
                <a:latin typeface="Times New Roman" pitchFamily="18" charset="0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对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Times New Roman" pitchFamily="18" charset="0"/>
              </a:rPr>
              <a:t>       </a:t>
            </a:r>
            <a:r>
              <a:rPr lang="en-US" altLang="zh-CN" sz="2400" b="1" i="1" dirty="0" err="1">
                <a:latin typeface="Times New Roman" pitchFamily="18" charset="0"/>
              </a:rPr>
              <a:t>o</a:t>
            </a:r>
            <a:r>
              <a:rPr lang="en-US" altLang="zh-CN" sz="2400" b="1" i="1" baseline="-25000" dirty="0" err="1">
                <a:latin typeface="Times New Roman" pitchFamily="18" charset="0"/>
              </a:rPr>
              <a:t>j</a:t>
            </a:r>
            <a:r>
              <a:rPr lang="en-US" altLang="zh-CN" sz="2400" b="1" i="1" baseline="-25000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在</a:t>
            </a:r>
            <a:r>
              <a:rPr lang="en-US" altLang="zh-CN" sz="2400" b="1" i="1" dirty="0">
                <a:latin typeface="Times New Roman" pitchFamily="18" charset="0"/>
              </a:rPr>
              <a:t>V </a:t>
            </a:r>
            <a:r>
              <a:rPr lang="zh-CN" altLang="en-US" sz="2400" b="1" dirty="0">
                <a:latin typeface="Times New Roman" pitchFamily="18" charset="0"/>
              </a:rPr>
              <a:t>中也适合分配律</a:t>
            </a:r>
            <a:r>
              <a:rPr lang="en-US" altLang="zh-CN" sz="2400" b="1" dirty="0">
                <a:latin typeface="Times New Roman" pitchFamily="18" charset="0"/>
              </a:rPr>
              <a:t>. 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</a:rPr>
              <a:t>    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&lt;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&gt;,&lt;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&gt;,&lt;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&gt;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×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zh-CN" altLang="en-US" sz="2400" b="1" dirty="0">
                <a:latin typeface="Times New Roman" pitchFamily="18" charset="0"/>
                <a:sym typeface="Symbol"/>
              </a:rPr>
              <a:t>，</a:t>
            </a:r>
            <a:endParaRPr lang="en-US" altLang="zh-CN" sz="2400" b="1" dirty="0">
              <a:latin typeface="Times New Roman" pitchFamily="18" charset="0"/>
              <a:sym typeface="Symbol"/>
            </a:endParaRPr>
          </a:p>
          <a:p>
            <a:pPr marL="533400" indent="-533400" eaLnBrk="1" hangingPunct="1">
              <a:lnSpc>
                <a:spcPct val="120000"/>
              </a:lnSpc>
              <a:spcBef>
                <a:spcPts val="1200"/>
              </a:spcBef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  <a:sym typeface="Symbol"/>
              </a:rPr>
              <a:t>        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 </a:t>
            </a:r>
            <a:r>
              <a:rPr lang="en-US" altLang="zh-CN" sz="2400" b="1" i="1" dirty="0" err="1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(&lt;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 </a:t>
            </a:r>
            <a:r>
              <a:rPr lang="en-US" altLang="zh-CN" sz="2400" b="1" i="1" dirty="0" err="1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&gt;)</a:t>
            </a:r>
          </a:p>
          <a:p>
            <a:pPr marL="533400" indent="-53340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  <a:sym typeface="Symbol"/>
              </a:rPr>
              <a:t>     =&lt;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 </a:t>
            </a:r>
            <a:r>
              <a:rPr lang="en-US" altLang="zh-CN" sz="2400" b="1" i="1" dirty="0" err="1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              </a:t>
            </a:r>
          </a:p>
          <a:p>
            <a:pPr marL="533400" indent="-53340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  <a:sym typeface="Symbol"/>
              </a:rPr>
              <a:t>     =&lt;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j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 &gt;</a:t>
            </a:r>
          </a:p>
          <a:p>
            <a:pPr marL="533400" indent="-53340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  <a:sym typeface="Symbol"/>
              </a:rPr>
              <a:t>     = &lt;(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j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), 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baseline="-25000" dirty="0">
                <a:solidFill>
                  <a:srgbClr val="C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 &gt;    </a:t>
            </a:r>
          </a:p>
          <a:p>
            <a:pPr marL="533400" indent="-53340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  <a:sym typeface="Symbol"/>
              </a:rPr>
              <a:t>     = &lt;(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), 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)&gt; </a:t>
            </a:r>
            <a:r>
              <a:rPr lang="en-US" altLang="zh-CN" sz="2400" b="1" i="1" dirty="0" err="1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&lt;(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), (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i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)&gt;     </a:t>
            </a:r>
          </a:p>
          <a:p>
            <a:pPr marL="533400" indent="-533400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Times New Roman" pitchFamily="18" charset="0"/>
                <a:sym typeface="Symbol"/>
              </a:rPr>
              <a:t>     = (&lt;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 </a:t>
            </a:r>
            <a:r>
              <a:rPr lang="en-US" altLang="zh-CN" sz="2400" b="1" i="1" dirty="0" err="1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2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&gt;) </a:t>
            </a:r>
            <a:r>
              <a:rPr lang="en-US" altLang="zh-CN" sz="2400" b="1" i="1" dirty="0" err="1">
                <a:solidFill>
                  <a:srgbClr val="C00000"/>
                </a:solidFill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solidFill>
                  <a:srgbClr val="C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US" altLang="zh-CN" sz="2400" b="1" i="1" baseline="-25000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(&lt;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 </a:t>
            </a:r>
            <a:r>
              <a:rPr lang="en-US" altLang="zh-CN" sz="2400" b="1" i="1" dirty="0" err="1">
                <a:latin typeface="Times New Roman" pitchFamily="18" charset="0"/>
                <a:sym typeface="Symbol"/>
              </a:rPr>
              <a:t>o</a:t>
            </a:r>
            <a:r>
              <a:rPr lang="en-US" altLang="zh-CN" sz="2400" b="1" i="1" baseline="-25000" dirty="0" err="1">
                <a:latin typeface="Times New Roman" pitchFamily="18" charset="0"/>
                <a:sym typeface="Symbol"/>
              </a:rPr>
              <a:t>i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&lt;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/>
              </a:rPr>
              <a:t>b</a:t>
            </a:r>
            <a:r>
              <a:rPr lang="en-US" altLang="zh-CN" sz="2400" b="1" baseline="-25000" dirty="0">
                <a:latin typeface="Times New Roman" pitchFamily="18" charset="0"/>
                <a:sym typeface="Symbol"/>
              </a:rPr>
              <a:t>3</a:t>
            </a:r>
            <a:r>
              <a:rPr lang="en-US" altLang="zh-CN" sz="2400" b="1" dirty="0">
                <a:latin typeface="Times New Roman" pitchFamily="18" charset="0"/>
                <a:sym typeface="Symbol"/>
              </a:rPr>
              <a:t>&gt;)     </a:t>
            </a:r>
          </a:p>
          <a:p>
            <a:pPr marL="533400" indent="-533400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CN" altLang="en-US" sz="2400" b="1" dirty="0">
              <a:latin typeface="Times New Roman" pitchFamily="18" charset="0"/>
            </a:endParaRPr>
          </a:p>
          <a:p>
            <a:pPr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8EFC3-6436-41B3-B751-302E625D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E8C3C0-1CBD-483C-8186-EC0CF3D1A88A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E1D189C1-99FB-49BD-A8A4-AAB4A020AE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积代数的性质小结</a:t>
            </a:r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68406253-43CA-4E2F-A298-05E7AABEAE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125538"/>
            <a:ext cx="8064500" cy="22320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(1)</a:t>
            </a:r>
            <a:r>
              <a:rPr lang="en-US" altLang="zh-CN" sz="2400" b="1"/>
              <a:t> </a:t>
            </a:r>
            <a:r>
              <a:rPr lang="zh-CN" altLang="en-US" sz="2400" b="1"/>
              <a:t>积代数能够保持因子代数的如下性质：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算律：交换律</a:t>
            </a:r>
            <a:r>
              <a:rPr lang="en-US" altLang="zh-CN" sz="2400" b="1"/>
              <a:t>, </a:t>
            </a:r>
            <a:r>
              <a:rPr lang="zh-CN" altLang="en-US" sz="2400" b="1"/>
              <a:t>结合律</a:t>
            </a:r>
            <a:r>
              <a:rPr lang="en-US" altLang="zh-CN" sz="2400" b="1"/>
              <a:t>, </a:t>
            </a:r>
            <a:r>
              <a:rPr lang="zh-CN" altLang="en-US" sz="2400" b="1"/>
              <a:t>幂等律</a:t>
            </a:r>
            <a:r>
              <a:rPr lang="en-US" altLang="zh-CN" sz="2400" b="1"/>
              <a:t>, </a:t>
            </a:r>
            <a:r>
              <a:rPr lang="zh-CN" altLang="en-US" sz="2400" b="1"/>
              <a:t>分配律</a:t>
            </a:r>
            <a:r>
              <a:rPr lang="en-US" altLang="zh-CN" sz="2400" b="1"/>
              <a:t>, </a:t>
            </a:r>
            <a:r>
              <a:rPr lang="zh-CN" altLang="en-US" sz="2400" b="1"/>
              <a:t>吸收律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特异元素：单位元</a:t>
            </a:r>
            <a:r>
              <a:rPr lang="en-US" altLang="zh-CN" sz="2400" b="1"/>
              <a:t>, </a:t>
            </a:r>
            <a:r>
              <a:rPr lang="zh-CN" altLang="en-US" sz="2400" b="1"/>
              <a:t>零元</a:t>
            </a:r>
            <a:r>
              <a:rPr lang="en-US" altLang="zh-CN" sz="2400" b="1"/>
              <a:t>, </a:t>
            </a:r>
            <a:r>
              <a:rPr lang="zh-CN" altLang="en-US" sz="2400" b="1"/>
              <a:t>幂等元</a:t>
            </a:r>
            <a:r>
              <a:rPr lang="en-US" altLang="zh-CN" sz="2400" b="1"/>
              <a:t>, </a:t>
            </a:r>
            <a:r>
              <a:rPr lang="zh-CN" altLang="en-US" sz="2400" b="1"/>
              <a:t>可逆元素及其逆元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消去律不一定能够保持，反例：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 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=&lt;Z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=&lt;Z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,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en-US" altLang="zh-CN" sz="2400" b="1"/>
              <a:t> </a:t>
            </a:r>
          </a:p>
        </p:txBody>
      </p:sp>
      <p:sp>
        <p:nvSpPr>
          <p:cNvPr id="33800" name="灯片编号占位符 7">
            <a:extLst>
              <a:ext uri="{FF2B5EF4-FFF2-40B4-BE49-F238E27FC236}">
                <a16:creationId xmlns:a16="http://schemas.microsoft.com/office/drawing/2014/main" id="{4FFC650D-357F-43A7-8EDB-4969D3D57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0209F2-C864-4D9A-8601-12FBFBEB94F7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51908" name="Rectangle 4">
            <a:extLst>
              <a:ext uri="{FF2B5EF4-FFF2-40B4-BE49-F238E27FC236}">
                <a16:creationId xmlns:a16="http://schemas.microsoft.com/office/drawing/2014/main" id="{401402CF-F5A8-4EBE-9B95-B9C1D0707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429000"/>
            <a:ext cx="784860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</a:t>
            </a:r>
            <a:r>
              <a:rPr lang="en-US" altLang="zh-CN" sz="2400" b="1">
                <a:latin typeface="Times New Roman" panose="02020603050405020304" pitchFamily="18" charset="0"/>
              </a:rPr>
              <a:t>(2)</a:t>
            </a:r>
            <a:r>
              <a:rPr lang="en-US" altLang="zh-CN" sz="2400" b="1"/>
              <a:t> </a:t>
            </a:r>
            <a:r>
              <a:rPr lang="zh-CN" altLang="en-US" sz="2400" b="1"/>
              <a:t>积代数与因子代数是同类型的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/>
              <a:t>      系统公理不含消去律，积代数与因子代数同种；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/>
              <a:t>      系统公理含消去律，不保证积代数与因子代数同种</a:t>
            </a:r>
            <a:r>
              <a:rPr lang="en-US" altLang="zh-CN" sz="2400" b="1"/>
              <a:t>.</a:t>
            </a:r>
          </a:p>
        </p:txBody>
      </p:sp>
      <p:sp>
        <p:nvSpPr>
          <p:cNvPr id="251909" name="Rectangle 5">
            <a:extLst>
              <a:ext uri="{FF2B5EF4-FFF2-40B4-BE49-F238E27FC236}">
                <a16:creationId xmlns:a16="http://schemas.microsoft.com/office/drawing/2014/main" id="{231C1F71-5FCF-4AFF-A378-A2514FFAB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24400"/>
            <a:ext cx="70580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(3)</a:t>
            </a:r>
            <a:r>
              <a:rPr lang="en-US" altLang="zh-CN" sz="2400" b="1"/>
              <a:t> </a:t>
            </a:r>
            <a:r>
              <a:rPr lang="zh-CN" altLang="en-US" sz="2400" b="1"/>
              <a:t>积代数可以推广到有限多个同类型的代数系统</a:t>
            </a:r>
          </a:p>
        </p:txBody>
      </p:sp>
      <p:sp>
        <p:nvSpPr>
          <p:cNvPr id="251910" name="Rectangle 6">
            <a:extLst>
              <a:ext uri="{FF2B5EF4-FFF2-40B4-BE49-F238E27FC236}">
                <a16:creationId xmlns:a16="http://schemas.microsoft.com/office/drawing/2014/main" id="{7131D9D3-F6ED-4DA1-9959-30221F3F4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300663"/>
            <a:ext cx="77771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(4) </a:t>
            </a:r>
            <a:r>
              <a:rPr lang="zh-CN" altLang="en-US" sz="2400" b="1">
                <a:latin typeface="Times New Roman" panose="02020603050405020304" pitchFamily="18" charset="0"/>
              </a:rPr>
              <a:t>直积分解是研究代数结构的有效手段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</a:t>
            </a:r>
            <a:endParaRPr lang="zh-CN" altLang="en-US" sz="2400" b="1"/>
          </a:p>
        </p:txBody>
      </p:sp>
      <p:sp>
        <p:nvSpPr>
          <p:cNvPr id="251911" name="Rectangle 7">
            <a:extLst>
              <a:ext uri="{FF2B5EF4-FFF2-40B4-BE49-F238E27FC236}">
                <a16:creationId xmlns:a16="http://schemas.microsoft.com/office/drawing/2014/main" id="{D7A4333A-12E2-4BBC-8437-524AC0863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5805488"/>
            <a:ext cx="77755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(5)</a:t>
            </a:r>
            <a:r>
              <a:rPr lang="en-US" altLang="zh-CN" sz="2400" b="1"/>
              <a:t> </a:t>
            </a:r>
            <a:r>
              <a:rPr lang="zh-CN" altLang="en-US" sz="2400" b="1"/>
              <a:t>笛卡儿积是构造同种离散结构的有效手段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1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1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8" grpId="0"/>
      <p:bldP spid="251909" grpId="0"/>
      <p:bldP spid="251910" grpId="0"/>
    </p:bldLst>
  </p:timing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973DD8A3-776F-491B-9905-A20CB9BAF1B4}" vid="{11EE6A3C-9BF4-4524-AD04-9D596A9FBF6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2887</TotalTime>
  <Words>1449</Words>
  <Application>Microsoft Office PowerPoint</Application>
  <PresentationFormat>全屏显示(4:3)</PresentationFormat>
  <Paragraphs>139</Paragraphs>
  <Slides>12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Lucida Sans Unicode</vt:lpstr>
      <vt:lpstr>Times New Roman</vt:lpstr>
      <vt:lpstr>Wingdings</vt:lpstr>
      <vt:lpstr>Wingdings 2</vt:lpstr>
      <vt:lpstr>主题1</vt:lpstr>
      <vt:lpstr>公式</vt:lpstr>
      <vt:lpstr>15.2  代数系统</vt:lpstr>
      <vt:lpstr>代数系统构成:  成分+公理</vt:lpstr>
      <vt:lpstr>代数系统的实例</vt:lpstr>
      <vt:lpstr>代数系统的分类</vt:lpstr>
      <vt:lpstr>子代数</vt:lpstr>
      <vt:lpstr>实例</vt:lpstr>
      <vt:lpstr>积代数</vt:lpstr>
      <vt:lpstr>实例</vt:lpstr>
      <vt:lpstr>PowerPoint 演示文稿</vt:lpstr>
      <vt:lpstr>积代数的性质（续）</vt:lpstr>
      <vt:lpstr>性质证明</vt:lpstr>
      <vt:lpstr>积代数的性质小结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313</cp:revision>
  <dcterms:created xsi:type="dcterms:W3CDTF">2005-12-02T07:25:32Z</dcterms:created>
  <dcterms:modified xsi:type="dcterms:W3CDTF">2020-07-05T05:42:59Z</dcterms:modified>
</cp:coreProperties>
</file>