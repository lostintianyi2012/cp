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5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C6600"/>
    <a:srgbClr val="008000"/>
    <a:srgbClr val="669900"/>
    <a:srgbClr val="99CC00"/>
    <a:srgbClr val="CC0000"/>
    <a:srgbClr val="FFD54F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333" autoAdjust="0"/>
  </p:normalViewPr>
  <p:slideViewPr>
    <p:cSldViewPr>
      <p:cViewPr>
        <p:scale>
          <a:sx n="70" d="100"/>
          <a:sy n="70" d="100"/>
        </p:scale>
        <p:origin x="1589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116BC02-5DE0-402B-94A6-D8C951C004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EC5B32-AC69-443B-9E6A-48D1CBF780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FE304C2-01B9-4389-A2D3-40561E0B4A68}" type="datetimeFigureOut">
              <a:rPr lang="zh-CN" altLang="en-US"/>
              <a:pPr>
                <a:defRPr/>
              </a:pPr>
              <a:t>2020/8/17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931FC73-6080-4FE5-AF1F-C18BDA6ED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AF2CC54-9834-46ED-8CAA-41DBEB72C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C26766-E560-47A9-993C-49B374430F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CE3E4F-EAD3-4637-8CC5-A7CE00184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CFB40AAA-F3C1-4365-ACCD-45FAD092EEA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02301ED-845B-403D-9BA2-C13056F565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BF10B3-C549-48ED-9B71-AEE7B9571047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ED93B9A-A2F3-4D28-9F77-BD9105BF7B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91F44E8-E534-404C-8EB2-F001CB6FF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E79EF8F-11F5-4FEB-A042-B4D9241BF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DA9A46-901D-48E3-BAA0-6D05BFF21BE1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FCA067A9-02B3-482C-80C4-A385C74F00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2729585-119E-4282-BB00-6FC528243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611F2A2E-442F-4B75-AE2B-DC5BD66D3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B911F5-FFD9-4306-8BB8-55C180ADB0E2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0126F07-BEFD-4694-82BE-7ADBC20DB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6D873E7-1C74-4368-A72C-962D9960D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12A87DF-E376-4315-A83F-AB37CECD77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60CB20-DCEA-482D-A4AA-37713212176A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F344A58-A8F8-4C35-B498-B850DADA8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24DCC2E-A5EE-4D28-984D-D0383496C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B4E9C42-E5D5-463B-88DB-26FCABC8E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8EEEA0-ADA0-45E8-8F37-508E90A68351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523D0AA-5A73-4B9A-9DA0-EF91D5E6B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E48D25C-E02A-47B1-AA0B-FCB102E28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94DC6F5-CD17-4B4A-AC09-E7EB356815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9FFED5-E847-41E3-A6DD-75B4DA03B25E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122DE4F-3508-4AB0-A419-AF76AEB5D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54A1CFE-E482-4A6E-9989-8CF330484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1C098699-A3A7-488A-9896-A762C9F75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8BA1BC-A232-4B21-8560-DFFEFECAF610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6E34EDD-7A28-461F-B5A1-A7ACD30B51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C11A44C-0DE1-4B33-B50B-AC1F49640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AD5A929-3381-4325-99C7-11C98CDAA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1B66F6-540E-4D0D-A85C-2B6F93BDC3EA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0A3ACE6-EB00-451F-A2C7-5852D2C97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A84CD9E-2435-4900-9A9E-0A2F7D0B5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C7C6CCF-8564-4FEC-BAD2-29F4B98869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A6A7FF-D247-4273-A7FA-862B00EE7771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36B5BEE-DE03-45C0-8828-9E72C28BE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3F66165-C7C2-40A6-BBD3-A417D806D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1440924-14A3-4DA7-B608-14B4E8CFBB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D3A401-71B3-477F-B747-6E2EB156199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C61EFD5-AB57-47DC-9AA5-5812F99030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0E74EB1-3C5A-4263-92C1-CF2319A2D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4813642-5EED-4D1F-9C33-E03443538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D8A019-AD1B-41E4-B9CE-EE624D1EE9B5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03ADF13-1669-4173-936C-FB2622DDF1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91552DB-4EAD-45F6-9FD0-971BBA396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EFE2CB6-8F59-47F4-8B5A-1C54FB5AD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3FB1AA-3501-4309-A4DC-42DF3F6C2D74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E36BD2-41D7-4C7D-B714-FB546FC38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5A1ABD0-4010-4903-B878-7075BD8E5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2FDACEE2-B41F-45D8-BE6E-B1D562021E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D0DD2B-AF3C-4A9B-9523-760437B619B3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074AD2A-2B1B-45E4-8650-81E994AC0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511040C-F045-4AF4-9382-2B01255A2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56AD3C36-2F08-4063-9CE9-CACE5B63F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CEB0F8-7593-49DC-971C-B223A2128090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1F93372-FBDE-4BEE-A6C7-43801EC32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86C8C5E-5843-44DD-8D3E-D2B2AA2CE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49EAF73-36E8-4C3A-AC48-FFCBD56BA4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10F8F1-D432-4845-8763-982166CED47D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3714EB0-C189-4FAA-91E6-74DFFD238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BFE1DA1-0138-4789-9165-50CBCAAF7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8D9CE03-3A9F-40D2-8D0C-88AC57B26F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24AD4F-6526-4E6F-B095-90699D27A2B3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A6E753E-42C8-4AF2-A8D6-15A569365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2AA0D4E-C3B0-42CE-8B67-D5334CDCD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98ECD7E-F9D4-47C3-9AB5-395C1FBBB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332345-6A84-4BFC-A011-AF161FD5D09D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9BF1B12-F5AD-48AC-AD06-1ED7F91E81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6579615-D18A-4828-A723-C705BA3B0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8369A34-2ABC-40EE-8E80-52506CB4A4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326F7D-73D8-4F31-8567-43708056DBDA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C0E784B-B52B-45AF-B036-A5B8A29738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1898AC0-B871-45B0-A5A5-48CD2D34F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A199B26-00AC-4873-B70B-E7364AC74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5D0684-2131-47AE-9F51-981904D53434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26BA80D-3BB2-457D-AB67-C7050E7B9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9002290-20D5-4C01-B33C-ED7BBEC68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2A472F1-F605-4727-AFFD-1DE959FFB8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0281CC-DD9C-468B-9F9E-F4A2522DAA07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9B8945F-35B4-463C-A1A2-617EB110AB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B398950-D602-4787-8F1A-DCBC520DA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D1B7CA85-3EBB-4ECA-B077-F2715E1A84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5772EC-68BD-48BC-84A7-A6D2B42A15EF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6192490-4FA9-4FDD-A975-50A4BC86A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B0FB10B-FE7A-4173-BB8E-8D2FE3CBF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23F37FE-8BB7-43D6-AA24-F11AC4DE8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203660-22BD-4AE8-B325-CBE7ABC6BD61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9FD45E7-3CB9-47BC-A0E7-0178FB5BF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DEF54DCC-C2B7-4696-AC77-CCDD209C7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B8986224-2787-4F02-BDA9-0FA6AE27C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3AA11F-7B09-451D-9AE2-8556193D1E53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E16DFA-47DA-4166-B10C-C46E9E8C2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10A377E-0856-440C-9A94-7A749DEC5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04DDE-1AB1-4B85-82A6-D1AC514C2A7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73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541B7-018D-4125-BF11-6118FC0815B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79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AC27C-5E73-4D9E-8154-2CF0358E3B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877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04C3E-4D91-49CF-8F57-61A7EFB460A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54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521CC-7919-403B-8A84-80C5BC5EC0D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04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A111EF-F180-49F2-AA9D-E33FC4C3B6D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979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95A37-FE78-48CF-8C54-E20D3DDD129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90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91D9B-27F3-4827-B330-15AA1D60E65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250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FA4E9-26AE-45A3-BC6B-BA8920D4EFE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771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C801C-E16E-4437-A9C3-863242C518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37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BB289-C418-4A42-AA5F-7EBD16E487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44723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BB289-C418-4A42-AA5F-7EBD16E487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160635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2A2BB289-C418-4A42-AA5F-7EBD16E487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26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B1EC8749-DFD6-42A0-A982-1021F4993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1787" y="177800"/>
            <a:ext cx="8480425" cy="7969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第二十三章 组合计数定理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A3110D8-5B03-4333-A136-4CD6C79E3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/>
              <a:t>23.1 </a:t>
            </a:r>
            <a:r>
              <a:rPr lang="zh-CN" altLang="en-US" b="1"/>
              <a:t>包含排斥原理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/>
              <a:t>23.2 </a:t>
            </a:r>
            <a:r>
              <a:rPr lang="zh-CN" altLang="en-US" b="1"/>
              <a:t>对称筛公式及其应用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/>
              <a:t>23.3 </a:t>
            </a:r>
            <a:r>
              <a:rPr lang="en-US" altLang="zh-CN" b="1">
                <a:latin typeface="Times New Roman" panose="02020603050405020304" pitchFamily="18" charset="0"/>
              </a:rPr>
              <a:t>Burnside</a:t>
            </a:r>
            <a:r>
              <a:rPr lang="zh-CN" altLang="en-US" b="1">
                <a:latin typeface="Times New Roman" panose="02020603050405020304" pitchFamily="18" charset="0"/>
              </a:rPr>
              <a:t>引理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/>
              <a:t>23.4 </a:t>
            </a:r>
            <a:r>
              <a:rPr lang="en-US" altLang="zh-CN" b="1">
                <a:latin typeface="Times New Roman" panose="02020603050405020304" pitchFamily="18" charset="0"/>
              </a:rPr>
              <a:t>Polay</a:t>
            </a:r>
            <a:r>
              <a:rPr lang="zh-CN" altLang="en-US" b="1">
                <a:latin typeface="Times New Roman" panose="02020603050405020304" pitchFamily="18" charset="0"/>
              </a:rPr>
              <a:t>定理</a:t>
            </a: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85EEF2A8-3C26-47DA-B7FD-99777BD3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AA3E22-780C-4885-B237-7EBDF92B4B8B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37C6850F-45CE-449C-A50F-07AA28310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72548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23.1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包含排斥原理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4A94E1B-8A12-4A03-8738-22D839A7D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/>
              <a:t>包含排斥原理的基本形式及其推论</a:t>
            </a:r>
          </a:p>
          <a:p>
            <a:pPr eaLnBrk="1" hangingPunct="1"/>
            <a:r>
              <a:rPr lang="zh-CN" altLang="en-US" b="1"/>
              <a:t>应用实例</a:t>
            </a:r>
          </a:p>
          <a:p>
            <a:pPr eaLnBrk="1" hangingPunct="1"/>
            <a:r>
              <a:rPr lang="zh-CN" altLang="en-US" b="1"/>
              <a:t>有穷集的 </a:t>
            </a:r>
            <a:r>
              <a:rPr lang="en-US" altLang="zh-CN" b="1" i="1">
                <a:latin typeface="Times New Roman" panose="02020603050405020304" pitchFamily="18" charset="0"/>
              </a:rPr>
              <a:t>r </a:t>
            </a:r>
            <a:r>
              <a:rPr lang="zh-CN" altLang="en-US" b="1"/>
              <a:t>组合数</a:t>
            </a:r>
          </a:p>
          <a:p>
            <a:pPr eaLnBrk="1" hangingPunct="1"/>
            <a:r>
              <a:rPr lang="zh-CN" altLang="en-US" b="1"/>
              <a:t>有限制条件的集合计数</a:t>
            </a:r>
          </a:p>
          <a:p>
            <a:pPr eaLnBrk="1" hangingPunct="1"/>
            <a:r>
              <a:rPr lang="zh-CN" altLang="en-US" b="1"/>
              <a:t>恒等式证明</a:t>
            </a:r>
          </a:p>
          <a:p>
            <a:pPr eaLnBrk="1" hangingPunct="1"/>
            <a:endParaRPr lang="en-US" altLang="zh-CN"/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47535A48-F258-4E6B-9352-A885C604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89E464-39D7-4D6A-8B15-63F5D39DF505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C9FE94DD-E44E-497A-B29B-0A6577909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606" y="149225"/>
            <a:ext cx="8586787" cy="868363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包含排斥原理的基本形式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5BFEDD66-7173-4C87-9DEA-DCB64A484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1913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设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zh-CN" altLang="en-US" sz="2800" b="1">
                <a:latin typeface="Times New Roman" panose="02020603050405020304" pitchFamily="18" charset="0"/>
              </a:rPr>
              <a:t>为有穷集，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latin typeface="Times New Roman" panose="02020603050405020304" pitchFamily="18" charset="0"/>
              </a:rPr>
              <a:t>种性质，</a:t>
            </a:r>
            <a:r>
              <a:rPr lang="en-US" altLang="zh-CN" sz="2800" b="1" i="1">
                <a:latin typeface="Times New Roman" panose="02020603050405020304" pitchFamily="18" charset="0"/>
              </a:rPr>
              <a:t> 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是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中具有性质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800" b="1">
                <a:latin typeface="Times New Roman" panose="02020603050405020304" pitchFamily="18" charset="0"/>
              </a:rPr>
              <a:t>的元素构成的子集，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=1,2, …, </a:t>
            </a:r>
            <a:r>
              <a:rPr lang="en-US" altLang="zh-CN" sz="2800" b="1" i="1"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中不具有性质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latin typeface="Times New Roman" panose="02020603050405020304" pitchFamily="18" charset="0"/>
              </a:rPr>
              <a:t>的元素数为</a:t>
            </a:r>
          </a:p>
        </p:txBody>
      </p:sp>
      <p:sp>
        <p:nvSpPr>
          <p:cNvPr id="1027" name="灯片编号占位符 5">
            <a:extLst>
              <a:ext uri="{FF2B5EF4-FFF2-40B4-BE49-F238E27FC236}">
                <a16:creationId xmlns:a16="http://schemas.microsoft.com/office/drawing/2014/main" id="{1244DEE8-1129-4A09-A9F8-DCB4CB3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BCE485-C978-4082-B5FB-32403C247A1B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91C5FFBF-DDC0-4683-87C8-1D60542D7C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3214688"/>
          <a:ext cx="762952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公式" r:id="rId4" imgW="3352680" imgH="965160" progId="Equation.3">
                  <p:embed/>
                </p:oleObj>
              </mc:Choice>
              <mc:Fallback>
                <p:oleObj name="公式" r:id="rId4" imgW="3352680" imgH="965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214688"/>
                        <a:ext cx="7629525" cy="218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>
            <a:extLst>
              <a:ext uri="{FF2B5EF4-FFF2-40B4-BE49-F238E27FC236}">
                <a16:creationId xmlns:a16="http://schemas.microsoft.com/office/drawing/2014/main" id="{85AA5650-682F-4510-9CEA-6EB2115F1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推论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149AF74A-3CCC-4F3D-9DF8-23B755E72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推论</a:t>
            </a:r>
            <a:r>
              <a:rPr lang="zh-CN" altLang="en-US" sz="2800" b="1"/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/>
              <a:t>中至少具有一条性质的元素数为</a:t>
            </a:r>
          </a:p>
        </p:txBody>
      </p:sp>
      <p:sp>
        <p:nvSpPr>
          <p:cNvPr id="2051" name="灯片编号占位符 5">
            <a:extLst>
              <a:ext uri="{FF2B5EF4-FFF2-40B4-BE49-F238E27FC236}">
                <a16:creationId xmlns:a16="http://schemas.microsoft.com/office/drawing/2014/main" id="{96D1A17D-B8CA-4EB7-ADAF-4B0F5404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BB6958-7409-416A-B820-D417887E4426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4" name="Rectangle 4">
            <a:extLst>
              <a:ext uri="{FF2B5EF4-FFF2-40B4-BE49-F238E27FC236}">
                <a16:creationId xmlns:a16="http://schemas.microsoft.com/office/drawing/2014/main" id="{4C1430E9-7883-4680-9AF1-3BB6F47D7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5">
            <a:extLst>
              <a:ext uri="{FF2B5EF4-FFF2-40B4-BE49-F238E27FC236}">
                <a16:creationId xmlns:a16="http://schemas.microsoft.com/office/drawing/2014/main" id="{01DD6F3F-7C8B-4E83-AD45-F3AB27A4E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143125"/>
          <a:ext cx="7832725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4" imgW="3035160" imgH="939600" progId="Equation.3">
                  <p:embed/>
                </p:oleObj>
              </mc:Choice>
              <mc:Fallback>
                <p:oleObj name="公式" r:id="rId4" imgW="303516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143125"/>
                        <a:ext cx="7832725" cy="2409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5">
            <a:extLst>
              <a:ext uri="{FF2B5EF4-FFF2-40B4-BE49-F238E27FC236}">
                <a16:creationId xmlns:a16="http://schemas.microsoft.com/office/drawing/2014/main" id="{131B9EEC-2178-4E4B-9DD7-A81CA5DEE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2875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sp>
        <p:nvSpPr>
          <p:cNvPr id="3076" name="灯片编号占位符 4">
            <a:extLst>
              <a:ext uri="{FF2B5EF4-FFF2-40B4-BE49-F238E27FC236}">
                <a16:creationId xmlns:a16="http://schemas.microsoft.com/office/drawing/2014/main" id="{4FC2ADBE-BC8B-41E4-8465-5F98DE80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C0996D-E240-421F-8942-AE3AEF21DDA6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96E6A609-C7B5-4AE0-8911-1C0BD1D5E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8" y="2984500"/>
          <a:ext cx="8277225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Document" r:id="rId4" imgW="4471508" imgH="2158115" progId="Word.Document.8">
                  <p:embed/>
                </p:oleObj>
              </mc:Choice>
              <mc:Fallback>
                <p:oleObj name="Document" r:id="rId4" imgW="4471508" imgH="21581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2984500"/>
                        <a:ext cx="8277225" cy="399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3">
            <a:extLst>
              <a:ext uri="{FF2B5EF4-FFF2-40B4-BE49-F238E27FC236}">
                <a16:creationId xmlns:a16="http://schemas.microsoft.com/office/drawing/2014/main" id="{261C0347-CD2D-409F-BF3D-60A351DB2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ECD68DB8-EDBD-45BD-9927-835A363DC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000125"/>
          <a:ext cx="7591425" cy="179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公式" r:id="rId6" imgW="3746160" imgH="888840" progId="Equation.3">
                  <p:embed/>
                </p:oleObj>
              </mc:Choice>
              <mc:Fallback>
                <p:oleObj name="公式" r:id="rId6" imgW="3746160" imgH="888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00125"/>
                        <a:ext cx="7591425" cy="179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>
            <a:extLst>
              <a:ext uri="{FF2B5EF4-FFF2-40B4-BE49-F238E27FC236}">
                <a16:creationId xmlns:a16="http://schemas.microsoft.com/office/drawing/2014/main" id="{7E8DC813-A7D9-4A81-94CA-3AAA4E714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254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 用</a:t>
            </a:r>
          </a:p>
        </p:txBody>
      </p:sp>
      <p:sp>
        <p:nvSpPr>
          <p:cNvPr id="4099" name="灯片编号占位符 4">
            <a:extLst>
              <a:ext uri="{FF2B5EF4-FFF2-40B4-BE49-F238E27FC236}">
                <a16:creationId xmlns:a16="http://schemas.microsoft.com/office/drawing/2014/main" id="{3156786B-8CEA-4642-A4B0-1E9CD1CA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E043B7-461C-484E-A7C9-9F36D9E6C502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69D35C6B-5B6D-428E-AE79-967FF768B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13" y="1125538"/>
          <a:ext cx="7572375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4" imgW="3505505" imgH="2356104" progId="Word.Document.8">
                  <p:embed/>
                </p:oleObj>
              </mc:Choice>
              <mc:Fallback>
                <p:oleObj name="Document" r:id="rId4" imgW="3505505" imgH="235610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1125538"/>
                        <a:ext cx="7572375" cy="508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>
            <a:extLst>
              <a:ext uri="{FF2B5EF4-FFF2-40B4-BE49-F238E27FC236}">
                <a16:creationId xmlns:a16="http://schemas.microsoft.com/office/drawing/2014/main" id="{49FB9C64-A1B2-47DF-91B6-176AF6E7B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72488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计数多重集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3" name="灯片编号占位符 4">
            <a:extLst>
              <a:ext uri="{FF2B5EF4-FFF2-40B4-BE49-F238E27FC236}">
                <a16:creationId xmlns:a16="http://schemas.microsoft.com/office/drawing/2014/main" id="{9ADCAEF8-76E2-4FA7-B0E9-FD5AC3FC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A589CB-8C4C-42EC-9BEC-2C37EB728CB2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BE6A741C-04FB-406E-B107-B4CC3B8A9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138" y="1138238"/>
          <a:ext cx="8582025" cy="478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Document" r:id="rId4" imgW="4631326" imgH="2575293" progId="Word.Document.8">
                  <p:embed/>
                </p:oleObj>
              </mc:Choice>
              <mc:Fallback>
                <p:oleObj name="Document" r:id="rId4" imgW="4631326" imgH="257529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1138238"/>
                        <a:ext cx="8582025" cy="478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875A44FE-B08A-4E37-AC8C-5295F6014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计数限制条件元素数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405AC7D-6D42-4672-A650-A308E610CC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46175"/>
            <a:ext cx="7834312" cy="49974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求不超过</a:t>
            </a:r>
            <a:r>
              <a:rPr lang="en-US" altLang="zh-CN" sz="2400" b="1">
                <a:latin typeface="Times New Roman" panose="02020603050405020304" pitchFamily="18" charset="0"/>
              </a:rPr>
              <a:t>120</a:t>
            </a:r>
            <a:r>
              <a:rPr lang="zh-CN" altLang="en-US" sz="2400" b="1">
                <a:latin typeface="Times New Roman" panose="02020603050405020304" pitchFamily="18" charset="0"/>
              </a:rPr>
              <a:t>的素数个数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解：</a:t>
            </a: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 = 121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不超过</a:t>
            </a:r>
            <a:r>
              <a:rPr lang="en-US" altLang="zh-CN" sz="2400" b="1">
                <a:latin typeface="Times New Roman" panose="02020603050405020304" pitchFamily="18" charset="0"/>
              </a:rPr>
              <a:t>120</a:t>
            </a:r>
            <a:r>
              <a:rPr lang="zh-CN" altLang="en-US" sz="2400" b="1">
                <a:latin typeface="Times New Roman" panose="02020603050405020304" pitchFamily="18" charset="0"/>
              </a:rPr>
              <a:t>的合数的素因子可能是</a:t>
            </a:r>
            <a:r>
              <a:rPr lang="en-US" altLang="zh-CN" sz="2400" b="1">
                <a:latin typeface="Times New Roman" panose="02020603050405020304" pitchFamily="18" charset="0"/>
              </a:rPr>
              <a:t>2, 3, 5, 7</a:t>
            </a:r>
            <a:r>
              <a:rPr lang="zh-CN" altLang="en-US" sz="2400" b="1">
                <a:latin typeface="Times New Roman" panose="02020603050405020304" pitchFamily="18" charset="0"/>
              </a:rPr>
              <a:t>，    </a:t>
            </a:r>
            <a:endParaRPr lang="zh-CN" altLang="en-US" sz="2400" b="1" i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</a:rPr>
              <a:t>= {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</a:rPr>
              <a:t>| 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Z, 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</a:rPr>
              <a:t>120 },  |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| = 120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被 </a:t>
            </a:r>
            <a:r>
              <a:rPr lang="en-US" altLang="zh-CN" sz="2400" b="1">
                <a:latin typeface="Times New Roman" panose="02020603050405020304" pitchFamily="18" charset="0"/>
              </a:rPr>
              <a:t>2, 3, 5, 7 </a:t>
            </a:r>
            <a:r>
              <a:rPr lang="zh-CN" altLang="en-US" sz="2400" b="1">
                <a:latin typeface="Times New Roman" panose="02020603050405020304" pitchFamily="18" charset="0"/>
              </a:rPr>
              <a:t>整除的集合分别为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所求的元素数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+3</a:t>
            </a:r>
            <a:r>
              <a:rPr lang="zh-CN" altLang="en-US" sz="2400" b="1">
                <a:latin typeface="Times New Roman" panose="02020603050405020304" pitchFamily="18" charset="0"/>
              </a:rPr>
              <a:t>的理由是：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2, 3, 5, 7 </a:t>
            </a:r>
            <a:r>
              <a:rPr lang="zh-CN" altLang="en-US" sz="2400" b="1">
                <a:latin typeface="Times New Roman" panose="02020603050405020304" pitchFamily="18" charset="0"/>
              </a:rPr>
              <a:t> 能被 </a:t>
            </a:r>
            <a:r>
              <a:rPr lang="en-US" altLang="zh-CN" sz="2400" b="1">
                <a:latin typeface="Times New Roman" panose="02020603050405020304" pitchFamily="18" charset="0"/>
              </a:rPr>
              <a:t>2, 3, 5 </a:t>
            </a:r>
            <a:r>
              <a:rPr lang="zh-CN" altLang="en-US" sz="2400" b="1">
                <a:latin typeface="Times New Roman" panose="02020603050405020304" pitchFamily="18" charset="0"/>
              </a:rPr>
              <a:t>或 </a:t>
            </a:r>
            <a:r>
              <a:rPr lang="en-US" altLang="zh-CN" sz="2400" b="1">
                <a:latin typeface="Times New Roman" panose="02020603050405020304" pitchFamily="18" charset="0"/>
              </a:rPr>
              <a:t>7 </a:t>
            </a:r>
            <a:r>
              <a:rPr lang="zh-CN" altLang="en-US" sz="2400" b="1">
                <a:latin typeface="Times New Roman" panose="02020603050405020304" pitchFamily="18" charset="0"/>
              </a:rPr>
              <a:t>整除，但它们是素数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1</a:t>
            </a:r>
            <a:r>
              <a:rPr lang="zh-CN" altLang="en-US" sz="2400" b="1">
                <a:latin typeface="Times New Roman" panose="02020603050405020304" pitchFamily="18" charset="0"/>
              </a:rPr>
              <a:t> 不能被 </a:t>
            </a:r>
            <a:r>
              <a:rPr lang="en-US" altLang="zh-CN" sz="2400" b="1">
                <a:latin typeface="Times New Roman" panose="02020603050405020304" pitchFamily="18" charset="0"/>
              </a:rPr>
              <a:t>2,  3, 5 </a:t>
            </a:r>
            <a:r>
              <a:rPr lang="zh-CN" altLang="en-US" sz="2400" b="1">
                <a:latin typeface="Times New Roman" panose="02020603050405020304" pitchFamily="18" charset="0"/>
              </a:rPr>
              <a:t>或 </a:t>
            </a:r>
            <a:r>
              <a:rPr lang="en-US" altLang="zh-CN" sz="2400" b="1">
                <a:latin typeface="Times New Roman" panose="02020603050405020304" pitchFamily="18" charset="0"/>
              </a:rPr>
              <a:t>7 </a:t>
            </a:r>
            <a:r>
              <a:rPr lang="zh-CN" altLang="en-US" sz="2400" b="1">
                <a:latin typeface="Times New Roman" panose="02020603050405020304" pitchFamily="18" charset="0"/>
              </a:rPr>
              <a:t>整除，但 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</a:rPr>
              <a:t>不是素数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6147" name="灯片编号占位符 5">
            <a:extLst>
              <a:ext uri="{FF2B5EF4-FFF2-40B4-BE49-F238E27FC236}">
                <a16:creationId xmlns:a16="http://schemas.microsoft.com/office/drawing/2014/main" id="{359E9AE1-9A7B-4F99-A466-8063D295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1391AC-2724-44BE-A9F6-6C3FEC766337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20ABD6D1-82C6-4EEE-9959-D892A8528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6" name="Object 5">
            <a:extLst>
              <a:ext uri="{FF2B5EF4-FFF2-40B4-BE49-F238E27FC236}">
                <a16:creationId xmlns:a16="http://schemas.microsoft.com/office/drawing/2014/main" id="{CCBB56C6-EDAD-4F6C-9D0C-9E7F81112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13" y="3897313"/>
          <a:ext cx="41798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公式" r:id="rId4" imgW="1777229" imgH="253890" progId="Equation.3">
                  <p:embed/>
                </p:oleObj>
              </mc:Choice>
              <mc:Fallback>
                <p:oleObj name="公式" r:id="rId4" imgW="1777229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3897313"/>
                        <a:ext cx="4179887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>
            <a:extLst>
              <a:ext uri="{FF2B5EF4-FFF2-40B4-BE49-F238E27FC236}">
                <a16:creationId xmlns:a16="http://schemas.microsoft.com/office/drawing/2014/main" id="{C47E474E-B9BC-49E5-B41D-D0587F6AF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54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计数限制条件元素数</a:t>
            </a:r>
          </a:p>
        </p:txBody>
      </p:sp>
      <p:sp>
        <p:nvSpPr>
          <p:cNvPr id="7171" name="灯片编号占位符 4">
            <a:extLst>
              <a:ext uri="{FF2B5EF4-FFF2-40B4-BE49-F238E27FC236}">
                <a16:creationId xmlns:a16="http://schemas.microsoft.com/office/drawing/2014/main" id="{D10F306E-8C31-4B44-9DB2-54D880BB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F784B0-C7CD-4501-AA14-1585B7A6711C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F6D90F97-DF7E-4D48-8621-3964535D7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84213" y="977900"/>
          <a:ext cx="8534401" cy="504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文档" r:id="rId4" imgW="3948672" imgH="2329803" progId="Word.Document.8">
                  <p:embed/>
                </p:oleObj>
              </mc:Choice>
              <mc:Fallback>
                <p:oleObj name="文档" r:id="rId4" imgW="3948672" imgH="232980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84213" y="977900"/>
                        <a:ext cx="8534401" cy="5043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F847A73D-2112-48B8-8BAD-E3B0D9601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6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欧拉函数的值</a:t>
            </a:r>
          </a:p>
        </p:txBody>
      </p:sp>
      <p:sp>
        <p:nvSpPr>
          <p:cNvPr id="8195" name="灯片编号占位符 4">
            <a:extLst>
              <a:ext uri="{FF2B5EF4-FFF2-40B4-BE49-F238E27FC236}">
                <a16:creationId xmlns:a16="http://schemas.microsoft.com/office/drawing/2014/main" id="{541963DA-CC77-48C7-931E-E9AA1116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FA8B65-B428-4531-83B4-F07E26E8B439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94" name="Object 6">
            <a:extLst>
              <a:ext uri="{FF2B5EF4-FFF2-40B4-BE49-F238E27FC236}">
                <a16:creationId xmlns:a16="http://schemas.microsoft.com/office/drawing/2014/main" id="{172C89E9-F927-4302-A7ED-CF858441E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484313"/>
          <a:ext cx="25193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公式" r:id="rId4" imgW="1193800" imgH="241300" progId="Equation.3">
                  <p:embed/>
                </p:oleObj>
              </mc:Choice>
              <mc:Fallback>
                <p:oleObj name="公式" r:id="rId4" imgW="11938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84313"/>
                        <a:ext cx="251936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38DCFA17-0FE4-4593-B040-B0B3E8D6A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997200"/>
          <a:ext cx="3671887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公式" r:id="rId6" imgW="1943100" imgH="622300" progId="Equation.3">
                  <p:embed/>
                </p:oleObj>
              </mc:Choice>
              <mc:Fallback>
                <p:oleObj name="公式" r:id="rId6" imgW="1943100" imgH="622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3671887" cy="116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7">
            <a:extLst>
              <a:ext uri="{FF2B5EF4-FFF2-40B4-BE49-F238E27FC236}">
                <a16:creationId xmlns:a16="http://schemas.microsoft.com/office/drawing/2014/main" id="{84900E55-1475-47FA-95B8-AD4BCED8F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69975"/>
            <a:ext cx="8353425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228600" eaLnBrk="0" hangingPunct="0"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Times New Roman" pitchFamily="18" charset="0"/>
              </a:rPr>
              <a:t>欧拉函数 </a:t>
            </a:r>
            <a:r>
              <a:rPr lang="en-US" altLang="zh-CN" sz="2400" b="1" i="1" dirty="0">
                <a:latin typeface="Lucida Console" pitchFamily="49" charset="0"/>
                <a:cs typeface="Times New Roman" pitchFamily="18" charset="0"/>
              </a:rPr>
              <a:t>φ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：小于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的且与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互素的数的个数</a:t>
            </a:r>
            <a:endParaRPr lang="zh-CN" altLang="en-US" sz="2400" dirty="0"/>
          </a:p>
          <a:p>
            <a:pPr indent="228600" eaLnBrk="0" hangingPunct="0">
              <a:spcBef>
                <a:spcPts val="12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设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228600" eaLnBrk="0" hangingPunct="0">
              <a:spcBef>
                <a:spcPts val="1200"/>
              </a:spcBef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的素因子分解式</a:t>
            </a:r>
            <a:endParaRPr lang="zh-CN" altLang="en-US" sz="1200" dirty="0"/>
          </a:p>
          <a:p>
            <a:pPr indent="228600" eaLnBrk="0" hangingPunct="0"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              A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{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| 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，且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整除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，</a:t>
            </a: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  <a:sym typeface="Symbol"/>
              </a:rPr>
              <a:t>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</a:t>
            </a:r>
          </a:p>
          <a:p>
            <a:pPr indent="228600" eaLnBrk="0" hangingPunct="0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</a:t>
            </a:r>
          </a:p>
          <a:p>
            <a:pPr indent="228600" eaLnBrk="0" hangingPunct="0">
              <a:defRPr/>
            </a:pPr>
            <a:endParaRPr lang="zh-CN" altLang="en-US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28600" eaLnBrk="0" hangingPunct="0"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228600" eaLnBrk="0" hangingPunct="0">
              <a:defRPr/>
            </a:pPr>
            <a:endParaRPr lang="zh-CN" altLang="en-US" sz="2400" dirty="0"/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E432DACC-DC2E-4C41-82E3-19D9B8DD4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1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endParaRPr lang="en-US" altLang="zh-CN" sz="1000">
              <a:latin typeface="Times New Roman" pitchFamily="18" charset="0"/>
              <a:cs typeface="Times New Roman" pitchFamily="18" charset="0"/>
            </a:endParaRPr>
          </a:p>
          <a:p>
            <a:pPr eaLnBrk="0" hangingPunct="0">
              <a:defRPr/>
            </a:pPr>
            <a:r>
              <a:rPr lang="en-US" altLang="zh-CN" sz="1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800"/>
              <a:t> </a:t>
            </a:r>
            <a:endParaRPr lang="en-US" altLang="zh-CN"/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C1E7D0FC-2164-484F-B0AB-49C963080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324350"/>
          <a:ext cx="23415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公式" r:id="rId8" imgW="1257120" imgH="253800" progId="Equation.3">
                  <p:embed/>
                </p:oleObj>
              </mc:Choice>
              <mc:Fallback>
                <p:oleObj name="公式" r:id="rId8" imgW="1257120" imgH="25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324350"/>
                        <a:ext cx="234156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0">
            <a:extLst>
              <a:ext uri="{FF2B5EF4-FFF2-40B4-BE49-F238E27FC236}">
                <a16:creationId xmlns:a16="http://schemas.microsoft.com/office/drawing/2014/main" id="{445F6331-2D7C-48C8-8FFE-AC9B9B1AC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868863"/>
          <a:ext cx="80645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公式" r:id="rId10" imgW="4559300" imgH="812800" progId="Equation.3">
                  <p:embed/>
                </p:oleObj>
              </mc:Choice>
              <mc:Fallback>
                <p:oleObj name="公式" r:id="rId10" imgW="4559300" imgH="812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868863"/>
                        <a:ext cx="8064500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13">
            <a:extLst>
              <a:ext uri="{FF2B5EF4-FFF2-40B4-BE49-F238E27FC236}">
                <a16:creationId xmlns:a16="http://schemas.microsoft.com/office/drawing/2014/main" id="{208D8783-248F-4444-A730-D4C97F486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685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>
            <a:extLst>
              <a:ext uri="{FF2B5EF4-FFF2-40B4-BE49-F238E27FC236}">
                <a16:creationId xmlns:a16="http://schemas.microsoft.com/office/drawing/2014/main" id="{DA5085BE-8E1D-4CC2-A90E-FD67EC6F9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136525"/>
            <a:ext cx="8102600" cy="650875"/>
          </a:xfrm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证明交错和的恒等式</a:t>
            </a:r>
          </a:p>
        </p:txBody>
      </p:sp>
      <p:sp>
        <p:nvSpPr>
          <p:cNvPr id="9220" name="灯片编号占位符 4">
            <a:extLst>
              <a:ext uri="{FF2B5EF4-FFF2-40B4-BE49-F238E27FC236}">
                <a16:creationId xmlns:a16="http://schemas.microsoft.com/office/drawing/2014/main" id="{3D380E3E-D3CF-44C7-B4EA-70B70A7E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6BD708-DD3D-4FDF-AAEF-5BE428B75CF1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5DD88E46-A1AA-4E63-84DA-0F35B2763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275" y="1000125"/>
          <a:ext cx="7939088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Document" r:id="rId4" imgW="4721710" imgH="1110678" progId="Word.Document.8">
                  <p:embed/>
                </p:oleObj>
              </mc:Choice>
              <mc:Fallback>
                <p:oleObj name="Document" r:id="rId4" imgW="4721710" imgH="111067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1000125"/>
                        <a:ext cx="7939088" cy="187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4">
            <a:extLst>
              <a:ext uri="{FF2B5EF4-FFF2-40B4-BE49-F238E27FC236}">
                <a16:creationId xmlns:a16="http://schemas.microsoft.com/office/drawing/2014/main" id="{75A7E58D-837C-4077-B413-A11180685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3000375"/>
          <a:ext cx="7213600" cy="311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公式" r:id="rId6" imgW="3644640" imgH="1574640" progId="Equation.3">
                  <p:embed/>
                </p:oleObj>
              </mc:Choice>
              <mc:Fallback>
                <p:oleObj name="公式" r:id="rId6" imgW="3644640" imgH="1574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000375"/>
                        <a:ext cx="7213600" cy="311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22C0D379-6126-42A8-A0BE-18E1FC3DD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52413"/>
            <a:ext cx="8686800" cy="65405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对称筛公式及其应用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D61FAF6-1341-411E-9D57-AD84B31CF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214438"/>
            <a:ext cx="8229600" cy="452596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/>
              <a:t>对称筛公式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错位排列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棋盘多项式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/>
              <a:t>有禁区的排列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7C747F55-CBF0-4C61-A589-07136C95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5E0870-2022-45D4-8AB3-7F82877050F0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D3F35846-E871-41AE-BB81-8B0B48A64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772400" cy="650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对称筛公式</a:t>
            </a:r>
          </a:p>
        </p:txBody>
      </p:sp>
      <p:sp>
        <p:nvSpPr>
          <p:cNvPr id="10243" name="灯片编号占位符 4">
            <a:extLst>
              <a:ext uri="{FF2B5EF4-FFF2-40B4-BE49-F238E27FC236}">
                <a16:creationId xmlns:a16="http://schemas.microsoft.com/office/drawing/2014/main" id="{35043C0B-E57E-41ED-B7E7-A965DC7E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DE966F-4B9A-4C4D-99DC-D60226EF73A1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FB67ADD2-DC1B-4BE1-996F-89A02A6FDD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13" y="1203325"/>
          <a:ext cx="867251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Document" r:id="rId4" imgW="3948550" imgH="1779744" progId="Word.Document.8">
                  <p:embed/>
                </p:oleObj>
              </mc:Choice>
              <mc:Fallback>
                <p:oleObj name="Document" r:id="rId4" imgW="3948550" imgH="177974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1203325"/>
                        <a:ext cx="8672512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4">
            <a:extLst>
              <a:ext uri="{FF2B5EF4-FFF2-40B4-BE49-F238E27FC236}">
                <a16:creationId xmlns:a16="http://schemas.microsoft.com/office/drawing/2014/main" id="{C3A311EE-AA26-4A9F-8F4E-9B0CA7766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040313"/>
            <a:ext cx="6696075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使用条件：不同性质对计数的影响对称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</a:t>
            </a:r>
            <a:r>
              <a:rPr lang="zh-CN" altLang="en-US" sz="2400" b="1">
                <a:latin typeface="Times New Roman" panose="02020603050405020304" pitchFamily="18" charset="0"/>
              </a:rPr>
              <a:t> 各性质计数是独立的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3">
            <a:extLst>
              <a:ext uri="{FF2B5EF4-FFF2-40B4-BE49-F238E27FC236}">
                <a16:creationId xmlns:a16="http://schemas.microsoft.com/office/drawing/2014/main" id="{301C9C45-991F-4B42-96B6-31DBD8288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2875"/>
            <a:ext cx="8229600" cy="7254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应用：错位排列计数</a:t>
            </a:r>
          </a:p>
        </p:txBody>
      </p:sp>
      <p:sp>
        <p:nvSpPr>
          <p:cNvPr id="11268" name="灯片编号占位符 4">
            <a:extLst>
              <a:ext uri="{FF2B5EF4-FFF2-40B4-BE49-F238E27FC236}">
                <a16:creationId xmlns:a16="http://schemas.microsoft.com/office/drawing/2014/main" id="{8E64C8B1-83F1-4794-8CA7-C9C2A3EA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FE5D07-4CB6-4C2E-8BF6-C051477257F3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F097CDC2-AB98-4BC0-8350-78E4AE862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1143000"/>
          <a:ext cx="8178800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Document" r:id="rId4" imgW="3702853" imgH="629181" progId="Word.Document.8">
                  <p:embed/>
                </p:oleObj>
              </mc:Choice>
              <mc:Fallback>
                <p:oleObj name="Document" r:id="rId4" imgW="3702853" imgH="62918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143000"/>
                        <a:ext cx="8178800" cy="1398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4">
            <a:extLst>
              <a:ext uri="{FF2B5EF4-FFF2-40B4-BE49-F238E27FC236}">
                <a16:creationId xmlns:a16="http://schemas.microsoft.com/office/drawing/2014/main" id="{2D43FA14-3497-4997-A4C7-9858C6DF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6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3EB0DAD1-660C-44D5-88D9-C0D6921FC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714625"/>
          <a:ext cx="6929438" cy="309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公式" r:id="rId6" imgW="2857320" imgH="1447560" progId="Equation.3">
                  <p:embed/>
                </p:oleObj>
              </mc:Choice>
              <mc:Fallback>
                <p:oleObj name="公式" r:id="rId6" imgW="2857320" imgH="1447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714625"/>
                        <a:ext cx="6929438" cy="309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>
            <a:extLst>
              <a:ext uri="{FF2B5EF4-FFF2-40B4-BE49-F238E27FC236}">
                <a16:creationId xmlns:a16="http://schemas.microsoft.com/office/drawing/2014/main" id="{23ED7791-E561-4D26-AABD-3C6DC9506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错位排列实例</a:t>
            </a:r>
          </a:p>
        </p:txBody>
      </p:sp>
      <p:sp>
        <p:nvSpPr>
          <p:cNvPr id="12291" name="灯片编号占位符 4">
            <a:extLst>
              <a:ext uri="{FF2B5EF4-FFF2-40B4-BE49-F238E27FC236}">
                <a16:creationId xmlns:a16="http://schemas.microsoft.com/office/drawing/2014/main" id="{D9A29179-F1F9-4185-AA2F-AE2B3DDD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52D03E-7900-4036-8766-CEC434A2D3C0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1273B0A6-94B5-4B38-8A9F-59E783CE1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1285875"/>
          <a:ext cx="7546975" cy="414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文档" r:id="rId4" imgW="3533329" imgH="1941224" progId="Word.Document.8">
                  <p:embed/>
                </p:oleObj>
              </mc:Choice>
              <mc:Fallback>
                <p:oleObj name="文档" r:id="rId4" imgW="3533329" imgH="194122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285875"/>
                        <a:ext cx="7546975" cy="414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>
            <a:extLst>
              <a:ext uri="{FF2B5EF4-FFF2-40B4-BE49-F238E27FC236}">
                <a16:creationId xmlns:a16="http://schemas.microsoft.com/office/drawing/2014/main" id="{55623AF3-2D16-4860-B398-C0946E39B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756" y="131536"/>
            <a:ext cx="8472487" cy="7969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棋盘多项式与有禁区的排列</a:t>
            </a:r>
          </a:p>
        </p:txBody>
      </p:sp>
      <p:sp>
        <p:nvSpPr>
          <p:cNvPr id="13315" name="灯片编号占位符 4">
            <a:extLst>
              <a:ext uri="{FF2B5EF4-FFF2-40B4-BE49-F238E27FC236}">
                <a16:creationId xmlns:a16="http://schemas.microsoft.com/office/drawing/2014/main" id="{984291BA-C81E-418B-AF84-8DA4FC7F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98B92B-0DBC-4B49-92B8-7EC15957730A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C4FEDDA2-FB01-4879-9F32-A343EB5C7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" y="1395413"/>
          <a:ext cx="8229600" cy="431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Document" r:id="rId4" imgW="4123637" imgH="2200516" progId="Word.Document.8">
                  <p:embed/>
                </p:oleObj>
              </mc:Choice>
              <mc:Fallback>
                <p:oleObj name="Document" r:id="rId4" imgW="4123637" imgH="220051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" y="1395413"/>
                        <a:ext cx="8229600" cy="431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>
            <a:extLst>
              <a:ext uri="{FF2B5EF4-FFF2-40B4-BE49-F238E27FC236}">
                <a16:creationId xmlns:a16="http://schemas.microsoft.com/office/drawing/2014/main" id="{D2A5F7BE-9EF3-432B-AC1B-C6F24FE28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棋盘多项式的性质</a:t>
            </a:r>
          </a:p>
        </p:txBody>
      </p:sp>
      <p:sp>
        <p:nvSpPr>
          <p:cNvPr id="14339" name="灯片编号占位符 4">
            <a:extLst>
              <a:ext uri="{FF2B5EF4-FFF2-40B4-BE49-F238E27FC236}">
                <a16:creationId xmlns:a16="http://schemas.microsoft.com/office/drawing/2014/main" id="{956E59E6-E244-47AA-BF90-B3018615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1C68EC-740F-4F0D-8B26-C1EEC7E8FDBB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D597710B-31C6-48FD-95D7-EAC4820F3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57188" y="1143000"/>
          <a:ext cx="9191626" cy="491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文档" r:id="rId4" imgW="4135983" imgH="2208196" progId="Word.Document.8">
                  <p:embed/>
                </p:oleObj>
              </mc:Choice>
              <mc:Fallback>
                <p:oleObj name="文档" r:id="rId4" imgW="4135983" imgH="220819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57188" y="1143000"/>
                        <a:ext cx="9191626" cy="491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>
            <a:extLst>
              <a:ext uri="{FF2B5EF4-FFF2-40B4-BE49-F238E27FC236}">
                <a16:creationId xmlns:a16="http://schemas.microsoft.com/office/drawing/2014/main" id="{7B441AD3-3896-4E19-9A62-FD02E620D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430"/>
            <a:ext cx="8229600" cy="72548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简单棋盘多项式的结果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54E3932-F7C2-4791-8FA6-E4F79E3F1F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93838"/>
            <a:ext cx="8229600" cy="3714750"/>
          </a:xfrm>
        </p:spPr>
        <p:txBody>
          <a:bodyPr/>
          <a:lstStyle/>
          <a:p>
            <a:pPr marL="0" eaLnBrk="1" hangingPunct="1">
              <a:buFont typeface="Wingdings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    ) = 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) = 1+2</a:t>
            </a:r>
            <a:r>
              <a:rPr lang="en-US" altLang="zh-CN" b="1" i="1" dirty="0">
                <a:latin typeface="Times New Roman" pitchFamily="18" charset="0"/>
              </a:rPr>
              <a:t>x</a:t>
            </a:r>
          </a:p>
          <a:p>
            <a:pPr marL="0" eaLnBrk="1" hangingPunct="1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</a:rPr>
              <a:t>  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    ) = 1+2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+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baseline="30000" dirty="0">
                <a:latin typeface="Times New Roman" pitchFamily="18" charset="0"/>
              </a:rPr>
              <a:t>2</a:t>
            </a:r>
          </a:p>
          <a:p>
            <a:pPr marL="0" indent="0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b="1" baseline="30000" dirty="0">
                <a:latin typeface="Times New Roman" pitchFamily="18" charset="0"/>
              </a:rPr>
              <a:t>  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    ) = </a:t>
            </a:r>
            <a:r>
              <a:rPr lang="en-US" altLang="zh-CN" b="1" i="1" dirty="0" err="1">
                <a:latin typeface="Times New Roman" pitchFamily="18" charset="0"/>
              </a:rPr>
              <a:t>xR</a:t>
            </a:r>
            <a:r>
              <a:rPr lang="en-US" altLang="zh-CN" b="1" dirty="0">
                <a:latin typeface="Times New Roman" pitchFamily="18" charset="0"/>
              </a:rPr>
              <a:t>(     )+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   )</a:t>
            </a:r>
            <a:r>
              <a:rPr lang="zh-CN" altLang="en-US" b="1" dirty="0">
                <a:latin typeface="Times New Roman" pitchFamily="18" charset="0"/>
              </a:rPr>
              <a:t>    </a:t>
            </a:r>
            <a:endParaRPr lang="en-US" altLang="zh-CN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zh-CN" altLang="en-US" b="1" i="1" dirty="0">
                <a:latin typeface="Times New Roman" pitchFamily="18" charset="0"/>
              </a:rPr>
              <a:t>               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(1+2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)+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(1+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)+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>
                <a:latin typeface="Times New Roman" pitchFamily="18" charset="0"/>
              </a:rPr>
              <a:t>(         )</a:t>
            </a:r>
          </a:p>
          <a:p>
            <a:pPr marL="0"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</a:rPr>
              <a:t>                = 2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+3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baseline="30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+1+3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+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baseline="30000" dirty="0">
                <a:latin typeface="Times New Roman" pitchFamily="18" charset="0"/>
              </a:rPr>
              <a:t>2 </a:t>
            </a:r>
            <a:r>
              <a:rPr lang="en-US" altLang="zh-CN" b="1" dirty="0">
                <a:latin typeface="Times New Roman" pitchFamily="18" charset="0"/>
              </a:rPr>
              <a:t>= 1+5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+4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baseline="30000" dirty="0">
                <a:latin typeface="Times New Roman" pitchFamily="18" charset="0"/>
              </a:rPr>
              <a:t>2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endParaRPr lang="en-US" altLang="zh-CN" baseline="300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baseline="30000" dirty="0"/>
          </a:p>
        </p:txBody>
      </p:sp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B62C33E8-CFF8-4261-A8D5-FD28F0F2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6357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B6C0C7-160A-49A3-BCCD-A39A1AEA6F01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060B1EEE-0B74-4309-B74E-589760F75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7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7F2BEDC3-6A73-412C-861E-4BC8C933C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052638"/>
            <a:ext cx="5032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3559" name="Group 33">
            <a:extLst>
              <a:ext uri="{FF2B5EF4-FFF2-40B4-BE49-F238E27FC236}">
                <a16:creationId xmlns:a16="http://schemas.microsoft.com/office/drawing/2014/main" id="{3B30023F-5890-42B2-9F10-9D27BF9CCB86}"/>
              </a:ext>
            </a:extLst>
          </p:cNvPr>
          <p:cNvGrpSpPr>
            <a:grpSpLocks/>
          </p:cNvGrpSpPr>
          <p:nvPr/>
        </p:nvGrpSpPr>
        <p:grpSpPr bwMode="auto">
          <a:xfrm>
            <a:off x="971030" y="1412776"/>
            <a:ext cx="3529014" cy="1940205"/>
            <a:chOff x="867" y="-680"/>
            <a:chExt cx="2223" cy="1179"/>
          </a:xfrm>
        </p:grpSpPr>
        <p:grpSp>
          <p:nvGrpSpPr>
            <p:cNvPr id="23560" name="Group 6">
              <a:extLst>
                <a:ext uri="{FF2B5EF4-FFF2-40B4-BE49-F238E27FC236}">
                  <a16:creationId xmlns:a16="http://schemas.microsoft.com/office/drawing/2014/main" id="{355423C0-AD9E-4D2D-AA68-97DDA5AB9E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-595"/>
              <a:ext cx="272" cy="136"/>
              <a:chOff x="1020" y="-1154"/>
              <a:chExt cx="311" cy="180"/>
            </a:xfrm>
          </p:grpSpPr>
          <p:sp>
            <p:nvSpPr>
              <p:cNvPr id="23585" name="Rectangle 7">
                <a:extLst>
                  <a:ext uri="{FF2B5EF4-FFF2-40B4-BE49-F238E27FC236}">
                    <a16:creationId xmlns:a16="http://schemas.microsoft.com/office/drawing/2014/main" id="{A9826831-8E74-4F18-BACF-DC60DDA5F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-1151"/>
                <a:ext cx="311" cy="177"/>
              </a:xfrm>
              <a:prstGeom prst="rect">
                <a:avLst/>
              </a:prstGeom>
              <a:noFill/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86" name="Line 8">
                <a:extLst>
                  <a:ext uri="{FF2B5EF4-FFF2-40B4-BE49-F238E27FC236}">
                    <a16:creationId xmlns:a16="http://schemas.microsoft.com/office/drawing/2014/main" id="{8B46EBCD-A1B7-4823-B65B-F1AFCAF03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6" y="-1154"/>
                <a:ext cx="0" cy="1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23561" name="Group 9">
              <a:extLst>
                <a:ext uri="{FF2B5EF4-FFF2-40B4-BE49-F238E27FC236}">
                  <a16:creationId xmlns:a16="http://schemas.microsoft.com/office/drawing/2014/main" id="{BB2C047A-893A-4707-8BB9-B4036CAF8D0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614" y="47"/>
              <a:ext cx="275" cy="138"/>
              <a:chOff x="-319" y="1023"/>
              <a:chExt cx="314" cy="183"/>
            </a:xfrm>
          </p:grpSpPr>
          <p:sp>
            <p:nvSpPr>
              <p:cNvPr id="23583" name="Rectangle 10">
                <a:extLst>
                  <a:ext uri="{FF2B5EF4-FFF2-40B4-BE49-F238E27FC236}">
                    <a16:creationId xmlns:a16="http://schemas.microsoft.com/office/drawing/2014/main" id="{CF4288FA-9A8A-459C-AC41-52402C05C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19" y="1023"/>
                <a:ext cx="314" cy="181"/>
              </a:xfrm>
              <a:prstGeom prst="rect">
                <a:avLst/>
              </a:prstGeom>
              <a:noFill/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84" name="Line 11">
                <a:extLst>
                  <a:ext uri="{FF2B5EF4-FFF2-40B4-BE49-F238E27FC236}">
                    <a16:creationId xmlns:a16="http://schemas.microsoft.com/office/drawing/2014/main" id="{7EA90A3E-2DC1-4748-BF4F-358EBFC06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72" y="1026"/>
                <a:ext cx="0" cy="1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23562" name="Group 12">
              <a:extLst>
                <a:ext uri="{FF2B5EF4-FFF2-40B4-BE49-F238E27FC236}">
                  <a16:creationId xmlns:a16="http://schemas.microsoft.com/office/drawing/2014/main" id="{FC04F495-F759-4C64-9E23-E799BF597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-330"/>
              <a:ext cx="272" cy="267"/>
              <a:chOff x="1411" y="486"/>
              <a:chExt cx="272" cy="267"/>
            </a:xfrm>
          </p:grpSpPr>
          <p:sp>
            <p:nvSpPr>
              <p:cNvPr id="23581" name="Rectangle 13">
                <a:extLst>
                  <a:ext uri="{FF2B5EF4-FFF2-40B4-BE49-F238E27FC236}">
                    <a16:creationId xmlns:a16="http://schemas.microsoft.com/office/drawing/2014/main" id="{C1D0F2E9-7476-4E8E-8F57-F5C05C7FB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486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82" name="Rectangle 14">
                <a:extLst>
                  <a:ext uri="{FF2B5EF4-FFF2-40B4-BE49-F238E27FC236}">
                    <a16:creationId xmlns:a16="http://schemas.microsoft.com/office/drawing/2014/main" id="{160AD4CE-D952-46B7-8B0D-202BD8DF3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" y="617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63" name="Group 15">
              <a:extLst>
                <a:ext uri="{FF2B5EF4-FFF2-40B4-BE49-F238E27FC236}">
                  <a16:creationId xmlns:a16="http://schemas.microsoft.com/office/drawing/2014/main" id="{74089228-580C-4C96-BDB6-31BD1FDD7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" y="-24"/>
              <a:ext cx="273" cy="399"/>
              <a:chOff x="2182" y="520"/>
              <a:chExt cx="273" cy="399"/>
            </a:xfrm>
          </p:grpSpPr>
          <p:sp>
            <p:nvSpPr>
              <p:cNvPr id="23576" name="Rectangle 16">
                <a:extLst>
                  <a:ext uri="{FF2B5EF4-FFF2-40B4-BE49-F238E27FC236}">
                    <a16:creationId xmlns:a16="http://schemas.microsoft.com/office/drawing/2014/main" id="{A374D8D0-D1FE-47F1-A664-3477E1E35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2" y="520"/>
                <a:ext cx="136" cy="136"/>
              </a:xfrm>
              <a:prstGeom prst="rect">
                <a:avLst/>
              </a:prstGeom>
              <a:solidFill>
                <a:srgbClr val="FF9900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7" name="Rectangle 17">
                <a:extLst>
                  <a:ext uri="{FF2B5EF4-FFF2-40B4-BE49-F238E27FC236}">
                    <a16:creationId xmlns:a16="http://schemas.microsoft.com/office/drawing/2014/main" id="{BF8033F8-D9E1-47E6-BF5E-DE83D7568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652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8" name="Rectangle 18">
                <a:extLst>
                  <a:ext uri="{FF2B5EF4-FFF2-40B4-BE49-F238E27FC236}">
                    <a16:creationId xmlns:a16="http://schemas.microsoft.com/office/drawing/2014/main" id="{1F3AB222-DECE-4623-900A-E13BF9466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2" y="652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9" name="Rectangle 19">
                <a:extLst>
                  <a:ext uri="{FF2B5EF4-FFF2-40B4-BE49-F238E27FC236}">
                    <a16:creationId xmlns:a16="http://schemas.microsoft.com/office/drawing/2014/main" id="{F77D5841-0DD0-4CFE-A885-85CCA5C46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2" y="783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80" name="Rectangle 20">
                <a:extLst>
                  <a:ext uri="{FF2B5EF4-FFF2-40B4-BE49-F238E27FC236}">
                    <a16:creationId xmlns:a16="http://schemas.microsoft.com/office/drawing/2014/main" id="{3F071FE6-4882-49AE-B854-715198DFA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783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64" name="Group 21">
              <a:extLst>
                <a:ext uri="{FF2B5EF4-FFF2-40B4-BE49-F238E27FC236}">
                  <a16:creationId xmlns:a16="http://schemas.microsoft.com/office/drawing/2014/main" id="{69C65DE3-F26E-4617-AF4D-7F70927A9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3" y="-680"/>
              <a:ext cx="136" cy="272"/>
              <a:chOff x="2364" y="-861"/>
              <a:chExt cx="136" cy="272"/>
            </a:xfrm>
          </p:grpSpPr>
          <p:sp>
            <p:nvSpPr>
              <p:cNvPr id="23574" name="Rectangle 22">
                <a:extLst>
                  <a:ext uri="{FF2B5EF4-FFF2-40B4-BE49-F238E27FC236}">
                    <a16:creationId xmlns:a16="http://schemas.microsoft.com/office/drawing/2014/main" id="{0E844D07-FA89-4706-B1DF-474D08A5D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4" y="-861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5" name="Rectangle 23">
                <a:extLst>
                  <a:ext uri="{FF2B5EF4-FFF2-40B4-BE49-F238E27FC236}">
                    <a16:creationId xmlns:a16="http://schemas.microsoft.com/office/drawing/2014/main" id="{1B048C1D-D83E-42BE-88A6-38ECD874D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4" y="-725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/>
              </a:p>
            </p:txBody>
          </p:sp>
        </p:grpSp>
        <p:grpSp>
          <p:nvGrpSpPr>
            <p:cNvPr id="23565" name="Group 24">
              <a:extLst>
                <a:ext uri="{FF2B5EF4-FFF2-40B4-BE49-F238E27FC236}">
                  <a16:creationId xmlns:a16="http://schemas.microsoft.com/office/drawing/2014/main" id="{8F13E406-FD36-4624-BB6D-DCFD422539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-24"/>
              <a:ext cx="272" cy="276"/>
              <a:chOff x="3680" y="747"/>
              <a:chExt cx="272" cy="276"/>
            </a:xfrm>
          </p:grpSpPr>
          <p:sp>
            <p:nvSpPr>
              <p:cNvPr id="23570" name="Rectangle 25">
                <a:extLst>
                  <a:ext uri="{FF2B5EF4-FFF2-40B4-BE49-F238E27FC236}">
                    <a16:creationId xmlns:a16="http://schemas.microsoft.com/office/drawing/2014/main" id="{B6A26C00-43E3-425D-8AE5-002FF1A0C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747"/>
                <a:ext cx="136" cy="136"/>
              </a:xfrm>
              <a:prstGeom prst="rect">
                <a:avLst/>
              </a:prstGeom>
              <a:solidFill>
                <a:srgbClr val="FF9900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1" name="Rectangle 26">
                <a:extLst>
                  <a:ext uri="{FF2B5EF4-FFF2-40B4-BE49-F238E27FC236}">
                    <a16:creationId xmlns:a16="http://schemas.microsoft.com/office/drawing/2014/main" id="{CB002D13-B20C-4A4C-94CD-41CFD0468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" y="747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2" name="Rectangle 27">
                <a:extLst>
                  <a:ext uri="{FF2B5EF4-FFF2-40B4-BE49-F238E27FC236}">
                    <a16:creationId xmlns:a16="http://schemas.microsoft.com/office/drawing/2014/main" id="{B2901945-8387-44E3-8264-CBA9A4DC4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0" y="887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3" name="Rectangle 28">
                <a:extLst>
                  <a:ext uri="{FF2B5EF4-FFF2-40B4-BE49-F238E27FC236}">
                    <a16:creationId xmlns:a16="http://schemas.microsoft.com/office/drawing/2014/main" id="{98756A5F-A9D6-4F8E-A617-BEAD56252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" y="887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66" name="Group 29">
              <a:extLst>
                <a:ext uri="{FF2B5EF4-FFF2-40B4-BE49-F238E27FC236}">
                  <a16:creationId xmlns:a16="http://schemas.microsoft.com/office/drawing/2014/main" id="{F5E876FF-22F8-4473-A7A3-279E07848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8" y="224"/>
              <a:ext cx="272" cy="275"/>
              <a:chOff x="1458" y="1630"/>
              <a:chExt cx="272" cy="275"/>
            </a:xfrm>
          </p:grpSpPr>
          <p:sp>
            <p:nvSpPr>
              <p:cNvPr id="23567" name="Rectangle 30">
                <a:extLst>
                  <a:ext uri="{FF2B5EF4-FFF2-40B4-BE49-F238E27FC236}">
                    <a16:creationId xmlns:a16="http://schemas.microsoft.com/office/drawing/2014/main" id="{EB8AFA3D-8B4E-41ED-BEA4-F011CCDF6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4" y="1630"/>
                <a:ext cx="136" cy="136"/>
              </a:xfrm>
              <a:prstGeom prst="rect">
                <a:avLst/>
              </a:prstGeom>
              <a:solidFill>
                <a:srgbClr val="FF9900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68" name="Rectangle 31">
                <a:extLst>
                  <a:ext uri="{FF2B5EF4-FFF2-40B4-BE49-F238E27FC236}">
                    <a16:creationId xmlns:a16="http://schemas.microsoft.com/office/drawing/2014/main" id="{D1816556-B419-4500-840D-8D75A3C98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1766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69" name="Rectangle 32">
                <a:extLst>
                  <a:ext uri="{FF2B5EF4-FFF2-40B4-BE49-F238E27FC236}">
                    <a16:creationId xmlns:a16="http://schemas.microsoft.com/office/drawing/2014/main" id="{082FDC61-B258-499B-9730-2DB9FA57F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4" y="1769"/>
                <a:ext cx="136" cy="1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>
            <a:extLst>
              <a:ext uri="{FF2B5EF4-FFF2-40B4-BE49-F238E27FC236}">
                <a16:creationId xmlns:a16="http://schemas.microsoft.com/office/drawing/2014/main" id="{08EC0255-C358-449A-AF0E-66AB198AC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6683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有禁区的排列</a:t>
            </a:r>
          </a:p>
        </p:txBody>
      </p:sp>
      <p:sp>
        <p:nvSpPr>
          <p:cNvPr id="15363" name="灯片编号占位符 4">
            <a:extLst>
              <a:ext uri="{FF2B5EF4-FFF2-40B4-BE49-F238E27FC236}">
                <a16:creationId xmlns:a16="http://schemas.microsoft.com/office/drawing/2014/main" id="{69B2918B-84C2-4F5B-84B8-804DE751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8AE977-B767-41B4-A253-9178410F63AA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E5803800-7439-41C8-8F7C-BB5D6EDDE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6825"/>
            <a:ext cx="8358188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6388" eaLnBrk="0" hangingPunct="0">
              <a:lnSpc>
                <a:spcPts val="3500"/>
              </a:lnSpc>
              <a:defRPr/>
            </a:pPr>
            <a:r>
              <a:rPr lang="zh-CN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有禁区的排列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306388" eaLnBrk="0" hangingPunct="0">
              <a:lnSpc>
                <a:spcPts val="3500"/>
              </a:lnSpc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限制某些数字不能出现在某些位置的排列，这些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位置对 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306388" eaLnBrk="0" hangingPunct="0">
              <a:lnSpc>
                <a:spcPts val="3500"/>
              </a:lnSpc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应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于棋盘的禁区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400" dirty="0"/>
          </a:p>
          <a:p>
            <a:pPr eaLnBrk="0" hangingPunct="0">
              <a:lnSpc>
                <a:spcPts val="3500"/>
              </a:lnSpc>
              <a:spcBef>
                <a:spcPts val="1200"/>
              </a:spcBef>
              <a:defRPr/>
            </a:pPr>
            <a:r>
              <a:rPr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    定理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是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的具有给定禁区的棋盘，禁区对应于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{1, 2, </a:t>
            </a:r>
          </a:p>
          <a:p>
            <a:pPr eaLnBrk="0" hangingPunct="0">
              <a:lnSpc>
                <a:spcPts val="35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… 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的元素在排列中不允许出现的位置，则这种有禁</a:t>
            </a: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lnSpc>
                <a:spcPts val="3500"/>
              </a:lnSpc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区的排列数为</a:t>
            </a: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762000" eaLnBrk="0" hangingPunct="0">
              <a:lnSpc>
                <a:spcPts val="3500"/>
              </a:lnSpc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762000" eaLnBrk="0" hangingPunct="0">
              <a:lnSpc>
                <a:spcPts val="3500"/>
              </a:lnSpc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648000" eaLnBrk="0" hangingPunct="0">
              <a:lnSpc>
                <a:spcPts val="3500"/>
              </a:lnSpc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其中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400" b="1" i="1" baseline="-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是 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个棋子布置到禁区的方案数</a:t>
            </a:r>
            <a:endParaRPr lang="zh-CN" altLang="en-US" sz="2400" dirty="0"/>
          </a:p>
          <a:p>
            <a:pPr indent="762000" eaLnBrk="0" hangingPunct="0">
              <a:defRPr/>
            </a:pPr>
            <a:endParaRPr lang="zh-CN" altLang="en-US" sz="2400" dirty="0">
              <a:sym typeface="Symbol" pitchFamily="18" charset="2"/>
            </a:endParaRPr>
          </a:p>
          <a:p>
            <a:pPr indent="762000" eaLnBrk="0" hangingPunct="0">
              <a:defRPr/>
            </a:pPr>
            <a:endParaRPr lang="zh-CN" altLang="en-US" sz="28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5362" name="Object 3">
            <a:extLst>
              <a:ext uri="{FF2B5EF4-FFF2-40B4-BE49-F238E27FC236}">
                <a16:creationId xmlns:a16="http://schemas.microsoft.com/office/drawing/2014/main" id="{26A88EA6-00BE-4CC4-98D0-6FB66055B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4286250"/>
          <a:ext cx="638651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公式" r:id="rId4" imgW="2361960" imgH="241200" progId="Equation.3">
                  <p:embed/>
                </p:oleObj>
              </mc:Choice>
              <mc:Fallback>
                <p:oleObj name="公式" r:id="rId4" imgW="236196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286250"/>
                        <a:ext cx="6386513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>
            <a:extLst>
              <a:ext uri="{FF2B5EF4-FFF2-40B4-BE49-F238E27FC236}">
                <a16:creationId xmlns:a16="http://schemas.microsoft.com/office/drawing/2014/main" id="{B3674308-43AC-4329-9212-8A9A00172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772400" cy="650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定理证明</a:t>
            </a:r>
          </a:p>
        </p:txBody>
      </p:sp>
      <p:sp>
        <p:nvSpPr>
          <p:cNvPr id="16387" name="灯片编号占位符 4">
            <a:extLst>
              <a:ext uri="{FF2B5EF4-FFF2-40B4-BE49-F238E27FC236}">
                <a16:creationId xmlns:a16="http://schemas.microsoft.com/office/drawing/2014/main" id="{C64D6D2D-197E-4576-82D5-5A9D0AB9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F762EF-D836-4D03-9954-7AB6CCF356E8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AE74682-55EB-4882-938A-29C8F123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214438"/>
            <a:ext cx="8072438" cy="418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48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不考虑禁区限制，不带编号棋子的布棋方案数为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!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endParaRPr lang="zh-CN" altLang="en-US" sz="2400" dirty="0"/>
          </a:p>
          <a:p>
            <a:pPr indent="3600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考虑棋子编号，布棋方案数为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!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!</a:t>
            </a:r>
            <a:endParaRPr lang="en-US" altLang="zh-CN" sz="2400" dirty="0"/>
          </a:p>
          <a:p>
            <a:pPr indent="457200" eaLnBrk="0" hangingPunct="0">
              <a:spcBef>
                <a:spcPts val="1800"/>
              </a:spcBef>
              <a:defRPr/>
            </a:pP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第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个棋子落入禁区的性质 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=1, 2, ..,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给定的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个棋子落入禁区的方案数：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-1)!(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-1)!  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给定的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个棋子落入禁区的方案数：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2!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-2)!(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-2)!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给定的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个棋子落入禁区的方案数：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!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)!(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)!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endParaRPr lang="en-US" altLang="zh-CN" sz="2400" dirty="0"/>
          </a:p>
          <a:p>
            <a:pPr indent="457200" eaLnBrk="0" hangingPunct="0">
              <a:spcBef>
                <a:spcPts val="600"/>
              </a:spcBef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个棋子落入禁区的方案数：    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!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i="1" baseline="-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0! 0!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C62AE935-C3C9-42A2-B8B6-652AD90EC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定理证明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1" name="灯片编号占位符 4">
            <a:extLst>
              <a:ext uri="{FF2B5EF4-FFF2-40B4-BE49-F238E27FC236}">
                <a16:creationId xmlns:a16="http://schemas.microsoft.com/office/drawing/2014/main" id="{B7E7255E-47B9-4775-9405-D929D17E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E15D03-6463-4A6A-91CC-64EC32020E31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B99FE042-3BA0-4E2C-8DEA-9735321BF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25748C1B-033E-4F64-BA5E-D51C229D5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1643063"/>
          <a:ext cx="8297863" cy="316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公式" r:id="rId4" imgW="3759120" imgH="1434960" progId="Equation.3">
                  <p:embed/>
                </p:oleObj>
              </mc:Choice>
              <mc:Fallback>
                <p:oleObj name="公式" r:id="rId4" imgW="3759120" imgH="1434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643063"/>
                        <a:ext cx="8297863" cy="316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5">
            <a:extLst>
              <a:ext uri="{FF2B5EF4-FFF2-40B4-BE49-F238E27FC236}">
                <a16:creationId xmlns:a16="http://schemas.microsoft.com/office/drawing/2014/main" id="{28094002-3F9A-4B86-B9D9-8E0FAC7D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5753100"/>
            <a:ext cx="4560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52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适用条件：棋盘为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小禁区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6392" name="Rectangle 6">
            <a:extLst>
              <a:ext uri="{FF2B5EF4-FFF2-40B4-BE49-F238E27FC236}">
                <a16:creationId xmlns:a16="http://schemas.microsoft.com/office/drawing/2014/main" id="{292E710B-720F-4974-93C2-1B1E148B0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071563"/>
            <a:ext cx="4826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带编号的棋子不落入禁区的方案数</a:t>
            </a:r>
          </a:p>
        </p:txBody>
      </p:sp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CB549750-E84A-4CA8-81BF-D8C833800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143500"/>
          <a:ext cx="78692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公式" r:id="rId6" imgW="3797280" imgH="241200" progId="Equation.3">
                  <p:embed/>
                </p:oleObj>
              </mc:Choice>
              <mc:Fallback>
                <p:oleObj name="公式" r:id="rId6" imgW="379728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143500"/>
                        <a:ext cx="78692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4">
            <a:extLst>
              <a:ext uri="{FF2B5EF4-FFF2-40B4-BE49-F238E27FC236}">
                <a16:creationId xmlns:a16="http://schemas.microsoft.com/office/drawing/2014/main" id="{E27FE118-CCE3-4A09-BD8E-9B82F0961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</a:p>
        </p:txBody>
      </p:sp>
      <p:sp>
        <p:nvSpPr>
          <p:cNvPr id="18435" name="灯片编号占位符 4">
            <a:extLst>
              <a:ext uri="{FF2B5EF4-FFF2-40B4-BE49-F238E27FC236}">
                <a16:creationId xmlns:a16="http://schemas.microsoft.com/office/drawing/2014/main" id="{06D0B102-AD91-4B78-A127-C6BA751F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FB8985-B9FB-432E-8447-B775BC6BFD65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4" name="Rectangle 3">
            <a:extLst>
              <a:ext uri="{FF2B5EF4-FFF2-40B4-BE49-F238E27FC236}">
                <a16:creationId xmlns:a16="http://schemas.microsoft.com/office/drawing/2014/main" id="{821F7B84-62BA-456D-812C-7B39BB42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7416" name="Picture 6" descr="9">
            <a:extLst>
              <a:ext uri="{FF2B5EF4-FFF2-40B4-BE49-F238E27FC236}">
                <a16:creationId xmlns:a16="http://schemas.microsoft.com/office/drawing/2014/main" id="{F13DD05A-6932-426A-84F6-0EF0CED08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65" r="-5882"/>
          <a:stretch>
            <a:fillRect/>
          </a:stretch>
        </p:blipFill>
        <p:spPr bwMode="auto">
          <a:xfrm>
            <a:off x="5580063" y="2420938"/>
            <a:ext cx="2370137" cy="193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4">
            <a:extLst>
              <a:ext uri="{FF2B5EF4-FFF2-40B4-BE49-F238E27FC236}">
                <a16:creationId xmlns:a16="http://schemas.microsoft.com/office/drawing/2014/main" id="{10197E14-9C5D-43EA-92ED-C470F7062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85875"/>
            <a:ext cx="9144000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06388" eaLnBrk="0" hangingPunct="0">
              <a:defRPr/>
            </a:pP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位工作人员，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项工作，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每个</a:t>
            </a:r>
            <a:endParaRPr lang="zh-CN" altLang="en-US" sz="2400" dirty="0">
              <a:latin typeface="Arial" charset="0"/>
            </a:endParaRPr>
          </a:p>
          <a:p>
            <a:pPr indent="216000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人不能从事的工作如图所示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每个人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项工作，求分配方案数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   </a:t>
            </a:r>
            <a:endParaRPr lang="zh-CN" altLang="en-US" sz="2400" dirty="0"/>
          </a:p>
          <a:p>
            <a:pPr indent="180000" eaLnBrk="0" hangingPunct="0">
              <a:spcBef>
                <a:spcPts val="18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解  禁区的棋盘多项式为</a:t>
            </a:r>
            <a:endParaRPr lang="zh-CN" altLang="en-US" sz="2400" dirty="0"/>
          </a:p>
          <a:p>
            <a:pPr indent="685800" eaLnBrk="0" hangingPunct="0">
              <a:defRPr/>
            </a:pPr>
            <a:endParaRPr lang="zh-CN" altLang="en-US" dirty="0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368E6487-5D4F-47BF-B502-382AD54B9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857750"/>
            <a:ext cx="7143750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spcBef>
                <a:spcPts val="12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 </a:t>
            </a:r>
          </a:p>
          <a:p>
            <a:pPr eaLnBrk="0" hangingPunct="0">
              <a:spcBef>
                <a:spcPts val="1200"/>
              </a:spcBef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= 4! </a:t>
            </a:r>
            <a:r>
              <a:rPr lang="en-US" altLang="zh-CN" sz="2800" b="1" dirty="0">
                <a:latin typeface="Arial"/>
                <a:cs typeface="Times New Roman" pitchFamily="18" charset="0"/>
              </a:rPr>
              <a:t>–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6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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3! + 10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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altLang="zh-CN" sz="2800" b="1" dirty="0">
                <a:latin typeface="Arial"/>
                <a:cs typeface="Times New Roman" pitchFamily="18" charset="0"/>
              </a:rPr>
              <a:t>–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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24–36+20–4 = 4 </a:t>
            </a:r>
          </a:p>
        </p:txBody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A46A9593-A45E-47CA-874D-32CF5CB99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graphicFrame>
        <p:nvGraphicFramePr>
          <p:cNvPr id="17411" name="Object 6">
            <a:extLst>
              <a:ext uri="{FF2B5EF4-FFF2-40B4-BE49-F238E27FC236}">
                <a16:creationId xmlns:a16="http://schemas.microsoft.com/office/drawing/2014/main" id="{BAC49FE0-DD0F-44F6-9565-5603B56A3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3105150"/>
          <a:ext cx="318135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公式" r:id="rId5" imgW="1282680" imgH="469800" progId="Equation.3">
                  <p:embed/>
                </p:oleObj>
              </mc:Choice>
              <mc:Fallback>
                <p:oleObj name="公式" r:id="rId5" imgW="128268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105150"/>
                        <a:ext cx="3181350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8">
            <a:extLst>
              <a:ext uri="{FF2B5EF4-FFF2-40B4-BE49-F238E27FC236}">
                <a16:creationId xmlns:a16="http://schemas.microsoft.com/office/drawing/2014/main" id="{D9A7FF18-DA2C-40A9-90B5-492DD47AA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4786313"/>
          <a:ext cx="61436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公式" r:id="rId7" imgW="2374560" imgH="228600" progId="Equation.3">
                  <p:embed/>
                </p:oleObj>
              </mc:Choice>
              <mc:Fallback>
                <p:oleObj name="公式" r:id="rId7" imgW="23745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4786313"/>
                        <a:ext cx="614362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>
            <a:extLst>
              <a:ext uri="{FF2B5EF4-FFF2-40B4-BE49-F238E27FC236}">
                <a16:creationId xmlns:a16="http://schemas.microsoft.com/office/drawing/2014/main" id="{23BD0BA9-E63E-4BE5-A314-F9D9F2B4C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错排问题</a:t>
            </a:r>
          </a:p>
        </p:txBody>
      </p:sp>
      <p:sp>
        <p:nvSpPr>
          <p:cNvPr id="19460" name="灯片编号占位符 4">
            <a:extLst>
              <a:ext uri="{FF2B5EF4-FFF2-40B4-BE49-F238E27FC236}">
                <a16:creationId xmlns:a16="http://schemas.microsoft.com/office/drawing/2014/main" id="{2DBC930F-DDC7-43F1-AF83-978452F0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D6C672-D0DA-45CC-8C42-0A8A5908F2EF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73A8F0C-16A4-4F08-A04B-82A36BF3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0188"/>
            <a:ext cx="60721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685800" eaLnBrk="0" hangingPunct="0">
              <a:defRPr/>
            </a:pP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)=(1+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b="1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sz="2800" b="1" i="1" baseline="30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438" name="组合 15">
            <a:extLst>
              <a:ext uri="{FF2B5EF4-FFF2-40B4-BE49-F238E27FC236}">
                <a16:creationId xmlns:a16="http://schemas.microsoft.com/office/drawing/2014/main" id="{B29E4687-3518-48CB-8E0E-03F3EB50F4E7}"/>
              </a:ext>
            </a:extLst>
          </p:cNvPr>
          <p:cNvGrpSpPr>
            <a:grpSpLocks/>
          </p:cNvGrpSpPr>
          <p:nvPr/>
        </p:nvGrpSpPr>
        <p:grpSpPr bwMode="auto">
          <a:xfrm>
            <a:off x="2214563" y="1285875"/>
            <a:ext cx="1071562" cy="1101725"/>
            <a:chOff x="1316110" y="1785926"/>
            <a:chExt cx="1071570" cy="110182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31396B-6F20-449D-B63C-7FFD5AF5A687}"/>
                </a:ext>
              </a:extLst>
            </p:cNvPr>
            <p:cNvSpPr/>
            <p:nvPr/>
          </p:nvSpPr>
          <p:spPr>
            <a:xfrm>
              <a:off x="1316110" y="1785926"/>
              <a:ext cx="214314" cy="2143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CF2303-75F5-46E8-96EA-340A2122FA1E}"/>
                </a:ext>
              </a:extLst>
            </p:cNvPr>
            <p:cNvSpPr/>
            <p:nvPr/>
          </p:nvSpPr>
          <p:spPr>
            <a:xfrm>
              <a:off x="1509786" y="2009785"/>
              <a:ext cx="204789" cy="20480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5ACAB7B-837B-41A3-922F-0781754B9DF1}"/>
                </a:ext>
              </a:extLst>
            </p:cNvPr>
            <p:cNvSpPr/>
            <p:nvPr/>
          </p:nvSpPr>
          <p:spPr>
            <a:xfrm>
              <a:off x="2171778" y="2671834"/>
              <a:ext cx="215902" cy="215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18444" name="组合 14">
              <a:extLst>
                <a:ext uri="{FF2B5EF4-FFF2-40B4-BE49-F238E27FC236}">
                  <a16:creationId xmlns:a16="http://schemas.microsoft.com/office/drawing/2014/main" id="{432172A5-3AEF-45C4-A148-A92D779CC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918" y="2285992"/>
              <a:ext cx="357190" cy="357190"/>
              <a:chOff x="3571868" y="2357430"/>
              <a:chExt cx="357190" cy="357190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0040913-1D35-403F-8A9A-0737FFE05E4A}"/>
                  </a:ext>
                </a:extLst>
              </p:cNvPr>
              <p:cNvSpPr/>
              <p:nvPr/>
            </p:nvSpPr>
            <p:spPr>
              <a:xfrm>
                <a:off x="3571964" y="2357474"/>
                <a:ext cx="71438" cy="714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F27674C0-5EBD-4F22-A9A9-6EAA4269DE2F}"/>
                  </a:ext>
                </a:extLst>
              </p:cNvPr>
              <p:cNvSpPr/>
              <p:nvPr/>
            </p:nvSpPr>
            <p:spPr>
              <a:xfrm>
                <a:off x="3714840" y="2500362"/>
                <a:ext cx="71438" cy="714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0F2AF1DB-7214-4674-8D13-C17A203F21A3}"/>
                  </a:ext>
                </a:extLst>
              </p:cNvPr>
              <p:cNvSpPr/>
              <p:nvPr/>
            </p:nvSpPr>
            <p:spPr>
              <a:xfrm>
                <a:off x="3857716" y="2643250"/>
                <a:ext cx="71438" cy="714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18439" name="矩形 16">
            <a:extLst>
              <a:ext uri="{FF2B5EF4-FFF2-40B4-BE49-F238E27FC236}">
                <a16:creationId xmlns:a16="http://schemas.microsoft.com/office/drawing/2014/main" id="{07343725-9EEF-4EC1-9815-3E560C17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500313"/>
            <a:ext cx="792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1+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,1)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,2)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… +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0" name="Rectangle 4">
            <a:extLst>
              <a:ext uri="{FF2B5EF4-FFF2-40B4-BE49-F238E27FC236}">
                <a16:creationId xmlns:a16="http://schemas.microsoft.com/office/drawing/2014/main" id="{A2EAFE8B-EE80-4B27-B865-131F6923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34" name="Object 3">
            <a:extLst>
              <a:ext uri="{FF2B5EF4-FFF2-40B4-BE49-F238E27FC236}">
                <a16:creationId xmlns:a16="http://schemas.microsoft.com/office/drawing/2014/main" id="{5B075E17-214E-48FB-8B62-DB2D08A67F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3357563"/>
          <a:ext cx="6597650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公式" r:id="rId4" imgW="2971800" imgH="1193800" progId="Equation.3">
                  <p:embed/>
                </p:oleObj>
              </mc:Choice>
              <mc:Fallback>
                <p:oleObj name="公式" r:id="rId4" imgW="2971800" imgH="119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357563"/>
                        <a:ext cx="6597650" cy="2643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3742</TotalTime>
  <Words>875</Words>
  <Application>Microsoft Office PowerPoint</Application>
  <PresentationFormat>全屏显示(4:3)</PresentationFormat>
  <Paragraphs>144</Paragraphs>
  <Slides>23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Calibri</vt:lpstr>
      <vt:lpstr>Times New Roman</vt:lpstr>
      <vt:lpstr>Wingdings</vt:lpstr>
      <vt:lpstr>Symbol</vt:lpstr>
      <vt:lpstr>Lucida Console</vt:lpstr>
      <vt:lpstr>代数结构PPT</vt:lpstr>
      <vt:lpstr>公式</vt:lpstr>
      <vt:lpstr>Document</vt:lpstr>
      <vt:lpstr>文档</vt:lpstr>
      <vt:lpstr>Microsoft 公式 3.0</vt:lpstr>
      <vt:lpstr>Microsoft Office Word 97 - 2003 文档</vt:lpstr>
      <vt:lpstr>第二十三章 组合计数定理</vt:lpstr>
      <vt:lpstr>23.1 包含排斥原理</vt:lpstr>
      <vt:lpstr>包含排斥原理的基本形式</vt:lpstr>
      <vt:lpstr>推论</vt:lpstr>
      <vt:lpstr>证明</vt:lpstr>
      <vt:lpstr>应 用</vt:lpstr>
      <vt:lpstr>计数多重集 r 组合数(续)</vt:lpstr>
      <vt:lpstr>计数限制条件元素数</vt:lpstr>
      <vt:lpstr>计数限制条件元素数</vt:lpstr>
      <vt:lpstr>欧拉函数的值</vt:lpstr>
      <vt:lpstr>证明交错和的恒等式</vt:lpstr>
      <vt:lpstr>23.2 对称筛公式及其应用</vt:lpstr>
      <vt:lpstr>对称筛公式</vt:lpstr>
      <vt:lpstr>应用：错位排列计数</vt:lpstr>
      <vt:lpstr>错位排列实例</vt:lpstr>
      <vt:lpstr>棋盘多项式与有禁区的排列</vt:lpstr>
      <vt:lpstr>棋盘多项式的性质</vt:lpstr>
      <vt:lpstr>简单棋盘多项式的结果</vt:lpstr>
      <vt:lpstr>有禁区的排列</vt:lpstr>
      <vt:lpstr>定理证明</vt:lpstr>
      <vt:lpstr>定理证明(续)</vt:lpstr>
      <vt:lpstr>应用</vt:lpstr>
      <vt:lpstr>应用—错排问题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335</cp:revision>
  <dcterms:created xsi:type="dcterms:W3CDTF">2005-12-02T07:25:32Z</dcterms:created>
  <dcterms:modified xsi:type="dcterms:W3CDTF">2020-08-17T06:22:24Z</dcterms:modified>
</cp:coreProperties>
</file>