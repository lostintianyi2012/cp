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23"/>
  </p:notes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6600"/>
    <a:srgbClr val="FF9900"/>
    <a:srgbClr val="009900"/>
    <a:srgbClr val="336600"/>
    <a:srgbClr val="FFCC00"/>
    <a:srgbClr val="FFFF99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 varScale="1">
        <p:scale>
          <a:sx n="79" d="100"/>
          <a:sy n="79" d="100"/>
        </p:scale>
        <p:origin x="13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emf"/><Relationship Id="rId4" Type="http://schemas.openxmlformats.org/officeDocument/2006/relationships/image" Target="../media/image2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D3A1277-51FC-4467-B1D8-F95715A87E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3FF53B-20F9-4759-9123-9588D877579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542FC528-D003-4FFB-BC38-C32DF2069B19}" type="datetimeFigureOut">
              <a:rPr lang="zh-CN" altLang="en-US"/>
              <a:pPr>
                <a:defRPr/>
              </a:pPr>
              <a:t>2020/8/3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E12F9004-49B5-4CF9-98E6-C9EA6AE7A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3604807-579C-4F48-81C8-A4F49BD73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BF934B-2239-4B05-AF02-EEC1F9225E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ACB141-5A65-4D2F-B1AD-A197E1314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DA895138-9091-41C9-A378-B0B7B31FF0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1E74B35F-81EA-4421-87B8-F9EBFD8486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0BA3FC0-B1A0-45F0-9305-88FBD803EFDF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88CBB4E5-CD1E-43D6-9329-D23D5DC089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063B1A07-00F7-40BE-952F-BE5D18C6D7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F98FD022-BCA8-491C-9105-2E63D9E1D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EF2CF10-E57C-414B-B0C2-ECCF849720B5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B354C28-AE93-4F59-A17B-18A11E4CD5C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343F5EFF-8603-444D-9F42-F66BD7E49E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10E7D528-52D0-41A6-A2A7-F13F2C63F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DA88BAE-FE09-4D6C-B497-144C8CCA2BBE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99BBBC36-FF26-4372-986C-51C8CA5D71A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56ED867-032A-4529-BB9C-F9984A169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439BB192-3CD3-4C40-844E-EEA5548A6A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DB85C21-988C-442A-8D18-95B7BCF34800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43832A1-3A09-48A7-9A96-CD60705720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3BAFBAE0-8394-4A07-9DE0-FC081C251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74937842-F02B-40F9-A557-AA324C19CC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C822299-021C-43EA-B7BF-84648F2638A0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C5A90D74-DC98-40F8-AD47-5D4CAEB2C3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B14EBA1-9948-42CA-B275-41A8EDDB7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A9CAAE5-966D-4FE7-9240-F7862EF9EE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7D9C358-F7F5-45FD-ACAB-C52432D46E49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A2BD3DFA-D65F-47CF-A5D5-8CCA6A9D66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7F3BCE8-2CF8-4A3B-A097-80E39AAF9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8FF3547-EE49-49E9-93A4-17C79D5CD6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40B2B45-3F75-4E17-8F3C-148C6A6865C9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B9430B3-C0B8-4EB9-AAEA-C43FB4147CD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083855C3-2309-4162-BA05-17D880077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75152F70-6CCA-4732-A091-606BAA8857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CB9B62C-B205-420A-A894-128108C1C761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8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D4E9206-66FA-44C9-AE39-76695538E4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E9A69473-E44E-4CE3-B10F-13A047B570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0BE4F37A-9AF2-40BC-B339-FB146EE7A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26E3E5A-1380-434F-AE24-67288561267C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1120464F-2B41-49B7-AC67-9423949D1C4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30F79D2-D733-4109-914C-92E51BF65F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E384D3F0-1125-4304-94E9-2B39904B9F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A6C6CBE-BEA1-4E61-B082-EF78C583346C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7D89BFC-DFA3-43D2-842F-97FD0662C51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D97B48D-E78A-4D36-AD98-6FC53E6A8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6D6B576E-AE40-4DFF-8CB1-C2EE62EBC1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E138C08-7114-468E-B685-C1101AA32665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11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5EE2497-ED28-4249-AE67-183B435B6B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7F00796-F0ED-45E6-845B-06A454E027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ABBA89C8-F11C-48BF-824D-6FAD0EC8EE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0014C0E-4B6D-4E1E-8E0C-A45D4268C155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12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1426E04B-6A21-4662-9B0B-96E632392E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26A5466B-3B33-48C2-970A-E9CB7DB90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097D6CEE-3DF9-47BB-83F1-29EA789092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974C6FE-2651-4318-AE70-43C598317E2A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13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9AAC496-7BEA-47FB-8450-D85DB814778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B4F7376-1B70-49CC-9DB5-3ABE22569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02663AA-0C53-4C48-A525-EE5AF0AB7E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2D33BE7-7551-4862-AAB3-650DC7EFDB23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14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209A7B19-C2BC-46E5-9084-D46880FA29F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5DDCA5BB-AFA4-4249-982C-04C93CB514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BC35A47A-6DC1-4297-84D6-6D22A7151B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C9A45C7-E4FB-4F58-A95A-D3FE6CDE51A4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15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07AE5AA6-631D-41D4-8EB5-BA0BA3EB21F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0716342-4084-48EF-97B2-47992E7F0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DE33A63A-2425-45CC-8065-89796DF593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88B677A-8FC7-49BF-BD8F-E088FE4AA5F1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16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892EDFC-28D5-4D24-80C0-D957718E7DD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A0761E0D-0034-4699-A3C5-82AD6E258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50331EBA-B754-4685-92E9-0920D32E32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1A5A929-09C4-4628-9816-DCB2879EB9CC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17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911D8F2-B859-404C-95A8-1E668F6AC0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81A57898-443B-46A1-A88F-3CAC073DD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A2B56423-A08D-4871-B3DB-BDA4E034BA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6EFC351-E53B-47B3-ABEA-7FD634299706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18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A77B2CB-3EAA-4C03-A560-8EA708E7D0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4C389AB1-FB8E-4FC0-9A0D-51CE430CA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D85FF9C0-66B9-4E12-A2B7-E51F255A51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8BCFDB5-CE30-4526-A413-F89D376BAD6C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19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662C747-9AA6-45CA-B391-92372B7446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E9DDD53B-D41D-4576-8713-A4C1CAAAC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1684C9F8-4278-4F2A-8987-5C27994956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23B51E2-7EC9-43D2-9DDC-0FB6F7622F17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20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111D5B3-25DF-4709-B08D-414A04EB2AB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5BAE9361-286B-4B18-805F-EADA5337A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227D1038-8956-41AE-96C6-5B2748CFDF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0E402A9-F7F7-4071-A12D-C738D8BF7D22}" type="slidenum">
              <a:rPr lang="en-US" altLang="zh-CN" sz="1300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21</a:t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32158E8-9022-4286-8EA3-767D1FDB18E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9F917733-3E63-458D-AC7D-FF39C814D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34838-098B-4D8D-9380-40D1B9B5C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8B46A-98E2-4AC5-908E-C1A214B4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99D55-7F99-43C3-A1B9-DDA48969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6B60F-F7A5-467C-8570-29CE55FC48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826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7CB1F-8D3B-415B-9724-909DBDED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430FA-18AE-4598-BB46-6567DFD3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CA1A8-3EB2-4E1A-B2AF-874616F6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1DD0C-8EB3-4D8C-948D-E6972E2378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759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77222-7258-4C2F-8102-43CAA33B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792D4-7205-4106-AB3F-17AA2673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7B51D-FC44-42A0-B806-97409218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DE310-8431-40AB-8D1A-581E9744F0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055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93CE654-67E9-4958-888C-B28ADC5E5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25C2199-DE4E-4C61-B93A-0225E1A9F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652772-F42F-4084-9E64-D5EECA4A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18291-4ABD-4779-BAC1-EFE6FA63CF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853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4B4CC7D-4673-45B4-84EF-5F4FCDD8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DA610A-DC46-4114-898D-B3EE7A069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A39DB3F-4E22-4D05-A4D3-0C72D541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60C2F-A24D-4C2E-8ED3-5524D5E6E6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008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196557E-3AAC-41C5-836D-B41703F7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3E7FA0-A49A-4489-A572-6C50242D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F51BE46-3916-492A-8AB3-A79BC7A5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B6093-4F88-47AB-B57C-7740DFF4DB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140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1095F84-5F4F-4661-ADCC-82E0C2D3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219E81A-2228-49A1-93DB-F1DF31FB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3FFB05-22F6-462A-996A-5C77BC05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F80F8-8DA0-4969-BCB5-58315E9621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437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ED013-991D-4559-ABA4-A5802C502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937F1EB-C084-4DF9-9F1F-01EB2D3C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FC407F-9293-4439-A3D7-D0D9D513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95D44-4A85-4F07-A556-57074802B3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551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741E836-6C54-4104-A356-3C9476F2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470E609-9290-42F9-B3A6-9CEDBBC9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657FDB-88F1-49EB-BA56-7313A2966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7983F-6718-4C3C-A082-D411E3DD46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44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53B45-7C9A-4C85-9495-E6F48582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EC7A3-37CE-4209-B748-C74FF228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1AA6-BC2D-46BB-B628-76080A79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498D7-FD03-4249-A917-B5585F35EC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9705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83928-9974-4B13-AA9A-C483F643B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C9D59-08B9-4052-A182-533597443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8C57-69D6-4700-BB3B-CB1ECA8C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E5EA2-5B2F-4A21-9B1A-CA46BD80EE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252953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A004E-44A4-4760-9D9E-EE1B3EB2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80885-894E-4622-8768-8CDB51EA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EA21A-C8D7-4685-AE13-F9DC2CD0B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BB6C1-0DCA-42F0-A266-400A2BAB81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20291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A2ED905-34A8-41AF-9EAE-4EECF6DCA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B143375-652C-4FBE-BEA7-FF0D6CADB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C3B342-90DB-4C0F-BE60-9F299CE3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E5C12E-DDBA-4DDD-94A7-1C9733B8DE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5354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E751D12-EFA3-4356-84AE-8DE28ECA86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2575DEE-22CE-4CB4-BB87-F97B206860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EF937-201E-406D-998B-F13F79A48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8C2C5-6626-4402-892B-F78F0D084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DD0C4-C14A-46FA-B0C2-4F8B14ADB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4F653A8-1420-4809-8F21-96050A35CE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hf hdr="0" ftr="0" dt="0"/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1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7.wmf"/><Relationship Id="rId5" Type="http://schemas.openxmlformats.org/officeDocument/2006/relationships/image" Target="../media/image24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6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>
            <a:extLst>
              <a:ext uri="{FF2B5EF4-FFF2-40B4-BE49-F238E27FC236}">
                <a16:creationId xmlns:a16="http://schemas.microsoft.com/office/drawing/2014/main" id="{6C720F77-A347-4D82-BBE7-983DD02DB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60350"/>
            <a:ext cx="8686800" cy="561975"/>
          </a:xfrm>
        </p:spPr>
        <p:txBody>
          <a:bodyPr/>
          <a:lstStyle/>
          <a:p>
            <a:pPr algn="ctr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21.3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二项式定理与组合恒等式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30BBF6A-09E6-4024-9CDC-A6C6A84925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125538"/>
            <a:ext cx="8229600" cy="4824412"/>
          </a:xfrm>
        </p:spPr>
        <p:txBody>
          <a:bodyPr/>
          <a:lstStyle/>
          <a:p>
            <a:r>
              <a:rPr lang="zh-CN" altLang="en-US" b="1"/>
              <a:t>二项式定理</a:t>
            </a:r>
          </a:p>
          <a:p>
            <a:r>
              <a:rPr lang="zh-CN" altLang="en-US" b="1"/>
              <a:t>组合恒等式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递推式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变下项求和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变系数和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变上项求和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积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 积和</a:t>
            </a:r>
          </a:p>
          <a:p>
            <a:r>
              <a:rPr lang="zh-CN" altLang="en-US" b="1"/>
              <a:t>证明方法小结</a:t>
            </a:r>
          </a:p>
          <a:p>
            <a:endParaRPr lang="en-US" altLang="zh-CN"/>
          </a:p>
        </p:txBody>
      </p:sp>
      <p:sp>
        <p:nvSpPr>
          <p:cNvPr id="3076" name="灯片编号占位符 5">
            <a:extLst>
              <a:ext uri="{FF2B5EF4-FFF2-40B4-BE49-F238E27FC236}">
                <a16:creationId xmlns:a16="http://schemas.microsoft.com/office/drawing/2014/main" id="{F8C58528-4D59-409F-85B6-1723C6E8C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3274A2A-7FB8-4828-8603-C9CAB65EC1AF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32FC0128-2699-4F85-B5AC-1046A8E9D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44488"/>
            <a:ext cx="8229600" cy="561975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二项式定理</a:t>
            </a:r>
          </a:p>
        </p:txBody>
      </p:sp>
      <p:graphicFrame>
        <p:nvGraphicFramePr>
          <p:cNvPr id="5123" name="Object 3">
            <a:extLst>
              <a:ext uri="{FF2B5EF4-FFF2-40B4-BE49-F238E27FC236}">
                <a16:creationId xmlns:a16="http://schemas.microsoft.com/office/drawing/2014/main" id="{47685C5A-AC56-4AD2-A80B-4E6A30176388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95288" y="1412875"/>
          <a:ext cx="7443787" cy="481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Document" r:id="rId4" imgW="3788237" imgH="2452763" progId="Word.Document.8">
                  <p:embed/>
                </p:oleObj>
              </mc:Choice>
              <mc:Fallback>
                <p:oleObj name="Document" r:id="rId4" imgW="3788237" imgH="2452763" progId="Word.Document.8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412875"/>
                        <a:ext cx="7443787" cy="481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灯片编号占位符 5">
            <a:extLst>
              <a:ext uri="{FF2B5EF4-FFF2-40B4-BE49-F238E27FC236}">
                <a16:creationId xmlns:a16="http://schemas.microsoft.com/office/drawing/2014/main" id="{379020ED-DC8C-4A64-AF65-39A9B45ECA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566307E-0204-4EA0-8650-6B0F612B4B21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2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>
            <a:extLst>
              <a:ext uri="{FF2B5EF4-FFF2-40B4-BE49-F238E27FC236}">
                <a16:creationId xmlns:a16="http://schemas.microsoft.com/office/drawing/2014/main" id="{0A91E3F1-26F3-4788-BA82-D051E82EF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组合恒等式（递推式）</a:t>
            </a:r>
          </a:p>
        </p:txBody>
      </p:sp>
      <p:sp>
        <p:nvSpPr>
          <p:cNvPr id="7171" name="灯片编号占位符 4">
            <a:extLst>
              <a:ext uri="{FF2B5EF4-FFF2-40B4-BE49-F238E27FC236}">
                <a16:creationId xmlns:a16="http://schemas.microsoft.com/office/drawing/2014/main" id="{3E9A6FF2-A080-4929-BBB3-7F3029D2AF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B4A66C6-3F0B-40A0-B003-17DC0B218B3A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3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172" name="Object 2">
            <a:extLst>
              <a:ext uri="{FF2B5EF4-FFF2-40B4-BE49-F238E27FC236}">
                <a16:creationId xmlns:a16="http://schemas.microsoft.com/office/drawing/2014/main" id="{438C1748-6BB4-40E5-8844-D09584AD77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233488"/>
          <a:ext cx="9085263" cy="558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Document" r:id="rId4" imgW="4985206" imgH="3063977" progId="Word.Document.8">
                  <p:embed/>
                </p:oleObj>
              </mc:Choice>
              <mc:Fallback>
                <p:oleObj name="Document" r:id="rId4" imgW="4985206" imgH="306397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33488"/>
                        <a:ext cx="9085263" cy="558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>
            <a:extLst>
              <a:ext uri="{FF2B5EF4-FFF2-40B4-BE49-F238E27FC236}">
                <a16:creationId xmlns:a16="http://schemas.microsoft.com/office/drawing/2014/main" id="{9A19E658-3C89-402B-AFEB-9391091DF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07413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组合恒等式（变下项求和）</a:t>
            </a:r>
          </a:p>
        </p:txBody>
      </p:sp>
      <p:sp>
        <p:nvSpPr>
          <p:cNvPr id="9219" name="灯片编号占位符 4">
            <a:extLst>
              <a:ext uri="{FF2B5EF4-FFF2-40B4-BE49-F238E27FC236}">
                <a16:creationId xmlns:a16="http://schemas.microsoft.com/office/drawing/2014/main" id="{F5E93769-3A6C-4AC2-950E-B002068286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F47ABD2-B380-4BBA-AA5B-C44188FB9AAA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4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220" name="Object 2">
            <a:extLst>
              <a:ext uri="{FF2B5EF4-FFF2-40B4-BE49-F238E27FC236}">
                <a16:creationId xmlns:a16="http://schemas.microsoft.com/office/drawing/2014/main" id="{D5CD5103-8264-4428-BA84-9E1A0DFFF1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412875"/>
          <a:ext cx="7115175" cy="402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文档" r:id="rId4" imgW="3350117" imgH="1898349" progId="Word.Document.8">
                  <p:embed/>
                </p:oleObj>
              </mc:Choice>
              <mc:Fallback>
                <p:oleObj name="文档" r:id="rId4" imgW="3350117" imgH="189834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412875"/>
                        <a:ext cx="7115175" cy="402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>
            <a:extLst>
              <a:ext uri="{FF2B5EF4-FFF2-40B4-BE49-F238E27FC236}">
                <a16:creationId xmlns:a16="http://schemas.microsoft.com/office/drawing/2014/main" id="{BE68E87A-7657-43B3-9844-EAB65B173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686800" cy="633412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恒等式求和（变下项求和）</a:t>
            </a:r>
          </a:p>
        </p:txBody>
      </p:sp>
      <p:graphicFrame>
        <p:nvGraphicFramePr>
          <p:cNvPr id="11267" name="Object 3">
            <a:extLst>
              <a:ext uri="{FF2B5EF4-FFF2-40B4-BE49-F238E27FC236}">
                <a16:creationId xmlns:a16="http://schemas.microsoft.com/office/drawing/2014/main" id="{9C97A502-17E9-44B0-8E3B-2A0C51BDD05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34963" y="1270000"/>
          <a:ext cx="7091362" cy="511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Document" r:id="rId4" imgW="3577096" imgH="2578168" progId="Word.Document.8">
                  <p:embed/>
                </p:oleObj>
              </mc:Choice>
              <mc:Fallback>
                <p:oleObj name="Document" r:id="rId4" imgW="3577096" imgH="2578168" progId="Word.Document.8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3" y="1270000"/>
                        <a:ext cx="7091362" cy="511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3C40511F-009E-4FA9-AE68-E624B3DCD0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1AE8435-9EE8-4A20-8B16-1EA12D928250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5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>
            <a:extLst>
              <a:ext uri="{FF2B5EF4-FFF2-40B4-BE49-F238E27FC236}">
                <a16:creationId xmlns:a16="http://schemas.microsoft.com/office/drawing/2014/main" id="{087C0002-C1E9-49F0-B4FB-F002E946D7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686800" cy="77787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证明（二项式定理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求导）</a:t>
            </a:r>
          </a:p>
        </p:txBody>
      </p:sp>
      <p:sp>
        <p:nvSpPr>
          <p:cNvPr id="13315" name="灯片编号占位符 4">
            <a:extLst>
              <a:ext uri="{FF2B5EF4-FFF2-40B4-BE49-F238E27FC236}">
                <a16:creationId xmlns:a16="http://schemas.microsoft.com/office/drawing/2014/main" id="{23226970-583F-44FA-A38A-A0C15CADE3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EBF56EC-0332-4E91-831D-BD5828862B8C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6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316" name="Object 2">
            <a:extLst>
              <a:ext uri="{FF2B5EF4-FFF2-40B4-BE49-F238E27FC236}">
                <a16:creationId xmlns:a16="http://schemas.microsoft.com/office/drawing/2014/main" id="{FCD02639-9E13-4D1B-84A9-76217A83DE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9813" y="1412875"/>
          <a:ext cx="6124575" cy="421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文档" r:id="rId4" imgW="2122267" imgH="1777932" progId="Word.Document.8">
                  <p:embed/>
                </p:oleObj>
              </mc:Choice>
              <mc:Fallback>
                <p:oleObj name="文档" r:id="rId4" imgW="2122267" imgH="177793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1412875"/>
                        <a:ext cx="6124575" cy="421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Rectangle 2">
            <a:extLst>
              <a:ext uri="{FF2B5EF4-FFF2-40B4-BE49-F238E27FC236}">
                <a16:creationId xmlns:a16="http://schemas.microsoft.com/office/drawing/2014/main" id="{3A5C20AA-BE10-41A2-A4B4-752D628CE087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468313" y="260350"/>
            <a:ext cx="8229600" cy="7207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证明（已知恒等式代入）</a:t>
            </a:r>
          </a:p>
        </p:txBody>
      </p:sp>
      <p:graphicFrame>
        <p:nvGraphicFramePr>
          <p:cNvPr id="392195" name="Object 3">
            <a:extLst>
              <a:ext uri="{FF2B5EF4-FFF2-40B4-BE49-F238E27FC236}">
                <a16:creationId xmlns:a16="http://schemas.microsoft.com/office/drawing/2014/main" id="{74276818-41EA-46E3-839B-4226801F346E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1216025" y="2205038"/>
          <a:ext cx="6335713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公式" r:id="rId4" imgW="3289300" imgH="495300" progId="Equation.3">
                  <p:embed/>
                </p:oleObj>
              </mc:Choice>
              <mc:Fallback>
                <p:oleObj name="公式" r:id="rId4" imgW="3289300" imgH="4953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2205038"/>
                        <a:ext cx="6335713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196" name="Object 4">
            <a:extLst>
              <a:ext uri="{FF2B5EF4-FFF2-40B4-BE49-F238E27FC236}">
                <a16:creationId xmlns:a16="http://schemas.microsoft.com/office/drawing/2014/main" id="{005C8283-6930-45F5-91A0-8D5D7935D43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20775" y="3213100"/>
          <a:ext cx="41211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公式" r:id="rId6" imgW="2145369" imgH="495085" progId="Equation.3">
                  <p:embed/>
                </p:oleObj>
              </mc:Choice>
              <mc:Fallback>
                <p:oleObj name="公式" r:id="rId6" imgW="2145369" imgH="495085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3213100"/>
                        <a:ext cx="412115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197" name="Object 5">
            <a:extLst>
              <a:ext uri="{FF2B5EF4-FFF2-40B4-BE49-F238E27FC236}">
                <a16:creationId xmlns:a16="http://schemas.microsoft.com/office/drawing/2014/main" id="{45DF9487-AEFD-44D9-81B6-017C3893C7A6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1085850" y="4149725"/>
          <a:ext cx="3860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公式" r:id="rId8" imgW="1954951" imgH="495085" progId="Equation.3">
                  <p:embed/>
                </p:oleObj>
              </mc:Choice>
              <mc:Fallback>
                <p:oleObj name="公式" r:id="rId8" imgW="1954951" imgH="495085" progId="Equation.3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4149725"/>
                        <a:ext cx="38608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200" name="Object 8">
            <a:extLst>
              <a:ext uri="{FF2B5EF4-FFF2-40B4-BE49-F238E27FC236}">
                <a16:creationId xmlns:a16="http://schemas.microsoft.com/office/drawing/2014/main" id="{B3649C18-3276-42E7-BDB7-AF4B50C5FF91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971550" y="5300663"/>
          <a:ext cx="4824413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公式" r:id="rId10" imgW="2374900" imgH="254000" progId="Equation.3">
                  <p:embed/>
                </p:oleObj>
              </mc:Choice>
              <mc:Fallback>
                <p:oleObj name="公式" r:id="rId10" imgW="2374900" imgH="254000" progId="Equation.3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300663"/>
                        <a:ext cx="4824413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灯片编号占位符 8">
            <a:extLst>
              <a:ext uri="{FF2B5EF4-FFF2-40B4-BE49-F238E27FC236}">
                <a16:creationId xmlns:a16="http://schemas.microsoft.com/office/drawing/2014/main" id="{0FDC48F0-88F0-4E8B-A5D6-1A397743FC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AAD7A04-233B-44C0-BAAA-B9EEF30B66C2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7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5368" name="Rectangle 6">
            <a:extLst>
              <a:ext uri="{FF2B5EF4-FFF2-40B4-BE49-F238E27FC236}">
                <a16:creationId xmlns:a16="http://schemas.microsoft.com/office/drawing/2014/main" id="{5740961F-0525-4E62-AC73-F9CCD3C98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24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graphicFrame>
        <p:nvGraphicFramePr>
          <p:cNvPr id="15369" name="Object 7">
            <a:extLst>
              <a:ext uri="{FF2B5EF4-FFF2-40B4-BE49-F238E27FC236}">
                <a16:creationId xmlns:a16="http://schemas.microsoft.com/office/drawing/2014/main" id="{3C8B487A-337F-44DE-9028-A43E03F050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052513"/>
          <a:ext cx="562768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公式" r:id="rId12" imgW="2679700" imgH="495300" progId="Equation.3">
                  <p:embed/>
                </p:oleObj>
              </mc:Choice>
              <mc:Fallback>
                <p:oleObj name="公式" r:id="rId12" imgW="2679700" imgH="495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052513"/>
                        <a:ext cx="5627688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Text Box 9">
            <a:extLst>
              <a:ext uri="{FF2B5EF4-FFF2-40B4-BE49-F238E27FC236}">
                <a16:creationId xmlns:a16="http://schemas.microsoft.com/office/drawing/2014/main" id="{06FCE02D-E856-4665-BCCC-15AC2A014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" y="15557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zh-CN" sz="2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1" name="Rectangle 10">
            <a:extLst>
              <a:ext uri="{FF2B5EF4-FFF2-40B4-BE49-F238E27FC236}">
                <a16:creationId xmlns:a16="http://schemas.microsoft.com/office/drawing/2014/main" id="{D1112A42-9613-40CB-91B4-79B656BC2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>
            <a:extLst>
              <a:ext uri="{FF2B5EF4-FFF2-40B4-BE49-F238E27FC236}">
                <a16:creationId xmlns:a16="http://schemas.microsoft.com/office/drawing/2014/main" id="{C242303B-D416-4A1E-80A9-3BE7C99E2C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恒等式（变上项求和）</a:t>
            </a:r>
          </a:p>
        </p:txBody>
      </p:sp>
      <p:sp>
        <p:nvSpPr>
          <p:cNvPr id="17411" name="灯片编号占位符 4">
            <a:extLst>
              <a:ext uri="{FF2B5EF4-FFF2-40B4-BE49-F238E27FC236}">
                <a16:creationId xmlns:a16="http://schemas.microsoft.com/office/drawing/2014/main" id="{4CEC5768-A25F-425A-984F-D15EEC76EF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21FE028-5A3A-410E-8EFE-EF7ACF7AE262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8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7412" name="Object 2">
            <a:extLst>
              <a:ext uri="{FF2B5EF4-FFF2-40B4-BE49-F238E27FC236}">
                <a16:creationId xmlns:a16="http://schemas.microsoft.com/office/drawing/2014/main" id="{FBC0EC62-DB25-4279-964D-9223B1B32D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9688" y="1125538"/>
          <a:ext cx="7672388" cy="563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文档" r:id="rId4" imgW="3962147" imgH="2894542" progId="Word.Document.8">
                  <p:embed/>
                </p:oleObj>
              </mc:Choice>
              <mc:Fallback>
                <p:oleObj name="文档" r:id="rId4" imgW="3962147" imgH="289454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9688" y="1125538"/>
                        <a:ext cx="7672388" cy="563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">
            <a:extLst>
              <a:ext uri="{FF2B5EF4-FFF2-40B4-BE49-F238E27FC236}">
                <a16:creationId xmlns:a16="http://schemas.microsoft.com/office/drawing/2014/main" id="{0839B3CF-777F-4897-B376-977F4C7EB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恒等式（积）</a:t>
            </a:r>
          </a:p>
        </p:txBody>
      </p:sp>
      <p:sp>
        <p:nvSpPr>
          <p:cNvPr id="19459" name="灯片编号占位符 4">
            <a:extLst>
              <a:ext uri="{FF2B5EF4-FFF2-40B4-BE49-F238E27FC236}">
                <a16:creationId xmlns:a16="http://schemas.microsoft.com/office/drawing/2014/main" id="{9DECB340-234E-4EBE-9432-206A726489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B7589E3-7777-4EB4-BAA9-08C7E7805345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9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9460" name="Object 2">
            <a:extLst>
              <a:ext uri="{FF2B5EF4-FFF2-40B4-BE49-F238E27FC236}">
                <a16:creationId xmlns:a16="http://schemas.microsoft.com/office/drawing/2014/main" id="{21A47D58-B6AE-4E1B-BC47-3FCAFD010D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600" y="1125538"/>
          <a:ext cx="8215313" cy="488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文档" r:id="rId4" imgW="4099556" imgH="2439860" progId="Word.Document.8">
                  <p:embed/>
                </p:oleObj>
              </mc:Choice>
              <mc:Fallback>
                <p:oleObj name="文档" r:id="rId4" imgW="4099556" imgH="24398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" y="1125538"/>
                        <a:ext cx="8215313" cy="488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>
            <a:extLst>
              <a:ext uri="{FF2B5EF4-FFF2-40B4-BE49-F238E27FC236}">
                <a16:creationId xmlns:a16="http://schemas.microsoft.com/office/drawing/2014/main" id="{AAD76474-D51E-41BB-92CE-2AAB1AE86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恒等式（积之和）</a:t>
            </a:r>
          </a:p>
        </p:txBody>
      </p:sp>
      <p:sp>
        <p:nvSpPr>
          <p:cNvPr id="21507" name="灯片编号占位符 4">
            <a:extLst>
              <a:ext uri="{FF2B5EF4-FFF2-40B4-BE49-F238E27FC236}">
                <a16:creationId xmlns:a16="http://schemas.microsoft.com/office/drawing/2014/main" id="{AFF2C033-D3AD-4E4F-B42A-9B75565FD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24092B0-3E4A-4843-8F1D-5376FB3AAC0A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10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A62EC52A-7E71-42B3-807C-8E5A08211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756A38EB-71A0-418B-8B83-C075B2488B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268413"/>
          <a:ext cx="6588125" cy="212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公式" r:id="rId4" imgW="2946400" imgH="952500" progId="Equation.3">
                  <p:embed/>
                </p:oleObj>
              </mc:Choice>
              <mc:Fallback>
                <p:oleObj name="公式" r:id="rId4" imgW="2946400" imgH="952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268413"/>
                        <a:ext cx="6588125" cy="212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7">
            <a:extLst>
              <a:ext uri="{FF2B5EF4-FFF2-40B4-BE49-F238E27FC236}">
                <a16:creationId xmlns:a16="http://schemas.microsoft.com/office/drawing/2014/main" id="{A7A9A074-8D94-47C3-ADB1-CA8133757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802063"/>
            <a:ext cx="9144000" cy="218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457200">
              <a:defRPr/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</a:t>
            </a:r>
            <a:endParaRPr lang="en-US" altLang="zh-CN" sz="800" dirty="0"/>
          </a:p>
          <a:p>
            <a:pPr indent="571500">
              <a:defRPr/>
            </a:pP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证明方法：</a:t>
            </a:r>
            <a:endParaRPr lang="zh-CN" altLang="en-US" sz="2800" dirty="0"/>
          </a:p>
          <a:p>
            <a:pPr indent="571500">
              <a:spcBef>
                <a:spcPts val="6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   组合分析、二项式定理</a:t>
            </a:r>
            <a:endParaRPr lang="zh-CN" altLang="en-US" sz="2400" dirty="0"/>
          </a:p>
          <a:p>
            <a:pPr indent="571500"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11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式是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式的特例</a:t>
            </a:r>
            <a:endParaRPr lang="zh-CN" altLang="en-US" sz="2400" dirty="0"/>
          </a:p>
          <a:p>
            <a:pPr indent="571500">
              <a:spcBef>
                <a:spcPts val="1800"/>
              </a:spcBef>
              <a:defRPr/>
            </a:pP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应用：求和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3">
            <a:extLst>
              <a:ext uri="{FF2B5EF4-FFF2-40B4-BE49-F238E27FC236}">
                <a16:creationId xmlns:a16="http://schemas.microsoft.com/office/drawing/2014/main" id="{88EA6761-2B55-4A1D-8615-EB17983DC9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3575" y="274638"/>
            <a:ext cx="8229600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组合恒等式小结</a:t>
            </a:r>
          </a:p>
        </p:txBody>
      </p:sp>
      <p:sp>
        <p:nvSpPr>
          <p:cNvPr id="23555" name="灯片编号占位符 4">
            <a:extLst>
              <a:ext uri="{FF2B5EF4-FFF2-40B4-BE49-F238E27FC236}">
                <a16:creationId xmlns:a16="http://schemas.microsoft.com/office/drawing/2014/main" id="{874F44E5-6413-4ADF-B400-11FBA1DD43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D8BD1A7-6CBE-494D-9B39-F9704333779D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11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06F19DB4-9BDE-43CE-870C-E3D0214F7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68400"/>
            <a:ext cx="9144000" cy="485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228600">
              <a:tabLst>
                <a:tab pos="457200" algn="l"/>
              </a:tabLst>
              <a:defRPr/>
            </a:pPr>
            <a:r>
              <a:rPr lang="zh-CN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证明方法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endParaRPr lang="zh-CN" sz="2800" dirty="0">
              <a:solidFill>
                <a:srgbClr val="C00000"/>
              </a:solidFill>
            </a:endParaRPr>
          </a:p>
          <a:p>
            <a:pPr indent="3175">
              <a:spcBef>
                <a:spcPts val="300"/>
              </a:spcBef>
              <a:tabLst>
                <a:tab pos="4572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已知恒等式代入</a:t>
            </a:r>
            <a:endParaRPr lang="zh-CN" sz="2400" dirty="0"/>
          </a:p>
          <a:p>
            <a:pPr indent="3175">
              <a:spcBef>
                <a:spcPts val="300"/>
              </a:spcBef>
              <a:tabLst>
                <a:tab pos="4572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二项式定理</a:t>
            </a:r>
            <a:endParaRPr lang="zh-CN" sz="2400" dirty="0"/>
          </a:p>
          <a:p>
            <a:pPr indent="3175">
              <a:spcBef>
                <a:spcPts val="300"/>
              </a:spcBef>
              <a:tabLst>
                <a:tab pos="4572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幂级数的求导、积分</a:t>
            </a:r>
            <a:endParaRPr lang="zh-CN" sz="2400" dirty="0"/>
          </a:p>
          <a:p>
            <a:pPr indent="3175">
              <a:spcBef>
                <a:spcPts val="300"/>
              </a:spcBef>
              <a:tabLst>
                <a:tab pos="4572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归纳法</a:t>
            </a:r>
            <a:endParaRPr lang="zh-CN" sz="2400" dirty="0"/>
          </a:p>
          <a:p>
            <a:pPr indent="3175">
              <a:spcBef>
                <a:spcPts val="300"/>
              </a:spcBef>
              <a:tabLst>
                <a:tab pos="4572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组合分析</a:t>
            </a:r>
            <a:endParaRPr lang="zh-CN" sz="2400" dirty="0"/>
          </a:p>
          <a:p>
            <a:pPr indent="3175">
              <a:spcBef>
                <a:spcPts val="1800"/>
              </a:spcBef>
              <a:tabLst>
                <a:tab pos="457200" algn="l"/>
              </a:tabLst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求和方法：</a:t>
            </a:r>
            <a:endParaRPr lang="zh-CN" altLang="en-US" sz="2800" dirty="0">
              <a:solidFill>
                <a:srgbClr val="C00000"/>
              </a:solidFill>
            </a:endParaRPr>
          </a:p>
          <a:p>
            <a:pPr indent="3175">
              <a:spcBef>
                <a:spcPts val="300"/>
              </a:spcBef>
              <a:tabLst>
                <a:tab pos="4572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Pascal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公式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---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式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altLang="zh-CN" sz="2400" dirty="0"/>
          </a:p>
          <a:p>
            <a:pPr indent="3175">
              <a:spcBef>
                <a:spcPts val="300"/>
              </a:spcBef>
              <a:tabLst>
                <a:tab pos="457200" algn="l"/>
              </a:tabLst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      级数求和</a:t>
            </a:r>
            <a:endParaRPr lang="zh-CN" altLang="en-US" sz="2400" dirty="0"/>
          </a:p>
          <a:p>
            <a:pPr indent="3175">
              <a:spcBef>
                <a:spcPts val="300"/>
              </a:spcBef>
              <a:tabLst>
                <a:tab pos="457200" algn="l"/>
              </a:tabLst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      观察和的结果，然后使用归纳法证明</a:t>
            </a:r>
          </a:p>
          <a:p>
            <a:pPr indent="3175">
              <a:spcBef>
                <a:spcPts val="300"/>
              </a:spcBef>
              <a:tabLst>
                <a:tab pos="457200" algn="l"/>
              </a:tabLst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      利用已知的公式</a:t>
            </a:r>
            <a:r>
              <a:rPr lang="zh-CN" altLang="en-US" sz="2400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56F4705F-5402-4817-BE20-D895F1CC1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275" y="309563"/>
            <a:ext cx="8208963" cy="793750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非降路径问题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0D76F74-2DC3-49A2-ACFC-50AFB6D63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r>
              <a:rPr lang="zh-CN" altLang="en-US" sz="2800" b="1"/>
              <a:t>基本模型</a:t>
            </a:r>
          </a:p>
          <a:p>
            <a:r>
              <a:rPr lang="zh-CN" altLang="en-US" sz="2800" b="1"/>
              <a:t>限制条件下的非降路径数</a:t>
            </a:r>
          </a:p>
          <a:p>
            <a:r>
              <a:rPr lang="zh-CN" altLang="en-US" sz="2800" b="1"/>
              <a:t>非降路径模型的应用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/>
              <a:t>         证明恒等式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/>
              <a:t>         单调函数计数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/>
              <a:t>         栈的输出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</p:txBody>
      </p:sp>
      <p:sp>
        <p:nvSpPr>
          <p:cNvPr id="25604" name="灯片编号占位符 5">
            <a:extLst>
              <a:ext uri="{FF2B5EF4-FFF2-40B4-BE49-F238E27FC236}">
                <a16:creationId xmlns:a16="http://schemas.microsoft.com/office/drawing/2014/main" id="{40542A9D-B787-4449-9225-630EACC1B4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A7B8C73-312D-44E9-BB0A-36AEB90137F6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12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3">
            <a:extLst>
              <a:ext uri="{FF2B5EF4-FFF2-40B4-BE49-F238E27FC236}">
                <a16:creationId xmlns:a16="http://schemas.microsoft.com/office/drawing/2014/main" id="{5038B571-35DA-4E9F-916D-E07CB4728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7150"/>
            <a:ext cx="8229600" cy="850900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基本模型 </a:t>
            </a:r>
          </a:p>
        </p:txBody>
      </p:sp>
      <p:sp>
        <p:nvSpPr>
          <p:cNvPr id="27651" name="灯片编号占位符 4">
            <a:extLst>
              <a:ext uri="{FF2B5EF4-FFF2-40B4-BE49-F238E27FC236}">
                <a16:creationId xmlns:a16="http://schemas.microsoft.com/office/drawing/2014/main" id="{DFE1BE5D-2F96-4B59-A5AA-00B63CE5CF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5995988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01FE8F1-5C97-4766-BDA5-5DA8584996C7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13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Line 5">
            <a:extLst>
              <a:ext uri="{FF2B5EF4-FFF2-40B4-BE49-F238E27FC236}">
                <a16:creationId xmlns:a16="http://schemas.microsoft.com/office/drawing/2014/main" id="{55B78025-62AF-4D3A-853E-E6FFABC71B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9250" y="3068638"/>
            <a:ext cx="0" cy="280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3" name="Line 6">
            <a:extLst>
              <a:ext uri="{FF2B5EF4-FFF2-40B4-BE49-F238E27FC236}">
                <a16:creationId xmlns:a16="http://schemas.microsoft.com/office/drawing/2014/main" id="{A4E255D3-06DD-4214-9F72-5051F3827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5876925"/>
            <a:ext cx="5473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4" name="Line 7">
            <a:extLst>
              <a:ext uri="{FF2B5EF4-FFF2-40B4-BE49-F238E27FC236}">
                <a16:creationId xmlns:a16="http://schemas.microsoft.com/office/drawing/2014/main" id="{C8BCF50A-AC1D-4DF2-A662-C26C2029D2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5876925"/>
            <a:ext cx="6492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5" name="Line 8">
            <a:extLst>
              <a:ext uri="{FF2B5EF4-FFF2-40B4-BE49-F238E27FC236}">
                <a16:creationId xmlns:a16="http://schemas.microsoft.com/office/drawing/2014/main" id="{D15D039D-8061-4BBF-AD7D-A2146748C1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8538" y="522922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6" name="Line 9">
            <a:extLst>
              <a:ext uri="{FF2B5EF4-FFF2-40B4-BE49-F238E27FC236}">
                <a16:creationId xmlns:a16="http://schemas.microsoft.com/office/drawing/2014/main" id="{FE966565-BA5D-4C5C-8347-09DE39D97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5229225"/>
            <a:ext cx="2374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7" name="Line 10">
            <a:extLst>
              <a:ext uri="{FF2B5EF4-FFF2-40B4-BE49-F238E27FC236}">
                <a16:creationId xmlns:a16="http://schemas.microsoft.com/office/drawing/2014/main" id="{32E89863-1592-424A-95EB-3C5D547194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3438" y="4508500"/>
            <a:ext cx="0" cy="720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8" name="Line 11">
            <a:extLst>
              <a:ext uri="{FF2B5EF4-FFF2-40B4-BE49-F238E27FC236}">
                <a16:creationId xmlns:a16="http://schemas.microsoft.com/office/drawing/2014/main" id="{0F9F2F42-E23C-4C5D-BBA6-01D6250B6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4508500"/>
            <a:ext cx="1512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9" name="Line 12">
            <a:extLst>
              <a:ext uri="{FF2B5EF4-FFF2-40B4-BE49-F238E27FC236}">
                <a16:creationId xmlns:a16="http://schemas.microsoft.com/office/drawing/2014/main" id="{396549FA-7589-49C3-85F2-70F3B7A1FC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6325" y="3644900"/>
            <a:ext cx="0" cy="86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0" name="Line 13">
            <a:extLst>
              <a:ext uri="{FF2B5EF4-FFF2-40B4-BE49-F238E27FC236}">
                <a16:creationId xmlns:a16="http://schemas.microsoft.com/office/drawing/2014/main" id="{67B35136-6C0D-4EFF-BBDF-69F586677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3644900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1" name="Oval 14">
            <a:extLst>
              <a:ext uri="{FF2B5EF4-FFF2-40B4-BE49-F238E27FC236}">
                <a16:creationId xmlns:a16="http://schemas.microsoft.com/office/drawing/2014/main" id="{F0A2A21D-E69B-4479-8204-67A2EF20A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5805488"/>
            <a:ext cx="144462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7662" name="Oval 15">
            <a:extLst>
              <a:ext uri="{FF2B5EF4-FFF2-40B4-BE49-F238E27FC236}">
                <a16:creationId xmlns:a16="http://schemas.microsoft.com/office/drawing/2014/main" id="{70788C11-A24B-40D5-B924-DD3A3DA31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3573463"/>
            <a:ext cx="144462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7663" name="Text Box 16">
            <a:extLst>
              <a:ext uri="{FF2B5EF4-FFF2-40B4-BE49-F238E27FC236}">
                <a16:creationId xmlns:a16="http://schemas.microsoft.com/office/drawing/2014/main" id="{CD6C33D2-9261-4DE8-8AA3-BCD9769BA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3376613"/>
            <a:ext cx="86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m,n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7664" name="Text Box 17">
            <a:extLst>
              <a:ext uri="{FF2B5EF4-FFF2-40B4-BE49-F238E27FC236}">
                <a16:creationId xmlns:a16="http://schemas.microsoft.com/office/drawing/2014/main" id="{93D0AEFC-773F-4DFC-8EA7-278D50A99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491163"/>
            <a:ext cx="76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(0</a:t>
            </a:r>
            <a:r>
              <a:rPr lang="en-US" altLang="zh-CN" sz="2400" b="1" i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</a:rPr>
              <a:t>0)</a:t>
            </a:r>
          </a:p>
        </p:txBody>
      </p:sp>
      <p:sp>
        <p:nvSpPr>
          <p:cNvPr id="17426" name="Rectangle 18">
            <a:extLst>
              <a:ext uri="{FF2B5EF4-FFF2-40B4-BE49-F238E27FC236}">
                <a16:creationId xmlns:a16="http://schemas.microsoft.com/office/drawing/2014/main" id="{4BCD93D8-6FE1-44AD-80C4-836D78356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1713"/>
            <a:ext cx="9144000" cy="192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304800">
              <a:spcBef>
                <a:spcPts val="600"/>
              </a:spcBef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(0,0)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到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m,n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的非降路径数：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C(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m+n,m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2600" dirty="0"/>
          </a:p>
          <a:p>
            <a:pPr indent="304800">
              <a:spcBef>
                <a:spcPts val="600"/>
              </a:spcBef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到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m,n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的非降路径数：</a:t>
            </a:r>
            <a:endParaRPr lang="zh-CN" altLang="en-US" sz="2600" dirty="0"/>
          </a:p>
          <a:p>
            <a:pPr indent="304800">
              <a:spcBef>
                <a:spcPts val="600"/>
              </a:spcBef>
              <a:defRPr/>
            </a:pP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等于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(0,0)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到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6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n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的非降路径数</a:t>
            </a:r>
            <a:endParaRPr lang="zh-CN" altLang="en-US" sz="2600" dirty="0">
              <a:sym typeface="Symbol" pitchFamily="18" charset="2"/>
            </a:endParaRPr>
          </a:p>
          <a:p>
            <a:pPr indent="304800">
              <a:spcBef>
                <a:spcPts val="600"/>
              </a:spcBef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a,b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经过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c,d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到</a:t>
            </a:r>
            <a:r>
              <a:rPr lang="zh-CN" altLang="en-US" sz="26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m,n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的非降路径数：乘法法则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>
            <a:extLst>
              <a:ext uri="{FF2B5EF4-FFF2-40B4-BE49-F238E27FC236}">
                <a16:creationId xmlns:a16="http://schemas.microsoft.com/office/drawing/2014/main" id="{5CB8C320-C153-4EAF-9087-8B8B85875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限制条件的非降路径数</a:t>
            </a:r>
          </a:p>
        </p:txBody>
      </p:sp>
      <p:sp>
        <p:nvSpPr>
          <p:cNvPr id="29699" name="灯片编号占位符 4">
            <a:extLst>
              <a:ext uri="{FF2B5EF4-FFF2-40B4-BE49-F238E27FC236}">
                <a16:creationId xmlns:a16="http://schemas.microsoft.com/office/drawing/2014/main" id="{6B99714D-CF27-468F-86B7-0FA5B6F349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23751E8-BF59-430E-8A44-6BE4D7B0674C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14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grpSp>
        <p:nvGrpSpPr>
          <p:cNvPr id="29700" name="Group 23">
            <a:extLst>
              <a:ext uri="{FF2B5EF4-FFF2-40B4-BE49-F238E27FC236}">
                <a16:creationId xmlns:a16="http://schemas.microsoft.com/office/drawing/2014/main" id="{97AAAE4A-690D-4E55-A62F-1874DAD19282}"/>
              </a:ext>
            </a:extLst>
          </p:cNvPr>
          <p:cNvGrpSpPr>
            <a:grpSpLocks/>
          </p:cNvGrpSpPr>
          <p:nvPr/>
        </p:nvGrpSpPr>
        <p:grpSpPr bwMode="auto">
          <a:xfrm>
            <a:off x="-392113" y="1268413"/>
            <a:ext cx="8564563" cy="5937250"/>
            <a:chOff x="-338" y="571"/>
            <a:chExt cx="5395" cy="3740"/>
          </a:xfrm>
        </p:grpSpPr>
        <p:grpSp>
          <p:nvGrpSpPr>
            <p:cNvPr id="29701" name="Group 22">
              <a:extLst>
                <a:ext uri="{FF2B5EF4-FFF2-40B4-BE49-F238E27FC236}">
                  <a16:creationId xmlns:a16="http://schemas.microsoft.com/office/drawing/2014/main" id="{75EE6696-DC76-4ECD-A2E5-05308C0582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8" y="571"/>
              <a:ext cx="5395" cy="3740"/>
              <a:chOff x="-338" y="571"/>
              <a:chExt cx="5395" cy="3740"/>
            </a:xfrm>
          </p:grpSpPr>
          <p:grpSp>
            <p:nvGrpSpPr>
              <p:cNvPr id="29704" name="Group 21">
                <a:extLst>
                  <a:ext uri="{FF2B5EF4-FFF2-40B4-BE49-F238E27FC236}">
                    <a16:creationId xmlns:a16="http://schemas.microsoft.com/office/drawing/2014/main" id="{36A708D5-C909-4491-9932-B28C31BE9F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8" y="571"/>
                <a:ext cx="5340" cy="3740"/>
                <a:chOff x="-541" y="-1"/>
                <a:chExt cx="5340" cy="3740"/>
              </a:xfrm>
            </p:grpSpPr>
            <p:grpSp>
              <p:nvGrpSpPr>
                <p:cNvPr id="29706" name="Group 20">
                  <a:extLst>
                    <a:ext uri="{FF2B5EF4-FFF2-40B4-BE49-F238E27FC236}">
                      <a16:creationId xmlns:a16="http://schemas.microsoft.com/office/drawing/2014/main" id="{C0AAF3BC-D220-4FAB-8BBB-50F3CFFB73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541" y="-1"/>
                  <a:ext cx="5340" cy="3740"/>
                  <a:chOff x="-541" y="-1"/>
                  <a:chExt cx="5340" cy="3740"/>
                </a:xfrm>
              </p:grpSpPr>
              <p:sp>
                <p:nvSpPr>
                  <p:cNvPr id="29708" name="Line 14">
                    <a:extLst>
                      <a:ext uri="{FF2B5EF4-FFF2-40B4-BE49-F238E27FC236}">
                        <a16:creationId xmlns:a16="http://schemas.microsoft.com/office/drawing/2014/main" id="{13F6AC6A-1909-4306-AC07-5174CB22A2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95" y="1071"/>
                    <a:ext cx="0" cy="317"/>
                  </a:xfrm>
                  <a:prstGeom prst="line">
                    <a:avLst/>
                  </a:prstGeom>
                  <a:noFill/>
                  <a:ln w="285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9709" name="Group 19">
                    <a:extLst>
                      <a:ext uri="{FF2B5EF4-FFF2-40B4-BE49-F238E27FC236}">
                        <a16:creationId xmlns:a16="http://schemas.microsoft.com/office/drawing/2014/main" id="{78778CBE-5E5D-4FCE-8289-DA1799D9540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541" y="-1"/>
                    <a:ext cx="5340" cy="3740"/>
                    <a:chOff x="3" y="1113"/>
                    <a:chExt cx="5340" cy="3740"/>
                  </a:xfrm>
                </p:grpSpPr>
                <p:graphicFrame>
                  <p:nvGraphicFramePr>
                    <p:cNvPr id="29710" name="Object 2">
                      <a:extLst>
                        <a:ext uri="{FF2B5EF4-FFF2-40B4-BE49-F238E27FC236}">
                          <a16:creationId xmlns:a16="http://schemas.microsoft.com/office/drawing/2014/main" id="{480EF93E-3C38-498A-A118-93C309915620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3" y="1113"/>
                    <a:ext cx="5340" cy="374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9720" name="Document" r:id="rId4" imgW="4864842" imgH="3380903" progId="Word.Document.8">
                            <p:embed/>
                          </p:oleObj>
                        </mc:Choice>
                        <mc:Fallback>
                          <p:oleObj name="Document" r:id="rId4" imgW="4864842" imgH="3380903" progId="Word.Document.8">
                            <p:embed/>
                            <p:pic>
                              <p:nvPicPr>
                                <p:cNvPr id="0" name="Object 2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5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" y="1113"/>
                                  <a:ext cx="5340" cy="374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29711" name="Line 5">
                      <a:extLst>
                        <a:ext uri="{FF2B5EF4-FFF2-40B4-BE49-F238E27FC236}">
                          <a16:creationId xmlns:a16="http://schemas.microsoft.com/office/drawing/2014/main" id="{4832E808-7077-4C00-894F-E50DF68A745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4020"/>
                      <a:ext cx="231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712" name="Line 6">
                      <a:extLst>
                        <a:ext uri="{FF2B5EF4-FFF2-40B4-BE49-F238E27FC236}">
                          <a16:creationId xmlns:a16="http://schemas.microsoft.com/office/drawing/2014/main" id="{3EC128BB-DF33-4DC8-9274-7B8476473C8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80" y="1570"/>
                      <a:ext cx="0" cy="245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713" name="Freeform 7">
                      <a:extLst>
                        <a:ext uri="{FF2B5EF4-FFF2-40B4-BE49-F238E27FC236}">
                          <a16:creationId xmlns:a16="http://schemas.microsoft.com/office/drawing/2014/main" id="{F4B3E3BB-A30C-4BC4-98AE-28321F3DFE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98" y="2432"/>
                      <a:ext cx="1542" cy="1588"/>
                    </a:xfrm>
                    <a:custGeom>
                      <a:avLst/>
                      <a:gdLst>
                        <a:gd name="T0" fmla="*/ 0 w 1542"/>
                        <a:gd name="T1" fmla="*/ 1075 h 1679"/>
                        <a:gd name="T2" fmla="*/ 362 w 1542"/>
                        <a:gd name="T3" fmla="*/ 1075 h 1679"/>
                        <a:gd name="T4" fmla="*/ 362 w 1542"/>
                        <a:gd name="T5" fmla="*/ 871 h 1679"/>
                        <a:gd name="T6" fmla="*/ 1224 w 1542"/>
                        <a:gd name="T7" fmla="*/ 871 h 1679"/>
                        <a:gd name="T8" fmla="*/ 1224 w 1542"/>
                        <a:gd name="T9" fmla="*/ 495 h 1679"/>
                        <a:gd name="T10" fmla="*/ 1542 w 1542"/>
                        <a:gd name="T11" fmla="*/ 495 h 1679"/>
                        <a:gd name="T12" fmla="*/ 1542 w 1542"/>
                        <a:gd name="T13" fmla="*/ 0 h 1679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542"/>
                        <a:gd name="T22" fmla="*/ 0 h 1679"/>
                        <a:gd name="T23" fmla="*/ 1542 w 1542"/>
                        <a:gd name="T24" fmla="*/ 1679 h 1679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542" h="1679">
                          <a:moveTo>
                            <a:pt x="0" y="1679"/>
                          </a:moveTo>
                          <a:lnTo>
                            <a:pt x="362" y="1679"/>
                          </a:lnTo>
                          <a:lnTo>
                            <a:pt x="362" y="1361"/>
                          </a:lnTo>
                          <a:lnTo>
                            <a:pt x="1224" y="1361"/>
                          </a:lnTo>
                          <a:lnTo>
                            <a:pt x="1224" y="772"/>
                          </a:lnTo>
                          <a:lnTo>
                            <a:pt x="1542" y="772"/>
                          </a:lnTo>
                          <a:lnTo>
                            <a:pt x="1542" y="0"/>
                          </a:lnTo>
                        </a:path>
                      </a:pathLst>
                    </a:cu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714" name="Line 8">
                      <a:extLst>
                        <a:ext uri="{FF2B5EF4-FFF2-40B4-BE49-F238E27FC236}">
                          <a16:creationId xmlns:a16="http://schemas.microsoft.com/office/drawing/2014/main" id="{F88A9435-AE5C-4594-A688-88B4970E895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80" y="1661"/>
                      <a:ext cx="2359" cy="235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715" name="Oval 11">
                      <a:extLst>
                        <a:ext uri="{FF2B5EF4-FFF2-40B4-BE49-F238E27FC236}">
                          <a16:creationId xmlns:a16="http://schemas.microsoft.com/office/drawing/2014/main" id="{C3954AF7-A7A3-4EF9-B117-E05C86DF85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94" y="2432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716" name="Oval 12">
                      <a:extLst>
                        <a:ext uri="{FF2B5EF4-FFF2-40B4-BE49-F238E27FC236}">
                          <a16:creationId xmlns:a16="http://schemas.microsoft.com/office/drawing/2014/main" id="{A084DE08-EF9F-4D63-808C-F94B2C340E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94" y="2115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717" name="Oval 9">
                      <a:extLst>
                        <a:ext uri="{FF2B5EF4-FFF2-40B4-BE49-F238E27FC236}">
                          <a16:creationId xmlns:a16="http://schemas.microsoft.com/office/drawing/2014/main" id="{51995ACA-FCA7-450E-B72C-6D1CD1F8CF9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35" y="3974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718" name="Oval 10">
                      <a:extLst>
                        <a:ext uri="{FF2B5EF4-FFF2-40B4-BE49-F238E27FC236}">
                          <a16:creationId xmlns:a16="http://schemas.microsoft.com/office/drawing/2014/main" id="{72191790-9076-4575-8C1A-1781153D79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8" y="3974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719" name="Text Box 15">
                      <a:extLst>
                        <a:ext uri="{FF2B5EF4-FFF2-40B4-BE49-F238E27FC236}">
                          <a16:creationId xmlns:a16="http://schemas.microsoft.com/office/drawing/2014/main" id="{3D2A0319-0C8A-410C-8A11-FF834ECC216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72" y="1979"/>
                      <a:ext cx="512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en-US" altLang="zh-CN" sz="2400" b="1"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</a:rPr>
                        <a:t>n,n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</a:rPr>
                        <a:t>)</a:t>
                      </a:r>
                    </a:p>
                  </p:txBody>
                </p:sp>
              </p:grpSp>
            </p:grpSp>
            <p:sp>
              <p:nvSpPr>
                <p:cNvPr id="29707" name="Line 13">
                  <a:extLst>
                    <a:ext uri="{FF2B5EF4-FFF2-40B4-BE49-F238E27FC236}">
                      <a16:creationId xmlns:a16="http://schemas.microsoft.com/office/drawing/2014/main" id="{E31AE634-C45C-4892-B0A0-7DCA8E6299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1" y="2886"/>
                  <a:ext cx="273" cy="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705" name="Text Box 16">
                <a:extLst>
                  <a:ext uri="{FF2B5EF4-FFF2-40B4-BE49-F238E27FC236}">
                    <a16:creationId xmlns:a16="http://schemas.microsoft.com/office/drawing/2014/main" id="{91305B53-D30E-4842-A732-782432BAF3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2" y="1752"/>
                <a:ext cx="63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b="1" i="1">
                    <a:latin typeface="Times New Roman" panose="02020603050405020304" pitchFamily="18" charset="0"/>
                  </a:rPr>
                  <a:t>n,n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-1)</a:t>
                </a:r>
              </a:p>
            </p:txBody>
          </p:sp>
        </p:grpSp>
        <p:sp>
          <p:nvSpPr>
            <p:cNvPr id="29702" name="Text Box 17">
              <a:extLst>
                <a:ext uri="{FF2B5EF4-FFF2-40B4-BE49-F238E27FC236}">
                  <a16:creationId xmlns:a16="http://schemas.microsoft.com/office/drawing/2014/main" id="{5D036BB5-398E-42F8-8DF6-77A17081E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3566"/>
              <a:ext cx="5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(0,0)</a:t>
              </a:r>
            </a:p>
          </p:txBody>
        </p:sp>
        <p:sp>
          <p:nvSpPr>
            <p:cNvPr id="29703" name="Text Box 18">
              <a:extLst>
                <a:ext uri="{FF2B5EF4-FFF2-40B4-BE49-F238E27FC236}">
                  <a16:creationId xmlns:a16="http://schemas.microsoft.com/office/drawing/2014/main" id="{C89B5498-E056-43EB-8C5F-41ED67FB2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3566"/>
              <a:ext cx="5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(1,0)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5">
            <a:extLst>
              <a:ext uri="{FF2B5EF4-FFF2-40B4-BE49-F238E27FC236}">
                <a16:creationId xmlns:a16="http://schemas.microsoft.com/office/drawing/2014/main" id="{8086046B-0C7F-422A-8444-E46AC40C0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675687" cy="720725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限制条件下非降路径数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747" name="灯片编号占位符 4">
            <a:extLst>
              <a:ext uri="{FF2B5EF4-FFF2-40B4-BE49-F238E27FC236}">
                <a16:creationId xmlns:a16="http://schemas.microsoft.com/office/drawing/2014/main" id="{43BB64FB-BAA7-4950-AFCA-E9BA8DA847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0BB6C90-E1B6-47B4-9FC2-00033A5ECF65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15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43E65B26-F79E-4DB3-9BBB-AAB5C2D66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graphicFrame>
        <p:nvGraphicFramePr>
          <p:cNvPr id="31749" name="Object 3">
            <a:extLst>
              <a:ext uri="{FF2B5EF4-FFF2-40B4-BE49-F238E27FC236}">
                <a16:creationId xmlns:a16="http://schemas.microsoft.com/office/drawing/2014/main" id="{3488B9A1-DD8D-430B-BF62-43CC9F8C09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5516563"/>
          <a:ext cx="51847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6" name="公式" r:id="rId4" imgW="2374900" imgH="457200" progId="Equation.3">
                  <p:embed/>
                </p:oleObj>
              </mc:Choice>
              <mc:Fallback>
                <p:oleObj name="公式" r:id="rId4" imgW="23749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516563"/>
                        <a:ext cx="51847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4">
            <a:extLst>
              <a:ext uri="{FF2B5EF4-FFF2-40B4-BE49-F238E27FC236}">
                <a16:creationId xmlns:a16="http://schemas.microsoft.com/office/drawing/2014/main" id="{8D7D1F4D-9D9F-491F-AA6E-F40CFE65AF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541338" y="1268413"/>
          <a:ext cx="4608513" cy="391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文档" r:id="rId6" imgW="2327302" imgH="1979414" progId="Word.Document.8">
                  <p:embed/>
                </p:oleObj>
              </mc:Choice>
              <mc:Fallback>
                <p:oleObj name="文档" r:id="rId6" imgW="2327302" imgH="197941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541338" y="1268413"/>
                        <a:ext cx="4608513" cy="391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Text Box 17">
            <a:extLst>
              <a:ext uri="{FF2B5EF4-FFF2-40B4-BE49-F238E27FC236}">
                <a16:creationId xmlns:a16="http://schemas.microsoft.com/office/drawing/2014/main" id="{2A0A3DD1-CDE3-441C-8B27-38B31B135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1925638"/>
            <a:ext cx="1057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-1)</a:t>
            </a:r>
          </a:p>
        </p:txBody>
      </p:sp>
      <p:grpSp>
        <p:nvGrpSpPr>
          <p:cNvPr id="31752" name="Group 20">
            <a:extLst>
              <a:ext uri="{FF2B5EF4-FFF2-40B4-BE49-F238E27FC236}">
                <a16:creationId xmlns:a16="http://schemas.microsoft.com/office/drawing/2014/main" id="{65A7A617-3332-427C-A114-C4E9C7F07B9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557338"/>
            <a:ext cx="3816350" cy="3841750"/>
            <a:chOff x="2789" y="981"/>
            <a:chExt cx="2404" cy="2420"/>
          </a:xfrm>
        </p:grpSpPr>
        <p:grpSp>
          <p:nvGrpSpPr>
            <p:cNvPr id="31756" name="Group 16">
              <a:extLst>
                <a:ext uri="{FF2B5EF4-FFF2-40B4-BE49-F238E27FC236}">
                  <a16:creationId xmlns:a16="http://schemas.microsoft.com/office/drawing/2014/main" id="{FF490D0A-43FE-452B-8AB7-BC04F2B3A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981"/>
              <a:ext cx="2404" cy="2177"/>
              <a:chOff x="2653" y="1117"/>
              <a:chExt cx="2404" cy="2177"/>
            </a:xfrm>
          </p:grpSpPr>
          <p:sp>
            <p:nvSpPr>
              <p:cNvPr id="31758" name="Line 7">
                <a:extLst>
                  <a:ext uri="{FF2B5EF4-FFF2-40B4-BE49-F238E27FC236}">
                    <a16:creationId xmlns:a16="http://schemas.microsoft.com/office/drawing/2014/main" id="{1D96ECD0-448F-4995-A8DD-682C9231AD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9" y="3249"/>
                <a:ext cx="23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9" name="Line 8">
                <a:extLst>
                  <a:ext uri="{FF2B5EF4-FFF2-40B4-BE49-F238E27FC236}">
                    <a16:creationId xmlns:a16="http://schemas.microsoft.com/office/drawing/2014/main" id="{DAA908E0-F8CD-403E-A185-8B4990FEE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99" y="1117"/>
                <a:ext cx="0" cy="2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0" name="Line 9">
                <a:extLst>
                  <a:ext uri="{FF2B5EF4-FFF2-40B4-BE49-F238E27FC236}">
                    <a16:creationId xmlns:a16="http://schemas.microsoft.com/office/drawing/2014/main" id="{ED70BA11-C503-434E-BC90-3C97F15A9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99" y="1207"/>
                <a:ext cx="2041" cy="20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1" name="Freeform 10">
                <a:extLst>
                  <a:ext uri="{FF2B5EF4-FFF2-40B4-BE49-F238E27FC236}">
                    <a16:creationId xmlns:a16="http://schemas.microsoft.com/office/drawing/2014/main" id="{55E15542-4977-4315-BB6B-540234B22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6" y="1525"/>
                <a:ext cx="1724" cy="1724"/>
              </a:xfrm>
              <a:custGeom>
                <a:avLst/>
                <a:gdLst>
                  <a:gd name="T0" fmla="*/ 0 w 1724"/>
                  <a:gd name="T1" fmla="*/ 1724 h 1724"/>
                  <a:gd name="T2" fmla="*/ 590 w 1724"/>
                  <a:gd name="T3" fmla="*/ 1724 h 1724"/>
                  <a:gd name="T4" fmla="*/ 590 w 1724"/>
                  <a:gd name="T5" fmla="*/ 227 h 1724"/>
                  <a:gd name="T6" fmla="*/ 1724 w 1724"/>
                  <a:gd name="T7" fmla="*/ 227 h 1724"/>
                  <a:gd name="T8" fmla="*/ 1724 w 1724"/>
                  <a:gd name="T9" fmla="*/ 0 h 17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24"/>
                  <a:gd name="T16" fmla="*/ 0 h 1724"/>
                  <a:gd name="T17" fmla="*/ 1724 w 1724"/>
                  <a:gd name="T18" fmla="*/ 1724 h 17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24" h="1724">
                    <a:moveTo>
                      <a:pt x="0" y="1724"/>
                    </a:moveTo>
                    <a:lnTo>
                      <a:pt x="590" y="1724"/>
                    </a:lnTo>
                    <a:lnTo>
                      <a:pt x="590" y="227"/>
                    </a:lnTo>
                    <a:lnTo>
                      <a:pt x="1724" y="227"/>
                    </a:lnTo>
                    <a:lnTo>
                      <a:pt x="1724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2" name="Oval 11">
                <a:extLst>
                  <a:ext uri="{FF2B5EF4-FFF2-40B4-BE49-F238E27FC236}">
                    <a16:creationId xmlns:a16="http://schemas.microsoft.com/office/drawing/2014/main" id="{2FAFB2FD-DC89-42CA-A20D-3B65A9E12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" y="1480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31763" name="Oval 12">
                <a:extLst>
                  <a:ext uri="{FF2B5EF4-FFF2-40B4-BE49-F238E27FC236}">
                    <a16:creationId xmlns:a16="http://schemas.microsoft.com/office/drawing/2014/main" id="{DC48B3A1-5384-41FB-82FF-23EAAE10D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6" y="3203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31764" name="Oval 14">
                <a:extLst>
                  <a:ext uri="{FF2B5EF4-FFF2-40B4-BE49-F238E27FC236}">
                    <a16:creationId xmlns:a16="http://schemas.microsoft.com/office/drawing/2014/main" id="{AB110310-E453-4AB3-B4F8-341B2A355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3" y="2840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31765" name="Oval 15">
                <a:extLst>
                  <a:ext uri="{FF2B5EF4-FFF2-40B4-BE49-F238E27FC236}">
                    <a16:creationId xmlns:a16="http://schemas.microsoft.com/office/drawing/2014/main" id="{E6B1755C-8B68-4FDE-9828-0CFE09637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70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757" name="Text Box 18">
              <a:extLst>
                <a:ext uri="{FF2B5EF4-FFF2-40B4-BE49-F238E27FC236}">
                  <a16:creationId xmlns:a16="http://schemas.microsoft.com/office/drawing/2014/main" id="{1EA4186D-9A82-444E-A21A-FE84FDCDD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3113"/>
              <a:ext cx="4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(1,0)</a:t>
              </a:r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298D1B39-7249-406C-B5BF-62EA3B1CED19}"/>
              </a:ext>
            </a:extLst>
          </p:cNvPr>
          <p:cNvGrpSpPr>
            <a:grpSpLocks/>
          </p:cNvGrpSpPr>
          <p:nvPr/>
        </p:nvGrpSpPr>
        <p:grpSpPr bwMode="auto">
          <a:xfrm>
            <a:off x="3659188" y="2565400"/>
            <a:ext cx="3217862" cy="1949450"/>
            <a:chOff x="2305" y="1616"/>
            <a:chExt cx="2026" cy="1244"/>
          </a:xfrm>
        </p:grpSpPr>
        <p:sp>
          <p:nvSpPr>
            <p:cNvPr id="31754" name="Freeform 13">
              <a:extLst>
                <a:ext uri="{FF2B5EF4-FFF2-40B4-BE49-F238E27FC236}">
                  <a16:creationId xmlns:a16="http://schemas.microsoft.com/office/drawing/2014/main" id="{72FF95AF-C631-4963-B153-E3421DDBC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1616"/>
              <a:ext cx="1496" cy="1134"/>
            </a:xfrm>
            <a:custGeom>
              <a:avLst/>
              <a:gdLst>
                <a:gd name="T0" fmla="*/ 0 w 1496"/>
                <a:gd name="T1" fmla="*/ 1134 h 1134"/>
                <a:gd name="T2" fmla="*/ 0 w 1496"/>
                <a:gd name="T3" fmla="*/ 589 h 1134"/>
                <a:gd name="T4" fmla="*/ 1496 w 1496"/>
                <a:gd name="T5" fmla="*/ 589 h 1134"/>
                <a:gd name="T6" fmla="*/ 1496 w 1496"/>
                <a:gd name="T7" fmla="*/ 0 h 11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96"/>
                <a:gd name="T13" fmla="*/ 0 h 1134"/>
                <a:gd name="T14" fmla="*/ 1496 w 1496"/>
                <a:gd name="T15" fmla="*/ 1134 h 11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96" h="1134">
                  <a:moveTo>
                    <a:pt x="0" y="1134"/>
                  </a:moveTo>
                  <a:lnTo>
                    <a:pt x="0" y="589"/>
                  </a:lnTo>
                  <a:lnTo>
                    <a:pt x="1496" y="589"/>
                  </a:lnTo>
                  <a:lnTo>
                    <a:pt x="149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5" name="Text Box 19">
              <a:extLst>
                <a:ext uri="{FF2B5EF4-FFF2-40B4-BE49-F238E27FC236}">
                  <a16:creationId xmlns:a16="http://schemas.microsoft.com/office/drawing/2014/main" id="{7EF24DCA-228E-4452-B0CB-348ED776F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" y="2568"/>
              <a:ext cx="48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(0,1)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3">
            <a:extLst>
              <a:ext uri="{FF2B5EF4-FFF2-40B4-BE49-F238E27FC236}">
                <a16:creationId xmlns:a16="http://schemas.microsoft.com/office/drawing/2014/main" id="{97433363-A852-41D2-B133-7A5872C4B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65100"/>
            <a:ext cx="8229600" cy="69215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应用（证明恒等式）</a:t>
            </a:r>
          </a:p>
        </p:txBody>
      </p:sp>
      <p:sp>
        <p:nvSpPr>
          <p:cNvPr id="33795" name="灯片编号占位符 4">
            <a:extLst>
              <a:ext uri="{FF2B5EF4-FFF2-40B4-BE49-F238E27FC236}">
                <a16:creationId xmlns:a16="http://schemas.microsoft.com/office/drawing/2014/main" id="{1E457C71-0DC9-4B9D-816B-D4EEE0D042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2F6F6DD-5DF1-4762-863F-112C8A4061CD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16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3796" name="Object 2">
            <a:extLst>
              <a:ext uri="{FF2B5EF4-FFF2-40B4-BE49-F238E27FC236}">
                <a16:creationId xmlns:a16="http://schemas.microsoft.com/office/drawing/2014/main" id="{50457376-2DCC-44BB-B0BD-A4C4AAE972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063" y="1125538"/>
          <a:ext cx="7350125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8" name="Document" r:id="rId4" imgW="4703769" imgH="2433718" progId="Word.Document.8">
                  <p:embed/>
                </p:oleObj>
              </mc:Choice>
              <mc:Fallback>
                <p:oleObj name="Document" r:id="rId4" imgW="4703769" imgH="243371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3" y="1125538"/>
                        <a:ext cx="7350125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4">
            <a:extLst>
              <a:ext uri="{FF2B5EF4-FFF2-40B4-BE49-F238E27FC236}">
                <a16:creationId xmlns:a16="http://schemas.microsoft.com/office/drawing/2014/main" id="{8A3A9DE3-D8AE-4C96-8528-B558C39277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4437063"/>
          <a:ext cx="3189287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9" name="公式" r:id="rId6" imgW="1524000" imgH="698500" progId="Equation.3">
                  <p:embed/>
                </p:oleObj>
              </mc:Choice>
              <mc:Fallback>
                <p:oleObj name="公式" r:id="rId6" imgW="1524000" imgH="698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437063"/>
                        <a:ext cx="3189287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798" name="Group 38">
            <a:extLst>
              <a:ext uri="{FF2B5EF4-FFF2-40B4-BE49-F238E27FC236}">
                <a16:creationId xmlns:a16="http://schemas.microsoft.com/office/drawing/2014/main" id="{3BA57D0C-F903-45AF-9DD1-9F43717BB714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2132013"/>
            <a:ext cx="5040313" cy="3960812"/>
            <a:chOff x="2472" y="1117"/>
            <a:chExt cx="3175" cy="2495"/>
          </a:xfrm>
        </p:grpSpPr>
        <p:sp>
          <p:nvSpPr>
            <p:cNvPr id="33801" name="Text Box 31">
              <a:extLst>
                <a:ext uri="{FF2B5EF4-FFF2-40B4-BE49-F238E27FC236}">
                  <a16:creationId xmlns:a16="http://schemas.microsoft.com/office/drawing/2014/main" id="{DC8DAE71-267D-44AE-B4FC-ED04ABB1A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091"/>
              <a:ext cx="5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m</a:t>
              </a:r>
              <a:r>
                <a:rPr lang="en-US" altLang="zh-CN" sz="2000" b="1">
                  <a:latin typeface="Times New Roman" panose="02020603050405020304" pitchFamily="18" charset="0"/>
                </a:rPr>
                <a:t>-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000" b="1">
                  <a:latin typeface="Times New Roman" panose="02020603050405020304" pitchFamily="18" charset="0"/>
                </a:rPr>
                <a:t>,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000" b="1">
                  <a:latin typeface="Times New Roman" panose="02020603050405020304" pitchFamily="18" charset="0"/>
                </a:rPr>
                <a:t>)</a:t>
              </a:r>
            </a:p>
          </p:txBody>
        </p:sp>
        <p:grpSp>
          <p:nvGrpSpPr>
            <p:cNvPr id="33802" name="Group 37">
              <a:extLst>
                <a:ext uri="{FF2B5EF4-FFF2-40B4-BE49-F238E27FC236}">
                  <a16:creationId xmlns:a16="http://schemas.microsoft.com/office/drawing/2014/main" id="{51E87A14-98C6-4E8E-B025-ECF82DB759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2" y="1117"/>
              <a:ext cx="3175" cy="2495"/>
              <a:chOff x="2290" y="1207"/>
              <a:chExt cx="3175" cy="2495"/>
            </a:xfrm>
          </p:grpSpPr>
          <p:grpSp>
            <p:nvGrpSpPr>
              <p:cNvPr id="33803" name="Group 28">
                <a:extLst>
                  <a:ext uri="{FF2B5EF4-FFF2-40B4-BE49-F238E27FC236}">
                    <a16:creationId xmlns:a16="http://schemas.microsoft.com/office/drawing/2014/main" id="{1358564D-68B0-408A-88E4-3A61EFD0EE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" y="1207"/>
                <a:ext cx="2585" cy="2269"/>
                <a:chOff x="2744" y="1207"/>
                <a:chExt cx="2585" cy="2269"/>
              </a:xfrm>
            </p:grpSpPr>
            <p:sp>
              <p:nvSpPr>
                <p:cNvPr id="33811" name="Oval 24">
                  <a:extLst>
                    <a:ext uri="{FF2B5EF4-FFF2-40B4-BE49-F238E27FC236}">
                      <a16:creationId xmlns:a16="http://schemas.microsoft.com/office/drawing/2014/main" id="{929EBDAD-1899-4875-9156-17832B476E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4" y="1979"/>
                  <a:ext cx="90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/>
                  <a:endParaRPr lang="zh-CN" altLang="en-US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3812" name="Group 27">
                  <a:extLst>
                    <a:ext uri="{FF2B5EF4-FFF2-40B4-BE49-F238E27FC236}">
                      <a16:creationId xmlns:a16="http://schemas.microsoft.com/office/drawing/2014/main" id="{3031FB99-DB8F-4D26-81EE-51DD352898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44" y="1207"/>
                  <a:ext cx="2585" cy="2269"/>
                  <a:chOff x="2744" y="1207"/>
                  <a:chExt cx="2585" cy="2269"/>
                </a:xfrm>
              </p:grpSpPr>
              <p:sp>
                <p:nvSpPr>
                  <p:cNvPr id="33813" name="Line 10">
                    <a:extLst>
                      <a:ext uri="{FF2B5EF4-FFF2-40B4-BE49-F238E27FC236}">
                        <a16:creationId xmlns:a16="http://schemas.microsoft.com/office/drawing/2014/main" id="{6B71C541-47F0-4AD6-992A-2747486996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89" y="1570"/>
                    <a:ext cx="1815" cy="186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3814" name="Group 26">
                    <a:extLst>
                      <a:ext uri="{FF2B5EF4-FFF2-40B4-BE49-F238E27FC236}">
                        <a16:creationId xmlns:a16="http://schemas.microsoft.com/office/drawing/2014/main" id="{C00AA91C-997C-40E1-9EED-2936C07F118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744" y="1207"/>
                    <a:ext cx="2585" cy="2269"/>
                    <a:chOff x="2744" y="1207"/>
                    <a:chExt cx="2585" cy="2269"/>
                  </a:xfrm>
                </p:grpSpPr>
                <p:sp>
                  <p:nvSpPr>
                    <p:cNvPr id="33815" name="Line 6">
                      <a:extLst>
                        <a:ext uri="{FF2B5EF4-FFF2-40B4-BE49-F238E27FC236}">
                          <a16:creationId xmlns:a16="http://schemas.microsoft.com/office/drawing/2014/main" id="{966F0C77-447E-4200-AD72-9332EECE179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9" y="3430"/>
                      <a:ext cx="254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816" name="Line 7">
                      <a:extLst>
                        <a:ext uri="{FF2B5EF4-FFF2-40B4-BE49-F238E27FC236}">
                          <a16:creationId xmlns:a16="http://schemas.microsoft.com/office/drawing/2014/main" id="{1D2A4FFA-352A-4703-89C6-391C65337D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789" y="1207"/>
                      <a:ext cx="0" cy="222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817" name="Line 8">
                      <a:extLst>
                        <a:ext uri="{FF2B5EF4-FFF2-40B4-BE49-F238E27FC236}">
                          <a16:creationId xmlns:a16="http://schemas.microsoft.com/office/drawing/2014/main" id="{50AE8F0B-137A-4F82-9EFF-994C9EFE95F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9" y="2024"/>
                      <a:ext cx="217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818" name="Line 9">
                      <a:extLst>
                        <a:ext uri="{FF2B5EF4-FFF2-40B4-BE49-F238E27FC236}">
                          <a16:creationId xmlns:a16="http://schemas.microsoft.com/office/drawing/2014/main" id="{59982702-77A4-464C-93F5-19E7D15FE5F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967" y="2024"/>
                      <a:ext cx="0" cy="140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819" name="Freeform 13">
                      <a:extLst>
                        <a:ext uri="{FF2B5EF4-FFF2-40B4-BE49-F238E27FC236}">
                          <a16:creationId xmlns:a16="http://schemas.microsoft.com/office/drawing/2014/main" id="{27A7897A-B81F-4370-9615-37FF5F1F07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789" y="2523"/>
                      <a:ext cx="907" cy="907"/>
                    </a:xfrm>
                    <a:custGeom>
                      <a:avLst/>
                      <a:gdLst>
                        <a:gd name="T0" fmla="*/ 0 w 907"/>
                        <a:gd name="T1" fmla="*/ 907 h 907"/>
                        <a:gd name="T2" fmla="*/ 590 w 907"/>
                        <a:gd name="T3" fmla="*/ 907 h 907"/>
                        <a:gd name="T4" fmla="*/ 590 w 907"/>
                        <a:gd name="T5" fmla="*/ 272 h 907"/>
                        <a:gd name="T6" fmla="*/ 907 w 907"/>
                        <a:gd name="T7" fmla="*/ 272 h 907"/>
                        <a:gd name="T8" fmla="*/ 907 w 907"/>
                        <a:gd name="T9" fmla="*/ 0 h 90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907"/>
                        <a:gd name="T16" fmla="*/ 0 h 907"/>
                        <a:gd name="T17" fmla="*/ 907 w 907"/>
                        <a:gd name="T18" fmla="*/ 907 h 90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907" h="907">
                          <a:moveTo>
                            <a:pt x="0" y="907"/>
                          </a:moveTo>
                          <a:lnTo>
                            <a:pt x="590" y="907"/>
                          </a:lnTo>
                          <a:lnTo>
                            <a:pt x="590" y="272"/>
                          </a:lnTo>
                          <a:lnTo>
                            <a:pt x="907" y="272"/>
                          </a:lnTo>
                          <a:lnTo>
                            <a:pt x="907" y="0"/>
                          </a:lnTo>
                        </a:path>
                      </a:pathLst>
                    </a:cu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820" name="Freeform 17">
                      <a:extLst>
                        <a:ext uri="{FF2B5EF4-FFF2-40B4-BE49-F238E27FC236}">
                          <a16:creationId xmlns:a16="http://schemas.microsoft.com/office/drawing/2014/main" id="{3D281A39-420D-4691-8389-91C7460957F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96" y="2024"/>
                      <a:ext cx="1271" cy="499"/>
                    </a:xfrm>
                    <a:custGeom>
                      <a:avLst/>
                      <a:gdLst>
                        <a:gd name="T0" fmla="*/ 0 w 1271"/>
                        <a:gd name="T1" fmla="*/ 499 h 499"/>
                        <a:gd name="T2" fmla="*/ 590 w 1271"/>
                        <a:gd name="T3" fmla="*/ 499 h 499"/>
                        <a:gd name="T4" fmla="*/ 590 w 1271"/>
                        <a:gd name="T5" fmla="*/ 272 h 499"/>
                        <a:gd name="T6" fmla="*/ 1271 w 1271"/>
                        <a:gd name="T7" fmla="*/ 272 h 499"/>
                        <a:gd name="T8" fmla="*/ 1271 w 1271"/>
                        <a:gd name="T9" fmla="*/ 0 h 499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271"/>
                        <a:gd name="T16" fmla="*/ 0 h 499"/>
                        <a:gd name="T17" fmla="*/ 1271 w 1271"/>
                        <a:gd name="T18" fmla="*/ 499 h 499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271" h="499">
                          <a:moveTo>
                            <a:pt x="0" y="499"/>
                          </a:moveTo>
                          <a:lnTo>
                            <a:pt x="590" y="499"/>
                          </a:lnTo>
                          <a:lnTo>
                            <a:pt x="590" y="272"/>
                          </a:lnTo>
                          <a:lnTo>
                            <a:pt x="1271" y="272"/>
                          </a:lnTo>
                          <a:lnTo>
                            <a:pt x="1271" y="0"/>
                          </a:lnTo>
                        </a:path>
                      </a:pathLst>
                    </a:custGeom>
                    <a:noFill/>
                    <a:ln w="381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821" name="Oval 18">
                      <a:extLst>
                        <a:ext uri="{FF2B5EF4-FFF2-40B4-BE49-F238E27FC236}">
                          <a16:creationId xmlns:a16="http://schemas.microsoft.com/office/drawing/2014/main" id="{951DE2E3-2BBD-404E-92D2-5603261DA2B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21" y="1979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822" name="Oval 19">
                      <a:extLst>
                        <a:ext uri="{FF2B5EF4-FFF2-40B4-BE49-F238E27FC236}">
                          <a16:creationId xmlns:a16="http://schemas.microsoft.com/office/drawing/2014/main" id="{C561DA02-55E8-487D-99E9-DC169C28A45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51" y="2478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823" name="Oval 20">
                      <a:extLst>
                        <a:ext uri="{FF2B5EF4-FFF2-40B4-BE49-F238E27FC236}">
                          <a16:creationId xmlns:a16="http://schemas.microsoft.com/office/drawing/2014/main" id="{A9D46D52-6D3A-47A5-8943-3CE7EDCC347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44" y="3384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824" name="Oval 21">
                      <a:extLst>
                        <a:ext uri="{FF2B5EF4-FFF2-40B4-BE49-F238E27FC236}">
                          <a16:creationId xmlns:a16="http://schemas.microsoft.com/office/drawing/2014/main" id="{FEAB1890-9BF6-4CDA-A875-5D25BA519A1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58" y="3385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825" name="Oval 22">
                      <a:extLst>
                        <a:ext uri="{FF2B5EF4-FFF2-40B4-BE49-F238E27FC236}">
                          <a16:creationId xmlns:a16="http://schemas.microsoft.com/office/drawing/2014/main" id="{C7208B4F-08D0-4EEC-9FFE-892B0AE9159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21" y="3385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826" name="Oval 23">
                      <a:extLst>
                        <a:ext uri="{FF2B5EF4-FFF2-40B4-BE49-F238E27FC236}">
                          <a16:creationId xmlns:a16="http://schemas.microsoft.com/office/drawing/2014/main" id="{24AEA8C2-1CF9-48CA-879B-8A52C6A28C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8" y="1979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827" name="Oval 25">
                      <a:extLst>
                        <a:ext uri="{FF2B5EF4-FFF2-40B4-BE49-F238E27FC236}">
                          <a16:creationId xmlns:a16="http://schemas.microsoft.com/office/drawing/2014/main" id="{042C6A16-56E3-4295-A970-8AF22414BC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44" y="1525"/>
                      <a:ext cx="90" cy="9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3804" name="Text Box 29">
                <a:extLst>
                  <a:ext uri="{FF2B5EF4-FFF2-40B4-BE49-F238E27FC236}">
                    <a16:creationId xmlns:a16="http://schemas.microsoft.com/office/drawing/2014/main" id="{8824AAFD-7D86-4E76-B95E-BFDAE095E0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6" y="1888"/>
                <a:ext cx="42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(0,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33805" name="Text Box 30">
                <a:extLst>
                  <a:ext uri="{FF2B5EF4-FFF2-40B4-BE49-F238E27FC236}">
                    <a16:creationId xmlns:a16="http://schemas.microsoft.com/office/drawing/2014/main" id="{991380C7-AABA-4185-B8CC-FF60CC2759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7" y="1729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33806" name="Text Box 32">
                <a:extLst>
                  <a:ext uri="{FF2B5EF4-FFF2-40B4-BE49-F238E27FC236}">
                    <a16:creationId xmlns:a16="http://schemas.microsoft.com/office/drawing/2014/main" id="{90BEEA98-AAEA-4915-8ACD-9F549A15BD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9" y="1570"/>
                <a:ext cx="72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)=</a:t>
                </a:r>
              </a:p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m+n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33807" name="Text Box 33">
                <a:extLst>
                  <a:ext uri="{FF2B5EF4-FFF2-40B4-BE49-F238E27FC236}">
                    <a16:creationId xmlns:a16="http://schemas.microsoft.com/office/drawing/2014/main" id="{52464F84-A53B-47AD-A55A-43293D80FC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9" y="3452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m+n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,0)</a:t>
                </a:r>
              </a:p>
            </p:txBody>
          </p:sp>
          <p:sp>
            <p:nvSpPr>
              <p:cNvPr id="33808" name="Text Box 34">
                <a:extLst>
                  <a:ext uri="{FF2B5EF4-FFF2-40B4-BE49-F238E27FC236}">
                    <a16:creationId xmlns:a16="http://schemas.microsoft.com/office/drawing/2014/main" id="{4F233056-08EF-4439-A943-ED72AFD486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5" y="3430"/>
                <a:ext cx="45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,0)</a:t>
                </a:r>
              </a:p>
            </p:txBody>
          </p:sp>
          <p:sp>
            <p:nvSpPr>
              <p:cNvPr id="33809" name="Text Box 35">
                <a:extLst>
                  <a:ext uri="{FF2B5EF4-FFF2-40B4-BE49-F238E27FC236}">
                    <a16:creationId xmlns:a16="http://schemas.microsoft.com/office/drawing/2014/main" id="{59AD83AA-02C3-4955-819D-F9601A9D28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6" y="3294"/>
                <a:ext cx="45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(0,0)</a:t>
                </a:r>
              </a:p>
            </p:txBody>
          </p:sp>
          <p:sp>
            <p:nvSpPr>
              <p:cNvPr id="33810" name="Text Box 36">
                <a:extLst>
                  <a:ext uri="{FF2B5EF4-FFF2-40B4-BE49-F238E27FC236}">
                    <a16:creationId xmlns:a16="http://schemas.microsoft.com/office/drawing/2014/main" id="{4CF97916-BD66-4644-A032-B35F5D7161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0" y="1434"/>
                <a:ext cx="45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(0,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</p:grpSp>
      <p:sp>
        <p:nvSpPr>
          <p:cNvPr id="21539" name="Rectangle 35">
            <a:extLst>
              <a:ext uri="{FF2B5EF4-FFF2-40B4-BE49-F238E27FC236}">
                <a16:creationId xmlns:a16="http://schemas.microsoft.com/office/drawing/2014/main" id="{7EFDDB2C-5F3F-41E6-AE99-7F581BBD9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graphicFrame>
        <p:nvGraphicFramePr>
          <p:cNvPr id="33800" name="Object 34">
            <a:extLst>
              <a:ext uri="{FF2B5EF4-FFF2-40B4-BE49-F238E27FC236}">
                <a16:creationId xmlns:a16="http://schemas.microsoft.com/office/drawing/2014/main" id="{37C02D2A-A2F0-424C-BE1F-2B7F3CAB5E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908050"/>
          <a:ext cx="2751137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0" name="公式" r:id="rId8" imgW="1497950" imgH="431613" progId="Equation.3">
                  <p:embed/>
                </p:oleObj>
              </mc:Choice>
              <mc:Fallback>
                <p:oleObj name="公式" r:id="rId8" imgW="1497950" imgH="431613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908050"/>
                        <a:ext cx="2751137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5" name="Rectangle 37">
            <a:extLst>
              <a:ext uri="{FF2B5EF4-FFF2-40B4-BE49-F238E27FC236}">
                <a16:creationId xmlns:a16="http://schemas.microsoft.com/office/drawing/2014/main" id="{2EB0F13A-C6A4-4693-82D3-8B3AD9981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847975"/>
            <a:ext cx="5113337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  A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={1, 2, </a:t>
            </a:r>
            <a:r>
              <a:rPr lang="en-US" altLang="zh-CN" sz="2400" b="1" dirty="0">
                <a:latin typeface="Arial"/>
                <a:cs typeface="Times New Roman" pitchFamily="18" charset="0"/>
              </a:rPr>
              <a:t>…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={1, 2, </a:t>
            </a:r>
            <a:r>
              <a:rPr lang="en-US" altLang="zh-CN" sz="2400" b="1" dirty="0">
                <a:latin typeface="Arial"/>
                <a:cs typeface="Times New Roman" pitchFamily="18" charset="0"/>
              </a:rPr>
              <a:t>…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endParaRPr lang="zh-CN" altLang="en-US" sz="2400" dirty="0"/>
          </a:p>
          <a:p>
            <a:pPr indent="72000">
              <a:defRPr/>
            </a:pP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 A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到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单调函数个数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indent="72000"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=(1,1)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到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+1,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非降路径数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倍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24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=</a:t>
            </a:r>
            <a:endParaRPr lang="zh-CN" altLang="en-US" sz="2400" dirty="0"/>
          </a:p>
        </p:txBody>
      </p:sp>
      <p:sp>
        <p:nvSpPr>
          <p:cNvPr id="22563" name="Rectangle 35">
            <a:extLst>
              <a:ext uri="{FF2B5EF4-FFF2-40B4-BE49-F238E27FC236}">
                <a16:creationId xmlns:a16="http://schemas.microsoft.com/office/drawing/2014/main" id="{D16DF9A3-53E4-4187-8C69-1D0C15EF0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981075"/>
            <a:ext cx="9144001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304800">
              <a:spcAft>
                <a:spcPts val="600"/>
              </a:spcAft>
              <a:defRPr/>
            </a:pPr>
            <a:r>
              <a:rPr 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 </a:t>
            </a:r>
            <a:r>
              <a:rPr 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集合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{1, 2, </a:t>
            </a:r>
            <a:r>
              <a:rPr lang="en-US" altLang="zh-CN" sz="2400" b="1" dirty="0">
                <a:latin typeface="Arial"/>
                <a:cs typeface="Times New Roman" pitchFamily="18" charset="0"/>
              </a:rPr>
              <a:t>…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上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单调递增函数个数</a:t>
            </a:r>
            <a:endParaRPr lang="zh-CN" altLang="en-US" sz="2400" dirty="0">
              <a:solidFill>
                <a:prstClr val="black"/>
              </a:solidFill>
            </a:endParaRPr>
          </a:p>
          <a:p>
            <a:pPr indent="609600"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=(1,1)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到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+1,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的非降路径数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</a:t>
            </a:r>
          </a:p>
          <a:p>
            <a:pPr indent="609600">
              <a:spcBef>
                <a:spcPts val="12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单调函数个数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</a:t>
            </a:r>
          </a:p>
          <a:p>
            <a:pPr indent="609600">
              <a:defRPr/>
            </a:pPr>
            <a:endParaRPr lang="en-US" altLang="zh-CN" sz="2400" dirty="0"/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4485A66-7AF8-4A62-8005-C58B502E9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23838"/>
            <a:ext cx="8229600" cy="48895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应用（单调函数计数）</a:t>
            </a:r>
          </a:p>
        </p:txBody>
      </p:sp>
      <p:sp>
        <p:nvSpPr>
          <p:cNvPr id="35845" name="灯片编号占位符 4">
            <a:extLst>
              <a:ext uri="{FF2B5EF4-FFF2-40B4-BE49-F238E27FC236}">
                <a16:creationId xmlns:a16="http://schemas.microsoft.com/office/drawing/2014/main" id="{89E107AA-F41A-4D2E-A7ED-79B9A501E7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71691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4F2BA0E-F39E-4BD0-B65F-E957969D4864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17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5846" name="Oval 7">
            <a:extLst>
              <a:ext uri="{FF2B5EF4-FFF2-40B4-BE49-F238E27FC236}">
                <a16:creationId xmlns:a16="http://schemas.microsoft.com/office/drawing/2014/main" id="{086013C1-B148-46A4-A5BF-7F23B06B5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465763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47" name="Oval 8">
            <a:extLst>
              <a:ext uri="{FF2B5EF4-FFF2-40B4-BE49-F238E27FC236}">
                <a16:creationId xmlns:a16="http://schemas.microsoft.com/office/drawing/2014/main" id="{C9715DBE-E444-4EBA-8EDA-E6D24C158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033963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48" name="Oval 9">
            <a:extLst>
              <a:ext uri="{FF2B5EF4-FFF2-40B4-BE49-F238E27FC236}">
                <a16:creationId xmlns:a16="http://schemas.microsoft.com/office/drawing/2014/main" id="{3F092A15-4E1B-4009-99B7-98BED98B5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602163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49" name="Oval 10">
            <a:extLst>
              <a:ext uri="{FF2B5EF4-FFF2-40B4-BE49-F238E27FC236}">
                <a16:creationId xmlns:a16="http://schemas.microsoft.com/office/drawing/2014/main" id="{54414765-2263-44A9-95DD-C5227E435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4602163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50" name="Oval 11">
            <a:extLst>
              <a:ext uri="{FF2B5EF4-FFF2-40B4-BE49-F238E27FC236}">
                <a16:creationId xmlns:a16="http://schemas.microsoft.com/office/drawing/2014/main" id="{7AA87330-38C7-4727-8230-28AAB0DFB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3378200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51" name="Oval 12">
            <a:extLst>
              <a:ext uri="{FF2B5EF4-FFF2-40B4-BE49-F238E27FC236}">
                <a16:creationId xmlns:a16="http://schemas.microsoft.com/office/drawing/2014/main" id="{57E983DD-2582-4E3F-9E61-FD16E6E48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3017838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12687" name="Line 15">
            <a:extLst>
              <a:ext uri="{FF2B5EF4-FFF2-40B4-BE49-F238E27FC236}">
                <a16:creationId xmlns:a16="http://schemas.microsoft.com/office/drawing/2014/main" id="{7E73570C-34AE-4ADC-96F5-BDD527FC86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2725" y="5105400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690" name="Freeform 18">
            <a:extLst>
              <a:ext uri="{FF2B5EF4-FFF2-40B4-BE49-F238E27FC236}">
                <a16:creationId xmlns:a16="http://schemas.microsoft.com/office/drawing/2014/main" id="{8332698A-5012-4A33-9764-821355DE8F8F}"/>
              </a:ext>
            </a:extLst>
          </p:cNvPr>
          <p:cNvSpPr>
            <a:spLocks/>
          </p:cNvSpPr>
          <p:nvPr/>
        </p:nvSpPr>
        <p:spPr bwMode="auto">
          <a:xfrm>
            <a:off x="5292725" y="4673600"/>
            <a:ext cx="503238" cy="431800"/>
          </a:xfrm>
          <a:custGeom>
            <a:avLst/>
            <a:gdLst>
              <a:gd name="T0" fmla="*/ 0 w 453"/>
              <a:gd name="T1" fmla="*/ 2147483646 h 272"/>
              <a:gd name="T2" fmla="*/ 2147483646 w 453"/>
              <a:gd name="T3" fmla="*/ 2147483646 h 272"/>
              <a:gd name="T4" fmla="*/ 2147483646 w 453"/>
              <a:gd name="T5" fmla="*/ 0 h 272"/>
              <a:gd name="T6" fmla="*/ 0 60000 65536"/>
              <a:gd name="T7" fmla="*/ 0 60000 65536"/>
              <a:gd name="T8" fmla="*/ 0 60000 65536"/>
              <a:gd name="T9" fmla="*/ 0 w 453"/>
              <a:gd name="T10" fmla="*/ 0 h 272"/>
              <a:gd name="T11" fmla="*/ 453 w 453"/>
              <a:gd name="T12" fmla="*/ 272 h 2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272">
                <a:moveTo>
                  <a:pt x="0" y="272"/>
                </a:moveTo>
                <a:lnTo>
                  <a:pt x="453" y="272"/>
                </a:lnTo>
                <a:lnTo>
                  <a:pt x="453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692" name="Line 20">
            <a:extLst>
              <a:ext uri="{FF2B5EF4-FFF2-40B4-BE49-F238E27FC236}">
                <a16:creationId xmlns:a16="http://schemas.microsoft.com/office/drawing/2014/main" id="{1E4EA703-4D3D-4662-9FFE-63C233E12F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4673600"/>
            <a:ext cx="4318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694" name="Freeform 22">
            <a:extLst>
              <a:ext uri="{FF2B5EF4-FFF2-40B4-BE49-F238E27FC236}">
                <a16:creationId xmlns:a16="http://schemas.microsoft.com/office/drawing/2014/main" id="{32BED216-7FC4-4739-8770-081635AD6B7E}"/>
              </a:ext>
            </a:extLst>
          </p:cNvPr>
          <p:cNvSpPr>
            <a:spLocks/>
          </p:cNvSpPr>
          <p:nvPr/>
        </p:nvSpPr>
        <p:spPr bwMode="auto">
          <a:xfrm>
            <a:off x="6227763" y="3378200"/>
            <a:ext cx="1512887" cy="1295400"/>
          </a:xfrm>
          <a:custGeom>
            <a:avLst/>
            <a:gdLst>
              <a:gd name="T0" fmla="*/ 0 w 953"/>
              <a:gd name="T1" fmla="*/ 2147483646 h 998"/>
              <a:gd name="T2" fmla="*/ 2147483646 w 953"/>
              <a:gd name="T3" fmla="*/ 2147483646 h 998"/>
              <a:gd name="T4" fmla="*/ 2147483646 w 953"/>
              <a:gd name="T5" fmla="*/ 2147483646 h 998"/>
              <a:gd name="T6" fmla="*/ 2147483646 w 953"/>
              <a:gd name="T7" fmla="*/ 2147483646 h 998"/>
              <a:gd name="T8" fmla="*/ 2147483646 w 953"/>
              <a:gd name="T9" fmla="*/ 0 h 9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53"/>
              <a:gd name="T16" fmla="*/ 0 h 998"/>
              <a:gd name="T17" fmla="*/ 953 w 953"/>
              <a:gd name="T18" fmla="*/ 998 h 99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53" h="998">
                <a:moveTo>
                  <a:pt x="0" y="998"/>
                </a:moveTo>
                <a:lnTo>
                  <a:pt x="635" y="998"/>
                </a:lnTo>
                <a:lnTo>
                  <a:pt x="635" y="681"/>
                </a:lnTo>
                <a:lnTo>
                  <a:pt x="953" y="681"/>
                </a:lnTo>
                <a:lnTo>
                  <a:pt x="953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5856" name="Group 27">
            <a:extLst>
              <a:ext uri="{FF2B5EF4-FFF2-40B4-BE49-F238E27FC236}">
                <a16:creationId xmlns:a16="http://schemas.microsoft.com/office/drawing/2014/main" id="{57BE9DA8-A554-48C4-B7E3-FC6A91215D1B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2852738"/>
            <a:ext cx="3816350" cy="3044825"/>
            <a:chOff x="3061" y="1285"/>
            <a:chExt cx="2404" cy="1918"/>
          </a:xfrm>
        </p:grpSpPr>
        <p:sp>
          <p:nvSpPr>
            <p:cNvPr id="35863" name="Line 5">
              <a:extLst>
                <a:ext uri="{FF2B5EF4-FFF2-40B4-BE49-F238E27FC236}">
                  <a16:creationId xmlns:a16="http://schemas.microsoft.com/office/drawing/2014/main" id="{93768568-B6AF-4B13-BE35-44C288414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3203"/>
              <a:ext cx="24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4" name="Line 6">
              <a:extLst>
                <a:ext uri="{FF2B5EF4-FFF2-40B4-BE49-F238E27FC236}">
                  <a16:creationId xmlns:a16="http://schemas.microsoft.com/office/drawing/2014/main" id="{D1022623-841A-4FE5-930B-D826878379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1" y="1285"/>
              <a:ext cx="0" cy="19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5" name="Text Box 13">
              <a:extLst>
                <a:ext uri="{FF2B5EF4-FFF2-40B4-BE49-F238E27FC236}">
                  <a16:creationId xmlns:a16="http://schemas.microsoft.com/office/drawing/2014/main" id="{16098242-4D34-4A66-AD13-62CA8C5CF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2953"/>
              <a:ext cx="4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(1,1)</a:t>
              </a:r>
            </a:p>
          </p:txBody>
        </p:sp>
        <p:sp>
          <p:nvSpPr>
            <p:cNvPr id="35866" name="Text Box 14">
              <a:extLst>
                <a:ext uri="{FF2B5EF4-FFF2-40B4-BE49-F238E27FC236}">
                  <a16:creationId xmlns:a16="http://schemas.microsoft.com/office/drawing/2014/main" id="{7256C97A-59D0-40F2-834E-A6F7C0EEC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2409"/>
              <a:ext cx="58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(1,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000" b="1">
                  <a:latin typeface="Times New Roman" panose="02020603050405020304" pitchFamily="18" charset="0"/>
                </a:rPr>
                <a:t>(1))</a:t>
              </a:r>
            </a:p>
          </p:txBody>
        </p:sp>
        <p:sp>
          <p:nvSpPr>
            <p:cNvPr id="35867" name="Text Box 19">
              <a:extLst>
                <a:ext uri="{FF2B5EF4-FFF2-40B4-BE49-F238E27FC236}">
                  <a16:creationId xmlns:a16="http://schemas.microsoft.com/office/drawing/2014/main" id="{3450F569-394F-459A-B7ED-EED08D86F9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2137"/>
              <a:ext cx="58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(2,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000" b="1">
                  <a:latin typeface="Times New Roman" panose="02020603050405020304" pitchFamily="18" charset="0"/>
                </a:rPr>
                <a:t>(2))</a:t>
              </a:r>
            </a:p>
          </p:txBody>
        </p:sp>
        <p:sp>
          <p:nvSpPr>
            <p:cNvPr id="35868" name="Text Box 21">
              <a:extLst>
                <a:ext uri="{FF2B5EF4-FFF2-40B4-BE49-F238E27FC236}">
                  <a16:creationId xmlns:a16="http://schemas.microsoft.com/office/drawing/2014/main" id="{3637251F-7F0F-4915-97A6-2AD35AE07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160"/>
              <a:ext cx="58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(3,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000" b="1">
                  <a:latin typeface="Times New Roman" panose="02020603050405020304" pitchFamily="18" charset="0"/>
                </a:rPr>
                <a:t>(3))</a:t>
              </a:r>
            </a:p>
          </p:txBody>
        </p:sp>
        <p:sp>
          <p:nvSpPr>
            <p:cNvPr id="35869" name="Text Box 23">
              <a:extLst>
                <a:ext uri="{FF2B5EF4-FFF2-40B4-BE49-F238E27FC236}">
                  <a16:creationId xmlns:a16="http://schemas.microsoft.com/office/drawing/2014/main" id="{176155F4-C074-477F-A368-575975993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" y="1389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>
                  <a:latin typeface="Times New Roman" panose="02020603050405020304" pitchFamily="18" charset="0"/>
                </a:rPr>
                <a:t>,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>
                  <a:latin typeface="Times New Roman" panose="02020603050405020304" pitchFamily="18" charset="0"/>
                </a:rPr>
                <a:t>))</a:t>
              </a:r>
            </a:p>
          </p:txBody>
        </p:sp>
      </p:grpSp>
      <p:sp>
        <p:nvSpPr>
          <p:cNvPr id="35857" name="Text Box 24">
            <a:extLst>
              <a:ext uri="{FF2B5EF4-FFF2-40B4-BE49-F238E27FC236}">
                <a16:creationId xmlns:a16="http://schemas.microsoft.com/office/drawing/2014/main" id="{01B5FE46-365A-44BE-BF30-D2AE5D9AC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2657475"/>
            <a:ext cx="969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</a:rPr>
              <a:t>(</a:t>
            </a:r>
            <a:r>
              <a:rPr lang="en-US" altLang="zh-CN" sz="2000" b="1" i="1">
                <a:latin typeface="Times New Roman" panose="02020603050405020304" pitchFamily="18" charset="0"/>
              </a:rPr>
              <a:t>n</a:t>
            </a:r>
            <a:r>
              <a:rPr lang="en-US" altLang="zh-CN" sz="2000" b="1">
                <a:latin typeface="Times New Roman" panose="02020603050405020304" pitchFamily="18" charset="0"/>
              </a:rPr>
              <a:t>+1,</a:t>
            </a:r>
            <a:r>
              <a:rPr lang="en-US" altLang="zh-CN" sz="2000" b="1" i="1">
                <a:latin typeface="Times New Roman" panose="02020603050405020304" pitchFamily="18" charset="0"/>
              </a:rPr>
              <a:t>n</a:t>
            </a:r>
            <a:r>
              <a:rPr lang="en-US" altLang="zh-CN" sz="20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12698" name="Freeform 26">
            <a:extLst>
              <a:ext uri="{FF2B5EF4-FFF2-40B4-BE49-F238E27FC236}">
                <a16:creationId xmlns:a16="http://schemas.microsoft.com/office/drawing/2014/main" id="{D87C97EA-ECB7-421F-AE24-806EF7CBC9DD}"/>
              </a:ext>
            </a:extLst>
          </p:cNvPr>
          <p:cNvSpPr>
            <a:spLocks/>
          </p:cNvSpPr>
          <p:nvPr/>
        </p:nvSpPr>
        <p:spPr bwMode="auto">
          <a:xfrm>
            <a:off x="7740650" y="3017838"/>
            <a:ext cx="431800" cy="431800"/>
          </a:xfrm>
          <a:custGeom>
            <a:avLst/>
            <a:gdLst>
              <a:gd name="T0" fmla="*/ 0 w 272"/>
              <a:gd name="T1" fmla="*/ 2147483646 h 272"/>
              <a:gd name="T2" fmla="*/ 2147483646 w 272"/>
              <a:gd name="T3" fmla="*/ 2147483646 h 272"/>
              <a:gd name="T4" fmla="*/ 2147483646 w 272"/>
              <a:gd name="T5" fmla="*/ 0 h 272"/>
              <a:gd name="T6" fmla="*/ 0 60000 65536"/>
              <a:gd name="T7" fmla="*/ 0 60000 65536"/>
              <a:gd name="T8" fmla="*/ 0 60000 65536"/>
              <a:gd name="T9" fmla="*/ 0 w 272"/>
              <a:gd name="T10" fmla="*/ 0 h 272"/>
              <a:gd name="T11" fmla="*/ 272 w 272"/>
              <a:gd name="T12" fmla="*/ 272 h 2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272">
                <a:moveTo>
                  <a:pt x="0" y="272"/>
                </a:moveTo>
                <a:lnTo>
                  <a:pt x="272" y="272"/>
                </a:lnTo>
                <a:lnTo>
                  <a:pt x="272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5859" name="Object 33">
            <a:extLst>
              <a:ext uri="{FF2B5EF4-FFF2-40B4-BE49-F238E27FC236}">
                <a16:creationId xmlns:a16="http://schemas.microsoft.com/office/drawing/2014/main" id="{62FC6D78-B30E-4664-B957-D0ADEE5941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1470025"/>
          <a:ext cx="887412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0" name="公式" r:id="rId4" imgW="558800" imgH="469900" progId="Equation.3">
                  <p:embed/>
                </p:oleObj>
              </mc:Choice>
              <mc:Fallback>
                <p:oleObj name="公式" r:id="rId4" imgW="558800" imgH="4699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1470025"/>
                        <a:ext cx="887412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0" name="Object 32">
            <a:extLst>
              <a:ext uri="{FF2B5EF4-FFF2-40B4-BE49-F238E27FC236}">
                <a16:creationId xmlns:a16="http://schemas.microsoft.com/office/drawing/2014/main" id="{12D6DB27-6F1E-45A5-BB8B-41F05A9284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4111625"/>
          <a:ext cx="1465262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1" name="公式" r:id="rId6" imgW="825500" imgH="469900" progId="Equation.3">
                  <p:embed/>
                </p:oleObj>
              </mc:Choice>
              <mc:Fallback>
                <p:oleObj name="公式" r:id="rId6" imgW="825500" imgH="4699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111625"/>
                        <a:ext cx="1465262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6" name="Rectangle 38">
            <a:extLst>
              <a:ext uri="{FF2B5EF4-FFF2-40B4-BE49-F238E27FC236}">
                <a16:creationId xmlns:a16="http://schemas.microsoft.com/office/drawing/2014/main" id="{25C57F71-504B-4893-95B7-2A9AB88E4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5262563"/>
            <a:ext cx="4845051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indent="355600"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严格单调递增函数个数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n,m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indent="355600"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严格单调递减函数个数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n,m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 </a:t>
            </a:r>
            <a:endParaRPr lang="en-US" altLang="zh-CN" sz="2400" dirty="0"/>
          </a:p>
        </p:txBody>
      </p:sp>
      <p:graphicFrame>
        <p:nvGraphicFramePr>
          <p:cNvPr id="35862" name="Object 34">
            <a:extLst>
              <a:ext uri="{FF2B5EF4-FFF2-40B4-BE49-F238E27FC236}">
                <a16:creationId xmlns:a16="http://schemas.microsoft.com/office/drawing/2014/main" id="{DBA8E91A-C415-444B-A80F-F936B0F688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1844675"/>
          <a:ext cx="12192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2" name="公式" r:id="rId8" imgW="710891" imgH="469696" progId="Equation.3">
                  <p:embed/>
                </p:oleObj>
              </mc:Choice>
              <mc:Fallback>
                <p:oleObj name="公式" r:id="rId8" imgW="710891" imgH="469696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844675"/>
                        <a:ext cx="12192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2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2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2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2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2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2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4">
            <a:extLst>
              <a:ext uri="{FF2B5EF4-FFF2-40B4-BE49-F238E27FC236}">
                <a16:creationId xmlns:a16="http://schemas.microsoft.com/office/drawing/2014/main" id="{F2E348DB-2666-4237-95B1-538FD2C8F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函数计数小结</a:t>
            </a:r>
          </a:p>
        </p:txBody>
      </p:sp>
      <p:sp>
        <p:nvSpPr>
          <p:cNvPr id="37891" name="灯片编号占位符 4">
            <a:extLst>
              <a:ext uri="{FF2B5EF4-FFF2-40B4-BE49-F238E27FC236}">
                <a16:creationId xmlns:a16="http://schemas.microsoft.com/office/drawing/2014/main" id="{714D95D1-EC0C-41A2-9CBC-37E75687E3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36A06B1-8535-4BC3-9506-5F992E1C8F54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18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7892" name="Object 3">
            <a:extLst>
              <a:ext uri="{FF2B5EF4-FFF2-40B4-BE49-F238E27FC236}">
                <a16:creationId xmlns:a16="http://schemas.microsoft.com/office/drawing/2014/main" id="{C7DB8BC2-DBD5-4774-BBE8-4814F8D5B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196975"/>
          <a:ext cx="71278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7" name="文档" r:id="rId4" imgW="3315855" imgH="415410" progId="Word.Document.8">
                  <p:embed/>
                </p:oleObj>
              </mc:Choice>
              <mc:Fallback>
                <p:oleObj name="文档" r:id="rId4" imgW="3315855" imgH="41541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196975"/>
                        <a:ext cx="712787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7C3C51A-E156-4D10-B56C-0FC655735AD0}"/>
              </a:ext>
            </a:extLst>
          </p:cNvPr>
          <p:cNvGraphicFramePr>
            <a:graphicFrameLocks noGrp="1"/>
          </p:cNvGraphicFramePr>
          <p:nvPr/>
        </p:nvGraphicFramePr>
        <p:xfrm>
          <a:off x="539750" y="2492375"/>
          <a:ext cx="7921625" cy="2833688"/>
        </p:xfrm>
        <a:graphic>
          <a:graphicData uri="http://schemas.openxmlformats.org/drawingml/2006/table">
            <a:tbl>
              <a:tblPr/>
              <a:tblGrid>
                <a:gridCol w="864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2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8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/>
                          <a:ea typeface="宋体"/>
                        </a:rPr>
                        <a:t>函数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/>
                          <a:ea typeface="宋体"/>
                        </a:rPr>
                        <a:t>单射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/>
                          <a:ea typeface="宋体"/>
                        </a:rPr>
                        <a:t>满射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/>
                          <a:ea typeface="宋体"/>
                        </a:rPr>
                        <a:t>双射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/>
                          <a:ea typeface="宋体"/>
                        </a:rPr>
                        <a:t>单调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/>
                          <a:ea typeface="宋体"/>
                        </a:rPr>
                        <a:t>严格单调</a:t>
                      </a:r>
                      <a:endParaRPr lang="en-US" altLang="zh-CN" sz="2400" b="1" kern="100" dirty="0">
                        <a:latin typeface="Times New Roman"/>
                        <a:ea typeface="宋体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latin typeface="Times New Roman"/>
                          <a:ea typeface="宋体"/>
                        </a:rPr>
                        <a:t>递增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432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400" kern="100"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/>
                          <a:ea typeface="宋体"/>
                        </a:rPr>
                        <a:t>计数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 algn="just">
                        <a:spcAft>
                          <a:spcPts val="0"/>
                        </a:spcAft>
                      </a:pPr>
                      <a:endParaRPr lang="zh-CN" sz="2400" kern="100">
                        <a:latin typeface="Times New Roman"/>
                        <a:ea typeface="宋体"/>
                      </a:endParaRPr>
                    </a:p>
                    <a:p>
                      <a:pPr marL="114300" indent="-114300" algn="just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/>
                          <a:ea typeface="宋体"/>
                        </a:rPr>
                        <a:t>P</a:t>
                      </a:r>
                      <a:r>
                        <a:rPr lang="en-US" sz="2400" b="1" kern="100"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2400" b="1" i="1" kern="100">
                          <a:latin typeface="Times New Roman"/>
                          <a:ea typeface="宋体"/>
                        </a:rPr>
                        <a:t>n</a:t>
                      </a:r>
                      <a:r>
                        <a:rPr lang="en-US" sz="2400" b="1" kern="100">
                          <a:latin typeface="Times New Roman"/>
                          <a:ea typeface="宋体"/>
                        </a:rPr>
                        <a:t>,</a:t>
                      </a:r>
                      <a:r>
                        <a:rPr lang="en-US" sz="2400" b="1" i="1" kern="100">
                          <a:latin typeface="Times New Roman"/>
                          <a:ea typeface="宋体"/>
                        </a:rPr>
                        <a:t>m</a:t>
                      </a:r>
                      <a:r>
                        <a:rPr lang="en-US" sz="2400" b="1" kern="100">
                          <a:latin typeface="Times New Roman"/>
                          <a:ea typeface="宋体"/>
                        </a:rPr>
                        <a:t>)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4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i="1" kern="100" dirty="0">
                          <a:latin typeface="Times New Roman"/>
                          <a:ea typeface="宋体"/>
                        </a:rPr>
                        <a:t>   C</a:t>
                      </a:r>
                      <a:r>
                        <a:rPr lang="en-US" sz="2400" b="1" kern="100" dirty="0"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2400" b="1" i="1" kern="100" dirty="0" err="1">
                          <a:latin typeface="Times New Roman"/>
                          <a:ea typeface="宋体"/>
                        </a:rPr>
                        <a:t>n</a:t>
                      </a:r>
                      <a:r>
                        <a:rPr lang="en-US" sz="2400" b="1" kern="100" dirty="0" err="1">
                          <a:latin typeface="Times New Roman"/>
                          <a:ea typeface="宋体"/>
                        </a:rPr>
                        <a:t>,</a:t>
                      </a:r>
                      <a:r>
                        <a:rPr lang="en-US" sz="2400" b="1" i="1" kern="100" dirty="0" err="1">
                          <a:latin typeface="Times New Roman"/>
                          <a:ea typeface="宋体"/>
                        </a:rPr>
                        <a:t>m</a:t>
                      </a:r>
                      <a:r>
                        <a:rPr lang="en-US" sz="2400" b="1" kern="100" dirty="0">
                          <a:latin typeface="Times New Roman"/>
                          <a:ea typeface="宋体"/>
                        </a:rPr>
                        <a:t>)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8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/>
                          <a:ea typeface="宋体"/>
                        </a:rPr>
                        <a:t>模型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/>
                          <a:ea typeface="宋体"/>
                        </a:rPr>
                        <a:t>排列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/>
                          <a:ea typeface="宋体"/>
                        </a:rPr>
                        <a:t>放球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/>
                          <a:ea typeface="宋体"/>
                        </a:rPr>
                        <a:t>排列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/>
                          <a:ea typeface="宋体"/>
                        </a:rPr>
                        <a:t>非降路径</a:t>
                      </a:r>
                      <a:endParaRPr lang="zh-CN" sz="2400" kern="10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/>
                          <a:ea typeface="宋体"/>
                        </a:rPr>
                        <a:t>组合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923" name="Object 7">
            <a:extLst>
              <a:ext uri="{FF2B5EF4-FFF2-40B4-BE49-F238E27FC236}">
                <a16:creationId xmlns:a16="http://schemas.microsoft.com/office/drawing/2014/main" id="{B1A81631-CD0E-4858-A8E8-8D8AE2D944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3357563"/>
          <a:ext cx="1223963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8" name="公式" r:id="rId6" imgW="685800" imgH="698500" progId="Equation.3">
                  <p:embed/>
                </p:oleObj>
              </mc:Choice>
              <mc:Fallback>
                <p:oleObj name="公式" r:id="rId6" imgW="685800" imgH="698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357563"/>
                        <a:ext cx="1223963" cy="1239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4" name="Object 6">
            <a:extLst>
              <a:ext uri="{FF2B5EF4-FFF2-40B4-BE49-F238E27FC236}">
                <a16:creationId xmlns:a16="http://schemas.microsoft.com/office/drawing/2014/main" id="{B8D51B06-C48F-4751-AFD9-5DAF0072F8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3500438"/>
          <a:ext cx="139541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9" name="公式" r:id="rId8" imgW="825500" imgH="469900" progId="Equation.3">
                  <p:embed/>
                </p:oleObj>
              </mc:Choice>
              <mc:Fallback>
                <p:oleObj name="公式" r:id="rId8" imgW="8255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500438"/>
                        <a:ext cx="1395413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10">
            <a:extLst>
              <a:ext uri="{FF2B5EF4-FFF2-40B4-BE49-F238E27FC236}">
                <a16:creationId xmlns:a16="http://schemas.microsoft.com/office/drawing/2014/main" id="{39C73E08-FA35-42E3-A1BE-81342E35A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graphicFrame>
        <p:nvGraphicFramePr>
          <p:cNvPr id="37926" name="Object 9">
            <a:extLst>
              <a:ext uri="{FF2B5EF4-FFF2-40B4-BE49-F238E27FC236}">
                <a16:creationId xmlns:a16="http://schemas.microsoft.com/office/drawing/2014/main" id="{038FABC9-66A3-4347-B461-5AB3229EB0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3429000"/>
          <a:ext cx="731837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0" name="公式" r:id="rId10" imgW="431613" imgH="431613" progId="Equation.3">
                  <p:embed/>
                </p:oleObj>
              </mc:Choice>
              <mc:Fallback>
                <p:oleObj name="公式" r:id="rId10" imgW="431613" imgH="43161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429000"/>
                        <a:ext cx="731837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>
            <a:extLst>
              <a:ext uri="{FF2B5EF4-FFF2-40B4-BE49-F238E27FC236}">
                <a16:creationId xmlns:a16="http://schemas.microsoft.com/office/drawing/2014/main" id="{2A5367D8-4195-45D9-BBB6-CEBAF5E3E8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应用（栈输出的计数）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0C9BA8F-BB42-4BF0-98CA-9800CB46CC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341438"/>
            <a:ext cx="81026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10 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将</a:t>
            </a:r>
            <a:r>
              <a:rPr lang="en-US" altLang="zh-CN" sz="2800" b="1">
                <a:latin typeface="Times New Roman" panose="02020603050405020304" pitchFamily="18" charset="0"/>
              </a:rPr>
              <a:t>1, 2,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zh-CN" altLang="en-US" sz="2800" b="1">
                <a:latin typeface="Times New Roman" panose="02020603050405020304" pitchFamily="18" charset="0"/>
              </a:rPr>
              <a:t>按照顺序输入栈，有多少个不同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的输出序列？</a:t>
            </a:r>
          </a:p>
          <a:p>
            <a:pPr>
              <a:spcBef>
                <a:spcPct val="800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分析：将进栈、出栈分别记作 </a:t>
            </a:r>
            <a:r>
              <a:rPr lang="en-US" altLang="zh-CN" sz="2800" b="1" i="1">
                <a:latin typeface="Times New Roman" panose="02020603050405020304" pitchFamily="18" charset="0"/>
              </a:rPr>
              <a:t>x, y,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操作序列是 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zh-CN" altLang="en-US" sz="2800" b="1">
                <a:latin typeface="Times New Roman" panose="02020603050405020304" pitchFamily="18" charset="0"/>
              </a:rPr>
              <a:t>个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zh-CN" altLang="en-US" sz="2800" b="1">
                <a:latin typeface="Times New Roman" panose="02020603050405020304" pitchFamily="18" charset="0"/>
              </a:rPr>
              <a:t>个 </a:t>
            </a:r>
            <a:r>
              <a:rPr lang="en-US" altLang="zh-CN" sz="2800" b="1" i="1">
                <a:latin typeface="Times New Roman" panose="02020603050405020304" pitchFamily="18" charset="0"/>
              </a:rPr>
              <a:t>y </a:t>
            </a:r>
            <a:r>
              <a:rPr lang="zh-CN" altLang="en-US" sz="2800" b="1">
                <a:latin typeface="Times New Roman" panose="02020603050405020304" pitchFamily="18" charset="0"/>
              </a:rPr>
              <a:t>的排列，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排列中任何前缀的 </a:t>
            </a:r>
            <a:r>
              <a:rPr lang="en-US" altLang="zh-CN" sz="2800" b="1" i="1">
                <a:latin typeface="Times New Roman" panose="02020603050405020304" pitchFamily="18" charset="0"/>
              </a:rPr>
              <a:t>x </a:t>
            </a:r>
            <a:r>
              <a:rPr lang="zh-CN" altLang="en-US" sz="2800" b="1">
                <a:latin typeface="Times New Roman" panose="02020603050405020304" pitchFamily="18" charset="0"/>
              </a:rPr>
              <a:t>个数不少于 </a:t>
            </a:r>
            <a:r>
              <a:rPr lang="en-US" altLang="zh-CN" sz="2800" b="1" i="1">
                <a:latin typeface="Times New Roman" panose="02020603050405020304" pitchFamily="18" charset="0"/>
              </a:rPr>
              <a:t>y </a:t>
            </a:r>
            <a:r>
              <a:rPr lang="zh-CN" altLang="en-US" sz="2800" b="1">
                <a:latin typeface="Times New Roman" panose="02020603050405020304" pitchFamily="18" charset="0"/>
              </a:rPr>
              <a:t>的个数，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等于从</a:t>
            </a:r>
            <a:r>
              <a:rPr lang="en-US" altLang="zh-CN" sz="2800" b="1">
                <a:latin typeface="Times New Roman" panose="02020603050405020304" pitchFamily="18" charset="0"/>
              </a:rPr>
              <a:t>(0,0)</a:t>
            </a:r>
            <a:r>
              <a:rPr lang="zh-CN" altLang="en-US" sz="2800" b="1">
                <a:latin typeface="Times New Roman" panose="02020603050405020304" pitchFamily="18" charset="0"/>
              </a:rPr>
              <a:t>到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n,n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的不穿过对角线的非降路径数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40" name="灯片编号占位符 5">
            <a:extLst>
              <a:ext uri="{FF2B5EF4-FFF2-40B4-BE49-F238E27FC236}">
                <a16:creationId xmlns:a16="http://schemas.microsoft.com/office/drawing/2014/main" id="{71F61135-BD6D-4F98-9368-7137A5CED2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0DDFD91-79B6-4BFD-8DEE-834CAFAEBC6E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19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>
            <a:extLst>
              <a:ext uri="{FF2B5EF4-FFF2-40B4-BE49-F238E27FC236}">
                <a16:creationId xmlns:a16="http://schemas.microsoft.com/office/drawing/2014/main" id="{865B61AF-28D4-4C6D-BA2C-5519E04B6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7963"/>
            <a:ext cx="8229600" cy="63341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应用（栈输出的计数）</a:t>
            </a:r>
          </a:p>
        </p:txBody>
      </p:sp>
      <p:sp>
        <p:nvSpPr>
          <p:cNvPr id="41987" name="灯片编号占位符 4">
            <a:extLst>
              <a:ext uri="{FF2B5EF4-FFF2-40B4-BE49-F238E27FC236}">
                <a16:creationId xmlns:a16="http://schemas.microsoft.com/office/drawing/2014/main" id="{D844DE74-A6E5-4EA7-B958-EA299A86E7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31013" y="60880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B5289E1-572C-48AF-ACAC-D9EEB93093BD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20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C3FF238B-5EA7-48BE-B9EE-FB5A48F5E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052513"/>
            <a:ext cx="83518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fr-FR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fr-FR" sz="2800" b="1">
                <a:latin typeface="Times New Roman" panose="02020603050405020304" pitchFamily="18" charset="0"/>
              </a:rPr>
              <a:t>输入： </a:t>
            </a:r>
            <a:r>
              <a:rPr lang="fr-FR" altLang="zh-CN" sz="2800" b="1">
                <a:latin typeface="Times New Roman" panose="02020603050405020304" pitchFamily="18" charset="0"/>
              </a:rPr>
              <a:t>1,</a:t>
            </a:r>
            <a:r>
              <a:rPr lang="zh-CN" altLang="fr-FR" sz="2800" b="1">
                <a:latin typeface="Times New Roman" panose="02020603050405020304" pitchFamily="18" charset="0"/>
              </a:rPr>
              <a:t> </a:t>
            </a:r>
            <a:r>
              <a:rPr lang="fr-FR" altLang="zh-CN" sz="2800" b="1">
                <a:latin typeface="Times New Roman" panose="02020603050405020304" pitchFamily="18" charset="0"/>
              </a:rPr>
              <a:t>2,</a:t>
            </a:r>
            <a:r>
              <a:rPr lang="zh-CN" altLang="fr-FR" sz="2800" b="1">
                <a:latin typeface="Times New Roman" panose="02020603050405020304" pitchFamily="18" charset="0"/>
              </a:rPr>
              <a:t> </a:t>
            </a:r>
            <a:r>
              <a:rPr lang="fr-FR" altLang="zh-CN" sz="2800" b="1">
                <a:latin typeface="Times New Roman" panose="02020603050405020304" pitchFamily="18" charset="0"/>
              </a:rPr>
              <a:t>3,</a:t>
            </a:r>
            <a:r>
              <a:rPr lang="zh-CN" altLang="fr-FR" sz="2800" b="1">
                <a:latin typeface="Times New Roman" panose="02020603050405020304" pitchFamily="18" charset="0"/>
              </a:rPr>
              <a:t> </a:t>
            </a:r>
            <a:r>
              <a:rPr lang="fr-FR" altLang="zh-CN" sz="2800" b="1">
                <a:latin typeface="Times New Roman" panose="02020603050405020304" pitchFamily="18" charset="0"/>
              </a:rPr>
              <a:t>4,</a:t>
            </a:r>
            <a:r>
              <a:rPr lang="zh-CN" altLang="fr-FR" sz="2800" b="1">
                <a:latin typeface="Times New Roman" panose="02020603050405020304" pitchFamily="18" charset="0"/>
              </a:rPr>
              <a:t> </a:t>
            </a:r>
            <a:r>
              <a:rPr lang="fr-FR" altLang="zh-CN" sz="2800" b="1">
                <a:latin typeface="Times New Roman" panose="02020603050405020304" pitchFamily="18" charset="0"/>
              </a:rPr>
              <a:t>5</a:t>
            </a:r>
          </a:p>
          <a:p>
            <a:pPr eaLnBrk="1" hangingPunct="1"/>
            <a:r>
              <a:rPr lang="fr-FR" altLang="zh-CN" sz="2800" b="1" i="1">
                <a:latin typeface="Times New Roman" panose="02020603050405020304" pitchFamily="18" charset="0"/>
              </a:rPr>
              <a:t>      </a:t>
            </a:r>
            <a:r>
              <a:rPr lang="zh-CN" altLang="fr-FR" sz="2800" b="1">
                <a:latin typeface="Times New Roman" panose="02020603050405020304" pitchFamily="18" charset="0"/>
              </a:rPr>
              <a:t>输出</a:t>
            </a:r>
            <a:r>
              <a:rPr lang="fr-FR" altLang="zh-CN" sz="2800" b="1">
                <a:latin typeface="Times New Roman" panose="02020603050405020304" pitchFamily="18" charset="0"/>
              </a:rPr>
              <a:t> </a:t>
            </a:r>
            <a:r>
              <a:rPr lang="zh-CN" altLang="fr-FR" sz="2800" b="1">
                <a:latin typeface="Times New Roman" panose="02020603050405020304" pitchFamily="18" charset="0"/>
              </a:rPr>
              <a:t>：</a:t>
            </a:r>
            <a:r>
              <a:rPr lang="fr-FR" altLang="zh-CN" sz="2800" b="1">
                <a:latin typeface="Times New Roman" panose="02020603050405020304" pitchFamily="18" charset="0"/>
              </a:rPr>
              <a:t>3,</a:t>
            </a:r>
            <a:r>
              <a:rPr lang="zh-CN" altLang="fr-FR" sz="2800" b="1">
                <a:latin typeface="Times New Roman" panose="02020603050405020304" pitchFamily="18" charset="0"/>
              </a:rPr>
              <a:t> </a:t>
            </a:r>
            <a:r>
              <a:rPr lang="fr-FR" altLang="zh-CN" sz="2800" b="1">
                <a:latin typeface="Times New Roman" panose="02020603050405020304" pitchFamily="18" charset="0"/>
              </a:rPr>
              <a:t>2,</a:t>
            </a:r>
            <a:r>
              <a:rPr lang="zh-CN" altLang="fr-FR" sz="2800" b="1">
                <a:latin typeface="Times New Roman" panose="02020603050405020304" pitchFamily="18" charset="0"/>
              </a:rPr>
              <a:t> </a:t>
            </a:r>
            <a:r>
              <a:rPr lang="fr-FR" altLang="zh-CN" sz="2800" b="1">
                <a:latin typeface="Times New Roman" panose="02020603050405020304" pitchFamily="18" charset="0"/>
              </a:rPr>
              <a:t>4,</a:t>
            </a:r>
            <a:r>
              <a:rPr lang="zh-CN" altLang="fr-FR" sz="2800" b="1">
                <a:latin typeface="Times New Roman" panose="02020603050405020304" pitchFamily="18" charset="0"/>
              </a:rPr>
              <a:t> </a:t>
            </a:r>
            <a:r>
              <a:rPr lang="fr-FR" altLang="zh-CN" sz="2800" b="1">
                <a:latin typeface="Times New Roman" panose="02020603050405020304" pitchFamily="18" charset="0"/>
              </a:rPr>
              <a:t>1,</a:t>
            </a:r>
            <a:r>
              <a:rPr lang="zh-CN" altLang="fr-FR" sz="2800" b="1">
                <a:latin typeface="Times New Roman" panose="02020603050405020304" pitchFamily="18" charset="0"/>
              </a:rPr>
              <a:t> </a:t>
            </a:r>
            <a:r>
              <a:rPr lang="fr-FR" altLang="zh-CN" sz="2800" b="1">
                <a:latin typeface="Times New Roman" panose="02020603050405020304" pitchFamily="18" charset="0"/>
              </a:rPr>
              <a:t>5</a:t>
            </a:r>
          </a:p>
          <a:p>
            <a:pPr eaLnBrk="1" hangingPunct="1"/>
            <a:r>
              <a:rPr lang="zh-CN" altLang="fr-FR" sz="2800" b="1">
                <a:latin typeface="Times New Roman" panose="02020603050405020304" pitchFamily="18" charset="0"/>
              </a:rPr>
              <a:t>           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进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进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进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出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出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进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出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出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进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出</a:t>
            </a:r>
          </a:p>
          <a:p>
            <a:pPr eaLnBrk="1" hangingPunct="1"/>
            <a:r>
              <a:rPr lang="zh-CN" altLang="fr-FR" sz="2800" b="1">
                <a:latin typeface="Times New Roman" panose="02020603050405020304" pitchFamily="18" charset="0"/>
              </a:rPr>
              <a:t>           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fr-FR" sz="2800" b="1" i="1">
                <a:latin typeface="Times New Roman" panose="02020603050405020304" pitchFamily="18" charset="0"/>
              </a:rPr>
              <a:t> </a:t>
            </a:r>
            <a:r>
              <a:rPr lang="fr-FR" altLang="zh-CN" sz="2800" b="1" i="1">
                <a:latin typeface="Times New Roman" panose="02020603050405020304" pitchFamily="18" charset="0"/>
              </a:rPr>
              <a:t>x, x, x, y, y, x, y, y, x, y 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B9270C-263D-4C94-8B47-A070E01CD88A}"/>
              </a:ext>
            </a:extLst>
          </p:cNvPr>
          <p:cNvSpPr/>
          <p:nvPr/>
        </p:nvSpPr>
        <p:spPr>
          <a:xfrm>
            <a:off x="744538" y="3198813"/>
            <a:ext cx="504825" cy="2160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A36323-711C-47E9-899E-A1D4292ED6B3}"/>
              </a:ext>
            </a:extLst>
          </p:cNvPr>
          <p:cNvSpPr/>
          <p:nvPr/>
        </p:nvSpPr>
        <p:spPr>
          <a:xfrm>
            <a:off x="744538" y="4927600"/>
            <a:ext cx="50482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9F6C26-F27D-443B-B3A0-3F2825353697}"/>
              </a:ext>
            </a:extLst>
          </p:cNvPr>
          <p:cNvSpPr/>
          <p:nvPr/>
        </p:nvSpPr>
        <p:spPr>
          <a:xfrm>
            <a:off x="1536700" y="3198813"/>
            <a:ext cx="504825" cy="2160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97CA24-7E64-4B43-99A0-B0A1EA8359B7}"/>
              </a:ext>
            </a:extLst>
          </p:cNvPr>
          <p:cNvSpPr/>
          <p:nvPr/>
        </p:nvSpPr>
        <p:spPr>
          <a:xfrm>
            <a:off x="1536700" y="4495800"/>
            <a:ext cx="504825" cy="4318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A96AFA-F3DE-4216-86EC-83BFD21183D8}"/>
              </a:ext>
            </a:extLst>
          </p:cNvPr>
          <p:cNvSpPr/>
          <p:nvPr/>
        </p:nvSpPr>
        <p:spPr>
          <a:xfrm>
            <a:off x="1536700" y="4927600"/>
            <a:ext cx="50482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3728DC-D72F-44D9-A448-D7B865D9577E}"/>
              </a:ext>
            </a:extLst>
          </p:cNvPr>
          <p:cNvSpPr/>
          <p:nvPr/>
        </p:nvSpPr>
        <p:spPr>
          <a:xfrm>
            <a:off x="2328863" y="3198813"/>
            <a:ext cx="504825" cy="2160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F40540-3FEE-4F24-BD48-F6D4739882E1}"/>
              </a:ext>
            </a:extLst>
          </p:cNvPr>
          <p:cNvSpPr/>
          <p:nvPr/>
        </p:nvSpPr>
        <p:spPr>
          <a:xfrm>
            <a:off x="2328863" y="4495800"/>
            <a:ext cx="504825" cy="4318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0B5B46-3D39-4F54-9D7F-DE437ED394A3}"/>
              </a:ext>
            </a:extLst>
          </p:cNvPr>
          <p:cNvSpPr/>
          <p:nvPr/>
        </p:nvSpPr>
        <p:spPr>
          <a:xfrm>
            <a:off x="2328863" y="4927600"/>
            <a:ext cx="50482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76E2A7-4BFA-4A1C-9DD2-E916BAF376A8}"/>
              </a:ext>
            </a:extLst>
          </p:cNvPr>
          <p:cNvSpPr/>
          <p:nvPr/>
        </p:nvSpPr>
        <p:spPr>
          <a:xfrm>
            <a:off x="3121025" y="3198813"/>
            <a:ext cx="504825" cy="2160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69FB26-6DE5-4448-B769-CB644D31CE41}"/>
              </a:ext>
            </a:extLst>
          </p:cNvPr>
          <p:cNvSpPr/>
          <p:nvPr/>
        </p:nvSpPr>
        <p:spPr>
          <a:xfrm>
            <a:off x="3121025" y="4495800"/>
            <a:ext cx="504825" cy="4318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301A3D-5549-477D-BE56-A0CCFBBC6096}"/>
              </a:ext>
            </a:extLst>
          </p:cNvPr>
          <p:cNvSpPr/>
          <p:nvPr/>
        </p:nvSpPr>
        <p:spPr>
          <a:xfrm>
            <a:off x="3121025" y="4927600"/>
            <a:ext cx="50482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53D379-6D55-4FB3-8CEA-A048917D126B}"/>
              </a:ext>
            </a:extLst>
          </p:cNvPr>
          <p:cNvSpPr/>
          <p:nvPr/>
        </p:nvSpPr>
        <p:spPr>
          <a:xfrm>
            <a:off x="3913188" y="3198813"/>
            <a:ext cx="504825" cy="2160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26F773-389D-4702-82D1-5E2D52FB2549}"/>
              </a:ext>
            </a:extLst>
          </p:cNvPr>
          <p:cNvSpPr/>
          <p:nvPr/>
        </p:nvSpPr>
        <p:spPr>
          <a:xfrm>
            <a:off x="3913188" y="4927600"/>
            <a:ext cx="50482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8D4EF82-6711-43FC-96DB-F30091FEA293}"/>
              </a:ext>
            </a:extLst>
          </p:cNvPr>
          <p:cNvSpPr/>
          <p:nvPr/>
        </p:nvSpPr>
        <p:spPr>
          <a:xfrm>
            <a:off x="4705350" y="3198813"/>
            <a:ext cx="504825" cy="2160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FB1B48-6D57-4451-AAEC-8008C5BEA1E6}"/>
              </a:ext>
            </a:extLst>
          </p:cNvPr>
          <p:cNvSpPr/>
          <p:nvPr/>
        </p:nvSpPr>
        <p:spPr>
          <a:xfrm>
            <a:off x="4705350" y="4927600"/>
            <a:ext cx="50482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9957D1C-6063-4F2D-A393-3D8DED9A63A3}"/>
              </a:ext>
            </a:extLst>
          </p:cNvPr>
          <p:cNvSpPr/>
          <p:nvPr/>
        </p:nvSpPr>
        <p:spPr>
          <a:xfrm>
            <a:off x="5497513" y="3198813"/>
            <a:ext cx="504825" cy="2160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C6D29C-FDDA-4CE5-9DA2-10C006FC4BD5}"/>
              </a:ext>
            </a:extLst>
          </p:cNvPr>
          <p:cNvSpPr/>
          <p:nvPr/>
        </p:nvSpPr>
        <p:spPr>
          <a:xfrm>
            <a:off x="4705350" y="4495800"/>
            <a:ext cx="504825" cy="4318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1"/>
                </a:solidFill>
              </a:rPr>
              <a:t>4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615482-0EEE-4111-928C-3010C8FBED0D}"/>
              </a:ext>
            </a:extLst>
          </p:cNvPr>
          <p:cNvSpPr/>
          <p:nvPr/>
        </p:nvSpPr>
        <p:spPr>
          <a:xfrm>
            <a:off x="5497513" y="4927600"/>
            <a:ext cx="50482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6866A00-8665-498F-90CA-E756A675BB38}"/>
              </a:ext>
            </a:extLst>
          </p:cNvPr>
          <p:cNvSpPr/>
          <p:nvPr/>
        </p:nvSpPr>
        <p:spPr>
          <a:xfrm>
            <a:off x="6289675" y="3198813"/>
            <a:ext cx="504825" cy="2160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07A3859-1DB2-4E76-9A1B-5E8AAA2F8F11}"/>
              </a:ext>
            </a:extLst>
          </p:cNvPr>
          <p:cNvSpPr/>
          <p:nvPr/>
        </p:nvSpPr>
        <p:spPr>
          <a:xfrm>
            <a:off x="7081838" y="3198813"/>
            <a:ext cx="504825" cy="2160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7B2C7E8-D59F-4DAD-AC9A-CFE5F34CEB32}"/>
              </a:ext>
            </a:extLst>
          </p:cNvPr>
          <p:cNvSpPr/>
          <p:nvPr/>
        </p:nvSpPr>
        <p:spPr>
          <a:xfrm>
            <a:off x="7081838" y="4927600"/>
            <a:ext cx="504825" cy="431800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/>
              <a:t>5</a:t>
            </a:r>
            <a:endParaRPr lang="zh-CN" altLang="en-US" b="1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7869ABC-A292-474D-9AB2-E23C9AF8B6B0}"/>
              </a:ext>
            </a:extLst>
          </p:cNvPr>
          <p:cNvSpPr/>
          <p:nvPr/>
        </p:nvSpPr>
        <p:spPr>
          <a:xfrm>
            <a:off x="7874000" y="3198813"/>
            <a:ext cx="504825" cy="2160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8D63868-9466-4AED-B2D3-8EBAD5506C04}"/>
              </a:ext>
            </a:extLst>
          </p:cNvPr>
          <p:cNvSpPr/>
          <p:nvPr/>
        </p:nvSpPr>
        <p:spPr>
          <a:xfrm>
            <a:off x="2328863" y="4062413"/>
            <a:ext cx="504825" cy="433387"/>
          </a:xfrm>
          <a:prstGeom prst="rect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012" name="TextBox 36">
            <a:extLst>
              <a:ext uri="{FF2B5EF4-FFF2-40B4-BE49-F238E27FC236}">
                <a16:creationId xmlns:a16="http://schemas.microsoft.com/office/drawing/2014/main" id="{1C9432D6-5944-4E15-A3E8-523D9EEB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0088" y="5508625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2013" name="TextBox 37">
            <a:extLst>
              <a:ext uri="{FF2B5EF4-FFF2-40B4-BE49-F238E27FC236}">
                <a16:creationId xmlns:a16="http://schemas.microsoft.com/office/drawing/2014/main" id="{D82D0D63-A5A2-43E2-A654-9A2F0A56E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5503863"/>
            <a:ext cx="5064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3,2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2014" name="TextBox 38">
            <a:extLst>
              <a:ext uri="{FF2B5EF4-FFF2-40B4-BE49-F238E27FC236}">
                <a16:creationId xmlns:a16="http://schemas.microsoft.com/office/drawing/2014/main" id="{D6569306-6E6E-434D-AED0-361CDFB58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3050" y="5508625"/>
            <a:ext cx="698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3,2,4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2015" name="TextBox 39">
            <a:extLst>
              <a:ext uri="{FF2B5EF4-FFF2-40B4-BE49-F238E27FC236}">
                <a16:creationId xmlns:a16="http://schemas.microsoft.com/office/drawing/2014/main" id="{D7AFC8BB-7272-45C6-9710-006084078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3775" y="5508625"/>
            <a:ext cx="890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3,2,4,1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2016" name="TextBox 40">
            <a:extLst>
              <a:ext uri="{FF2B5EF4-FFF2-40B4-BE49-F238E27FC236}">
                <a16:creationId xmlns:a16="http://schemas.microsoft.com/office/drawing/2014/main" id="{C2B3EE51-431F-4349-AA36-80854E1EB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6663" y="5516563"/>
            <a:ext cx="1320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3,2,4,1,5</a:t>
            </a: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>
            <a:extLst>
              <a:ext uri="{FF2B5EF4-FFF2-40B4-BE49-F238E27FC236}">
                <a16:creationId xmlns:a16="http://schemas.microsoft.com/office/drawing/2014/main" id="{E57BC41F-8996-43D2-83E5-9C0555C0F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7813"/>
            <a:ext cx="8229600" cy="4873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栈输出的计数（续）</a:t>
            </a:r>
          </a:p>
        </p:txBody>
      </p:sp>
      <p:sp>
        <p:nvSpPr>
          <p:cNvPr id="44035" name="灯片编号占位符 4">
            <a:extLst>
              <a:ext uri="{FF2B5EF4-FFF2-40B4-BE49-F238E27FC236}">
                <a16:creationId xmlns:a16="http://schemas.microsoft.com/office/drawing/2014/main" id="{75094D49-DAF7-4E3A-BDD4-9E0FACCF08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5907088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AFBDB9A-5175-4F66-BB96-90DE8D35C156}" type="slidenum">
              <a:rPr lang="en-US" altLang="zh-CN">
                <a:solidFill>
                  <a:srgbClr val="898989"/>
                </a:solidFill>
                <a:latin typeface="Arial" panose="020B0604020202020204" pitchFamily="34" charset="0"/>
              </a:rPr>
              <a:pPr/>
              <a:t>21</a:t>
            </a:fld>
            <a:endParaRPr lang="en-US" altLang="zh-CN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4036" name="Object 2">
            <a:extLst>
              <a:ext uri="{FF2B5EF4-FFF2-40B4-BE49-F238E27FC236}">
                <a16:creationId xmlns:a16="http://schemas.microsoft.com/office/drawing/2014/main" id="{AB8CA894-1568-480C-8045-5052C7AC76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23850" y="1268413"/>
          <a:ext cx="4337050" cy="364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3" name="Document" r:id="rId4" imgW="2539746" imgH="2126854" progId="Word.Document.8">
                  <p:embed/>
                </p:oleObj>
              </mc:Choice>
              <mc:Fallback>
                <p:oleObj name="Document" r:id="rId4" imgW="2539746" imgH="212685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23850" y="1268413"/>
                        <a:ext cx="4337050" cy="364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Oval 11">
            <a:extLst>
              <a:ext uri="{FF2B5EF4-FFF2-40B4-BE49-F238E27FC236}">
                <a16:creationId xmlns:a16="http://schemas.microsoft.com/office/drawing/2014/main" id="{F40FC587-8288-49A4-9D74-FB0330F95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4635500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4038" name="Oval 13">
            <a:extLst>
              <a:ext uri="{FF2B5EF4-FFF2-40B4-BE49-F238E27FC236}">
                <a16:creationId xmlns:a16="http://schemas.microsoft.com/office/drawing/2014/main" id="{433032F1-0305-49C4-98BF-41C18D94B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4167188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44039" name="Group 33">
            <a:extLst>
              <a:ext uri="{FF2B5EF4-FFF2-40B4-BE49-F238E27FC236}">
                <a16:creationId xmlns:a16="http://schemas.microsoft.com/office/drawing/2014/main" id="{5E47AA96-37F3-446B-A76E-D565BB584D00}"/>
              </a:ext>
            </a:extLst>
          </p:cNvPr>
          <p:cNvGrpSpPr>
            <a:grpSpLocks/>
          </p:cNvGrpSpPr>
          <p:nvPr/>
        </p:nvGrpSpPr>
        <p:grpSpPr bwMode="auto">
          <a:xfrm>
            <a:off x="3554413" y="1179513"/>
            <a:ext cx="5256212" cy="3925887"/>
            <a:chOff x="2109" y="1026"/>
            <a:chExt cx="3311" cy="2473"/>
          </a:xfrm>
        </p:grpSpPr>
        <p:sp>
          <p:nvSpPr>
            <p:cNvPr id="44042" name="Freeform 22">
              <a:extLst>
                <a:ext uri="{FF2B5EF4-FFF2-40B4-BE49-F238E27FC236}">
                  <a16:creationId xmlns:a16="http://schemas.microsoft.com/office/drawing/2014/main" id="{23E80DEB-91D2-4F83-8B72-03CFCBFBC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389"/>
              <a:ext cx="1860" cy="1860"/>
            </a:xfrm>
            <a:custGeom>
              <a:avLst/>
              <a:gdLst>
                <a:gd name="T0" fmla="*/ 0 w 1860"/>
                <a:gd name="T1" fmla="*/ 1860 h 1860"/>
                <a:gd name="T2" fmla="*/ 590 w 1860"/>
                <a:gd name="T3" fmla="*/ 1860 h 1860"/>
                <a:gd name="T4" fmla="*/ 590 w 1860"/>
                <a:gd name="T5" fmla="*/ 998 h 1860"/>
                <a:gd name="T6" fmla="*/ 1588 w 1860"/>
                <a:gd name="T7" fmla="*/ 998 h 1860"/>
                <a:gd name="T8" fmla="*/ 1588 w 1860"/>
                <a:gd name="T9" fmla="*/ 272 h 1860"/>
                <a:gd name="T10" fmla="*/ 1860 w 1860"/>
                <a:gd name="T11" fmla="*/ 272 h 1860"/>
                <a:gd name="T12" fmla="*/ 1860 w 1860"/>
                <a:gd name="T13" fmla="*/ 0 h 18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60"/>
                <a:gd name="T22" fmla="*/ 0 h 1860"/>
                <a:gd name="T23" fmla="*/ 1860 w 1860"/>
                <a:gd name="T24" fmla="*/ 1860 h 186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60" h="1860">
                  <a:moveTo>
                    <a:pt x="0" y="1860"/>
                  </a:moveTo>
                  <a:lnTo>
                    <a:pt x="590" y="1860"/>
                  </a:lnTo>
                  <a:lnTo>
                    <a:pt x="590" y="998"/>
                  </a:lnTo>
                  <a:lnTo>
                    <a:pt x="1588" y="998"/>
                  </a:lnTo>
                  <a:lnTo>
                    <a:pt x="1588" y="272"/>
                  </a:lnTo>
                  <a:lnTo>
                    <a:pt x="1860" y="272"/>
                  </a:lnTo>
                  <a:lnTo>
                    <a:pt x="186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4043" name="Group 32">
              <a:extLst>
                <a:ext uri="{FF2B5EF4-FFF2-40B4-BE49-F238E27FC236}">
                  <a16:creationId xmlns:a16="http://schemas.microsoft.com/office/drawing/2014/main" id="{ECDD6DF8-BD0B-44BD-A367-E4FAE2810A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9" y="1026"/>
              <a:ext cx="3311" cy="2473"/>
              <a:chOff x="2109" y="1026"/>
              <a:chExt cx="3311" cy="2473"/>
            </a:xfrm>
          </p:grpSpPr>
          <p:sp>
            <p:nvSpPr>
              <p:cNvPr id="44044" name="Line 14">
                <a:extLst>
                  <a:ext uri="{FF2B5EF4-FFF2-40B4-BE49-F238E27FC236}">
                    <a16:creationId xmlns:a16="http://schemas.microsoft.com/office/drawing/2014/main" id="{1CFFF086-1F92-40DD-B2F2-11692F9C1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08" y="1026"/>
                <a:ext cx="0" cy="22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4045" name="Group 31">
                <a:extLst>
                  <a:ext uri="{FF2B5EF4-FFF2-40B4-BE49-F238E27FC236}">
                    <a16:creationId xmlns:a16="http://schemas.microsoft.com/office/drawing/2014/main" id="{8AC8728C-D8D9-4CF9-BD62-087296996E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26"/>
                <a:ext cx="3311" cy="2473"/>
                <a:chOff x="2109" y="1026"/>
                <a:chExt cx="3311" cy="2473"/>
              </a:xfrm>
            </p:grpSpPr>
            <p:sp>
              <p:nvSpPr>
                <p:cNvPr id="44046" name="Freeform 24">
                  <a:extLst>
                    <a:ext uri="{FF2B5EF4-FFF2-40B4-BE49-F238E27FC236}">
                      <a16:creationId xmlns:a16="http://schemas.microsoft.com/office/drawing/2014/main" id="{165672B2-EB4B-416C-87E8-11E1BDFB1C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08" y="2387"/>
                  <a:ext cx="862" cy="544"/>
                </a:xfrm>
                <a:custGeom>
                  <a:avLst/>
                  <a:gdLst>
                    <a:gd name="T0" fmla="*/ 862 w 862"/>
                    <a:gd name="T1" fmla="*/ 0 h 544"/>
                    <a:gd name="T2" fmla="*/ 0 w 862"/>
                    <a:gd name="T3" fmla="*/ 0 h 544"/>
                    <a:gd name="T4" fmla="*/ 0 w 862"/>
                    <a:gd name="T5" fmla="*/ 544 h 544"/>
                    <a:gd name="T6" fmla="*/ 0 60000 65536"/>
                    <a:gd name="T7" fmla="*/ 0 60000 65536"/>
                    <a:gd name="T8" fmla="*/ 0 60000 65536"/>
                    <a:gd name="T9" fmla="*/ 0 w 862"/>
                    <a:gd name="T10" fmla="*/ 0 h 544"/>
                    <a:gd name="T11" fmla="*/ 862 w 862"/>
                    <a:gd name="T12" fmla="*/ 544 h 54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62" h="544">
                      <a:moveTo>
                        <a:pt x="862" y="0"/>
                      </a:moveTo>
                      <a:lnTo>
                        <a:pt x="0" y="0"/>
                      </a:lnTo>
                      <a:lnTo>
                        <a:pt x="0" y="544"/>
                      </a:lnTo>
                    </a:path>
                  </a:pathLst>
                </a:cu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44047" name="Group 30">
                  <a:extLst>
                    <a:ext uri="{FF2B5EF4-FFF2-40B4-BE49-F238E27FC236}">
                      <a16:creationId xmlns:a16="http://schemas.microsoft.com/office/drawing/2014/main" id="{8D18ABF6-9675-445C-868E-D2E7AFECB9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09" y="1026"/>
                  <a:ext cx="3311" cy="2473"/>
                  <a:chOff x="2109" y="1026"/>
                  <a:chExt cx="3311" cy="2473"/>
                </a:xfrm>
              </p:grpSpPr>
              <p:grpSp>
                <p:nvGrpSpPr>
                  <p:cNvPr id="44048" name="Group 18">
                    <a:extLst>
                      <a:ext uri="{FF2B5EF4-FFF2-40B4-BE49-F238E27FC236}">
                        <a16:creationId xmlns:a16="http://schemas.microsoft.com/office/drawing/2014/main" id="{DAE4DD58-C1CF-46CE-A208-CE756E223F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62" y="1026"/>
                    <a:ext cx="2858" cy="2245"/>
                    <a:chOff x="2562" y="1026"/>
                    <a:chExt cx="2858" cy="2245"/>
                  </a:xfrm>
                </p:grpSpPr>
                <p:grpSp>
                  <p:nvGrpSpPr>
                    <p:cNvPr id="44054" name="Group 10">
                      <a:extLst>
                        <a:ext uri="{FF2B5EF4-FFF2-40B4-BE49-F238E27FC236}">
                          <a16:creationId xmlns:a16="http://schemas.microsoft.com/office/drawing/2014/main" id="{25FDC4F4-376E-42A7-93E9-C95D825DE84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62" y="1026"/>
                      <a:ext cx="2858" cy="2223"/>
                      <a:chOff x="2562" y="1026"/>
                      <a:chExt cx="2858" cy="2223"/>
                    </a:xfrm>
                  </p:grpSpPr>
                  <p:sp>
                    <p:nvSpPr>
                      <p:cNvPr id="44058" name="Line 5">
                        <a:extLst>
                          <a:ext uri="{FF2B5EF4-FFF2-40B4-BE49-F238E27FC236}">
                            <a16:creationId xmlns:a16="http://schemas.microsoft.com/office/drawing/2014/main" id="{7C6DEADF-63D4-4CBF-93B8-4510D6BFC0E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62" y="3249"/>
                        <a:ext cx="2858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4059" name="Line 6">
                        <a:extLst>
                          <a:ext uri="{FF2B5EF4-FFF2-40B4-BE49-F238E27FC236}">
                            <a16:creationId xmlns:a16="http://schemas.microsoft.com/office/drawing/2014/main" id="{2238E222-8080-40FA-AC8F-471069F7E3B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880" y="1026"/>
                        <a:ext cx="0" cy="222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4060" name="Line 7">
                        <a:extLst>
                          <a:ext uri="{FF2B5EF4-FFF2-40B4-BE49-F238E27FC236}">
                            <a16:creationId xmlns:a16="http://schemas.microsoft.com/office/drawing/2014/main" id="{F4264A3F-5823-4BE5-A6DF-91E80DDFD3D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880" y="1071"/>
                        <a:ext cx="2177" cy="217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4061" name="Line 8">
                        <a:extLst>
                          <a:ext uri="{FF2B5EF4-FFF2-40B4-BE49-F238E27FC236}">
                            <a16:creationId xmlns:a16="http://schemas.microsoft.com/office/drawing/2014/main" id="{7F36E2C1-7214-4750-8D48-7C2F1E9AAF7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389"/>
                        <a:ext cx="186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4062" name="Line 9">
                        <a:extLst>
                          <a:ext uri="{FF2B5EF4-FFF2-40B4-BE49-F238E27FC236}">
                            <a16:creationId xmlns:a16="http://schemas.microsoft.com/office/drawing/2014/main" id="{E4F1532B-5E56-4E3C-A229-1F3BA69C047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740" y="1389"/>
                        <a:ext cx="0" cy="186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44055" name="Oval 12">
                      <a:extLst>
                        <a:ext uri="{FF2B5EF4-FFF2-40B4-BE49-F238E27FC236}">
                          <a16:creationId xmlns:a16="http://schemas.microsoft.com/office/drawing/2014/main" id="{B461A713-F7E3-4239-A7AC-923BD82AEF9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35" y="3203"/>
                      <a:ext cx="68" cy="6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4056" name="Line 16">
                      <a:extLst>
                        <a:ext uri="{FF2B5EF4-FFF2-40B4-BE49-F238E27FC236}">
                          <a16:creationId xmlns:a16="http://schemas.microsoft.com/office/drawing/2014/main" id="{0F1297BE-72BD-4A95-9871-8ABEDE3CA1E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08" y="1389"/>
                      <a:ext cx="1860" cy="186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33CC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4057" name="Oval 17">
                      <a:extLst>
                        <a:ext uri="{FF2B5EF4-FFF2-40B4-BE49-F238E27FC236}">
                          <a16:creationId xmlns:a16="http://schemas.microsoft.com/office/drawing/2014/main" id="{E0BE7C2D-E04F-4CDE-9D07-DB726331A6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94" y="1344"/>
                      <a:ext cx="68" cy="6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44049" name="Group 29">
                    <a:extLst>
                      <a:ext uri="{FF2B5EF4-FFF2-40B4-BE49-F238E27FC236}">
                        <a16:creationId xmlns:a16="http://schemas.microsoft.com/office/drawing/2014/main" id="{C9C1DF34-F90E-48B3-B07D-C581716D6DA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09" y="1253"/>
                    <a:ext cx="3175" cy="2246"/>
                    <a:chOff x="2109" y="1253"/>
                    <a:chExt cx="3175" cy="2246"/>
                  </a:xfrm>
                </p:grpSpPr>
                <p:sp>
                  <p:nvSpPr>
                    <p:cNvPr id="44050" name="Text Box 25">
                      <a:extLst>
                        <a:ext uri="{FF2B5EF4-FFF2-40B4-BE49-F238E27FC236}">
                          <a16:creationId xmlns:a16="http://schemas.microsoft.com/office/drawing/2014/main" id="{91C7EDFA-576B-455F-AFB4-5A4CDD3CF47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72" y="1253"/>
                      <a:ext cx="51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000" b="1" i="1">
                          <a:latin typeface="Times New Roman" panose="02020603050405020304" pitchFamily="18" charset="0"/>
                        </a:rPr>
                        <a:t>n,n</a:t>
                      </a: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44051" name="Text Box 26">
                      <a:extLst>
                        <a:ext uri="{FF2B5EF4-FFF2-40B4-BE49-F238E27FC236}">
                          <a16:creationId xmlns:a16="http://schemas.microsoft.com/office/drawing/2014/main" id="{EEB5CFF3-DC89-4E71-B096-6B0FABE6477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699" y="3249"/>
                      <a:ext cx="51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(0,0)</a:t>
                      </a:r>
                    </a:p>
                  </p:txBody>
                </p:sp>
                <p:sp>
                  <p:nvSpPr>
                    <p:cNvPr id="44052" name="Text Box 27">
                      <a:extLst>
                        <a:ext uri="{FF2B5EF4-FFF2-40B4-BE49-F238E27FC236}">
                          <a16:creationId xmlns:a16="http://schemas.microsoft.com/office/drawing/2014/main" id="{0A2DBC63-76C9-4A72-8B75-206AF2E5A04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54" y="3249"/>
                      <a:ext cx="51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(-1,0)</a:t>
                      </a:r>
                    </a:p>
                  </p:txBody>
                </p:sp>
                <p:sp>
                  <p:nvSpPr>
                    <p:cNvPr id="44053" name="Text Box 28">
                      <a:extLst>
                        <a:ext uri="{FF2B5EF4-FFF2-40B4-BE49-F238E27FC236}">
                          <a16:creationId xmlns:a16="http://schemas.microsoft.com/office/drawing/2014/main" id="{B5440C77-E1B2-4F55-B5E4-01816485B57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09" y="2795"/>
                      <a:ext cx="51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(-1,1)</a:t>
                      </a:r>
                    </a:p>
                  </p:txBody>
                </p:sp>
              </p:grpSp>
            </p:grpSp>
          </p:grpSp>
        </p:grpSp>
      </p:grpSp>
      <p:sp>
        <p:nvSpPr>
          <p:cNvPr id="25630" name="Rectangle 30">
            <a:extLst>
              <a:ext uri="{FF2B5EF4-FFF2-40B4-BE49-F238E27FC236}">
                <a16:creationId xmlns:a16="http://schemas.microsoft.com/office/drawing/2014/main" id="{83DB41A2-E704-49AD-B577-99E97DBE6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graphicFrame>
        <p:nvGraphicFramePr>
          <p:cNvPr id="44041" name="Object 29">
            <a:extLst>
              <a:ext uri="{FF2B5EF4-FFF2-40B4-BE49-F238E27FC236}">
                <a16:creationId xmlns:a16="http://schemas.microsoft.com/office/drawing/2014/main" id="{BFFFE13A-BC3A-439B-A61B-DBF7CF7713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300663"/>
          <a:ext cx="6078537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4" name="公式" r:id="rId6" imgW="3581400" imgH="469900" progId="Equation.3">
                  <p:embed/>
                </p:oleObj>
              </mc:Choice>
              <mc:Fallback>
                <p:oleObj name="公式" r:id="rId6" imgW="3581400" imgH="4699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00663"/>
                        <a:ext cx="6078537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3282</TotalTime>
  <Words>803</Words>
  <Application>Microsoft Office PowerPoint</Application>
  <PresentationFormat>全屏显示(4:3)</PresentationFormat>
  <Paragraphs>182</Paragraphs>
  <Slides>21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Calibri</vt:lpstr>
      <vt:lpstr>Arial</vt:lpstr>
      <vt:lpstr>Calibri Light</vt:lpstr>
      <vt:lpstr>Wingdings 2</vt:lpstr>
      <vt:lpstr>宋体</vt:lpstr>
      <vt:lpstr>Wingdings</vt:lpstr>
      <vt:lpstr>Times New Roman</vt:lpstr>
      <vt:lpstr>Symbol</vt:lpstr>
      <vt:lpstr>代数结构PPT</vt:lpstr>
      <vt:lpstr>Microsoft Office Word 97 - 2003 文档</vt:lpstr>
      <vt:lpstr>Microsoft Word 文档</vt:lpstr>
      <vt:lpstr>Microsoft 公式 3.0</vt:lpstr>
      <vt:lpstr>21.3 二项式定理与组合恒等式</vt:lpstr>
      <vt:lpstr>二项式定理</vt:lpstr>
      <vt:lpstr>组合恒等式（递推式）</vt:lpstr>
      <vt:lpstr>组合恒等式（变下项求和）</vt:lpstr>
      <vt:lpstr>恒等式求和（变下项求和）</vt:lpstr>
      <vt:lpstr>证明（二项式定理+求导）</vt:lpstr>
      <vt:lpstr>证明（已知恒等式代入）</vt:lpstr>
      <vt:lpstr>恒等式（变上项求和）</vt:lpstr>
      <vt:lpstr>恒等式（积）</vt:lpstr>
      <vt:lpstr>恒等式（积之和）</vt:lpstr>
      <vt:lpstr>组合恒等式小结</vt:lpstr>
      <vt:lpstr>非降路径问题</vt:lpstr>
      <vt:lpstr>基本模型 </vt:lpstr>
      <vt:lpstr>限制条件的非降路径数</vt:lpstr>
      <vt:lpstr>限制条件下非降路径数(续)</vt:lpstr>
      <vt:lpstr>应用（证明恒等式）</vt:lpstr>
      <vt:lpstr>应用（单调函数计数）</vt:lpstr>
      <vt:lpstr>函数计数小结</vt:lpstr>
      <vt:lpstr>应用（栈输出的计数）</vt:lpstr>
      <vt:lpstr>应用（栈输出的计数）</vt:lpstr>
      <vt:lpstr>栈输出的计数（续）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321</cp:revision>
  <dcterms:created xsi:type="dcterms:W3CDTF">2005-12-02T07:25:32Z</dcterms:created>
  <dcterms:modified xsi:type="dcterms:W3CDTF">2020-08-03T07:06:27Z</dcterms:modified>
</cp:coreProperties>
</file>