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0"/>
  </p:notesMasterIdLst>
  <p:sldIdLst>
    <p:sldId id="268" r:id="rId2"/>
    <p:sldId id="270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2157" autoAdjust="0"/>
  </p:normalViewPr>
  <p:slideViewPr>
    <p:cSldViewPr>
      <p:cViewPr varScale="1">
        <p:scale>
          <a:sx n="79" d="100"/>
          <a:sy n="79" d="100"/>
        </p:scale>
        <p:origin x="134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6740FDB-8F2B-47A9-9CC8-30C86DD586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B753B0-EEB0-412A-9B1C-CC0EF313837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13D59147-4E2C-4713-BDFD-F48B3FCDF71B}" type="datetimeFigureOut">
              <a:rPr lang="zh-CN" altLang="en-US"/>
              <a:pPr>
                <a:defRPr/>
              </a:pPr>
              <a:t>2020/7/12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60DDCABC-5DA3-4043-92E2-224A275C3E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D13AE1C-5109-4C25-A976-68E66F1ED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C4D76E-5EEF-467A-9695-70E4D5336D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F3B6632-3D14-4016-911B-A5DF1726C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0B04084B-8969-4991-9D75-ED59C784FA43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BCC87FCE-3A52-465F-AFC4-0C26CB2BF6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245A0AF-2F78-418B-80BC-3ECB874BE7EC}" type="slidenum">
              <a:rPr lang="en-US" altLang="zh-CN"/>
              <a:pPr eaLnBrk="1" hangingPunct="1"/>
              <a:t>1</a:t>
            </a:fld>
            <a:endParaRPr lang="en-US" altLang="zh-CN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9F2C677-ACB4-489B-BBA6-B02FF2B508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FD0B2608-3EB4-4302-B8FE-46C546F84F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AFBA6F8C-57B5-4C8D-8E0A-EBA5E63989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4E6C038-3EAE-44DE-B05F-0C53626ED840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DABE71AF-8C17-4802-BF19-7FD2065DAC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2F722DB1-DAA2-481C-94BC-04E967D412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7BB87F46-1CD0-4A0C-B97D-F71757DFA7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A544A1D-72AB-4BE2-ACE1-4958E983C0DA}" type="slidenum">
              <a:rPr lang="en-US" altLang="zh-CN"/>
              <a:pPr eaLnBrk="1" hangingPunct="1"/>
              <a:t>3</a:t>
            </a:fld>
            <a:endParaRPr lang="en-US" altLang="zh-CN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821A4F5D-E546-4EB7-948A-B4763DB1B0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3E07D834-C9E8-4B81-9261-DA107F3D9F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E02AC5A5-F2E2-4D12-822F-2B2B5EEA2C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C975784-EC18-480D-8359-8296AAF65A69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B86A1E65-DC2E-47C0-9CAB-EFE53FFED0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4CEEB8D1-90FF-4DE3-8C4D-A7B5546A55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EACBF8EC-8DD5-47D1-9940-20A931C37C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C1C9572-5712-4A4F-8427-CE1D2280DEE2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DB012A8A-437D-4B32-A55B-9AC8B6EBD5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9A9B8C8F-90EF-4739-BFCC-0737371F39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774D80E9-0D13-41C8-A17D-67433C74BD8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71CD260-2DC8-499F-B18B-1181DDBD4B5A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4D36511D-BE65-4FF4-8C25-EF370C8864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F399B251-29F2-4800-9705-2A927B19F8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681E9260-E9DF-435A-9E8A-81643BDF33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70F1DC0-D915-4131-A0AE-7AE46BC542F6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348840E9-E3D7-4A23-9376-5CE5443838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5633EE60-53F8-4538-BF17-1EA8660C04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4AF11BC2-5FDB-41A7-8DA5-D96B063290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5E3F65A-DDFB-4C9A-863F-90715AB68578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A0C455F8-C2D7-4C9E-BCC6-1CF68FFA6A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EE399040-62C8-4879-BD96-B97FDCDFC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zh-CN" baseline="300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80EF75CB-04C7-4295-A45C-83C1DABADC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9E48DD7-59EA-4470-AD4A-D56B1731C510}" type="slidenum">
              <a:rPr lang="en-US" altLang="zh-CN"/>
              <a:pPr eaLnBrk="1" hangingPunct="1"/>
              <a:t>9</a:t>
            </a:fld>
            <a:endParaRPr lang="en-US" altLang="zh-CN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409C6E47-363F-43E5-AFEE-6A0B5B96BE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69A43F3B-D6D9-4C2B-9B45-065E64464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E69BC0D8-739A-4010-8501-990FAC7056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9BB4670-993C-4844-A56C-76CE59C70CB6}" type="slidenum">
              <a:rPr lang="en-US" altLang="zh-CN"/>
              <a:pPr eaLnBrk="1" hangingPunct="1"/>
              <a:t>10</a:t>
            </a:fld>
            <a:endParaRPr lang="en-US" altLang="zh-CN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731961-2B6B-4ECA-A0F5-B33BC73301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6D6A2CEB-3D63-4863-819E-74F864362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5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3FE04FE1-34BB-46DF-962A-7E9D0A0AD0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74F433E-C5EA-4CAF-983A-3B9FBA146F6E}" type="slidenum">
              <a:rPr lang="en-US" altLang="zh-CN"/>
              <a:pPr eaLnBrk="1" hangingPunct="1"/>
              <a:t>11</a:t>
            </a:fld>
            <a:endParaRPr lang="en-US" altLang="zh-CN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6F2377E0-6D0B-4889-9239-391BDE5493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DD0F1D65-A1B9-4F7E-A4BA-78991FDC6A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5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57D5EA4A-4048-41CB-AD1A-DA6605C5AC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DBEB2C-88DD-4D04-88F7-3BB60057E4C6}" type="slidenum">
              <a:rPr lang="en-US" altLang="zh-CN"/>
              <a:pPr eaLnBrk="1" hangingPunct="1"/>
              <a:t>12</a:t>
            </a:fld>
            <a:endParaRPr lang="en-US" altLang="zh-CN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F486130C-C43E-4963-9D51-046B9422AE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89BA6D81-B247-4EE9-9AA2-BF084FE395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5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4910CC23-9EF2-4192-B5C4-825E946F40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BDD6AD0-E06E-49D8-80E4-B378E2281F03}" type="slidenum">
              <a:rPr lang="en-US" altLang="zh-CN"/>
              <a:pPr eaLnBrk="1" hangingPunct="1"/>
              <a:t>13</a:t>
            </a:fld>
            <a:endParaRPr lang="en-US" altLang="zh-CN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87C392C9-1DF3-4DA8-990F-5620B44B84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AF98C16-0C62-4642-82C0-7BEDD17D39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5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07585E95-4361-41E3-AC9F-4BEDA3E6DE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25BD6BE-5467-4507-B1A7-97997E6DB5BB}" type="slidenum">
              <a:rPr lang="en-US" altLang="zh-CN"/>
              <a:pPr eaLnBrk="1" hangingPunct="1"/>
              <a:t>14</a:t>
            </a:fld>
            <a:endParaRPr lang="en-US" altLang="zh-CN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51359BDF-9FA2-44E5-9F58-AB182FD8E2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E75D717D-D83B-457E-A5D0-2FEF64F168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5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ADFE3356-366D-4B7D-8222-941AEB6F65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C0F7F08-0708-4B7C-A8F8-9E7CCDE9D067}" type="slidenum">
              <a:rPr lang="en-US" altLang="zh-CN"/>
              <a:pPr eaLnBrk="1" hangingPunct="1"/>
              <a:t>15</a:t>
            </a:fld>
            <a:endParaRPr lang="en-US" altLang="zh-CN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0A3AE1DE-454E-4F58-80E3-A8BCACF7AF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2B47956E-5073-41B1-9710-20F5E491A2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5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1B8C0313-BB36-4DC7-8B3E-34D702FFDF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6DB2778-099C-44FE-A663-5CB74330D508}" type="slidenum">
              <a:rPr lang="en-US" altLang="zh-CN"/>
              <a:pPr eaLnBrk="1" hangingPunct="1"/>
              <a:t>16</a:t>
            </a:fld>
            <a:endParaRPr lang="en-US" altLang="zh-CN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6A950979-A38E-4520-AF8E-930171204A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0E236E62-C0A5-4B4C-95E6-87C98CC4C5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5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E95A5456-B675-4A70-BB93-47A356AE18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585C59C-29C2-4791-B3C3-361751B59C4C}" type="slidenum">
              <a:rPr lang="en-US" altLang="zh-CN"/>
              <a:pPr eaLnBrk="1" hangingPunct="1"/>
              <a:t>17</a:t>
            </a:fld>
            <a:endParaRPr lang="en-US" altLang="zh-CN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9207B0DC-50AE-4981-B825-BB0BFED18E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0550B47B-E261-4C2B-BE00-DA1EF25EED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5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B0C7FA8C-9257-4941-B881-358A99DF68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9CD8617-0267-4CFB-B052-E5F943638F1A}" type="slidenum">
              <a:rPr lang="en-US" altLang="zh-CN"/>
              <a:pPr eaLnBrk="1" hangingPunct="1"/>
              <a:t>18</a:t>
            </a:fld>
            <a:endParaRPr lang="en-US" altLang="zh-CN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2E6E76FE-EDF1-41A7-AB7D-52ADEF6432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90600" y="766763"/>
            <a:ext cx="5118100" cy="383857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625D0765-6F3F-4AC8-950E-D31F69EBDD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9613" y="4862513"/>
            <a:ext cx="5680075" cy="46053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86F3A4-F5FE-4292-9F18-C66863C5F5A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0265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3CE1E2E-067C-439B-B7BE-624E9A7F6DA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3117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A3E2C0-DA8C-473C-BBBF-1A4A4902BD8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70320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B28524-3F11-4AF4-AB6F-0D197995016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4333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CD2960-A921-419E-B6E9-F2A9A41807B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18708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2EFA76-5E7D-409A-9866-E040DB8BBDC9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8147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136D5B-64C3-4A8A-8D7A-81DCC0E3E5C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3590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BC820D-FAA4-42F8-B84B-8F5D4F72578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758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52EFD9-A3FD-4379-921C-E74B7A610526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129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7AE5320-E6A0-4C61-AB45-2B2BA1D61BB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3585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9BA1EA-58E2-424F-9E1E-B83C365F43E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5022299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9BA1EA-58E2-424F-9E1E-B83C365F43E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367336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C29BA1EA-58E2-424F-9E1E-B83C365F43E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3496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49B4C3CE-7812-4A3B-A806-1ACDF5B8F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37692"/>
            <a:ext cx="7772400" cy="7921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第十七章 群</a:t>
            </a:r>
          </a:p>
        </p:txBody>
      </p:sp>
      <p:sp>
        <p:nvSpPr>
          <p:cNvPr id="9235" name="灯片编号占位符 50">
            <a:extLst>
              <a:ext uri="{FF2B5EF4-FFF2-40B4-BE49-F238E27FC236}">
                <a16:creationId xmlns:a16="http://schemas.microsoft.com/office/drawing/2014/main" id="{F2864D4E-09E8-458A-810A-AA2E0FD0A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92875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E2EBDD6-6A1E-4641-8DBC-59300F92B0C9}" type="slidenum">
              <a:rPr lang="en-US" altLang="zh-CN">
                <a:solidFill>
                  <a:srgbClr val="898989"/>
                </a:solidFill>
              </a:rPr>
              <a:pPr eaLnBrk="1" hangingPunct="1"/>
              <a:t>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22222" name="Text Box 14">
            <a:extLst>
              <a:ext uri="{FF2B5EF4-FFF2-40B4-BE49-F238E27FC236}">
                <a16:creationId xmlns:a16="http://schemas.microsoft.com/office/drawing/2014/main" id="{B94881A5-F3ED-4B12-84DA-5E8B669D9F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567113"/>
            <a:ext cx="1439862" cy="1014412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子群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判定定理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重要子群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00" name="Text Box 41">
            <a:extLst>
              <a:ext uri="{FF2B5EF4-FFF2-40B4-BE49-F238E27FC236}">
                <a16:creationId xmlns:a16="http://schemas.microsoft.com/office/drawing/2014/main" id="{FD6322E5-CC63-47F8-82E4-29AF13BCD9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7538" y="58626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grpSp>
        <p:nvGrpSpPr>
          <p:cNvPr id="2" name="组合 42">
            <a:extLst>
              <a:ext uri="{FF2B5EF4-FFF2-40B4-BE49-F238E27FC236}">
                <a16:creationId xmlns:a16="http://schemas.microsoft.com/office/drawing/2014/main" id="{8A52D60C-FF46-4F8B-8031-DF19E6C1B62C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341438"/>
            <a:ext cx="2879725" cy="1323975"/>
            <a:chOff x="1187450" y="1340768"/>
            <a:chExt cx="2880494" cy="1323976"/>
          </a:xfrm>
        </p:grpSpPr>
        <p:sp>
          <p:nvSpPr>
            <p:cNvPr id="4144" name="Text Box 33">
              <a:extLst>
                <a:ext uri="{FF2B5EF4-FFF2-40B4-BE49-F238E27FC236}">
                  <a16:creationId xmlns:a16="http://schemas.microsoft.com/office/drawing/2014/main" id="{38A7A31D-6500-459B-8278-46BC934FD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1680" y="1340768"/>
              <a:ext cx="2376264" cy="1323976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/>
                <a:t>群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,∘,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000" b="1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</a:p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∘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封闭性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结合律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单位元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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endPara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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 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 </a:t>
              </a:r>
              <a:r>
                <a:rPr lang="en-US" altLang="zh-CN" sz="2000" b="1" baseline="30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-1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endParaRPr lang="zh-CN" altLang="en-US" sz="2000" b="1"/>
            </a:p>
          </p:txBody>
        </p:sp>
        <p:sp>
          <p:nvSpPr>
            <p:cNvPr id="4145" name="TextBox 51">
              <a:extLst>
                <a:ext uri="{FF2B5EF4-FFF2-40B4-BE49-F238E27FC236}">
                  <a16:creationId xmlns:a16="http://schemas.microsoft.com/office/drawing/2014/main" id="{966E0FA9-FB68-4FF4-8617-BBCE1DBC2C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450" y="1700213"/>
              <a:ext cx="360363" cy="64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定</a:t>
              </a:r>
              <a:endParaRPr lang="en-US" altLang="zh-CN" b="1"/>
            </a:p>
            <a:p>
              <a:pPr eaLnBrk="1" hangingPunct="1"/>
              <a:r>
                <a:rPr lang="zh-CN" altLang="en-US" b="1"/>
                <a:t>义</a:t>
              </a:r>
            </a:p>
          </p:txBody>
        </p:sp>
      </p:grpSp>
      <p:grpSp>
        <p:nvGrpSpPr>
          <p:cNvPr id="3" name="组合 46">
            <a:extLst>
              <a:ext uri="{FF2B5EF4-FFF2-40B4-BE49-F238E27FC236}">
                <a16:creationId xmlns:a16="http://schemas.microsoft.com/office/drawing/2014/main" id="{CAC49B07-8D01-4FD6-AF3B-5231B20477B2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3567113"/>
            <a:ext cx="1152525" cy="2454275"/>
            <a:chOff x="323850" y="3567113"/>
            <a:chExt cx="1152525" cy="2454275"/>
          </a:xfrm>
        </p:grpSpPr>
        <p:sp>
          <p:nvSpPr>
            <p:cNvPr id="4142" name="Text Box 6">
              <a:extLst>
                <a:ext uri="{FF2B5EF4-FFF2-40B4-BE49-F238E27FC236}">
                  <a16:creationId xmlns:a16="http://schemas.microsoft.com/office/drawing/2014/main" id="{0265AC80-DF0A-4281-8C90-249EE6410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850" y="3567113"/>
              <a:ext cx="1152525" cy="1938337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/>
                <a:t>有限群</a:t>
              </a:r>
              <a:endParaRPr lang="en-US" altLang="zh-CN" sz="2000" b="1"/>
            </a:p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Abel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群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Klein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四元群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000" b="1"/>
                <a:t>循环群</a:t>
              </a:r>
              <a:endParaRPr lang="en-US" altLang="zh-CN" sz="2000" b="1"/>
            </a:p>
            <a:p>
              <a:pPr eaLnBrk="1" hangingPunct="1"/>
              <a:r>
                <a:rPr lang="zh-CN" altLang="en-US" sz="2000" b="1"/>
                <a:t>置换群</a:t>
              </a:r>
            </a:p>
          </p:txBody>
        </p:sp>
        <p:sp>
          <p:nvSpPr>
            <p:cNvPr id="4143" name="Text Box 21">
              <a:extLst>
                <a:ext uri="{FF2B5EF4-FFF2-40B4-BE49-F238E27FC236}">
                  <a16:creationId xmlns:a16="http://schemas.microsoft.com/office/drawing/2014/main" id="{EC647AB9-7AE3-404D-BBBF-B51CFAF7E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850" y="5651500"/>
              <a:ext cx="11525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特殊的群</a:t>
              </a:r>
            </a:p>
          </p:txBody>
        </p:sp>
      </p:grpSp>
      <p:grpSp>
        <p:nvGrpSpPr>
          <p:cNvPr id="4" name="组合 47">
            <a:extLst>
              <a:ext uri="{FF2B5EF4-FFF2-40B4-BE49-F238E27FC236}">
                <a16:creationId xmlns:a16="http://schemas.microsoft.com/office/drawing/2014/main" id="{FDAF9E9F-8D27-41C6-AA86-4FC2903B9FD5}"/>
              </a:ext>
            </a:extLst>
          </p:cNvPr>
          <p:cNvGrpSpPr>
            <a:grpSpLocks/>
          </p:cNvGrpSpPr>
          <p:nvPr/>
        </p:nvGrpSpPr>
        <p:grpSpPr bwMode="auto">
          <a:xfrm>
            <a:off x="2051050" y="3575050"/>
            <a:ext cx="1584325" cy="1077913"/>
            <a:chOff x="2051050" y="3575224"/>
            <a:chExt cx="1584325" cy="1077912"/>
          </a:xfrm>
        </p:grpSpPr>
        <p:sp>
          <p:nvSpPr>
            <p:cNvPr id="4139" name="Text Box 14">
              <a:extLst>
                <a:ext uri="{FF2B5EF4-FFF2-40B4-BE49-F238E27FC236}">
                  <a16:creationId xmlns:a16="http://schemas.microsoft.com/office/drawing/2014/main" id="{715A2870-34DF-443B-A7F3-8894D4EC4F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050" y="3575224"/>
              <a:ext cx="1584325" cy="400050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群的分解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40" name="Text Box 14">
              <a:extLst>
                <a:ext uri="{FF2B5EF4-FFF2-40B4-BE49-F238E27FC236}">
                  <a16:creationId xmlns:a16="http://schemas.microsoft.com/office/drawing/2014/main" id="{4075DC0E-B168-45AB-B329-9FB8B35A4F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6238" y="3998913"/>
              <a:ext cx="719137" cy="646112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陪集分解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 Box 14">
              <a:extLst>
                <a:ext uri="{FF2B5EF4-FFF2-40B4-BE49-F238E27FC236}">
                  <a16:creationId xmlns:a16="http://schemas.microsoft.com/office/drawing/2014/main" id="{F113209F-02F4-4E20-9EC4-179FD52745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1050" y="4007024"/>
              <a:ext cx="865188" cy="646112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zh-CN" altLang="en-US" b="1" spc="-100" dirty="0">
                  <a:latin typeface="Times New Roman" pitchFamily="18" charset="0"/>
                  <a:cs typeface="Times New Roman" pitchFamily="18" charset="0"/>
                </a:rPr>
                <a:t>共轭类</a:t>
              </a:r>
              <a:endParaRPr lang="en-US" altLang="zh-CN" b="1" spc="-100" dirty="0">
                <a:latin typeface="Times New Roman" pitchFamily="18" charset="0"/>
                <a:cs typeface="Times New Roman" pitchFamily="18" charset="0"/>
              </a:endParaRPr>
            </a:p>
            <a:p>
              <a:pPr>
                <a:defRPr/>
              </a:pPr>
              <a:r>
                <a:rPr lang="zh-CN" altLang="en-US" b="1" dirty="0">
                  <a:latin typeface="Times New Roman" pitchFamily="18" charset="0"/>
                  <a:cs typeface="Times New Roman" pitchFamily="18" charset="0"/>
                </a:rPr>
                <a:t>分解</a:t>
              </a:r>
            </a:p>
          </p:txBody>
        </p:sp>
      </p:grpSp>
      <p:grpSp>
        <p:nvGrpSpPr>
          <p:cNvPr id="5" name="组合 48">
            <a:extLst>
              <a:ext uri="{FF2B5EF4-FFF2-40B4-BE49-F238E27FC236}">
                <a16:creationId xmlns:a16="http://schemas.microsoft.com/office/drawing/2014/main" id="{446A0954-6830-4097-8D19-EBCB3ECE4870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4724400"/>
            <a:ext cx="1439862" cy="1882775"/>
            <a:chOff x="2195513" y="4724400"/>
            <a:chExt cx="1439862" cy="1882775"/>
          </a:xfrm>
        </p:grpSpPr>
        <p:sp>
          <p:nvSpPr>
            <p:cNvPr id="4134" name="Text Box 14">
              <a:extLst>
                <a:ext uri="{FF2B5EF4-FFF2-40B4-BE49-F238E27FC236}">
                  <a16:creationId xmlns:a16="http://schemas.microsoft.com/office/drawing/2014/main" id="{E03E34C0-0F64-4865-8AED-3502FBC88F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6238" y="5241925"/>
              <a:ext cx="719137" cy="923925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拉格朗日定理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35" name="Text Box 14">
              <a:extLst>
                <a:ext uri="{FF2B5EF4-FFF2-40B4-BE49-F238E27FC236}">
                  <a16:creationId xmlns:a16="http://schemas.microsoft.com/office/drawing/2014/main" id="{81347D9A-3906-4579-B5FD-5FFBF15A3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513" y="5241925"/>
              <a:ext cx="720725" cy="923925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群的分类方程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36" name="Line 42">
              <a:extLst>
                <a:ext uri="{FF2B5EF4-FFF2-40B4-BE49-F238E27FC236}">
                  <a16:creationId xmlns:a16="http://schemas.microsoft.com/office/drawing/2014/main" id="{91A13662-E6F5-4CF8-BFA9-9ABA12704C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48038" y="4724400"/>
              <a:ext cx="0" cy="504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7" name="Line 42">
              <a:extLst>
                <a:ext uri="{FF2B5EF4-FFF2-40B4-BE49-F238E27FC236}">
                  <a16:creationId xmlns:a16="http://schemas.microsoft.com/office/drawing/2014/main" id="{5440F4D0-A077-49C0-9170-DC15A4DBEB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84438" y="4724400"/>
              <a:ext cx="0" cy="504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8" name="矩形 66">
              <a:extLst>
                <a:ext uri="{FF2B5EF4-FFF2-40B4-BE49-F238E27FC236}">
                  <a16:creationId xmlns:a16="http://schemas.microsoft.com/office/drawing/2014/main" id="{47204E42-17C8-45C5-A254-9368914F8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513" y="6237288"/>
              <a:ext cx="1439862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有限群计数</a:t>
              </a:r>
            </a:p>
          </p:txBody>
        </p:sp>
      </p:grpSp>
      <p:sp>
        <p:nvSpPr>
          <p:cNvPr id="68" name="Text Box 7">
            <a:extLst>
              <a:ext uri="{FF2B5EF4-FFF2-40B4-BE49-F238E27FC236}">
                <a16:creationId xmlns:a16="http://schemas.microsoft.com/office/drawing/2014/main" id="{99722829-96A6-4CED-BF16-E71298E6F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3800475"/>
            <a:ext cx="792162" cy="70802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/>
              <a:t>商群</a:t>
            </a:r>
            <a:endParaRPr lang="en-US" altLang="zh-CN" sz="2000" b="1"/>
          </a:p>
          <a:p>
            <a:pPr eaLnBrk="1" hangingPunct="1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G/H</a:t>
            </a:r>
          </a:p>
        </p:txBody>
      </p:sp>
      <p:grpSp>
        <p:nvGrpSpPr>
          <p:cNvPr id="6" name="组合 49">
            <a:extLst>
              <a:ext uri="{FF2B5EF4-FFF2-40B4-BE49-F238E27FC236}">
                <a16:creationId xmlns:a16="http://schemas.microsoft.com/office/drawing/2014/main" id="{479ECFD5-8031-4DDB-A4DD-9D6F8F338AA2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4646613"/>
            <a:ext cx="792162" cy="1290637"/>
            <a:chOff x="4427538" y="4646613"/>
            <a:chExt cx="792162" cy="1290637"/>
          </a:xfrm>
        </p:grpSpPr>
        <p:sp>
          <p:nvSpPr>
            <p:cNvPr id="4132" name="Text Box 7">
              <a:extLst>
                <a:ext uri="{FF2B5EF4-FFF2-40B4-BE49-F238E27FC236}">
                  <a16:creationId xmlns:a16="http://schemas.microsoft.com/office/drawing/2014/main" id="{9EB60BF6-99A7-4309-A951-E088213F40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538" y="5229225"/>
              <a:ext cx="792162" cy="708025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/>
                <a:t>正规</a:t>
              </a:r>
              <a:endParaRPr lang="en-US" altLang="zh-CN" sz="2000" b="1"/>
            </a:p>
            <a:p>
              <a:pPr eaLnBrk="1" hangingPunct="1"/>
              <a:r>
                <a:rPr lang="zh-CN" altLang="en-US" sz="2000" b="1"/>
                <a:t>子群</a:t>
              </a:r>
              <a:endParaRPr lang="en-US" altLang="zh-CN" sz="2000" b="1"/>
            </a:p>
          </p:txBody>
        </p:sp>
        <p:sp>
          <p:nvSpPr>
            <p:cNvPr id="4133" name="Line 42">
              <a:extLst>
                <a:ext uri="{FF2B5EF4-FFF2-40B4-BE49-F238E27FC236}">
                  <a16:creationId xmlns:a16="http://schemas.microsoft.com/office/drawing/2014/main" id="{E8D52D66-F653-432A-B60B-9D0C3CCC40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900" y="4646613"/>
              <a:ext cx="0" cy="5032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组合 43">
            <a:extLst>
              <a:ext uri="{FF2B5EF4-FFF2-40B4-BE49-F238E27FC236}">
                <a16:creationId xmlns:a16="http://schemas.microsoft.com/office/drawing/2014/main" id="{EADD94C7-C97F-4E19-9CD8-9BE4240FE376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1268413"/>
            <a:ext cx="3384550" cy="1477962"/>
            <a:chOff x="4211638" y="1268413"/>
            <a:chExt cx="3384550" cy="1477962"/>
          </a:xfrm>
        </p:grpSpPr>
        <p:sp>
          <p:nvSpPr>
            <p:cNvPr id="4129" name="Line 10">
              <a:extLst>
                <a:ext uri="{FF2B5EF4-FFF2-40B4-BE49-F238E27FC236}">
                  <a16:creationId xmlns:a16="http://schemas.microsoft.com/office/drawing/2014/main" id="{8179D0D0-F68A-4FB1-91D1-65B672A9E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1638" y="2125663"/>
              <a:ext cx="9032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0" name="Text Box 20">
              <a:extLst>
                <a:ext uri="{FF2B5EF4-FFF2-40B4-BE49-F238E27FC236}">
                  <a16:creationId xmlns:a16="http://schemas.microsoft.com/office/drawing/2014/main" id="{06764851-5BB4-46EE-B0DF-2288549E4C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9700" y="1268413"/>
              <a:ext cx="2376488" cy="1477962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eaLnBrk="1" hangingPunct="1">
                <a:lnSpc>
                  <a:spcPct val="90000"/>
                </a:lnSpc>
              </a:pPr>
              <a:r>
                <a:rPr lang="zh-CN" altLang="en-US" sz="2000" b="1"/>
                <a:t>幂运算规则</a:t>
              </a:r>
            </a:p>
            <a:p>
              <a:pPr marL="0" lvl="1" eaLnBrk="1" hangingPunct="1">
                <a:lnSpc>
                  <a:spcPct val="90000"/>
                </a:lnSpc>
              </a:pPr>
              <a:r>
                <a:rPr lang="zh-CN" altLang="en-US" sz="2000" b="1"/>
                <a:t>方程唯一解</a:t>
              </a:r>
            </a:p>
            <a:p>
              <a:pPr marL="0" lvl="1" eaLnBrk="1" hangingPunct="1">
                <a:lnSpc>
                  <a:spcPct val="90000"/>
                </a:lnSpc>
              </a:pPr>
              <a:r>
                <a:rPr lang="zh-CN" altLang="en-US" sz="2000" b="1"/>
                <a:t>消去律</a:t>
              </a:r>
            </a:p>
            <a:p>
              <a:pPr marL="0" lvl="1" eaLnBrk="1" hangingPunct="1">
                <a:lnSpc>
                  <a:spcPct val="90000"/>
                </a:lnSpc>
              </a:pPr>
              <a:r>
                <a:rPr lang="zh-CN" altLang="en-US" sz="2000" b="1"/>
                <a:t>运算表的置换</a:t>
              </a:r>
            </a:p>
            <a:p>
              <a:pPr marL="0" lvl="1" eaLnBrk="1" hangingPunct="1">
                <a:lnSpc>
                  <a:spcPct val="90000"/>
                </a:lnSpc>
              </a:pPr>
              <a:r>
                <a:rPr lang="zh-CN" altLang="en-US" sz="2000" b="1"/>
                <a:t>元素阶的性质</a:t>
              </a:r>
            </a:p>
          </p:txBody>
        </p:sp>
        <p:sp>
          <p:nvSpPr>
            <p:cNvPr id="4131" name="矩形 70">
              <a:extLst>
                <a:ext uri="{FF2B5EF4-FFF2-40B4-BE49-F238E27FC236}">
                  <a16:creationId xmlns:a16="http://schemas.microsoft.com/office/drawing/2014/main" id="{26683A69-D446-42C8-A08E-67687803F0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663" y="1693863"/>
              <a:ext cx="649287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性质</a:t>
              </a:r>
            </a:p>
          </p:txBody>
        </p:sp>
      </p:grpSp>
      <p:sp>
        <p:nvSpPr>
          <p:cNvPr id="10273" name="Line 10">
            <a:extLst>
              <a:ext uri="{FF2B5EF4-FFF2-40B4-BE49-F238E27FC236}">
                <a16:creationId xmlns:a16="http://schemas.microsoft.com/office/drawing/2014/main" id="{7637E5F4-FDF1-4D18-8F7F-5AD6FAD63F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64163" y="5583238"/>
            <a:ext cx="647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组合 51">
            <a:extLst>
              <a:ext uri="{FF2B5EF4-FFF2-40B4-BE49-F238E27FC236}">
                <a16:creationId xmlns:a16="http://schemas.microsoft.com/office/drawing/2014/main" id="{8162323F-A6D0-43B9-ABC4-80B727B80E32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4581525"/>
            <a:ext cx="1223962" cy="1355725"/>
            <a:chOff x="6084888" y="4581525"/>
            <a:chExt cx="1223962" cy="1355725"/>
          </a:xfrm>
        </p:grpSpPr>
        <p:sp>
          <p:nvSpPr>
            <p:cNvPr id="4127" name="Text Box 7">
              <a:extLst>
                <a:ext uri="{FF2B5EF4-FFF2-40B4-BE49-F238E27FC236}">
                  <a16:creationId xmlns:a16="http://schemas.microsoft.com/office/drawing/2014/main" id="{D2DBC3F6-1855-4D1F-BD35-A3557957BE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888" y="5229225"/>
              <a:ext cx="1223962" cy="708025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/>
                <a:t>同余关系</a:t>
              </a:r>
              <a:endParaRPr lang="en-US" altLang="zh-CN" sz="2000" b="1"/>
            </a:p>
            <a:p>
              <a:pPr eaLnBrk="1" hangingPunct="1"/>
              <a:r>
                <a:rPr lang="zh-CN" altLang="en-US" sz="2000" b="1"/>
                <a:t>同态映射</a:t>
              </a:r>
            </a:p>
          </p:txBody>
        </p:sp>
        <p:sp>
          <p:nvSpPr>
            <p:cNvPr id="4128" name="Line 10">
              <a:extLst>
                <a:ext uri="{FF2B5EF4-FFF2-40B4-BE49-F238E27FC236}">
                  <a16:creationId xmlns:a16="http://schemas.microsoft.com/office/drawing/2014/main" id="{280E0BF8-6CD6-4C87-BA55-EA5840EBE0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59563" y="4581525"/>
              <a:ext cx="0" cy="647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5" name="Line 42">
            <a:extLst>
              <a:ext uri="{FF2B5EF4-FFF2-40B4-BE49-F238E27FC236}">
                <a16:creationId xmlns:a16="http://schemas.microsoft.com/office/drawing/2014/main" id="{71A197AE-88E3-42D1-89C9-5B95D5B52A2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8400" y="4292600"/>
            <a:ext cx="4238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Text Box 7">
            <a:extLst>
              <a:ext uri="{FF2B5EF4-FFF2-40B4-BE49-F238E27FC236}">
                <a16:creationId xmlns:a16="http://schemas.microsoft.com/office/drawing/2014/main" id="{44E38651-A33D-424B-AE31-F14A1F046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3789363"/>
            <a:ext cx="792163" cy="70802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/>
              <a:t>群的直积</a:t>
            </a:r>
          </a:p>
        </p:txBody>
      </p:sp>
      <p:grpSp>
        <p:nvGrpSpPr>
          <p:cNvPr id="9" name="组合 45">
            <a:extLst>
              <a:ext uri="{FF2B5EF4-FFF2-40B4-BE49-F238E27FC236}">
                <a16:creationId xmlns:a16="http://schemas.microsoft.com/office/drawing/2014/main" id="{A4BBA90E-3566-4CED-95D1-82CF7619B2E6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2708275"/>
            <a:ext cx="7775575" cy="1008063"/>
            <a:chOff x="900113" y="2707952"/>
            <a:chExt cx="7775575" cy="1009155"/>
          </a:xfrm>
        </p:grpSpPr>
        <p:sp>
          <p:nvSpPr>
            <p:cNvPr id="4114" name="Line 42">
              <a:extLst>
                <a:ext uri="{FF2B5EF4-FFF2-40B4-BE49-F238E27FC236}">
                  <a16:creationId xmlns:a16="http://schemas.microsoft.com/office/drawing/2014/main" id="{70014BAD-AE7F-4ED5-B6F2-F0F515C9B5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900" y="2924944"/>
              <a:ext cx="0" cy="503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15" name="矩形 56">
              <a:extLst>
                <a:ext uri="{FF2B5EF4-FFF2-40B4-BE49-F238E27FC236}">
                  <a16:creationId xmlns:a16="http://schemas.microsoft.com/office/drawing/2014/main" id="{2A586296-061E-4A6F-BF90-3428334E3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13" y="3059113"/>
              <a:ext cx="649287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实例</a:t>
              </a:r>
            </a:p>
          </p:txBody>
        </p:sp>
        <p:grpSp>
          <p:nvGrpSpPr>
            <p:cNvPr id="4116" name="组合 44">
              <a:extLst>
                <a:ext uri="{FF2B5EF4-FFF2-40B4-BE49-F238E27FC236}">
                  <a16:creationId xmlns:a16="http://schemas.microsoft.com/office/drawing/2014/main" id="{4F6A48B5-976D-4C7C-8BB5-B6630CFC02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0113" y="2707952"/>
              <a:ext cx="7775575" cy="1009155"/>
              <a:chOff x="900113" y="2707952"/>
              <a:chExt cx="7775575" cy="1009155"/>
            </a:xfrm>
          </p:grpSpPr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A4C3D1C0-5F12-4DEB-9164-0B13CFD1E119}"/>
                  </a:ext>
                </a:extLst>
              </p:cNvPr>
              <p:cNvCxnSpPr/>
              <p:nvPr/>
            </p:nvCxnSpPr>
            <p:spPr>
              <a:xfrm>
                <a:off x="900113" y="2925676"/>
                <a:ext cx="6911975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18" name="组合 41">
                <a:extLst>
                  <a:ext uri="{FF2B5EF4-FFF2-40B4-BE49-F238E27FC236}">
                    <a16:creationId xmlns:a16="http://schemas.microsoft.com/office/drawing/2014/main" id="{63FEEE5F-E883-48E2-9549-994D302471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0113" y="2707952"/>
                <a:ext cx="7775575" cy="1009155"/>
                <a:chOff x="900113" y="2636912"/>
                <a:chExt cx="7775575" cy="1009155"/>
              </a:xfrm>
            </p:grpSpPr>
            <p:sp>
              <p:nvSpPr>
                <p:cNvPr id="4119" name="Text Box 21">
                  <a:extLst>
                    <a:ext uri="{FF2B5EF4-FFF2-40B4-BE49-F238E27FC236}">
                      <a16:creationId xmlns:a16="http://schemas.microsoft.com/office/drawing/2014/main" id="{A113612B-BE82-42BD-A0B9-587FFA6B17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00338" y="3060775"/>
                  <a:ext cx="792162" cy="368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b="1"/>
                    <a:t>结构</a:t>
                  </a:r>
                </a:p>
              </p:txBody>
            </p:sp>
            <p:sp>
              <p:nvSpPr>
                <p:cNvPr id="4120" name="矩形 53">
                  <a:extLst>
                    <a:ext uri="{FF2B5EF4-FFF2-40B4-BE49-F238E27FC236}">
                      <a16:creationId xmlns:a16="http://schemas.microsoft.com/office/drawing/2014/main" id="{E3EED857-0D97-48E6-9721-FC013DCFEC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87900" y="3060775"/>
                  <a:ext cx="882650" cy="368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b="1"/>
                    <a:t>子代数</a:t>
                  </a:r>
                </a:p>
              </p:txBody>
            </p:sp>
            <p:sp>
              <p:nvSpPr>
                <p:cNvPr id="4121" name="Line 42">
                  <a:extLst>
                    <a:ext uri="{FF2B5EF4-FFF2-40B4-BE49-F238E27FC236}">
                      <a16:creationId xmlns:a16="http://schemas.microsoft.com/office/drawing/2014/main" id="{8CBA75E7-B347-40EE-991D-E228226FA33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588125" y="2853904"/>
                  <a:ext cx="0" cy="79216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22" name="矩形 57">
                  <a:extLst>
                    <a:ext uri="{FF2B5EF4-FFF2-40B4-BE49-F238E27FC236}">
                      <a16:creationId xmlns:a16="http://schemas.microsoft.com/office/drawing/2014/main" id="{09611471-2F1C-4693-98BA-4D3E35EC6A0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16688" y="3070300"/>
                  <a:ext cx="881062" cy="368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b="1"/>
                    <a:t>商代数</a:t>
                  </a:r>
                </a:p>
              </p:txBody>
            </p:sp>
            <p:sp>
              <p:nvSpPr>
                <p:cNvPr id="4123" name="Line 42">
                  <a:extLst>
                    <a:ext uri="{FF2B5EF4-FFF2-40B4-BE49-F238E27FC236}">
                      <a16:creationId xmlns:a16="http://schemas.microsoft.com/office/drawing/2014/main" id="{5D1E118F-002C-4F4F-87A9-CD29ACE19A3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00338" y="2636912"/>
                  <a:ext cx="0" cy="79216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24" name="Line 42">
                  <a:extLst>
                    <a:ext uri="{FF2B5EF4-FFF2-40B4-BE49-F238E27FC236}">
                      <a16:creationId xmlns:a16="http://schemas.microsoft.com/office/drawing/2014/main" id="{DFE10A1E-A3CF-49F5-AAFD-831C9F5565B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812088" y="2853904"/>
                  <a:ext cx="0" cy="71913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25" name="Line 42">
                  <a:extLst>
                    <a:ext uri="{FF2B5EF4-FFF2-40B4-BE49-F238E27FC236}">
                      <a16:creationId xmlns:a16="http://schemas.microsoft.com/office/drawing/2014/main" id="{65F6990B-53E6-43DC-85F3-B90E8583005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00113" y="2853904"/>
                  <a:ext cx="0" cy="50323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126" name="矩形 83">
                  <a:extLst>
                    <a:ext uri="{FF2B5EF4-FFF2-40B4-BE49-F238E27FC236}">
                      <a16:creationId xmlns:a16="http://schemas.microsoft.com/office/drawing/2014/main" id="{CCD72729-5358-416D-B2DD-03C49E983A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94625" y="3070300"/>
                  <a:ext cx="881063" cy="368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b="1"/>
                    <a:t>积代数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2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2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222" grpId="0" animBg="1"/>
      <p:bldP spid="68" grpId="0" animBg="1"/>
      <p:bldP spid="7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E0EF3E7-171A-40AF-B316-FB45209B81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88913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17.1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群的定义与性质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7371C36-B513-4F01-8C7A-8BE2B29F1C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1438"/>
            <a:ext cx="7772400" cy="485298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/>
              <a:t>群的定义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定义与实例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等价定义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相关术语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/>
              <a:t>群的性质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幂运算规则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群方程有唯一解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消去律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运算表的置换性质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元素的阶的性质</a:t>
            </a:r>
          </a:p>
        </p:txBody>
      </p:sp>
      <p:sp>
        <p:nvSpPr>
          <p:cNvPr id="11268" name="灯片编号占位符 5">
            <a:extLst>
              <a:ext uri="{FF2B5EF4-FFF2-40B4-BE49-F238E27FC236}">
                <a16:creationId xmlns:a16="http://schemas.microsoft.com/office/drawing/2014/main" id="{146B0E4F-4655-4C4E-9129-7146AB612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E088515-4C51-4327-AEBA-A5559578E40D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E83179E-8D1A-42BB-929B-0529B765BD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146050"/>
            <a:ext cx="8229600" cy="86518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群的定义</a:t>
            </a:r>
          </a:p>
        </p:txBody>
      </p:sp>
      <p:sp>
        <p:nvSpPr>
          <p:cNvPr id="13316" name="灯片编号占位符 5">
            <a:extLst>
              <a:ext uri="{FF2B5EF4-FFF2-40B4-BE49-F238E27FC236}">
                <a16:creationId xmlns:a16="http://schemas.microsoft.com/office/drawing/2014/main" id="{A90E008B-A3E7-4AC2-AD66-528F8B664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393268-6DFF-43F1-98B7-09E3455458B0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EE6614A-1524-455C-857F-72E6EE02D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68413"/>
            <a:ext cx="7704137" cy="457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6388" eaLnBrk="0" hangingPunct="0">
              <a:tabLst>
                <a:tab pos="573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573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573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573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573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3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3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3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73088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可以将群看成代数系统 </a:t>
            </a:r>
            <a:r>
              <a:rPr lang="en-US" altLang="zh-CN" sz="2400" b="1">
                <a:latin typeface="Times New Roman" panose="02020603050405020304" pitchFamily="18" charset="0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>
                <a:latin typeface="Lucida Sans Unicode" panose="020B0602030504020204" pitchFamily="34" charset="0"/>
                <a:cs typeface="Lucida Sans Unicode" panose="020B0602030504020204" pitchFamily="34" charset="0"/>
              </a:rPr>
              <a:t>∘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-1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e 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</a:p>
          <a:p>
            <a:pPr eaLnBrk="1" hangingPunct="1">
              <a:lnSpc>
                <a:spcPct val="110000"/>
              </a:lnSpc>
            </a:pP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等价定义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 &lt;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>
                <a:latin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∘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&gt;, </a:t>
            </a:r>
            <a:r>
              <a:rPr lang="en-US" altLang="zh-CN" sz="2400" b="1">
                <a:latin typeface="Lucida Sans Unicode" panose="020B0602030504020204" pitchFamily="34" charset="0"/>
                <a:cs typeface="Lucida Sans Unicode" panose="020B0602030504020204" pitchFamily="34" charset="0"/>
                <a:sym typeface="Symbol" panose="05050102010706020507" pitchFamily="18" charset="2"/>
              </a:rPr>
              <a:t>∘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可结合，若存在右单位元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，且每个元素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相对于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存在右逆元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，则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是群 </a:t>
            </a:r>
          </a:p>
          <a:p>
            <a:pPr eaLnBrk="1" hangingPunct="1">
              <a:lnSpc>
                <a:spcPct val="110000"/>
              </a:lnSpc>
              <a:spcBef>
                <a:spcPct val="6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证明   证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为左单位元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  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 e = e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为右单位元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e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a a</a:t>
            </a:r>
            <a:r>
              <a:rPr lang="en-US" altLang="zh-CN" sz="2400" b="1"/>
              <a:t>’</a:t>
            </a:r>
            <a:r>
              <a:rPr lang="en-US" altLang="zh-CN" sz="2400" b="1">
                <a:latin typeface="Times New Roman" panose="02020603050405020304" pitchFamily="18" charset="0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</a:rPr>
              <a:t>a a</a:t>
            </a:r>
            <a:r>
              <a:rPr lang="en-US" altLang="zh-CN" sz="2400" b="1"/>
              <a:t>’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(</a:t>
            </a:r>
            <a:r>
              <a:rPr lang="en-US" altLang="zh-CN" sz="2400" b="1" i="1">
                <a:latin typeface="Times New Roman" panose="02020603050405020304" pitchFamily="18" charset="0"/>
              </a:rPr>
              <a:t>e a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/>
              <a:t>’</a:t>
            </a:r>
            <a:r>
              <a:rPr lang="en-US" altLang="zh-CN" sz="2400" b="1">
                <a:latin typeface="Times New Roman" panose="02020603050405020304" pitchFamily="18" charset="0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</a:rPr>
              <a:t>a a</a:t>
            </a:r>
            <a:r>
              <a:rPr lang="en-US" altLang="zh-CN" sz="2400" b="1"/>
              <a:t>’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e a 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a   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右乘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的右逆元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eaLnBrk="1" hangingPunct="1">
              <a:lnSpc>
                <a:spcPct val="110000"/>
              </a:lnSpc>
              <a:spcBef>
                <a:spcPts val="18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的左逆元，即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sym typeface="Symbol" panose="05050102010706020507" pitchFamily="18" charset="2"/>
              </a:rPr>
              <a:t>’’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a</a:t>
            </a:r>
            <a:r>
              <a:rPr lang="en-US" altLang="zh-CN" sz="2400" b="1">
                <a:sym typeface="Symbol" panose="05050102010706020507" pitchFamily="18" charset="2"/>
              </a:rPr>
              <a:t>’’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e a</a:t>
            </a:r>
            <a:r>
              <a:rPr lang="en-US" altLang="zh-CN" sz="2400" b="1">
                <a:sym typeface="Symbol" panose="05050102010706020507" pitchFamily="18" charset="2"/>
              </a:rPr>
              <a:t>’’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a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sym typeface="Symbol" panose="05050102010706020507" pitchFamily="18" charset="2"/>
              </a:rPr>
              <a:t>’’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sym typeface="Symbol" panose="05050102010706020507" pitchFamily="18" charset="2"/>
              </a:rPr>
              <a:t>’’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e = a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>
            <a:extLst>
              <a:ext uri="{FF2B5EF4-FFF2-40B4-BE49-F238E27FC236}">
                <a16:creationId xmlns:a16="http://schemas.microsoft.com/office/drawing/2014/main" id="{4C693CFD-7471-4BEE-B38D-E1FA1A2E08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8913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群的有关术语</a:t>
            </a:r>
          </a:p>
        </p:txBody>
      </p:sp>
      <p:sp>
        <p:nvSpPr>
          <p:cNvPr id="1028" name="内容占位符 7">
            <a:extLst>
              <a:ext uri="{FF2B5EF4-FFF2-40B4-BE49-F238E27FC236}">
                <a16:creationId xmlns:a16="http://schemas.microsoft.com/office/drawing/2014/main" id="{08BC8070-CA72-4966-A312-722DF802E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125538"/>
            <a:ext cx="8229600" cy="49720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平凡群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只含单位元的群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交换群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Abel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群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有限群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与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无限群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群</a:t>
            </a:r>
            <a:r>
              <a:rPr lang="en-US" altLang="zh-CN" sz="2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的阶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的基数，通常有限群记为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元素 </a:t>
            </a:r>
            <a:r>
              <a:rPr lang="en-US" altLang="zh-CN" sz="2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 </a:t>
            </a:r>
            <a:r>
              <a:rPr lang="en-US" altLang="zh-CN" sz="2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次幂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4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元素 </a:t>
            </a:r>
            <a:r>
              <a:rPr lang="en-US" altLang="zh-CN" sz="2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的阶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r>
              <a:rPr lang="en-US" altLang="zh-CN" sz="2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：使得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CN" sz="2400" b="1" i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= e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成立的最小正整数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说明：有限群的元素都是有限阶，为群的阶的因子；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反之，元素都是有限阶的群不一定是有限群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9" name="灯片编号占位符 5">
            <a:extLst>
              <a:ext uri="{FF2B5EF4-FFF2-40B4-BE49-F238E27FC236}">
                <a16:creationId xmlns:a16="http://schemas.microsoft.com/office/drawing/2014/main" id="{B4E5F6B6-2142-437E-9E4D-69003BCB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DDDC256-EDCF-4A1D-9567-61619A206D75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026" name="Object 7">
            <a:extLst>
              <a:ext uri="{FF2B5EF4-FFF2-40B4-BE49-F238E27FC236}">
                <a16:creationId xmlns:a16="http://schemas.microsoft.com/office/drawing/2014/main" id="{726226C7-54DA-4525-BB31-CB27594ACD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87675" y="3068638"/>
          <a:ext cx="4037013" cy="1500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公式" r:id="rId4" imgW="1879560" imgH="698400" progId="Equation.3">
                  <p:embed/>
                </p:oleObj>
              </mc:Choice>
              <mc:Fallback>
                <p:oleObj name="公式" r:id="rId4" imgW="1879560" imgH="698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068638"/>
                        <a:ext cx="4037013" cy="1500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7064BE8F-CC5E-4910-9F06-5EA8F9F94F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群的性质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</p:txBody>
      </p:sp>
      <p:sp>
        <p:nvSpPr>
          <p:cNvPr id="2052" name="灯片编号占位符 5">
            <a:extLst>
              <a:ext uri="{FF2B5EF4-FFF2-40B4-BE49-F238E27FC236}">
                <a16:creationId xmlns:a16="http://schemas.microsoft.com/office/drawing/2014/main" id="{0ED8FB85-66D8-485F-8016-425525760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06B3AA7-A6E4-4C59-BCB9-AFE0D72450D6}" type="slidenum">
              <a:rPr lang="en-US" altLang="zh-CN">
                <a:solidFill>
                  <a:srgbClr val="898989"/>
                </a:solidFill>
              </a:rPr>
              <a:pPr eaLnBrk="1" hangingPunct="1"/>
              <a:t>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" name="内容占位符 7">
            <a:extLst>
              <a:ext uri="{FF2B5EF4-FFF2-40B4-BE49-F238E27FC236}">
                <a16:creationId xmlns:a16="http://schemas.microsoft.com/office/drawing/2014/main" id="{FF0D23D8-D297-452A-92AA-F950A3B91E63}"/>
              </a:ext>
            </a:extLst>
          </p:cNvPr>
          <p:cNvSpPr txBox="1">
            <a:spLocks/>
          </p:cNvSpPr>
          <p:nvPr/>
        </p:nvSpPr>
        <p:spPr>
          <a:xfrm>
            <a:off x="519113" y="1196975"/>
            <a:ext cx="8229600" cy="4972050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300"/>
              </a:spcBef>
              <a:defRPr/>
            </a:pPr>
            <a:r>
              <a:rPr lang="zh-CN" altLang="zh-C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定理</a:t>
            </a:r>
            <a:r>
              <a:rPr lang="en-US" altLang="zh-CN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2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幂运算规则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3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1.  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  <a:sym typeface="Symbol"/>
              </a:rPr>
              <a:t>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  <a:sym typeface="Symbol"/>
              </a:rPr>
              <a:t>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3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2.  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 b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  <a:sym typeface="Symbol"/>
              </a:rPr>
              <a:t>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  <a:sym typeface="Symbol"/>
              </a:rPr>
              <a:t>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  <a:sym typeface="Symbol"/>
              </a:rPr>
              <a:t>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300"/>
              </a:spcBef>
              <a:defRPr/>
            </a:pP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altLang="zh-CN" sz="2400" b="1" i="1" baseline="30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i="1" baseline="30000" dirty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= a</a:t>
            </a:r>
            <a:r>
              <a:rPr lang="en-US" altLang="zh-CN" sz="2400" b="1" i="1" baseline="30000" dirty="0">
                <a:latin typeface="Times New Roman" pitchFamily="18" charset="0"/>
                <a:cs typeface="Times New Roman" pitchFamily="18" charset="0"/>
              </a:rPr>
              <a:t>n + m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3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4.  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i="1" baseline="30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400" b="1" i="1" baseline="30000" dirty="0"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i="1" baseline="30000" dirty="0">
                <a:latin typeface="Times New Roman" pitchFamily="18" charset="0"/>
                <a:cs typeface="Times New Roman" pitchFamily="18" charset="0"/>
              </a:rPr>
              <a:t>n m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3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5. 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若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为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Abel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群，则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 b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400" b="1" i="1" baseline="30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i="1" baseline="30000" dirty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zh-CN" sz="2400" b="1" i="1" baseline="3000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1800"/>
              </a:spcBef>
              <a:defRPr/>
            </a:pP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说明：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300"/>
              </a:spcBef>
              <a:defRPr/>
            </a:pP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等式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1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证明用到逆元定义和唯一性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300"/>
              </a:spcBef>
              <a:defRPr/>
            </a:pP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等式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和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4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的证明使用归纳法并加以讨论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300"/>
              </a:spcBef>
              <a:defRPr/>
            </a:pP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等式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可以推广到有限个元素之积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，即</a:t>
            </a: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spcBef>
                <a:spcPts val="300"/>
              </a:spcBef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          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2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… a</a:t>
            </a:r>
            <a:r>
              <a:rPr lang="en-US" altLang="zh-CN" sz="2400" b="1" i="1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  <a:sym typeface="Symbol"/>
              </a:rPr>
              <a:t>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</a:rPr>
              <a:t>1 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i="1" baseline="-250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  <a:sym typeface="Symbol"/>
              </a:rPr>
              <a:t>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…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  <a:sym typeface="Symbol"/>
              </a:rPr>
              <a:t>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  <a:sym typeface="Symbol"/>
              </a:rPr>
              <a:t></a:t>
            </a:r>
            <a:r>
              <a:rPr lang="en-US" altLang="zh-CN" sz="2400" b="1" baseline="30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3">
            <a:extLst>
              <a:ext uri="{FF2B5EF4-FFF2-40B4-BE49-F238E27FC236}">
                <a16:creationId xmlns:a16="http://schemas.microsoft.com/office/drawing/2014/main" id="{12118EF0-488A-4E98-B741-E8E54D81A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125538"/>
            <a:ext cx="82153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</a:rPr>
              <a:t>方程 </a:t>
            </a:r>
            <a:r>
              <a:rPr lang="en-US" altLang="zh-CN" sz="2400" b="1" i="1">
                <a:latin typeface="Times New Roman" panose="02020603050405020304" pitchFamily="18" charset="0"/>
              </a:rPr>
              <a:t>a x = b </a:t>
            </a:r>
            <a:r>
              <a:rPr lang="zh-CN" altLang="en-US" sz="2400" b="1">
                <a:latin typeface="Times New Roman" panose="02020603050405020304" pitchFamily="18" charset="0"/>
              </a:rPr>
              <a:t>和 </a:t>
            </a:r>
            <a:r>
              <a:rPr lang="en-US" altLang="zh-CN" sz="2400" b="1" i="1">
                <a:latin typeface="Times New Roman" panose="02020603050405020304" pitchFamily="18" charset="0"/>
              </a:rPr>
              <a:t>y a = b </a:t>
            </a:r>
            <a:r>
              <a:rPr lang="zh-CN" altLang="en-US" sz="2400" b="1">
                <a:latin typeface="Times New Roman" panose="02020603050405020304" pitchFamily="18" charset="0"/>
              </a:rPr>
              <a:t>在群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中有解且有唯一解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E2348A47-2BFA-49D1-9866-3A53A86B9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群的性质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</a:p>
        </p:txBody>
      </p:sp>
      <p:sp>
        <p:nvSpPr>
          <p:cNvPr id="14340" name="灯片编号占位符 5">
            <a:extLst>
              <a:ext uri="{FF2B5EF4-FFF2-40B4-BE49-F238E27FC236}">
                <a16:creationId xmlns:a16="http://schemas.microsoft.com/office/drawing/2014/main" id="{56E26124-486F-4ED2-A00D-375EBFE7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7505F4C-918B-4670-8990-1F8519A7030D}" type="slidenum">
              <a:rPr lang="en-US" altLang="zh-CN">
                <a:solidFill>
                  <a:srgbClr val="898989"/>
                </a:solidFill>
              </a:rPr>
              <a:pPr eaLnBrk="1" hangingPunct="1"/>
              <a:t>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418CB26-8A55-47DC-954A-4FFFA71DF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2997200"/>
            <a:ext cx="82153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CC0000"/>
                </a:solidFill>
                <a:latin typeface="Times New Roman" panose="02020603050405020304" pitchFamily="18" charset="0"/>
              </a:rPr>
              <a:t>4</a:t>
            </a:r>
            <a:r>
              <a:rPr lang="en-US" altLang="zh-CN" sz="2400" b="1">
                <a:latin typeface="Times New Roman" panose="02020603050405020304" pitchFamily="18" charset="0"/>
              </a:rPr>
              <a:t> (</a:t>
            </a:r>
            <a:r>
              <a:rPr lang="zh-CN" altLang="en-US" sz="2400" b="1">
                <a:latin typeface="Times New Roman" panose="02020603050405020304" pitchFamily="18" charset="0"/>
              </a:rPr>
              <a:t>逆命题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  <a:r>
              <a:rPr lang="zh-CN" altLang="en-US" sz="2400" b="1">
                <a:latin typeface="Times New Roman" panose="02020603050405020304" pitchFamily="18" charset="0"/>
              </a:rPr>
              <a:t>设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</a:rPr>
              <a:t>是半群，如果对任意 </a:t>
            </a:r>
            <a:r>
              <a:rPr lang="en-US" altLang="zh-CN" sz="2400" b="1" i="1">
                <a:latin typeface="Times New Roman" panose="02020603050405020304" pitchFamily="18" charset="0"/>
              </a:rPr>
              <a:t>a,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，方程</a:t>
            </a:r>
          </a:p>
          <a:p>
            <a:pPr eaLnBrk="1" hangingPunct="1"/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x = b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和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 a = b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在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中有解，则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为群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BEF16AF-B543-4EE7-814D-518763B84A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700213"/>
            <a:ext cx="82153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证  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30000">
                <a:sym typeface="Symbol" panose="05050102010706020507" pitchFamily="18" charset="2"/>
              </a:rPr>
              <a:t></a:t>
            </a:r>
            <a:r>
              <a:rPr lang="en-US" altLang="zh-CN" sz="2400" baseline="30000"/>
              <a:t>1</a:t>
            </a:r>
            <a:r>
              <a:rPr lang="en-US" altLang="zh-CN" sz="2400" b="1" i="1">
                <a:latin typeface="Times New Roman" panose="02020603050405020304" pitchFamily="18" charset="0"/>
              </a:rPr>
              <a:t>b </a:t>
            </a:r>
            <a:r>
              <a:rPr lang="zh-CN" altLang="en-US" sz="2400" b="1">
                <a:latin typeface="Times New Roman" panose="02020603050405020304" pitchFamily="18" charset="0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</a:rPr>
              <a:t>a x = b </a:t>
            </a:r>
            <a:r>
              <a:rPr lang="zh-CN" altLang="en-US" sz="2400" b="1">
                <a:latin typeface="Times New Roman" panose="02020603050405020304" pitchFamily="18" charset="0"/>
              </a:rPr>
              <a:t>的解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假设 </a:t>
            </a:r>
            <a:r>
              <a:rPr lang="en-US" altLang="zh-CN" sz="2400" b="1" i="1">
                <a:latin typeface="Times New Roman" panose="02020603050405020304" pitchFamily="18" charset="0"/>
              </a:rPr>
              <a:t>c </a:t>
            </a:r>
            <a:r>
              <a:rPr lang="zh-CN" altLang="en-US" sz="2400" b="1">
                <a:latin typeface="Times New Roman" panose="02020603050405020304" pitchFamily="18" charset="0"/>
              </a:rPr>
              <a:t>为解，则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     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c = e c </a:t>
            </a:r>
            <a:r>
              <a:rPr lang="en-US" altLang="zh-CN" sz="2400" b="1">
                <a:latin typeface="Times New Roman" panose="02020603050405020304" pitchFamily="18" charset="0"/>
              </a:rPr>
              <a:t>= (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) </a:t>
            </a:r>
            <a:r>
              <a:rPr lang="en-US" altLang="zh-CN" sz="2400" b="1" i="1">
                <a:latin typeface="Times New Roman" panose="02020603050405020304" pitchFamily="18" charset="0"/>
              </a:rPr>
              <a:t>c </a:t>
            </a:r>
            <a:r>
              <a:rPr lang="en-US" altLang="zh-CN" sz="2400" b="1">
                <a:latin typeface="Times New Roman" panose="02020603050405020304" pitchFamily="18" charset="0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30000"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a c</a:t>
            </a:r>
            <a:r>
              <a:rPr lang="en-US" altLang="zh-CN" sz="2400" b="1">
                <a:latin typeface="Times New Roman" panose="02020603050405020304" pitchFamily="18" charset="0"/>
              </a:rPr>
              <a:t>) =</a:t>
            </a:r>
            <a:r>
              <a:rPr lang="en-US" altLang="zh-CN" sz="2400" b="1" i="1">
                <a:latin typeface="Times New Roman" panose="02020603050405020304" pitchFamily="18" charset="0"/>
              </a:rPr>
              <a:t> a</a:t>
            </a:r>
            <a:r>
              <a:rPr lang="en-US" altLang="zh-CN" sz="2400" b="1" baseline="30000"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53E6B8D-3DC7-49D6-AF79-B69EF7D07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3933825"/>
            <a:ext cx="821531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2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  找右单位元和任意元素的右逆元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任取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方程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 x =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的解记为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,    </a:t>
            </a:r>
            <a:r>
              <a:rPr lang="en-US" altLang="zh-CN" sz="2400" b="1" i="1">
                <a:latin typeface="Times New Roman" panose="02020603050405020304" pitchFamily="18" charset="0"/>
              </a:rPr>
              <a:t>y b = a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的解记为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即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 b = 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e =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e = c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 e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= c b = a </a:t>
            </a:r>
            <a:endParaRPr lang="en-US" altLang="zh-CN" sz="24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为右单位元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,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方程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x = e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有解，得到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相对于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的右逆元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/>
      <p:bldP spid="5" grpId="0"/>
      <p:bldP spid="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>
            <a:extLst>
              <a:ext uri="{FF2B5EF4-FFF2-40B4-BE49-F238E27FC236}">
                <a16:creationId xmlns:a16="http://schemas.microsoft.com/office/drawing/2014/main" id="{2CF3A287-C58B-4FD7-88D5-A78C0A2AA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" y="1125538"/>
            <a:ext cx="87487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09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5  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消去律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</a:rPr>
              <a:t>a b = a c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1" i="1">
                <a:latin typeface="Times New Roman" panose="02020603050405020304" pitchFamily="18" charset="0"/>
              </a:rPr>
              <a:t>b = c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</a:rPr>
              <a:t>b a = c a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1" i="1">
                <a:latin typeface="Times New Roman" panose="02020603050405020304" pitchFamily="18" charset="0"/>
              </a:rPr>
              <a:t>b = a   </a:t>
            </a:r>
            <a:endParaRPr lang="en-US" altLang="zh-CN" sz="2400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33DF1B5-48FA-425C-A9E5-AE3BC79F5E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群的性质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</a:p>
        </p:txBody>
      </p:sp>
      <p:sp>
        <p:nvSpPr>
          <p:cNvPr id="15364" name="灯片编号占位符 5">
            <a:extLst>
              <a:ext uri="{FF2B5EF4-FFF2-40B4-BE49-F238E27FC236}">
                <a16:creationId xmlns:a16="http://schemas.microsoft.com/office/drawing/2014/main" id="{4D56AEE6-7AD4-4D00-99FB-B925BB14B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47943B3-0213-420E-8976-F1E709803160}" type="slidenum">
              <a:rPr lang="en-US" altLang="zh-CN">
                <a:solidFill>
                  <a:srgbClr val="898989"/>
                </a:solidFill>
              </a:rPr>
              <a:pPr eaLnBrk="1" hangingPunct="1"/>
              <a:t>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708298E-A728-42EF-9542-78DF098A7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00213"/>
            <a:ext cx="8748713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09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70000"/>
              </a:spcBef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6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设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是有限半群，且不含零元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若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中成立消去律，</a:t>
            </a: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是群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BAF54BE-AB33-4BBC-A001-6686F2BF4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95550"/>
            <a:ext cx="8929688" cy="352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09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  设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{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>
                <a:sym typeface="Symbol" panose="05050102010706020507" pitchFamily="18" charset="2"/>
              </a:rPr>
              <a:t>…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，任取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{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=1, 2, </a:t>
            </a:r>
            <a:r>
              <a:rPr lang="en-US" altLang="zh-CN" sz="2400" b="1">
                <a:sym typeface="Symbol" panose="05050102010706020507" pitchFamily="18" charset="2"/>
              </a:rPr>
              <a:t>…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由封闭性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假设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|&lt;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则存在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j, k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使得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= 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根据消去律，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= 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矛盾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所以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任取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, 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,     </a:t>
            </a:r>
          </a:p>
          <a:p>
            <a:pPr eaLnBrk="1" hangingPunct="1">
              <a:lnSpc>
                <a:spcPts val="3200"/>
              </a:lnSpc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     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, 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方程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= 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有解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同理，方程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 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i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= a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有解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是群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    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ts val="3200"/>
              </a:lnSpc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注：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 Z</a:t>
            </a:r>
            <a:r>
              <a:rPr lang="en-US" altLang="zh-CN" sz="2400" b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5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 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不是群，因为有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；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&lt;Z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,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也不是群，无限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FE9253F1-82F9-4241-BE7B-10A90B8719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60350"/>
            <a:ext cx="8229600" cy="706438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群的性质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</a:p>
        </p:txBody>
      </p:sp>
      <p:graphicFrame>
        <p:nvGraphicFramePr>
          <p:cNvPr id="363524" name="Group 4">
            <a:extLst>
              <a:ext uri="{FF2B5EF4-FFF2-40B4-BE49-F238E27FC236}">
                <a16:creationId xmlns:a16="http://schemas.microsoft.com/office/drawing/2014/main" id="{3A1313DD-C10E-46E0-A09E-99BA5CD5415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56325" y="1700213"/>
          <a:ext cx="1749425" cy="1801350"/>
        </p:xfrm>
        <a:graphic>
          <a:graphicData uri="http://schemas.openxmlformats.org/drawingml/2006/table">
            <a:tbl>
              <a:tblPr/>
              <a:tblGrid>
                <a:gridCol w="431800">
                  <a:extLst>
                    <a:ext uri="{9D8B030D-6E8A-4147-A177-3AD203B41FA5}">
                      <a16:colId xmlns:a16="http://schemas.microsoft.com/office/drawing/2014/main" val="1407840680"/>
                    </a:ext>
                  </a:extLst>
                </a:gridCol>
                <a:gridCol w="1317625">
                  <a:extLst>
                    <a:ext uri="{9D8B030D-6E8A-4147-A177-3AD203B41FA5}">
                      <a16:colId xmlns:a16="http://schemas.microsoft.com/office/drawing/2014/main" val="1263719445"/>
                    </a:ext>
                  </a:extLst>
                </a:gridCol>
              </a:tblGrid>
              <a:tr h="4476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2000" marR="72000" marT="72000" marB="720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0   1   2</a:t>
                      </a:r>
                    </a:p>
                  </a:txBody>
                  <a:tcPr marL="72000" marR="72000" marT="72000" marB="72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6876293"/>
                  </a:ext>
                </a:extLst>
              </a:tr>
              <a:tr h="13525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3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137160" marR="137160" marT="137160" marB="13716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25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1   2   0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5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0   1   2 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25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2   0   1 </a:t>
                      </a:r>
                    </a:p>
                  </a:txBody>
                  <a:tcPr marL="137160" marR="137160" marT="137160" marB="13716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3065799"/>
                  </a:ext>
                </a:extLst>
              </a:tr>
            </a:tbl>
          </a:graphicData>
        </a:graphic>
      </p:graphicFrame>
      <p:sp>
        <p:nvSpPr>
          <p:cNvPr id="3087" name="Rectangle 15">
            <a:extLst>
              <a:ext uri="{FF2B5EF4-FFF2-40B4-BE49-F238E27FC236}">
                <a16:creationId xmlns:a16="http://schemas.microsoft.com/office/drawing/2014/main" id="{88ED3033-D98A-408A-9C91-0DF2188A9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225" y="1214438"/>
            <a:ext cx="7929563" cy="178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indent="228600" eaLnBrk="0" hangingPunct="0">
              <a:spcBef>
                <a:spcPts val="1200"/>
              </a:spcBef>
              <a:defRPr/>
            </a:pPr>
            <a:endParaRPr lang="zh-CN" altLang="en-US" sz="800" dirty="0"/>
          </a:p>
          <a:p>
            <a:pPr indent="304800" eaLnBrk="0" hangingPunct="0">
              <a:lnSpc>
                <a:spcPts val="120"/>
              </a:lnSpc>
              <a:defRPr/>
            </a:pPr>
            <a:r>
              <a:rPr lang="zh-CN" altLang="en-US" sz="2400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定理</a:t>
            </a:r>
            <a:r>
              <a:rPr lang="en-US" altLang="zh-CN" sz="2400" b="1" dirty="0">
                <a:solidFill>
                  <a:srgbClr val="CC0000"/>
                </a:solidFill>
                <a:latin typeface="Times New Roman" pitchFamily="18" charset="0"/>
                <a:cs typeface="Times New Roman" pitchFamily="18" charset="0"/>
              </a:rPr>
              <a:t>7  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有限群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G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的运算表中每行、每列都是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G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的置换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.  </a:t>
            </a:r>
            <a:endParaRPr lang="en-US" altLang="zh-CN" sz="2400" dirty="0"/>
          </a:p>
          <a:p>
            <a:pPr indent="228600" eaLnBrk="0" hangingPunct="0">
              <a:spcBef>
                <a:spcPts val="600"/>
              </a:spcBef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                        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aG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 = G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和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G a = G</a:t>
            </a:r>
            <a:endParaRPr lang="en-US" altLang="zh-CN" sz="2400" dirty="0"/>
          </a:p>
          <a:p>
            <a:pPr indent="228600" eaLnBrk="0" hangingPunct="0">
              <a:spcBef>
                <a:spcPts val="0"/>
              </a:spcBef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说明：   </a:t>
            </a: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 indent="228600" eaLnBrk="0" hangingPunct="0">
              <a:spcBef>
                <a:spcPts val="0"/>
              </a:spcBef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运算表的行列构成置换的不一定是群</a:t>
            </a: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 indent="228600" eaLnBrk="0" hangingPunct="0">
              <a:spcBef>
                <a:spcPts val="0"/>
              </a:spcBef>
              <a:defRPr/>
            </a:pPr>
            <a:r>
              <a:rPr lang="zh-CN" altLang="en-US" sz="2400" b="1" dirty="0"/>
              <a:t>反例：缺少单位元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31A7D8A8-78CC-4D03-BE63-833CED5A6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3213100"/>
            <a:ext cx="7993063" cy="277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6000" tIns="0" rIns="36000" bIns="0" anchor="ctr">
            <a:spAutoFit/>
          </a:bodyPr>
          <a:lstStyle/>
          <a:p>
            <a:pPr indent="228600" eaLnBrk="0" hangingPunct="0">
              <a:defRPr/>
            </a:pPr>
            <a:endParaRPr lang="zh-CN" altLang="en-US" sz="800" dirty="0"/>
          </a:p>
          <a:p>
            <a:pPr indent="304800" eaLnBrk="0" hangingPunct="0">
              <a:defRPr/>
            </a:pPr>
            <a:r>
              <a:rPr lang="zh-CN" altLang="en-US" sz="1200" b="1" dirty="0">
                <a:latin typeface="Times New Roman" pitchFamily="18" charset="0"/>
                <a:cs typeface="Times New Roman" pitchFamily="18" charset="0"/>
              </a:rPr>
              <a:t>  </a:t>
            </a:r>
            <a:endParaRPr lang="zh-CN" altLang="en-US" sz="800" dirty="0"/>
          </a:p>
          <a:p>
            <a:pPr indent="304800" eaLnBrk="0" hangingPunct="0">
              <a:lnSpc>
                <a:spcPts val="3200"/>
              </a:lnSpc>
              <a:defRPr/>
            </a:pP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思考：</a:t>
            </a:r>
            <a:endParaRPr lang="zh-CN" altLang="en-US" sz="2400" dirty="0"/>
          </a:p>
          <a:p>
            <a:pPr indent="304800" eaLnBrk="0" hangingPunct="0">
              <a:lnSpc>
                <a:spcPts val="3200"/>
              </a:lnSpc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1.  3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元集上的不同的二元运算有多少个？</a:t>
            </a:r>
            <a:endParaRPr lang="zh-CN" altLang="en-US" sz="2400" dirty="0"/>
          </a:p>
          <a:p>
            <a:pPr indent="304800" eaLnBrk="0" hangingPunct="0">
              <a:lnSpc>
                <a:spcPts val="3200"/>
              </a:lnSpc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2.  3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元集上二元运算表有多少个能够使得每行每列能够构 </a:t>
            </a: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 indent="304800" eaLnBrk="0" hangingPunct="0">
              <a:lnSpc>
                <a:spcPts val="3200"/>
              </a:lnSpc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成置换？</a:t>
            </a:r>
            <a:endParaRPr lang="zh-CN" altLang="en-US" sz="2400" dirty="0"/>
          </a:p>
          <a:p>
            <a:pPr indent="304800" eaLnBrk="0" hangingPunct="0">
              <a:lnSpc>
                <a:spcPts val="3200"/>
              </a:lnSpc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4.  3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元集上有多少个不同的运算表代表群？</a:t>
            </a:r>
            <a:endParaRPr lang="zh-CN" altLang="en-US" sz="2400" dirty="0"/>
          </a:p>
          <a:p>
            <a:pPr indent="304800" eaLnBrk="0" hangingPunct="0">
              <a:lnSpc>
                <a:spcPts val="3200"/>
              </a:lnSpc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5.  3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元集上同构的群有多少个？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34D13805-049D-42F2-AAF9-467D2E727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1268413"/>
            <a:ext cx="8569325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127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8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</a:rPr>
              <a:t>为群，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且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10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10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= e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 i="1">
                <a:latin typeface="Times New Roman" panose="02020603050405020304" pitchFamily="18" charset="0"/>
              </a:rPr>
              <a:t> r</a:t>
            </a:r>
            <a:r>
              <a:rPr lang="en-US" altLang="zh-CN" sz="2400" b="1">
                <a:latin typeface="Times New Roman" panose="02020603050405020304" pitchFamily="18" charset="0"/>
              </a:rPr>
              <a:t> | 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endParaRPr lang="en-US" altLang="zh-CN" sz="24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(2) |</a:t>
            </a:r>
            <a:r>
              <a:rPr lang="en-US" altLang="zh-CN" sz="10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10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 = |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(3)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若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10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10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9F1126A-CFE4-4266-B534-55AD0A0C48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群的性质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</a:p>
        </p:txBody>
      </p:sp>
      <p:sp>
        <p:nvSpPr>
          <p:cNvPr id="17412" name="灯片编号占位符 5">
            <a:extLst>
              <a:ext uri="{FF2B5EF4-FFF2-40B4-BE49-F238E27FC236}">
                <a16:creationId xmlns:a16="http://schemas.microsoft.com/office/drawing/2014/main" id="{09B2BFD0-801E-4C8B-A6EB-958FD8512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9D46393-B10A-42CF-840F-EE081EDCC88C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B44080-B00D-4CE8-A94C-5EBB02706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3" y="3141663"/>
            <a:ext cx="856932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127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充分性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r l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l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endParaRPr lang="en-US" altLang="zh-CN" sz="24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必要性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l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l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</a:rPr>
              <a:t>Z,  </a:t>
            </a:r>
            <a:r>
              <a:rPr lang="en-US" altLang="zh-CN" sz="2400" b="1" i="1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</a:rPr>
              <a:t>{ 0, 1, </a:t>
            </a:r>
            <a:r>
              <a:rPr lang="en-US" altLang="zh-CN" sz="2400" b="1"/>
              <a:t>…</a:t>
            </a:r>
            <a:r>
              <a:rPr lang="en-US" altLang="zh-CN" sz="2400" b="1">
                <a:latin typeface="Times New Roman" panose="02020603050405020304" pitchFamily="18" charset="0"/>
              </a:rPr>
              <a:t> ,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>
                <a:latin typeface="Times New Roman" panose="02020603050405020304" pitchFamily="18" charset="0"/>
              </a:rPr>
              <a:t>1}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e = a 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r l 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+ 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a 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i </a:t>
            </a:r>
            <a:r>
              <a:rPr lang="en-US" altLang="zh-CN" sz="2400" b="1">
                <a:latin typeface="Times New Roman" panose="02020603050405020304" pitchFamily="18" charset="0"/>
              </a:rPr>
              <a:t>= 0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</a:rPr>
              <a:t> | 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D44F9EF-2881-4B59-9827-617BF6CFC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4581525"/>
            <a:ext cx="856932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127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(2)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400" b="1">
                <a:latin typeface="Times New Roman" panose="02020603050405020304" pitchFamily="18" charset="0"/>
              </a:rPr>
              <a:t> |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存在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令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同理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t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A3C9B99-4778-40B3-83E7-8665E06130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5157788"/>
            <a:ext cx="8569325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127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(3)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假设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令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sym typeface="Symbol" panose="05050102010706020507" pitchFamily="18" charset="2"/>
              </a:rPr>
              <a:t>’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{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>
                <a:sym typeface="Symbol" panose="05050102010706020507" pitchFamily="18" charset="2"/>
              </a:rPr>
              <a:t>…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i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},  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中元素两两不 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同，否则与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10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10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矛盾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从而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| &gt;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，与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矛盾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  <a:r>
              <a:rPr lang="en-US" altLang="zh-CN" sz="240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EFBF09D-3D5C-427A-917A-3406577DEA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0"/>
            <a:ext cx="8229600" cy="90805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altLang="zh-CN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17.2 </a:t>
            </a:r>
            <a:r>
              <a:rPr lang="zh-CN" altLang="en-US" b="1" dirty="0">
                <a:solidFill>
                  <a:srgbClr val="CC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子群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348CDEA-D647-42C4-82F0-56E6E2662A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2300" y="1196975"/>
            <a:ext cx="7694613" cy="45307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/>
              <a:t>子群定义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zh-CN" altLang="en-US" sz="2800" b="1"/>
              <a:t>子群判别定理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zh-CN" altLang="en-US" sz="2800" b="1"/>
              <a:t>重要子群的实例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生成子群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中心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正规化子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共轭子群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1"/>
              <a:t>子群的交</a:t>
            </a:r>
          </a:p>
          <a:p>
            <a:pPr eaLnBrk="1" hangingPunct="1">
              <a:lnSpc>
                <a:spcPct val="90000"/>
              </a:lnSpc>
              <a:spcBef>
                <a:spcPts val="1200"/>
              </a:spcBef>
            </a:pPr>
            <a:r>
              <a:rPr lang="zh-CN" altLang="en-US" sz="2800" b="1"/>
              <a:t>子群格 </a:t>
            </a:r>
          </a:p>
          <a:p>
            <a:pPr eaLnBrk="1" hangingPunct="1">
              <a:lnSpc>
                <a:spcPct val="90000"/>
              </a:lnSpc>
            </a:pPr>
            <a:endParaRPr lang="en-US" altLang="zh-CN"/>
          </a:p>
        </p:txBody>
      </p:sp>
      <p:sp>
        <p:nvSpPr>
          <p:cNvPr id="22532" name="灯片编号占位符 5">
            <a:extLst>
              <a:ext uri="{FF2B5EF4-FFF2-40B4-BE49-F238E27FC236}">
                <a16:creationId xmlns:a16="http://schemas.microsoft.com/office/drawing/2014/main" id="{FEF947AC-6FB2-4D93-A6F1-21304C8C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71D199A-7452-4AC9-B7A6-EA4C1117C36A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8E94714-AE52-4BDB-A80B-5CFF977715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03200"/>
            <a:ext cx="8229600" cy="704850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子群定义 </a:t>
            </a:r>
          </a:p>
        </p:txBody>
      </p:sp>
      <p:sp>
        <p:nvSpPr>
          <p:cNvPr id="23556" name="灯片编号占位符 5">
            <a:extLst>
              <a:ext uri="{FF2B5EF4-FFF2-40B4-BE49-F238E27FC236}">
                <a16:creationId xmlns:a16="http://schemas.microsoft.com/office/drawing/2014/main" id="{8BBA226E-C1AF-417E-A43E-703D75F55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B6C6B50-8E2B-48FC-9C1D-A1D5DDD7646A}" type="slidenum">
              <a:rPr lang="en-US" altLang="zh-CN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64402C1-CEE2-4149-BC13-3F600DA97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1268413"/>
            <a:ext cx="8177212" cy="3868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04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</a:rPr>
              <a:t>定义</a:t>
            </a:r>
            <a:r>
              <a:rPr lang="zh-CN" altLang="en-US" sz="2400" b="1">
                <a:latin typeface="Times New Roman" panose="02020603050405020304" pitchFamily="18" charset="0"/>
              </a:rPr>
              <a:t>  设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为群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的非空子集，若 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</a:rPr>
              <a:t>关于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中运 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算构成群，则称 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</a:rPr>
              <a:t>为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的</a:t>
            </a:r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</a:rPr>
              <a:t>子群</a:t>
            </a:r>
            <a:r>
              <a:rPr lang="zh-CN" altLang="en-US" sz="2400" b="1">
                <a:latin typeface="Times New Roman" panose="02020603050405020304" pitchFamily="18" charset="0"/>
              </a:rPr>
              <a:t>，记作 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.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如果子群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的真子集，则称为</a:t>
            </a:r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真子群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，记作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</a:p>
          <a:p>
            <a:pPr eaLnBrk="1" hangingPunct="1">
              <a:lnSpc>
                <a:spcPct val="120000"/>
              </a:lnSpc>
              <a:spcBef>
                <a:spcPts val="18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说明：</a:t>
            </a: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1.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子群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就是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的子代数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2.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若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的单位元为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且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在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中相对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的逆元为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x e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e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/>
              <a:t>’</a:t>
            </a:r>
            <a:r>
              <a:rPr lang="en-US" altLang="zh-CN" sz="2400" b="1">
                <a:latin typeface="Times New Roman" panose="02020603050405020304" pitchFamily="18" charset="0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</a:rPr>
              <a:t>e </a:t>
            </a:r>
            <a:endParaRPr lang="en-US" altLang="zh-CN" sz="2400" b="1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x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e</a:t>
            </a:r>
            <a:r>
              <a:rPr lang="en-US" altLang="zh-CN" sz="2400" b="1">
                <a:sym typeface="Symbol" panose="05050102010706020507" pitchFamily="18" charset="2"/>
              </a:rPr>
              <a:t>’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x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/>
              <a:t>’</a:t>
            </a:r>
            <a:r>
              <a:rPr lang="en-US" altLang="zh-CN" sz="2400" b="1">
                <a:latin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</a:rPr>
              <a:t>x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28556251-C706-47D9-9306-F285F350C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子群判定定理一</a:t>
            </a:r>
          </a:p>
        </p:txBody>
      </p:sp>
      <p:sp>
        <p:nvSpPr>
          <p:cNvPr id="24580" name="灯片编号占位符 5">
            <a:extLst>
              <a:ext uri="{FF2B5EF4-FFF2-40B4-BE49-F238E27FC236}">
                <a16:creationId xmlns:a16="http://schemas.microsoft.com/office/drawing/2014/main" id="{9746C3B9-749A-485B-B879-CA8D0140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BB82165-2D71-4DF7-BA0B-7C60D65DC4AF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9BF5143A-46B8-4789-A483-6E2AEEBF7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484313"/>
            <a:ext cx="7993062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76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CC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是群，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的非空子集，则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        </a:t>
            </a:r>
            <a:r>
              <a:rPr lang="zh-CN" altLang="en-US" sz="2400" b="1" i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a,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</a:rPr>
              <a:t>a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endParaRPr lang="en-US" altLang="zh-CN" sz="2400" b="1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证：只证充分性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非空，存在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属于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由条件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属于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由条件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，有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属于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即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属于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572F6712-0983-42CD-AD0A-6C6E73D5C5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子群判定定理二和三</a:t>
            </a:r>
          </a:p>
        </p:txBody>
      </p:sp>
      <p:sp>
        <p:nvSpPr>
          <p:cNvPr id="25604" name="灯片编号占位符 5">
            <a:extLst>
              <a:ext uri="{FF2B5EF4-FFF2-40B4-BE49-F238E27FC236}">
                <a16:creationId xmlns:a16="http://schemas.microsoft.com/office/drawing/2014/main" id="{109C2818-FB8F-4CC1-8504-DA8586D28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CFEF2E0-AB6E-4B50-994E-3A96C95E3015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7707B6C-1878-41BA-8E04-F6E7B6410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" y="1268413"/>
            <a:ext cx="7961313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</a:rPr>
              <a:t>定理</a:t>
            </a:r>
            <a:r>
              <a:rPr lang="en-US" altLang="zh-CN" sz="2400" b="1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是群，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</a:rPr>
              <a:t>是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的非空子集，则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a,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a b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endParaRPr lang="en-US" altLang="zh-CN" sz="24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  充分性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 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 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1" i="1">
                <a:latin typeface="Times New Roman" panose="02020603050405020304" pitchFamily="18" charset="0"/>
              </a:rPr>
              <a:t>b b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e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endParaRPr lang="en-US" altLang="zh-CN" sz="24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   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e 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endParaRPr lang="en-US" altLang="zh-CN" sz="24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a,b,     a,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  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   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 i="1">
                <a:latin typeface="Times New Roman" panose="02020603050405020304" pitchFamily="18" charset="0"/>
              </a:rPr>
              <a:t> a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endParaRPr lang="en-US" altLang="zh-CN" sz="2400" b="1" i="1">
              <a:latin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A17459C7-1C4F-473C-A00D-FED65013A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365625"/>
            <a:ext cx="7961312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定理</a:t>
            </a:r>
            <a:r>
              <a:rPr lang="en-US" altLang="zh-CN" sz="2400" b="1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是群，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的有限非空子集，则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   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</a:rPr>
              <a:t>a,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</a:rPr>
              <a:t>a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endParaRPr lang="en-US" altLang="zh-CN" sz="24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证明见教科书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>
            <a:extLst>
              <a:ext uri="{FF2B5EF4-FFF2-40B4-BE49-F238E27FC236}">
                <a16:creationId xmlns:a16="http://schemas.microsoft.com/office/drawing/2014/main" id="{4428AF6B-F62F-4BAD-8D2A-6CDFE9F558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0550" y="188913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重要子群的实例</a:t>
            </a:r>
          </a:p>
        </p:txBody>
      </p:sp>
      <p:graphicFrame>
        <p:nvGraphicFramePr>
          <p:cNvPr id="2050" name="Object 4">
            <a:extLst>
              <a:ext uri="{FF2B5EF4-FFF2-40B4-BE49-F238E27FC236}">
                <a16:creationId xmlns:a16="http://schemas.microsoft.com/office/drawing/2014/main" id="{2065607E-88F4-4B71-BD12-1A7B87E3DC89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2339975" y="2060575"/>
          <a:ext cx="6018213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公式" r:id="rId4" imgW="3136680" imgH="253800" progId="Equation.3">
                  <p:embed/>
                </p:oleObj>
              </mc:Choice>
              <mc:Fallback>
                <p:oleObj name="公式" r:id="rId4" imgW="3136680" imgH="253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060575"/>
                        <a:ext cx="6018213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灯片编号占位符 6">
            <a:extLst>
              <a:ext uri="{FF2B5EF4-FFF2-40B4-BE49-F238E27FC236}">
                <a16:creationId xmlns:a16="http://schemas.microsoft.com/office/drawing/2014/main" id="{09891565-2C93-417A-AAD7-848DFE7B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41AEFD35-E26D-48BC-BE89-F4B381477163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52" name="Rectangle 3">
            <a:extLst>
              <a:ext uri="{FF2B5EF4-FFF2-40B4-BE49-F238E27FC236}">
                <a16:creationId xmlns:a16="http://schemas.microsoft.com/office/drawing/2014/main" id="{03EA3E80-59E7-48F0-B3F1-CD45DEA4EC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908050"/>
            <a:ext cx="8464550" cy="534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indent="360000">
              <a:spcBef>
                <a:spcPts val="300"/>
              </a:spcBef>
              <a:tabLst>
                <a:tab pos="342900" algn="l"/>
              </a:tabLst>
              <a:defRPr/>
            </a:pPr>
            <a:r>
              <a:rPr lang="en-US" altLang="zh-CN" sz="2400" b="1" dirty="0">
                <a:latin typeface="Times New Roman" pitchFamily="18" charset="0"/>
              </a:rPr>
              <a:t>1.  </a:t>
            </a:r>
            <a:r>
              <a:rPr lang="en-US" altLang="zh-CN" sz="2400" b="1" i="1" dirty="0">
                <a:solidFill>
                  <a:srgbClr val="CC0000"/>
                </a:solidFill>
                <a:latin typeface="Times New Roman" pitchFamily="18" charset="0"/>
              </a:rPr>
              <a:t>a</a:t>
            </a:r>
            <a:r>
              <a:rPr lang="zh-CN" altLang="en-US" sz="2400" b="1" dirty="0">
                <a:solidFill>
                  <a:srgbClr val="CC0000"/>
                </a:solidFill>
                <a:latin typeface="Times New Roman" pitchFamily="18" charset="0"/>
              </a:rPr>
              <a:t>生成子群</a:t>
            </a:r>
            <a:r>
              <a:rPr lang="zh-CN" altLang="en-US" sz="2400" b="1" dirty="0">
                <a:solidFill>
                  <a:schemeClr val="tx2"/>
                </a:solidFill>
                <a:latin typeface="Times New Roman" pitchFamily="18" charset="0"/>
              </a:rPr>
              <a:t>  </a:t>
            </a:r>
            <a:r>
              <a:rPr lang="en-US" altLang="zh-CN" sz="2400" b="1" dirty="0">
                <a:latin typeface="Times New Roman" pitchFamily="18" charset="0"/>
              </a:rPr>
              <a:t>&lt; </a:t>
            </a:r>
            <a:r>
              <a:rPr lang="en-US" altLang="zh-CN" sz="2400" b="1" i="1" dirty="0">
                <a:latin typeface="Times New Roman" pitchFamily="18" charset="0"/>
              </a:rPr>
              <a:t>a </a:t>
            </a:r>
            <a:r>
              <a:rPr lang="en-US" altLang="zh-CN" sz="2400" b="1" dirty="0">
                <a:latin typeface="Times New Roman" pitchFamily="18" charset="0"/>
              </a:rPr>
              <a:t>&gt; = { 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sz="2400" b="1" i="1" baseline="30000" dirty="0" err="1">
                <a:latin typeface="Times New Roman" pitchFamily="18" charset="0"/>
              </a:rPr>
              <a:t>k</a:t>
            </a:r>
            <a:r>
              <a:rPr lang="en-US" altLang="zh-CN" sz="2400" b="1" dirty="0">
                <a:latin typeface="Times New Roman" pitchFamily="18" charset="0"/>
              </a:rPr>
              <a:t> | </a:t>
            </a:r>
            <a:r>
              <a:rPr lang="en-US" altLang="zh-CN" sz="2400" b="1" i="1" dirty="0" err="1">
                <a:latin typeface="Times New Roman" pitchFamily="18" charset="0"/>
              </a:rPr>
              <a:t>k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dirty="0" err="1">
                <a:latin typeface="Times New Roman" pitchFamily="18" charset="0"/>
              </a:rPr>
              <a:t>Z</a:t>
            </a:r>
            <a:r>
              <a:rPr lang="en-US" altLang="zh-CN" sz="2400" b="1" i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</a:rPr>
              <a:t>} </a:t>
            </a:r>
            <a:r>
              <a:rPr lang="zh-CN" altLang="en-US" sz="2400" b="1" dirty="0">
                <a:latin typeface="Times New Roman" pitchFamily="18" charset="0"/>
              </a:rPr>
              <a:t>， 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  <a:sym typeface="Symbol" pitchFamily="18" charset="2"/>
              </a:rPr>
              <a:t>G</a:t>
            </a:r>
            <a:r>
              <a:rPr lang="en-US" altLang="zh-CN" sz="4200" i="1" dirty="0">
                <a:latin typeface="Times New Roman" pitchFamily="18" charset="0"/>
              </a:rPr>
              <a:t> </a:t>
            </a:r>
            <a:endParaRPr lang="en-US" altLang="zh-CN" sz="2400" b="1" dirty="0">
              <a:latin typeface="Times New Roman" pitchFamily="18" charset="0"/>
            </a:endParaRPr>
          </a:p>
          <a:p>
            <a:pPr indent="360000">
              <a:spcBef>
                <a:spcPts val="300"/>
              </a:spcBef>
              <a:tabLst>
                <a:tab pos="342900" algn="l"/>
              </a:tabLst>
              <a:defRPr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2.  </a:t>
            </a:r>
            <a:r>
              <a:rPr lang="en-US" altLang="zh-CN" sz="2400" b="1" i="1" dirty="0">
                <a:solidFill>
                  <a:srgbClr val="CC0000"/>
                </a:solidFill>
                <a:latin typeface="Times New Roman" pitchFamily="18" charset="0"/>
                <a:sym typeface="Symbol" pitchFamily="18" charset="2"/>
              </a:rPr>
              <a:t>B</a:t>
            </a:r>
            <a:r>
              <a:rPr lang="zh-CN" altLang="en-US" sz="2400" b="1" dirty="0">
                <a:solidFill>
                  <a:srgbClr val="CC0000"/>
                </a:solidFill>
                <a:latin typeface="Times New Roman" pitchFamily="18" charset="0"/>
                <a:sym typeface="Symbol" pitchFamily="18" charset="2"/>
              </a:rPr>
              <a:t>生成子群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&lt;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B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&gt; = {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H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|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H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 </a:t>
            </a:r>
            <a:r>
              <a:rPr lang="en-US" altLang="zh-CN" sz="2400" b="1" i="1" dirty="0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</a:rPr>
              <a:t>B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 </a:t>
            </a:r>
            <a:r>
              <a:rPr lang="en-US" altLang="zh-CN" sz="2400" b="1" i="1" dirty="0">
                <a:latin typeface="Times New Roman" pitchFamily="18" charset="0"/>
              </a:rPr>
              <a:t>H </a:t>
            </a:r>
            <a:r>
              <a:rPr lang="en-US" altLang="zh-CN" sz="2400" b="1" dirty="0">
                <a:latin typeface="Times New Roman" pitchFamily="18" charset="0"/>
              </a:rPr>
              <a:t>},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B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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G</a:t>
            </a:r>
            <a:endParaRPr lang="en-US" altLang="zh-CN" sz="2400" b="1" dirty="0">
              <a:latin typeface="Times New Roman" pitchFamily="18" charset="0"/>
            </a:endParaRPr>
          </a:p>
          <a:p>
            <a:pPr indent="360000">
              <a:spcBef>
                <a:spcPts val="600"/>
              </a:spcBef>
              <a:tabLst>
                <a:tab pos="342900" algn="l"/>
              </a:tabLst>
              <a:defRPr/>
            </a:pPr>
            <a:r>
              <a:rPr lang="en-US" altLang="zh-CN" sz="2400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       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&lt;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B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&gt; =</a:t>
            </a:r>
          </a:p>
          <a:p>
            <a:pPr indent="360000">
              <a:spcBef>
                <a:spcPts val="1200"/>
              </a:spcBef>
              <a:tabLst>
                <a:tab pos="342900" algn="l"/>
              </a:tabLst>
              <a:defRPr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3.  </a:t>
            </a:r>
            <a:r>
              <a:rPr lang="zh-CN" altLang="en-US" sz="2400" b="1" dirty="0">
                <a:solidFill>
                  <a:srgbClr val="CC0000"/>
                </a:solidFill>
                <a:latin typeface="Times New Roman" pitchFamily="18" charset="0"/>
                <a:sym typeface="Symbol" pitchFamily="18" charset="2"/>
              </a:rPr>
              <a:t>中心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               </a:t>
            </a:r>
            <a:r>
              <a:rPr lang="zh-CN" altLang="en-US" sz="2400" b="1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C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= {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a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| </a:t>
            </a:r>
            <a:r>
              <a:rPr lang="en-US" altLang="zh-CN" sz="2400" b="1" i="1" dirty="0" err="1">
                <a:latin typeface="Times New Roman" pitchFamily="18" charset="0"/>
                <a:sym typeface="Symbol" pitchFamily="18" charset="2"/>
              </a:rPr>
              <a:t>a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G</a:t>
            </a:r>
            <a:r>
              <a:rPr lang="en-US" altLang="zh-CN" sz="2400" b="1" i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a x = x a</a:t>
            </a:r>
            <a:r>
              <a:rPr lang="en-US" altLang="zh-CN" sz="2400" b="1" dirty="0">
                <a:latin typeface="Times New Roman" pitchFamily="18" charset="0"/>
              </a:rPr>
              <a:t>) }</a:t>
            </a:r>
            <a:r>
              <a:rPr lang="en-US" altLang="zh-CN" sz="2400" b="1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           </a:t>
            </a:r>
            <a:endParaRPr lang="en-US" altLang="zh-CN" sz="2400" dirty="0">
              <a:solidFill>
                <a:schemeClr val="tx2"/>
              </a:solidFill>
              <a:latin typeface="Times New Roman" pitchFamily="18" charset="0"/>
              <a:sym typeface="Symbol" pitchFamily="18" charset="2"/>
            </a:endParaRPr>
          </a:p>
          <a:p>
            <a:pPr indent="360000">
              <a:spcBef>
                <a:spcPts val="300"/>
              </a:spcBef>
              <a:tabLst>
                <a:tab pos="342900" algn="l"/>
              </a:tabLst>
              <a:defRPr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4.  </a:t>
            </a:r>
            <a:r>
              <a:rPr lang="en-US" altLang="zh-CN" sz="2400" b="1" i="1" dirty="0">
                <a:solidFill>
                  <a:srgbClr val="CC0000"/>
                </a:solidFill>
                <a:latin typeface="Times New Roman" pitchFamily="18" charset="0"/>
                <a:sym typeface="Symbol" pitchFamily="18" charset="2"/>
              </a:rPr>
              <a:t>a </a:t>
            </a:r>
            <a:r>
              <a:rPr lang="zh-CN" altLang="en-US" sz="2400" b="1" dirty="0">
                <a:solidFill>
                  <a:srgbClr val="CC0000"/>
                </a:solidFill>
                <a:latin typeface="Times New Roman" pitchFamily="18" charset="0"/>
                <a:sym typeface="Symbol" pitchFamily="18" charset="2"/>
              </a:rPr>
              <a:t>的正规化子</a:t>
            </a:r>
            <a:r>
              <a:rPr lang="zh-CN" altLang="en-US" sz="2400" b="1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N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a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) = {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| </a:t>
            </a:r>
            <a:r>
              <a:rPr lang="en-US" altLang="zh-CN" sz="2400" b="1" i="1" dirty="0" err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</a:rPr>
              <a:t>x a = a x </a:t>
            </a:r>
            <a:r>
              <a:rPr lang="en-US" altLang="zh-CN" sz="2400" b="1" dirty="0">
                <a:latin typeface="Times New Roman" pitchFamily="18" charset="0"/>
              </a:rPr>
              <a:t>},  </a:t>
            </a:r>
            <a:r>
              <a:rPr lang="en-US" altLang="zh-CN" sz="2400" b="1" i="1" dirty="0" err="1">
                <a:latin typeface="Times New Roman" pitchFamily="18" charset="0"/>
              </a:rPr>
              <a:t>a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  <a:sym typeface="Symbol" pitchFamily="18" charset="2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</a:p>
          <a:p>
            <a:pPr indent="360000">
              <a:spcBef>
                <a:spcPts val="300"/>
              </a:spcBef>
              <a:tabLst>
                <a:tab pos="342900" algn="l"/>
              </a:tabLst>
              <a:defRPr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5.  </a:t>
            </a:r>
            <a:r>
              <a:rPr lang="en-US" altLang="zh-CN" sz="2400" b="1" i="1" dirty="0">
                <a:solidFill>
                  <a:srgbClr val="CC0000"/>
                </a:solidFill>
                <a:latin typeface="Times New Roman" pitchFamily="18" charset="0"/>
                <a:sym typeface="Symbol" pitchFamily="18" charset="2"/>
              </a:rPr>
              <a:t>H </a:t>
            </a:r>
            <a:r>
              <a:rPr lang="zh-CN" altLang="en-US" sz="2400" b="1" dirty="0">
                <a:solidFill>
                  <a:srgbClr val="CC0000"/>
                </a:solidFill>
                <a:latin typeface="Times New Roman" pitchFamily="18" charset="0"/>
                <a:sym typeface="Symbol" pitchFamily="18" charset="2"/>
              </a:rPr>
              <a:t>的正规化子</a:t>
            </a:r>
            <a:r>
              <a:rPr lang="zh-CN" altLang="en-US" sz="2400" b="1" i="1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N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(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H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) = {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| </a:t>
            </a:r>
            <a:r>
              <a:rPr lang="en-US" altLang="zh-CN" sz="2400" b="1" i="1" dirty="0" err="1">
                <a:latin typeface="Times New Roman" pitchFamily="18" charset="0"/>
                <a:sym typeface="Symbol" pitchFamily="18" charset="2"/>
              </a:rPr>
              <a:t>x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en-US" altLang="zh-CN" sz="2400" b="1" i="1" dirty="0">
                <a:latin typeface="Times New Roman" pitchFamily="18" charset="0"/>
              </a:rPr>
              <a:t>x H x</a:t>
            </a:r>
            <a:r>
              <a:rPr lang="en-US" altLang="zh-CN" sz="2400" b="1" baseline="30000" dirty="0">
                <a:latin typeface="Times New Roman" pitchFamily="18" charset="0"/>
                <a:sym typeface="Symbol" pitchFamily="18" charset="2"/>
              </a:rPr>
              <a:t>1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=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H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},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H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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G</a:t>
            </a:r>
            <a:endParaRPr lang="en-US" altLang="zh-CN" sz="2400" i="1" dirty="0">
              <a:latin typeface="Times New Roman" pitchFamily="18" charset="0"/>
              <a:sym typeface="Symbol" pitchFamily="18" charset="2"/>
            </a:endParaRPr>
          </a:p>
          <a:p>
            <a:pPr indent="360000">
              <a:spcBef>
                <a:spcPts val="300"/>
              </a:spcBef>
              <a:tabLst>
                <a:tab pos="342900" algn="l"/>
              </a:tabLst>
              <a:defRPr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6.  </a:t>
            </a:r>
            <a:r>
              <a:rPr lang="zh-CN" altLang="en-US" sz="2400" b="1" dirty="0">
                <a:solidFill>
                  <a:srgbClr val="CC0000"/>
                </a:solidFill>
                <a:latin typeface="Times New Roman" pitchFamily="18" charset="0"/>
                <a:sym typeface="Symbol" pitchFamily="18" charset="2"/>
              </a:rPr>
              <a:t>共轭子群  </a:t>
            </a:r>
            <a:r>
              <a:rPr lang="zh-CN" altLang="en-US" sz="24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     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x H x</a:t>
            </a:r>
            <a:r>
              <a:rPr lang="en-US" altLang="zh-CN" sz="2400" b="1" baseline="30000" dirty="0">
                <a:latin typeface="Times New Roman" pitchFamily="18" charset="0"/>
                <a:sym typeface="Symbol" pitchFamily="18" charset="2"/>
              </a:rPr>
              <a:t>1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= {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x h x</a:t>
            </a:r>
            <a:r>
              <a:rPr lang="en-US" altLang="zh-CN" sz="2400" b="1" i="1" baseline="30000" dirty="0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sz="2400" b="1" baseline="30000" dirty="0">
                <a:latin typeface="Times New Roman" pitchFamily="18" charset="0"/>
                <a:sym typeface="Symbol" pitchFamily="18" charset="2"/>
              </a:rPr>
              <a:t>1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| </a:t>
            </a:r>
            <a:r>
              <a:rPr lang="en-US" altLang="zh-CN" sz="2400" b="1" i="1" dirty="0" err="1">
                <a:latin typeface="Times New Roman" pitchFamily="18" charset="0"/>
                <a:sym typeface="Symbol" pitchFamily="18" charset="2"/>
              </a:rPr>
              <a:t>h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H</a:t>
            </a:r>
            <a:r>
              <a:rPr lang="en-US" altLang="zh-CN" sz="2400" b="1" i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</a:rPr>
              <a:t>} </a:t>
            </a:r>
            <a:endParaRPr lang="en-US" altLang="zh-CN" sz="2400" dirty="0">
              <a:latin typeface="Times New Roman" pitchFamily="18" charset="0"/>
              <a:sym typeface="Symbol" pitchFamily="18" charset="2"/>
            </a:endParaRPr>
          </a:p>
          <a:p>
            <a:pPr indent="360000">
              <a:spcBef>
                <a:spcPts val="300"/>
              </a:spcBef>
              <a:tabLst>
                <a:tab pos="342900" algn="l"/>
              </a:tabLst>
              <a:defRPr/>
            </a:pP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                    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      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其中</a:t>
            </a:r>
            <a:r>
              <a:rPr lang="zh-CN" altLang="en-US" sz="2400" b="1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H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 </a:t>
            </a:r>
            <a:r>
              <a:rPr lang="en-US" altLang="zh-CN" sz="2400" b="1" i="1" dirty="0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,  </a:t>
            </a:r>
            <a:r>
              <a:rPr lang="en-US" altLang="zh-CN" sz="2400" b="1" i="1" dirty="0" err="1">
                <a:latin typeface="Times New Roman" pitchFamily="18" charset="0"/>
              </a:rPr>
              <a:t>x</a:t>
            </a:r>
            <a:r>
              <a:rPr lang="en-US" altLang="zh-CN" sz="2400" b="1" dirty="0" err="1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dirty="0" err="1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endParaRPr lang="en-US" altLang="zh-CN" sz="2400" dirty="0">
              <a:latin typeface="Times New Roman" pitchFamily="18" charset="0"/>
              <a:sym typeface="Symbol" pitchFamily="18" charset="2"/>
            </a:endParaRPr>
          </a:p>
          <a:p>
            <a:pPr indent="360000">
              <a:spcBef>
                <a:spcPts val="300"/>
              </a:spcBef>
              <a:tabLst>
                <a:tab pos="342900" algn="l"/>
              </a:tabLst>
              <a:defRPr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7.  </a:t>
            </a:r>
            <a:r>
              <a:rPr lang="zh-CN" altLang="en-US" sz="2400" b="1" dirty="0">
                <a:solidFill>
                  <a:srgbClr val="CC0000"/>
                </a:solidFill>
                <a:latin typeface="Times New Roman" pitchFamily="18" charset="0"/>
                <a:sym typeface="Symbol" pitchFamily="18" charset="2"/>
              </a:rPr>
              <a:t>子群的交</a:t>
            </a:r>
          </a:p>
          <a:p>
            <a:pPr indent="684213">
              <a:spcBef>
                <a:spcPts val="300"/>
              </a:spcBef>
              <a:tabLst>
                <a:tab pos="342900" algn="l"/>
              </a:tabLst>
              <a:defRPr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zh-CN" altLang="en-US" sz="2400" b="1" dirty="0">
                <a:solidFill>
                  <a:schemeClr val="tx2"/>
                </a:solidFill>
                <a:latin typeface="Times New Roman" pitchFamily="18" charset="0"/>
                <a:sym typeface="Symbol" pitchFamily="18" charset="2"/>
              </a:rPr>
              <a:t>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H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,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K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 </a:t>
            </a:r>
            <a:r>
              <a:rPr lang="en-US" altLang="zh-CN" sz="2400" b="1" i="1" dirty="0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, </a:t>
            </a: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则 </a:t>
            </a:r>
            <a:endParaRPr lang="zh-CN" altLang="en-US" sz="2400" dirty="0">
              <a:latin typeface="Times New Roman" pitchFamily="18" charset="0"/>
              <a:sym typeface="Symbol" pitchFamily="18" charset="2"/>
            </a:endParaRPr>
          </a:p>
          <a:p>
            <a:pPr indent="684213">
              <a:spcBef>
                <a:spcPts val="300"/>
              </a:spcBef>
              <a:tabLst>
                <a:tab pos="342900" algn="l"/>
              </a:tabLst>
              <a:defRPr/>
            </a:pPr>
            <a:r>
              <a:rPr lang="zh-CN" altLang="en-US" sz="2400" b="1" dirty="0">
                <a:latin typeface="Times New Roman" pitchFamily="18" charset="0"/>
                <a:sym typeface="Symbol" pitchFamily="18" charset="2"/>
              </a:rPr>
              <a:t> 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(1)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 H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</a:t>
            </a:r>
            <a:r>
              <a:rPr lang="en-US" altLang="zh-CN" sz="2400" b="1" i="1" dirty="0">
                <a:latin typeface="Times New Roman" pitchFamily="18" charset="0"/>
              </a:rPr>
              <a:t>K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 </a:t>
            </a:r>
            <a:r>
              <a:rPr lang="en-US" altLang="zh-CN" sz="2400" b="1" i="1" dirty="0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endParaRPr lang="en-US" altLang="zh-CN" sz="2400" dirty="0">
              <a:latin typeface="Times New Roman" pitchFamily="18" charset="0"/>
              <a:sym typeface="Symbol" pitchFamily="18" charset="2"/>
            </a:endParaRPr>
          </a:p>
          <a:p>
            <a:pPr indent="684213">
              <a:spcBef>
                <a:spcPts val="300"/>
              </a:spcBef>
              <a:tabLst>
                <a:tab pos="342900" algn="l"/>
              </a:tabLst>
              <a:defRPr/>
            </a:pP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  (2) </a:t>
            </a:r>
            <a:r>
              <a:rPr lang="en-US" altLang="zh-CN" sz="2400" b="1" i="1" dirty="0">
                <a:latin typeface="Times New Roman" pitchFamily="18" charset="0"/>
                <a:sym typeface="Symbol" pitchFamily="18" charset="2"/>
              </a:rPr>
              <a:t>H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</a:t>
            </a:r>
            <a:r>
              <a:rPr lang="en-US" altLang="zh-CN" sz="2400" b="1" i="1" dirty="0">
                <a:latin typeface="Times New Roman" pitchFamily="18" charset="0"/>
              </a:rPr>
              <a:t>K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 </a:t>
            </a:r>
            <a:r>
              <a:rPr lang="en-US" altLang="zh-CN" sz="2400" b="1" i="1" dirty="0">
                <a:latin typeface="Times New Roman" pitchFamily="18" charset="0"/>
              </a:rPr>
              <a:t>G</a:t>
            </a:r>
            <a:r>
              <a:rPr lang="en-US" altLang="zh-CN" sz="2400" b="1" dirty="0">
                <a:latin typeface="Times New Roman" pitchFamily="18" charset="0"/>
              </a:rPr>
              <a:t>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</a:t>
            </a:r>
            <a:r>
              <a:rPr lang="en-US" altLang="zh-CN" sz="2400" b="1" i="1" dirty="0">
                <a:latin typeface="Times New Roman" pitchFamily="18" charset="0"/>
              </a:rPr>
              <a:t> H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 </a:t>
            </a:r>
            <a:r>
              <a:rPr lang="en-US" altLang="zh-CN" sz="2400" b="1" i="1" dirty="0">
                <a:latin typeface="Times New Roman" pitchFamily="18" charset="0"/>
              </a:rPr>
              <a:t>K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 </a:t>
            </a:r>
            <a:r>
              <a:rPr lang="en-US" altLang="zh-CN" sz="2400" b="1" i="1" dirty="0">
                <a:latin typeface="Times New Roman" pitchFamily="18" charset="0"/>
              </a:rPr>
              <a:t>K </a:t>
            </a:r>
            <a:r>
              <a:rPr lang="en-US" altLang="zh-CN" sz="2400" b="1" dirty="0">
                <a:latin typeface="Times New Roman" pitchFamily="18" charset="0"/>
                <a:sym typeface="Symbol" pitchFamily="18" charset="2"/>
              </a:rPr>
              <a:t> </a:t>
            </a:r>
            <a:r>
              <a:rPr lang="en-US" altLang="zh-CN" sz="2400" b="1" i="1" dirty="0">
                <a:latin typeface="Times New Roman" pitchFamily="18" charset="0"/>
              </a:rPr>
              <a:t>H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4AEE648-C46C-4C17-B858-BB2C270509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关于子群的证明    </a:t>
            </a:r>
          </a:p>
        </p:txBody>
      </p:sp>
      <p:sp>
        <p:nvSpPr>
          <p:cNvPr id="26628" name="灯片编号占位符 5">
            <a:extLst>
              <a:ext uri="{FF2B5EF4-FFF2-40B4-BE49-F238E27FC236}">
                <a16:creationId xmlns:a16="http://schemas.microsoft.com/office/drawing/2014/main" id="{A3B06932-F4CB-4BF7-A415-58B8CAAD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7C269A7-2804-46EB-B0CE-32C9C418F2AA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B31E11B-5FE1-4D2B-8E6B-913E5C1D2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1243013"/>
            <a:ext cx="8388350" cy="3157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88975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3. </a:t>
            </a:r>
            <a:r>
              <a:rPr lang="zh-CN" altLang="en-US" sz="2400" b="1">
                <a:latin typeface="Times New Roman" panose="02020603050405020304" pitchFamily="18" charset="0"/>
              </a:rPr>
              <a:t>证明中心 </a:t>
            </a:r>
            <a:r>
              <a:rPr lang="en-US" altLang="zh-CN" sz="2400" b="1" i="1">
                <a:latin typeface="Times New Roman" panose="02020603050405020304" pitchFamily="18" charset="0"/>
              </a:rPr>
              <a:t>C </a:t>
            </a:r>
            <a:r>
              <a:rPr lang="zh-CN" altLang="en-US" sz="2400" b="1">
                <a:latin typeface="Times New Roman" panose="02020603050405020304" pitchFamily="18" charset="0"/>
              </a:rPr>
              <a:t>为子群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</a:rPr>
              <a:t>证  由于</a:t>
            </a:r>
            <a:r>
              <a:rPr lang="en-US" altLang="zh-CN" sz="2400" b="1" i="1">
                <a:latin typeface="Times New Roman" panose="02020603050405020304" pitchFamily="18" charset="0"/>
              </a:rPr>
              <a:t>e </a:t>
            </a:r>
            <a:r>
              <a:rPr lang="zh-CN" altLang="en-US" sz="2400" b="1">
                <a:latin typeface="Times New Roman" panose="02020603050405020304" pitchFamily="18" charset="0"/>
              </a:rPr>
              <a:t>属于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C </a:t>
            </a:r>
            <a:r>
              <a:rPr lang="zh-CN" altLang="en-US" sz="2400" b="1">
                <a:latin typeface="Times New Roman" panose="02020603050405020304" pitchFamily="18" charset="0"/>
              </a:rPr>
              <a:t>非空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latin typeface="Times New Roman" panose="02020603050405020304" pitchFamily="18" charset="0"/>
              </a:rPr>
              <a:t>任取 </a:t>
            </a:r>
            <a:r>
              <a:rPr lang="en-US" altLang="zh-CN" sz="2400" b="1" i="1">
                <a:latin typeface="Times New Roman" panose="02020603050405020304" pitchFamily="18" charset="0"/>
              </a:rPr>
              <a:t>x, 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，对于任意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有</a:t>
            </a:r>
          </a:p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y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 a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endParaRPr lang="en-US" altLang="zh-CN" sz="2400" baseline="300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y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=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x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y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因此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y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属于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C.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由判定定理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，命题得证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AFF1A64-FBB9-4E5D-8C0F-98B6FABFB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子群的证明（续）</a:t>
            </a:r>
          </a:p>
        </p:txBody>
      </p:sp>
      <p:sp>
        <p:nvSpPr>
          <p:cNvPr id="27652" name="灯片编号占位符 5">
            <a:extLst>
              <a:ext uri="{FF2B5EF4-FFF2-40B4-BE49-F238E27FC236}">
                <a16:creationId xmlns:a16="http://schemas.microsoft.com/office/drawing/2014/main" id="{54E3762F-773E-4F76-B11E-613E5F263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CE123BB-74C1-4E3A-B711-C9FBD91C9001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A153091-87D5-4ED7-8CD8-81934A50D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68413"/>
            <a:ext cx="8172450" cy="426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649288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</a:rPr>
              <a:t>7.  </a:t>
            </a:r>
            <a:r>
              <a:rPr lang="zh-CN" altLang="en-US" sz="2400" b="1">
                <a:latin typeface="Times New Roman" panose="02020603050405020304" pitchFamily="18" charset="0"/>
              </a:rPr>
              <a:t>设 </a:t>
            </a:r>
            <a:r>
              <a:rPr lang="en-US" altLang="zh-CN" sz="2400" b="1" i="1">
                <a:latin typeface="Times New Roman" panose="02020603050405020304" pitchFamily="18" charset="0"/>
              </a:rPr>
              <a:t>H, K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(1)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altLang="zh-CN" sz="2400" b="1" i="1">
                <a:latin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endParaRPr lang="en-US" altLang="zh-CN" sz="24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(2)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>
                <a:latin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400" b="1" i="1">
                <a:latin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zh-CN" sz="2400" b="1" i="1">
                <a:latin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endParaRPr lang="en-US" altLang="zh-CN" sz="24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略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(2)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只证必要性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假若    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</a:rPr>
              <a:t>( 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b="1" i="1">
                <a:latin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</a:rPr>
              <a:t>),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400" b="1" i="1">
                <a:latin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</a:rPr>
              <a:t>( 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 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则 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，否则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1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)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矛盾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同理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从而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>
                <a:latin typeface="Times New Roman" panose="02020603050405020304" pitchFamily="18" charset="0"/>
              </a:rPr>
              <a:t>K 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但是</a:t>
            </a:r>
            <a:r>
              <a:rPr lang="zh-CN" altLang="en-US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h, 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与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>
                <a:latin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矛盾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98E663B-F3FF-42E9-8147-32E12DA0F3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                AB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构成子群的条件</a:t>
            </a:r>
          </a:p>
        </p:txBody>
      </p:sp>
      <p:sp>
        <p:nvSpPr>
          <p:cNvPr id="28676" name="灯片编号占位符 5">
            <a:extLst>
              <a:ext uri="{FF2B5EF4-FFF2-40B4-BE49-F238E27FC236}">
                <a16:creationId xmlns:a16="http://schemas.microsoft.com/office/drawing/2014/main" id="{BB8A24AE-5A78-4F56-8C7F-A7231F821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053B4BCC-C508-4801-8ADC-EB5ED301F49E}" type="slidenum">
              <a:rPr lang="en-US" altLang="zh-CN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D4F8599-A6E7-4F13-A6DD-70E28C171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25538"/>
            <a:ext cx="8964613" cy="4691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803275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429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</a:rPr>
              <a:t>命题   </a:t>
            </a:r>
            <a:r>
              <a:rPr lang="zh-CN" altLang="en-US" sz="2400" b="1">
                <a:latin typeface="Times New Roman" panose="02020603050405020304" pitchFamily="18" charset="0"/>
              </a:rPr>
              <a:t>设</a:t>
            </a:r>
            <a:r>
              <a:rPr lang="en-US" altLang="zh-CN" sz="2400" b="1" i="1">
                <a:latin typeface="Times New Roman" panose="02020603050405020304" pitchFamily="18" charset="0"/>
              </a:rPr>
              <a:t>A, 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，定义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= {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|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A,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</a:rPr>
              <a:t>}, </a:t>
            </a:r>
            <a:r>
              <a:rPr lang="zh-CN" altLang="en-US" sz="2400" b="1">
                <a:latin typeface="Times New Roman" panose="02020603050405020304" pitchFamily="18" charset="0"/>
              </a:rPr>
              <a:t>则</a:t>
            </a:r>
            <a:endParaRPr lang="zh-CN" altLang="en-US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(1)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 B = B A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(2)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sz="2400" b="1" i="1">
                <a:latin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 B </a:t>
            </a:r>
            <a:r>
              <a:rPr lang="en-US" altLang="zh-CN" sz="2400" b="1">
                <a:latin typeface="Times New Roman" panose="02020603050405020304" pitchFamily="18" charset="0"/>
              </a:rPr>
              <a:t>= &lt;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>
                <a:latin typeface="Times New Roman" panose="02020603050405020304" pitchFamily="18" charset="0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</a:rPr>
              <a:t>&gt;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spcBef>
                <a:spcPct val="45000"/>
              </a:spcBef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证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略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(2)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400" b="1" i="1">
                <a:latin typeface="Times New Roman" panose="02020603050405020304" pitchFamily="18" charset="0"/>
              </a:rPr>
              <a:t>A B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400" b="1" i="1">
                <a:latin typeface="Times New Roman" panose="02020603050405020304" pitchFamily="18" charset="0"/>
              </a:rPr>
              <a:t>A B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>
                <a:latin typeface="Times New Roman" panose="02020603050405020304" pitchFamily="18" charset="0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400" b="1" i="1">
                <a:latin typeface="Times New Roman" panose="02020603050405020304" pitchFamily="18" charset="0"/>
              </a:rPr>
              <a:t>A B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&lt;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>
                <a:latin typeface="Times New Roman" panose="02020603050405020304" pitchFamily="18" charset="0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400" b="1" i="1">
                <a:latin typeface="Times New Roman" panose="02020603050405020304" pitchFamily="18" charset="0"/>
              </a:rPr>
              <a:t>A B </a:t>
            </a:r>
            <a:endParaRPr lang="en-US" altLang="zh-CN" sz="2400" i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</a:t>
            </a:r>
            <a:r>
              <a:rPr lang="en-US" altLang="zh-CN" sz="2400" b="1" i="1">
                <a:latin typeface="Times New Roman" panose="02020603050405020304" pitchFamily="18" charset="0"/>
              </a:rPr>
              <a:t>a b,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 a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 B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A,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a,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      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a,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>
                <a:latin typeface="Times New Roman" panose="02020603050405020304" pitchFamily="18" charset="0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2400" b="1">
                <a:latin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</a:rPr>
              <a:t>a b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</a:rPr>
              <a:t>&lt;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altLang="zh-CN" sz="2400" b="1" i="1">
                <a:latin typeface="Times New Roman" panose="02020603050405020304" pitchFamily="18" charset="0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</a:rPr>
              <a:t>&gt;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endParaRPr lang="en-US" altLang="zh-CN" sz="2400" b="1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例</a:t>
            </a:r>
            <a:r>
              <a:rPr lang="zh-CN" altLang="en-US" sz="2400" b="1">
                <a:solidFill>
                  <a:schemeClr val="hlink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</a:t>
            </a:r>
            <a:r>
              <a:rPr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Klein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四元群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={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e, a, b, c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},</a:t>
            </a: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&lt;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= {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e, 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}, &lt;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= {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e, 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}, &lt;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= {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e, c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&lt;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&lt;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b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&gt; = {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e, a, b, c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}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   &lt; {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a, e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}</a:t>
            </a:r>
            <a:r>
              <a:rPr lang="en-US" altLang="zh-CN" sz="2400" b="1">
                <a:latin typeface="Times New Roman" panose="02020603050405020304" pitchFamily="18" charset="0"/>
              </a:rPr>
              <a:t>{ </a:t>
            </a:r>
            <a:r>
              <a:rPr lang="en-US" altLang="zh-CN" sz="2400" b="1" i="1">
                <a:latin typeface="Times New Roman" panose="02020603050405020304" pitchFamily="18" charset="0"/>
              </a:rPr>
              <a:t>b, e</a:t>
            </a:r>
            <a:r>
              <a:rPr lang="en-US" altLang="zh-CN" sz="2400" b="1">
                <a:latin typeface="Times New Roman" panose="02020603050405020304" pitchFamily="18" charset="0"/>
              </a:rPr>
              <a:t>} &gt; = &lt; { </a:t>
            </a:r>
            <a:r>
              <a:rPr lang="en-US" altLang="zh-CN" sz="2400" b="1" i="1">
                <a:latin typeface="Times New Roman" panose="02020603050405020304" pitchFamily="18" charset="0"/>
              </a:rPr>
              <a:t>a, b, e </a:t>
            </a:r>
            <a:r>
              <a:rPr lang="en-US" altLang="zh-CN" sz="2400" b="1">
                <a:latin typeface="Times New Roman" panose="02020603050405020304" pitchFamily="18" charset="0"/>
              </a:rPr>
              <a:t>} &gt; = { </a:t>
            </a:r>
            <a:r>
              <a:rPr lang="en-US" altLang="zh-CN" sz="2400" b="1" i="1">
                <a:latin typeface="Times New Roman" panose="02020603050405020304" pitchFamily="18" charset="0"/>
              </a:rPr>
              <a:t>e, a, b, c</a:t>
            </a:r>
            <a:r>
              <a:rPr lang="en-US" altLang="zh-CN" sz="2400" b="1">
                <a:latin typeface="Times New Roman" panose="02020603050405020304" pitchFamily="18" charset="0"/>
              </a:rPr>
              <a:t> 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022A3E6A-FDC0-4FD8-AE2E-33DBD6646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子群格</a:t>
            </a:r>
          </a:p>
        </p:txBody>
      </p:sp>
      <p:sp>
        <p:nvSpPr>
          <p:cNvPr id="7174" name="灯片编号占位符 7">
            <a:extLst>
              <a:ext uri="{FF2B5EF4-FFF2-40B4-BE49-F238E27FC236}">
                <a16:creationId xmlns:a16="http://schemas.microsoft.com/office/drawing/2014/main" id="{A6F5AAAA-B750-45BE-89C6-75B7F7C6A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DFC8323-67C6-4808-A653-E9534EBC64E3}" type="slidenum">
              <a:rPr lang="en-US" altLang="zh-CN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  <p:pic>
        <p:nvPicPr>
          <p:cNvPr id="19459" name="Picture 4" descr="11">
            <a:extLst>
              <a:ext uri="{FF2B5EF4-FFF2-40B4-BE49-F238E27FC236}">
                <a16:creationId xmlns:a16="http://schemas.microsoft.com/office/drawing/2014/main" id="{79177194-0924-4595-A44A-2A481135F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565400"/>
            <a:ext cx="403225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5">
            <a:extLst>
              <a:ext uri="{FF2B5EF4-FFF2-40B4-BE49-F238E27FC236}">
                <a16:creationId xmlns:a16="http://schemas.microsoft.com/office/drawing/2014/main" id="{1B2D71AF-29B6-4544-9969-532BFE75E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284538"/>
            <a:ext cx="3168650" cy="2557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9C62920-0C83-4428-8BA8-5B30BB8DE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196975"/>
            <a:ext cx="7920038" cy="22129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ts val="3200"/>
              </a:lnSpc>
              <a:defRPr/>
            </a:pP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为群，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={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H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|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H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/>
              </a:rPr>
              <a:t>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G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}, </a:t>
            </a:r>
          </a:p>
          <a:p>
            <a:pPr>
              <a:lnSpc>
                <a:spcPts val="3200"/>
              </a:lnSpc>
              <a:defRPr/>
            </a:pP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偏序集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&lt; 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  <a:sym typeface="Symbol"/>
              </a:rPr>
              <a:t>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构成格，称为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的子群格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200"/>
              </a:lnSpc>
              <a:defRPr/>
            </a:pP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3200"/>
              </a:lnSpc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Klein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四元群，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的子群格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.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 indent="688975">
              <a:lnSpc>
                <a:spcPct val="130000"/>
              </a:lnSpc>
              <a:tabLst>
                <a:tab pos="342900" algn="l"/>
              </a:tabLst>
              <a:defRPr/>
            </a:pPr>
            <a:endParaRPr lang="en-US" altLang="zh-CN" sz="2400" b="1" dirty="0">
              <a:latin typeface="Times New Roman" pitchFamily="18" charset="0"/>
              <a:sym typeface="Symbol" pitchFamily="18" charset="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3387</TotalTime>
  <Words>2433</Words>
  <Application>Microsoft Office PowerPoint</Application>
  <PresentationFormat>全屏显示(4:3)</PresentationFormat>
  <Paragraphs>265</Paragraphs>
  <Slides>18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Calibri</vt:lpstr>
      <vt:lpstr>Calibri Light</vt:lpstr>
      <vt:lpstr>Lucida Sans Unicode</vt:lpstr>
      <vt:lpstr>Times New Roman</vt:lpstr>
      <vt:lpstr>Wingdings</vt:lpstr>
      <vt:lpstr>Wingdings 2</vt:lpstr>
      <vt:lpstr>代数结构PPT</vt:lpstr>
      <vt:lpstr>公式</vt:lpstr>
      <vt:lpstr>第十七章 群</vt:lpstr>
      <vt:lpstr>                    17.1 群的定义与性质</vt:lpstr>
      <vt:lpstr>群的定义</vt:lpstr>
      <vt:lpstr>群的有关术语</vt:lpstr>
      <vt:lpstr>群的性质 1</vt:lpstr>
      <vt:lpstr>群的性质 2</vt:lpstr>
      <vt:lpstr>群的性质 3</vt:lpstr>
      <vt:lpstr>群的性质 4</vt:lpstr>
      <vt:lpstr>群的性质 5</vt:lpstr>
      <vt:lpstr>17.2 子群</vt:lpstr>
      <vt:lpstr>子群定义 </vt:lpstr>
      <vt:lpstr>子群判定定理一</vt:lpstr>
      <vt:lpstr>                      子群判定定理二和三</vt:lpstr>
      <vt:lpstr>                     重要子群的实例</vt:lpstr>
      <vt:lpstr>                      关于子群的证明    </vt:lpstr>
      <vt:lpstr>                          子群的证明（续）</vt:lpstr>
      <vt:lpstr>                  AB 构成子群的条件</vt:lpstr>
      <vt:lpstr>子群格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329</cp:revision>
  <dcterms:created xsi:type="dcterms:W3CDTF">2005-12-02T07:25:32Z</dcterms:created>
  <dcterms:modified xsi:type="dcterms:W3CDTF">2020-07-12T06:00:38Z</dcterms:modified>
</cp:coreProperties>
</file>