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9" r:id="rId1"/>
  </p:sldMasterIdLst>
  <p:notesMasterIdLst>
    <p:notesMasterId r:id="rId11"/>
  </p:notesMasterIdLst>
  <p:sldIdLst>
    <p:sldId id="268" r:id="rId2"/>
    <p:sldId id="269" r:id="rId3"/>
    <p:sldId id="272" r:id="rId4"/>
    <p:sldId id="273" r:id="rId5"/>
    <p:sldId id="274" r:id="rId6"/>
    <p:sldId id="275" r:id="rId7"/>
    <p:sldId id="276" r:id="rId8"/>
    <p:sldId id="277" r:id="rId9"/>
    <p:sldId id="278" r:id="rId10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00"/>
    <a:srgbClr val="008000"/>
    <a:srgbClr val="669900"/>
    <a:srgbClr val="99CC00"/>
    <a:srgbClr val="CC0000"/>
    <a:srgbClr val="FFD54F"/>
    <a:srgbClr val="4D4D4D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32" autoAdjust="0"/>
    <p:restoredTop sz="93333" autoAdjust="0"/>
  </p:normalViewPr>
  <p:slideViewPr>
    <p:cSldViewPr>
      <p:cViewPr>
        <p:scale>
          <a:sx n="70" d="100"/>
          <a:sy n="70" d="100"/>
        </p:scale>
        <p:origin x="1589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B54DAF79-E2D3-4AB0-942A-E9CDE95F4B3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48506DD-38E4-4EB5-8472-93C7E81790A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DCE658B2-411C-4D29-BF63-47909FF00597}" type="datetimeFigureOut">
              <a:rPr lang="zh-CN" altLang="en-US"/>
              <a:pPr>
                <a:defRPr/>
              </a:pPr>
              <a:t>2020/7/10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A59B4AA9-E385-489D-A187-7991C287BE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12B4BC73-A7E3-4EFC-BED1-E18B405CF4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EED5A11-A138-402B-9C64-1D05C33BA1C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DFC3885-F058-4B47-960E-B98A9092EB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33EDE675-7980-4542-8A6B-76C334075115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8EBEDF43-C76B-4ED7-AF4D-8FD7A201DF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463A047-8F71-4C34-8E55-50D4C8962932}" type="slidenum">
              <a:rPr lang="en-US" altLang="zh-CN"/>
              <a:pPr eaLnBrk="1" hangingPunct="1"/>
              <a:t>1</a:t>
            </a:fld>
            <a:endParaRPr lang="en-US" altLang="zh-CN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01B7F02C-CCEF-4133-B078-5D7F7C5FC34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45C586EE-AB5E-471C-B603-9336098743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28FFA5C9-6DE8-4B21-8DBC-A511CC418A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C2049DF-41D9-4D4A-82AA-E3ACF3C34B6E}" type="slidenum">
              <a:rPr lang="en-US" altLang="zh-CN"/>
              <a:pPr eaLnBrk="1" hangingPunct="1"/>
              <a:t>2</a:t>
            </a:fld>
            <a:endParaRPr lang="en-US" altLang="zh-CN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0DC9820D-EDEE-441E-81B4-ECA788C31B2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D6B1ABE5-C097-4843-BF94-FB05D5D0AF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0A7DD089-80A9-4CC8-9C15-9EFB0B4DBF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2C7C1F2-F843-4F90-B63E-F6290AE6EDD8}" type="slidenum">
              <a:rPr lang="en-US" altLang="zh-CN"/>
              <a:pPr eaLnBrk="1" hangingPunct="1"/>
              <a:t>3</a:t>
            </a:fld>
            <a:endParaRPr lang="en-US" altLang="zh-CN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51C3C8A1-B86D-422F-8374-8B7D9D44F8A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BC40C713-6872-435B-8C67-1FE76B4A12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6BD10D5E-BCB7-4020-88F5-9D218D29E8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F9E7F2A-5D2C-49B4-B7F0-63E4715B8A9D}" type="slidenum">
              <a:rPr lang="en-US" altLang="zh-CN"/>
              <a:pPr eaLnBrk="1" hangingPunct="1"/>
              <a:t>4</a:t>
            </a:fld>
            <a:endParaRPr lang="en-US" altLang="zh-CN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8E5019DA-D4FC-401D-89AA-F18CC15350B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A3E1D977-5261-450E-8DAC-DBB659C66B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6B4D5238-6E1A-406A-B208-C23C42A26B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58D69BE-76A5-4FC3-8546-D999CC5935FA}" type="slidenum">
              <a:rPr lang="en-US" altLang="zh-CN"/>
              <a:pPr eaLnBrk="1" hangingPunct="1"/>
              <a:t>5</a:t>
            </a:fld>
            <a:endParaRPr lang="en-US" altLang="zh-CN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F49EEB83-AEA4-4241-9DC7-C538643F773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4E5812EB-9685-4C00-873C-5963E2491D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0CA14E56-A34C-4FAB-924D-6860B55856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BEB3048-2C0D-4532-A555-EA98F8DE58E0}" type="slidenum">
              <a:rPr lang="en-US" altLang="zh-CN"/>
              <a:pPr eaLnBrk="1" hangingPunct="1"/>
              <a:t>6</a:t>
            </a:fld>
            <a:endParaRPr lang="en-US" altLang="zh-CN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991159E3-852C-488B-A461-1E3B27CA823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E741E6D2-7BA0-4354-8E66-E1651111E2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FD40D54D-2E93-43A5-A88B-89EFC8B63B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462A5B8-ACDB-449F-AAC0-B9F70D36F6C8}" type="slidenum">
              <a:rPr lang="en-US" altLang="zh-CN"/>
              <a:pPr eaLnBrk="1" hangingPunct="1"/>
              <a:t>7</a:t>
            </a:fld>
            <a:endParaRPr lang="en-US" altLang="zh-CN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612A7FE4-6084-4E28-897F-85E0B7E87D8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405529F5-B2C3-4D9B-8C20-DFA039E996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8E96CDB3-587B-47B0-A525-E460B420BA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3775D5F-69A9-4EF6-8BA2-5D0C74935E6A}" type="slidenum">
              <a:rPr lang="en-US" altLang="zh-CN"/>
              <a:pPr eaLnBrk="1" hangingPunct="1"/>
              <a:t>8</a:t>
            </a:fld>
            <a:endParaRPr lang="en-US" altLang="zh-CN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9CB977E4-4105-4A31-B509-8E0DA2ADCDB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1D4FD4F0-051D-4572-9209-D8EB3262A8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42498EE6-69D2-4B19-A37C-977B9898BD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A9B50F5-A00B-4581-A891-AAB0F0410BD4}" type="slidenum">
              <a:rPr lang="en-US" altLang="zh-CN"/>
              <a:pPr eaLnBrk="1" hangingPunct="1"/>
              <a:t>9</a:t>
            </a:fld>
            <a:endParaRPr lang="en-US" altLang="zh-CN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C40DAF29-B087-4468-A032-C8766F62395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E4B29CCD-A800-428E-ACFF-A43347C427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zh-CN" altLang="en-US" noProof="1"/>
              <a:t>单击此处编辑母版副标题样式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302FB-ECBB-4181-BEAC-75E5AD4D8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44936-3FE8-4186-AAFA-A6A52493B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A8976-C2FE-4A99-BF8D-52F451515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2663F3-05F0-4AC3-B7DE-E479D28FF3AA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9195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8ECD6-6DE1-442B-B5A0-C847BC381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12DB9-2F7E-4D22-8307-61F0B7736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EB7D0-3C40-4C38-B8F0-1CA91BE98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7A83C-8679-4C1D-AF73-FAAA003A9A4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8227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12423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5263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7BDF6-4F17-4692-AA70-0696F7822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8B359-034A-4589-9748-9B077717F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4759B-2BFD-4394-9510-E4EFA530A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0B4849-B9B5-411D-9FE8-A603999903D8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4483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5" y="1828801"/>
            <a:ext cx="3886200" cy="43513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8801"/>
            <a:ext cx="3886200" cy="43513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C3B0C42-1B67-4DF6-BB0A-476FB12BD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89F5DBE-72F9-4365-85FA-41EC1CB2B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C6DA02B-39B3-4BC0-81C3-BF13A68F2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6ADFB3-D8EF-4BC5-9D62-0A2E31EEABA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5804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681851"/>
            <a:ext cx="3867150" cy="825699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5" y="2507551"/>
            <a:ext cx="3867150" cy="36805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851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7551"/>
            <a:ext cx="3886201" cy="36805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5CFAED1-575A-4879-9D8C-4794E13E4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FF9D973-1A10-4A91-8EF1-468D9342C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ADF493-71C3-43F0-B09E-26C2A41E5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2792C3-B9E4-4437-A619-5BFC8197B25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3528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6492A12-AAED-4B63-BBC2-66BC9FD75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033C87E-CC8D-444B-8D0A-2A8C6EDB7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40900BF-CDF2-45B9-9106-6AEACC82F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C00A95-1875-415E-A7BB-6A06BAA042C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8572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2FBF27B-9518-48EF-992A-F6E90B2EF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16399A0-9354-4706-93F0-C3D62C401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F6D78E-0DD8-4BD2-AD64-DA29B3CB6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807693-94A0-46C9-BF50-F9511431338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9431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399"/>
            <a:ext cx="2948940" cy="381000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33AD2E-6DEB-4AF4-A79C-128340565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F46D1DB-23D2-45A0-B12B-31DB83381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417D2F3-2191-4AE0-8322-90EAED316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F491A2-4403-4326-96DA-977838548B8F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8792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990600"/>
            <a:ext cx="4629150" cy="4876800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400"/>
            <a:ext cx="2948940" cy="3810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FE11BA2-2645-4C86-BF7B-DA6370188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CF70980-D09A-4988-A0F8-4D86BA374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3B8F944-89CC-4976-B04A-25BDBFAF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22AED3-8E92-45F4-9A5F-988DC052125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89619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EA7E6-CC2A-44FB-9827-7901DE7DB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B0C6C-4F52-4307-B118-8EA1B2599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21E3C-95E3-4173-A314-9B6B9C42A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117065-E653-43D5-9F8C-C1E2632C270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1447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0362"/>
            <a:ext cx="1971675" cy="581183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0363"/>
            <a:ext cx="5800725" cy="581183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E3772-D4C0-460C-AE3A-DA07F0D01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17A07-0398-4508-A4EB-5F91716CE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656AB-A5D4-4116-9083-0DFD3809A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3505E6-96E6-43BD-98DB-0CB5BB1B833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784929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 rtlCol="0">
            <a:normAutofit/>
          </a:bodyPr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2C9AE-DCDD-4E04-A04F-F233CFAEC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15395-8C76-4F42-B5A2-248312DCA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1F831-1DA4-4961-BA8E-42854D1E8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B7FD4F-0648-4D1E-BE47-978A0F194B80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4873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70E1B553-E368-40D3-9D3E-3BD6D64E1BC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33413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2D4F9B0E-3BF4-4FE4-8C05-05BA84AA6F3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33413" y="1828800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zh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03578-8626-4448-B336-3FEB4105EF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14521-3337-49DA-BA1B-81BE548869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37BF5-319D-4483-810E-894D2B2F1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62713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800" smtClean="0">
                <a:solidFill>
                  <a:srgbClr val="898989"/>
                </a:solidFill>
              </a:defRPr>
            </a:lvl1pPr>
          </a:lstStyle>
          <a:p>
            <a:fld id="{CA3505E6-96E6-43BD-98DB-0CB5BB1B833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60157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</p:sldLayoutIdLst>
  <p:hf hdr="0" ftr="0" dt="0"/>
  <p:txStyles>
    <p:titleStyle>
      <a:lvl1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1" fontAlgn="base" hangingPunct="1">
        <a:lnSpc>
          <a:spcPct val="90000"/>
        </a:lnSpc>
        <a:spcBef>
          <a:spcPts val="750"/>
        </a:spcBef>
        <a:spcAft>
          <a:spcPct val="0"/>
        </a:spcAft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3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4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>
            <a:extLst>
              <a:ext uri="{FF2B5EF4-FFF2-40B4-BE49-F238E27FC236}">
                <a16:creationId xmlns:a16="http://schemas.microsoft.com/office/drawing/2014/main" id="{9D6D65A5-FE67-421C-91C2-9DE106EA65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693" y="34131"/>
            <a:ext cx="8964613" cy="792163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第十六章  半群与独异点</a:t>
            </a:r>
          </a:p>
        </p:txBody>
      </p:sp>
      <p:sp>
        <p:nvSpPr>
          <p:cNvPr id="9235" name="灯片编号占位符 50">
            <a:extLst>
              <a:ext uri="{FF2B5EF4-FFF2-40B4-BE49-F238E27FC236}">
                <a16:creationId xmlns:a16="http://schemas.microsoft.com/office/drawing/2014/main" id="{F104FA33-DB9F-45BE-AB31-4B2381FDB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05613" y="5851525"/>
            <a:ext cx="213360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7B6B259-3D05-48BF-A382-6C60A843051B}" type="slidenum">
              <a:rPr lang="en-US" altLang="zh-CN">
                <a:solidFill>
                  <a:srgbClr val="898989"/>
                </a:solidFill>
              </a:rPr>
              <a:pPr eaLnBrk="1" hangingPunct="1"/>
              <a:t>1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3120" name="Rectangle 5">
            <a:extLst>
              <a:ext uri="{FF2B5EF4-FFF2-40B4-BE49-F238E27FC236}">
                <a16:creationId xmlns:a16="http://schemas.microsoft.com/office/drawing/2014/main" id="{776893FB-D47B-4D5D-83DB-C1F35E7063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8788" y="1211263"/>
            <a:ext cx="1150937" cy="1138237"/>
          </a:xfrm>
          <a:prstGeom prst="rect">
            <a:avLst/>
          </a:prstGeom>
          <a:solidFill>
            <a:srgbClr val="FFFFCC"/>
          </a:solidFill>
          <a:ln w="28575">
            <a:solidFill>
              <a:srgbClr val="8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None/>
            </a:pPr>
            <a:r>
              <a:rPr lang="zh-CN" altLang="en-US" sz="2000" b="1"/>
              <a:t>广群</a:t>
            </a:r>
            <a:endParaRPr lang="en-US" altLang="zh-CN" sz="2000" b="1"/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None/>
            </a:pPr>
            <a:r>
              <a:rPr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=&lt;</a:t>
            </a:r>
            <a:r>
              <a:rPr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,∘&gt;</a:t>
            </a: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∘</a:t>
            </a: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封闭性</a:t>
            </a:r>
          </a:p>
        </p:txBody>
      </p:sp>
      <p:grpSp>
        <p:nvGrpSpPr>
          <p:cNvPr id="2" name="组合 64">
            <a:extLst>
              <a:ext uri="{FF2B5EF4-FFF2-40B4-BE49-F238E27FC236}">
                <a16:creationId xmlns:a16="http://schemas.microsoft.com/office/drawing/2014/main" id="{FC25D822-ED0E-429D-AC9A-F98AD90B3D6D}"/>
              </a:ext>
            </a:extLst>
          </p:cNvPr>
          <p:cNvGrpSpPr>
            <a:grpSpLocks/>
          </p:cNvGrpSpPr>
          <p:nvPr/>
        </p:nvGrpSpPr>
        <p:grpSpPr bwMode="auto">
          <a:xfrm>
            <a:off x="2879725" y="1211263"/>
            <a:ext cx="2449513" cy="1138237"/>
            <a:chOff x="2627784" y="1281863"/>
            <a:chExt cx="2448272" cy="1138773"/>
          </a:xfrm>
        </p:grpSpPr>
        <p:sp>
          <p:nvSpPr>
            <p:cNvPr id="6179" name="Text Box 35">
              <a:extLst>
                <a:ext uri="{FF2B5EF4-FFF2-40B4-BE49-F238E27FC236}">
                  <a16:creationId xmlns:a16="http://schemas.microsoft.com/office/drawing/2014/main" id="{F7254001-31DA-4EDA-8CE4-12D12FE450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7864" y="1281863"/>
              <a:ext cx="1728192" cy="1138773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8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None/>
              </a:pPr>
              <a:r>
                <a:rPr lang="zh-CN" altLang="en-US" sz="2000" b="1"/>
                <a:t>半群</a:t>
              </a:r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=&lt;</a:t>
              </a:r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,∘&gt;</a:t>
              </a:r>
            </a:p>
            <a:p>
              <a:pPr algn="ctr" eaLnBrk="1" hangingPunct="1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None/>
              </a:pPr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∘</a:t>
              </a:r>
              <a:r>
                <a:rPr lang="zh-CN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封闭性</a:t>
              </a:r>
              <a:endPara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eaLnBrk="1" hangingPunct="1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None/>
              </a:pPr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∘</a:t>
              </a:r>
              <a:r>
                <a:rPr lang="zh-CN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可结合</a:t>
              </a:r>
              <a:endParaRPr lang="zh-CN" altLang="en-US" sz="2000" b="1"/>
            </a:p>
          </p:txBody>
        </p:sp>
        <p:grpSp>
          <p:nvGrpSpPr>
            <p:cNvPr id="6180" name="Group 40">
              <a:extLst>
                <a:ext uri="{FF2B5EF4-FFF2-40B4-BE49-F238E27FC236}">
                  <a16:creationId xmlns:a16="http://schemas.microsoft.com/office/drawing/2014/main" id="{D1399DCF-9800-4F93-B47A-802EE5F6F7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27784" y="1699468"/>
              <a:ext cx="649288" cy="433388"/>
              <a:chOff x="2382" y="3067"/>
              <a:chExt cx="409" cy="273"/>
            </a:xfrm>
          </p:grpSpPr>
          <p:sp>
            <p:nvSpPr>
              <p:cNvPr id="6181" name="Text Box 41">
                <a:extLst>
                  <a:ext uri="{FF2B5EF4-FFF2-40B4-BE49-F238E27FC236}">
                    <a16:creationId xmlns:a16="http://schemas.microsoft.com/office/drawing/2014/main" id="{A008B032-D374-4DD2-B917-5C0B098525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82" y="3107"/>
                <a:ext cx="409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b="1"/>
                  <a:t>结合</a:t>
                </a:r>
              </a:p>
            </p:txBody>
          </p:sp>
          <p:sp>
            <p:nvSpPr>
              <p:cNvPr id="6182" name="Line 42">
                <a:extLst>
                  <a:ext uri="{FF2B5EF4-FFF2-40B4-BE49-F238E27FC236}">
                    <a16:creationId xmlns:a16="http://schemas.microsoft.com/office/drawing/2014/main" id="{BB1B0D40-AF3A-42AB-A851-356A184865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73" y="3067"/>
                <a:ext cx="271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4" name="组合 65">
            <a:extLst>
              <a:ext uri="{FF2B5EF4-FFF2-40B4-BE49-F238E27FC236}">
                <a16:creationId xmlns:a16="http://schemas.microsoft.com/office/drawing/2014/main" id="{37C927A0-A43C-41C9-A710-D70F47CF4F80}"/>
              </a:ext>
            </a:extLst>
          </p:cNvPr>
          <p:cNvGrpSpPr>
            <a:grpSpLocks/>
          </p:cNvGrpSpPr>
          <p:nvPr/>
        </p:nvGrpSpPr>
        <p:grpSpPr bwMode="auto">
          <a:xfrm>
            <a:off x="5329238" y="1057275"/>
            <a:ext cx="2879725" cy="1508125"/>
            <a:chOff x="5076056" y="1129456"/>
            <a:chExt cx="2880320" cy="1508105"/>
          </a:xfrm>
        </p:grpSpPr>
        <p:sp>
          <p:nvSpPr>
            <p:cNvPr id="6176" name="Text Box 35">
              <a:extLst>
                <a:ext uri="{FF2B5EF4-FFF2-40B4-BE49-F238E27FC236}">
                  <a16:creationId xmlns:a16="http://schemas.microsoft.com/office/drawing/2014/main" id="{A93C72DA-1647-46CF-AB34-81B473F807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8144" y="1129456"/>
              <a:ext cx="2088232" cy="1508105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8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None/>
              </a:pPr>
              <a:r>
                <a:rPr lang="zh-CN" altLang="en-US" sz="2000" b="1"/>
                <a:t>独异点</a:t>
              </a:r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=&lt;</a:t>
              </a:r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,∘,</a:t>
              </a:r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&gt;</a:t>
              </a:r>
            </a:p>
            <a:p>
              <a:pPr algn="ctr" eaLnBrk="1" hangingPunct="1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None/>
              </a:pPr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∘</a:t>
              </a:r>
              <a:r>
                <a:rPr lang="zh-CN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封闭性</a:t>
              </a:r>
              <a:endPara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eaLnBrk="1" hangingPunct="1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None/>
              </a:pPr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∘</a:t>
              </a:r>
              <a:r>
                <a:rPr lang="zh-CN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可结合</a:t>
              </a:r>
              <a:endPara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eaLnBrk="1" hangingPunct="1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None/>
              </a:pPr>
              <a:r>
                <a:rPr lang="zh-CN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含单位元</a:t>
              </a:r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CN" altLang="en-US" sz="2000" b="1" i="1"/>
            </a:p>
          </p:txBody>
        </p:sp>
        <p:sp>
          <p:nvSpPr>
            <p:cNvPr id="6177" name="Text Box 41">
              <a:extLst>
                <a:ext uri="{FF2B5EF4-FFF2-40B4-BE49-F238E27FC236}">
                  <a16:creationId xmlns:a16="http://schemas.microsoft.com/office/drawing/2014/main" id="{2CB1F196-B51E-4A90-A9C0-4303586959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6056" y="1690960"/>
              <a:ext cx="88265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/>
                <a:t>单位元</a:t>
              </a:r>
            </a:p>
          </p:txBody>
        </p:sp>
        <p:sp>
          <p:nvSpPr>
            <p:cNvPr id="6178" name="Line 42">
              <a:extLst>
                <a:ext uri="{FF2B5EF4-FFF2-40B4-BE49-F238E27FC236}">
                  <a16:creationId xmlns:a16="http://schemas.microsoft.com/office/drawing/2014/main" id="{DB64522B-DEF6-482D-BFD2-9788FE92D9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38626" y="1627460"/>
              <a:ext cx="504056" cy="13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152" name="TextBox 59">
            <a:extLst>
              <a:ext uri="{FF2B5EF4-FFF2-40B4-BE49-F238E27FC236}">
                <a16:creationId xmlns:a16="http://schemas.microsoft.com/office/drawing/2014/main" id="{FB44F990-6948-449E-BE34-442FC3A6EC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527175"/>
            <a:ext cx="9239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/>
              <a:t>定义</a:t>
            </a:r>
          </a:p>
        </p:txBody>
      </p:sp>
      <p:sp>
        <p:nvSpPr>
          <p:cNvPr id="6153" name="TextBox 60">
            <a:extLst>
              <a:ext uri="{FF2B5EF4-FFF2-40B4-BE49-F238E27FC236}">
                <a16:creationId xmlns:a16="http://schemas.microsoft.com/office/drawing/2014/main" id="{B38A4085-0A15-4841-A7C7-C957F3BF65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2967038"/>
            <a:ext cx="803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/>
              <a:t>性质</a:t>
            </a:r>
          </a:p>
        </p:txBody>
      </p:sp>
      <p:sp>
        <p:nvSpPr>
          <p:cNvPr id="6154" name="TextBox 61">
            <a:extLst>
              <a:ext uri="{FF2B5EF4-FFF2-40B4-BE49-F238E27FC236}">
                <a16:creationId xmlns:a16="http://schemas.microsoft.com/office/drawing/2014/main" id="{7C409584-E575-4BCE-A888-6928DF5856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3860800"/>
            <a:ext cx="1112838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/>
              <a:t>子代数</a:t>
            </a:r>
            <a:endParaRPr lang="en-US" altLang="zh-CN" sz="2400" b="1"/>
          </a:p>
          <a:p>
            <a:pPr eaLnBrk="1" hangingPunct="1"/>
            <a:r>
              <a:rPr lang="zh-CN" altLang="en-US" sz="2400" b="1"/>
              <a:t>积代数</a:t>
            </a:r>
          </a:p>
        </p:txBody>
      </p:sp>
      <p:sp>
        <p:nvSpPr>
          <p:cNvPr id="6155" name="TextBox 63">
            <a:extLst>
              <a:ext uri="{FF2B5EF4-FFF2-40B4-BE49-F238E27FC236}">
                <a16:creationId xmlns:a16="http://schemas.microsoft.com/office/drawing/2014/main" id="{7CF18E4E-262B-4453-B713-9C1467AA8C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4984750"/>
            <a:ext cx="11128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/>
              <a:t>商代数</a:t>
            </a:r>
          </a:p>
        </p:txBody>
      </p:sp>
      <p:grpSp>
        <p:nvGrpSpPr>
          <p:cNvPr id="5" name="组合 79">
            <a:extLst>
              <a:ext uri="{FF2B5EF4-FFF2-40B4-BE49-F238E27FC236}">
                <a16:creationId xmlns:a16="http://schemas.microsoft.com/office/drawing/2014/main" id="{DC5E47B4-44B3-41E7-8B18-7224960754EC}"/>
              </a:ext>
            </a:extLst>
          </p:cNvPr>
          <p:cNvGrpSpPr>
            <a:grpSpLocks/>
          </p:cNvGrpSpPr>
          <p:nvPr/>
        </p:nvGrpSpPr>
        <p:grpSpPr bwMode="auto">
          <a:xfrm>
            <a:off x="2303463" y="2752725"/>
            <a:ext cx="5905500" cy="1108075"/>
            <a:chOff x="2051720" y="2824482"/>
            <a:chExt cx="5904656" cy="1107996"/>
          </a:xfrm>
        </p:grpSpPr>
        <p:sp>
          <p:nvSpPr>
            <p:cNvPr id="6174" name="Rectangle 5">
              <a:extLst>
                <a:ext uri="{FF2B5EF4-FFF2-40B4-BE49-F238E27FC236}">
                  <a16:creationId xmlns:a16="http://schemas.microsoft.com/office/drawing/2014/main" id="{FBD92442-CA49-4D86-878E-A83D9DEF38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5856" y="2824482"/>
              <a:ext cx="4680520" cy="110799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8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lang="en-US" altLang="zh-CN" sz="2000" b="1" i="1">
                  <a:latin typeface="Times New Roman" panose="02020603050405020304" pitchFamily="18" charset="0"/>
                </a:rPr>
                <a:t> a</a:t>
              </a:r>
              <a:r>
                <a:rPr lang="en-US" altLang="zh-CN" sz="2000" b="1" baseline="30000">
                  <a:latin typeface="Times New Roman" panose="02020603050405020304" pitchFamily="18" charset="0"/>
                </a:rPr>
                <a:t>1</a:t>
              </a:r>
              <a:r>
                <a:rPr lang="en-US" altLang="zh-CN" sz="2000" b="1">
                  <a:latin typeface="Times New Roman" panose="02020603050405020304" pitchFamily="18" charset="0"/>
                </a:rPr>
                <a:t> = </a:t>
              </a:r>
              <a:r>
                <a:rPr lang="en-US" altLang="zh-CN" sz="2000" b="1" i="1">
                  <a:latin typeface="Times New Roman" panose="02020603050405020304" pitchFamily="18" charset="0"/>
                </a:rPr>
                <a:t>a                              a</a:t>
              </a:r>
              <a:r>
                <a:rPr lang="en-US" altLang="zh-CN" sz="2000" b="1" baseline="30000">
                  <a:latin typeface="Times New Roman" panose="02020603050405020304" pitchFamily="18" charset="0"/>
                </a:rPr>
                <a:t>0</a:t>
              </a:r>
              <a:r>
                <a:rPr lang="en-US" altLang="zh-CN" sz="2000" b="1">
                  <a:latin typeface="Times New Roman" panose="02020603050405020304" pitchFamily="18" charset="0"/>
                </a:rPr>
                <a:t> = </a:t>
              </a:r>
              <a:r>
                <a:rPr lang="en-US" altLang="zh-CN" sz="2000" b="1" i="1">
                  <a:latin typeface="Times New Roman" panose="02020603050405020304" pitchFamily="18" charset="0"/>
                </a:rPr>
                <a:t>e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en-US" altLang="zh-CN" sz="2000" b="1" i="1">
                  <a:latin typeface="Times New Roman" panose="02020603050405020304" pitchFamily="18" charset="0"/>
                </a:rPr>
                <a:t> a</a:t>
              </a:r>
              <a:r>
                <a:rPr lang="en-US" altLang="zh-CN" sz="2000" b="1" i="1" baseline="30000">
                  <a:latin typeface="Times New Roman" panose="02020603050405020304" pitchFamily="18" charset="0"/>
                </a:rPr>
                <a:t>n</a:t>
              </a:r>
              <a:r>
                <a:rPr lang="en-US" altLang="zh-CN" sz="2000" b="1" baseline="30000">
                  <a:latin typeface="Times New Roman" panose="02020603050405020304" pitchFamily="18" charset="0"/>
                </a:rPr>
                <a:t>+1</a:t>
              </a:r>
              <a:r>
                <a:rPr lang="en-US" altLang="zh-CN" sz="2000" b="1">
                  <a:latin typeface="Times New Roman" panose="02020603050405020304" pitchFamily="18" charset="0"/>
                </a:rPr>
                <a:t> = </a:t>
              </a:r>
              <a:r>
                <a:rPr lang="en-US" altLang="zh-CN" sz="2000" b="1" i="1">
                  <a:latin typeface="Times New Roman" panose="02020603050405020304" pitchFamily="18" charset="0"/>
                </a:rPr>
                <a:t>a</a:t>
              </a:r>
              <a:r>
                <a:rPr lang="en-US" altLang="zh-CN" sz="2000" b="1" i="1" baseline="30000">
                  <a:latin typeface="Times New Roman" panose="02020603050405020304" pitchFamily="18" charset="0"/>
                </a:rPr>
                <a:t>n</a:t>
              </a:r>
              <a:r>
                <a:rPr lang="en-US" altLang="zh-CN" sz="2000" b="1" i="1">
                  <a:latin typeface="Times New Roman" panose="02020603050405020304" pitchFamily="18" charset="0"/>
                </a:rPr>
                <a:t>a, n</a:t>
              </a:r>
              <a:r>
                <a:rPr lang="en-US" altLang="zh-CN" sz="2000" b="1">
                  <a:latin typeface="Times New Roman" panose="02020603050405020304" pitchFamily="18" charset="0"/>
                  <a:sym typeface="Symbol" panose="05050102010706020507" pitchFamily="18" charset="2"/>
                </a:rPr>
                <a:t>Z</a:t>
              </a:r>
              <a:r>
                <a:rPr lang="en-US" altLang="zh-CN" sz="2000" b="1" baseline="30000">
                  <a:latin typeface="Times New Roman" panose="02020603050405020304" pitchFamily="18" charset="0"/>
                  <a:sym typeface="Symbol" panose="05050102010706020507" pitchFamily="18" charset="2"/>
                </a:rPr>
                <a:t>+             </a:t>
              </a:r>
              <a:r>
                <a:rPr lang="en-US" altLang="zh-CN" sz="2000" b="1" i="1">
                  <a:latin typeface="Times New Roman" panose="02020603050405020304" pitchFamily="18" charset="0"/>
                </a:rPr>
                <a:t>    a</a:t>
              </a:r>
              <a:r>
                <a:rPr lang="en-US" altLang="zh-CN" sz="2000" b="1" i="1" baseline="30000">
                  <a:latin typeface="Times New Roman" panose="02020603050405020304" pitchFamily="18" charset="0"/>
                </a:rPr>
                <a:t>n</a:t>
              </a:r>
              <a:r>
                <a:rPr lang="en-US" altLang="zh-CN" sz="2000" b="1" baseline="30000">
                  <a:latin typeface="Times New Roman" panose="02020603050405020304" pitchFamily="18" charset="0"/>
                </a:rPr>
                <a:t>+1</a:t>
              </a:r>
              <a:r>
                <a:rPr lang="en-US" altLang="zh-CN" sz="2000" b="1">
                  <a:latin typeface="Times New Roman" panose="02020603050405020304" pitchFamily="18" charset="0"/>
                </a:rPr>
                <a:t> = </a:t>
              </a:r>
              <a:r>
                <a:rPr lang="en-US" altLang="zh-CN" sz="2000" b="1" i="1">
                  <a:latin typeface="Times New Roman" panose="02020603050405020304" pitchFamily="18" charset="0"/>
                </a:rPr>
                <a:t>a</a:t>
              </a:r>
              <a:r>
                <a:rPr lang="en-US" altLang="zh-CN" sz="2000" b="1" i="1" baseline="30000">
                  <a:latin typeface="Times New Roman" panose="02020603050405020304" pitchFamily="18" charset="0"/>
                </a:rPr>
                <a:t>n</a:t>
              </a:r>
              <a:r>
                <a:rPr lang="en-US" altLang="zh-CN" sz="2000" b="1" i="1">
                  <a:latin typeface="Times New Roman" panose="02020603050405020304" pitchFamily="18" charset="0"/>
                </a:rPr>
                <a:t>a, n</a:t>
              </a:r>
              <a:r>
                <a:rPr lang="en-US" altLang="zh-CN" sz="2000" b="1">
                  <a:latin typeface="Times New Roman" panose="02020603050405020304" pitchFamily="18" charset="0"/>
                  <a:sym typeface="Symbol" panose="05050102010706020507" pitchFamily="18" charset="2"/>
                </a:rPr>
                <a:t>N</a:t>
              </a:r>
              <a:r>
                <a:rPr lang="en-US" altLang="zh-CN" sz="2000" b="1" i="1">
                  <a:latin typeface="Times New Roman" panose="02020603050405020304" pitchFamily="18" charset="0"/>
                </a:rPr>
                <a:t> 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zh-CN" altLang="en-US" sz="2000" b="1">
                  <a:latin typeface="Times New Roman" panose="02020603050405020304" pitchFamily="18" charset="0"/>
                </a:rPr>
                <a:t>幂运算规则</a:t>
              </a:r>
              <a:r>
                <a:rPr lang="en-US" altLang="zh-CN" sz="2000" b="1">
                  <a:latin typeface="Times New Roman" panose="02020603050405020304" pitchFamily="18" charset="0"/>
                </a:rPr>
                <a:t> </a:t>
              </a:r>
              <a:r>
                <a:rPr lang="en-US" altLang="zh-CN" sz="2000" b="1" i="1">
                  <a:latin typeface="Times New Roman" panose="02020603050405020304" pitchFamily="18" charset="0"/>
                </a:rPr>
                <a:t>   a</a:t>
              </a:r>
              <a:r>
                <a:rPr lang="en-US" altLang="zh-CN" sz="2000" b="1" i="1" baseline="30000">
                  <a:latin typeface="Times New Roman" panose="02020603050405020304" pitchFamily="18" charset="0"/>
                </a:rPr>
                <a:t>n</a:t>
              </a:r>
              <a:r>
                <a:rPr lang="en-US" altLang="zh-CN" sz="2000" b="1" i="1">
                  <a:latin typeface="Times New Roman" panose="02020603050405020304" pitchFamily="18" charset="0"/>
                </a:rPr>
                <a:t>a</a:t>
              </a:r>
              <a:r>
                <a:rPr lang="en-US" altLang="zh-CN" sz="2000" b="1" i="1" baseline="30000">
                  <a:latin typeface="Times New Roman" panose="02020603050405020304" pitchFamily="18" charset="0"/>
                </a:rPr>
                <a:t>m</a:t>
              </a:r>
              <a:r>
                <a:rPr lang="en-US" altLang="zh-CN" sz="2000" b="1" baseline="30000">
                  <a:latin typeface="Times New Roman" panose="02020603050405020304" pitchFamily="18" charset="0"/>
                </a:rPr>
                <a:t> </a:t>
              </a:r>
              <a:r>
                <a:rPr lang="en-US" altLang="zh-CN" sz="2000" b="1">
                  <a:latin typeface="Times New Roman" panose="02020603050405020304" pitchFamily="18" charset="0"/>
                </a:rPr>
                <a:t>= </a:t>
              </a:r>
              <a:r>
                <a:rPr lang="en-US" altLang="zh-CN" sz="2000" b="1" i="1">
                  <a:latin typeface="Times New Roman" panose="02020603050405020304" pitchFamily="18" charset="0"/>
                </a:rPr>
                <a:t>a</a:t>
              </a:r>
              <a:r>
                <a:rPr lang="en-US" altLang="zh-CN" sz="2000" b="1" i="1" baseline="30000">
                  <a:latin typeface="Times New Roman" panose="02020603050405020304" pitchFamily="18" charset="0"/>
                </a:rPr>
                <a:t>n+m</a:t>
              </a:r>
              <a:r>
                <a:rPr lang="zh-CN" altLang="en-US" sz="2000" b="1">
                  <a:latin typeface="Times New Roman" panose="02020603050405020304" pitchFamily="18" charset="0"/>
                </a:rPr>
                <a:t>，</a:t>
              </a:r>
              <a:r>
                <a:rPr lang="en-US" altLang="zh-CN" sz="2000" b="1">
                  <a:latin typeface="Times New Roman" panose="02020603050405020304" pitchFamily="18" charset="0"/>
                </a:rPr>
                <a:t>(</a:t>
              </a:r>
              <a:r>
                <a:rPr lang="en-US" altLang="zh-CN" sz="2000" b="1" i="1">
                  <a:latin typeface="Times New Roman" panose="02020603050405020304" pitchFamily="18" charset="0"/>
                </a:rPr>
                <a:t>a</a:t>
              </a:r>
              <a:r>
                <a:rPr lang="en-US" altLang="zh-CN" sz="2000" b="1" i="1" baseline="30000">
                  <a:latin typeface="Times New Roman" panose="02020603050405020304" pitchFamily="18" charset="0"/>
                </a:rPr>
                <a:t>n</a:t>
              </a:r>
              <a:r>
                <a:rPr lang="en-US" altLang="zh-CN" sz="2000" b="1">
                  <a:latin typeface="Times New Roman" panose="02020603050405020304" pitchFamily="18" charset="0"/>
                </a:rPr>
                <a:t>)</a:t>
              </a:r>
              <a:r>
                <a:rPr lang="en-US" altLang="zh-CN" sz="2000" b="1" i="1" baseline="30000">
                  <a:latin typeface="Times New Roman" panose="02020603050405020304" pitchFamily="18" charset="0"/>
                </a:rPr>
                <a:t>m</a:t>
              </a:r>
              <a:r>
                <a:rPr lang="en-US" altLang="zh-CN" sz="2000" b="1">
                  <a:latin typeface="Times New Roman" panose="02020603050405020304" pitchFamily="18" charset="0"/>
                </a:rPr>
                <a:t> = </a:t>
              </a:r>
              <a:r>
                <a:rPr lang="en-US" altLang="zh-CN" sz="2000" b="1" i="1">
                  <a:latin typeface="Times New Roman" panose="02020603050405020304" pitchFamily="18" charset="0"/>
                </a:rPr>
                <a:t>a</a:t>
              </a:r>
              <a:r>
                <a:rPr lang="en-US" altLang="zh-CN" sz="2000" b="1" i="1" baseline="30000">
                  <a:latin typeface="Times New Roman" panose="02020603050405020304" pitchFamily="18" charset="0"/>
                </a:rPr>
                <a:t>nm </a:t>
              </a:r>
              <a:endParaRPr lang="en-US" altLang="zh-CN" sz="2000" b="1" i="1">
                <a:latin typeface="Times New Roman" panose="02020603050405020304" pitchFamily="18" charset="0"/>
              </a:endParaRPr>
            </a:p>
          </p:txBody>
        </p:sp>
        <p:sp>
          <p:nvSpPr>
            <p:cNvPr id="72" name="右箭头 71">
              <a:extLst>
                <a:ext uri="{FF2B5EF4-FFF2-40B4-BE49-F238E27FC236}">
                  <a16:creationId xmlns:a16="http://schemas.microsoft.com/office/drawing/2014/main" id="{8DE5EDDF-2156-45AE-BB49-CA076465C209}"/>
                </a:ext>
              </a:extLst>
            </p:cNvPr>
            <p:cNvSpPr/>
            <p:nvPr/>
          </p:nvSpPr>
          <p:spPr>
            <a:xfrm>
              <a:off x="2051720" y="3213392"/>
              <a:ext cx="431738" cy="215885"/>
            </a:xfrm>
            <a:prstGeom prst="rightArrow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6" name="组合 81">
            <a:extLst>
              <a:ext uri="{FF2B5EF4-FFF2-40B4-BE49-F238E27FC236}">
                <a16:creationId xmlns:a16="http://schemas.microsoft.com/office/drawing/2014/main" id="{B437FC77-4D9B-4CD8-8FEA-3ACEA2FF1808}"/>
              </a:ext>
            </a:extLst>
          </p:cNvPr>
          <p:cNvGrpSpPr>
            <a:grpSpLocks/>
          </p:cNvGrpSpPr>
          <p:nvPr/>
        </p:nvGrpSpPr>
        <p:grpSpPr bwMode="auto">
          <a:xfrm>
            <a:off x="2376488" y="4029075"/>
            <a:ext cx="5832475" cy="768350"/>
            <a:chOff x="2123728" y="4482861"/>
            <a:chExt cx="5832648" cy="769442"/>
          </a:xfrm>
        </p:grpSpPr>
        <p:sp>
          <p:nvSpPr>
            <p:cNvPr id="6169" name="Rectangle 5">
              <a:extLst>
                <a:ext uri="{FF2B5EF4-FFF2-40B4-BE49-F238E27FC236}">
                  <a16:creationId xmlns:a16="http://schemas.microsoft.com/office/drawing/2014/main" id="{DB620653-5DDA-4960-9E55-E75E85EED7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0152" y="4482862"/>
              <a:ext cx="2016224" cy="769441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8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10000"/>
                </a:lnSpc>
              </a:pPr>
              <a:r>
                <a:rPr lang="zh-CN" altLang="en-US" sz="2000" b="1">
                  <a:latin typeface="Times New Roman" panose="02020603050405020304" pitchFamily="18" charset="0"/>
                </a:rPr>
                <a:t>子独异点</a:t>
              </a:r>
              <a:endParaRPr lang="en-US" altLang="zh-CN" sz="2000" b="1">
                <a:latin typeface="Times New Roman" panose="02020603050405020304" pitchFamily="18" charset="0"/>
              </a:endParaRPr>
            </a:p>
            <a:p>
              <a:pPr algn="ctr" eaLnBrk="1" hangingPunct="1">
                <a:lnSpc>
                  <a:spcPct val="110000"/>
                </a:lnSpc>
              </a:pPr>
              <a:r>
                <a:rPr lang="zh-CN" altLang="en-US" sz="2000" b="1">
                  <a:latin typeface="Times New Roman" panose="02020603050405020304" pitchFamily="18" charset="0"/>
                </a:rPr>
                <a:t>独异点直积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grpSp>
          <p:nvGrpSpPr>
            <p:cNvPr id="6170" name="组合 80">
              <a:extLst>
                <a:ext uri="{FF2B5EF4-FFF2-40B4-BE49-F238E27FC236}">
                  <a16:creationId xmlns:a16="http://schemas.microsoft.com/office/drawing/2014/main" id="{EF65C0D4-5D99-4663-9DA4-63D97BA93A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23728" y="4482861"/>
              <a:ext cx="3529118" cy="769441"/>
              <a:chOff x="2123728" y="4482861"/>
              <a:chExt cx="3529118" cy="769441"/>
            </a:xfrm>
          </p:grpSpPr>
          <p:sp>
            <p:nvSpPr>
              <p:cNvPr id="6171" name="Rectangle 5">
                <a:extLst>
                  <a:ext uri="{FF2B5EF4-FFF2-40B4-BE49-F238E27FC236}">
                    <a16:creationId xmlns:a16="http://schemas.microsoft.com/office/drawing/2014/main" id="{8E6B89B2-8586-43B0-BBF0-032049597A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5856" y="4482861"/>
                <a:ext cx="1296144" cy="769441"/>
              </a:xfrm>
              <a:prstGeom prst="rect">
                <a:avLst/>
              </a:prstGeom>
              <a:solidFill>
                <a:srgbClr val="FFFFCC"/>
              </a:solidFill>
              <a:ln w="28575">
                <a:solidFill>
                  <a:srgbClr val="80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10000"/>
                  </a:lnSpc>
                </a:pPr>
                <a:r>
                  <a:rPr lang="zh-CN" altLang="en-US" sz="2000" b="1">
                    <a:latin typeface="Times New Roman" panose="02020603050405020304" pitchFamily="18" charset="0"/>
                  </a:rPr>
                  <a:t>子半群</a:t>
                </a:r>
                <a:endParaRPr lang="en-US" altLang="zh-CN" sz="2000" b="1">
                  <a:latin typeface="Times New Roman" panose="02020603050405020304" pitchFamily="18" charset="0"/>
                </a:endParaRPr>
              </a:p>
              <a:p>
                <a:pPr algn="ctr" eaLnBrk="1" hangingPunct="1">
                  <a:lnSpc>
                    <a:spcPct val="110000"/>
                  </a:lnSpc>
                </a:pPr>
                <a:r>
                  <a:rPr lang="zh-CN" altLang="en-US" sz="2000" b="1">
                    <a:latin typeface="Times New Roman" panose="02020603050405020304" pitchFamily="18" charset="0"/>
                  </a:rPr>
                  <a:t>半群直积</a:t>
                </a:r>
                <a:endParaRPr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3" name="右箭头 72">
                <a:extLst>
                  <a:ext uri="{FF2B5EF4-FFF2-40B4-BE49-F238E27FC236}">
                    <a16:creationId xmlns:a16="http://schemas.microsoft.com/office/drawing/2014/main" id="{16B983B4-E216-4F1D-9AE6-7E9CC2A42DDC}"/>
                  </a:ext>
                </a:extLst>
              </p:cNvPr>
              <p:cNvSpPr/>
              <p:nvPr/>
            </p:nvSpPr>
            <p:spPr>
              <a:xfrm>
                <a:off x="2123728" y="4581426"/>
                <a:ext cx="431813" cy="216207"/>
              </a:xfrm>
              <a:prstGeom prst="rightArrow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78" name="直接箭头连接符 77">
                <a:extLst>
                  <a:ext uri="{FF2B5EF4-FFF2-40B4-BE49-F238E27FC236}">
                    <a16:creationId xmlns:a16="http://schemas.microsoft.com/office/drawing/2014/main" id="{0AC7A5D9-1B2B-4FF0-8739-4400F6BE6189}"/>
                  </a:ext>
                </a:extLst>
              </p:cNvPr>
              <p:cNvCxnSpPr/>
              <p:nvPr/>
            </p:nvCxnSpPr>
            <p:spPr>
              <a:xfrm>
                <a:off x="4932099" y="4797633"/>
                <a:ext cx="720746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" name="组合 82">
            <a:extLst>
              <a:ext uri="{FF2B5EF4-FFF2-40B4-BE49-F238E27FC236}">
                <a16:creationId xmlns:a16="http://schemas.microsoft.com/office/drawing/2014/main" id="{7B70DF17-6317-4C30-BD4D-BC4FFBDF302D}"/>
              </a:ext>
            </a:extLst>
          </p:cNvPr>
          <p:cNvGrpSpPr>
            <a:grpSpLocks/>
          </p:cNvGrpSpPr>
          <p:nvPr/>
        </p:nvGrpSpPr>
        <p:grpSpPr bwMode="auto">
          <a:xfrm>
            <a:off x="2376488" y="5045075"/>
            <a:ext cx="5832475" cy="400050"/>
            <a:chOff x="2123728" y="5653032"/>
            <a:chExt cx="5832648" cy="400113"/>
          </a:xfrm>
        </p:grpSpPr>
        <p:sp>
          <p:nvSpPr>
            <p:cNvPr id="6165" name="Text Box 7">
              <a:extLst>
                <a:ext uri="{FF2B5EF4-FFF2-40B4-BE49-F238E27FC236}">
                  <a16:creationId xmlns:a16="http://schemas.microsoft.com/office/drawing/2014/main" id="{5D866895-738D-471F-8792-A8E93D6D86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0152" y="5653035"/>
              <a:ext cx="2016224" cy="400110"/>
            </a:xfrm>
            <a:prstGeom prst="rect">
              <a:avLst/>
            </a:prstGeom>
            <a:noFill/>
            <a:ln w="28575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/>
                <a:t>商独异点</a:t>
              </a:r>
            </a:p>
          </p:txBody>
        </p:sp>
        <p:sp>
          <p:nvSpPr>
            <p:cNvPr id="6166" name="Text Box 33">
              <a:extLst>
                <a:ext uri="{FF2B5EF4-FFF2-40B4-BE49-F238E27FC236}">
                  <a16:creationId xmlns:a16="http://schemas.microsoft.com/office/drawing/2014/main" id="{535A7846-4955-4811-87C1-4DCFCFA0F3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5179" y="5653032"/>
              <a:ext cx="1256821" cy="400110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8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/>
                <a:t>商半群</a:t>
              </a:r>
            </a:p>
          </p:txBody>
        </p:sp>
        <p:sp>
          <p:nvSpPr>
            <p:cNvPr id="74" name="右箭头 73">
              <a:extLst>
                <a:ext uri="{FF2B5EF4-FFF2-40B4-BE49-F238E27FC236}">
                  <a16:creationId xmlns:a16="http://schemas.microsoft.com/office/drawing/2014/main" id="{931B32D2-F981-4352-ABC7-F7FA87E302EB}"/>
                </a:ext>
              </a:extLst>
            </p:cNvPr>
            <p:cNvSpPr/>
            <p:nvPr/>
          </p:nvSpPr>
          <p:spPr>
            <a:xfrm>
              <a:off x="2123728" y="5692726"/>
              <a:ext cx="431813" cy="215934"/>
            </a:xfrm>
            <a:prstGeom prst="rightArrow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79" name="直接箭头连接符 78">
              <a:extLst>
                <a:ext uri="{FF2B5EF4-FFF2-40B4-BE49-F238E27FC236}">
                  <a16:creationId xmlns:a16="http://schemas.microsoft.com/office/drawing/2014/main" id="{B2C1E001-2915-43C9-AC5A-0C411F02EA0A}"/>
                </a:ext>
              </a:extLst>
            </p:cNvPr>
            <p:cNvCxnSpPr/>
            <p:nvPr/>
          </p:nvCxnSpPr>
          <p:spPr>
            <a:xfrm>
              <a:off x="5003538" y="5805456"/>
              <a:ext cx="720746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59" name="TextBox 83">
            <a:extLst>
              <a:ext uri="{FF2B5EF4-FFF2-40B4-BE49-F238E27FC236}">
                <a16:creationId xmlns:a16="http://schemas.microsoft.com/office/drawing/2014/main" id="{CF557727-54A0-49AA-9D44-1F2194862A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5630863"/>
            <a:ext cx="803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/>
              <a:t>同态</a:t>
            </a:r>
          </a:p>
        </p:txBody>
      </p:sp>
      <p:grpSp>
        <p:nvGrpSpPr>
          <p:cNvPr id="9" name="组合 84">
            <a:extLst>
              <a:ext uri="{FF2B5EF4-FFF2-40B4-BE49-F238E27FC236}">
                <a16:creationId xmlns:a16="http://schemas.microsoft.com/office/drawing/2014/main" id="{3990E6D9-A038-47A9-B260-52A9A506802C}"/>
              </a:ext>
            </a:extLst>
          </p:cNvPr>
          <p:cNvGrpSpPr>
            <a:grpSpLocks/>
          </p:cNvGrpSpPr>
          <p:nvPr/>
        </p:nvGrpSpPr>
        <p:grpSpPr bwMode="auto">
          <a:xfrm>
            <a:off x="2376488" y="5692775"/>
            <a:ext cx="5832475" cy="400050"/>
            <a:chOff x="2123728" y="5621178"/>
            <a:chExt cx="5832648" cy="400110"/>
          </a:xfrm>
        </p:grpSpPr>
        <p:sp>
          <p:nvSpPr>
            <p:cNvPr id="6161" name="Text Box 7">
              <a:extLst>
                <a:ext uri="{FF2B5EF4-FFF2-40B4-BE49-F238E27FC236}">
                  <a16:creationId xmlns:a16="http://schemas.microsoft.com/office/drawing/2014/main" id="{36FC1B30-5766-4544-9147-A37A4A2E63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0152" y="5621178"/>
              <a:ext cx="2016224" cy="400110"/>
            </a:xfrm>
            <a:prstGeom prst="rect">
              <a:avLst/>
            </a:prstGeom>
            <a:noFill/>
            <a:ln w="28575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/>
                <a:t>独异点同态</a:t>
              </a:r>
            </a:p>
          </p:txBody>
        </p:sp>
        <p:sp>
          <p:nvSpPr>
            <p:cNvPr id="6162" name="Text Box 33">
              <a:extLst>
                <a:ext uri="{FF2B5EF4-FFF2-40B4-BE49-F238E27FC236}">
                  <a16:creationId xmlns:a16="http://schemas.microsoft.com/office/drawing/2014/main" id="{B2898591-1A21-4403-A243-7FB79322AD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5179" y="5621178"/>
              <a:ext cx="1256821" cy="400110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8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/>
                <a:t>半群同态</a:t>
              </a:r>
            </a:p>
          </p:txBody>
        </p:sp>
        <p:sp>
          <p:nvSpPr>
            <p:cNvPr id="88" name="右箭头 87">
              <a:extLst>
                <a:ext uri="{FF2B5EF4-FFF2-40B4-BE49-F238E27FC236}">
                  <a16:creationId xmlns:a16="http://schemas.microsoft.com/office/drawing/2014/main" id="{D27754BB-04AD-4FE7-A4B8-EA4A61E25131}"/>
                </a:ext>
              </a:extLst>
            </p:cNvPr>
            <p:cNvSpPr/>
            <p:nvPr/>
          </p:nvSpPr>
          <p:spPr>
            <a:xfrm>
              <a:off x="2123728" y="5660872"/>
              <a:ext cx="431813" cy="215932"/>
            </a:xfrm>
            <a:prstGeom prst="rightArrow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89" name="直接箭头连接符 88">
              <a:extLst>
                <a:ext uri="{FF2B5EF4-FFF2-40B4-BE49-F238E27FC236}">
                  <a16:creationId xmlns:a16="http://schemas.microsoft.com/office/drawing/2014/main" id="{B71E3632-627B-4572-AA21-2A26A32AD7BF}"/>
                </a:ext>
              </a:extLst>
            </p:cNvPr>
            <p:cNvCxnSpPr/>
            <p:nvPr/>
          </p:nvCxnSpPr>
          <p:spPr>
            <a:xfrm>
              <a:off x="5003538" y="5805356"/>
              <a:ext cx="720746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7D41C19E-F276-4F6F-9518-D0304C4C9A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156368"/>
            <a:ext cx="7772400" cy="639763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16.1 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半群与独异点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D3DD7D75-AFC1-4760-B8E2-E63CBD53FC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125538"/>
            <a:ext cx="8135937" cy="525621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b="1">
                <a:solidFill>
                  <a:srgbClr val="C00000"/>
                </a:solidFill>
              </a:rPr>
              <a:t>半群、独异点的定义与性质</a:t>
            </a:r>
          </a:p>
          <a:p>
            <a:pPr lvl="1" eaLnBrk="1" hangingPunct="1">
              <a:lnSpc>
                <a:spcPct val="90000"/>
              </a:lnSpc>
              <a:spcBef>
                <a:spcPts val="600"/>
              </a:spcBef>
            </a:pPr>
            <a:r>
              <a:rPr lang="zh-CN" altLang="en-US" b="1"/>
              <a:t>半群与独异点定义</a:t>
            </a:r>
            <a:endParaRPr lang="en-US" altLang="zh-CN" b="1"/>
          </a:p>
          <a:p>
            <a:pPr lvl="1" eaLnBrk="1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zh-CN" altLang="en-US" b="1"/>
              <a:t>  </a:t>
            </a:r>
            <a:r>
              <a:rPr lang="zh-CN" altLang="en-US" sz="2400" b="1"/>
              <a:t>表示：半群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=&lt;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,∘&gt;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，独异点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 &lt;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,∘,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lvl="1" eaLnBrk="1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说明：</a:t>
            </a:r>
            <a:r>
              <a:rPr lang="zh-CN" altLang="en-US" sz="2400" b="1"/>
              <a:t>任何半群可通过增加单位元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并定义与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的运算</a:t>
            </a:r>
            <a:endParaRPr lang="en-US" altLang="zh-CN" sz="2400" b="1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zh-CN" altLang="en-US" sz="2400" b="1"/>
              <a:t>                 扩张成独异点</a:t>
            </a: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zh-CN" altLang="en-US" sz="2400"/>
              <a:t>                        </a:t>
            </a:r>
            <a:r>
              <a:rPr lang="zh-CN" altLang="en-US" sz="2400" b="1"/>
              <a:t>运算表示式中可以省略算符</a:t>
            </a:r>
          </a:p>
          <a:p>
            <a:pPr lvl="1" eaLnBrk="1" hangingPunct="1">
              <a:lnSpc>
                <a:spcPct val="90000"/>
              </a:lnSpc>
              <a:spcBef>
                <a:spcPts val="1800"/>
              </a:spcBef>
            </a:pPr>
            <a:r>
              <a:rPr lang="zh-CN" altLang="en-US" b="1"/>
              <a:t>半群与独异点的幂运算性质</a:t>
            </a:r>
            <a:endParaRPr lang="en-US" altLang="zh-CN" b="1"/>
          </a:p>
          <a:p>
            <a:pPr lvl="1" eaLnBrk="1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</a:pPr>
            <a:r>
              <a:rPr lang="zh-CN" altLang="en-US" b="1"/>
              <a:t>  </a:t>
            </a:r>
            <a:r>
              <a:rPr lang="zh-CN" altLang="en-US" sz="2400" b="1">
                <a:solidFill>
                  <a:srgbClr val="C00000"/>
                </a:solidFill>
              </a:rPr>
              <a:t>定理</a:t>
            </a:r>
            <a:r>
              <a:rPr lang="en-US" altLang="zh-CN" sz="2400" b="1">
                <a:solidFill>
                  <a:srgbClr val="C00000"/>
                </a:solidFill>
              </a:rPr>
              <a:t>1</a:t>
            </a:r>
            <a:r>
              <a:rPr lang="zh-CN" altLang="en-US" b="1"/>
              <a:t>：</a:t>
            </a:r>
            <a:r>
              <a:rPr lang="zh-CN" altLang="en-US" sz="2400" b="1"/>
              <a:t>对于任何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 i="1" baseline="30000">
                <a:latin typeface="Times New Roman" panose="02020603050405020304" pitchFamily="18" charset="0"/>
              </a:rPr>
              <a:t>n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 i="1" baseline="30000">
                <a:latin typeface="Times New Roman" panose="02020603050405020304" pitchFamily="18" charset="0"/>
              </a:rPr>
              <a:t>m</a:t>
            </a:r>
            <a:r>
              <a:rPr lang="en-US" altLang="zh-CN" sz="2400" b="1" baseline="30000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</a:rPr>
              <a:t>= 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 i="1" baseline="30000">
                <a:latin typeface="Times New Roman" panose="02020603050405020304" pitchFamily="18" charset="0"/>
              </a:rPr>
              <a:t>n+m</a:t>
            </a:r>
            <a:r>
              <a:rPr lang="zh-CN" altLang="en-US" sz="2400" b="1">
                <a:latin typeface="Times New Roman" panose="02020603050405020304" pitchFamily="18" charset="0"/>
              </a:rPr>
              <a:t>，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 i="1" baseline="30000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</a:rPr>
              <a:t>)</a:t>
            </a:r>
            <a:r>
              <a:rPr lang="en-US" altLang="zh-CN" sz="2400" b="1" i="1" baseline="30000">
                <a:latin typeface="Times New Roman" panose="02020603050405020304" pitchFamily="18" charset="0"/>
              </a:rPr>
              <a:t>m</a:t>
            </a:r>
            <a:r>
              <a:rPr lang="en-US" altLang="zh-CN" sz="2400" b="1">
                <a:latin typeface="Times New Roman" panose="02020603050405020304" pitchFamily="18" charset="0"/>
              </a:rPr>
              <a:t> = 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 i="1" baseline="30000">
                <a:latin typeface="Times New Roman" panose="02020603050405020304" pitchFamily="18" charset="0"/>
              </a:rPr>
              <a:t>nm</a:t>
            </a:r>
          </a:p>
          <a:p>
            <a:pPr lvl="1" eaLnBrk="1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注意：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n,m</a:t>
            </a:r>
            <a:r>
              <a:rPr lang="zh-CN" altLang="en-US" sz="2400" b="1"/>
              <a:t>在半群为正整数，在独异点为自然数</a:t>
            </a:r>
            <a:endParaRPr lang="en-US" altLang="zh-CN" sz="2400" b="1"/>
          </a:p>
          <a:p>
            <a:pPr lvl="1" eaLnBrk="1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zh-CN" altLang="en-US" sz="2400" b="1"/>
              <a:t>  证明：数学归纳法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endParaRPr lang="zh-CN" altLang="en-US" b="1"/>
          </a:p>
        </p:txBody>
      </p:sp>
      <p:sp>
        <p:nvSpPr>
          <p:cNvPr id="8194" name="灯片编号占位符 5">
            <a:extLst>
              <a:ext uri="{FF2B5EF4-FFF2-40B4-BE49-F238E27FC236}">
                <a16:creationId xmlns:a16="http://schemas.microsoft.com/office/drawing/2014/main" id="{86BB0621-00FE-41FF-A8DD-0BC4B85CE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128B037-F13A-4507-B6BA-D6DC3497F265}" type="slidenum">
              <a:rPr lang="en-US" altLang="zh-CN">
                <a:solidFill>
                  <a:srgbClr val="898989"/>
                </a:solidFill>
              </a:rPr>
              <a:pPr eaLnBrk="1" hangingPunct="1"/>
              <a:t>2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灯片编号占位符 4">
            <a:extLst>
              <a:ext uri="{FF2B5EF4-FFF2-40B4-BE49-F238E27FC236}">
                <a16:creationId xmlns:a16="http://schemas.microsoft.com/office/drawing/2014/main" id="{2509F1C0-DC11-4AA6-B50F-20655AB1B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8FC39EA-F749-486F-BB7D-D878F09B1350}" type="slidenum">
              <a:rPr lang="en-US" altLang="zh-CN">
                <a:solidFill>
                  <a:srgbClr val="898989"/>
                </a:solidFill>
              </a:rPr>
              <a:pPr eaLnBrk="1" hangingPunct="1"/>
              <a:t>3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1026" name="Object 2">
            <a:extLst>
              <a:ext uri="{FF2B5EF4-FFF2-40B4-BE49-F238E27FC236}">
                <a16:creationId xmlns:a16="http://schemas.microsoft.com/office/drawing/2014/main" id="{BCE4550A-448D-4543-8679-D98F1C63EC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" y="1125538"/>
          <a:ext cx="7786688" cy="244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Document" r:id="rId4" imgW="3871900" imgH="1186855" progId="Word.Document.8">
                  <p:embed/>
                </p:oleObj>
              </mc:Choice>
              <mc:Fallback>
                <p:oleObj name="Document" r:id="rId4" imgW="3871900" imgH="1186855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125538"/>
                        <a:ext cx="7786688" cy="2447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3284" name="Rectangle 4">
            <a:extLst>
              <a:ext uri="{FF2B5EF4-FFF2-40B4-BE49-F238E27FC236}">
                <a16:creationId xmlns:a16="http://schemas.microsoft.com/office/drawing/2014/main" id="{F0B88BFD-691D-43F1-A152-40291691A1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3284538"/>
            <a:ext cx="74168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</a:rPr>
              <a:t>证 </a:t>
            </a:r>
            <a:r>
              <a:rPr lang="en-US" altLang="zh-CN" sz="2400" b="1">
                <a:latin typeface="Times New Roman" panose="02020603050405020304" pitchFamily="18" charset="0"/>
              </a:rPr>
              <a:t>(1) </a:t>
            </a:r>
            <a:r>
              <a:rPr lang="zh-CN" altLang="en-US" sz="2400" b="1">
                <a:latin typeface="Times New Roman" panose="02020603050405020304" pitchFamily="18" charset="0"/>
              </a:rPr>
              <a:t>假若</a:t>
            </a:r>
            <a:r>
              <a:rPr lang="en-US" altLang="zh-CN" sz="2400" b="1" i="1">
                <a:latin typeface="Times New Roman" panose="02020603050405020304" pitchFamily="18" charset="0"/>
              </a:rPr>
              <a:t>aa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sz="2400" b="1" i="1">
                <a:latin typeface="Times New Roman" panose="02020603050405020304" pitchFamily="18" charset="0"/>
              </a:rPr>
              <a:t> 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则</a:t>
            </a:r>
            <a:endParaRPr lang="zh-CN" altLang="en-US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  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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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aaa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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aaa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，矛盾 </a:t>
            </a:r>
          </a:p>
        </p:txBody>
      </p:sp>
      <p:sp>
        <p:nvSpPr>
          <p:cNvPr id="353285" name="Rectangle 5">
            <a:extLst>
              <a:ext uri="{FF2B5EF4-FFF2-40B4-BE49-F238E27FC236}">
                <a16:creationId xmlns:a16="http://schemas.microsoft.com/office/drawing/2014/main" id="{10479E55-3C15-45AF-AAF4-AAD0C4C2E1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5013325"/>
            <a:ext cx="74168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(3)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假若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abc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sz="2400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ac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则</a:t>
            </a:r>
          </a:p>
          <a:p>
            <a:pPr eaLnBrk="1" hangingPunct="1"/>
            <a:r>
              <a:rPr lang="zh-CN" altLang="en-US" sz="2400">
                <a:latin typeface="Times New Roman" panose="02020603050405020304" pitchFamily="18" charset="0"/>
                <a:sym typeface="Symbol" panose="05050102010706020507" pitchFamily="18" charset="2"/>
              </a:rPr>
              <a:t>       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abc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ac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(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ac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abc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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abcac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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acabc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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abc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</a:t>
            </a:r>
            <a:r>
              <a:rPr lang="en-US" altLang="zh-CN" sz="2400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</a:rPr>
              <a:t>abc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， </a:t>
            </a:r>
          </a:p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矛盾 </a:t>
            </a:r>
          </a:p>
        </p:txBody>
      </p:sp>
      <p:sp>
        <p:nvSpPr>
          <p:cNvPr id="353286" name="Rectangle 6">
            <a:extLst>
              <a:ext uri="{FF2B5EF4-FFF2-40B4-BE49-F238E27FC236}">
                <a16:creationId xmlns:a16="http://schemas.microsoft.com/office/drawing/2014/main" id="{03B81988-BB2A-4840-8082-2D9E777AF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4149725"/>
            <a:ext cx="74168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(2)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假若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aba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sz="2400" b="1" i="1">
                <a:latin typeface="Times New Roman" panose="02020603050405020304" pitchFamily="18" charset="0"/>
              </a:rPr>
              <a:t> 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则</a:t>
            </a:r>
            <a:endParaRPr lang="zh-CN" altLang="en-US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  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aba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</a:t>
            </a:r>
            <a:r>
              <a:rPr lang="en-US" altLang="zh-CN" sz="2400" b="1" i="1">
                <a:latin typeface="Times New Roman" panose="02020603050405020304" pitchFamily="18" charset="0"/>
              </a:rPr>
              <a:t> 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aba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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aba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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aba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，矛盾  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1ABB2D5F-AB11-4238-B51E-21447EFAEA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90002"/>
            <a:ext cx="7772400" cy="639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4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运算性质的应用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32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3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32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3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32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3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3284" grpId="0"/>
      <p:bldP spid="353285" grpId="0"/>
      <p:bldP spid="35328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灯片编号占位符 5">
            <a:extLst>
              <a:ext uri="{FF2B5EF4-FFF2-40B4-BE49-F238E27FC236}">
                <a16:creationId xmlns:a16="http://schemas.microsoft.com/office/drawing/2014/main" id="{14DA2C70-DFE9-472D-8993-2C4F31B72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06736C6-1D23-4442-B50E-0B5D6C9658FE}" type="slidenum">
              <a:rPr lang="en-US" altLang="zh-CN">
                <a:solidFill>
                  <a:srgbClr val="898989"/>
                </a:solidFill>
              </a:rPr>
              <a:pPr eaLnBrk="1" hangingPunct="1"/>
              <a:t>4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3C2C192-4601-4E3A-993F-1B26252B46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99" y="209776"/>
            <a:ext cx="8443913" cy="639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ctr">
              <a:defRPr/>
            </a:pPr>
            <a:r>
              <a:rPr lang="zh-CN" altLang="en-US" sz="4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子半群与子独异点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5EF9EA10-EE98-4D2E-85D7-BD0F5F55C5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196975"/>
            <a:ext cx="8135937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C00000"/>
                </a:solidFill>
                <a:latin typeface="+mn-lt"/>
                <a:ea typeface="+mn-ea"/>
              </a:rPr>
              <a:t>子半群、子独异点的判别</a:t>
            </a:r>
          </a:p>
          <a:p>
            <a:pPr eaLnBrk="0" hangingPunct="0">
              <a:spcBef>
                <a:spcPts val="400"/>
              </a:spcBef>
              <a:defRPr/>
            </a:pPr>
            <a:r>
              <a:rPr lang="zh-CN" altLang="en-US" sz="2400" b="1" dirty="0">
                <a:latin typeface="Times New Roman" pitchFamily="18" charset="0"/>
              </a:rPr>
              <a:t>     非空子集</a:t>
            </a:r>
            <a:r>
              <a:rPr lang="en-US" altLang="zh-CN" sz="2400" b="1" i="1" dirty="0">
                <a:latin typeface="Times New Roman" pitchFamily="18" charset="0"/>
              </a:rPr>
              <a:t>B</a:t>
            </a:r>
            <a:r>
              <a:rPr lang="zh-CN" altLang="en-US" sz="2400" b="1" dirty="0">
                <a:latin typeface="Times New Roman" pitchFamily="18" charset="0"/>
              </a:rPr>
              <a:t>，</a:t>
            </a:r>
            <a:endParaRPr lang="zh-CN" altLang="en-US" sz="2400" dirty="0">
              <a:latin typeface="Times New Roman" pitchFamily="18" charset="0"/>
            </a:endParaRPr>
          </a:p>
          <a:p>
            <a:pPr eaLnBrk="0" hangingPunct="0">
              <a:spcBef>
                <a:spcPts val="400"/>
              </a:spcBef>
              <a:defRPr/>
            </a:pPr>
            <a:r>
              <a:rPr lang="en-US" altLang="zh-CN" sz="2400" b="1" i="1" dirty="0">
                <a:latin typeface="Times New Roman" pitchFamily="18" charset="0"/>
              </a:rPr>
              <a:t>     B </a:t>
            </a:r>
            <a:r>
              <a:rPr lang="zh-CN" altLang="en-US" sz="2400" b="1" dirty="0">
                <a:latin typeface="Times New Roman" pitchFamily="18" charset="0"/>
              </a:rPr>
              <a:t>对于</a:t>
            </a:r>
            <a:r>
              <a:rPr lang="en-US" altLang="zh-CN" sz="2400" b="1" i="1" dirty="0">
                <a:latin typeface="Times New Roman" pitchFamily="18" charset="0"/>
              </a:rPr>
              <a:t>V </a:t>
            </a:r>
            <a:r>
              <a:rPr lang="zh-CN" altLang="en-US" sz="2400" b="1" dirty="0">
                <a:latin typeface="Times New Roman" pitchFamily="18" charset="0"/>
              </a:rPr>
              <a:t>中的运算（含</a:t>
            </a:r>
            <a:r>
              <a:rPr lang="en-US" altLang="zh-CN" sz="2400" b="1" dirty="0">
                <a:latin typeface="Times New Roman" pitchFamily="18" charset="0"/>
              </a:rPr>
              <a:t>0</a:t>
            </a:r>
            <a:r>
              <a:rPr lang="zh-CN" altLang="en-US" sz="2400" b="1" dirty="0">
                <a:latin typeface="Times New Roman" pitchFamily="18" charset="0"/>
              </a:rPr>
              <a:t>元运算）封闭</a:t>
            </a:r>
            <a:r>
              <a:rPr lang="en-US" altLang="zh-CN" sz="2400" b="1" dirty="0">
                <a:latin typeface="Times New Roman" pitchFamily="18" charset="0"/>
              </a:rPr>
              <a:t>.</a:t>
            </a:r>
          </a:p>
          <a:p>
            <a:pPr eaLnBrk="0" hangingPunct="0">
              <a:spcBef>
                <a:spcPts val="1800"/>
              </a:spcBef>
              <a:defRPr/>
            </a:pPr>
            <a:r>
              <a:rPr lang="en-US" altLang="zh-CN" sz="2400" b="1" dirty="0">
                <a:latin typeface="Times New Roman" pitchFamily="18" charset="0"/>
              </a:rPr>
              <a:t> </a:t>
            </a:r>
            <a:r>
              <a:rPr lang="zh-CN" altLang="en-US" sz="2400" b="1" dirty="0">
                <a:solidFill>
                  <a:srgbClr val="C00000"/>
                </a:solidFill>
                <a:latin typeface="Times New Roman" pitchFamily="18" charset="0"/>
              </a:rPr>
              <a:t>定理</a:t>
            </a:r>
            <a:r>
              <a:rPr lang="en-US" altLang="zh-CN" sz="2400" b="1" dirty="0">
                <a:solidFill>
                  <a:srgbClr val="C00000"/>
                </a:solidFill>
                <a:latin typeface="Times New Roman" pitchFamily="18" charset="0"/>
              </a:rPr>
              <a:t>2  </a:t>
            </a:r>
          </a:p>
          <a:p>
            <a:pPr eaLnBrk="0" hangingPunct="0">
              <a:lnSpc>
                <a:spcPts val="3000"/>
              </a:lnSpc>
              <a:spcBef>
                <a:spcPts val="400"/>
              </a:spcBef>
              <a:defRPr/>
            </a:pPr>
            <a:r>
              <a:rPr lang="en-US" altLang="zh-CN" sz="2400" b="1" dirty="0">
                <a:latin typeface="Times New Roman" pitchFamily="18" charset="0"/>
              </a:rPr>
              <a:t>     </a:t>
            </a:r>
            <a:r>
              <a:rPr lang="zh-CN" altLang="en-US" sz="2400" b="1" dirty="0">
                <a:latin typeface="Times New Roman" pitchFamily="18" charset="0"/>
              </a:rPr>
              <a:t>若干子半群的</a:t>
            </a:r>
            <a:r>
              <a:rPr lang="zh-CN" altLang="en-US" sz="2400" b="1" dirty="0">
                <a:solidFill>
                  <a:srgbClr val="C00000"/>
                </a:solidFill>
                <a:latin typeface="Times New Roman" pitchFamily="18" charset="0"/>
              </a:rPr>
              <a:t>非空</a:t>
            </a:r>
            <a:r>
              <a:rPr lang="zh-CN" altLang="en-US" sz="2400" b="1" dirty="0">
                <a:latin typeface="Times New Roman" pitchFamily="18" charset="0"/>
              </a:rPr>
              <a:t>交集仍为子半群；</a:t>
            </a:r>
            <a:endParaRPr lang="en-US" altLang="zh-CN" sz="2400" b="1" dirty="0">
              <a:latin typeface="Times New Roman" pitchFamily="18" charset="0"/>
            </a:endParaRPr>
          </a:p>
          <a:p>
            <a:pPr eaLnBrk="0" hangingPunct="0">
              <a:lnSpc>
                <a:spcPts val="3000"/>
              </a:lnSpc>
              <a:spcBef>
                <a:spcPts val="400"/>
              </a:spcBef>
              <a:defRPr/>
            </a:pPr>
            <a:r>
              <a:rPr lang="en-US" altLang="zh-CN" sz="2400" b="1" dirty="0">
                <a:latin typeface="Times New Roman" pitchFamily="18" charset="0"/>
              </a:rPr>
              <a:t>     </a:t>
            </a:r>
            <a:r>
              <a:rPr lang="zh-CN" altLang="en-US" sz="2400" b="1" dirty="0">
                <a:latin typeface="Times New Roman" pitchFamily="18" charset="0"/>
              </a:rPr>
              <a:t>若干子独异点的交集仍为子独异点</a:t>
            </a:r>
            <a:r>
              <a:rPr lang="en-US" altLang="zh-CN" sz="3200" b="1" dirty="0">
                <a:latin typeface="Times New Roman" pitchFamily="18" charset="0"/>
              </a:rPr>
              <a:t>.</a:t>
            </a:r>
          </a:p>
          <a:p>
            <a:pPr eaLnBrk="0" hangingPunct="0">
              <a:spcBef>
                <a:spcPts val="1200"/>
              </a:spcBef>
              <a:defRPr/>
            </a:pPr>
            <a:r>
              <a:rPr lang="en-US" altLang="zh-CN" sz="3200" b="1" dirty="0">
                <a:latin typeface="Times New Roman" pitchFamily="18" charset="0"/>
              </a:rPr>
              <a:t>    </a:t>
            </a:r>
            <a:r>
              <a:rPr lang="zh-CN" altLang="en-US" sz="2400" b="1" dirty="0">
                <a:latin typeface="Times New Roman" pitchFamily="18" charset="0"/>
              </a:rPr>
              <a:t>重要的子半群</a:t>
            </a:r>
            <a:r>
              <a:rPr lang="en-US" altLang="zh-CN" sz="2400" b="1" dirty="0">
                <a:latin typeface="Times New Roman" pitchFamily="18" charset="0"/>
              </a:rPr>
              <a:t>---</a:t>
            </a:r>
            <a:r>
              <a:rPr lang="zh-CN" altLang="en-US" sz="2400" b="1" dirty="0">
                <a:latin typeface="Times New Roman" pitchFamily="18" charset="0"/>
              </a:rPr>
              <a:t>子集合</a:t>
            </a:r>
            <a:r>
              <a:rPr lang="en-US" altLang="zh-CN" sz="2400" b="1" i="1" dirty="0">
                <a:solidFill>
                  <a:srgbClr val="C00000"/>
                </a:solidFill>
                <a:latin typeface="Times New Roman" pitchFamily="18" charset="0"/>
              </a:rPr>
              <a:t>B</a:t>
            </a:r>
            <a:r>
              <a:rPr lang="zh-CN" altLang="en-US" sz="2400" b="1" dirty="0">
                <a:solidFill>
                  <a:srgbClr val="C00000"/>
                </a:solidFill>
                <a:latin typeface="Times New Roman" pitchFamily="18" charset="0"/>
              </a:rPr>
              <a:t>生成的子半群</a:t>
            </a:r>
            <a:endParaRPr lang="zh-CN" altLang="en-US" sz="2400" dirty="0">
              <a:solidFill>
                <a:srgbClr val="C00000"/>
              </a:solidFill>
              <a:latin typeface="Times New Roman" pitchFamily="18" charset="0"/>
            </a:endParaRPr>
          </a:p>
          <a:p>
            <a:pPr indent="612775" eaLnBrk="0" hangingPunct="0">
              <a:spcBef>
                <a:spcPts val="600"/>
              </a:spcBef>
              <a:defRPr/>
            </a:pPr>
            <a:r>
              <a:rPr lang="zh-CN" altLang="en-US" sz="2400" b="1" dirty="0">
                <a:latin typeface="Times New Roman" pitchFamily="18" charset="0"/>
              </a:rPr>
              <a:t>   </a:t>
            </a:r>
            <a:r>
              <a:rPr lang="en-US" altLang="zh-CN" sz="2400" b="1" i="1" dirty="0">
                <a:latin typeface="Times New Roman" pitchFamily="18" charset="0"/>
              </a:rPr>
              <a:t>V</a:t>
            </a:r>
            <a:r>
              <a:rPr lang="en-US" altLang="zh-CN" sz="2400" b="1" dirty="0">
                <a:latin typeface="Times New Roman" pitchFamily="18" charset="0"/>
              </a:rPr>
              <a:t>=&lt;</a:t>
            </a:r>
            <a:r>
              <a:rPr lang="en-US" altLang="zh-CN" sz="2400" b="1" i="1" dirty="0">
                <a:latin typeface="Times New Roman" pitchFamily="18" charset="0"/>
              </a:rPr>
              <a:t>S</a:t>
            </a:r>
            <a:r>
              <a:rPr lang="en-US" altLang="zh-CN" sz="2400" b="1" dirty="0">
                <a:latin typeface="Times New Roman" pitchFamily="18" charset="0"/>
              </a:rPr>
              <a:t>,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*</a:t>
            </a:r>
            <a:r>
              <a:rPr lang="en-US" altLang="zh-CN" sz="2400" b="1" dirty="0">
                <a:latin typeface="Times New Roman" pitchFamily="18" charset="0"/>
              </a:rPr>
              <a:t>&gt;,  </a:t>
            </a:r>
            <a:r>
              <a:rPr lang="en-US" altLang="zh-CN" sz="2400" b="1" i="1" dirty="0">
                <a:latin typeface="Times New Roman" pitchFamily="18" charset="0"/>
              </a:rPr>
              <a:t>B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</a:t>
            </a:r>
            <a:r>
              <a:rPr lang="en-US" altLang="zh-CN" sz="2400" b="1" i="1" dirty="0">
                <a:latin typeface="Times New Roman" pitchFamily="18" charset="0"/>
              </a:rPr>
              <a:t>S</a:t>
            </a:r>
            <a:r>
              <a:rPr lang="en-US" altLang="zh-CN" sz="2400" b="1" dirty="0">
                <a:latin typeface="Times New Roman" pitchFamily="18" charset="0"/>
              </a:rPr>
              <a:t>,  </a:t>
            </a:r>
            <a:r>
              <a:rPr lang="zh-CN" altLang="en-US" sz="2400" b="1" dirty="0">
                <a:latin typeface="Times New Roman" pitchFamily="18" charset="0"/>
                <a:sym typeface="Symbol" pitchFamily="18" charset="2"/>
              </a:rPr>
              <a:t>包含</a:t>
            </a:r>
            <a:r>
              <a:rPr lang="en-US" altLang="zh-CN" sz="2400" b="1" i="1" dirty="0">
                <a:latin typeface="Times New Roman" pitchFamily="18" charset="0"/>
                <a:sym typeface="Symbol" pitchFamily="18" charset="2"/>
              </a:rPr>
              <a:t>B </a:t>
            </a:r>
            <a:r>
              <a:rPr lang="zh-CN" altLang="en-US" sz="2400" b="1" dirty="0">
                <a:latin typeface="Times New Roman" pitchFamily="18" charset="0"/>
                <a:sym typeface="Symbol" pitchFamily="18" charset="2"/>
              </a:rPr>
              <a:t>的最小的半群</a:t>
            </a:r>
            <a:endParaRPr lang="zh-CN" altLang="en-US" sz="2400" dirty="0">
              <a:latin typeface="Times New Roman" pitchFamily="18" charset="0"/>
              <a:sym typeface="Symbol" pitchFamily="18" charset="2"/>
            </a:endParaRPr>
          </a:p>
          <a:p>
            <a:pPr indent="612775" eaLnBrk="0" hangingPunct="0">
              <a:spcBef>
                <a:spcPts val="600"/>
              </a:spcBef>
              <a:defRPr/>
            </a:pPr>
            <a:r>
              <a:rPr lang="zh-CN" altLang="en-US" sz="2400" b="1" dirty="0">
                <a:latin typeface="Times New Roman" pitchFamily="18" charset="0"/>
                <a:sym typeface="Symbol" pitchFamily="18" charset="2"/>
              </a:rPr>
              <a:t>  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&lt;</a:t>
            </a:r>
            <a:r>
              <a:rPr lang="en-US" altLang="zh-CN" sz="2400" b="1" i="1" dirty="0">
                <a:latin typeface="Times New Roman" pitchFamily="18" charset="0"/>
                <a:sym typeface="Symbol" pitchFamily="18" charset="2"/>
              </a:rPr>
              <a:t>B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&gt;=</a:t>
            </a:r>
            <a:r>
              <a:rPr lang="en-US" altLang="zh-CN" sz="2400" b="1" dirty="0">
                <a:latin typeface="Times New Roman" pitchFamily="18" charset="0"/>
              </a:rPr>
              <a:t>{</a:t>
            </a:r>
            <a:r>
              <a:rPr lang="en-US" altLang="zh-CN" sz="2400" b="1" i="1" dirty="0">
                <a:latin typeface="Times New Roman" pitchFamily="18" charset="0"/>
              </a:rPr>
              <a:t>A </a:t>
            </a:r>
            <a:r>
              <a:rPr lang="en-US" altLang="zh-CN" sz="2400" b="1" dirty="0">
                <a:latin typeface="Times New Roman" pitchFamily="18" charset="0"/>
              </a:rPr>
              <a:t>| </a:t>
            </a:r>
            <a:r>
              <a:rPr lang="en-US" altLang="zh-CN" sz="2400" b="1" i="1" dirty="0">
                <a:latin typeface="Times New Roman" pitchFamily="18" charset="0"/>
              </a:rPr>
              <a:t>A</a:t>
            </a:r>
            <a:r>
              <a:rPr lang="zh-CN" altLang="en-US" sz="2400" b="1" dirty="0">
                <a:latin typeface="Times New Roman" pitchFamily="18" charset="0"/>
                <a:sym typeface="Symbol" pitchFamily="18" charset="2"/>
              </a:rPr>
              <a:t>是 </a:t>
            </a:r>
            <a:r>
              <a:rPr lang="en-US" altLang="zh-CN" sz="2400" b="1" i="1" dirty="0">
                <a:latin typeface="Times New Roman" pitchFamily="18" charset="0"/>
                <a:sym typeface="Symbol" pitchFamily="18" charset="2"/>
              </a:rPr>
              <a:t>S </a:t>
            </a:r>
            <a:r>
              <a:rPr lang="zh-CN" altLang="en-US" sz="2400" b="1" dirty="0">
                <a:latin typeface="Times New Roman" pitchFamily="18" charset="0"/>
                <a:sym typeface="Symbol" pitchFamily="18" charset="2"/>
              </a:rPr>
              <a:t>的子半群，</a:t>
            </a:r>
            <a:r>
              <a:rPr lang="en-US" altLang="zh-CN" sz="2400" b="1" i="1" dirty="0">
                <a:latin typeface="Times New Roman" pitchFamily="18" charset="0"/>
                <a:sym typeface="Symbol" pitchFamily="18" charset="2"/>
              </a:rPr>
              <a:t>B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</a:t>
            </a:r>
            <a:r>
              <a:rPr lang="en-US" altLang="zh-CN" sz="2400" b="1" i="1" dirty="0">
                <a:latin typeface="Times New Roman" pitchFamily="18" charset="0"/>
              </a:rPr>
              <a:t>A</a:t>
            </a:r>
            <a:r>
              <a:rPr lang="en-US" altLang="zh-CN" sz="2400" b="1" dirty="0">
                <a:latin typeface="Times New Roman" pitchFamily="18" charset="0"/>
              </a:rPr>
              <a:t>}</a:t>
            </a:r>
            <a:endParaRPr lang="en-US" altLang="zh-CN" sz="2400" dirty="0">
              <a:latin typeface="Times New Roman" pitchFamily="18" charset="0"/>
            </a:endParaRPr>
          </a:p>
          <a:p>
            <a:pPr marL="342900" indent="-342900">
              <a:lnSpc>
                <a:spcPct val="90000"/>
              </a:lnSpc>
              <a:spcBef>
                <a:spcPts val="600"/>
              </a:spcBef>
              <a:buFont typeface="Arial" charset="0"/>
              <a:buChar char="•"/>
              <a:defRPr/>
            </a:pPr>
            <a:endParaRPr lang="zh-CN" altLang="en-US" sz="3200" b="1" dirty="0">
              <a:latin typeface="+mn-lt"/>
              <a:ea typeface="+mn-ea"/>
            </a:endParaRPr>
          </a:p>
        </p:txBody>
      </p:sp>
      <p:graphicFrame>
        <p:nvGraphicFramePr>
          <p:cNvPr id="2050" name="Object 4">
            <a:extLst>
              <a:ext uri="{FF2B5EF4-FFF2-40B4-BE49-F238E27FC236}">
                <a16:creationId xmlns:a16="http://schemas.microsoft.com/office/drawing/2014/main" id="{5C30D8F5-AF16-419C-BB4E-E56252D8AF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00188" y="5564188"/>
          <a:ext cx="1703387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公式" r:id="rId4" imgW="914400" imgH="355320" progId="Equation.3">
                  <p:embed/>
                </p:oleObj>
              </mc:Choice>
              <mc:Fallback>
                <p:oleObj name="公式" r:id="rId4" imgW="914400" imgH="35532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0188" y="5564188"/>
                        <a:ext cx="1703387" cy="673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4" name="Rectangle 5">
            <a:extLst>
              <a:ext uri="{FF2B5EF4-FFF2-40B4-BE49-F238E27FC236}">
                <a16:creationId xmlns:a16="http://schemas.microsoft.com/office/drawing/2014/main" id="{DF7715E7-3F30-4B08-BB2A-2B755026C0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5562600"/>
            <a:ext cx="47164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</a:rPr>
              <a:t>,  </a:t>
            </a:r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 i="1" baseline="30000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</a:rPr>
              <a:t>={ </a:t>
            </a:r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 baseline="-30000">
                <a:latin typeface="Times New Roman" panose="02020603050405020304" pitchFamily="18" charset="0"/>
              </a:rPr>
              <a:t>1</a:t>
            </a:r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 baseline="-30000">
                <a:latin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</a:rPr>
              <a:t>…</a:t>
            </a:r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 i="1" baseline="-30000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</a:rPr>
              <a:t> | </a:t>
            </a:r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 i="1" baseline="-30000">
                <a:latin typeface="Times New Roman" panose="02020603050405020304" pitchFamily="18" charset="0"/>
              </a:rPr>
              <a:t>i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</a:rPr>
              <a:t>i</a:t>
            </a:r>
            <a:r>
              <a:rPr lang="en-US" altLang="zh-CN" sz="2400" b="1">
                <a:latin typeface="Times New Roman" panose="02020603050405020304" pitchFamily="18" charset="0"/>
              </a:rPr>
              <a:t>=1,2,…,</a:t>
            </a:r>
            <a:r>
              <a:rPr lang="en-US" altLang="zh-CN" sz="2400" b="1" i="1">
                <a:latin typeface="Times New Roman" panose="02020603050405020304" pitchFamily="18" charset="0"/>
              </a:rPr>
              <a:t>n </a:t>
            </a:r>
            <a:r>
              <a:rPr lang="en-US" altLang="zh-CN" sz="2400" b="1">
                <a:latin typeface="Times New Roman" panose="02020603050405020304" pitchFamily="18" charset="0"/>
              </a:rPr>
              <a:t>}</a:t>
            </a:r>
            <a:r>
              <a:rPr lang="en-US" altLang="zh-CN" sz="1000" b="1">
                <a:latin typeface="Times New Roman" panose="02020603050405020304" pitchFamily="18" charset="0"/>
                <a:ea typeface="幼圆" panose="02010509060101010101" pitchFamily="49" charset="-122"/>
                <a:sym typeface="Symbol" panose="05050102010706020507" pitchFamily="18" charset="2"/>
              </a:rPr>
              <a:t> </a:t>
            </a:r>
            <a:endParaRPr lang="en-US" altLang="zh-CN" sz="1200" b="1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灯片编号占位符 4">
            <a:extLst>
              <a:ext uri="{FF2B5EF4-FFF2-40B4-BE49-F238E27FC236}">
                <a16:creationId xmlns:a16="http://schemas.microsoft.com/office/drawing/2014/main" id="{7CD77245-6138-4970-BBE5-A37D3ED3D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731CF87-0040-48C5-BFE4-07DB18A4E4FF}" type="slidenum">
              <a:rPr lang="en-US" altLang="zh-CN">
                <a:solidFill>
                  <a:srgbClr val="898989"/>
                </a:solidFill>
              </a:rPr>
              <a:pPr eaLnBrk="1" hangingPunct="1"/>
              <a:t>5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A0C7F54-3220-4A1D-AE3B-F291000FBE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201003"/>
            <a:ext cx="7772400" cy="639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zh-CN" altLang="en-US" sz="4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实例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573DC7E-719D-4CD0-AEC3-87E839DA2B5C}"/>
              </a:ext>
            </a:extLst>
          </p:cNvPr>
          <p:cNvSpPr txBox="1">
            <a:spLocks noChangeArrowheads="1"/>
          </p:cNvSpPr>
          <p:nvPr/>
        </p:nvSpPr>
        <p:spPr>
          <a:xfrm>
            <a:off x="684213" y="1125538"/>
            <a:ext cx="8135937" cy="5256212"/>
          </a:xfrm>
          <a:prstGeom prst="rect">
            <a:avLst/>
          </a:prstGeom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50000"/>
              </a:spcBef>
              <a:buFont typeface="Arial" charset="0"/>
              <a:buChar char="•"/>
              <a:defRPr/>
            </a:pPr>
            <a:endParaRPr lang="zh-CN" altLang="en-US" sz="3200" b="1" dirty="0">
              <a:latin typeface="+mn-lt"/>
              <a:ea typeface="+mn-ea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8153F4D2-D63B-4C22-AC80-59B9671DE607}"/>
              </a:ext>
            </a:extLst>
          </p:cNvPr>
          <p:cNvSpPr txBox="1">
            <a:spLocks noChangeArrowheads="1"/>
          </p:cNvSpPr>
          <p:nvPr/>
        </p:nvSpPr>
        <p:spPr>
          <a:xfrm>
            <a:off x="539750" y="1196975"/>
            <a:ext cx="8135938" cy="5256213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600"/>
              </a:spcBef>
              <a:defRPr/>
            </a:pPr>
            <a:r>
              <a:rPr lang="zh-CN" altLang="zh-CN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例</a:t>
            </a:r>
            <a:r>
              <a:rPr lang="en-US" altLang="zh-CN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2 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=&lt;Z,+&gt;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半群，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={4,6}, </a:t>
            </a:r>
            <a:endParaRPr lang="zh-CN" altLang="zh-CN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defRPr/>
            </a:pP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             &lt;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&gt; ={ 4 </a:t>
            </a:r>
            <a:r>
              <a:rPr lang="en-US" altLang="zh-CN" sz="2400" b="1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+ 6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 | </a:t>
            </a:r>
            <a:r>
              <a:rPr lang="en-US" altLang="zh-CN" sz="2400" b="1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, j 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  <a:sym typeface="Symbol"/>
              </a:rPr>
              <a:t>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N,  </a:t>
            </a:r>
            <a:r>
              <a:rPr lang="en-US" altLang="zh-CN" sz="2400" b="1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和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不同时为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0 }</a:t>
            </a:r>
            <a:endParaRPr lang="zh-CN" altLang="zh-CN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defRPr/>
            </a:pP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                     ={ 4, 6, 8, 10, 12, 14, 16, …} = 2Z</a:t>
            </a:r>
            <a:r>
              <a:rPr lang="en-US" altLang="zh-CN" sz="2400" b="1" baseline="3000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  <a:sym typeface="Symbol"/>
              </a:rPr>
              <a:t>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{2}</a:t>
            </a:r>
            <a:endParaRPr lang="zh-CN" altLang="zh-CN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1800"/>
              </a:spcBef>
              <a:defRPr/>
            </a:pPr>
            <a:r>
              <a:rPr lang="zh-CN" altLang="zh-CN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例</a:t>
            </a:r>
            <a:r>
              <a:rPr lang="en-US" altLang="zh-CN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3 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  <a:sym typeface="Symbol"/>
              </a:rPr>
              <a:t> 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有穷字母表，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  <a:sym typeface="Symbol"/>
              </a:rPr>
              <a:t> </a:t>
            </a:r>
            <a:r>
              <a:rPr lang="en-US" altLang="zh-CN" sz="2400" b="1" baseline="3000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为非空字的集合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  <a:sym typeface="Symbol"/>
              </a:rPr>
              <a:t> </a:t>
            </a:r>
            <a:r>
              <a:rPr lang="en-US" altLang="zh-CN" sz="2400" b="1" baseline="30000" dirty="0">
                <a:latin typeface="Times New Roman" pitchFamily="18" charset="0"/>
                <a:cs typeface="Times New Roman" pitchFamily="18" charset="0"/>
              </a:rPr>
              <a:t>*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为字的集合。</a:t>
            </a:r>
            <a:endParaRPr lang="zh-CN" altLang="zh-CN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defRPr/>
            </a:pP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                     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400" b="1" i="1" baseline="-25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400" b="1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CN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CN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en-US" altLang="zh-CN" sz="2400" b="1" i="1" dirty="0" err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CN" sz="2400" b="1" i="1" baseline="-25000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400" b="1" baseline="-250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spcBef>
                <a:spcPts val="600"/>
              </a:spcBef>
              <a:defRPr/>
            </a:pPr>
            <a:r>
              <a:rPr lang="en-US" altLang="zh-CN" sz="2400" b="1" dirty="0">
                <a:latin typeface="Times New Roman" pitchFamily="18" charset="0"/>
                <a:cs typeface="Times New Roman" pitchFamily="18" charset="0"/>
                <a:sym typeface="Symbol"/>
              </a:rPr>
              <a:t>                  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 a</a:t>
            </a:r>
            <a:r>
              <a:rPr lang="en-US" altLang="zh-CN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CN" sz="2400" b="1" baseline="-25000" dirty="0">
                <a:latin typeface="Times New Roman" pitchFamily="18" charset="0"/>
                <a:cs typeface="Times New Roman" pitchFamily="18" charset="0"/>
              </a:rPr>
              <a:t>1,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CN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, …,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400" b="1" i="1" baseline="-25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altLang="zh-CN" sz="2400" b="1" i="1" dirty="0" err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CN" sz="2400" b="1" i="1" baseline="-25000" dirty="0" err="1">
                <a:latin typeface="Times New Roman" pitchFamily="18" charset="0"/>
                <a:cs typeface="Times New Roman" pitchFamily="18" charset="0"/>
              </a:rPr>
              <a:t>n</a:t>
            </a:r>
            <a:endParaRPr lang="zh-CN" altLang="zh-CN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ts val="3200"/>
              </a:lnSpc>
              <a:spcBef>
                <a:spcPts val="1800"/>
              </a:spcBef>
              <a:defRPr/>
            </a:pP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说明：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每个字可以唯一分解为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  <a:sym typeface="Symbol"/>
              </a:rPr>
              <a:t> 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中的元素之积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  <a:sym typeface="Symbol"/>
              </a:rPr>
              <a:t> </a:t>
            </a:r>
            <a:r>
              <a:rPr lang="en-US" altLang="zh-CN" sz="2400" b="1" baseline="3000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上的连接运算满足结合律，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=&lt;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  <a:sym typeface="Symbol"/>
              </a:rPr>
              <a:t> </a:t>
            </a:r>
            <a:r>
              <a:rPr lang="en-US" altLang="zh-CN" sz="2400" b="1" baseline="3000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  <a:sym typeface="Symbol"/>
              </a:rPr>
              <a:t>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&gt;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构成半群，称为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  <a:sym typeface="Symbol"/>
              </a:rPr>
              <a:t>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上的</a:t>
            </a:r>
            <a:r>
              <a:rPr lang="zh-CN" altLang="zh-CN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自由半群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  <a:sym typeface="Symbol"/>
              </a:rPr>
              <a:t> 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为这个自由半群的</a:t>
            </a:r>
            <a:r>
              <a:rPr lang="zh-CN" altLang="zh-CN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生成元集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zh-CN" altLang="zh-CN" sz="2400" b="1" dirty="0">
                <a:latin typeface="Arial" charset="0"/>
              </a:rPr>
              <a:t>即</a:t>
            </a:r>
            <a:r>
              <a:rPr lang="en-US" altLang="zh-CN" sz="2400" b="1" dirty="0">
                <a:latin typeface="Arial" charset="0"/>
              </a:rPr>
              <a:t> 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  <a:sym typeface="Symbol"/>
              </a:rPr>
              <a:t> 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&gt;=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. </a:t>
            </a:r>
            <a:endParaRPr lang="zh-CN" altLang="zh-CN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ts val="3200"/>
              </a:lnSpc>
              <a:spcBef>
                <a:spcPts val="600"/>
              </a:spcBef>
              <a:defRPr/>
            </a:pPr>
            <a:r>
              <a:rPr lang="zh-CN" altLang="zh-CN" sz="2400" b="1" dirty="0">
                <a:latin typeface="Arial" charset="0"/>
              </a:rPr>
              <a:t>如果包含空串则</a:t>
            </a:r>
            <a:r>
              <a:rPr lang="en-US" altLang="zh-CN" sz="2400" b="1" i="1" dirty="0">
                <a:latin typeface="Arial" charset="0"/>
                <a:sym typeface="Symbol"/>
              </a:rPr>
              <a:t> </a:t>
            </a:r>
            <a:r>
              <a:rPr lang="en-US" altLang="zh-CN" sz="2400" b="1" baseline="30000" dirty="0">
                <a:latin typeface="Arial" charset="0"/>
              </a:rPr>
              <a:t>* </a:t>
            </a:r>
            <a:r>
              <a:rPr lang="zh-CN" altLang="zh-CN" sz="2400" b="1" dirty="0">
                <a:latin typeface="Arial" charset="0"/>
              </a:rPr>
              <a:t>构成</a:t>
            </a:r>
            <a:r>
              <a:rPr lang="zh-CN" altLang="zh-CN" sz="2400" b="1" dirty="0">
                <a:solidFill>
                  <a:srgbClr val="C00000"/>
                </a:solidFill>
                <a:latin typeface="Arial" charset="0"/>
              </a:rPr>
              <a:t>自由独异点</a:t>
            </a:r>
            <a:r>
              <a:rPr lang="en-US" altLang="zh-CN" sz="2400" b="1" dirty="0">
                <a:latin typeface="Arial" charset="0"/>
              </a:rPr>
              <a:t>.</a:t>
            </a:r>
            <a:endParaRPr lang="zh-CN" altLang="en-US" sz="2400" b="1" dirty="0"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>
            <a:extLst>
              <a:ext uri="{FF2B5EF4-FFF2-40B4-BE49-F238E27FC236}">
                <a16:creationId xmlns:a16="http://schemas.microsoft.com/office/drawing/2014/main" id="{AA0BF63F-01ED-44F5-83AB-5FB50D6CCA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628775"/>
            <a:ext cx="8229600" cy="482441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b="1">
                <a:latin typeface="Times New Roman" panose="02020603050405020304" pitchFamily="18" charset="0"/>
              </a:rPr>
              <a:t>半群与独异点的直积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b="1">
                <a:latin typeface="Times New Roman" panose="02020603050405020304" pitchFamily="18" charset="0"/>
              </a:rPr>
              <a:t>       </a:t>
            </a:r>
            <a:r>
              <a:rPr lang="zh-CN" altLang="en-US" sz="2400" b="1">
                <a:latin typeface="Times New Roman" panose="02020603050405020304" pitchFamily="18" charset="0"/>
              </a:rPr>
              <a:t>半群的直积仍是半群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          独异点的直积仍是独异点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</a:rPr>
              <a:t>半群与独异点的商代数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b="1">
                <a:latin typeface="Times New Roman" panose="02020603050405020304" pitchFamily="18" charset="0"/>
              </a:rPr>
              <a:t>       </a:t>
            </a:r>
            <a:r>
              <a:rPr lang="zh-CN" altLang="en-US" sz="2400" b="1">
                <a:latin typeface="Times New Roman" panose="02020603050405020304" pitchFamily="18" charset="0"/>
              </a:rPr>
              <a:t>半群</a:t>
            </a:r>
            <a:r>
              <a:rPr lang="en-US" altLang="zh-CN" sz="2400" b="1">
                <a:latin typeface="Times New Roman" panose="02020603050405020304" pitchFamily="18" charset="0"/>
              </a:rPr>
              <a:t>&lt;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,</a:t>
            </a:r>
            <a:r>
              <a:rPr lang="en-US" altLang="zh-CN" sz="2400" b="1">
                <a:latin typeface="Lucida Sans Unicode" panose="020B0602030504020204" pitchFamily="34" charset="0"/>
                <a:cs typeface="Lucida Sans Unicode" panose="020B0602030504020204" pitchFamily="34" charset="0"/>
              </a:rPr>
              <a:t>∘</a:t>
            </a:r>
            <a:r>
              <a:rPr lang="en-US" altLang="zh-CN" sz="2400" b="1">
                <a:latin typeface="Times New Roman" panose="02020603050405020304" pitchFamily="18" charset="0"/>
              </a:rPr>
              <a:t>&gt;,  </a:t>
            </a:r>
            <a:r>
              <a:rPr lang="zh-CN" altLang="en-US" sz="2400" b="1">
                <a:latin typeface="Times New Roman" panose="02020603050405020304" pitchFamily="18" charset="0"/>
              </a:rPr>
              <a:t>商半群</a:t>
            </a:r>
            <a:r>
              <a:rPr lang="en-US" altLang="zh-CN" sz="2400" b="1">
                <a:latin typeface="Times New Roman" panose="02020603050405020304" pitchFamily="18" charset="0"/>
              </a:rPr>
              <a:t>&lt;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/</a:t>
            </a:r>
            <a:r>
              <a:rPr lang="en-US" altLang="zh-CN" sz="2400" b="1" i="1">
                <a:latin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</a:rPr>
              <a:t>, ō&gt;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         </a:t>
            </a:r>
            <a:r>
              <a:rPr lang="zh-CN" altLang="en-US" sz="2400" b="1">
                <a:latin typeface="Times New Roman" panose="02020603050405020304" pitchFamily="18" charset="0"/>
              </a:rPr>
              <a:t>独异点</a:t>
            </a:r>
            <a:r>
              <a:rPr lang="en-US" altLang="zh-CN" sz="2400" b="1">
                <a:latin typeface="Times New Roman" panose="02020603050405020304" pitchFamily="18" charset="0"/>
              </a:rPr>
              <a:t>&lt;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,</a:t>
            </a:r>
            <a:r>
              <a:rPr lang="en-US" altLang="zh-CN" sz="2400" b="1">
                <a:latin typeface="Lucida Sans Unicode" panose="020B0602030504020204" pitchFamily="34" charset="0"/>
                <a:cs typeface="Lucida Sans Unicode" panose="020B0602030504020204" pitchFamily="34" charset="0"/>
              </a:rPr>
              <a:t>∘</a:t>
            </a:r>
            <a:r>
              <a:rPr lang="en-US" altLang="zh-CN" sz="2400" b="1">
                <a:latin typeface="Times New Roman" panose="02020603050405020304" pitchFamily="18" charset="0"/>
              </a:rPr>
              <a:t>,</a:t>
            </a:r>
            <a:r>
              <a:rPr lang="en-US" altLang="zh-CN" sz="2400" b="1" i="1">
                <a:latin typeface="Times New Roman" panose="02020603050405020304" pitchFamily="18" charset="0"/>
              </a:rPr>
              <a:t>e</a:t>
            </a:r>
            <a:r>
              <a:rPr lang="en-US" altLang="zh-CN" sz="2400" b="1">
                <a:latin typeface="Times New Roman" panose="02020603050405020304" pitchFamily="18" charset="0"/>
              </a:rPr>
              <a:t>&gt;</a:t>
            </a:r>
            <a:r>
              <a:rPr lang="zh-CN" altLang="en-US" sz="2400" b="1">
                <a:latin typeface="Times New Roman" panose="02020603050405020304" pitchFamily="18" charset="0"/>
              </a:rPr>
              <a:t>，商独异点</a:t>
            </a:r>
            <a:r>
              <a:rPr lang="en-US" altLang="zh-CN" sz="2400" b="1">
                <a:latin typeface="Times New Roman" panose="02020603050405020304" pitchFamily="18" charset="0"/>
              </a:rPr>
              <a:t>&lt;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/</a:t>
            </a:r>
            <a:r>
              <a:rPr lang="en-US" altLang="zh-CN" sz="2400" b="1" i="1">
                <a:latin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</a:rPr>
              <a:t>, ō, [</a:t>
            </a:r>
            <a:r>
              <a:rPr lang="en-US" altLang="zh-CN" sz="2400" b="1" i="1">
                <a:latin typeface="Times New Roman" panose="02020603050405020304" pitchFamily="18" charset="0"/>
              </a:rPr>
              <a:t>e</a:t>
            </a:r>
            <a:r>
              <a:rPr lang="en-US" altLang="zh-CN" sz="2400" b="1">
                <a:latin typeface="Times New Roman" panose="02020603050405020304" pitchFamily="18" charset="0"/>
              </a:rPr>
              <a:t>]&gt;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</a:rPr>
              <a:t>半群与独异点的同态和同构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b="1">
                <a:latin typeface="Times New Roman" panose="02020603050405020304" pitchFamily="18" charset="0"/>
              </a:rPr>
              <a:t>       </a:t>
            </a:r>
            <a:r>
              <a:rPr lang="zh-CN" altLang="en-US" sz="2400" b="1">
                <a:latin typeface="Times New Roman" panose="02020603050405020304" pitchFamily="18" charset="0"/>
              </a:rPr>
              <a:t>半群   </a:t>
            </a:r>
            <a:r>
              <a:rPr lang="zh-CN" altLang="en-US" sz="2400" b="1" i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xy</a:t>
            </a:r>
            <a:r>
              <a:rPr lang="en-US" altLang="zh-CN" sz="2400" b="1">
                <a:latin typeface="Times New Roman" panose="02020603050405020304" pitchFamily="18" charset="0"/>
              </a:rPr>
              <a:t>)=</a:t>
            </a:r>
            <a:r>
              <a:rPr lang="en-US" altLang="zh-CN" sz="2400" b="1" i="1">
                <a:latin typeface="Times New Roman" panose="02020603050405020304" pitchFamily="18" charset="0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</a:rPr>
              <a:t>)</a:t>
            </a:r>
            <a:r>
              <a:rPr lang="en-US" altLang="zh-CN" sz="2400" b="1" i="1">
                <a:latin typeface="Times New Roman" panose="02020603050405020304" pitchFamily="18" charset="0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y</a:t>
            </a:r>
            <a:r>
              <a:rPr lang="en-US" altLang="zh-CN" sz="2400" b="1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         </a:t>
            </a:r>
            <a:r>
              <a:rPr lang="zh-CN" altLang="en-US" sz="2400" b="1">
                <a:latin typeface="Times New Roman" panose="02020603050405020304" pitchFamily="18" charset="0"/>
              </a:rPr>
              <a:t>独异点 </a:t>
            </a:r>
            <a:r>
              <a:rPr lang="zh-CN" altLang="en-US" sz="2400" b="1" i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xy</a:t>
            </a:r>
            <a:r>
              <a:rPr lang="en-US" altLang="zh-CN" sz="2400" b="1">
                <a:latin typeface="Times New Roman" panose="02020603050405020304" pitchFamily="18" charset="0"/>
              </a:rPr>
              <a:t>)=</a:t>
            </a:r>
            <a:r>
              <a:rPr lang="en-US" altLang="zh-CN" sz="2400" b="1" i="1">
                <a:latin typeface="Times New Roman" panose="02020603050405020304" pitchFamily="18" charset="0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</a:rPr>
              <a:t>)</a:t>
            </a:r>
            <a:r>
              <a:rPr lang="en-US" altLang="zh-CN" sz="2400" b="1" i="1">
                <a:latin typeface="Times New Roman" panose="02020603050405020304" pitchFamily="18" charset="0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y</a:t>
            </a:r>
            <a:r>
              <a:rPr lang="en-US" altLang="zh-CN" sz="2400" b="1">
                <a:latin typeface="Times New Roman" panose="02020603050405020304" pitchFamily="18" charset="0"/>
              </a:rPr>
              <a:t>),  </a:t>
            </a:r>
            <a:r>
              <a:rPr lang="en-US" altLang="zh-CN" sz="2400" b="1" i="1">
                <a:latin typeface="Times New Roman" panose="02020603050405020304" pitchFamily="18" charset="0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e</a:t>
            </a:r>
            <a:r>
              <a:rPr lang="en-US" altLang="zh-CN" sz="2400" b="1">
                <a:latin typeface="Times New Roman" panose="02020603050405020304" pitchFamily="18" charset="0"/>
              </a:rPr>
              <a:t>)= </a:t>
            </a:r>
            <a:r>
              <a:rPr lang="en-US" altLang="zh-CN" sz="2400" b="1" i="1">
                <a:latin typeface="Times New Roman" panose="02020603050405020304" pitchFamily="18" charset="0"/>
              </a:rPr>
              <a:t>e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1266" name="灯片编号占位符 5">
            <a:extLst>
              <a:ext uri="{FF2B5EF4-FFF2-40B4-BE49-F238E27FC236}">
                <a16:creationId xmlns:a16="http://schemas.microsoft.com/office/drawing/2014/main" id="{6EF12F8C-0C9E-474A-BE7A-BF24B1D2B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0337FFE-C77C-4615-AAD1-F2035EF74633}" type="slidenum">
              <a:rPr lang="en-US" altLang="zh-CN">
                <a:solidFill>
                  <a:srgbClr val="898989"/>
                </a:solidFill>
              </a:rPr>
              <a:pPr eaLnBrk="1" hangingPunct="1"/>
              <a:t>6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E35F0B7-0B12-4F0D-8080-9868F0337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36525"/>
            <a:ext cx="7772400" cy="1144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半群独异点的直积商代数、同态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灯片编号占位符 4">
            <a:extLst>
              <a:ext uri="{FF2B5EF4-FFF2-40B4-BE49-F238E27FC236}">
                <a16:creationId xmlns:a16="http://schemas.microsoft.com/office/drawing/2014/main" id="{3C97B35E-1FB5-485A-B3F4-DAAD21728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0B95238-8CDC-4860-9446-5804E1A35140}" type="slidenum">
              <a:rPr lang="en-US" altLang="zh-CN">
                <a:solidFill>
                  <a:srgbClr val="898989"/>
                </a:solidFill>
              </a:rPr>
              <a:pPr eaLnBrk="1" hangingPunct="1"/>
              <a:t>7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3076" name="Rectangle 3">
            <a:extLst>
              <a:ext uri="{FF2B5EF4-FFF2-40B4-BE49-F238E27FC236}">
                <a16:creationId xmlns:a16="http://schemas.microsoft.com/office/drawing/2014/main" id="{43974684-93FB-4DD1-AE56-108BAFA99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125538"/>
            <a:ext cx="8893175" cy="101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sz="2400" b="1">
                <a:solidFill>
                  <a:srgbClr val="C00000"/>
                </a:solidFill>
                <a:latin typeface="Times New Roman" panose="02020603050405020304" pitchFamily="18" charset="0"/>
              </a:rPr>
              <a:t>3  </a:t>
            </a:r>
            <a:r>
              <a:rPr lang="zh-CN" altLang="en-US" sz="2400" b="1">
                <a:latin typeface="Times New Roman" panose="02020603050405020304" pitchFamily="18" charset="0"/>
              </a:rPr>
              <a:t>设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en-US" altLang="zh-CN" sz="2400" b="1">
                <a:latin typeface="Times New Roman" panose="02020603050405020304" pitchFamily="18" charset="0"/>
              </a:rPr>
              <a:t>=&lt;</a:t>
            </a:r>
            <a:r>
              <a:rPr lang="en-US" altLang="zh-CN" sz="2400" b="1" i="1">
                <a:latin typeface="Times New Roman" panose="02020603050405020304" pitchFamily="18" charset="0"/>
              </a:rPr>
              <a:t>S</a:t>
            </a:r>
            <a:r>
              <a:rPr lang="en-US" altLang="zh-CN" sz="2400" b="1">
                <a:latin typeface="Times New Roman" panose="02020603050405020304" pitchFamily="18" charset="0"/>
              </a:rPr>
              <a:t>,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400" b="1">
                <a:latin typeface="Times New Roman" panose="02020603050405020304" pitchFamily="18" charset="0"/>
              </a:rPr>
              <a:t>&gt;</a:t>
            </a:r>
            <a:r>
              <a:rPr lang="zh-CN" altLang="en-US" sz="2400" b="1">
                <a:latin typeface="Times New Roman" panose="02020603050405020304" pitchFamily="18" charset="0"/>
              </a:rPr>
              <a:t>为半群，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en-US" altLang="zh-CN" sz="2400" b="1" i="1"/>
              <a:t>’</a:t>
            </a:r>
            <a:r>
              <a:rPr lang="en-US" altLang="zh-CN" sz="2400" b="1">
                <a:latin typeface="Times New Roman" panose="02020603050405020304" pitchFamily="18" charset="0"/>
              </a:rPr>
              <a:t>=&lt;</a:t>
            </a:r>
            <a:r>
              <a:rPr lang="en-US" altLang="zh-CN" sz="2400" b="1" i="1">
                <a:latin typeface="Times New Roman" panose="02020603050405020304" pitchFamily="18" charset="0"/>
              </a:rPr>
              <a:t>S</a:t>
            </a:r>
            <a:r>
              <a:rPr lang="en-US" altLang="zh-CN" sz="2400" b="1" i="1" baseline="30000">
                <a:latin typeface="Times New Roman" panose="02020603050405020304" pitchFamily="18" charset="0"/>
              </a:rPr>
              <a:t>S</a:t>
            </a:r>
            <a:r>
              <a:rPr lang="en-US" altLang="zh-CN" sz="2400" b="1">
                <a:latin typeface="Times New Roman" panose="02020603050405020304" pitchFamily="18" charset="0"/>
              </a:rPr>
              <a:t>,</a:t>
            </a:r>
            <a:r>
              <a:rPr lang="en-US" altLang="zh-CN" sz="2400" b="1">
                <a:latin typeface="Lucida Sans Unicode" panose="020B0602030504020204" pitchFamily="34" charset="0"/>
                <a:cs typeface="Lucida Sans Unicode" panose="020B0602030504020204" pitchFamily="34" charset="0"/>
              </a:rPr>
              <a:t>∘</a:t>
            </a:r>
            <a:r>
              <a:rPr lang="en-US" altLang="zh-CN" sz="2400" b="1">
                <a:latin typeface="Times New Roman" panose="02020603050405020304" pitchFamily="18" charset="0"/>
              </a:rPr>
              <a:t>&gt;</a:t>
            </a:r>
            <a:r>
              <a:rPr lang="zh-CN" altLang="en-US" sz="2400" b="1">
                <a:latin typeface="Times New Roman" panose="02020603050405020304" pitchFamily="18" charset="0"/>
              </a:rPr>
              <a:t>，</a:t>
            </a:r>
            <a:r>
              <a:rPr lang="zh-CN" altLang="en-US" sz="2400" b="1">
                <a:latin typeface="Lucida Sans Unicode" panose="020B0602030504020204" pitchFamily="34" charset="0"/>
                <a:cs typeface="Lucida Sans Unicode" panose="020B0602030504020204" pitchFamily="34" charset="0"/>
              </a:rPr>
              <a:t>∘</a:t>
            </a:r>
            <a:r>
              <a:rPr lang="zh-CN" altLang="en-US" sz="2400" b="1">
                <a:latin typeface="Times New Roman" panose="02020603050405020304" pitchFamily="18" charset="0"/>
              </a:rPr>
              <a:t>为合成，则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en-US" altLang="zh-CN" sz="2400" b="1" i="1"/>
              <a:t>’</a:t>
            </a:r>
            <a:r>
              <a:rPr lang="zh-CN" altLang="en-US" sz="2400" b="1">
                <a:latin typeface="Times New Roman" panose="02020603050405020304" pitchFamily="18" charset="0"/>
              </a:rPr>
              <a:t>也是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b="1">
                <a:latin typeface="Times New Roman" panose="02020603050405020304" pitchFamily="18" charset="0"/>
              </a:rPr>
              <a:t>半群，且存在 </a:t>
            </a:r>
            <a:r>
              <a:rPr lang="en-US" altLang="zh-CN" sz="2400" b="1" i="1">
                <a:latin typeface="Times New Roman" panose="02020603050405020304" pitchFamily="18" charset="0"/>
              </a:rPr>
              <a:t>V </a:t>
            </a:r>
            <a:r>
              <a:rPr lang="zh-CN" altLang="en-US" sz="2400" b="1">
                <a:latin typeface="Times New Roman" panose="02020603050405020304" pitchFamily="18" charset="0"/>
              </a:rPr>
              <a:t>到 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en-US" altLang="zh-CN" sz="2400" b="1" i="1"/>
              <a:t>’</a:t>
            </a:r>
            <a:r>
              <a:rPr lang="en-US" altLang="zh-CN" sz="2400" b="1" i="1">
                <a:latin typeface="Times New Roman" panose="02020603050405020304" pitchFamily="18" charset="0"/>
              </a:rPr>
              <a:t> </a:t>
            </a:r>
            <a:r>
              <a:rPr lang="zh-CN" altLang="en-US" sz="2400" b="1">
                <a:latin typeface="Times New Roman" panose="02020603050405020304" pitchFamily="18" charset="0"/>
              </a:rPr>
              <a:t>的同态</a:t>
            </a:r>
            <a:r>
              <a:rPr lang="en-US" altLang="zh-CN" sz="2400" b="1">
                <a:latin typeface="Times New Roman" panose="02020603050405020304" pitchFamily="18" charset="0"/>
              </a:rPr>
              <a:t>.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3077" name="Rectangle 4">
            <a:extLst>
              <a:ext uri="{FF2B5EF4-FFF2-40B4-BE49-F238E27FC236}">
                <a16:creationId xmlns:a16="http://schemas.microsoft.com/office/drawing/2014/main" id="{41D4172B-6E05-479E-8979-DDCAEEBC7D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78" name="Rectangle 5">
            <a:extLst>
              <a:ext uri="{FF2B5EF4-FFF2-40B4-BE49-F238E27FC236}">
                <a16:creationId xmlns:a16="http://schemas.microsoft.com/office/drawing/2014/main" id="{F2A84FA3-98ED-4F33-9DE9-43068CD0F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61478" name="Rectangle 6">
            <a:extLst>
              <a:ext uri="{FF2B5EF4-FFF2-40B4-BE49-F238E27FC236}">
                <a16:creationId xmlns:a16="http://schemas.microsoft.com/office/drawing/2014/main" id="{45D539DC-4D73-4D7A-9568-33D9A40D29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221038"/>
            <a:ext cx="8893175" cy="138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令    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>
                <a:latin typeface="Times New Roman" panose="02020603050405020304" pitchFamily="18" charset="0"/>
              </a:rPr>
              <a:t>S</a:t>
            </a:r>
            <a:r>
              <a:rPr lang="en-US" altLang="zh-CN" sz="2400" b="1" i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 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) = </a:t>
            </a:r>
            <a:r>
              <a:rPr lang="en-US" altLang="zh-CN" sz="2400" b="1" i="1">
                <a:latin typeface="Times New Roman" panose="02020603050405020304" pitchFamily="18" charset="0"/>
              </a:rPr>
              <a:t>f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 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a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</a:rPr>
              <a:t>) = </a:t>
            </a:r>
            <a:r>
              <a:rPr lang="en-US" altLang="zh-CN" sz="2400" b="1" i="1">
                <a:latin typeface="Times New Roman" panose="02020603050405020304" pitchFamily="18" charset="0"/>
              </a:rPr>
              <a:t>f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  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)∘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</a:rPr>
              <a:t>) = </a:t>
            </a:r>
            <a:r>
              <a:rPr lang="en-US" altLang="zh-CN" sz="2400" b="1" i="1">
                <a:latin typeface="Times New Roman" panose="02020603050405020304" pitchFamily="18" charset="0"/>
              </a:rPr>
              <a:t>f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000" b="1">
                <a:latin typeface="Times New Roman" panose="02020603050405020304" pitchFamily="18" charset="0"/>
              </a:rPr>
              <a:t>∘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b </a:t>
            </a:r>
            <a:endParaRPr lang="en-US" altLang="zh-CN" sz="2400" i="1" baseline="-250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为证同态只需证明 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b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>
                <a:latin typeface="Lucida Sans Unicode" panose="020B0602030504020204" pitchFamily="34" charset="0"/>
                <a:cs typeface="Lucida Sans Unicode" panose="020B0602030504020204" pitchFamily="34" charset="0"/>
                <a:sym typeface="Symbol" panose="05050102010706020507" pitchFamily="18" charset="2"/>
              </a:rPr>
              <a:t>∘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361479" name="Rectangle 7">
            <a:extLst>
              <a:ext uri="{FF2B5EF4-FFF2-40B4-BE49-F238E27FC236}">
                <a16:creationId xmlns:a16="http://schemas.microsoft.com/office/drawing/2014/main" id="{D90AF3D1-3E6E-480B-906B-42012A5122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198688"/>
            <a:ext cx="8250238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400" b="1">
                <a:latin typeface="Times New Roman" panose="02020603050405020304" pitchFamily="18" charset="0"/>
              </a:rPr>
              <a:t>证： 只证同态</a:t>
            </a:r>
            <a:r>
              <a:rPr lang="en-US" altLang="zh-CN" sz="2400" b="1">
                <a:latin typeface="Times New Roman" panose="02020603050405020304" pitchFamily="18" charset="0"/>
              </a:rPr>
              <a:t>.  </a:t>
            </a:r>
            <a:r>
              <a:rPr lang="zh-CN" altLang="en-US" sz="2400" b="1">
                <a:latin typeface="Times New Roman" panose="02020603050405020304" pitchFamily="18" charset="0"/>
              </a:rPr>
              <a:t>令  </a:t>
            </a:r>
            <a:r>
              <a:rPr lang="zh-CN" altLang="en-US" sz="2400" b="1" i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</a:rPr>
              <a:t>f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a </a:t>
            </a:r>
            <a:r>
              <a:rPr lang="en-US" altLang="zh-CN" sz="2400" b="1">
                <a:latin typeface="Times New Roman" panose="02020603050405020304" pitchFamily="18" charset="0"/>
              </a:rPr>
              <a:t>: </a:t>
            </a:r>
            <a:r>
              <a:rPr lang="en-US" altLang="zh-CN" sz="2400" b="1" i="1">
                <a:latin typeface="Times New Roman" panose="02020603050405020304" pitchFamily="18" charset="0"/>
              </a:rPr>
              <a:t>S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>
                <a:latin typeface="Times New Roman" panose="02020603050405020304" pitchFamily="18" charset="0"/>
              </a:rPr>
              <a:t>S</a:t>
            </a:r>
            <a:r>
              <a:rPr lang="en-US" altLang="zh-CN" sz="2400" b="1">
                <a:latin typeface="Times New Roman" panose="02020603050405020304" pitchFamily="18" charset="0"/>
              </a:rPr>
              <a:t>,   </a:t>
            </a:r>
            <a:r>
              <a:rPr lang="en-US" altLang="zh-CN" sz="2400" b="1" i="1">
                <a:latin typeface="Times New Roman" panose="02020603050405020304" pitchFamily="18" charset="0"/>
              </a:rPr>
              <a:t>f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         f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S</a:t>
            </a:r>
            <a:r>
              <a:rPr lang="en-US" altLang="zh-CN" sz="2400" b="1" i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且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{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|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S </a:t>
            </a:r>
            <a:r>
              <a:rPr lang="en-US" altLang="zh-CN" sz="2400" b="1">
                <a:latin typeface="Times New Roman" panose="02020603050405020304" pitchFamily="18" charset="0"/>
              </a:rPr>
              <a:t>}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 </a:t>
            </a:r>
            <a:r>
              <a:rPr lang="en-US" altLang="zh-CN" sz="2400" b="1" i="1">
                <a:latin typeface="Times New Roman" panose="02020603050405020304" pitchFamily="18" charset="0"/>
              </a:rPr>
              <a:t>S</a:t>
            </a:r>
            <a:r>
              <a:rPr lang="en-US" altLang="zh-CN" sz="2400" b="1" i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    </a:t>
            </a:r>
            <a:endParaRPr lang="en-US" altLang="zh-CN" sz="2400">
              <a:solidFill>
                <a:schemeClr val="tx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grpSp>
        <p:nvGrpSpPr>
          <p:cNvPr id="2" name="Group 8">
            <a:extLst>
              <a:ext uri="{FF2B5EF4-FFF2-40B4-BE49-F238E27FC236}">
                <a16:creationId xmlns:a16="http://schemas.microsoft.com/office/drawing/2014/main" id="{6A5E8F99-E611-4C09-8CD2-B319E0508FE3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4587875"/>
            <a:ext cx="7058025" cy="1368425"/>
            <a:chOff x="657" y="3158"/>
            <a:chExt cx="4591" cy="913"/>
          </a:xfrm>
        </p:grpSpPr>
        <p:graphicFrame>
          <p:nvGraphicFramePr>
            <p:cNvPr id="3074" name="Object 9">
              <a:extLst>
                <a:ext uri="{FF2B5EF4-FFF2-40B4-BE49-F238E27FC236}">
                  <a16:creationId xmlns:a16="http://schemas.microsoft.com/office/drawing/2014/main" id="{C085BAA5-0AE8-4752-91BA-BA73F290A73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57" y="3475"/>
            <a:ext cx="4591" cy="5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5" name="公式" r:id="rId4" imgW="3301920" imgH="431640" progId="Equation.3">
                    <p:embed/>
                  </p:oleObj>
                </mc:Choice>
                <mc:Fallback>
                  <p:oleObj name="公式" r:id="rId4" imgW="3301920" imgH="43164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7" y="3475"/>
                          <a:ext cx="4591" cy="59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3" name="Text Box 10">
              <a:extLst>
                <a:ext uri="{FF2B5EF4-FFF2-40B4-BE49-F238E27FC236}">
                  <a16:creationId xmlns:a16="http://schemas.microsoft.com/office/drawing/2014/main" id="{C52A6A85-3492-4EB7-952A-953899A0BF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4" y="3158"/>
              <a:ext cx="59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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x</a:t>
              </a:r>
              <a:r>
                <a:rPr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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S</a:t>
              </a:r>
            </a:p>
          </p:txBody>
        </p:sp>
      </p:grpSp>
      <p:sp>
        <p:nvSpPr>
          <p:cNvPr id="12" name="Rectangle 2">
            <a:extLst>
              <a:ext uri="{FF2B5EF4-FFF2-40B4-BE49-F238E27FC236}">
                <a16:creationId xmlns:a16="http://schemas.microsoft.com/office/drawing/2014/main" id="{C32AEEE5-C985-4E50-8246-ADDA42C678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744" y="237899"/>
            <a:ext cx="7772400" cy="639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4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半群同态的性质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14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14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14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14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1478" grpId="0"/>
      <p:bldP spid="36147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灯片编号占位符 4">
            <a:extLst>
              <a:ext uri="{FF2B5EF4-FFF2-40B4-BE49-F238E27FC236}">
                <a16:creationId xmlns:a16="http://schemas.microsoft.com/office/drawing/2014/main" id="{147CFBBA-A411-43D3-85B1-15AA11B24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2C7A27B-D242-40C8-985C-FBD25243E0A7}" type="slidenum">
              <a:rPr lang="en-US" altLang="zh-CN">
                <a:solidFill>
                  <a:srgbClr val="898989"/>
                </a:solidFill>
              </a:rPr>
              <a:pPr eaLnBrk="1" hangingPunct="1"/>
              <a:t>8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4098" name="Object 2">
            <a:extLst>
              <a:ext uri="{FF2B5EF4-FFF2-40B4-BE49-F238E27FC236}">
                <a16:creationId xmlns:a16="http://schemas.microsoft.com/office/drawing/2014/main" id="{B4338803-E8B9-4A8A-A8A0-9CF9C46445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825" y="1196975"/>
          <a:ext cx="8316913" cy="145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7" name="Document" r:id="rId4" imgW="4344673" imgH="754226" progId="Word.Document.8">
                  <p:embed/>
                </p:oleObj>
              </mc:Choice>
              <mc:Fallback>
                <p:oleObj name="Document" r:id="rId4" imgW="4344673" imgH="754226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1196975"/>
                        <a:ext cx="8316913" cy="145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3524" name="Rectangle 4">
            <a:extLst>
              <a:ext uri="{FF2B5EF4-FFF2-40B4-BE49-F238E27FC236}">
                <a16:creationId xmlns:a16="http://schemas.microsoft.com/office/drawing/2014/main" id="{0B9B6271-DE6D-454E-98F1-4296DAC15C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" y="2317750"/>
            <a:ext cx="7489825" cy="171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2651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000"/>
              </a:lnSpc>
            </a:pPr>
            <a:r>
              <a:rPr lang="zh-CN" altLang="en-US" sz="2400" b="1">
                <a:latin typeface="Times New Roman" panose="02020603050405020304" pitchFamily="18" charset="0"/>
              </a:rPr>
              <a:t>证：令 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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>
                <a:latin typeface="Times New Roman" panose="02020603050405020304" pitchFamily="18" charset="0"/>
              </a:rPr>
              <a:t>S</a:t>
            </a:r>
            <a:r>
              <a:rPr lang="en-US" altLang="zh-CN" sz="2400" b="1" i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 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=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f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则</a:t>
            </a:r>
            <a:endParaRPr lang="zh-CN" altLang="en-US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ts val="3000"/>
              </a:lnSpc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       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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= 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)∘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ts val="3000"/>
              </a:lnSpc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       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I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30000"/>
              </a:spcBef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 </a:t>
            </a:r>
            <a:r>
              <a:rPr lang="zh-CN" altLang="en-US" sz="2400" b="1">
                <a:latin typeface="Times New Roman" panose="02020603050405020304" pitchFamily="18" charset="0"/>
              </a:rPr>
              <a:t>为独异点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V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到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400" b="1" i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,∘,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&gt;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的同态</a:t>
            </a:r>
          </a:p>
        </p:txBody>
      </p:sp>
      <p:sp>
        <p:nvSpPr>
          <p:cNvPr id="363525" name="Rectangle 5">
            <a:extLst>
              <a:ext uri="{FF2B5EF4-FFF2-40B4-BE49-F238E27FC236}">
                <a16:creationId xmlns:a16="http://schemas.microsoft.com/office/drawing/2014/main" id="{98505775-174D-4F68-A420-A6A231F524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4076700"/>
            <a:ext cx="74168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2651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= 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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= f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b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S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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b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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  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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e = b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a=b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, </a:t>
            </a:r>
            <a:r>
              <a:rPr lang="zh-CN" altLang="en-US" sz="2400" b="1">
                <a:latin typeface="Times New Roman" panose="02020603050405020304" pitchFamily="18" charset="0"/>
              </a:rPr>
              <a:t>为单射</a:t>
            </a:r>
          </a:p>
        </p:txBody>
      </p:sp>
      <p:sp>
        <p:nvSpPr>
          <p:cNvPr id="363526" name="Rectangle 6">
            <a:extLst>
              <a:ext uri="{FF2B5EF4-FFF2-40B4-BE49-F238E27FC236}">
                <a16:creationId xmlns:a16="http://schemas.microsoft.com/office/drawing/2014/main" id="{CD176C50-B552-4543-8116-920165524A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5157788"/>
            <a:ext cx="74168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2651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000"/>
              </a:lnSpc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令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T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 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，则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T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 </a:t>
            </a:r>
            <a:r>
              <a:rPr lang="en-US" altLang="zh-CN" sz="2400" b="1" i="1">
                <a:latin typeface="Times New Roman" panose="02020603050405020304" pitchFamily="18" charset="0"/>
              </a:rPr>
              <a:t>S</a:t>
            </a:r>
            <a:r>
              <a:rPr lang="en-US" altLang="zh-CN" sz="2400" b="1" i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且  </a:t>
            </a:r>
            <a:r>
              <a:rPr lang="en-US" altLang="zh-CN" sz="2400" b="1">
                <a:latin typeface="Times New Roman" panose="02020603050405020304" pitchFamily="18" charset="0"/>
              </a:rPr>
              <a:t>: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S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400" b="1" i="1">
                <a:latin typeface="Times New Roman" panose="02020603050405020304" pitchFamily="18" charset="0"/>
              </a:rPr>
              <a:t>T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为双射， </a:t>
            </a:r>
            <a:endParaRPr lang="zh-CN" altLang="en-US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ts val="3000"/>
              </a:lnSpc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          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,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&gt;  </a:t>
            </a:r>
            <a:r>
              <a:rPr lang="en-US" altLang="zh-CN" sz="2400" b="1">
                <a:latin typeface="Times New Roman" panose="02020603050405020304" pitchFamily="18" charset="0"/>
              </a:rPr>
              <a:t>&lt;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,∘,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S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&gt; 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E965858-D0B0-4914-96CE-DB541E6001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188" y="213518"/>
            <a:ext cx="7772400" cy="639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4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独异点的表示定理</a:t>
            </a:r>
          </a:p>
        </p:txBody>
      </p:sp>
      <p:grpSp>
        <p:nvGrpSpPr>
          <p:cNvPr id="2" name="组合 20">
            <a:extLst>
              <a:ext uri="{FF2B5EF4-FFF2-40B4-BE49-F238E27FC236}">
                <a16:creationId xmlns:a16="http://schemas.microsoft.com/office/drawing/2014/main" id="{F735C1EC-A660-4135-A9D4-7A7928D6C52C}"/>
              </a:ext>
            </a:extLst>
          </p:cNvPr>
          <p:cNvGrpSpPr>
            <a:grpSpLocks/>
          </p:cNvGrpSpPr>
          <p:nvPr/>
        </p:nvGrpSpPr>
        <p:grpSpPr bwMode="auto">
          <a:xfrm>
            <a:off x="5795963" y="1844675"/>
            <a:ext cx="3024187" cy="2416175"/>
            <a:chOff x="5796136" y="1844824"/>
            <a:chExt cx="3024336" cy="2416334"/>
          </a:xfrm>
        </p:grpSpPr>
        <p:grpSp>
          <p:nvGrpSpPr>
            <p:cNvPr id="4105" name="组合 19">
              <a:extLst>
                <a:ext uri="{FF2B5EF4-FFF2-40B4-BE49-F238E27FC236}">
                  <a16:creationId xmlns:a16="http://schemas.microsoft.com/office/drawing/2014/main" id="{C218BDD1-861D-4E5C-A4C1-A826B57FF0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6136" y="1844824"/>
              <a:ext cx="3024336" cy="2416334"/>
              <a:chOff x="5796136" y="1844824"/>
              <a:chExt cx="3024336" cy="2416334"/>
            </a:xfrm>
          </p:grpSpPr>
          <p:grpSp>
            <p:nvGrpSpPr>
              <p:cNvPr id="4107" name="组合 18">
                <a:extLst>
                  <a:ext uri="{FF2B5EF4-FFF2-40B4-BE49-F238E27FC236}">
                    <a16:creationId xmlns:a16="http://schemas.microsoft.com/office/drawing/2014/main" id="{7782B3DE-4841-4534-87B0-E8BDAD6A07E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796136" y="1844824"/>
                <a:ext cx="3024336" cy="1944216"/>
                <a:chOff x="5796136" y="1844824"/>
                <a:chExt cx="3024336" cy="1944216"/>
              </a:xfrm>
            </p:grpSpPr>
            <p:sp>
              <p:nvSpPr>
                <p:cNvPr id="9" name="椭圆 8">
                  <a:extLst>
                    <a:ext uri="{FF2B5EF4-FFF2-40B4-BE49-F238E27FC236}">
                      <a16:creationId xmlns:a16="http://schemas.microsoft.com/office/drawing/2014/main" id="{B87FDAC2-CA3B-4E09-90C4-ED274F59794E}"/>
                    </a:ext>
                  </a:extLst>
                </p:cNvPr>
                <p:cNvSpPr/>
                <p:nvPr/>
              </p:nvSpPr>
              <p:spPr>
                <a:xfrm>
                  <a:off x="5796136" y="2132181"/>
                  <a:ext cx="863643" cy="1441545"/>
                </a:xfrm>
                <a:prstGeom prst="ellips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400" b="1" i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</a:t>
                  </a:r>
                </a:p>
                <a:p>
                  <a:pPr algn="ctr" eaLnBrk="1" hangingPunct="1"/>
                  <a:r>
                    <a:rPr lang="en-US" altLang="zh-CN" sz="2400" b="1" i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</a:p>
                <a:p>
                  <a:pPr algn="ctr" eaLnBrk="1" hangingPunct="1"/>
                  <a:r>
                    <a:rPr lang="en-US" altLang="zh-CN" sz="2400" b="1" i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</a:t>
                  </a:r>
                  <a:endParaRPr lang="zh-CN" altLang="en-US" sz="2400" b="1" i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" name="椭圆 9">
                  <a:extLst>
                    <a:ext uri="{FF2B5EF4-FFF2-40B4-BE49-F238E27FC236}">
                      <a16:creationId xmlns:a16="http://schemas.microsoft.com/office/drawing/2014/main" id="{60650561-BFDE-4AB2-ABA9-934DFD264BAF}"/>
                    </a:ext>
                  </a:extLst>
                </p:cNvPr>
                <p:cNvSpPr/>
                <p:nvPr/>
              </p:nvSpPr>
              <p:spPr>
                <a:xfrm>
                  <a:off x="7451980" y="1844824"/>
                  <a:ext cx="1368492" cy="1944816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r>
                    <a:rPr lang="en-US" altLang="zh-CN" dirty="0"/>
                    <a:t>        </a:t>
                  </a:r>
                  <a:r>
                    <a:rPr lang="en-US" altLang="zh-CN" sz="2400" b="1" i="1" dirty="0" err="1">
                      <a:solidFill>
                        <a:schemeClr val="tx1"/>
                      </a:solidFill>
                      <a:latin typeface="Times New Roman" pitchFamily="18" charset="0"/>
                      <a:cs typeface="Times New Roman" pitchFamily="18" charset="0"/>
                    </a:rPr>
                    <a:t>f</a:t>
                  </a:r>
                  <a:r>
                    <a:rPr lang="en-US" altLang="zh-CN" sz="2400" b="1" i="1" baseline="-25000" dirty="0" err="1">
                      <a:solidFill>
                        <a:schemeClr val="tx1"/>
                      </a:solidFill>
                      <a:latin typeface="Times New Roman" pitchFamily="18" charset="0"/>
                      <a:cs typeface="Times New Roman" pitchFamily="18" charset="0"/>
                    </a:rPr>
                    <a:t>e</a:t>
                  </a:r>
                  <a:r>
                    <a:rPr lang="en-US" altLang="zh-CN" sz="2400" b="1" i="1" baseline="-25000" dirty="0">
                      <a:solidFill>
                        <a:schemeClr val="tx1"/>
                      </a:solidFill>
                      <a:latin typeface="Times New Roman" pitchFamily="18" charset="0"/>
                      <a:cs typeface="Times New Roman" pitchFamily="18" charset="0"/>
                    </a:rPr>
                    <a:t> </a:t>
                  </a:r>
                  <a:r>
                    <a:rPr lang="en-US" altLang="zh-CN" sz="2400" dirty="0">
                      <a:latin typeface="Times New Roman" pitchFamily="18" charset="0"/>
                      <a:cs typeface="Times New Roman" pitchFamily="18" charset="0"/>
                    </a:rPr>
                    <a:t>                   </a:t>
                  </a:r>
                </a:p>
                <a:p>
                  <a:pPr algn="ctr">
                    <a:defRPr/>
                  </a:pPr>
                  <a:r>
                    <a:rPr lang="en-US" altLang="zh-CN" sz="2400" b="1" dirty="0">
                      <a:solidFill>
                        <a:schemeClr val="tx1"/>
                      </a:solidFill>
                      <a:latin typeface="Times New Roman" pitchFamily="18" charset="0"/>
                      <a:cs typeface="Times New Roman" pitchFamily="18" charset="0"/>
                    </a:rPr>
                    <a:t>      </a:t>
                  </a:r>
                  <a:r>
                    <a:rPr lang="en-US" altLang="zh-CN" sz="2400" b="1" i="1" dirty="0" err="1">
                      <a:solidFill>
                        <a:schemeClr val="tx1"/>
                      </a:solidFill>
                      <a:latin typeface="Times New Roman" pitchFamily="18" charset="0"/>
                      <a:cs typeface="Times New Roman" pitchFamily="18" charset="0"/>
                    </a:rPr>
                    <a:t>f</a:t>
                  </a:r>
                  <a:r>
                    <a:rPr lang="en-US" altLang="zh-CN" sz="2400" b="1" i="1" baseline="-25000" dirty="0" err="1">
                      <a:solidFill>
                        <a:schemeClr val="tx1"/>
                      </a:solidFill>
                      <a:latin typeface="Times New Roman" pitchFamily="18" charset="0"/>
                      <a:cs typeface="Times New Roman" pitchFamily="18" charset="0"/>
                    </a:rPr>
                    <a:t>a</a:t>
                  </a:r>
                  <a:r>
                    <a:rPr lang="en-US" altLang="zh-CN" sz="2400" b="1" i="1" baseline="-25000" dirty="0">
                      <a:solidFill>
                        <a:schemeClr val="tx1"/>
                      </a:solidFill>
                      <a:latin typeface="Times New Roman" pitchFamily="18" charset="0"/>
                      <a:cs typeface="Times New Roman" pitchFamily="18" charset="0"/>
                    </a:rPr>
                    <a:t> </a:t>
                  </a:r>
                  <a:r>
                    <a:rPr lang="en-US" altLang="zh-CN" sz="2400" b="1" dirty="0">
                      <a:solidFill>
                        <a:schemeClr val="tx1"/>
                      </a:solidFill>
                      <a:latin typeface="Times New Roman" pitchFamily="18" charset="0"/>
                      <a:cs typeface="Times New Roman" pitchFamily="18" charset="0"/>
                    </a:rPr>
                    <a:t>      </a:t>
                  </a:r>
                </a:p>
                <a:p>
                  <a:pPr algn="ctr">
                    <a:defRPr/>
                  </a:pPr>
                  <a:r>
                    <a:rPr lang="en-US" altLang="zh-CN" sz="2400" dirty="0">
                      <a:latin typeface="Times New Roman" pitchFamily="18" charset="0"/>
                      <a:cs typeface="Times New Roman" pitchFamily="18" charset="0"/>
                    </a:rPr>
                    <a:t>      </a:t>
                  </a:r>
                  <a:r>
                    <a:rPr lang="en-US" altLang="zh-CN" sz="2400" b="1" i="1" dirty="0" err="1">
                      <a:solidFill>
                        <a:schemeClr val="tx1"/>
                      </a:solidFill>
                      <a:latin typeface="Times New Roman" pitchFamily="18" charset="0"/>
                      <a:cs typeface="Times New Roman" pitchFamily="18" charset="0"/>
                    </a:rPr>
                    <a:t>f</a:t>
                  </a:r>
                  <a:r>
                    <a:rPr lang="en-US" altLang="zh-CN" sz="2400" b="1" i="1" baseline="-25000" dirty="0" err="1">
                      <a:solidFill>
                        <a:schemeClr val="tx1"/>
                      </a:solidFill>
                      <a:latin typeface="Times New Roman" pitchFamily="18" charset="0"/>
                      <a:cs typeface="Times New Roman" pitchFamily="18" charset="0"/>
                    </a:rPr>
                    <a:t>b</a:t>
                  </a:r>
                  <a:endParaRPr lang="zh-CN" altLang="en-US" sz="2400" b="1" i="1" baseline="-25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cxnSp>
              <p:nvCxnSpPr>
                <p:cNvPr id="12" name="直接箭头连接符 11">
                  <a:extLst>
                    <a:ext uri="{FF2B5EF4-FFF2-40B4-BE49-F238E27FC236}">
                      <a16:creationId xmlns:a16="http://schemas.microsoft.com/office/drawing/2014/main" id="{BB219644-4942-45B8-B44E-BD9A5CFECBDF}"/>
                    </a:ext>
                  </a:extLst>
                </p:cNvPr>
                <p:cNvCxnSpPr/>
                <p:nvPr/>
              </p:nvCxnSpPr>
              <p:spPr>
                <a:xfrm>
                  <a:off x="6372426" y="2492567"/>
                  <a:ext cx="1800314" cy="0"/>
                </a:xfrm>
                <a:prstGeom prst="straightConnector1">
                  <a:avLst/>
                </a:prstGeom>
                <a:ln w="2222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直接箭头连接符 12">
                  <a:extLst>
                    <a:ext uri="{FF2B5EF4-FFF2-40B4-BE49-F238E27FC236}">
                      <a16:creationId xmlns:a16="http://schemas.microsoft.com/office/drawing/2014/main" id="{4467FE14-54BC-44DE-A4B6-CA6D40766F76}"/>
                    </a:ext>
                  </a:extLst>
                </p:cNvPr>
                <p:cNvCxnSpPr/>
                <p:nvPr/>
              </p:nvCxnSpPr>
              <p:spPr>
                <a:xfrm>
                  <a:off x="6372426" y="2852953"/>
                  <a:ext cx="1800314" cy="0"/>
                </a:xfrm>
                <a:prstGeom prst="straightConnector1">
                  <a:avLst/>
                </a:prstGeom>
                <a:ln w="2222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接箭头连接符 13">
                  <a:extLst>
                    <a:ext uri="{FF2B5EF4-FFF2-40B4-BE49-F238E27FC236}">
                      <a16:creationId xmlns:a16="http://schemas.microsoft.com/office/drawing/2014/main" id="{0909E85F-60BA-47AC-86F3-1745C9664056}"/>
                    </a:ext>
                  </a:extLst>
                </p:cNvPr>
                <p:cNvCxnSpPr/>
                <p:nvPr/>
              </p:nvCxnSpPr>
              <p:spPr>
                <a:xfrm>
                  <a:off x="6372426" y="3213339"/>
                  <a:ext cx="1800314" cy="0"/>
                </a:xfrm>
                <a:prstGeom prst="straightConnector1">
                  <a:avLst/>
                </a:prstGeom>
                <a:ln w="2222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" name="椭圆 14">
                  <a:extLst>
                    <a:ext uri="{FF2B5EF4-FFF2-40B4-BE49-F238E27FC236}">
                      <a16:creationId xmlns:a16="http://schemas.microsoft.com/office/drawing/2014/main" id="{FB36DD13-0291-4822-9522-25237EA801B5}"/>
                    </a:ext>
                  </a:extLst>
                </p:cNvPr>
                <p:cNvSpPr/>
                <p:nvPr/>
              </p:nvSpPr>
              <p:spPr>
                <a:xfrm>
                  <a:off x="7812360" y="2205211"/>
                  <a:ext cx="792201" cy="1297072"/>
                </a:xfrm>
                <a:prstGeom prst="ellipse">
                  <a:avLst/>
                </a:prstGeom>
                <a:solidFill>
                  <a:schemeClr val="accent1">
                    <a:alpha val="32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4108" name="TextBox 16">
                <a:extLst>
                  <a:ext uri="{FF2B5EF4-FFF2-40B4-BE49-F238E27FC236}">
                    <a16:creationId xmlns:a16="http://schemas.microsoft.com/office/drawing/2014/main" id="{C2F639F3-06AF-4978-92B7-FAC1FB0B41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12160" y="3573016"/>
                <a:ext cx="327334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b="1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endParaRPr lang="zh-CN" altLang="en-US" sz="2000" b="1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09" name="TextBox 17">
                <a:extLst>
                  <a:ext uri="{FF2B5EF4-FFF2-40B4-BE49-F238E27FC236}">
                    <a16:creationId xmlns:a16="http://schemas.microsoft.com/office/drawing/2014/main" id="{3F0DAAD0-4A00-44B7-BC6C-96C1BF3FB3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028384" y="3861048"/>
                <a:ext cx="72008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b="1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000" b="1" i="1" baseline="30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endParaRPr lang="zh-CN" altLang="en-US" sz="2000" b="1" i="1" baseline="30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106" name="TextBox 15">
              <a:extLst>
                <a:ext uri="{FF2B5EF4-FFF2-40B4-BE49-F238E27FC236}">
                  <a16:creationId xmlns:a16="http://schemas.microsoft.com/office/drawing/2014/main" id="{8509149E-D1B4-4943-B420-1B58F2CE05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84368" y="1844824"/>
              <a:ext cx="5040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zh-CN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35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35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35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35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635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635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3524" grpId="0"/>
      <p:bldP spid="363525" grpId="0"/>
      <p:bldP spid="36352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5572" name="Group 4">
            <a:extLst>
              <a:ext uri="{FF2B5EF4-FFF2-40B4-BE49-F238E27FC236}">
                <a16:creationId xmlns:a16="http://schemas.microsoft.com/office/drawing/2014/main" id="{00F5BA89-CBAC-4D9A-AC14-1CBDF94F9B9B}"/>
              </a:ext>
            </a:extLst>
          </p:cNvPr>
          <p:cNvGraphicFramePr>
            <a:graphicFrameLocks noGrp="1"/>
          </p:cNvGraphicFramePr>
          <p:nvPr>
            <p:ph type="tbl" idx="1"/>
          </p:nvPr>
        </p:nvGraphicFramePr>
        <p:xfrm>
          <a:off x="1331913" y="4149725"/>
          <a:ext cx="5545137" cy="1792288"/>
        </p:xfrm>
        <a:graphic>
          <a:graphicData uri="http://schemas.openxmlformats.org/drawingml/2006/table">
            <a:tbl>
              <a:tblPr/>
              <a:tblGrid>
                <a:gridCol w="576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6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  <a:sym typeface="Symbol" pitchFamily="18" charset="2"/>
                        </a:rPr>
                        <a:t>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0   1   2 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Lucida Sans Unicode" pitchFamily="34" charset="0"/>
                        </a:rPr>
                        <a:t>∘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f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50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2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0   1   2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1   2   0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2   0   1 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f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f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f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f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290" name="灯片编号占位符 5">
            <a:extLst>
              <a:ext uri="{FF2B5EF4-FFF2-40B4-BE49-F238E27FC236}">
                <a16:creationId xmlns:a16="http://schemas.microsoft.com/office/drawing/2014/main" id="{2DD483B9-AD3A-45A7-8ECB-6ACD81BF7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52389DC-3FB0-42B6-8E6B-6AB1FC9AF84A}" type="slidenum">
              <a:rPr lang="en-US" altLang="zh-CN">
                <a:solidFill>
                  <a:srgbClr val="898989"/>
                </a:solidFill>
              </a:rPr>
              <a:pPr eaLnBrk="1" hangingPunct="1"/>
              <a:t>9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B932C011-E7F8-4584-9E7C-30945286DA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3" y="1052513"/>
            <a:ext cx="8358187" cy="293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zh-CN" altLang="en-US" sz="2400" b="1">
                <a:solidFill>
                  <a:srgbClr val="8000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400" b="1">
                <a:solidFill>
                  <a:srgbClr val="80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400" b="1">
                <a:latin typeface="Times New Roman" panose="02020603050405020304" pitchFamily="18" charset="0"/>
              </a:rPr>
              <a:t>   </a:t>
            </a:r>
            <a:r>
              <a:rPr lang="en-US" altLang="zh-CN" sz="2400" b="1" i="1">
                <a:latin typeface="Times New Roman" panose="02020603050405020304" pitchFamily="18" charset="0"/>
              </a:rPr>
              <a:t>S </a:t>
            </a:r>
            <a:r>
              <a:rPr lang="en-US" altLang="zh-CN" sz="2400" b="1">
                <a:latin typeface="Times New Roman" panose="02020603050405020304" pitchFamily="18" charset="0"/>
              </a:rPr>
              <a:t>= Z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3</a:t>
            </a:r>
            <a:r>
              <a:rPr lang="en-US" altLang="zh-CN" sz="2400" b="1">
                <a:latin typeface="Times New Roman" panose="02020603050405020304" pitchFamily="18" charset="0"/>
              </a:rPr>
              <a:t>= { 0, 1, 2 }</a:t>
            </a:r>
            <a:r>
              <a:rPr lang="zh-CN" altLang="en-US" sz="2400" b="1">
                <a:latin typeface="Times New Roman" panose="02020603050405020304" pitchFamily="18" charset="0"/>
              </a:rPr>
              <a:t>，独异点</a:t>
            </a:r>
            <a:r>
              <a:rPr lang="en-US" altLang="zh-CN" sz="2400" b="1" i="1">
                <a:latin typeface="Times New Roman" panose="02020603050405020304" pitchFamily="18" charset="0"/>
              </a:rPr>
              <a:t>V </a:t>
            </a:r>
            <a:r>
              <a:rPr lang="en-US" altLang="zh-CN" sz="2400" b="1">
                <a:latin typeface="Times New Roman" panose="02020603050405020304" pitchFamily="18" charset="0"/>
              </a:rPr>
              <a:t>= &lt;</a:t>
            </a:r>
            <a:r>
              <a:rPr lang="en-US" altLang="zh-CN" sz="2400" b="1" i="1">
                <a:latin typeface="Times New Roman" panose="02020603050405020304" pitchFamily="18" charset="0"/>
              </a:rPr>
              <a:t>S</a:t>
            </a:r>
            <a:r>
              <a:rPr lang="en-US" altLang="zh-CN" sz="2400" b="1">
                <a:latin typeface="Times New Roman" panose="02020603050405020304" pitchFamily="18" charset="0"/>
              </a:rPr>
              <a:t>,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CN" sz="2400" b="1">
                <a:latin typeface="Times New Roman" panose="02020603050405020304" pitchFamily="18" charset="0"/>
              </a:rPr>
              <a:t>,0&gt;, 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400" b="1" i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S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={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400" b="1">
                <a:sym typeface="Symbol" panose="05050102010706020507" pitchFamily="18" charset="2"/>
              </a:rPr>
              <a:t>…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,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26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}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，其中</a:t>
            </a:r>
            <a:endParaRPr lang="zh-CN" altLang="en-US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 </a:t>
            </a:r>
            <a:r>
              <a:rPr lang="zh-CN" altLang="en-US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             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0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={&lt;0,0&gt;,&lt;1,1&gt;,&lt;2,2&gt;}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               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={&lt;0,1&gt;,&lt;1,2&gt;,&lt;2,0&gt;}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               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={&lt;0,2&gt;,&lt;1,0&gt;,&lt;2,1&gt;} 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 </a:t>
            </a:r>
            <a:r>
              <a:rPr lang="en-US" altLang="zh-CN" sz="2400" b="1">
                <a:latin typeface="Times New Roman" panose="02020603050405020304" pitchFamily="18" charset="0"/>
              </a:rPr>
              <a:t>:</a:t>
            </a:r>
            <a:r>
              <a:rPr lang="en-US" altLang="zh-CN" sz="2400" b="1" i="1">
                <a:latin typeface="Times New Roman" panose="02020603050405020304" pitchFamily="18" charset="0"/>
              </a:rPr>
              <a:t>S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>
                <a:latin typeface="Times New Roman" panose="02020603050405020304" pitchFamily="18" charset="0"/>
              </a:rPr>
              <a:t>S</a:t>
            </a:r>
            <a:r>
              <a:rPr lang="en-US" altLang="zh-CN" sz="2400" b="1" i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  </a:t>
            </a:r>
            <a:r>
              <a:rPr lang="en-US" altLang="zh-CN" sz="2400" b="1">
                <a:latin typeface="Times New Roman" panose="02020603050405020304" pitchFamily="18" charset="0"/>
              </a:rPr>
              <a:t>(0) = </a:t>
            </a:r>
            <a:r>
              <a:rPr lang="en-US" altLang="zh-CN" sz="2400" b="1" i="1">
                <a:latin typeface="Times New Roman" panose="02020603050405020304" pitchFamily="18" charset="0"/>
              </a:rPr>
              <a:t>f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  </a:t>
            </a:r>
            <a:r>
              <a:rPr lang="en-US" altLang="zh-CN" sz="2400" b="1">
                <a:latin typeface="Times New Roman" panose="02020603050405020304" pitchFamily="18" charset="0"/>
              </a:rPr>
              <a:t>(1) = </a:t>
            </a:r>
            <a:r>
              <a:rPr lang="en-US" altLang="zh-CN" sz="2400" b="1" i="1">
                <a:latin typeface="Times New Roman" panose="02020603050405020304" pitchFamily="18" charset="0"/>
              </a:rPr>
              <a:t>f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</a:t>
            </a:r>
            <a:r>
              <a:rPr lang="en-US" altLang="zh-CN" sz="2400" b="1">
                <a:latin typeface="Times New Roman" panose="02020603050405020304" pitchFamily="18" charset="0"/>
              </a:rPr>
              <a:t>(2) = </a:t>
            </a:r>
            <a:r>
              <a:rPr lang="en-US" altLang="zh-CN" sz="2400" b="1" i="1">
                <a:latin typeface="Times New Roman" panose="02020603050405020304" pitchFamily="18" charset="0"/>
              </a:rPr>
              <a:t>f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 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S</a:t>
            </a:r>
            <a:r>
              <a:rPr lang="en-US" altLang="zh-CN" sz="2400" b="1">
                <a:latin typeface="Times New Roman" panose="02020603050405020304" pitchFamily="18" charset="0"/>
              </a:rPr>
              <a:t>) = { </a:t>
            </a:r>
            <a:r>
              <a:rPr lang="en-US" altLang="zh-CN" sz="2400" b="1" i="1">
                <a:latin typeface="Times New Roman" panose="02020603050405020304" pitchFamily="18" charset="0"/>
              </a:rPr>
              <a:t>f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}  </a:t>
            </a:r>
            <a:r>
              <a:rPr lang="en-US" altLang="zh-CN" sz="2400" b="1" i="1">
                <a:latin typeface="Times New Roman" panose="02020603050405020304" pitchFamily="18" charset="0"/>
              </a:rPr>
              <a:t>S</a:t>
            </a:r>
            <a:r>
              <a:rPr lang="en-US" altLang="zh-CN" sz="2400" b="1" i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400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5544BF9-126C-45BB-9147-E3127C1827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206" y="205581"/>
            <a:ext cx="7772400" cy="639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zh-CN" altLang="en-US" sz="4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实例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代数结构PP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代数结构PPT" id="{59FB3D3D-6029-4102-98A0-9B60F27E0E23}" vid="{0AB676A5-E0BB-48C0-B1BF-4DD3C7F3CCB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代数结构PPT主题</Template>
  <TotalTime>3271</TotalTime>
  <Words>1240</Words>
  <Application>Microsoft Office PowerPoint</Application>
  <PresentationFormat>全屏显示(4:3)</PresentationFormat>
  <Paragraphs>148</Paragraphs>
  <Slides>9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宋体</vt:lpstr>
      <vt:lpstr>Calibri</vt:lpstr>
      <vt:lpstr>Times New Roman</vt:lpstr>
      <vt:lpstr>Wingdings</vt:lpstr>
      <vt:lpstr>Symbol</vt:lpstr>
      <vt:lpstr>幼圆</vt:lpstr>
      <vt:lpstr>Lucida Sans Unicode</vt:lpstr>
      <vt:lpstr>Verdana</vt:lpstr>
      <vt:lpstr>代数结构PPT</vt:lpstr>
      <vt:lpstr>Microsoft Office Word 97 - 2003 文档</vt:lpstr>
      <vt:lpstr>Microsoft 公式 3.0</vt:lpstr>
      <vt:lpstr>第十六章  半群与独异点</vt:lpstr>
      <vt:lpstr>16.1 半群与独异点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深圳市斯尔顿科技有限公司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付 康</cp:lastModifiedBy>
  <cp:revision>310</cp:revision>
  <dcterms:created xsi:type="dcterms:W3CDTF">2005-12-02T07:25:32Z</dcterms:created>
  <dcterms:modified xsi:type="dcterms:W3CDTF">2020-07-10T05:56:48Z</dcterms:modified>
</cp:coreProperties>
</file>