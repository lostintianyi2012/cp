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8331" y="471551"/>
            <a:ext cx="230733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050" y="1754568"/>
            <a:ext cx="8089900" cy="3790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98002" y="6473078"/>
            <a:ext cx="2540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4228" y="2493086"/>
            <a:ext cx="650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单元</a:t>
            </a:r>
            <a:r>
              <a:rPr dirty="0">
                <a:latin typeface="Calibri"/>
                <a:cs typeface="Calibri"/>
              </a:rPr>
              <a:t>1.2</a:t>
            </a:r>
            <a:r>
              <a:rPr dirty="0" spc="-80">
                <a:latin typeface="Calibri"/>
                <a:cs typeface="Calibri"/>
              </a:rPr>
              <a:t> </a:t>
            </a:r>
            <a:r>
              <a:rPr dirty="0" spc="25"/>
              <a:t>命题逻辑预备知识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29789" y="4070858"/>
            <a:ext cx="4895215" cy="1342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40025" algn="l"/>
              </a:tabLst>
            </a:pP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第一</a:t>
            </a:r>
            <a:r>
              <a:rPr dirty="0" sz="3150" spc="720" b="1">
                <a:solidFill>
                  <a:srgbClr val="888888"/>
                </a:solidFill>
                <a:latin typeface="Microsoft JhengHei"/>
                <a:cs typeface="Microsoft JhengHei"/>
              </a:rPr>
              <a:t>编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集合</a:t>
            </a:r>
            <a:r>
              <a:rPr dirty="0" sz="3150" spc="-50" b="1">
                <a:solidFill>
                  <a:srgbClr val="888888"/>
                </a:solidFill>
                <a:latin typeface="Microsoft JhengHei"/>
                <a:cs typeface="Microsoft JhengHei"/>
              </a:rPr>
              <a:t>论</a:t>
            </a:r>
            <a:r>
              <a:rPr dirty="0" sz="3150" b="1">
                <a:solidFill>
                  <a:srgbClr val="888888"/>
                </a:solidFill>
                <a:latin typeface="Microsoft JhengHei"/>
                <a:cs typeface="Microsoft JhengHei"/>
              </a:rPr>
              <a:t>	</a:t>
            </a:r>
            <a:r>
              <a:rPr dirty="0" sz="3150" spc="70" b="1">
                <a:solidFill>
                  <a:srgbClr val="888888"/>
                </a:solidFill>
                <a:latin typeface="Microsoft JhengHei"/>
                <a:cs typeface="Microsoft JhengHei"/>
              </a:rPr>
              <a:t>第一</a:t>
            </a:r>
            <a:r>
              <a:rPr dirty="0" sz="3150" spc="715" b="1">
                <a:solidFill>
                  <a:srgbClr val="888888"/>
                </a:solidFill>
                <a:latin typeface="Microsoft JhengHei"/>
                <a:cs typeface="Microsoft JhengHei"/>
              </a:rPr>
              <a:t>章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集</a:t>
            </a:r>
            <a:r>
              <a:rPr dirty="0" sz="3150" spc="15" b="1">
                <a:solidFill>
                  <a:srgbClr val="888888"/>
                </a:solidFill>
                <a:latin typeface="Microsoft JhengHei"/>
                <a:cs typeface="Microsoft JhengHei"/>
              </a:rPr>
              <a:t>合</a:t>
            </a:r>
            <a:endParaRPr sz="3150">
              <a:latin typeface="Microsoft JhengHei"/>
              <a:cs typeface="Microsoft JhengHei"/>
            </a:endParaRPr>
          </a:p>
          <a:p>
            <a:pPr marL="699135">
              <a:lnSpc>
                <a:spcPct val="100000"/>
              </a:lnSpc>
              <a:spcBef>
                <a:spcPts val="2785"/>
              </a:spcBef>
            </a:pPr>
            <a:r>
              <a:rPr dirty="0" sz="3150" b="1">
                <a:solidFill>
                  <a:srgbClr val="888888"/>
                </a:solidFill>
                <a:latin typeface="Calibri"/>
                <a:cs typeface="Calibri"/>
              </a:rPr>
              <a:t>1.1</a:t>
            </a:r>
            <a:r>
              <a:rPr dirty="0" sz="3150" spc="50" b="1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150" spc="70" b="1">
                <a:solidFill>
                  <a:srgbClr val="888888"/>
                </a:solidFill>
                <a:latin typeface="Microsoft JhengHei"/>
                <a:cs typeface="Microsoft JhengHei"/>
              </a:rPr>
              <a:t>预备知识（上</a:t>
            </a:r>
            <a:r>
              <a:rPr dirty="0" sz="3150" spc="20" b="1">
                <a:solidFill>
                  <a:srgbClr val="888888"/>
                </a:solidFill>
                <a:latin typeface="Microsoft JhengHei"/>
                <a:cs typeface="Microsoft JhengHei"/>
              </a:rPr>
              <a:t>）</a:t>
            </a:r>
            <a:endParaRPr sz="31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内</a:t>
            </a:r>
            <a:r>
              <a:rPr dirty="0"/>
              <a:t>容</a:t>
            </a:r>
            <a:r>
              <a:rPr dirty="0"/>
              <a:t>提</a:t>
            </a:r>
            <a:r>
              <a:rPr dirty="0" spc="-50"/>
              <a:t>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5801360" cy="2633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5" b="1">
                <a:latin typeface="Microsoft JhengHei"/>
                <a:cs typeface="Microsoft JhengHei"/>
              </a:rPr>
              <a:t>命题逻辑中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33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45" b="1">
                <a:latin typeface="Microsoft JhengHei"/>
                <a:cs typeface="Microsoft JhengHei"/>
              </a:rPr>
              <a:t>最基本的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逻辑符号、逻辑公式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34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基本的</a:t>
            </a:r>
            <a:r>
              <a:rPr dirty="0" sz="2800" spc="-25" b="1">
                <a:solidFill>
                  <a:srgbClr val="FF0000"/>
                </a:solidFill>
                <a:latin typeface="Microsoft JhengHei"/>
                <a:cs typeface="Microsoft JhengHei"/>
              </a:rPr>
              <a:t>等值式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40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重要的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推理定律</a:t>
            </a:r>
            <a:r>
              <a:rPr dirty="0" sz="2800" spc="65" b="1">
                <a:latin typeface="Microsoft JhengHei"/>
                <a:cs typeface="Microsoft JhengHei"/>
              </a:rPr>
              <a:t>（</a:t>
            </a:r>
            <a:r>
              <a:rPr dirty="0" sz="2800" spc="-5" b="1">
                <a:latin typeface="Microsoft JhengHei"/>
                <a:cs typeface="Microsoft JhengHei"/>
              </a:rPr>
              <a:t>重言蕴涵式</a:t>
            </a:r>
            <a:r>
              <a:rPr dirty="0" sz="2800" spc="-50" b="1"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原</a:t>
            </a:r>
            <a:r>
              <a:rPr dirty="0"/>
              <a:t>子</a:t>
            </a:r>
            <a:r>
              <a:rPr dirty="0"/>
              <a:t>命</a:t>
            </a:r>
            <a:r>
              <a:rPr dirty="0" spc="-50"/>
              <a:t>题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56919" y="1431163"/>
            <a:ext cx="5581650" cy="190118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p,q,r,…</a:t>
            </a:r>
            <a:r>
              <a:rPr dirty="0" sz="2800" spc="65" b="1">
                <a:latin typeface="Microsoft JhengHei"/>
                <a:cs typeface="Microsoft JhengHei"/>
              </a:rPr>
              <a:t>表示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原子命题</a:t>
            </a: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spc="10" b="1">
                <a:solidFill>
                  <a:srgbClr val="FF0000"/>
                </a:solidFill>
                <a:latin typeface="Microsoft JhengHei"/>
                <a:cs typeface="Microsoft JhengHei"/>
              </a:rPr>
              <a:t>简单命题</a:t>
            </a:r>
            <a:r>
              <a:rPr dirty="0" sz="2800" spc="-25" b="1">
                <a:latin typeface="Calibri"/>
                <a:cs typeface="Calibri"/>
              </a:rPr>
              <a:t>)</a:t>
            </a:r>
            <a:r>
              <a:rPr dirty="0" sz="2800" spc="-25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 marR="700405">
              <a:lnSpc>
                <a:spcPct val="169500"/>
              </a:lnSpc>
              <a:spcBef>
                <a:spcPts val="5"/>
              </a:spcBef>
            </a:pPr>
            <a:r>
              <a:rPr dirty="0" sz="2800" spc="60" b="1">
                <a:latin typeface="Microsoft JhengHei"/>
                <a:cs typeface="Microsoft JhengHei"/>
              </a:rPr>
              <a:t>用“</a:t>
            </a:r>
            <a:r>
              <a:rPr dirty="0" sz="2800" spc="5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latin typeface="Microsoft JhengHei"/>
                <a:cs typeface="Microsoft JhengHei"/>
              </a:rPr>
              <a:t>”表示命题的真值为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真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r>
              <a:rPr dirty="0" sz="2800" spc="60" b="1">
                <a:latin typeface="Microsoft JhengHei"/>
                <a:cs typeface="Microsoft JhengHei"/>
              </a:rPr>
              <a:t>用“</a:t>
            </a:r>
            <a:r>
              <a:rPr dirty="0" sz="2800" spc="50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b="1">
                <a:latin typeface="Microsoft JhengHei"/>
                <a:cs typeface="Microsoft JhengHei"/>
              </a:rPr>
              <a:t>”表示命题的真值为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假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13353" y="471551"/>
            <a:ext cx="172847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b="1">
                <a:solidFill>
                  <a:srgbClr val="C00000"/>
                </a:solidFill>
                <a:latin typeface="Microsoft JhengHei"/>
                <a:cs typeface="Microsoft JhengHei"/>
              </a:rPr>
              <a:t>联</a:t>
            </a:r>
            <a:r>
              <a:rPr dirty="0" sz="4400" b="1">
                <a:solidFill>
                  <a:srgbClr val="C00000"/>
                </a:solidFill>
                <a:latin typeface="Microsoft JhengHei"/>
                <a:cs typeface="Microsoft JhengHei"/>
              </a:rPr>
              <a:t>结</a:t>
            </a:r>
            <a:r>
              <a:rPr dirty="0" sz="4400" spc="-50" b="1">
                <a:solidFill>
                  <a:srgbClr val="C00000"/>
                </a:solidFill>
                <a:latin typeface="Microsoft JhengHei"/>
                <a:cs typeface="Microsoft JhengHei"/>
              </a:rPr>
              <a:t>词</a:t>
            </a:r>
            <a:endParaRPr sz="44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6575" y="1431163"/>
            <a:ext cx="5956935" cy="454659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>
                <a:solidFill>
                  <a:srgbClr val="000000"/>
                </a:solidFill>
              </a:rPr>
              <a:t>用</a:t>
            </a:r>
            <a:r>
              <a:rPr dirty="0" sz="2800">
                <a:solidFill>
                  <a:srgbClr val="000000"/>
                </a:solidFill>
                <a:latin typeface="Calibri"/>
                <a:cs typeface="Calibri"/>
              </a:rPr>
              <a:t>5</a:t>
            </a:r>
            <a:r>
              <a:rPr dirty="0" sz="2800" spc="-5">
                <a:solidFill>
                  <a:srgbClr val="000000"/>
                </a:solidFill>
              </a:rPr>
              <a:t>种连接词给出最基本的</a:t>
            </a:r>
            <a:r>
              <a:rPr dirty="0" sz="2800" spc="10">
                <a:solidFill>
                  <a:srgbClr val="FF0000"/>
                </a:solidFill>
              </a:rPr>
              <a:t>复合命题</a:t>
            </a:r>
            <a:r>
              <a:rPr dirty="0" sz="2800" spc="-50">
                <a:solidFill>
                  <a:srgbClr val="000000"/>
                </a:solidFill>
              </a:rPr>
              <a:t>。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37869" y="2165782"/>
          <a:ext cx="4823460" cy="3349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845"/>
                <a:gridCol w="965834"/>
                <a:gridCol w="2429510"/>
              </a:tblGrid>
              <a:tr h="5854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553085" algn="l"/>
                        </a:tabLst>
                      </a:pP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①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dirty="0" sz="2800" spc="-25" b="1">
                          <a:solidFill>
                            <a:srgbClr val="006FC0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p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800" spc="40" b="1">
                          <a:latin typeface="Microsoft JhengHei"/>
                          <a:cs typeface="Microsoft JhengHei"/>
                        </a:rPr>
                        <a:t>称为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2800" spc="70" b="1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否定</a:t>
                      </a: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式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3175"/>
                </a:tc>
              </a:tr>
              <a:tr h="727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553085" algn="l"/>
                        </a:tabLst>
                      </a:pP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②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006FC0"/>
                          </a:solidFill>
                          <a:latin typeface="Symbol"/>
                          <a:cs typeface="Symbol"/>
                        </a:rPr>
                        <a:t>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q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2800" spc="40" b="1">
                          <a:latin typeface="Microsoft JhengHei"/>
                          <a:cs typeface="Microsoft JhengHei"/>
                        </a:rPr>
                        <a:t>称为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与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2800" spc="35" b="1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合取</a:t>
                      </a: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式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970"/>
                </a:tc>
              </a:tr>
              <a:tr h="727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5"/>
                        </a:spcBef>
                        <a:tabLst>
                          <a:tab pos="553085" algn="l"/>
                        </a:tabLst>
                      </a:pP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③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006FC0"/>
                          </a:solidFill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q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145415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2800" spc="40" b="1">
                          <a:latin typeface="Microsoft JhengHei"/>
                          <a:cs typeface="Microsoft JhengHei"/>
                        </a:rPr>
                        <a:t>称为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5415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与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2800" spc="35" b="1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析取</a:t>
                      </a: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式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5415"/>
                </a:tc>
              </a:tr>
              <a:tr h="7232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553085" algn="l"/>
                        </a:tabLst>
                      </a:pP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④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006FC0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q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2800" spc="40" b="1">
                          <a:latin typeface="Microsoft JhengHei"/>
                          <a:cs typeface="Microsoft JhengHei"/>
                        </a:rPr>
                        <a:t>称为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97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与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2800" spc="35" b="1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蕴涵</a:t>
                      </a: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式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970"/>
                </a:tc>
              </a:tr>
              <a:tr h="5854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05"/>
                        </a:spcBef>
                        <a:tabLst>
                          <a:tab pos="553085" algn="l"/>
                        </a:tabLst>
                      </a:pP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⑤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	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25" b="1">
                          <a:solidFill>
                            <a:srgbClr val="006FC0"/>
                          </a:solidFill>
                          <a:latin typeface="Symbol"/>
                          <a:cs typeface="Symbol"/>
                        </a:rPr>
                        <a:t></a:t>
                      </a:r>
                      <a:r>
                        <a:rPr dirty="0" sz="2800" spc="-25" b="1">
                          <a:latin typeface="Calibri"/>
                          <a:cs typeface="Calibri"/>
                        </a:rPr>
                        <a:t>q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140335"/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2800" spc="40" b="1">
                          <a:latin typeface="Microsoft JhengHei"/>
                          <a:cs typeface="Microsoft JhengHei"/>
                        </a:rPr>
                        <a:t>称为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335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与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dirty="0" sz="2800" spc="35" b="1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等价</a:t>
                      </a:r>
                      <a:r>
                        <a:rPr dirty="0" sz="2800" spc="-50" b="1">
                          <a:latin typeface="Microsoft JhengHei"/>
                          <a:cs typeface="Microsoft JhengHei"/>
                        </a:rPr>
                        <a:t>式</a:t>
                      </a:r>
                      <a:endParaRPr sz="2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14033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命</a:t>
            </a:r>
            <a:r>
              <a:rPr dirty="0"/>
              <a:t>题</a:t>
            </a:r>
            <a:r>
              <a:rPr dirty="0"/>
              <a:t>公</a:t>
            </a:r>
            <a:r>
              <a:rPr dirty="0" spc="-50"/>
              <a:t>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54568"/>
            <a:ext cx="8272780" cy="370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Microsoft JhengHei"/>
                <a:cs typeface="Microsoft JhengHei"/>
              </a:rPr>
              <a:t>用</a:t>
            </a:r>
            <a:r>
              <a:rPr dirty="0" sz="2600" spc="-30" b="1">
                <a:solidFill>
                  <a:srgbClr val="006FC0"/>
                </a:solidFill>
                <a:latin typeface="Calibri"/>
                <a:cs typeface="Calibri"/>
              </a:rPr>
              <a:t>p,q,r…</a:t>
            </a:r>
            <a:r>
              <a:rPr dirty="0" sz="2600" b="1">
                <a:latin typeface="Microsoft JhengHei"/>
                <a:cs typeface="Microsoft JhengHei"/>
              </a:rPr>
              <a:t>表</a:t>
            </a:r>
            <a:r>
              <a:rPr dirty="0" sz="2600" b="1">
                <a:latin typeface="Microsoft JhengHei"/>
                <a:cs typeface="Microsoft JhengHei"/>
              </a:rPr>
              <a:t>示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命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题</a:t>
            </a:r>
            <a:r>
              <a:rPr dirty="0" sz="2600" spc="-35" b="1">
                <a:latin typeface="Calibri"/>
                <a:cs typeface="Calibri"/>
              </a:rPr>
              <a:t>(</a:t>
            </a:r>
            <a:r>
              <a:rPr dirty="0" sz="2600" spc="-20" b="1">
                <a:latin typeface="Microsoft JhengHei"/>
                <a:cs typeface="Microsoft JhengHei"/>
              </a:rPr>
              <a:t>命题常元</a:t>
            </a:r>
            <a:r>
              <a:rPr dirty="0" sz="2600" spc="-30" b="1">
                <a:latin typeface="Calibri"/>
                <a:cs typeface="Calibri"/>
              </a:rPr>
              <a:t>)</a:t>
            </a:r>
            <a:r>
              <a:rPr dirty="0" sz="2600" b="1">
                <a:latin typeface="Microsoft JhengHei"/>
                <a:cs typeface="Microsoft JhengHei"/>
              </a:rPr>
              <a:t>或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命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题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变</a:t>
            </a:r>
            <a:r>
              <a:rPr dirty="0" sz="26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元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  <a:tabLst>
                <a:tab pos="524510" algn="l"/>
              </a:tabLst>
            </a:pPr>
            <a:r>
              <a:rPr dirty="0" sz="2600" spc="-50" b="1">
                <a:latin typeface="Microsoft JhengHei"/>
                <a:cs typeface="Microsoft JhengHei"/>
              </a:rPr>
              <a:t>①</a:t>
            </a:r>
            <a:r>
              <a:rPr dirty="0" sz="2600" b="1">
                <a:latin typeface="Microsoft JhengHei"/>
                <a:cs typeface="Microsoft JhengHei"/>
              </a:rPr>
              <a:t>	单</a:t>
            </a: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b="1">
                <a:latin typeface="Microsoft JhengHei"/>
                <a:cs typeface="Microsoft JhengHei"/>
              </a:rPr>
              <a:t>题</a:t>
            </a:r>
            <a:r>
              <a:rPr dirty="0" sz="2600" spc="-20" b="1">
                <a:latin typeface="Microsoft JhengHei"/>
                <a:cs typeface="Microsoft JhengHei"/>
              </a:rPr>
              <a:t>变元</a:t>
            </a:r>
            <a:r>
              <a:rPr dirty="0" sz="2600" spc="-35" b="1">
                <a:latin typeface="Calibri"/>
                <a:cs typeface="Calibri"/>
              </a:rPr>
              <a:t>(</a:t>
            </a:r>
            <a:r>
              <a:rPr dirty="0" sz="2600" spc="-25" b="1">
                <a:latin typeface="Microsoft JhengHei"/>
                <a:cs typeface="Microsoft JhengHei"/>
              </a:rPr>
              <a:t>或常元</a:t>
            </a:r>
            <a:r>
              <a:rPr dirty="0" sz="2600" spc="-30" b="1">
                <a:latin typeface="Calibri"/>
                <a:cs typeface="Calibri"/>
              </a:rPr>
              <a:t>)</a:t>
            </a:r>
            <a:r>
              <a:rPr dirty="0" sz="2600" spc="-20" b="1">
                <a:latin typeface="Microsoft JhengHei"/>
                <a:cs typeface="Microsoft JhengHei"/>
              </a:rPr>
              <a:t>是命</a:t>
            </a:r>
            <a:r>
              <a:rPr dirty="0" sz="2600" spc="-35" b="1">
                <a:latin typeface="Microsoft JhengHei"/>
                <a:cs typeface="Microsoft JhengHei"/>
              </a:rPr>
              <a:t>题</a:t>
            </a:r>
            <a:r>
              <a:rPr dirty="0" sz="2600" spc="-35" b="1">
                <a:latin typeface="Microsoft JhengHei"/>
                <a:cs typeface="Microsoft JhengHei"/>
              </a:rPr>
              <a:t>公</a:t>
            </a:r>
            <a:r>
              <a:rPr dirty="0" sz="2600" spc="-25" b="1">
                <a:latin typeface="Microsoft JhengHei"/>
                <a:cs typeface="Microsoft JhengHei"/>
              </a:rPr>
              <a:t>式；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  <a:tabLst>
                <a:tab pos="524510" algn="l"/>
              </a:tabLst>
            </a:pPr>
            <a:r>
              <a:rPr dirty="0" sz="2600" spc="-50" b="1">
                <a:latin typeface="Microsoft JhengHei"/>
                <a:cs typeface="Microsoft JhengHei"/>
              </a:rPr>
              <a:t>②</a:t>
            </a:r>
            <a:r>
              <a:rPr dirty="0" sz="2600" b="1">
                <a:latin typeface="Microsoft JhengHei"/>
                <a:cs typeface="Microsoft JhengHei"/>
              </a:rPr>
              <a:t>	若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b="1">
                <a:latin typeface="Microsoft JhengHei"/>
                <a:cs typeface="Microsoft JhengHei"/>
              </a:rPr>
              <a:t>题</a:t>
            </a:r>
            <a:r>
              <a:rPr dirty="0" sz="2600" spc="-20" b="1">
                <a:latin typeface="Microsoft JhengHei"/>
                <a:cs typeface="Microsoft JhengHei"/>
              </a:rPr>
              <a:t>公式</a:t>
            </a:r>
            <a:r>
              <a:rPr dirty="0" sz="2600" spc="60" b="1">
                <a:latin typeface="Calibri"/>
                <a:cs typeface="Calibri"/>
              </a:rPr>
              <a:t>, </a:t>
            </a:r>
            <a:r>
              <a:rPr dirty="0" sz="2600" b="1">
                <a:latin typeface="Microsoft JhengHei"/>
                <a:cs typeface="Microsoft JhengHei"/>
              </a:rPr>
              <a:t>则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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A)</a:t>
            </a:r>
            <a:r>
              <a:rPr dirty="0" sz="2600" b="1">
                <a:latin typeface="Microsoft JhengHei"/>
                <a:cs typeface="Microsoft JhengHei"/>
              </a:rPr>
              <a:t>也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spc="-50" b="1">
                <a:latin typeface="Microsoft JhengHei"/>
                <a:cs typeface="Microsoft JhengHei"/>
              </a:rPr>
              <a:t>；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  <a:tabLst>
                <a:tab pos="524510" algn="l"/>
              </a:tabLst>
            </a:pPr>
            <a:r>
              <a:rPr dirty="0" sz="2600" spc="-50" b="1">
                <a:latin typeface="Microsoft JhengHei"/>
                <a:cs typeface="Microsoft JhengHei"/>
              </a:rPr>
              <a:t>③</a:t>
            </a:r>
            <a:r>
              <a:rPr dirty="0" sz="2600" b="1">
                <a:latin typeface="Microsoft JhengHei"/>
                <a:cs typeface="Microsoft JhengHei"/>
              </a:rPr>
              <a:t>	若</a:t>
            </a:r>
            <a:r>
              <a:rPr dirty="0" sz="2600" spc="-3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命</a:t>
            </a:r>
            <a:r>
              <a:rPr dirty="0" sz="2600" spc="-35" b="1">
                <a:latin typeface="Microsoft JhengHei"/>
                <a:cs typeface="Microsoft JhengHei"/>
              </a:rPr>
              <a:t>题</a:t>
            </a:r>
            <a:r>
              <a:rPr dirty="0" sz="2600" b="1">
                <a:latin typeface="Microsoft JhengHei"/>
                <a:cs typeface="Microsoft JhengHei"/>
              </a:rPr>
              <a:t>公式</a:t>
            </a:r>
            <a:r>
              <a:rPr dirty="0" sz="2600" spc="85" b="1">
                <a:latin typeface="Calibri"/>
                <a:cs typeface="Calibri"/>
              </a:rPr>
              <a:t>, </a:t>
            </a:r>
            <a:r>
              <a:rPr dirty="0" sz="2600" b="1">
                <a:latin typeface="Microsoft JhengHei"/>
                <a:cs typeface="Microsoft JhengHei"/>
              </a:rPr>
              <a:t>则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B),(A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600" spc="30" b="1">
                <a:solidFill>
                  <a:srgbClr val="006FC0"/>
                </a:solidFill>
                <a:latin typeface="Calibri"/>
                <a:cs typeface="Calibri"/>
              </a:rPr>
              <a:t>), (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B),(A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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dirty="0" sz="2600" spc="-30" b="1">
                <a:latin typeface="Microsoft JhengHei"/>
                <a:cs typeface="Microsoft JhengHei"/>
              </a:rPr>
              <a:t>也是；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  <a:tabLst>
                <a:tab pos="524510" algn="l"/>
              </a:tabLst>
            </a:pPr>
            <a:r>
              <a:rPr dirty="0" sz="2600" spc="-50" b="1">
                <a:latin typeface="Microsoft JhengHei"/>
                <a:cs typeface="Microsoft JhengHei"/>
              </a:rPr>
              <a:t>④</a:t>
            </a:r>
            <a:r>
              <a:rPr dirty="0" sz="2600" b="1">
                <a:latin typeface="Microsoft JhengHei"/>
                <a:cs typeface="Microsoft JhengHei"/>
              </a:rPr>
              <a:t>	只有</a:t>
            </a:r>
            <a:r>
              <a:rPr dirty="0" sz="2600" b="1">
                <a:solidFill>
                  <a:srgbClr val="006FC0"/>
                </a:solidFill>
                <a:latin typeface="Microsoft JhengHei"/>
                <a:cs typeface="Microsoft JhengHei"/>
              </a:rPr>
              <a:t>有</a:t>
            </a:r>
            <a:r>
              <a:rPr dirty="0" sz="2600" b="1">
                <a:solidFill>
                  <a:srgbClr val="006FC0"/>
                </a:solidFill>
                <a:latin typeface="Microsoft JhengHei"/>
                <a:cs typeface="Microsoft JhengHei"/>
              </a:rPr>
              <a:t>限</a:t>
            </a:r>
            <a:r>
              <a:rPr dirty="0" sz="2600" spc="-40" b="1">
                <a:solidFill>
                  <a:srgbClr val="006FC0"/>
                </a:solidFill>
                <a:latin typeface="Microsoft JhengHei"/>
                <a:cs typeface="Microsoft JhengHei"/>
              </a:rPr>
              <a:t>次</a:t>
            </a:r>
            <a:r>
              <a:rPr dirty="0" sz="2600" spc="-20" b="1">
                <a:latin typeface="Microsoft JhengHei"/>
                <a:cs typeface="Microsoft JhengHei"/>
              </a:rPr>
              <a:t>应用</a:t>
            </a:r>
            <a:r>
              <a:rPr dirty="0" sz="2600" spc="-35" b="1">
                <a:latin typeface="Calibri"/>
                <a:cs typeface="Calibri"/>
              </a:rPr>
              <a:t>(1)-(3)</a:t>
            </a:r>
            <a:r>
              <a:rPr dirty="0" sz="2600" b="1">
                <a:latin typeface="Microsoft JhengHei"/>
                <a:cs typeface="Microsoft JhengHei"/>
              </a:rPr>
              <a:t>形</a:t>
            </a:r>
            <a:r>
              <a:rPr dirty="0" sz="2600" b="1">
                <a:latin typeface="Microsoft JhengHei"/>
                <a:cs typeface="Microsoft JhengHei"/>
              </a:rPr>
              <a:t>成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符</a:t>
            </a:r>
            <a:r>
              <a:rPr dirty="0" sz="2600" spc="-35" b="1">
                <a:latin typeface="Microsoft JhengHei"/>
                <a:cs typeface="Microsoft JhengHei"/>
              </a:rPr>
              <a:t>号</a:t>
            </a:r>
            <a:r>
              <a:rPr dirty="0" sz="2600" spc="-35" b="1">
                <a:latin typeface="Microsoft JhengHei"/>
                <a:cs typeface="Microsoft JhengHei"/>
              </a:rPr>
              <a:t>串</a:t>
            </a:r>
            <a:r>
              <a:rPr dirty="0" sz="2600" spc="-20" b="1">
                <a:latin typeface="Microsoft JhengHei"/>
                <a:cs typeface="Microsoft JhengHei"/>
              </a:rPr>
              <a:t>才是命题</a:t>
            </a:r>
            <a:r>
              <a:rPr dirty="0" sz="2600" spc="-35" b="1">
                <a:latin typeface="Microsoft JhengHei"/>
                <a:cs typeface="Microsoft JhengHei"/>
              </a:rPr>
              <a:t>公</a:t>
            </a:r>
            <a:r>
              <a:rPr dirty="0" sz="2600" spc="-50" b="1">
                <a:latin typeface="Microsoft JhengHei"/>
                <a:cs typeface="Microsoft JhengHei"/>
              </a:rPr>
              <a:t>式</a:t>
            </a:r>
            <a:endParaRPr sz="2600">
              <a:latin typeface="Microsoft JhengHei"/>
              <a:cs typeface="Microsoft JhengHei"/>
            </a:endParaRPr>
          </a:p>
          <a:p>
            <a:pPr marL="524510">
              <a:lnSpc>
                <a:spcPct val="100000"/>
              </a:lnSpc>
              <a:spcBef>
                <a:spcPts val="1565"/>
              </a:spcBef>
            </a:pPr>
            <a:r>
              <a:rPr dirty="0" sz="2600" spc="-30" b="1">
                <a:latin typeface="Calibri"/>
                <a:cs typeface="Calibri"/>
              </a:rPr>
              <a:t>(</a:t>
            </a: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b="1">
                <a:latin typeface="Microsoft JhengHei"/>
                <a:cs typeface="Microsoft JhengHei"/>
              </a:rPr>
              <a:t>题</a:t>
            </a:r>
            <a:r>
              <a:rPr dirty="0" sz="2600" b="1">
                <a:latin typeface="Microsoft JhengHei"/>
                <a:cs typeface="Microsoft JhengHei"/>
              </a:rPr>
              <a:t>形</a:t>
            </a:r>
            <a:r>
              <a:rPr dirty="0" sz="2600" b="1">
                <a:latin typeface="Microsoft JhengHei"/>
                <a:cs typeface="Microsoft JhengHei"/>
              </a:rPr>
              <a:t>式</a:t>
            </a:r>
            <a:r>
              <a:rPr dirty="0" sz="2600" b="1">
                <a:latin typeface="Calibri"/>
                <a:cs typeface="Calibri"/>
              </a:rPr>
              <a:t>)</a:t>
            </a:r>
            <a:r>
              <a:rPr dirty="0" sz="2600" spc="-15" b="1">
                <a:latin typeface="Microsoft JhengHei"/>
                <a:cs typeface="Microsoft JhengHei"/>
              </a:rPr>
              <a:t>，简称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公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式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4933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命</a:t>
            </a:r>
            <a:r>
              <a:rPr dirty="0"/>
              <a:t>题</a:t>
            </a:r>
            <a:r>
              <a:rPr dirty="0"/>
              <a:t>公</a:t>
            </a:r>
            <a:r>
              <a:rPr dirty="0"/>
              <a:t>式</a:t>
            </a:r>
            <a:r>
              <a:rPr dirty="0" spc="-35"/>
              <a:t>的赋值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11175" y="1763395"/>
            <a:ext cx="8140065" cy="399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800" spc="35" b="1">
                <a:latin typeface="Microsoft JhengHei"/>
                <a:cs typeface="Microsoft JhengHei"/>
              </a:rPr>
              <a:t>设命题公式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中有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10" b="1">
                <a:latin typeface="Microsoft JhengHei"/>
                <a:cs typeface="Microsoft JhengHei"/>
              </a:rPr>
              <a:t>个命题变元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95" b="1">
                <a:latin typeface="Calibri"/>
                <a:cs typeface="Calibri"/>
              </a:rPr>
              <a:t>,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15" b="1">
                <a:latin typeface="Calibri"/>
                <a:cs typeface="Calibri"/>
              </a:rPr>
              <a:t>,…, 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 spc="-37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38100" marR="1723389">
              <a:lnSpc>
                <a:spcPct val="169500"/>
              </a:lnSpc>
            </a:pPr>
            <a:r>
              <a:rPr dirty="0" sz="2800" spc="65" b="1">
                <a:latin typeface="Microsoft JhengHei"/>
                <a:cs typeface="Microsoft JhengHei"/>
              </a:rPr>
              <a:t>给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baseline="-19519" sz="2775" spc="-30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sz="2800" spc="35" b="1">
                <a:latin typeface="Microsoft JhengHei"/>
                <a:cs typeface="Microsoft JhengHei"/>
              </a:rPr>
              <a:t>指定一个值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baseline="-19519" sz="2775" spc="427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sz="2800" spc="65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spc="65" b="1">
                <a:latin typeface="Microsoft JhengHei"/>
                <a:cs typeface="Microsoft JhengHei"/>
              </a:rPr>
              <a:t>或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i=1,2</a:t>
            </a:r>
            <a:r>
              <a:rPr dirty="0" sz="2800" spc="-15" b="1">
                <a:latin typeface="Calibri"/>
                <a:cs typeface="Calibri"/>
              </a:rPr>
              <a:t>,…, </a:t>
            </a:r>
            <a:r>
              <a:rPr dirty="0" sz="2800" spc="-25" b="1">
                <a:latin typeface="Calibri"/>
                <a:cs typeface="Calibri"/>
              </a:rPr>
              <a:t>n)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r>
              <a:rPr dirty="0" sz="2800" spc="120" b="1">
                <a:latin typeface="Microsoft JhengHei"/>
                <a:cs typeface="Microsoft JhengHei"/>
              </a:rPr>
              <a:t>所得字符串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-7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baseline="-19519" sz="2775" spc="22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65" b="1">
                <a:latin typeface="Microsoft JhengHei"/>
                <a:cs typeface="Microsoft JhengHei"/>
              </a:rPr>
              <a:t>称为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15" b="1">
                <a:latin typeface="Microsoft JhengHei"/>
                <a:cs typeface="Microsoft JhengHei"/>
              </a:rPr>
              <a:t>的一个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赋值</a:t>
            </a:r>
            <a:r>
              <a:rPr dirty="0" sz="2800" spc="-5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0014">
              <a:lnSpc>
                <a:spcPct val="100000"/>
              </a:lnSpc>
              <a:spcBef>
                <a:spcPts val="2410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65" b="1">
                <a:latin typeface="Microsoft JhengHei"/>
                <a:cs typeface="Microsoft JhengHei"/>
              </a:rPr>
              <a:t>共有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25525" sz="277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20" b="1">
                <a:latin typeface="Microsoft JhengHei"/>
                <a:cs typeface="Microsoft JhengHei"/>
              </a:rPr>
              <a:t>个赋值。</a:t>
            </a:r>
            <a:endParaRPr sz="2800">
              <a:latin typeface="Microsoft JhengHei"/>
              <a:cs typeface="Microsoft JhengHei"/>
            </a:endParaRPr>
          </a:p>
          <a:p>
            <a:pPr marL="38100" marR="30480">
              <a:lnSpc>
                <a:spcPct val="150200"/>
              </a:lnSpc>
              <a:spcBef>
                <a:spcPts val="65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如果在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70" b="1">
                <a:latin typeface="Microsoft JhengHei"/>
                <a:cs typeface="Microsoft JhengHei"/>
              </a:rPr>
              <a:t>下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的真值为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latin typeface="Microsoft JhengHei"/>
                <a:cs typeface="Microsoft JhengHei"/>
              </a:rPr>
              <a:t>，则称它为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25" b="1">
                <a:solidFill>
                  <a:srgbClr val="FF0000"/>
                </a:solidFill>
                <a:latin typeface="Microsoft JhengHei"/>
                <a:cs typeface="Microsoft JhengHei"/>
              </a:rPr>
              <a:t>成真赋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30" b="1">
                <a:latin typeface="Microsoft JhengHei"/>
                <a:cs typeface="Microsoft JhengHei"/>
              </a:rPr>
              <a:t>，否则，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的真值为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z="2800" spc="-10" b="1">
                <a:latin typeface="Microsoft JhengHei"/>
                <a:cs typeface="Microsoft JhengHei"/>
              </a:rPr>
              <a:t>，则称它为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成假赋值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274" y="682574"/>
            <a:ext cx="73380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"/>
              <a:t>永真、永假、可满足、等值式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2051621"/>
            <a:ext cx="8326755" cy="32740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若公式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没有成假赋值，则称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重言式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20" b="1">
                <a:solidFill>
                  <a:srgbClr val="FF0000"/>
                </a:solidFill>
                <a:latin typeface="Microsoft JhengHei"/>
                <a:cs typeface="Microsoft JhengHei"/>
              </a:rPr>
              <a:t>永真式</a:t>
            </a:r>
            <a:r>
              <a:rPr dirty="0" sz="2800" spc="-15" b="1">
                <a:latin typeface="Calibri"/>
                <a:cs typeface="Calibri"/>
              </a:rPr>
              <a:t>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若公式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没有成真赋值，则称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矛盾式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20" b="1">
                <a:solidFill>
                  <a:srgbClr val="FF0000"/>
                </a:solidFill>
                <a:latin typeface="Microsoft JhengHei"/>
                <a:cs typeface="Microsoft JhengHei"/>
              </a:rPr>
              <a:t>永假式</a:t>
            </a:r>
            <a:r>
              <a:rPr dirty="0" sz="2800" spc="-15" b="1">
                <a:latin typeface="Calibri"/>
                <a:cs typeface="Calibri"/>
              </a:rPr>
              <a:t>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20" b="1">
                <a:latin typeface="Microsoft JhengHei"/>
                <a:cs typeface="Microsoft JhengHei"/>
              </a:rPr>
              <a:t>若公式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至少存在一个成真赋值，则称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可满足式。</a:t>
            </a:r>
            <a:endParaRPr sz="2800">
              <a:latin typeface="Microsoft JhengHei"/>
              <a:cs typeface="Microsoft JhengHei"/>
            </a:endParaRPr>
          </a:p>
          <a:p>
            <a:pPr marL="12700" marR="233045">
              <a:lnSpc>
                <a:spcPct val="150200"/>
              </a:lnSpc>
              <a:spcBef>
                <a:spcPts val="720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若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35" b="1">
                <a:solidFill>
                  <a:srgbClr val="006FC0"/>
                </a:solidFill>
                <a:latin typeface="Symbol"/>
                <a:cs typeface="Symbol"/>
              </a:rPr>
              <a:t>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是重言式，则称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与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是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等值</a:t>
            </a:r>
            <a:r>
              <a:rPr dirty="0" sz="2800" spc="15" b="1">
                <a:latin typeface="Microsoft JhengHei"/>
                <a:cs typeface="Microsoft JhengHei"/>
              </a:rPr>
              <a:t>的，记为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0" b="1">
                <a:latin typeface="Microsoft JhengHei"/>
                <a:cs typeface="Microsoft JhengHei"/>
              </a:rPr>
              <a:t>，</a:t>
            </a:r>
            <a:r>
              <a:rPr dirty="0" sz="2800" spc="70" b="1">
                <a:latin typeface="Microsoft JhengHei"/>
                <a:cs typeface="Microsoft JhengHei"/>
              </a:rPr>
              <a:t>并称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等值式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6645" y="471551"/>
            <a:ext cx="51701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的</a:t>
            </a:r>
            <a:r>
              <a:rPr dirty="0"/>
              <a:t>等</a:t>
            </a:r>
            <a:r>
              <a:rPr dirty="0" spc="-25"/>
              <a:t>值式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①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④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56919" y="1763395"/>
            <a:ext cx="5569585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769745" algn="l"/>
                <a:tab pos="3425190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①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幂等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4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Symbol"/>
                <a:cs typeface="Symbol"/>
              </a:rPr>
              <a:t></a:t>
            </a:r>
            <a:r>
              <a:rPr dirty="0" sz="2800" spc="-20" b="1">
                <a:latin typeface="Calibri"/>
                <a:cs typeface="Calibri"/>
              </a:rPr>
              <a:t>A,</a:t>
            </a:r>
            <a:r>
              <a:rPr dirty="0" sz="2800" b="1">
                <a:latin typeface="Calibri"/>
                <a:cs typeface="Calibri"/>
              </a:rPr>
              <a:t>	A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A</a:t>
            </a:r>
            <a:r>
              <a:rPr dirty="0" sz="2800" spc="-25" b="1">
                <a:latin typeface="Symbol"/>
                <a:cs typeface="Symbol"/>
              </a:rPr>
              <a:t></a:t>
            </a:r>
            <a:r>
              <a:rPr dirty="0" sz="2800" spc="-25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  <a:tabLst>
                <a:tab pos="176974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②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交换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A,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6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B</a:t>
            </a:r>
            <a:r>
              <a:rPr dirty="0" sz="2800" spc="-25" b="1">
                <a:latin typeface="Symbol"/>
                <a:cs typeface="Symbol"/>
              </a:rPr>
              <a:t></a:t>
            </a:r>
            <a:r>
              <a:rPr dirty="0" sz="2800" spc="-25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176974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③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结合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18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10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797050">
              <a:lnSpc>
                <a:spcPct val="100000"/>
              </a:lnSpc>
              <a:spcBef>
                <a:spcPts val="2405"/>
              </a:spcBef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17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10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  <a:tabLst>
                <a:tab pos="176974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④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分配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6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797050">
              <a:lnSpc>
                <a:spcPct val="100000"/>
              </a:lnSpc>
              <a:spcBef>
                <a:spcPts val="2340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5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8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8923" y="471551"/>
            <a:ext cx="51606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的</a:t>
            </a:r>
            <a:r>
              <a:rPr dirty="0"/>
              <a:t>等</a:t>
            </a:r>
            <a:r>
              <a:rPr dirty="0" spc="-45"/>
              <a:t>值式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⑤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⑩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2085339" cy="1177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⑤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德</a:t>
            </a:r>
            <a:r>
              <a:rPr dirty="0" sz="2800" spc="75" b="1">
                <a:solidFill>
                  <a:srgbClr val="FF0000"/>
                </a:solidFill>
                <a:latin typeface="Symbol"/>
                <a:cs typeface="Symbol"/>
              </a:rPr>
              <a:t>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摩根律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⑥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吸收律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3210052"/>
            <a:ext cx="1196975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⑦ </a:t>
            </a:r>
            <a:r>
              <a:rPr dirty="0" sz="2800" spc="40" b="1">
                <a:solidFill>
                  <a:srgbClr val="FF0000"/>
                </a:solidFill>
                <a:latin typeface="Microsoft JhengHei"/>
                <a:cs typeface="Microsoft JhengHei"/>
              </a:rPr>
              <a:t>零律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942588"/>
            <a:ext cx="156337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⑧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同一律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575" y="4665853"/>
            <a:ext cx="156337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⑨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排中律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575" y="5389829"/>
            <a:ext cx="156337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⑩ </a:t>
            </a:r>
            <a:r>
              <a:rPr dirty="0" sz="2800" spc="50" b="1">
                <a:solidFill>
                  <a:srgbClr val="FF0000"/>
                </a:solidFill>
                <a:latin typeface="Microsoft JhengHei"/>
                <a:cs typeface="Microsoft JhengHei"/>
              </a:rPr>
              <a:t>矛盾律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96717" y="1763395"/>
            <a:ext cx="5982970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10"/>
              </a:spcBef>
              <a:tabLst>
                <a:tab pos="3161030" algn="l"/>
              </a:tabLst>
            </a:pP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6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</a:t>
            </a:r>
            <a:r>
              <a:rPr dirty="0" sz="2800" spc="-10" b="1">
                <a:latin typeface="Calibri"/>
                <a:cs typeface="Calibri"/>
              </a:rPr>
              <a:t>B,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4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</a:t>
            </a:r>
            <a:r>
              <a:rPr dirty="0" sz="2800" spc="-10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57785" marR="1471295" indent="36195">
              <a:lnSpc>
                <a:spcPct val="169500"/>
              </a:lnSpc>
              <a:tabLst>
                <a:tab pos="1641475" algn="l"/>
                <a:tab pos="2463800" algn="l"/>
              </a:tabLst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4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A,</a:t>
            </a:r>
            <a:r>
              <a:rPr dirty="0" sz="2800" b="1">
                <a:latin typeface="Calibri"/>
                <a:cs typeface="Calibri"/>
              </a:rPr>
              <a:t>	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4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1,</a:t>
            </a:r>
            <a:r>
              <a:rPr dirty="0" sz="2800" b="1">
                <a:latin typeface="Calibri"/>
                <a:cs typeface="Calibri"/>
              </a:rPr>
              <a:t>	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12700" marR="2981960">
              <a:lnSpc>
                <a:spcPct val="169500"/>
              </a:lnSpc>
              <a:spcBef>
                <a:spcPts val="75"/>
              </a:spcBef>
              <a:tabLst>
                <a:tab pos="1631314" algn="l"/>
              </a:tabLst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A,</a:t>
            </a:r>
            <a:r>
              <a:rPr dirty="0" sz="2800" b="1">
                <a:latin typeface="Calibri"/>
                <a:cs typeface="Calibri"/>
              </a:rPr>
              <a:t>	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 </a:t>
            </a:r>
            <a:r>
              <a:rPr dirty="0" sz="2800" spc="50" b="1">
                <a:latin typeface="Calibri"/>
                <a:cs typeface="Calibri"/>
              </a:rPr>
              <a:t>A</a:t>
            </a:r>
            <a:r>
              <a:rPr dirty="0" sz="2800" spc="50" b="1">
                <a:latin typeface="Symbol"/>
                <a:cs typeface="Symbol"/>
              </a:rPr>
              <a:t></a:t>
            </a:r>
            <a:r>
              <a:rPr dirty="0" sz="2800" spc="50" b="1">
                <a:latin typeface="Calibri"/>
                <a:cs typeface="Calibri"/>
              </a:rPr>
              <a:t>A</a:t>
            </a:r>
            <a:r>
              <a:rPr dirty="0" sz="2800" spc="-25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2800" spc="50" b="1">
                <a:latin typeface="Calibri"/>
                <a:cs typeface="Calibri"/>
              </a:rPr>
              <a:t>A</a:t>
            </a:r>
            <a:r>
              <a:rPr dirty="0" sz="2800" spc="50" b="1">
                <a:latin typeface="Symbol"/>
                <a:cs typeface="Symbol"/>
              </a:rPr>
              <a:t></a:t>
            </a:r>
            <a:r>
              <a:rPr dirty="0" sz="2800" spc="50" b="1">
                <a:latin typeface="Calibri"/>
                <a:cs typeface="Calibri"/>
              </a:rPr>
              <a:t>A</a:t>
            </a:r>
            <a:r>
              <a:rPr dirty="0" sz="2800" spc="-24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054" y="471551"/>
            <a:ext cx="536194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的</a:t>
            </a:r>
            <a:r>
              <a:rPr dirty="0"/>
              <a:t>等</a:t>
            </a:r>
            <a:r>
              <a:rPr dirty="0"/>
              <a:t>值</a:t>
            </a:r>
            <a:r>
              <a:rPr dirty="0" spc="-45"/>
              <a:t>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>
                <a:latin typeface="Cambria Math"/>
                <a:cs typeface="Cambria Math"/>
              </a:rPr>
              <a:t>⑪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>
                <a:latin typeface="Cambria Math"/>
                <a:cs typeface="Cambria Math"/>
              </a:rPr>
              <a:t>⑯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23406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Cambria Math"/>
                <a:cs typeface="Cambria Math"/>
              </a:rPr>
              <a:t>⑪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双重否定律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2486786"/>
            <a:ext cx="23406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Cambria Math"/>
                <a:cs typeface="Cambria Math"/>
              </a:rPr>
              <a:t>⑫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蕴涵等值式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210052"/>
            <a:ext cx="23406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Cambria Math"/>
                <a:cs typeface="Cambria Math"/>
              </a:rPr>
              <a:t>⑬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等价等值式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575" y="3942588"/>
            <a:ext cx="305562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Cambria Math"/>
                <a:cs typeface="Cambria Math"/>
              </a:rPr>
              <a:t>⑭ </a:t>
            </a:r>
            <a:r>
              <a:rPr dirty="0" sz="2800" spc="10" b="1">
                <a:solidFill>
                  <a:srgbClr val="FF0000"/>
                </a:solidFill>
                <a:latin typeface="Microsoft JhengHei"/>
                <a:cs typeface="Microsoft JhengHei"/>
              </a:rPr>
              <a:t>等价否定等值式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575" y="4665853"/>
            <a:ext cx="1993264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Cambria Math"/>
                <a:cs typeface="Cambria Math"/>
              </a:rPr>
              <a:t>⑮ </a:t>
            </a:r>
            <a:r>
              <a:rPr dirty="0" sz="2800" spc="50" b="1">
                <a:solidFill>
                  <a:srgbClr val="FF0000"/>
                </a:solidFill>
                <a:latin typeface="Microsoft JhengHei"/>
                <a:cs typeface="Microsoft JhengHei"/>
              </a:rPr>
              <a:t>假言易位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5579" y="1763395"/>
            <a:ext cx="3609340" cy="3356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110"/>
              </a:spcBef>
            </a:pPr>
            <a:r>
              <a:rPr dirty="0" sz="2800" spc="55" b="1">
                <a:latin typeface="Symbol"/>
                <a:cs typeface="Symbol"/>
              </a:rPr>
              <a:t></a:t>
            </a:r>
            <a:r>
              <a:rPr dirty="0" sz="2800" spc="55" b="1">
                <a:latin typeface="Calibri"/>
                <a:cs typeface="Calibri"/>
              </a:rPr>
              <a:t>A</a:t>
            </a:r>
            <a:r>
              <a:rPr dirty="0" sz="2800" spc="-18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30" b="1">
                <a:latin typeface="Symbol"/>
                <a:cs typeface="Symbol"/>
              </a:rPr>
              <a:t></a:t>
            </a:r>
            <a:r>
              <a:rPr dirty="0" sz="2800" spc="30" b="1">
                <a:latin typeface="Calibri"/>
                <a:cs typeface="Calibri"/>
              </a:rPr>
              <a:t>A</a:t>
            </a:r>
            <a:r>
              <a:rPr dirty="0" sz="2800" spc="30" b="1">
                <a:latin typeface="Symbol"/>
                <a:cs typeface="Symbol"/>
              </a:rPr>
              <a:t></a:t>
            </a:r>
            <a:r>
              <a:rPr dirty="0" sz="2800" spc="30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30480" marR="5080" indent="17780">
              <a:lnSpc>
                <a:spcPts val="5770"/>
              </a:lnSpc>
              <a:spcBef>
                <a:spcPts val="520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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A)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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</a:t>
            </a:r>
            <a:r>
              <a:rPr dirty="0" sz="2800" spc="-10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>
                <a:latin typeface="Symbol"/>
                <a:cs typeface="Symbol"/>
              </a:rPr>
              <a:t></a:t>
            </a:r>
            <a:r>
              <a:rPr dirty="0" sz="2800" spc="-1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6575" y="5389829"/>
            <a:ext cx="530352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24355" algn="l"/>
              </a:tabLst>
            </a:pPr>
            <a:r>
              <a:rPr dirty="0" sz="2800" spc="65" b="1">
                <a:latin typeface="Cambria Math"/>
                <a:cs typeface="Cambria Math"/>
              </a:rPr>
              <a:t>⑯</a:t>
            </a:r>
            <a:r>
              <a:rPr dirty="0" sz="2800" spc="-20" b="1">
                <a:latin typeface="Cambria Math"/>
                <a:cs typeface="Cambria Math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归谬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论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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Symbol"/>
                <a:cs typeface="Symbol"/>
              </a:rPr>
              <a:t></a:t>
            </a:r>
            <a:r>
              <a:rPr dirty="0" sz="2800" spc="-25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置</a:t>
            </a:r>
            <a:r>
              <a:rPr dirty="0"/>
              <a:t>换</a:t>
            </a:r>
            <a:r>
              <a:rPr dirty="0"/>
              <a:t>规</a:t>
            </a:r>
            <a:r>
              <a:rPr dirty="0" spc="-50"/>
              <a:t>则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75815"/>
            <a:ext cx="6158230" cy="2633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置换规则</a:t>
            </a:r>
            <a:r>
              <a:rPr dirty="0" sz="2800" spc="-50" b="1">
                <a:latin typeface="Microsoft JhengHei"/>
                <a:cs typeface="Microsoft JhengHei"/>
              </a:rPr>
              <a:t>：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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(A)</a:t>
            </a:r>
            <a:r>
              <a:rPr dirty="0" sz="2800" spc="30" b="1">
                <a:latin typeface="Microsoft JhengHei"/>
                <a:cs typeface="Microsoft JhengHei"/>
              </a:rPr>
              <a:t>是含公式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5" b="1">
                <a:latin typeface="Microsoft JhengHei"/>
                <a:cs typeface="Microsoft JhengHei"/>
              </a:rPr>
              <a:t>的公式，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ts val="5770"/>
              </a:lnSpc>
              <a:spcBef>
                <a:spcPts val="31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置换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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(A)</a:t>
            </a:r>
            <a:r>
              <a:rPr dirty="0" sz="2800" spc="-10" b="1">
                <a:latin typeface="Microsoft JhengHei"/>
                <a:cs typeface="Microsoft JhengHei"/>
              </a:rPr>
              <a:t>中的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，得公式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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(B)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70" b="1">
                <a:latin typeface="Microsoft JhengHei"/>
                <a:cs typeface="Microsoft JhengHei"/>
              </a:rPr>
              <a:t>如果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，则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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(A)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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(B)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002461" y="562778"/>
          <a:ext cx="6765290" cy="4674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/>
                <a:gridCol w="1892300"/>
                <a:gridCol w="4411980"/>
              </a:tblGrid>
              <a:tr h="7905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4660"/>
                        </a:lnSpc>
                      </a:pPr>
                      <a:r>
                        <a:rPr dirty="0" sz="4400" b="1">
                          <a:solidFill>
                            <a:srgbClr val="C00000"/>
                          </a:solidFill>
                          <a:latin typeface="Microsoft JhengHei"/>
                          <a:cs typeface="Microsoft JhengHei"/>
                        </a:rPr>
                        <a:t>等</a:t>
                      </a:r>
                      <a:r>
                        <a:rPr dirty="0" sz="4400" b="1">
                          <a:solidFill>
                            <a:srgbClr val="C00000"/>
                          </a:solidFill>
                          <a:latin typeface="Microsoft JhengHei"/>
                          <a:cs typeface="Microsoft JhengHei"/>
                        </a:rPr>
                        <a:t>值</a:t>
                      </a:r>
                      <a:r>
                        <a:rPr dirty="0" sz="4400" b="1">
                          <a:solidFill>
                            <a:srgbClr val="C00000"/>
                          </a:solidFill>
                          <a:latin typeface="Microsoft JhengHei"/>
                          <a:cs typeface="Microsoft JhengHei"/>
                        </a:rPr>
                        <a:t>演</a:t>
                      </a:r>
                      <a:r>
                        <a:rPr dirty="0" sz="4400" spc="-50" b="1">
                          <a:solidFill>
                            <a:srgbClr val="C00000"/>
                          </a:solidFill>
                          <a:latin typeface="Microsoft JhengHei"/>
                          <a:cs typeface="Microsoft JhengHei"/>
                        </a:rPr>
                        <a:t>算</a:t>
                      </a:r>
                      <a:endParaRPr sz="44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0"/>
                </a:tc>
              </a:tr>
              <a:tr h="7772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r>
                        <a:rPr dirty="0" sz="2800" spc="-1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(q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2362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6407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b="1">
                          <a:latin typeface="Symbol"/>
                          <a:cs typeface="Symbol"/>
                        </a:rPr>
                        <a:t>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1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85"/>
                        </a:spcBef>
                        <a:tabLst>
                          <a:tab pos="2162175" algn="l"/>
                        </a:tabLst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蕴涵等值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式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置换规</a:t>
                      </a:r>
                      <a:r>
                        <a:rPr dirty="0" sz="2800" spc="-10" b="1">
                          <a:latin typeface="Microsoft JhengHei"/>
                          <a:cs typeface="Microsoft JhengHei"/>
                        </a:rPr>
                        <a:t>则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  <a:tr h="6400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b="1">
                          <a:latin typeface="Symbol"/>
                          <a:cs typeface="Symbol"/>
                        </a:rPr>
                        <a:t>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10" b="1"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q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69850">
                        <a:lnSpc>
                          <a:spcPct val="100000"/>
                        </a:lnSpc>
                        <a:spcBef>
                          <a:spcPts val="785"/>
                        </a:spcBef>
                        <a:tabLst>
                          <a:tab pos="2161540" algn="l"/>
                        </a:tabLst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蕴涵等值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式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置换规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则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  <a:tr h="6407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b="1">
                          <a:latin typeface="Symbol"/>
                          <a:cs typeface="Symbol"/>
                        </a:rPr>
                        <a:t>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1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q)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ct val="100000"/>
                        </a:lnSpc>
                        <a:spcBef>
                          <a:spcPts val="785"/>
                        </a:spcBef>
                        <a:tabLst>
                          <a:tab pos="1444625" algn="l"/>
                        </a:tabLst>
                      </a:pPr>
                      <a:r>
                        <a:rPr dirty="0" sz="2800" spc="5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65" b="1">
                          <a:latin typeface="Microsoft JhengHei"/>
                          <a:cs typeface="Microsoft JhengHei"/>
                        </a:rPr>
                        <a:t>结合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律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65" b="1">
                          <a:latin typeface="Microsoft JhengHei"/>
                          <a:cs typeface="Microsoft JhengHei"/>
                        </a:rPr>
                        <a:t>置换规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则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  <a:tr h="6407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b="1">
                          <a:latin typeface="Symbol"/>
                          <a:cs typeface="Symbol"/>
                        </a:rPr>
                        <a:t>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10" b="1">
                          <a:latin typeface="Symbol"/>
                          <a:cs typeface="Symbol"/>
                        </a:rPr>
                        <a:t>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(p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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q)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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33020">
                        <a:lnSpc>
                          <a:spcPct val="100000"/>
                        </a:lnSpc>
                        <a:spcBef>
                          <a:spcPts val="785"/>
                        </a:spcBef>
                        <a:tabLst>
                          <a:tab pos="1965325" algn="l"/>
                        </a:tabLst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65" b="1">
                          <a:latin typeface="Microsoft JhengHei"/>
                          <a:cs typeface="Microsoft JhengHei"/>
                        </a:rPr>
                        <a:t>德</a:t>
                      </a:r>
                      <a:r>
                        <a:rPr dirty="0" sz="2800" spc="70" b="1">
                          <a:latin typeface="Symbol"/>
                          <a:cs typeface="Symbol"/>
                        </a:rPr>
                        <a:t></a:t>
                      </a:r>
                      <a:r>
                        <a:rPr dirty="0" sz="2800" spc="65" b="1">
                          <a:latin typeface="Microsoft JhengHei"/>
                          <a:cs typeface="Microsoft JhengHei"/>
                        </a:rPr>
                        <a:t>摩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根</a:t>
                      </a:r>
                      <a:r>
                        <a:rPr dirty="0" sz="2800" spc="-10" b="1">
                          <a:latin typeface="Microsoft JhengHei"/>
                          <a:cs typeface="Microsoft JhengHei"/>
                        </a:rPr>
                        <a:t>律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置换规</a:t>
                      </a:r>
                      <a:r>
                        <a:rPr dirty="0" sz="2800" spc="-10" b="1">
                          <a:latin typeface="Microsoft JhengHei"/>
                          <a:cs typeface="Microsoft JhengHei"/>
                        </a:rPr>
                        <a:t>则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  <a:tr h="5441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b="1">
                          <a:latin typeface="Symbol"/>
                          <a:cs typeface="Symbol"/>
                        </a:rPr>
                        <a:t></a:t>
                      </a:r>
                      <a:endParaRPr sz="2800">
                        <a:latin typeface="Symbol"/>
                        <a:cs typeface="Symbo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2800" spc="-10" b="1">
                          <a:latin typeface="Calibri"/>
                          <a:cs typeface="Calibri"/>
                        </a:rPr>
                        <a:t>(p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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q)</a:t>
                      </a:r>
                      <a:r>
                        <a:rPr dirty="0" sz="2800" spc="-10" b="1"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2800" spc="-10" b="1">
                          <a:latin typeface="Calibri"/>
                          <a:cs typeface="Calibri"/>
                        </a:rPr>
                        <a:t>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algn="r" marR="33020">
                        <a:lnSpc>
                          <a:spcPct val="100000"/>
                        </a:lnSpc>
                        <a:spcBef>
                          <a:spcPts val="785"/>
                        </a:spcBef>
                        <a:tabLst>
                          <a:tab pos="2153920" algn="l"/>
                        </a:tabLst>
                      </a:pPr>
                      <a:r>
                        <a:rPr dirty="0" sz="280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蕴涵等值</a:t>
                      </a:r>
                      <a:r>
                        <a:rPr dirty="0" sz="2800" b="1">
                          <a:latin typeface="Microsoft JhengHei"/>
                          <a:cs typeface="Microsoft JhengHei"/>
                        </a:rPr>
                        <a:t>式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28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00" spc="70" b="1">
                          <a:latin typeface="Microsoft JhengHei"/>
                          <a:cs typeface="Microsoft JhengHei"/>
                        </a:rPr>
                        <a:t>置换规</a:t>
                      </a:r>
                      <a:r>
                        <a:rPr dirty="0" sz="2800" spc="65" b="1">
                          <a:latin typeface="Microsoft JhengHei"/>
                          <a:cs typeface="Microsoft JhengHei"/>
                        </a:rPr>
                        <a:t>则</a:t>
                      </a:r>
                      <a:r>
                        <a:rPr dirty="0" sz="2800" spc="-50" b="1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99695"/>
                </a:tc>
              </a:tr>
            </a:tbl>
          </a:graphicData>
        </a:graphic>
      </p:graphicFrame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8942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推</a:t>
            </a:r>
            <a:r>
              <a:rPr dirty="0"/>
              <a:t>理</a:t>
            </a:r>
            <a:r>
              <a:rPr dirty="0"/>
              <a:t>的</a:t>
            </a:r>
            <a:r>
              <a:rPr dirty="0"/>
              <a:t>形</a:t>
            </a:r>
            <a:r>
              <a:rPr dirty="0" spc="-35"/>
              <a:t>式结构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763395"/>
            <a:ext cx="8188959" cy="39154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98145" indent="-34798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98145" algn="l"/>
                <a:tab pos="398780" algn="l"/>
                <a:tab pos="347345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前提</a:t>
            </a:r>
            <a:r>
              <a:rPr dirty="0" sz="2800" b="1">
                <a:latin typeface="Calibri"/>
                <a:cs typeface="Calibri"/>
              </a:rPr>
              <a:t>: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dirty="0" sz="28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dirty="0" sz="2800" spc="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…,</a:t>
            </a:r>
            <a:r>
              <a:rPr dirty="0" sz="2800" spc="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37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结论</a:t>
            </a:r>
            <a:r>
              <a:rPr dirty="0" sz="2800" b="1">
                <a:latin typeface="Calibri"/>
                <a:cs typeface="Calibri"/>
              </a:rPr>
              <a:t>: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297815">
              <a:lnSpc>
                <a:spcPct val="100000"/>
              </a:lnSpc>
              <a:spcBef>
                <a:spcPts val="2335"/>
              </a:spcBef>
              <a:tabLst>
                <a:tab pos="3061335" algn="l"/>
              </a:tabLst>
            </a:pP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推理的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形式结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构</a:t>
            </a:r>
            <a:r>
              <a:rPr dirty="0" sz="2800" spc="-50" b="1">
                <a:latin typeface="Calibri"/>
                <a:cs typeface="Calibri"/>
              </a:rPr>
              <a:t>: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dirty="0" sz="2800" spc="-1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spc="6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398145" marR="249554" indent="-347980">
              <a:lnSpc>
                <a:spcPct val="150200"/>
              </a:lnSpc>
              <a:spcBef>
                <a:spcPts val="650"/>
              </a:spcBef>
              <a:buFont typeface="Arial"/>
              <a:buChar char="•"/>
              <a:tabLst>
                <a:tab pos="398145" algn="l"/>
                <a:tab pos="398780" algn="l"/>
              </a:tabLst>
            </a:pPr>
            <a:r>
              <a:rPr dirty="0" sz="2800" b="1">
                <a:latin typeface="Microsoft JhengHei"/>
                <a:cs typeface="Microsoft JhengHei"/>
              </a:rPr>
              <a:t>当推理的形式结构为重言式，则称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推理正确</a:t>
            </a:r>
            <a:r>
              <a:rPr dirty="0" sz="2800" spc="-30" b="1">
                <a:latin typeface="Microsoft JhengHei"/>
                <a:cs typeface="Microsoft JhengHei"/>
              </a:rPr>
              <a:t>，否</a:t>
            </a:r>
            <a:r>
              <a:rPr dirty="0" sz="2800" spc="65" b="1">
                <a:latin typeface="Microsoft JhengHei"/>
                <a:cs typeface="Microsoft JhengHei"/>
              </a:rPr>
              <a:t>则称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推理不正确</a:t>
            </a:r>
            <a:endParaRPr sz="2800">
              <a:latin typeface="Microsoft JhengHei"/>
              <a:cs typeface="Microsoft JhengHei"/>
            </a:endParaRPr>
          </a:p>
          <a:p>
            <a:pPr marL="398145" marR="55880" indent="-347980">
              <a:lnSpc>
                <a:spcPct val="150200"/>
              </a:lnSpc>
              <a:spcBef>
                <a:spcPts val="720"/>
              </a:spcBef>
              <a:buFont typeface="Arial"/>
              <a:buChar char="•"/>
              <a:tabLst>
                <a:tab pos="398145" algn="l"/>
                <a:tab pos="398780" algn="l"/>
              </a:tabLst>
            </a:pPr>
            <a:r>
              <a:rPr dirty="0" sz="2800" spc="30" b="1">
                <a:latin typeface="Microsoft JhengHei"/>
                <a:cs typeface="Microsoft JhengHei"/>
              </a:rPr>
              <a:t>用“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”表示“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" b="1">
                <a:latin typeface="Microsoft JhengHei"/>
                <a:cs typeface="Microsoft JhengHei"/>
              </a:rPr>
              <a:t>”是永真式，当推理正确</a:t>
            </a:r>
            <a:r>
              <a:rPr dirty="0" sz="2800" spc="155" b="1">
                <a:latin typeface="Microsoft JhengHei"/>
                <a:cs typeface="Microsoft JhengHei"/>
              </a:rPr>
              <a:t>时，记为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dirty="0" sz="2800" spc="2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45" b="1">
                <a:latin typeface="Microsoft JhengHei"/>
                <a:cs typeface="Microsoft JhengHei"/>
              </a:rPr>
              <a:t>，称为</a:t>
            </a:r>
            <a:r>
              <a:rPr dirty="0" sz="2800" spc="-15" b="1">
                <a:solidFill>
                  <a:srgbClr val="FF0000"/>
                </a:solidFill>
                <a:latin typeface="Microsoft JhengHei"/>
                <a:cs typeface="Microsoft JhengHei"/>
              </a:rPr>
              <a:t>推理定律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0523" y="471551"/>
            <a:ext cx="572833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重</a:t>
            </a:r>
            <a:r>
              <a:rPr dirty="0"/>
              <a:t>要</a:t>
            </a:r>
            <a:r>
              <a:rPr dirty="0"/>
              <a:t>的</a:t>
            </a:r>
            <a:r>
              <a:rPr dirty="0"/>
              <a:t>推</a:t>
            </a:r>
            <a:r>
              <a:rPr dirty="0"/>
              <a:t>理</a:t>
            </a:r>
            <a:r>
              <a:rPr dirty="0" spc="-40"/>
              <a:t>定律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①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④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156337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①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附加律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2486786"/>
            <a:ext cx="156337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②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化简律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942588"/>
            <a:ext cx="192913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③ </a:t>
            </a:r>
            <a:r>
              <a:rPr dirty="0" sz="2800" spc="50" b="1">
                <a:solidFill>
                  <a:srgbClr val="FF0000"/>
                </a:solidFill>
                <a:latin typeface="Microsoft JhengHei"/>
                <a:cs typeface="Microsoft JhengHei"/>
              </a:rPr>
              <a:t>假言推理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575" y="4665853"/>
            <a:ext cx="156337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④ 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拒取式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43605" y="1763395"/>
            <a:ext cx="3002915" cy="3356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8557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  <a:p>
            <a:pPr marL="763270" marR="657860" indent="-27940">
              <a:lnSpc>
                <a:spcPct val="169500"/>
              </a:lnSpc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 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12700" marR="330835" indent="192405">
              <a:lnSpc>
                <a:spcPct val="169500"/>
              </a:lnSpc>
              <a:spcBef>
                <a:spcPts val="75"/>
              </a:spcBef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B 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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Symbol"/>
                <a:cs typeface="Symbol"/>
              </a:rPr>
              <a:t></a:t>
            </a:r>
            <a:r>
              <a:rPr dirty="0" sz="2800" spc="-25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6514" y="471551"/>
            <a:ext cx="573722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重</a:t>
            </a:r>
            <a:r>
              <a:rPr dirty="0"/>
              <a:t>要</a:t>
            </a:r>
            <a:r>
              <a:rPr dirty="0"/>
              <a:t>的</a:t>
            </a:r>
            <a:r>
              <a:rPr dirty="0"/>
              <a:t>推</a:t>
            </a:r>
            <a:r>
              <a:rPr dirty="0"/>
              <a:t>理</a:t>
            </a:r>
            <a:r>
              <a:rPr dirty="0" spc="-40"/>
              <a:t>定律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⑤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⑧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22771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⑤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析取三段论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3210052"/>
            <a:ext cx="22771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⑥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假言三段论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942588"/>
            <a:ext cx="22771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30" b="1">
                <a:latin typeface="Microsoft JhengHei"/>
                <a:cs typeface="Microsoft JhengHei"/>
              </a:rPr>
              <a:t>⑦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等价三段论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95597" y="1763395"/>
            <a:ext cx="3783329" cy="2633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62305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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13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95250" marR="5080" indent="612775">
              <a:lnSpc>
                <a:spcPct val="169500"/>
              </a:lnSpc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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4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 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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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5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8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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6575" y="4665853"/>
            <a:ext cx="7060565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0093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⑧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构造性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两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难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(C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D)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6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D)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602" y="385267"/>
            <a:ext cx="510413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0"/>
              <a:t>判断推理正确的方法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85775" y="1550493"/>
            <a:ext cx="7289800" cy="421068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790"/>
              </a:spcBef>
            </a:pPr>
            <a:r>
              <a:rPr dirty="0" sz="2800" spc="-10" b="1">
                <a:latin typeface="Microsoft JhengHei"/>
                <a:cs typeface="Microsoft JhengHei"/>
              </a:rPr>
              <a:t>判断推理是否正确，就是判断推理的形式结构</a:t>
            </a:r>
            <a:endParaRPr sz="2800">
              <a:latin typeface="Microsoft JhengHei"/>
              <a:cs typeface="Microsoft JhengHei"/>
            </a:endParaRPr>
          </a:p>
          <a:p>
            <a:pPr marL="635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spc="-55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spc="-4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7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25" b="1">
                <a:latin typeface="Microsoft JhengHei"/>
                <a:cs typeface="Microsoft JhengHei"/>
              </a:rPr>
              <a:t>是否为重言式</a:t>
            </a:r>
            <a:endParaRPr sz="2800">
              <a:latin typeface="Microsoft JhengHei"/>
              <a:cs typeface="Microsoft JhengHei"/>
            </a:endParaRPr>
          </a:p>
          <a:p>
            <a:pPr marL="63500" marR="400685">
              <a:lnSpc>
                <a:spcPct val="169500"/>
              </a:lnSpc>
            </a:pPr>
            <a:r>
              <a:rPr dirty="0" sz="2800" spc="-5" b="1">
                <a:latin typeface="Microsoft JhengHei"/>
                <a:cs typeface="Microsoft JhengHei"/>
              </a:rPr>
              <a:t>判断重言式的方法：真值表法、等值演算法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方法一</a:t>
            </a:r>
            <a:r>
              <a:rPr dirty="0" sz="2800" spc="-135" b="1">
                <a:latin typeface="Microsoft JhengHei"/>
                <a:cs typeface="Microsoft JhengHei"/>
              </a:rPr>
              <a:t>：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 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8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7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9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20" b="1">
                <a:solidFill>
                  <a:srgbClr val="006FC0"/>
                </a:solidFill>
                <a:latin typeface="Calibri"/>
                <a:cs typeface="Calibri"/>
              </a:rPr>
              <a:t>…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8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baseline="-19519" sz="2775" spc="-22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spc="-8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…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-9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410"/>
              </a:spcBef>
            </a:pP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方法二</a:t>
            </a:r>
            <a:r>
              <a:rPr dirty="0" sz="2800" spc="-135" b="1">
                <a:latin typeface="Microsoft JhengHei"/>
                <a:cs typeface="Microsoft JhengHei"/>
              </a:rPr>
              <a:t>：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 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8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7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8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20" b="1">
                <a:solidFill>
                  <a:srgbClr val="006FC0"/>
                </a:solidFill>
                <a:latin typeface="Calibri"/>
                <a:cs typeface="Calibri"/>
              </a:rPr>
              <a:t>…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9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dirty="0" sz="2800" spc="-8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20" b="1">
                <a:solidFill>
                  <a:srgbClr val="006FC0"/>
                </a:solidFill>
                <a:latin typeface="Calibri"/>
                <a:cs typeface="Calibri"/>
              </a:rPr>
              <a:t>…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dirty="0" sz="2800" spc="-8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335"/>
              </a:spcBef>
              <a:tabLst>
                <a:tab pos="431927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例</a:t>
            </a:r>
            <a:r>
              <a:rPr dirty="0" sz="2800" b="1">
                <a:latin typeface="Microsoft JhengHei"/>
                <a:cs typeface="Microsoft JhengHei"/>
              </a:rPr>
              <a:t>：</a:t>
            </a:r>
            <a:r>
              <a:rPr dirty="0" sz="2800" spc="-120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latin typeface="Microsoft JhengHei"/>
                <a:cs typeface="Microsoft JhengHei"/>
              </a:rPr>
              <a:t>前</a:t>
            </a:r>
            <a:r>
              <a:rPr dirty="0" sz="2800" spc="70" b="1">
                <a:latin typeface="Microsoft JhengHei"/>
                <a:cs typeface="Microsoft JhengHei"/>
              </a:rPr>
              <a:t>提</a:t>
            </a:r>
            <a:r>
              <a:rPr dirty="0" sz="2800" b="1">
                <a:latin typeface="Calibri"/>
                <a:cs typeface="Calibri"/>
              </a:rPr>
              <a:t>: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(q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r),</a:t>
            </a:r>
            <a:r>
              <a:rPr dirty="0" sz="2800" spc="-1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p,</a:t>
            </a:r>
            <a:r>
              <a:rPr dirty="0" sz="2800" spc="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dirty="0" sz="2800" spc="65" b="1">
                <a:latin typeface="Microsoft JhengHei"/>
                <a:cs typeface="Microsoft JhengHei"/>
              </a:rPr>
              <a:t>结论</a:t>
            </a:r>
            <a:r>
              <a:rPr dirty="0" sz="2800" b="1">
                <a:latin typeface="Calibri"/>
                <a:cs typeface="Calibri"/>
              </a:rPr>
              <a:t>:</a:t>
            </a:r>
            <a:r>
              <a:rPr dirty="0" sz="2800" spc="-125" b="1"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方</a:t>
            </a:r>
            <a:r>
              <a:rPr dirty="0"/>
              <a:t>法</a:t>
            </a:r>
            <a:r>
              <a:rPr dirty="0" spc="-50"/>
              <a:t>一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90827"/>
            <a:ext cx="7355840" cy="4300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97205">
              <a:lnSpc>
                <a:spcPct val="100000"/>
              </a:lnSpc>
              <a:spcBef>
                <a:spcPts val="110"/>
              </a:spcBef>
              <a:tabLst>
                <a:tab pos="3609340" algn="l"/>
                <a:tab pos="4140200" algn="l"/>
              </a:tabLst>
            </a:pPr>
            <a:r>
              <a:rPr dirty="0" sz="2800" spc="-10" b="1">
                <a:latin typeface="Calibri"/>
                <a:cs typeface="Calibri"/>
              </a:rPr>
              <a:t>(p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(q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r))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50" b="1">
                <a:latin typeface="Symbol"/>
                <a:cs typeface="Symbol"/>
              </a:rPr>
              <a:t>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r))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((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p)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((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r)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p))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((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r)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((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q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q)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(r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q))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p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b="1">
                <a:latin typeface="Calibri"/>
                <a:cs typeface="Calibri"/>
              </a:rPr>
              <a:t>r</a:t>
            </a:r>
            <a:r>
              <a:rPr dirty="0" sz="2800" spc="-229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(r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p)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dirty="0" sz="2800">
                <a:latin typeface="Symbol"/>
                <a:cs typeface="Symbol"/>
              </a:rPr>
              <a:t>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(r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q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p)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r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r</a:t>
            </a:r>
            <a:r>
              <a:rPr dirty="0" sz="2800" spc="-10" b="1">
                <a:latin typeface="Symbol"/>
                <a:cs typeface="Symbol"/>
              </a:rPr>
              <a:t></a:t>
            </a:r>
            <a:r>
              <a:rPr dirty="0" sz="2800" spc="-10" b="1">
                <a:latin typeface="Calibri"/>
                <a:cs typeface="Calibri"/>
              </a:rPr>
              <a:t>q</a:t>
            </a:r>
            <a:r>
              <a:rPr dirty="0" sz="2800" spc="-10" b="1">
                <a:latin typeface="Symbol"/>
                <a:cs typeface="Symbol"/>
              </a:rPr>
              <a:t>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0"/>
              </a:spcBef>
            </a:pPr>
            <a:r>
              <a:rPr dirty="0" sz="2800">
                <a:latin typeface="Symbol"/>
                <a:cs typeface="Symbol"/>
              </a:rPr>
              <a:t>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q</a:t>
            </a:r>
            <a:r>
              <a:rPr dirty="0" sz="2800" b="1">
                <a:latin typeface="Symbol"/>
                <a:cs typeface="Symbol"/>
              </a:rPr>
              <a:t></a:t>
            </a:r>
            <a:r>
              <a:rPr dirty="0" sz="2800" b="1">
                <a:latin typeface="Calibri"/>
                <a:cs typeface="Calibri"/>
              </a:rPr>
              <a:t>p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r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r)</a:t>
            </a:r>
            <a:r>
              <a:rPr dirty="0" sz="2800" spc="-14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</a:t>
            </a:r>
            <a:r>
              <a:rPr dirty="0" sz="2800" b="1">
                <a:latin typeface="Calibri"/>
                <a:cs typeface="Calibri"/>
              </a:rPr>
              <a:t>q</a:t>
            </a:r>
            <a:r>
              <a:rPr dirty="0" sz="2800" b="1">
                <a:latin typeface="Symbol"/>
                <a:cs typeface="Symbol"/>
              </a:rPr>
              <a:t></a:t>
            </a:r>
            <a:r>
              <a:rPr dirty="0" sz="2800" b="1">
                <a:latin typeface="Calibri"/>
                <a:cs typeface="Calibri"/>
              </a:rPr>
              <a:t>p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-19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9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方</a:t>
            </a:r>
            <a:r>
              <a:rPr dirty="0"/>
              <a:t>法</a:t>
            </a:r>
            <a:r>
              <a:rPr dirty="0" spc="-50"/>
              <a:t>二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283215" y="2578798"/>
            <a:ext cx="1717675" cy="1177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70" b="1">
                <a:latin typeface="Microsoft JhengHei"/>
                <a:cs typeface="Microsoft JhengHei"/>
              </a:rPr>
              <a:t>结合律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70" b="1">
                <a:latin typeface="Microsoft JhengHei"/>
                <a:cs typeface="Microsoft JhengHei"/>
              </a:rPr>
              <a:t>假言推理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1827402"/>
            <a:ext cx="3192145" cy="27343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110"/>
              </a:spcBef>
            </a:pPr>
            <a:r>
              <a:rPr dirty="0" sz="2800" spc="-10" b="1">
                <a:latin typeface="Calibri"/>
                <a:cs typeface="Calibri"/>
              </a:rPr>
              <a:t>(p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(q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r))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((p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(q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r))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p)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(q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r)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q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85"/>
              </a:spcBef>
            </a:pP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33351" y="4061714"/>
            <a:ext cx="1744980" cy="509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spc="140" b="1">
                <a:latin typeface="Calibri"/>
                <a:cs typeface="Calibri"/>
              </a:rPr>
              <a:t>(</a:t>
            </a:r>
            <a:r>
              <a:rPr dirty="0" sz="2800" spc="65" b="1">
                <a:latin typeface="Microsoft JhengHei"/>
                <a:cs typeface="Microsoft JhengHei"/>
              </a:rPr>
              <a:t>假言推理</a:t>
            </a:r>
            <a:r>
              <a:rPr dirty="0" sz="3150" spc="-50" b="1">
                <a:latin typeface="Calibri"/>
                <a:cs typeface="Calibri"/>
              </a:rPr>
              <a:t>)</a:t>
            </a:r>
            <a:endParaRPr sz="3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小</a:t>
            </a:r>
            <a:r>
              <a:rPr dirty="0" spc="-50"/>
              <a:t>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dirty="0"/>
              <a:t>逻</a:t>
            </a:r>
            <a:r>
              <a:rPr dirty="0"/>
              <a:t>辑</a:t>
            </a:r>
            <a:r>
              <a:rPr dirty="0"/>
              <a:t>符</a:t>
            </a:r>
            <a:r>
              <a:rPr dirty="0"/>
              <a:t>号</a:t>
            </a:r>
            <a:r>
              <a:rPr dirty="0"/>
              <a:t>： 原</a:t>
            </a:r>
            <a:r>
              <a:rPr dirty="0" spc="-35"/>
              <a:t>子</a:t>
            </a:r>
            <a:r>
              <a:rPr dirty="0" spc="-35"/>
              <a:t>命</a:t>
            </a:r>
            <a:r>
              <a:rPr dirty="0" spc="405"/>
              <a:t>题</a:t>
            </a:r>
            <a:r>
              <a:rPr dirty="0" spc="-60">
                <a:solidFill>
                  <a:srgbClr val="006FC0"/>
                </a:solidFill>
                <a:latin typeface="Calibri"/>
                <a:cs typeface="Calibri"/>
              </a:rPr>
              <a:t>p,q,r,…</a:t>
            </a:r>
            <a:r>
              <a:rPr dirty="0"/>
              <a:t>、</a:t>
            </a:r>
            <a:r>
              <a:rPr dirty="0"/>
              <a:t>真</a:t>
            </a:r>
            <a:r>
              <a:rPr dirty="0" spc="45"/>
              <a:t>值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dirty="0" spc="65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dirty="0" spc="-35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pc="-50"/>
              <a:t>、</a:t>
            </a:r>
          </a:p>
          <a:p>
            <a:pPr marL="1742439">
              <a:lnSpc>
                <a:spcPct val="100000"/>
              </a:lnSpc>
              <a:spcBef>
                <a:spcPts val="2140"/>
              </a:spcBef>
              <a:tabLst>
                <a:tab pos="3197860" algn="l"/>
                <a:tab pos="3545840" algn="l"/>
                <a:tab pos="3893820" algn="l"/>
                <a:tab pos="4369435" algn="l"/>
              </a:tabLst>
            </a:pPr>
            <a:r>
              <a:rPr dirty="0"/>
              <a:t>联</a:t>
            </a:r>
            <a:r>
              <a:rPr dirty="0"/>
              <a:t>结</a:t>
            </a:r>
            <a:r>
              <a:rPr dirty="0" spc="475"/>
              <a:t>词</a:t>
            </a:r>
            <a:r>
              <a:rPr dirty="0" spc="-50">
                <a:solidFill>
                  <a:srgbClr val="006FC0"/>
                </a:solidFill>
                <a:latin typeface="Symbol"/>
                <a:cs typeface="Symbol"/>
              </a:rPr>
              <a:t></a:t>
            </a:r>
            <a:r>
              <a:rPr dirty="0" b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dirty="0" spc="-50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b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dirty="0" spc="-50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b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dirty="0" spc="-5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b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dirty="0" spc="75">
                <a:solidFill>
                  <a:srgbClr val="006FC0"/>
                </a:solidFill>
                <a:latin typeface="Symbol"/>
                <a:cs typeface="Symbol"/>
              </a:rPr>
              <a:t></a:t>
            </a:r>
            <a:r>
              <a:rPr dirty="0"/>
              <a:t>、</a:t>
            </a:r>
            <a:r>
              <a:rPr dirty="0"/>
              <a:t>等</a:t>
            </a:r>
            <a:r>
              <a:rPr dirty="0" spc="400"/>
              <a:t>值</a:t>
            </a:r>
            <a:r>
              <a:rPr dirty="0" spc="75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/>
              <a:t>、</a:t>
            </a:r>
            <a:r>
              <a:rPr dirty="0"/>
              <a:t>推</a:t>
            </a:r>
            <a:r>
              <a:rPr dirty="0" spc="330"/>
              <a:t>出</a:t>
            </a:r>
            <a:r>
              <a:rPr dirty="0" spc="-50">
                <a:solidFill>
                  <a:srgbClr val="006FC0"/>
                </a:solidFill>
                <a:latin typeface="Symbol"/>
                <a:cs typeface="Symbol"/>
              </a:rPr>
              <a:t></a:t>
            </a:r>
          </a:p>
          <a:p>
            <a:pPr marL="1742439" marR="5080" indent="-1720850">
              <a:lnSpc>
                <a:spcPct val="171000"/>
              </a:lnSpc>
            </a:pPr>
            <a:r>
              <a:rPr dirty="0"/>
              <a:t>逻</a:t>
            </a:r>
            <a:r>
              <a:rPr dirty="0"/>
              <a:t>辑</a:t>
            </a:r>
            <a:r>
              <a:rPr dirty="0"/>
              <a:t>概</a:t>
            </a:r>
            <a:r>
              <a:rPr dirty="0"/>
              <a:t>念</a:t>
            </a:r>
            <a:r>
              <a:rPr dirty="0"/>
              <a:t>： 公</a:t>
            </a:r>
            <a:r>
              <a:rPr dirty="0" spc="-35"/>
              <a:t>式</a:t>
            </a:r>
            <a:r>
              <a:rPr dirty="0" spc="-35"/>
              <a:t>、</a:t>
            </a:r>
            <a:r>
              <a:rPr dirty="0"/>
              <a:t>赋</a:t>
            </a:r>
            <a:r>
              <a:rPr dirty="0" spc="-35"/>
              <a:t>值</a:t>
            </a:r>
            <a:r>
              <a:rPr dirty="0" spc="-35"/>
              <a:t>、</a:t>
            </a:r>
            <a:r>
              <a:rPr dirty="0" spc="-25"/>
              <a:t>永真式、永</a:t>
            </a:r>
            <a:r>
              <a:rPr dirty="0" spc="-35"/>
              <a:t>假</a:t>
            </a:r>
            <a:r>
              <a:rPr dirty="0" spc="-35"/>
              <a:t>式</a:t>
            </a:r>
            <a:r>
              <a:rPr dirty="0" spc="-35"/>
              <a:t>、</a:t>
            </a:r>
            <a:r>
              <a:rPr dirty="0" spc="-35"/>
              <a:t>可</a:t>
            </a:r>
            <a:r>
              <a:rPr dirty="0" spc="-35"/>
              <a:t>满</a:t>
            </a:r>
            <a:r>
              <a:rPr dirty="0" spc="-35"/>
              <a:t>足</a:t>
            </a:r>
            <a:r>
              <a:rPr dirty="0" spc="-35"/>
              <a:t>式</a:t>
            </a:r>
            <a:r>
              <a:rPr dirty="0" spc="-50"/>
              <a:t>、</a:t>
            </a:r>
            <a:r>
              <a:rPr dirty="0"/>
              <a:t>等</a:t>
            </a:r>
            <a:r>
              <a:rPr dirty="0"/>
              <a:t>值</a:t>
            </a:r>
            <a:r>
              <a:rPr dirty="0"/>
              <a:t>式</a:t>
            </a:r>
            <a:r>
              <a:rPr dirty="0"/>
              <a:t>、</a:t>
            </a:r>
            <a:r>
              <a:rPr dirty="0" spc="-35"/>
              <a:t>等</a:t>
            </a:r>
            <a:r>
              <a:rPr dirty="0" spc="-35"/>
              <a:t>值</a:t>
            </a:r>
            <a:r>
              <a:rPr dirty="0" spc="-20"/>
              <a:t>演算、推</a:t>
            </a:r>
            <a:r>
              <a:rPr dirty="0" spc="-35"/>
              <a:t>理</a:t>
            </a:r>
            <a:r>
              <a:rPr dirty="0" spc="-35"/>
              <a:t>的</a:t>
            </a:r>
            <a:r>
              <a:rPr dirty="0" spc="-35"/>
              <a:t>形</a:t>
            </a:r>
            <a:r>
              <a:rPr dirty="0"/>
              <a:t>式</a:t>
            </a:r>
            <a:r>
              <a:rPr dirty="0" spc="-35"/>
              <a:t>结</a:t>
            </a:r>
            <a:r>
              <a:rPr dirty="0" spc="-35"/>
              <a:t>构</a:t>
            </a:r>
            <a:r>
              <a:rPr dirty="0" spc="-50"/>
              <a:t>、</a:t>
            </a:r>
          </a:p>
          <a:p>
            <a:pPr marL="22225" marR="4974590" indent="1720214">
              <a:lnSpc>
                <a:spcPts val="5340"/>
              </a:lnSpc>
              <a:spcBef>
                <a:spcPts val="270"/>
              </a:spcBef>
            </a:pPr>
            <a:r>
              <a:rPr dirty="0"/>
              <a:t>推</a:t>
            </a:r>
            <a:r>
              <a:rPr dirty="0"/>
              <a:t>理</a:t>
            </a:r>
            <a:r>
              <a:rPr dirty="0"/>
              <a:t>定</a:t>
            </a:r>
            <a:r>
              <a:rPr dirty="0" spc="-50"/>
              <a:t>律</a:t>
            </a:r>
            <a:r>
              <a:rPr dirty="0"/>
              <a:t>逻</a:t>
            </a:r>
            <a:r>
              <a:rPr dirty="0"/>
              <a:t>辑</a:t>
            </a:r>
            <a:r>
              <a:rPr dirty="0"/>
              <a:t>规</a:t>
            </a:r>
            <a:r>
              <a:rPr dirty="0"/>
              <a:t>则</a:t>
            </a:r>
            <a:r>
              <a:rPr dirty="0" spc="30"/>
              <a:t>： 置</a:t>
            </a:r>
            <a:r>
              <a:rPr dirty="0" spc="-35"/>
              <a:t>换</a:t>
            </a:r>
            <a:r>
              <a:rPr dirty="0" spc="-35"/>
              <a:t>规</a:t>
            </a:r>
            <a:r>
              <a:rPr dirty="0" spc="-50"/>
              <a:t>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2023-02-03T01:32:53Z</dcterms:created>
  <dcterms:modified xsi:type="dcterms:W3CDTF">2023-02-03T01:32:53Z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LastSaved">
    <vt:filetime>2018-01-29T00:00:00Z</vt:filetime>
  </property>
</Properties>
</file>