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1260"/>
              </a:lnSpc>
            </a:pPr>
            <a:fld id="{81D60167-4931-47E6-BA6A-407CBD079E47}" type="slidenum">
              <a:rPr dirty="0" spc="1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1260"/>
              </a:lnSpc>
            </a:pPr>
            <a:fld id="{81D60167-4931-47E6-BA6A-407CBD079E47}" type="slidenum">
              <a:rPr dirty="0" spc="1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6575" y="1554594"/>
            <a:ext cx="2486660" cy="4192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871465" y="1554594"/>
            <a:ext cx="3350259" cy="4192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1260"/>
              </a:lnSpc>
            </a:pPr>
            <a:fld id="{81D60167-4931-47E6-BA6A-407CBD079E47}" type="slidenum">
              <a:rPr dirty="0" spc="1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1260"/>
              </a:lnSpc>
            </a:pPr>
            <a:fld id="{81D60167-4931-47E6-BA6A-407CBD079E47}" type="slidenum">
              <a:rPr dirty="0" spc="1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1260"/>
              </a:lnSpc>
            </a:pPr>
            <a:fld id="{81D60167-4931-47E6-BA6A-407CBD079E47}" type="slidenum">
              <a:rPr dirty="0" spc="1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6315" y="471551"/>
            <a:ext cx="461136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75" y="1550493"/>
            <a:ext cx="4728845" cy="2590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98002" y="6473078"/>
            <a:ext cx="254000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1260"/>
              </a:lnSpc>
            </a:pPr>
            <a:fld id="{81D60167-4931-47E6-BA6A-407CBD079E47}" type="slidenum">
              <a:rPr dirty="0" spc="1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4228" y="2493086"/>
            <a:ext cx="65049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单元</a:t>
            </a:r>
            <a:r>
              <a:rPr dirty="0">
                <a:latin typeface="Calibri"/>
                <a:cs typeface="Calibri"/>
              </a:rPr>
              <a:t>1.6</a:t>
            </a:r>
            <a:r>
              <a:rPr dirty="0" spc="-80">
                <a:latin typeface="Calibri"/>
                <a:cs typeface="Calibri"/>
              </a:rPr>
              <a:t> </a:t>
            </a:r>
            <a:r>
              <a:rPr dirty="0" spc="25"/>
              <a:t>基本的集合恒等式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605658" y="3803472"/>
            <a:ext cx="3935729" cy="17837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0430" marR="683895" indent="-210820">
              <a:lnSpc>
                <a:spcPct val="122100"/>
              </a:lnSpc>
              <a:spcBef>
                <a:spcPts val="95"/>
              </a:spcBef>
            </a:pPr>
            <a:r>
              <a:rPr dirty="0" sz="3150" spc="160" b="1">
                <a:solidFill>
                  <a:srgbClr val="888888"/>
                </a:solidFill>
                <a:latin typeface="Microsoft JhengHei"/>
                <a:cs typeface="Microsoft JhengHei"/>
              </a:rPr>
              <a:t>第一编集合论</a:t>
            </a:r>
            <a:r>
              <a:rPr dirty="0" sz="3150" spc="180" b="1">
                <a:solidFill>
                  <a:srgbClr val="888888"/>
                </a:solidFill>
                <a:latin typeface="Microsoft JhengHei"/>
                <a:cs typeface="Microsoft JhengHei"/>
              </a:rPr>
              <a:t>第一章集合</a:t>
            </a:r>
            <a:endParaRPr sz="31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3150" b="1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r>
              <a:rPr dirty="0" sz="3150" spc="45" b="1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150" spc="60" b="1">
                <a:solidFill>
                  <a:srgbClr val="888888"/>
                </a:solidFill>
                <a:latin typeface="Microsoft JhengHei"/>
                <a:cs typeface="Microsoft JhengHei"/>
              </a:rPr>
              <a:t>基本的集合恒等式</a:t>
            </a:r>
            <a:endParaRPr sz="31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508" y="471551"/>
            <a:ext cx="229616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内</a:t>
            </a:r>
            <a:r>
              <a:rPr dirty="0"/>
              <a:t>容</a:t>
            </a:r>
            <a:r>
              <a:rPr dirty="0"/>
              <a:t>提</a:t>
            </a:r>
            <a:r>
              <a:rPr dirty="0" spc="-50"/>
              <a:t>要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0014">
              <a:lnSpc>
                <a:spcPts val="1260"/>
              </a:lnSpc>
            </a:pPr>
            <a:fld id="{81D60167-4931-47E6-BA6A-407CBD079E47}" type="slidenum">
              <a:rPr dirty="0" spc="10"/>
              <a:t>2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7330" rIns="0" bIns="0" rtlCol="0" vert="horz">
            <a:spAutoFit/>
          </a:bodyPr>
          <a:lstStyle/>
          <a:p>
            <a:pPr marL="497205" indent="-485140">
              <a:lnSpc>
                <a:spcPct val="100000"/>
              </a:lnSpc>
              <a:spcBef>
                <a:spcPts val="1790"/>
              </a:spcBef>
              <a:buFont typeface="Calibri"/>
              <a:buAutoNum type="arabicParenBoth"/>
              <a:tabLst>
                <a:tab pos="497840" algn="l"/>
              </a:tabLst>
            </a:pPr>
            <a:r>
              <a:rPr dirty="0" spc="25"/>
              <a:t>集合恒等式</a:t>
            </a:r>
          </a:p>
          <a:p>
            <a:pPr lvl="1" marL="753745" indent="-284480">
              <a:lnSpc>
                <a:spcPct val="100000"/>
              </a:lnSpc>
              <a:spcBef>
                <a:spcPts val="168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b="1">
                <a:latin typeface="Calibri"/>
                <a:cs typeface="Calibri"/>
              </a:rPr>
              <a:t>13</a:t>
            </a:r>
            <a:r>
              <a:rPr dirty="0" sz="2800" spc="5" b="1">
                <a:latin typeface="Microsoft JhengHei"/>
                <a:cs typeface="Microsoft JhengHei"/>
              </a:rPr>
              <a:t>组最基本的集合恒等式</a:t>
            </a:r>
            <a:endParaRPr sz="2800">
              <a:latin typeface="Microsoft JhengHei"/>
              <a:cs typeface="Microsoft JhengHei"/>
            </a:endParaRPr>
          </a:p>
          <a:p>
            <a:pPr marL="497205" indent="-485140">
              <a:lnSpc>
                <a:spcPct val="100000"/>
              </a:lnSpc>
              <a:spcBef>
                <a:spcPts val="1690"/>
              </a:spcBef>
              <a:buFont typeface="Calibri"/>
              <a:buAutoNum type="arabicParenBoth"/>
              <a:tabLst>
                <a:tab pos="497840" algn="l"/>
              </a:tabLst>
            </a:pPr>
            <a:r>
              <a:rPr dirty="0" spc="25"/>
              <a:t>半形式化方法</a:t>
            </a:r>
          </a:p>
          <a:p>
            <a:pPr lvl="1" marL="753745" indent="-284480">
              <a:lnSpc>
                <a:spcPct val="100000"/>
              </a:lnSpc>
              <a:spcBef>
                <a:spcPts val="168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5" b="1">
                <a:latin typeface="Microsoft JhengHei"/>
                <a:cs typeface="Microsoft JhengHei"/>
              </a:rPr>
              <a:t>推导集合等式和包含式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/>
              <a:t>合</a:t>
            </a:r>
            <a:r>
              <a:rPr dirty="0"/>
              <a:t>恒</a:t>
            </a:r>
            <a:r>
              <a:rPr dirty="0"/>
              <a:t>等</a:t>
            </a:r>
            <a:r>
              <a:rPr dirty="0" spc="-55"/>
              <a:t>式</a:t>
            </a:r>
            <a:r>
              <a:rPr dirty="0" spc="-10">
                <a:latin typeface="Calibri"/>
                <a:cs typeface="Calibri"/>
              </a:rPr>
              <a:t>(</a:t>
            </a:r>
            <a:r>
              <a:rPr dirty="0" spc="-10"/>
              <a:t>①</a:t>
            </a:r>
            <a:r>
              <a:rPr dirty="0" spc="-10">
                <a:latin typeface="Calibri"/>
                <a:cs typeface="Calibri"/>
              </a:rPr>
              <a:t>~</a:t>
            </a:r>
            <a:r>
              <a:rPr dirty="0" spc="-10"/>
              <a:t>④</a:t>
            </a:r>
            <a:r>
              <a:rPr dirty="0" spc="-10">
                <a:latin typeface="Calibri"/>
                <a:cs typeface="Calibri"/>
              </a:rPr>
              <a:t>)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0014">
              <a:lnSpc>
                <a:spcPts val="1260"/>
              </a:lnSpc>
            </a:pPr>
            <a:fld id="{81D60167-4931-47E6-BA6A-407CBD079E47}" type="slidenum">
              <a:rPr dirty="0" spc="1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37158" y="1901253"/>
            <a:ext cx="5857875" cy="43453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70" b="1">
                <a:latin typeface="Microsoft JhengHei"/>
                <a:cs typeface="Microsoft JhengHei"/>
              </a:rPr>
              <a:t>设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800" spc="30" b="1">
                <a:latin typeface="Microsoft JhengHei"/>
                <a:cs typeface="Microsoft JhengHei"/>
              </a:rPr>
              <a:t>是全集，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A,B,C</a:t>
            </a:r>
            <a:r>
              <a:rPr dirty="0" sz="2800" b="1">
                <a:latin typeface="Microsoft JhengHei"/>
                <a:cs typeface="Microsoft JhengHei"/>
              </a:rPr>
              <a:t>为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r>
              <a:rPr dirty="0" sz="2800" spc="-10" b="1">
                <a:latin typeface="Microsoft JhengHei"/>
                <a:cs typeface="Microsoft JhengHei"/>
              </a:rPr>
              <a:t>的任意子集。</a:t>
            </a:r>
            <a:endParaRPr sz="2800">
              <a:latin typeface="Microsoft JhengHei"/>
              <a:cs typeface="Microsoft JhengHei"/>
            </a:endParaRPr>
          </a:p>
          <a:p>
            <a:pPr marL="232410">
              <a:lnSpc>
                <a:spcPct val="100000"/>
              </a:lnSpc>
              <a:spcBef>
                <a:spcPts val="2045"/>
              </a:spcBef>
              <a:tabLst>
                <a:tab pos="1989455" algn="l"/>
                <a:tab pos="3352165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①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幂等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</a:t>
            </a:r>
            <a:r>
              <a:rPr dirty="0" sz="2800" spc="-10" b="1">
                <a:latin typeface="Calibri"/>
                <a:cs typeface="Calibri"/>
              </a:rPr>
              <a:t>A=A,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A=A</a:t>
            </a:r>
            <a:endParaRPr sz="2800">
              <a:latin typeface="Calibri"/>
              <a:cs typeface="Calibri"/>
            </a:endParaRPr>
          </a:p>
          <a:p>
            <a:pPr marL="232410">
              <a:lnSpc>
                <a:spcPct val="100000"/>
              </a:lnSpc>
              <a:spcBef>
                <a:spcPts val="1685"/>
              </a:spcBef>
              <a:tabLst>
                <a:tab pos="1989455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②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交换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B=B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A,</a:t>
            </a:r>
            <a:r>
              <a:rPr dirty="0" sz="2800" spc="2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B=B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232410">
              <a:lnSpc>
                <a:spcPct val="100000"/>
              </a:lnSpc>
              <a:spcBef>
                <a:spcPts val="1689"/>
              </a:spcBef>
              <a:tabLst>
                <a:tab pos="1989455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③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结合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C</a:t>
            </a:r>
            <a:r>
              <a:rPr dirty="0" sz="2800" spc="-13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</a:t>
            </a:r>
            <a:r>
              <a:rPr dirty="0" sz="2800" spc="-10" b="1">
                <a:latin typeface="Calibri"/>
                <a:cs typeface="Calibri"/>
              </a:rPr>
              <a:t>(B</a:t>
            </a:r>
            <a:r>
              <a:rPr dirty="0" sz="2800" spc="-10" b="1">
                <a:latin typeface="Symbol"/>
                <a:cs typeface="Symbol"/>
              </a:rPr>
              <a:t></a:t>
            </a:r>
            <a:r>
              <a:rPr dirty="0" sz="2800" spc="-10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201676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C</a:t>
            </a:r>
            <a:r>
              <a:rPr dirty="0" sz="2800" spc="-12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15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(B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232410">
              <a:lnSpc>
                <a:spcPct val="100000"/>
              </a:lnSpc>
              <a:spcBef>
                <a:spcPts val="1689"/>
              </a:spcBef>
              <a:tabLst>
                <a:tab pos="1989455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④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分配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(B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C)</a:t>
            </a:r>
            <a:r>
              <a:rPr dirty="0" sz="2800" spc="-1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10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B)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</a:t>
            </a:r>
            <a:r>
              <a:rPr dirty="0" sz="2800" spc="-10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201676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(B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C)</a:t>
            </a:r>
            <a:r>
              <a:rPr dirty="0" sz="2800" spc="-16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1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B)</a:t>
            </a:r>
            <a:r>
              <a:rPr dirty="0" sz="2800" spc="-10" b="1">
                <a:latin typeface="Symbol"/>
                <a:cs typeface="Symbol"/>
              </a:rPr>
              <a:t>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1229" y="471551"/>
            <a:ext cx="471233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/>
              <a:t>合</a:t>
            </a:r>
            <a:r>
              <a:rPr dirty="0"/>
              <a:t>恒</a:t>
            </a:r>
            <a:r>
              <a:rPr dirty="0"/>
              <a:t>等</a:t>
            </a:r>
            <a:r>
              <a:rPr dirty="0" spc="745"/>
              <a:t>式</a:t>
            </a:r>
            <a:r>
              <a:rPr dirty="0" spc="-10">
                <a:latin typeface="Calibri"/>
                <a:cs typeface="Calibri"/>
              </a:rPr>
              <a:t>(</a:t>
            </a:r>
            <a:r>
              <a:rPr dirty="0" spc="-10"/>
              <a:t>⑤</a:t>
            </a:r>
            <a:r>
              <a:rPr dirty="0" spc="-10">
                <a:latin typeface="Calibri"/>
                <a:cs typeface="Calibri"/>
              </a:rPr>
              <a:t>~</a:t>
            </a:r>
            <a:r>
              <a:rPr dirty="0" spc="-10"/>
              <a:t>⑥</a:t>
            </a:r>
            <a:r>
              <a:rPr dirty="0" spc="-10">
                <a:latin typeface="Calibri"/>
                <a:cs typeface="Calibri"/>
              </a:rPr>
              <a:t>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0014">
              <a:lnSpc>
                <a:spcPts val="1260"/>
              </a:lnSpc>
            </a:pPr>
            <a:fld id="{81D60167-4931-47E6-BA6A-407CBD079E47}" type="slidenum">
              <a:rPr dirty="0" spc="1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50493"/>
            <a:ext cx="2085339" cy="1308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5290" marR="5080" indent="-403225">
              <a:lnSpc>
                <a:spcPct val="150200"/>
              </a:lnSpc>
              <a:spcBef>
                <a:spcPts val="100"/>
              </a:spcBef>
            </a:pPr>
            <a:r>
              <a:rPr dirty="0" sz="2800" spc="-60" b="1">
                <a:latin typeface="Microsoft JhengHei"/>
                <a:cs typeface="Microsoft JhengHei"/>
              </a:rPr>
              <a:t>⑤ 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德</a:t>
            </a:r>
            <a:r>
              <a:rPr dirty="0" sz="2800" spc="75" b="1">
                <a:solidFill>
                  <a:srgbClr val="FF0000"/>
                </a:solidFill>
                <a:latin typeface="Symbol"/>
                <a:cs typeface="Symbol"/>
              </a:rPr>
              <a:t>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摩根律</a:t>
            </a:r>
            <a:r>
              <a:rPr dirty="0" sz="2800" spc="55" b="1">
                <a:latin typeface="Microsoft JhengHei"/>
                <a:cs typeface="Microsoft JhengHei"/>
              </a:rPr>
              <a:t>绝对形式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79014" y="2192159"/>
            <a:ext cx="2532380" cy="1307465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dirty="0" sz="2800" b="1">
                <a:latin typeface="Calibri"/>
                <a:cs typeface="Calibri"/>
              </a:rPr>
              <a:t>~(A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20" b="1">
                <a:latin typeface="Calibri"/>
                <a:cs typeface="Calibri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~A</a:t>
            </a:r>
            <a:r>
              <a:rPr dirty="0" sz="2800" spc="-20" b="1">
                <a:latin typeface="Symbol"/>
                <a:cs typeface="Symbol"/>
              </a:rPr>
              <a:t></a:t>
            </a:r>
            <a:r>
              <a:rPr dirty="0" sz="2800" spc="-20" b="1">
                <a:latin typeface="Calibri"/>
                <a:cs typeface="Calibri"/>
              </a:rPr>
              <a:t>~B</a:t>
            </a:r>
            <a:endParaRPr sz="2800">
              <a:latin typeface="Calibri"/>
              <a:cs typeface="Calibri"/>
            </a:endParaRPr>
          </a:p>
          <a:p>
            <a:pPr marL="40005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Calibri"/>
                <a:cs typeface="Calibri"/>
              </a:rPr>
              <a:t>~(A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20" b="1">
                <a:latin typeface="Calibri"/>
                <a:cs typeface="Calibri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~A</a:t>
            </a:r>
            <a:r>
              <a:rPr dirty="0" sz="2800" spc="-20" b="1">
                <a:latin typeface="Symbol"/>
                <a:cs typeface="Symbol"/>
              </a:rPr>
              <a:t></a:t>
            </a:r>
            <a:r>
              <a:rPr dirty="0" sz="2800" spc="-20" b="1">
                <a:latin typeface="Calibri"/>
                <a:cs typeface="Calibri"/>
              </a:rPr>
              <a:t>~B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6575" y="3473780"/>
            <a:ext cx="6217920" cy="1948814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 algn="r" marR="785495">
              <a:lnSpc>
                <a:spcPct val="100000"/>
              </a:lnSpc>
              <a:spcBef>
                <a:spcPts val="1785"/>
              </a:spcBef>
              <a:tabLst>
                <a:tab pos="1675130" algn="l"/>
              </a:tabLst>
            </a:pPr>
            <a:r>
              <a:rPr dirty="0" sz="2800" spc="65" b="1">
                <a:latin typeface="Microsoft JhengHei"/>
                <a:cs typeface="Microsoft JhengHei"/>
              </a:rPr>
              <a:t>相对形</a:t>
            </a:r>
            <a:r>
              <a:rPr dirty="0" sz="2800" spc="-50" b="1">
                <a:latin typeface="Microsoft JhengHei"/>
                <a:cs typeface="Microsoft JhengHei"/>
              </a:rPr>
              <a:t>式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-10" b="1">
                <a:latin typeface="Calibri"/>
                <a:cs typeface="Calibri"/>
              </a:rPr>
              <a:t>E-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15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(E-</a:t>
            </a:r>
            <a:r>
              <a:rPr dirty="0" sz="2800" b="1">
                <a:latin typeface="Calibri"/>
                <a:cs typeface="Calibri"/>
              </a:rPr>
              <a:t>A)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(E-</a:t>
            </a:r>
            <a:r>
              <a:rPr dirty="0" sz="2800" spc="-25" b="1">
                <a:latin typeface="Calibri"/>
                <a:cs typeface="Calibri"/>
              </a:rPr>
              <a:t>B)</a:t>
            </a:r>
            <a:endParaRPr sz="2800">
              <a:latin typeface="Calibri"/>
              <a:cs typeface="Calibri"/>
            </a:endParaRPr>
          </a:p>
          <a:p>
            <a:pPr algn="r" marR="757555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Calibri"/>
                <a:cs typeface="Calibri"/>
              </a:rPr>
              <a:t>E-(A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14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(E-</a:t>
            </a:r>
            <a:r>
              <a:rPr dirty="0" sz="2800" b="1">
                <a:latin typeface="Calibri"/>
                <a:cs typeface="Calibri"/>
              </a:rPr>
              <a:t>A)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(E-</a:t>
            </a:r>
            <a:r>
              <a:rPr dirty="0" sz="2800" spc="-25" b="1">
                <a:latin typeface="Calibri"/>
                <a:cs typeface="Calibri"/>
              </a:rPr>
              <a:t>B)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9"/>
              </a:spcBef>
              <a:tabLst>
                <a:tab pos="1925320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⑥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吸收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1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1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spc="-14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155" b="1">
                <a:latin typeface="Calibri"/>
                <a:cs typeface="Calibri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7511" y="471551"/>
            <a:ext cx="527050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基</a:t>
            </a:r>
            <a:r>
              <a:rPr dirty="0"/>
              <a:t>本</a:t>
            </a:r>
            <a:r>
              <a:rPr dirty="0"/>
              <a:t>的</a:t>
            </a:r>
            <a:r>
              <a:rPr dirty="0"/>
              <a:t>等</a:t>
            </a:r>
            <a:r>
              <a:rPr dirty="0" spc="-25"/>
              <a:t>值式</a:t>
            </a:r>
            <a:r>
              <a:rPr dirty="0" spc="-10">
                <a:latin typeface="Calibri"/>
                <a:cs typeface="Calibri"/>
              </a:rPr>
              <a:t>(</a:t>
            </a:r>
            <a:r>
              <a:rPr dirty="0" spc="-10"/>
              <a:t>⑦</a:t>
            </a:r>
            <a:r>
              <a:rPr dirty="0" spc="-10">
                <a:latin typeface="Calibri"/>
                <a:cs typeface="Calibri"/>
              </a:rPr>
              <a:t>~</a:t>
            </a:r>
            <a:r>
              <a:rPr dirty="0" spc="-10">
                <a:latin typeface="Cambria Math"/>
                <a:cs typeface="Cambria Math"/>
              </a:rPr>
              <a:t>⑬</a:t>
            </a:r>
            <a:r>
              <a:rPr dirty="0" spc="-10">
                <a:latin typeface="Calibri"/>
                <a:cs typeface="Calibri"/>
              </a:rPr>
              <a:t>)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0014">
              <a:lnSpc>
                <a:spcPts val="1260"/>
              </a:lnSpc>
            </a:pPr>
            <a:fld id="{81D60167-4931-47E6-BA6A-407CBD079E47}" type="slidenum">
              <a:rPr dirty="0" spc="1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60080"/>
            <a:ext cx="5106670" cy="3011170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  <a:tabLst>
                <a:tab pos="1979930" algn="l"/>
                <a:tab pos="3673475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⑦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零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E</a:t>
            </a:r>
            <a:r>
              <a:rPr dirty="0" sz="2800" spc="-10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45" b="1">
                <a:latin typeface="Calibri"/>
                <a:cs typeface="Calibri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E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</a:t>
            </a:r>
            <a:r>
              <a:rPr dirty="0" sz="2800" spc="-165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114" b="1">
                <a:latin typeface="Calibri"/>
                <a:cs typeface="Calibri"/>
              </a:rPr>
              <a:t> </a:t>
            </a:r>
            <a:r>
              <a:rPr dirty="0" sz="2800" spc="-50" b="1">
                <a:latin typeface="Symbol"/>
                <a:cs typeface="Symbol"/>
              </a:rPr>
              <a:t></a:t>
            </a:r>
            <a:endParaRPr sz="28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  <a:tabLst>
                <a:tab pos="2007870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⑧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同一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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7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E</a:t>
            </a:r>
            <a:r>
              <a:rPr dirty="0" sz="2800" spc="-1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70" b="1">
                <a:latin typeface="Calibri"/>
                <a:cs typeface="Calibri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  <a:tabLst>
                <a:tab pos="2740025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⑨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排中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~A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90" b="1">
                <a:latin typeface="Calibri"/>
                <a:cs typeface="Calibri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  <a:tabLst>
                <a:tab pos="2740025" algn="l"/>
              </a:tabLst>
            </a:pPr>
            <a:r>
              <a:rPr dirty="0" sz="2800" b="1">
                <a:latin typeface="Microsoft JhengHei"/>
                <a:cs typeface="Microsoft JhengHei"/>
              </a:rPr>
              <a:t>⑩</a:t>
            </a:r>
            <a:r>
              <a:rPr dirty="0" sz="2800" spc="-55" b="1">
                <a:latin typeface="Microsoft JhengHei"/>
                <a:cs typeface="Microsoft JhengHei"/>
              </a:rPr>
              <a:t> 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矛盾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~A</a:t>
            </a:r>
            <a:r>
              <a:rPr dirty="0" sz="2800" spc="-9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100" b="1">
                <a:latin typeface="Calibri"/>
                <a:cs typeface="Calibri"/>
              </a:rPr>
              <a:t> </a:t>
            </a:r>
            <a:r>
              <a:rPr dirty="0" sz="2800" spc="-50" b="1">
                <a:latin typeface="Symbol"/>
                <a:cs typeface="Symbol"/>
              </a:rPr>
              <a:t></a:t>
            </a:r>
            <a:endParaRPr sz="28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  <a:tabLst>
                <a:tab pos="2721610" algn="l"/>
              </a:tabLst>
            </a:pPr>
            <a:r>
              <a:rPr dirty="0" sz="2800" spc="65" b="1">
                <a:latin typeface="Cambria Math"/>
                <a:cs typeface="Cambria Math"/>
              </a:rPr>
              <a:t>⑪</a:t>
            </a:r>
            <a:r>
              <a:rPr dirty="0" sz="2800" spc="-25" b="1">
                <a:latin typeface="Cambria Math"/>
                <a:cs typeface="Cambria Math"/>
              </a:rPr>
              <a:t> </a:t>
            </a: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余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补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律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	</a:t>
            </a:r>
            <a:r>
              <a:rPr dirty="0" sz="2800" b="1">
                <a:latin typeface="Calibri"/>
                <a:cs typeface="Calibri"/>
              </a:rPr>
              <a:t>~</a:t>
            </a:r>
            <a:r>
              <a:rPr dirty="0" sz="2800" b="1">
                <a:latin typeface="Symbol"/>
                <a:cs typeface="Symbol"/>
              </a:rPr>
              <a:t>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E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>
                <a:latin typeface="Calibri"/>
                <a:cs typeface="Calibri"/>
              </a:rPr>
              <a:t>~E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-15" b="1">
                <a:latin typeface="Calibri"/>
                <a:cs typeface="Calibri"/>
              </a:rPr>
              <a:t> </a:t>
            </a:r>
            <a:r>
              <a:rPr dirty="0" sz="2800" spc="-50" b="1">
                <a:latin typeface="Symbol"/>
                <a:cs typeface="Symbol"/>
              </a:rPr>
              <a:t>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6575" y="4555256"/>
            <a:ext cx="2340610" cy="121539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800" spc="20" b="1">
                <a:latin typeface="Cambria Math"/>
                <a:cs typeface="Cambria Math"/>
              </a:rPr>
              <a:t>⑫ </a:t>
            </a:r>
            <a:r>
              <a:rPr dirty="0" sz="2800" spc="30" b="1">
                <a:solidFill>
                  <a:srgbClr val="FF0000"/>
                </a:solidFill>
                <a:latin typeface="Microsoft JhengHei"/>
                <a:cs typeface="Microsoft JhengHei"/>
              </a:rPr>
              <a:t>双重否定律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2800" spc="20" b="1">
                <a:latin typeface="Cambria Math"/>
                <a:cs typeface="Cambria Math"/>
              </a:rPr>
              <a:t>⑬ </a:t>
            </a:r>
            <a:r>
              <a:rPr dirty="0" sz="2800" spc="25" b="1">
                <a:solidFill>
                  <a:srgbClr val="FF0000"/>
                </a:solidFill>
                <a:latin typeface="Microsoft JhengHei"/>
                <a:cs typeface="Microsoft JhengHei"/>
              </a:rPr>
              <a:t>补交转换律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227451" y="4555256"/>
            <a:ext cx="1772920" cy="121539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800" b="1">
                <a:latin typeface="Calibri"/>
                <a:cs typeface="Calibri"/>
              </a:rPr>
              <a:t>~(~A)</a:t>
            </a:r>
            <a:r>
              <a:rPr dirty="0" sz="2800" spc="3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-35" b="1">
                <a:latin typeface="Calibri"/>
                <a:cs typeface="Calibri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2800" b="1">
                <a:latin typeface="Calibri"/>
                <a:cs typeface="Calibri"/>
              </a:rPr>
              <a:t>A-B</a:t>
            </a:r>
            <a:r>
              <a:rPr dirty="0" sz="2800" spc="3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=</a:t>
            </a:r>
            <a:r>
              <a:rPr dirty="0" sz="2800" spc="-5" b="1">
                <a:latin typeface="Calibri"/>
                <a:cs typeface="Calibri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A</a:t>
            </a:r>
            <a:r>
              <a:rPr dirty="0" sz="2800" spc="-20" b="1">
                <a:latin typeface="Symbol"/>
                <a:cs typeface="Symbol"/>
              </a:rPr>
              <a:t></a:t>
            </a:r>
            <a:r>
              <a:rPr dirty="0" sz="2800" spc="-20" b="1">
                <a:latin typeface="Calibri"/>
                <a:cs typeface="Calibri"/>
              </a:rPr>
              <a:t>~B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3526" y="471551"/>
            <a:ext cx="45351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推</a:t>
            </a:r>
            <a:r>
              <a:rPr dirty="0"/>
              <a:t>广</a:t>
            </a:r>
            <a:r>
              <a:rPr dirty="0"/>
              <a:t>到</a:t>
            </a:r>
            <a:r>
              <a:rPr dirty="0"/>
              <a:t>集</a:t>
            </a:r>
            <a:r>
              <a:rPr dirty="0" spc="-25"/>
              <a:t>族的</a:t>
            </a:r>
            <a:r>
              <a:rPr dirty="0" spc="-50"/>
              <a:t>情</a:t>
            </a:r>
            <a:r>
              <a:rPr dirty="0" spc="-50"/>
              <a:t>况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0014">
              <a:lnSpc>
                <a:spcPts val="1260"/>
              </a:lnSpc>
            </a:pPr>
            <a:fld id="{81D60167-4931-47E6-BA6A-407CBD079E47}" type="slidenum">
              <a:rPr dirty="0" spc="1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11175" y="1575815"/>
            <a:ext cx="4919345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800" spc="65" b="1">
                <a:latin typeface="Microsoft JhengHei"/>
                <a:cs typeface="Microsoft JhengHei"/>
              </a:rPr>
              <a:t>设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{A</a:t>
            </a:r>
            <a:r>
              <a:rPr dirty="0" baseline="-19519" sz="2775" b="1">
                <a:solidFill>
                  <a:srgbClr val="006FC0"/>
                </a:solidFill>
                <a:latin typeface="Symbol"/>
                <a:cs typeface="Symbol"/>
              </a:rPr>
              <a:t>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baseline="-19519" sz="2775" b="1">
                <a:solidFill>
                  <a:srgbClr val="006FC0"/>
                </a:solidFill>
                <a:latin typeface="Symbol"/>
                <a:cs typeface="Symbol"/>
              </a:rPr>
              <a:t>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S</a:t>
            </a:r>
            <a:r>
              <a:rPr dirty="0" sz="2800" spc="15" b="1">
                <a:latin typeface="Microsoft JhengHei"/>
                <a:cs typeface="Microsoft JhengHei"/>
              </a:rPr>
              <a:t>为集族，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为一集合：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6575" y="2217229"/>
            <a:ext cx="1123950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50" b="1">
                <a:solidFill>
                  <a:srgbClr val="FF0000"/>
                </a:solidFill>
                <a:latin typeface="Microsoft JhengHei"/>
                <a:cs typeface="Microsoft JhengHei"/>
              </a:rPr>
              <a:t>分配律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6575" y="3498596"/>
            <a:ext cx="164592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德</a:t>
            </a:r>
            <a:r>
              <a:rPr dirty="0" sz="2800" spc="70" b="1">
                <a:solidFill>
                  <a:srgbClr val="FF0000"/>
                </a:solidFill>
                <a:latin typeface="Symbol"/>
                <a:cs typeface="Symbol"/>
              </a:rPr>
              <a:t></a:t>
            </a:r>
            <a:r>
              <a:rPr dirty="0" sz="2800" spc="5" b="1">
                <a:solidFill>
                  <a:srgbClr val="FF0000"/>
                </a:solidFill>
                <a:latin typeface="Microsoft JhengHei"/>
                <a:cs typeface="Microsoft JhengHei"/>
              </a:rPr>
              <a:t>摩根律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98382" y="2514742"/>
            <a:ext cx="4603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0" i="1">
                <a:latin typeface="Symbol"/>
                <a:cs typeface="Symbol"/>
              </a:rPr>
              <a:t></a:t>
            </a:r>
            <a:r>
              <a:rPr dirty="0" sz="1700" spc="40">
                <a:latin typeface="Symbol"/>
                <a:cs typeface="Symbol"/>
              </a:rPr>
              <a:t></a:t>
            </a:r>
            <a:r>
              <a:rPr dirty="0" sz="1700" spc="40" i="1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25176" y="2117840"/>
            <a:ext cx="4961890" cy="469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089910" algn="l"/>
              </a:tabLst>
            </a:pPr>
            <a:r>
              <a:rPr dirty="0" sz="2900" spc="120" i="1">
                <a:latin typeface="Times New Roman"/>
                <a:cs typeface="Times New Roman"/>
              </a:rPr>
              <a:t>B</a:t>
            </a:r>
            <a:r>
              <a:rPr dirty="0" sz="2900" spc="35" i="1">
                <a:latin typeface="Times New Roman"/>
                <a:cs typeface="Times New Roman"/>
              </a:rPr>
              <a:t> </a:t>
            </a:r>
            <a:r>
              <a:rPr dirty="0" sz="2900" spc="155">
                <a:latin typeface="Symbol"/>
                <a:cs typeface="Symbol"/>
              </a:rPr>
              <a:t>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</a:t>
            </a:r>
            <a:r>
              <a:rPr dirty="0" sz="2900">
                <a:latin typeface="MT Extra"/>
                <a:cs typeface="MT Extra"/>
              </a:rPr>
              <a:t></a:t>
            </a:r>
            <a:r>
              <a:rPr dirty="0" sz="2900">
                <a:latin typeface="Times New Roman"/>
                <a:cs typeface="Times New Roman"/>
              </a:rPr>
              <a:t>{</a:t>
            </a:r>
            <a:r>
              <a:rPr dirty="0" sz="2900" i="1">
                <a:latin typeface="Times New Roman"/>
                <a:cs typeface="Times New Roman"/>
              </a:rPr>
              <a:t>A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3148" sz="2700" spc="172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}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4509" sz="2550">
                <a:latin typeface="Symbol"/>
                <a:cs typeface="Symbol"/>
              </a:rPr>
              <a:t></a:t>
            </a:r>
            <a:r>
              <a:rPr dirty="0" baseline="-24509" sz="2550" i="1">
                <a:latin typeface="Times New Roman"/>
                <a:cs typeface="Times New Roman"/>
              </a:rPr>
              <a:t>S</a:t>
            </a:r>
            <a:r>
              <a:rPr dirty="0" baseline="-24509" sz="2550" spc="457" i="1">
                <a:latin typeface="Times New Roman"/>
                <a:cs typeface="Times New Roman"/>
              </a:rPr>
              <a:t> </a:t>
            </a:r>
            <a:r>
              <a:rPr dirty="0" sz="2900" spc="65">
                <a:latin typeface="Times New Roman"/>
                <a:cs typeface="Times New Roman"/>
              </a:rPr>
              <a:t>)</a:t>
            </a:r>
            <a:r>
              <a:rPr dirty="0" sz="2900" spc="225">
                <a:latin typeface="Times New Roman"/>
                <a:cs typeface="Times New Roman"/>
              </a:rPr>
              <a:t> </a:t>
            </a:r>
            <a:r>
              <a:rPr dirty="0" sz="2900" spc="60">
                <a:latin typeface="Symbol"/>
                <a:cs typeface="Symbol"/>
              </a:rPr>
              <a:t>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130">
                <a:latin typeface="MT Extra"/>
                <a:cs typeface="MT Extra"/>
              </a:rPr>
              <a:t></a:t>
            </a:r>
            <a:r>
              <a:rPr dirty="0" sz="2900" spc="40">
                <a:latin typeface="Times New Roman"/>
                <a:cs typeface="Times New Roman"/>
              </a:rPr>
              <a:t> </a:t>
            </a:r>
            <a:r>
              <a:rPr dirty="0" sz="2900" spc="195">
                <a:latin typeface="Times New Roman"/>
                <a:cs typeface="Times New Roman"/>
              </a:rPr>
              <a:t>(</a:t>
            </a:r>
            <a:r>
              <a:rPr dirty="0" sz="2900" spc="195" i="1">
                <a:latin typeface="Times New Roman"/>
                <a:cs typeface="Times New Roman"/>
              </a:rPr>
              <a:t>B</a:t>
            </a:r>
            <a:r>
              <a:rPr dirty="0" sz="2900" spc="-80" i="1">
                <a:latin typeface="Times New Roman"/>
                <a:cs typeface="Times New Roman"/>
              </a:rPr>
              <a:t> </a:t>
            </a:r>
            <a:r>
              <a:rPr dirty="0" sz="2900" spc="155">
                <a:latin typeface="Symbol"/>
                <a:cs typeface="Symbol"/>
              </a:rPr>
              <a:t></a:t>
            </a:r>
            <a:r>
              <a:rPr dirty="0" sz="2900" spc="120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A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3148" sz="2700" spc="322">
                <a:latin typeface="Times New Roman"/>
                <a:cs typeface="Times New Roman"/>
              </a:rPr>
              <a:t> </a:t>
            </a:r>
            <a:r>
              <a:rPr dirty="0" sz="2900" spc="15"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98382" y="3054238"/>
            <a:ext cx="4603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0" i="1">
                <a:latin typeface="Symbol"/>
                <a:cs typeface="Symbol"/>
              </a:rPr>
              <a:t></a:t>
            </a:r>
            <a:r>
              <a:rPr dirty="0" sz="1700" spc="40">
                <a:latin typeface="Symbol"/>
                <a:cs typeface="Symbol"/>
              </a:rPr>
              <a:t></a:t>
            </a:r>
            <a:r>
              <a:rPr dirty="0" sz="1700" spc="40" i="1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25176" y="2657336"/>
            <a:ext cx="4961890" cy="469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089910" algn="l"/>
              </a:tabLst>
            </a:pPr>
            <a:r>
              <a:rPr dirty="0" sz="2900" spc="120" i="1">
                <a:latin typeface="Times New Roman"/>
                <a:cs typeface="Times New Roman"/>
              </a:rPr>
              <a:t>B</a:t>
            </a:r>
            <a:r>
              <a:rPr dirty="0" sz="2900" spc="35" i="1">
                <a:latin typeface="Times New Roman"/>
                <a:cs typeface="Times New Roman"/>
              </a:rPr>
              <a:t> </a:t>
            </a:r>
            <a:r>
              <a:rPr dirty="0" sz="2900" spc="155">
                <a:latin typeface="Symbol"/>
                <a:cs typeface="Symbol"/>
              </a:rPr>
              <a:t></a:t>
            </a:r>
            <a:r>
              <a:rPr dirty="0" sz="2900" spc="-7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</a:t>
            </a:r>
            <a:r>
              <a:rPr dirty="0" sz="2900">
                <a:latin typeface="MT Extra"/>
                <a:cs typeface="MT Extra"/>
              </a:rPr>
              <a:t></a:t>
            </a:r>
            <a:r>
              <a:rPr dirty="0" sz="2900">
                <a:latin typeface="Times New Roman"/>
                <a:cs typeface="Times New Roman"/>
              </a:rPr>
              <a:t>{</a:t>
            </a:r>
            <a:r>
              <a:rPr dirty="0" sz="2900" i="1">
                <a:latin typeface="Times New Roman"/>
                <a:cs typeface="Times New Roman"/>
              </a:rPr>
              <a:t>A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3148" sz="2700" spc="172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}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4509" sz="2550">
                <a:latin typeface="Symbol"/>
                <a:cs typeface="Symbol"/>
              </a:rPr>
              <a:t></a:t>
            </a:r>
            <a:r>
              <a:rPr dirty="0" baseline="-24509" sz="2550" i="1">
                <a:latin typeface="Times New Roman"/>
                <a:cs typeface="Times New Roman"/>
              </a:rPr>
              <a:t>S</a:t>
            </a:r>
            <a:r>
              <a:rPr dirty="0" baseline="-24509" sz="2550" spc="457" i="1">
                <a:latin typeface="Times New Roman"/>
                <a:cs typeface="Times New Roman"/>
              </a:rPr>
              <a:t> </a:t>
            </a:r>
            <a:r>
              <a:rPr dirty="0" sz="2900" spc="65">
                <a:latin typeface="Times New Roman"/>
                <a:cs typeface="Times New Roman"/>
              </a:rPr>
              <a:t>)</a:t>
            </a:r>
            <a:r>
              <a:rPr dirty="0" sz="2900" spc="225">
                <a:latin typeface="Times New Roman"/>
                <a:cs typeface="Times New Roman"/>
              </a:rPr>
              <a:t> </a:t>
            </a:r>
            <a:r>
              <a:rPr dirty="0" sz="2900" spc="60">
                <a:latin typeface="Symbol"/>
                <a:cs typeface="Symbol"/>
              </a:rPr>
              <a:t>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130">
                <a:latin typeface="MT Extra"/>
                <a:cs typeface="MT Extra"/>
              </a:rPr>
              <a:t></a:t>
            </a:r>
            <a:r>
              <a:rPr dirty="0" sz="2900" spc="40">
                <a:latin typeface="Times New Roman"/>
                <a:cs typeface="Times New Roman"/>
              </a:rPr>
              <a:t> </a:t>
            </a:r>
            <a:r>
              <a:rPr dirty="0" sz="2900" spc="195">
                <a:latin typeface="Times New Roman"/>
                <a:cs typeface="Times New Roman"/>
              </a:rPr>
              <a:t>(</a:t>
            </a:r>
            <a:r>
              <a:rPr dirty="0" sz="2900" spc="195" i="1">
                <a:latin typeface="Times New Roman"/>
                <a:cs typeface="Times New Roman"/>
              </a:rPr>
              <a:t>B</a:t>
            </a:r>
            <a:r>
              <a:rPr dirty="0" sz="2900" spc="-80" i="1">
                <a:latin typeface="Times New Roman"/>
                <a:cs typeface="Times New Roman"/>
              </a:rPr>
              <a:t> </a:t>
            </a:r>
            <a:r>
              <a:rPr dirty="0" sz="2900" spc="155">
                <a:latin typeface="Symbol"/>
                <a:cs typeface="Symbol"/>
              </a:rPr>
              <a:t></a:t>
            </a:r>
            <a:r>
              <a:rPr dirty="0" sz="2900" spc="120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A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3148" sz="2700" spc="322">
                <a:latin typeface="Times New Roman"/>
                <a:cs typeface="Times New Roman"/>
              </a:rPr>
              <a:t> </a:t>
            </a:r>
            <a:r>
              <a:rPr dirty="0" sz="2900" spc="15"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12867" y="5578042"/>
            <a:ext cx="4603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0" i="1">
                <a:latin typeface="Symbol"/>
                <a:cs typeface="Symbol"/>
              </a:rPr>
              <a:t></a:t>
            </a:r>
            <a:r>
              <a:rPr dirty="0" sz="1700" spc="40">
                <a:latin typeface="Symbol"/>
                <a:cs typeface="Symbol"/>
              </a:rPr>
              <a:t></a:t>
            </a:r>
            <a:r>
              <a:rPr dirty="0" sz="1700" spc="40" i="1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116446" y="5181080"/>
            <a:ext cx="4808220" cy="469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013075" algn="l"/>
              </a:tabLst>
            </a:pPr>
            <a:r>
              <a:rPr dirty="0" sz="2900" spc="105" i="1">
                <a:latin typeface="Times New Roman"/>
                <a:cs typeface="Times New Roman"/>
              </a:rPr>
              <a:t>B</a:t>
            </a:r>
            <a:r>
              <a:rPr dirty="0" sz="2900" spc="80" i="1">
                <a:latin typeface="Times New Roman"/>
                <a:cs typeface="Times New Roman"/>
              </a:rPr>
              <a:t> </a:t>
            </a:r>
            <a:r>
              <a:rPr dirty="0" sz="2900" spc="95">
                <a:latin typeface="Symbol"/>
                <a:cs typeface="Symbol"/>
              </a:rPr>
              <a:t>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</a:t>
            </a:r>
            <a:r>
              <a:rPr dirty="0" sz="2900">
                <a:latin typeface="MT Extra"/>
                <a:cs typeface="MT Extra"/>
              </a:rPr>
              <a:t></a:t>
            </a:r>
            <a:r>
              <a:rPr dirty="0" sz="2900">
                <a:latin typeface="Times New Roman"/>
                <a:cs typeface="Times New Roman"/>
              </a:rPr>
              <a:t>{</a:t>
            </a:r>
            <a:r>
              <a:rPr dirty="0" sz="2900" i="1">
                <a:latin typeface="Times New Roman"/>
                <a:cs typeface="Times New Roman"/>
              </a:rPr>
              <a:t>A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3148" sz="2700" spc="1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}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4509" sz="2550">
                <a:latin typeface="Symbol"/>
                <a:cs typeface="Symbol"/>
              </a:rPr>
              <a:t></a:t>
            </a:r>
            <a:r>
              <a:rPr dirty="0" baseline="-24509" sz="2550" i="1">
                <a:latin typeface="Times New Roman"/>
                <a:cs typeface="Times New Roman"/>
              </a:rPr>
              <a:t>S</a:t>
            </a:r>
            <a:r>
              <a:rPr dirty="0" baseline="-24509" sz="2550" spc="434" i="1">
                <a:latin typeface="Times New Roman"/>
                <a:cs typeface="Times New Roman"/>
              </a:rPr>
              <a:t> </a:t>
            </a:r>
            <a:r>
              <a:rPr dirty="0" sz="2900" spc="55">
                <a:latin typeface="Times New Roman"/>
                <a:cs typeface="Times New Roman"/>
              </a:rPr>
              <a:t>)</a:t>
            </a:r>
            <a:r>
              <a:rPr dirty="0" sz="2900" spc="210">
                <a:latin typeface="Times New Roman"/>
                <a:cs typeface="Times New Roman"/>
              </a:rPr>
              <a:t> </a:t>
            </a:r>
            <a:r>
              <a:rPr dirty="0" sz="2900" spc="45">
                <a:latin typeface="Symbol"/>
                <a:cs typeface="Symbol"/>
              </a:rPr>
              <a:t>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110">
                <a:latin typeface="MT Extra"/>
                <a:cs typeface="MT Extra"/>
              </a:rPr>
              <a:t></a:t>
            </a:r>
            <a:r>
              <a:rPr dirty="0" sz="2900" spc="40">
                <a:latin typeface="Times New Roman"/>
                <a:cs typeface="Times New Roman"/>
              </a:rPr>
              <a:t> </a:t>
            </a:r>
            <a:r>
              <a:rPr dirty="0" sz="2900" spc="180">
                <a:latin typeface="Times New Roman"/>
                <a:cs typeface="Times New Roman"/>
              </a:rPr>
              <a:t>(</a:t>
            </a:r>
            <a:r>
              <a:rPr dirty="0" sz="2900" spc="180" i="1">
                <a:latin typeface="Times New Roman"/>
                <a:cs typeface="Times New Roman"/>
              </a:rPr>
              <a:t>B</a:t>
            </a:r>
            <a:r>
              <a:rPr dirty="0" sz="2900" spc="-30" i="1">
                <a:latin typeface="Times New Roman"/>
                <a:cs typeface="Times New Roman"/>
              </a:rPr>
              <a:t> </a:t>
            </a:r>
            <a:r>
              <a:rPr dirty="0" sz="2900" spc="95">
                <a:latin typeface="Symbol"/>
                <a:cs typeface="Symbol"/>
              </a:rPr>
              <a:t></a:t>
            </a:r>
            <a:r>
              <a:rPr dirty="0" sz="2900" spc="145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A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3148" sz="2700" spc="330">
                <a:latin typeface="Times New Roman"/>
                <a:cs typeface="Times New Roman"/>
              </a:rPr>
              <a:t> </a:t>
            </a:r>
            <a:r>
              <a:rPr dirty="0" sz="2900" spc="5"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031155" y="4965394"/>
            <a:ext cx="4603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0" i="1">
                <a:latin typeface="Symbol"/>
                <a:cs typeface="Symbol"/>
              </a:rPr>
              <a:t></a:t>
            </a:r>
            <a:r>
              <a:rPr dirty="0" sz="1700" spc="40">
                <a:latin typeface="Symbol"/>
                <a:cs typeface="Symbol"/>
              </a:rPr>
              <a:t></a:t>
            </a:r>
            <a:r>
              <a:rPr dirty="0" sz="1700" spc="40" i="1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134734" y="4568432"/>
            <a:ext cx="4808220" cy="469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013075" algn="l"/>
              </a:tabLst>
            </a:pPr>
            <a:r>
              <a:rPr dirty="0" sz="2900" spc="105" i="1">
                <a:latin typeface="Times New Roman"/>
                <a:cs typeface="Times New Roman"/>
              </a:rPr>
              <a:t>B</a:t>
            </a:r>
            <a:r>
              <a:rPr dirty="0" sz="2900" spc="80" i="1">
                <a:latin typeface="Times New Roman"/>
                <a:cs typeface="Times New Roman"/>
              </a:rPr>
              <a:t> </a:t>
            </a:r>
            <a:r>
              <a:rPr dirty="0" sz="2900" spc="95">
                <a:latin typeface="Symbol"/>
                <a:cs typeface="Symbol"/>
              </a:rPr>
              <a:t></a:t>
            </a:r>
            <a:r>
              <a:rPr dirty="0" sz="2900" spc="-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</a:t>
            </a:r>
            <a:r>
              <a:rPr dirty="0" sz="2900">
                <a:latin typeface="MT Extra"/>
                <a:cs typeface="MT Extra"/>
              </a:rPr>
              <a:t></a:t>
            </a:r>
            <a:r>
              <a:rPr dirty="0" sz="2900">
                <a:latin typeface="Times New Roman"/>
                <a:cs typeface="Times New Roman"/>
              </a:rPr>
              <a:t>{</a:t>
            </a:r>
            <a:r>
              <a:rPr dirty="0" sz="2900" i="1">
                <a:latin typeface="Times New Roman"/>
                <a:cs typeface="Times New Roman"/>
              </a:rPr>
              <a:t>A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3148" sz="2700" spc="150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}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4509" sz="2550">
                <a:latin typeface="Symbol"/>
                <a:cs typeface="Symbol"/>
              </a:rPr>
              <a:t></a:t>
            </a:r>
            <a:r>
              <a:rPr dirty="0" baseline="-24509" sz="2550" i="1">
                <a:latin typeface="Times New Roman"/>
                <a:cs typeface="Times New Roman"/>
              </a:rPr>
              <a:t>S</a:t>
            </a:r>
            <a:r>
              <a:rPr dirty="0" baseline="-24509" sz="2550" spc="434" i="1">
                <a:latin typeface="Times New Roman"/>
                <a:cs typeface="Times New Roman"/>
              </a:rPr>
              <a:t> </a:t>
            </a:r>
            <a:r>
              <a:rPr dirty="0" sz="2900" spc="55">
                <a:latin typeface="Times New Roman"/>
                <a:cs typeface="Times New Roman"/>
              </a:rPr>
              <a:t>)</a:t>
            </a:r>
            <a:r>
              <a:rPr dirty="0" sz="2900" spc="210">
                <a:latin typeface="Times New Roman"/>
                <a:cs typeface="Times New Roman"/>
              </a:rPr>
              <a:t> </a:t>
            </a:r>
            <a:r>
              <a:rPr dirty="0" sz="2900" spc="45">
                <a:latin typeface="Symbol"/>
                <a:cs typeface="Symbol"/>
              </a:rPr>
              <a:t>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110">
                <a:latin typeface="MT Extra"/>
                <a:cs typeface="MT Extra"/>
              </a:rPr>
              <a:t></a:t>
            </a:r>
            <a:r>
              <a:rPr dirty="0" sz="2900" spc="40">
                <a:latin typeface="Times New Roman"/>
                <a:cs typeface="Times New Roman"/>
              </a:rPr>
              <a:t> </a:t>
            </a:r>
            <a:r>
              <a:rPr dirty="0" sz="2900" spc="180">
                <a:latin typeface="Times New Roman"/>
                <a:cs typeface="Times New Roman"/>
              </a:rPr>
              <a:t>(</a:t>
            </a:r>
            <a:r>
              <a:rPr dirty="0" sz="2900" spc="180" i="1">
                <a:latin typeface="Times New Roman"/>
                <a:cs typeface="Times New Roman"/>
              </a:rPr>
              <a:t>B</a:t>
            </a:r>
            <a:r>
              <a:rPr dirty="0" sz="2900" spc="-30" i="1">
                <a:latin typeface="Times New Roman"/>
                <a:cs typeface="Times New Roman"/>
              </a:rPr>
              <a:t> </a:t>
            </a:r>
            <a:r>
              <a:rPr dirty="0" sz="2900" spc="95">
                <a:latin typeface="Symbol"/>
                <a:cs typeface="Symbol"/>
              </a:rPr>
              <a:t></a:t>
            </a:r>
            <a:r>
              <a:rPr dirty="0" sz="2900" spc="145">
                <a:latin typeface="Times New Roman"/>
                <a:cs typeface="Times New Roman"/>
              </a:rPr>
              <a:t> </a:t>
            </a:r>
            <a:r>
              <a:rPr dirty="0" sz="2900" i="1">
                <a:latin typeface="Times New Roman"/>
                <a:cs typeface="Times New Roman"/>
              </a:rPr>
              <a:t>A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3148" sz="2700" spc="330">
                <a:latin typeface="Times New Roman"/>
                <a:cs typeface="Times New Roman"/>
              </a:rPr>
              <a:t> </a:t>
            </a:r>
            <a:r>
              <a:rPr dirty="0" sz="2900" spc="5"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018889" y="3822194"/>
            <a:ext cx="4616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i="1">
                <a:latin typeface="Symbol"/>
                <a:cs typeface="Symbol"/>
              </a:rPr>
              <a:t></a:t>
            </a:r>
            <a:r>
              <a:rPr dirty="0" sz="1700" spc="50">
                <a:latin typeface="Symbol"/>
                <a:cs typeface="Symbol"/>
              </a:rPr>
              <a:t></a:t>
            </a:r>
            <a:r>
              <a:rPr dirty="0" sz="1700" spc="50" i="1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414924" y="3425432"/>
            <a:ext cx="4194810" cy="469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2720975" algn="l"/>
                <a:tab pos="3580129" algn="l"/>
              </a:tabLst>
            </a:pPr>
            <a:r>
              <a:rPr dirty="0" sz="2900" spc="105">
                <a:latin typeface="Times New Roman"/>
                <a:cs typeface="Times New Roman"/>
              </a:rPr>
              <a:t>~</a:t>
            </a:r>
            <a:r>
              <a:rPr dirty="0" sz="2900" spc="23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</a:t>
            </a:r>
            <a:r>
              <a:rPr dirty="0" sz="2900">
                <a:latin typeface="MT Extra"/>
                <a:cs typeface="MT Extra"/>
              </a:rPr>
              <a:t></a:t>
            </a:r>
            <a:r>
              <a:rPr dirty="0" sz="2900">
                <a:latin typeface="Times New Roman"/>
                <a:cs typeface="Times New Roman"/>
              </a:rPr>
              <a:t>{</a:t>
            </a:r>
            <a:r>
              <a:rPr dirty="0" sz="2900" i="1">
                <a:latin typeface="Times New Roman"/>
                <a:cs typeface="Times New Roman"/>
              </a:rPr>
              <a:t>A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3148" sz="2700" spc="127">
                <a:latin typeface="Times New Roman"/>
                <a:cs typeface="Times New Roman"/>
              </a:rPr>
              <a:t> </a:t>
            </a:r>
            <a:r>
              <a:rPr dirty="0" sz="2900" spc="50">
                <a:latin typeface="Times New Roman"/>
                <a:cs typeface="Times New Roman"/>
              </a:rPr>
              <a:t>}</a:t>
            </a:r>
            <a:r>
              <a:rPr dirty="0" baseline="-23148" sz="2700" spc="75" i="1">
                <a:latin typeface="Symbol"/>
                <a:cs typeface="Symbol"/>
              </a:rPr>
              <a:t></a:t>
            </a:r>
            <a:r>
              <a:rPr dirty="0" baseline="-24509" sz="2550" spc="75">
                <a:latin typeface="Symbol"/>
                <a:cs typeface="Symbol"/>
              </a:rPr>
              <a:t></a:t>
            </a:r>
            <a:r>
              <a:rPr dirty="0" baseline="-24509" sz="2550" spc="75" i="1">
                <a:latin typeface="Times New Roman"/>
                <a:cs typeface="Times New Roman"/>
              </a:rPr>
              <a:t>S</a:t>
            </a:r>
            <a:r>
              <a:rPr dirty="0" baseline="-24509" sz="2550" spc="405" i="1">
                <a:latin typeface="Times New Roman"/>
                <a:cs typeface="Times New Roman"/>
              </a:rPr>
              <a:t> </a:t>
            </a:r>
            <a:r>
              <a:rPr dirty="0" sz="2900" spc="65">
                <a:latin typeface="Times New Roman"/>
                <a:cs typeface="Times New Roman"/>
              </a:rPr>
              <a:t>)</a:t>
            </a:r>
            <a:r>
              <a:rPr dirty="0" sz="2900" spc="185">
                <a:latin typeface="Times New Roman"/>
                <a:cs typeface="Times New Roman"/>
              </a:rPr>
              <a:t> </a:t>
            </a:r>
            <a:r>
              <a:rPr dirty="0" sz="2900" spc="60">
                <a:latin typeface="Symbol"/>
                <a:cs typeface="Symbol"/>
              </a:rPr>
              <a:t>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130">
                <a:latin typeface="MT Extra"/>
                <a:cs typeface="MT Extra"/>
              </a:rPr>
              <a:t></a:t>
            </a:r>
            <a:r>
              <a:rPr dirty="0" sz="2900" spc="70">
                <a:latin typeface="Times New Roman"/>
                <a:cs typeface="Times New Roman"/>
              </a:rPr>
              <a:t> </a:t>
            </a:r>
            <a:r>
              <a:rPr dirty="0" sz="2900" spc="35">
                <a:latin typeface="Times New Roman"/>
                <a:cs typeface="Times New Roman"/>
              </a:rPr>
              <a:t>(~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i="1">
                <a:latin typeface="Times New Roman"/>
                <a:cs typeface="Times New Roman"/>
              </a:rPr>
              <a:t>A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3148" sz="2700" spc="179">
                <a:latin typeface="Times New Roman"/>
                <a:cs typeface="Times New Roman"/>
              </a:rPr>
              <a:t> </a:t>
            </a:r>
            <a:r>
              <a:rPr dirty="0" sz="2900" spc="15"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004045" y="4352602"/>
            <a:ext cx="46100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5" i="1">
                <a:latin typeface="Symbol"/>
                <a:cs typeface="Symbol"/>
              </a:rPr>
              <a:t></a:t>
            </a:r>
            <a:r>
              <a:rPr dirty="0" sz="1700" spc="35">
                <a:latin typeface="Symbol"/>
                <a:cs typeface="Symbol"/>
              </a:rPr>
              <a:t></a:t>
            </a:r>
            <a:r>
              <a:rPr dirty="0" sz="1700" spc="35" i="1">
                <a:latin typeface="Times New Roman"/>
                <a:cs typeface="Times New Roman"/>
              </a:rPr>
              <a:t>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405649" y="3955784"/>
            <a:ext cx="4185920" cy="469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2714625" algn="l"/>
                <a:tab pos="3572510" algn="l"/>
              </a:tabLst>
            </a:pPr>
            <a:r>
              <a:rPr dirty="0" sz="2900" spc="105">
                <a:latin typeface="Times New Roman"/>
                <a:cs typeface="Times New Roman"/>
              </a:rPr>
              <a:t>~</a:t>
            </a:r>
            <a:r>
              <a:rPr dirty="0" sz="2900" spc="28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(</a:t>
            </a:r>
            <a:r>
              <a:rPr dirty="0" sz="2900">
                <a:latin typeface="MT Extra"/>
                <a:cs typeface="MT Extra"/>
              </a:rPr>
              <a:t></a:t>
            </a:r>
            <a:r>
              <a:rPr dirty="0" sz="2900">
                <a:latin typeface="Times New Roman"/>
                <a:cs typeface="Times New Roman"/>
              </a:rPr>
              <a:t>{</a:t>
            </a:r>
            <a:r>
              <a:rPr dirty="0" sz="2900" i="1">
                <a:latin typeface="Times New Roman"/>
                <a:cs typeface="Times New Roman"/>
              </a:rPr>
              <a:t>A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3148" sz="2700" spc="165">
                <a:latin typeface="Times New Roman"/>
                <a:cs typeface="Times New Roman"/>
              </a:rPr>
              <a:t> </a:t>
            </a:r>
            <a:r>
              <a:rPr dirty="0" sz="2900">
                <a:latin typeface="Times New Roman"/>
                <a:cs typeface="Times New Roman"/>
              </a:rPr>
              <a:t>}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4509" sz="2550">
                <a:latin typeface="Symbol"/>
                <a:cs typeface="Symbol"/>
              </a:rPr>
              <a:t></a:t>
            </a:r>
            <a:r>
              <a:rPr dirty="0" baseline="-24509" sz="2550" i="1">
                <a:latin typeface="Times New Roman"/>
                <a:cs typeface="Times New Roman"/>
              </a:rPr>
              <a:t>S</a:t>
            </a:r>
            <a:r>
              <a:rPr dirty="0" baseline="-24509" sz="2550" spc="457" i="1">
                <a:latin typeface="Times New Roman"/>
                <a:cs typeface="Times New Roman"/>
              </a:rPr>
              <a:t> </a:t>
            </a:r>
            <a:r>
              <a:rPr dirty="0" sz="2900" spc="65">
                <a:latin typeface="Times New Roman"/>
                <a:cs typeface="Times New Roman"/>
              </a:rPr>
              <a:t>)</a:t>
            </a:r>
            <a:r>
              <a:rPr dirty="0" sz="2900" spc="229">
                <a:latin typeface="Times New Roman"/>
                <a:cs typeface="Times New Roman"/>
              </a:rPr>
              <a:t> </a:t>
            </a:r>
            <a:r>
              <a:rPr dirty="0" sz="2900" spc="60">
                <a:latin typeface="Symbol"/>
                <a:cs typeface="Symbol"/>
              </a:rPr>
              <a:t>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spc="130">
                <a:latin typeface="MT Extra"/>
                <a:cs typeface="MT Extra"/>
              </a:rPr>
              <a:t></a:t>
            </a:r>
            <a:r>
              <a:rPr dirty="0" sz="2900" spc="70">
                <a:latin typeface="Times New Roman"/>
                <a:cs typeface="Times New Roman"/>
              </a:rPr>
              <a:t> </a:t>
            </a:r>
            <a:r>
              <a:rPr dirty="0" sz="2900" spc="35">
                <a:latin typeface="Times New Roman"/>
                <a:cs typeface="Times New Roman"/>
              </a:rPr>
              <a:t>(~</a:t>
            </a:r>
            <a:r>
              <a:rPr dirty="0" sz="2900">
                <a:latin typeface="Times New Roman"/>
                <a:cs typeface="Times New Roman"/>
              </a:rPr>
              <a:t>	</a:t>
            </a:r>
            <a:r>
              <a:rPr dirty="0" sz="2900" i="1">
                <a:latin typeface="Times New Roman"/>
                <a:cs typeface="Times New Roman"/>
              </a:rPr>
              <a:t>A</a:t>
            </a:r>
            <a:r>
              <a:rPr dirty="0" baseline="-23148" sz="2700" i="1">
                <a:latin typeface="Symbol"/>
                <a:cs typeface="Symbol"/>
              </a:rPr>
              <a:t></a:t>
            </a:r>
            <a:r>
              <a:rPr dirty="0" baseline="-23148" sz="2700" spc="157">
                <a:latin typeface="Times New Roman"/>
                <a:cs typeface="Times New Roman"/>
              </a:rPr>
              <a:t> </a:t>
            </a:r>
            <a:r>
              <a:rPr dirty="0" sz="2900" spc="15">
                <a:latin typeface="Times New Roman"/>
                <a:cs typeface="Times New Roman"/>
              </a:rPr>
              <a:t>)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670050">
              <a:lnSpc>
                <a:spcPct val="100000"/>
              </a:lnSpc>
              <a:spcBef>
                <a:spcPts val="95"/>
              </a:spcBef>
            </a:pPr>
            <a:r>
              <a:rPr dirty="0"/>
              <a:t>例</a:t>
            </a:r>
            <a:r>
              <a:rPr dirty="0" spc="-25">
                <a:latin typeface="Calibri"/>
                <a:cs typeface="Calibri"/>
              </a:rPr>
              <a:t>1.3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0014">
              <a:lnSpc>
                <a:spcPts val="1260"/>
              </a:lnSpc>
            </a:pPr>
            <a:fld id="{81D60167-4931-47E6-BA6A-407CBD079E47}" type="slidenum">
              <a:rPr dirty="0" spc="1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50493"/>
            <a:ext cx="5848350" cy="2590165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0"/>
              </a:spcBef>
            </a:pPr>
            <a:r>
              <a:rPr dirty="0" sz="2800" b="1">
                <a:latin typeface="Microsoft JhengHei"/>
                <a:cs typeface="Microsoft JhengHei"/>
              </a:rPr>
              <a:t>由定义证明下面的恒等式：</a:t>
            </a:r>
            <a:endParaRPr sz="2800">
              <a:latin typeface="Microsoft JhengHei"/>
              <a:cs typeface="Microsoft JhengHei"/>
            </a:endParaRPr>
          </a:p>
          <a:p>
            <a:pPr marL="497205" indent="-485140">
              <a:lnSpc>
                <a:spcPct val="100000"/>
              </a:lnSpc>
              <a:spcBef>
                <a:spcPts val="1685"/>
              </a:spcBef>
              <a:buFont typeface="Calibri"/>
              <a:buAutoNum type="arabicParenBoth"/>
              <a:tabLst>
                <a:tab pos="497840" algn="l"/>
              </a:tabLst>
            </a:pPr>
            <a:r>
              <a:rPr dirty="0" sz="2800" spc="-10" b="1">
                <a:latin typeface="Microsoft JhengHei"/>
                <a:cs typeface="Microsoft JhengHei"/>
              </a:rPr>
              <a:t>分配律：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(B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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C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) = (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B)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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(A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497205" indent="-485140">
              <a:lnSpc>
                <a:spcPct val="100000"/>
              </a:lnSpc>
              <a:spcBef>
                <a:spcPts val="1690"/>
              </a:spcBef>
              <a:buFont typeface="Calibri"/>
              <a:buAutoNum type="arabicParenBoth"/>
              <a:tabLst>
                <a:tab pos="497840" algn="l"/>
                <a:tab pos="1971039" algn="l"/>
              </a:tabLst>
            </a:pPr>
            <a:r>
              <a:rPr dirty="0" sz="2800" spc="70" b="1">
                <a:latin typeface="Microsoft JhengHei"/>
                <a:cs typeface="Microsoft JhengHei"/>
              </a:rPr>
              <a:t>零律</a:t>
            </a:r>
            <a:r>
              <a:rPr dirty="0" sz="2800" spc="-50" b="1">
                <a:latin typeface="Microsoft JhengHei"/>
                <a:cs typeface="Microsoft JhengHei"/>
              </a:rPr>
              <a:t>：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</a:t>
            </a:r>
            <a:r>
              <a:rPr dirty="0" sz="2800" spc="-9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dirty="0" sz="2800" spc="3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-5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endParaRPr sz="2800">
              <a:latin typeface="Symbol"/>
              <a:cs typeface="Symbol"/>
            </a:endParaRPr>
          </a:p>
          <a:p>
            <a:pPr marL="497205" indent="-485140">
              <a:lnSpc>
                <a:spcPct val="100000"/>
              </a:lnSpc>
              <a:spcBef>
                <a:spcPts val="1685"/>
              </a:spcBef>
              <a:buFont typeface="Calibri"/>
              <a:buAutoNum type="arabicParenBoth"/>
              <a:tabLst>
                <a:tab pos="497840" algn="l"/>
              </a:tabLst>
            </a:pPr>
            <a:r>
              <a:rPr dirty="0" sz="2800" spc="-15" b="1">
                <a:latin typeface="Microsoft JhengHei"/>
                <a:cs typeface="Microsoft JhengHei"/>
              </a:rPr>
              <a:t>排中律：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~A</a:t>
            </a:r>
            <a:r>
              <a:rPr dirty="0" sz="2800" spc="-5" b="1">
                <a:solidFill>
                  <a:srgbClr val="006FC0"/>
                </a:solidFill>
                <a:latin typeface="Calibri"/>
                <a:cs typeface="Calibri"/>
              </a:rPr>
              <a:t> = 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746753" y="6434137"/>
            <a:ext cx="165544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90" b="1">
                <a:solidFill>
                  <a:srgbClr val="888888"/>
                </a:solidFill>
                <a:latin typeface="Microsoft JhengHei"/>
                <a:cs typeface="Microsoft JhengHei"/>
              </a:rPr>
              <a:t>《</a:t>
            </a:r>
            <a:r>
              <a:rPr dirty="0" sz="1200" spc="90" b="1">
                <a:solidFill>
                  <a:srgbClr val="888888"/>
                </a:solidFill>
                <a:latin typeface="Microsoft JhengHei"/>
                <a:cs typeface="Microsoft JhengHei"/>
              </a:rPr>
              <a:t>集</a:t>
            </a:r>
            <a:r>
              <a:rPr dirty="0" sz="1200" b="1">
                <a:solidFill>
                  <a:srgbClr val="888888"/>
                </a:solidFill>
                <a:latin typeface="Microsoft JhengHei"/>
                <a:cs typeface="Microsoft JhengHei"/>
              </a:rPr>
              <a:t>合</a:t>
            </a:r>
            <a:r>
              <a:rPr dirty="0" sz="1200" b="1">
                <a:solidFill>
                  <a:srgbClr val="888888"/>
                </a:solidFill>
                <a:latin typeface="Microsoft JhengHei"/>
                <a:cs typeface="Microsoft JhengHei"/>
              </a:rPr>
              <a:t>论</a:t>
            </a:r>
            <a:r>
              <a:rPr dirty="0" sz="1200" spc="-60" b="1">
                <a:solidFill>
                  <a:srgbClr val="888888"/>
                </a:solidFill>
                <a:latin typeface="Microsoft JhengHei"/>
                <a:cs typeface="Microsoft JhengHei"/>
              </a:rPr>
              <a:t>与</a:t>
            </a:r>
            <a:r>
              <a:rPr dirty="0" sz="1200" b="1">
                <a:solidFill>
                  <a:srgbClr val="888888"/>
                </a:solidFill>
                <a:latin typeface="Microsoft JhengHei"/>
                <a:cs typeface="Microsoft JhengHei"/>
              </a:rPr>
              <a:t>图</a:t>
            </a:r>
            <a:r>
              <a:rPr dirty="0" sz="1200" b="1">
                <a:solidFill>
                  <a:srgbClr val="888888"/>
                </a:solidFill>
                <a:latin typeface="Microsoft JhengHei"/>
                <a:cs typeface="Microsoft JhengHei"/>
              </a:rPr>
              <a:t>论</a:t>
            </a:r>
            <a:r>
              <a:rPr dirty="0" sz="1200" spc="-30" b="1">
                <a:solidFill>
                  <a:srgbClr val="888888"/>
                </a:solidFill>
                <a:latin typeface="Microsoft JhengHei"/>
                <a:cs typeface="Microsoft JhengHei"/>
              </a:rPr>
              <a:t>》第</a:t>
            </a:r>
            <a:r>
              <a:rPr dirty="0" sz="1200" spc="-45" b="1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r>
              <a:rPr dirty="0" sz="1200" spc="-60" b="1">
                <a:solidFill>
                  <a:srgbClr val="888888"/>
                </a:solidFill>
                <a:latin typeface="Microsoft JhengHei"/>
                <a:cs typeface="Microsoft JhengHei"/>
              </a:rPr>
              <a:t>讲</a:t>
            </a:r>
            <a:endParaRPr sz="1200">
              <a:latin typeface="Microsoft JhengHei"/>
              <a:cs typeface="Microsoft JhengHe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505697" y="6434137"/>
            <a:ext cx="104775" cy="2127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spc="10" b="1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1945" y="471551"/>
            <a:ext cx="340995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分</a:t>
            </a:r>
            <a:r>
              <a:rPr dirty="0"/>
              <a:t>配</a:t>
            </a:r>
            <a:r>
              <a:rPr dirty="0"/>
              <a:t>律</a:t>
            </a:r>
            <a:r>
              <a:rPr dirty="0"/>
              <a:t>的</a:t>
            </a:r>
            <a:r>
              <a:rPr dirty="0" spc="-50"/>
              <a:t>证</a:t>
            </a:r>
            <a:r>
              <a:rPr dirty="0" spc="-50"/>
              <a:t>明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36575" y="1550493"/>
            <a:ext cx="6844665" cy="4512945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0"/>
              </a:spcBef>
              <a:tabLst>
                <a:tab pos="579755" algn="l"/>
              </a:tabLst>
            </a:pPr>
            <a:r>
              <a:rPr dirty="0" sz="2800" spc="-25" b="1">
                <a:latin typeface="Calibri"/>
                <a:cs typeface="Calibri"/>
              </a:rPr>
              <a:t>(1)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spc="30" b="1">
                <a:latin typeface="Microsoft JhengHei"/>
                <a:cs typeface="Microsoft JhengHei"/>
              </a:rPr>
              <a:t>对于任意的</a:t>
            </a:r>
            <a:r>
              <a:rPr dirty="0" sz="2800" spc="-25" b="1">
                <a:latin typeface="Calibri"/>
                <a:cs typeface="Calibri"/>
              </a:rPr>
              <a:t>x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marL="497205">
              <a:lnSpc>
                <a:spcPct val="100000"/>
              </a:lnSpc>
              <a:spcBef>
                <a:spcPts val="1685"/>
              </a:spcBef>
            </a:pPr>
            <a:r>
              <a:rPr dirty="0" sz="2800" spc="-10" b="1">
                <a:latin typeface="Calibri"/>
                <a:cs typeface="Calibri"/>
              </a:rPr>
              <a:t>x</a:t>
            </a:r>
            <a:r>
              <a:rPr dirty="0" sz="2800" spc="-10" b="1">
                <a:latin typeface="Symbol"/>
                <a:cs typeface="Symbol"/>
              </a:rPr>
              <a:t>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</a:t>
            </a:r>
            <a:r>
              <a:rPr dirty="0" sz="2800" spc="-10" b="1">
                <a:latin typeface="Calibri"/>
                <a:cs typeface="Calibri"/>
              </a:rPr>
              <a:t>(B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90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1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(B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spc="-25" b="1">
                <a:latin typeface="Symbol"/>
                <a:cs typeface="Symbol"/>
              </a:rPr>
              <a:t></a:t>
            </a:r>
            <a:r>
              <a:rPr dirty="0" sz="2800" spc="-25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(x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B</a:t>
            </a:r>
            <a:r>
              <a:rPr dirty="0" sz="2800" spc="-9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x</a:t>
            </a:r>
            <a:r>
              <a:rPr dirty="0" sz="2800" spc="-20" b="1">
                <a:latin typeface="Symbol"/>
                <a:cs typeface="Symbol"/>
              </a:rPr>
              <a:t></a:t>
            </a:r>
            <a:r>
              <a:rPr dirty="0" sz="2800" spc="-20" b="1"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(x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b="1">
                <a:latin typeface="Calibri"/>
                <a:cs typeface="Calibri"/>
              </a:rPr>
              <a:t>(x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C</a:t>
            </a:r>
            <a:r>
              <a:rPr dirty="0" sz="2800" spc="-55" b="1">
                <a:latin typeface="Calibri"/>
                <a:cs typeface="Calibri"/>
              </a:rPr>
              <a:t>) (</a:t>
            </a:r>
            <a:r>
              <a:rPr dirty="0" sz="2800" spc="-80" b="1">
                <a:solidFill>
                  <a:srgbClr val="CC0000"/>
                </a:solidFill>
                <a:latin typeface="Microsoft JhengHei"/>
                <a:cs typeface="Microsoft JhengHei"/>
              </a:rPr>
              <a:t>命题逻辑分配律</a:t>
            </a:r>
            <a:r>
              <a:rPr dirty="0" sz="2800" spc="-5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50200"/>
              </a:lnSpc>
              <a:tabLst>
                <a:tab pos="3490595" algn="l"/>
                <a:tab pos="5320665" algn="l"/>
              </a:tabLst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x</a:t>
            </a:r>
            <a:r>
              <a:rPr dirty="0" sz="2800" spc="-10" b="1">
                <a:latin typeface="Symbol"/>
                <a:cs typeface="Symbol"/>
              </a:rPr>
              <a:t>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</a:t>
            </a:r>
            <a:r>
              <a:rPr dirty="0" sz="2800" spc="-10" b="1">
                <a:latin typeface="Calibri"/>
                <a:cs typeface="Calibri"/>
              </a:rPr>
              <a:t>B)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x</a:t>
            </a:r>
            <a:r>
              <a:rPr dirty="0" sz="2800" spc="-10" b="1">
                <a:latin typeface="Symbol"/>
                <a:cs typeface="Symbol"/>
              </a:rPr>
              <a:t>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</a:t>
            </a:r>
            <a:r>
              <a:rPr dirty="0" sz="2800" spc="-10" b="1">
                <a:latin typeface="Calibri"/>
                <a:cs typeface="Calibri"/>
              </a:rPr>
              <a:t>C)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x</a:t>
            </a:r>
            <a:r>
              <a:rPr dirty="0" sz="2800" spc="-10" b="1">
                <a:latin typeface="Symbol"/>
                <a:cs typeface="Symbol"/>
              </a:rPr>
              <a:t>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</a:t>
            </a:r>
            <a:r>
              <a:rPr dirty="0" sz="2800" spc="-10" b="1">
                <a:latin typeface="Calibri"/>
                <a:cs typeface="Calibri"/>
              </a:rPr>
              <a:t>B)</a:t>
            </a:r>
            <a:r>
              <a:rPr dirty="0" sz="2800" spc="-10" b="1">
                <a:latin typeface="Symbol"/>
                <a:cs typeface="Symbol"/>
              </a:rPr>
              <a:t></a:t>
            </a:r>
            <a:r>
              <a:rPr dirty="0" sz="2800" spc="-10" b="1">
                <a:latin typeface="Calibri"/>
                <a:cs typeface="Calibri"/>
              </a:rPr>
              <a:t>(A</a:t>
            </a:r>
            <a:r>
              <a:rPr dirty="0" sz="2800" spc="-10" b="1">
                <a:latin typeface="Symbol"/>
                <a:cs typeface="Symbol"/>
              </a:rPr>
              <a:t></a:t>
            </a:r>
            <a:r>
              <a:rPr dirty="0" sz="2800" spc="-10" b="1">
                <a:latin typeface="Calibri"/>
                <a:cs typeface="Calibri"/>
              </a:rPr>
              <a:t>C)</a:t>
            </a:r>
            <a:r>
              <a:rPr dirty="0" sz="2800" spc="-10" b="1">
                <a:latin typeface="Microsoft JhengHei"/>
                <a:cs typeface="Microsoft JhengHei"/>
              </a:rPr>
              <a:t>，</a:t>
            </a:r>
            <a:r>
              <a:rPr dirty="0" sz="2800" spc="70" b="1">
                <a:latin typeface="Microsoft JhengHei"/>
                <a:cs typeface="Microsoft JhengHei"/>
              </a:rPr>
              <a:t>因而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(B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C)=(A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B)</a:t>
            </a:r>
            <a:r>
              <a:rPr dirty="0" sz="2800" b="1">
                <a:latin typeface="Symbol"/>
                <a:cs typeface="Symbol"/>
              </a:rPr>
              <a:t></a:t>
            </a:r>
            <a:r>
              <a:rPr dirty="0" sz="2800" b="1">
                <a:latin typeface="Calibri"/>
                <a:cs typeface="Calibri"/>
              </a:rPr>
              <a:t>(A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C)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-50" b="1">
                <a:latin typeface="Symbol"/>
                <a:cs typeface="Symbol"/>
              </a:rPr>
              <a:t></a:t>
            </a:r>
            <a:endParaRPr sz="28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5789" y="471551"/>
            <a:ext cx="286321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零</a:t>
            </a:r>
            <a:r>
              <a:rPr dirty="0"/>
              <a:t>律</a:t>
            </a:r>
            <a:r>
              <a:rPr dirty="0"/>
              <a:t>的</a:t>
            </a:r>
            <a:r>
              <a:rPr dirty="0"/>
              <a:t>证</a:t>
            </a:r>
            <a:r>
              <a:rPr dirty="0" spc="-50"/>
              <a:t>明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520313" y="4327271"/>
            <a:ext cx="2425065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15" b="1">
                <a:latin typeface="Calibri"/>
                <a:cs typeface="Calibri"/>
              </a:rPr>
              <a:t>(</a:t>
            </a:r>
            <a:r>
              <a:rPr dirty="0" sz="2800" spc="40" b="1">
                <a:latin typeface="Microsoft JhengHei"/>
                <a:cs typeface="Microsoft JhengHei"/>
              </a:rPr>
              <a:t>命题逻辑零律</a:t>
            </a:r>
            <a:r>
              <a:rPr dirty="0" sz="2800" spc="-5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6575" y="1550493"/>
            <a:ext cx="2927350" cy="3872229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0"/>
              </a:spcBef>
              <a:tabLst>
                <a:tab pos="579755" algn="l"/>
              </a:tabLst>
            </a:pPr>
            <a:r>
              <a:rPr dirty="0" sz="2800" spc="-25" b="1">
                <a:latin typeface="Calibri"/>
                <a:cs typeface="Calibri"/>
              </a:rPr>
              <a:t>(2)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spc="35" b="1">
                <a:latin typeface="Microsoft JhengHei"/>
                <a:cs typeface="Microsoft JhengHei"/>
              </a:rPr>
              <a:t>对于任意的</a:t>
            </a:r>
            <a:r>
              <a:rPr dirty="0" sz="2800" spc="-25" b="1">
                <a:latin typeface="Calibri"/>
                <a:cs typeface="Calibri"/>
              </a:rPr>
              <a:t>x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algn="ctr" marL="604520">
              <a:lnSpc>
                <a:spcPct val="100000"/>
              </a:lnSpc>
              <a:spcBef>
                <a:spcPts val="1685"/>
              </a:spcBef>
            </a:pPr>
            <a:r>
              <a:rPr dirty="0" sz="2800" spc="40" b="1">
                <a:latin typeface="Calibri"/>
                <a:cs typeface="Calibri"/>
              </a:rPr>
              <a:t>x</a:t>
            </a:r>
            <a:r>
              <a:rPr dirty="0" sz="2800" spc="40" b="1">
                <a:latin typeface="Symbol"/>
                <a:cs typeface="Symbol"/>
              </a:rPr>
              <a:t></a:t>
            </a:r>
            <a:r>
              <a:rPr dirty="0" sz="2800" spc="40" b="1">
                <a:latin typeface="Calibri"/>
                <a:cs typeface="Calibri"/>
              </a:rPr>
              <a:t>A</a:t>
            </a:r>
            <a:r>
              <a:rPr dirty="0" sz="2800" spc="40" b="1">
                <a:latin typeface="Symbol"/>
                <a:cs typeface="Symbol"/>
              </a:rPr>
              <a:t></a:t>
            </a:r>
            <a:endParaRPr sz="2800">
              <a:latin typeface="Symbol"/>
              <a:cs typeface="Symbol"/>
            </a:endParaRPr>
          </a:p>
          <a:p>
            <a:pPr algn="ctr" marL="586105">
              <a:lnSpc>
                <a:spcPct val="100000"/>
              </a:lnSpc>
              <a:spcBef>
                <a:spcPts val="1690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x</a:t>
            </a:r>
            <a:r>
              <a:rPr dirty="0" sz="2800" spc="-25" b="1">
                <a:latin typeface="Symbol"/>
                <a:cs typeface="Symbol"/>
              </a:rPr>
              <a:t></a:t>
            </a:r>
            <a:endParaRPr sz="2800">
              <a:latin typeface="Symbol"/>
              <a:cs typeface="Symbol"/>
            </a:endParaRPr>
          </a:p>
          <a:p>
            <a:pPr marL="662305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80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662305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105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662305">
              <a:lnSpc>
                <a:spcPct val="100000"/>
              </a:lnSpc>
              <a:spcBef>
                <a:spcPts val="1690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110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x</a:t>
            </a:r>
            <a:r>
              <a:rPr dirty="0" sz="2800" spc="-20" b="1">
                <a:latin typeface="Symbol"/>
                <a:cs typeface="Symbol"/>
              </a:rPr>
              <a:t></a:t>
            </a:r>
            <a:r>
              <a:rPr dirty="0" sz="2800" spc="-20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6575" y="5609602"/>
            <a:ext cx="3260090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15" b="1">
                <a:latin typeface="Microsoft JhengHei"/>
                <a:cs typeface="Microsoft JhengHei"/>
              </a:rPr>
              <a:t>因而， 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</a:t>
            </a:r>
            <a:r>
              <a:rPr dirty="0" sz="2800" spc="-185">
                <a:latin typeface="Times New Roman"/>
                <a:cs typeface="Times New Roman"/>
              </a:rPr>
              <a:t> </a:t>
            </a:r>
            <a:r>
              <a:rPr dirty="0" sz="2800" spc="40" b="1">
                <a:latin typeface="Calibri"/>
                <a:cs typeface="Calibri"/>
              </a:rPr>
              <a:t>= </a:t>
            </a:r>
            <a:r>
              <a:rPr dirty="0" sz="2800" b="1">
                <a:latin typeface="Symbol"/>
                <a:cs typeface="Symbol"/>
              </a:rPr>
              <a:t>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70" b="1">
                <a:latin typeface="Microsoft JhengHei"/>
                <a:cs typeface="Microsoft JhengHei"/>
              </a:rPr>
              <a:t>。</a:t>
            </a:r>
            <a:r>
              <a:rPr dirty="0" sz="2800" spc="-1105" b="1">
                <a:latin typeface="Symbol"/>
                <a:cs typeface="Symbol"/>
              </a:rPr>
              <a:t></a:t>
            </a:r>
            <a:endParaRPr sz="28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1945" y="471551"/>
            <a:ext cx="340995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排</a:t>
            </a:r>
            <a:r>
              <a:rPr dirty="0"/>
              <a:t>中</a:t>
            </a:r>
            <a:r>
              <a:rPr dirty="0"/>
              <a:t>律</a:t>
            </a:r>
            <a:r>
              <a:rPr dirty="0"/>
              <a:t>的</a:t>
            </a:r>
            <a:r>
              <a:rPr dirty="0" spc="-50"/>
              <a:t>证</a:t>
            </a:r>
            <a:r>
              <a:rPr dirty="0" spc="-50"/>
              <a:t>明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50493"/>
            <a:ext cx="5612765" cy="4512945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0"/>
              </a:spcBef>
              <a:tabLst>
                <a:tab pos="579755" algn="l"/>
              </a:tabLst>
            </a:pPr>
            <a:r>
              <a:rPr dirty="0" sz="2800" spc="-25" b="1">
                <a:latin typeface="Calibri"/>
                <a:cs typeface="Calibri"/>
              </a:rPr>
              <a:t>(3)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spc="35" b="1">
                <a:latin typeface="Microsoft JhengHei"/>
                <a:cs typeface="Microsoft JhengHei"/>
              </a:rPr>
              <a:t>对于任意的</a:t>
            </a:r>
            <a:r>
              <a:rPr dirty="0" sz="2800" spc="-25" b="1">
                <a:latin typeface="Calibri"/>
                <a:cs typeface="Calibri"/>
              </a:rPr>
              <a:t>x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marL="1147445">
              <a:lnSpc>
                <a:spcPct val="100000"/>
              </a:lnSpc>
              <a:spcBef>
                <a:spcPts val="1685"/>
              </a:spcBef>
            </a:pPr>
            <a:r>
              <a:rPr dirty="0" sz="2800" spc="-10" b="1">
                <a:latin typeface="Calibri"/>
                <a:cs typeface="Calibri"/>
              </a:rPr>
              <a:t>x</a:t>
            </a:r>
            <a:r>
              <a:rPr dirty="0" sz="2800" spc="-10" b="1">
                <a:latin typeface="Symbol"/>
                <a:cs typeface="Symbol"/>
              </a:rPr>
              <a:t></a:t>
            </a:r>
            <a:r>
              <a:rPr dirty="0" sz="2800" spc="-10" b="1">
                <a:latin typeface="Calibri"/>
                <a:cs typeface="Calibri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</a:t>
            </a:r>
            <a:r>
              <a:rPr dirty="0" sz="2800" spc="-10" b="1">
                <a:latin typeface="Calibri"/>
                <a:cs typeface="Calibri"/>
              </a:rPr>
              <a:t>~A</a:t>
            </a:r>
            <a:endParaRPr sz="2800">
              <a:latin typeface="Calibri"/>
              <a:cs typeface="Calibri"/>
            </a:endParaRPr>
          </a:p>
          <a:p>
            <a:pPr marL="662305">
              <a:lnSpc>
                <a:spcPct val="100000"/>
              </a:lnSpc>
              <a:spcBef>
                <a:spcPts val="1690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75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x</a:t>
            </a:r>
            <a:r>
              <a:rPr dirty="0" sz="2800" spc="-20" b="1">
                <a:latin typeface="Symbol"/>
                <a:cs typeface="Symbol"/>
              </a:rPr>
              <a:t></a:t>
            </a:r>
            <a:r>
              <a:rPr dirty="0" sz="2800" spc="-20" b="1">
                <a:latin typeface="Calibri"/>
                <a:cs typeface="Calibri"/>
              </a:rPr>
              <a:t>~A</a:t>
            </a:r>
            <a:endParaRPr sz="2800">
              <a:latin typeface="Calibri"/>
              <a:cs typeface="Calibri"/>
            </a:endParaRPr>
          </a:p>
          <a:p>
            <a:pPr marL="662305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80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x</a:t>
            </a:r>
            <a:r>
              <a:rPr dirty="0" sz="2800" spc="-25" b="1">
                <a:latin typeface="Symbol"/>
                <a:cs typeface="Symbol"/>
              </a:rPr>
              <a:t></a:t>
            </a:r>
            <a:r>
              <a:rPr dirty="0" sz="2800" spc="-25" b="1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662305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80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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Symbol"/>
                <a:cs typeface="Symbol"/>
              </a:rPr>
              <a:t></a:t>
            </a:r>
            <a:r>
              <a:rPr dirty="0" sz="2800" spc="-20" b="1">
                <a:latin typeface="Calibri"/>
                <a:cs typeface="Calibri"/>
              </a:rPr>
              <a:t>x</a:t>
            </a:r>
            <a:r>
              <a:rPr dirty="0" sz="2800" spc="-20" b="1">
                <a:latin typeface="Symbol"/>
                <a:cs typeface="Symbol"/>
              </a:rPr>
              <a:t></a:t>
            </a:r>
            <a:r>
              <a:rPr dirty="0" sz="2800" spc="-20" b="1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662305">
              <a:lnSpc>
                <a:spcPct val="100000"/>
              </a:lnSpc>
              <a:spcBef>
                <a:spcPts val="1690"/>
              </a:spcBef>
              <a:tabLst>
                <a:tab pos="2593340" algn="l"/>
              </a:tabLst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1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spc="-15" b="1">
                <a:latin typeface="Calibri"/>
                <a:cs typeface="Calibri"/>
              </a:rPr>
              <a:t>(</a:t>
            </a:r>
            <a:r>
              <a:rPr dirty="0" sz="2800" spc="25" b="1">
                <a:latin typeface="Microsoft JhengHei"/>
                <a:cs typeface="Microsoft JhengHei"/>
              </a:rPr>
              <a:t>命题逻辑排中律</a:t>
            </a:r>
            <a:r>
              <a:rPr dirty="0" sz="2800" spc="-5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662305">
              <a:lnSpc>
                <a:spcPct val="100000"/>
              </a:lnSpc>
              <a:spcBef>
                <a:spcPts val="1685"/>
              </a:spcBef>
              <a:tabLst>
                <a:tab pos="2547620" algn="l"/>
              </a:tabLst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110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x</a:t>
            </a:r>
            <a:r>
              <a:rPr dirty="0" sz="2800" spc="-20" b="1">
                <a:latin typeface="Symbol"/>
                <a:cs typeface="Symbol"/>
              </a:rPr>
              <a:t></a:t>
            </a:r>
            <a:r>
              <a:rPr dirty="0" sz="2800" spc="-20" b="1">
                <a:latin typeface="Calibri"/>
                <a:cs typeface="Calibri"/>
              </a:rPr>
              <a:t>E</a:t>
            </a:r>
            <a:r>
              <a:rPr dirty="0" sz="2800" spc="-20" b="1">
                <a:latin typeface="Microsoft JhengHei"/>
                <a:cs typeface="Microsoft JhengHei"/>
              </a:rPr>
              <a:t>，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45" b="1">
                <a:latin typeface="Microsoft JhengHei"/>
                <a:cs typeface="Microsoft JhengHei"/>
              </a:rPr>
              <a:t>因而，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~A</a:t>
            </a:r>
            <a:r>
              <a:rPr dirty="0" sz="2800" spc="-50" b="1">
                <a:latin typeface="Calibri"/>
                <a:cs typeface="Calibri"/>
              </a:rPr>
              <a:t> = </a:t>
            </a:r>
            <a:r>
              <a:rPr dirty="0" sz="2800" b="1">
                <a:latin typeface="Calibri"/>
                <a:cs typeface="Calibri"/>
              </a:rPr>
              <a:t>E</a:t>
            </a:r>
            <a:r>
              <a:rPr dirty="0" sz="2800" spc="70" b="1">
                <a:latin typeface="Microsoft JhengHei"/>
                <a:cs typeface="Microsoft JhengHei"/>
              </a:rPr>
              <a:t>。</a:t>
            </a:r>
            <a:r>
              <a:rPr dirty="0" sz="2800" spc="-1100" b="1">
                <a:latin typeface="Symbol"/>
                <a:cs typeface="Symbol"/>
              </a:rPr>
              <a:t></a:t>
            </a:r>
            <a:endParaRPr sz="28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670050">
              <a:lnSpc>
                <a:spcPct val="100000"/>
              </a:lnSpc>
              <a:spcBef>
                <a:spcPts val="95"/>
              </a:spcBef>
            </a:pPr>
            <a:r>
              <a:rPr dirty="0"/>
              <a:t>例</a:t>
            </a:r>
            <a:r>
              <a:rPr dirty="0" spc="-25">
                <a:latin typeface="Calibri"/>
                <a:cs typeface="Calibri"/>
              </a:rPr>
              <a:t>1.8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50493"/>
            <a:ext cx="5462905" cy="3872229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0"/>
              </a:spcBef>
            </a:pPr>
            <a:r>
              <a:rPr dirty="0" sz="2800" spc="65" b="1">
                <a:latin typeface="Microsoft JhengHei"/>
                <a:cs typeface="Microsoft JhengHei"/>
              </a:rPr>
              <a:t>设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,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B</a:t>
            </a:r>
            <a:r>
              <a:rPr dirty="0" sz="2800" spc="-15" b="1">
                <a:latin typeface="Microsoft JhengHei"/>
                <a:cs typeface="Microsoft JhengHei"/>
              </a:rPr>
              <a:t>为集族，试证明：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Calibri"/>
                <a:cs typeface="Calibri"/>
              </a:rPr>
              <a:t>(1</a:t>
            </a:r>
            <a:r>
              <a:rPr dirty="0" sz="2800" spc="10" b="1">
                <a:latin typeface="Calibri"/>
                <a:cs typeface="Calibri"/>
              </a:rPr>
              <a:t>) </a:t>
            </a:r>
            <a:r>
              <a:rPr dirty="0" sz="2800" spc="-20" b="1">
                <a:latin typeface="Microsoft JhengHei"/>
                <a:cs typeface="Microsoft JhengHei"/>
              </a:rPr>
              <a:t>若 </a:t>
            </a:r>
            <a:r>
              <a:rPr dirty="0" sz="2800" spc="45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spc="45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spc="45" b="1" i="1">
                <a:solidFill>
                  <a:srgbClr val="006FC0"/>
                </a:solidFill>
                <a:latin typeface="Monotype Corsiva"/>
                <a:cs typeface="Monotype Corsiva"/>
              </a:rPr>
              <a:t>B</a:t>
            </a:r>
            <a:r>
              <a:rPr dirty="0" sz="2800" spc="-130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spc="320" b="1">
                <a:latin typeface="Microsoft JhengHei"/>
                <a:cs typeface="Microsoft JhengHei"/>
              </a:rPr>
              <a:t>，则</a:t>
            </a:r>
            <a:r>
              <a:rPr dirty="0" sz="2800" b="1">
                <a:solidFill>
                  <a:srgbClr val="006FC0"/>
                </a:solidFill>
                <a:latin typeface="Microsoft JhengHei"/>
                <a:cs typeface="Microsoft JhengHei"/>
              </a:rPr>
              <a:t>∪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spc="-114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spc="5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spc="50" b="1">
                <a:solidFill>
                  <a:srgbClr val="006FC0"/>
                </a:solidFill>
                <a:latin typeface="Microsoft JhengHei"/>
                <a:cs typeface="Microsoft JhengHei"/>
              </a:rPr>
              <a:t>∪</a:t>
            </a:r>
            <a:r>
              <a:rPr dirty="0" sz="2800" spc="50" b="1" i="1">
                <a:solidFill>
                  <a:srgbClr val="006FC0"/>
                </a:solidFill>
                <a:latin typeface="Monotype Corsiva"/>
                <a:cs typeface="Monotype Corsiva"/>
              </a:rPr>
              <a:t>B</a:t>
            </a:r>
            <a:r>
              <a:rPr dirty="0" sz="2800" spc="-130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spc="-50" b="1">
                <a:latin typeface="Microsoft JhengHei"/>
                <a:cs typeface="Microsoft JhengHei"/>
              </a:rPr>
              <a:t>；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690"/>
              </a:spcBef>
            </a:pPr>
            <a:r>
              <a:rPr dirty="0" sz="2800" b="1">
                <a:latin typeface="Calibri"/>
                <a:cs typeface="Calibri"/>
              </a:rPr>
              <a:t>(2</a:t>
            </a:r>
            <a:r>
              <a:rPr dirty="0" sz="2800" spc="5" b="1">
                <a:latin typeface="Calibri"/>
                <a:cs typeface="Calibri"/>
              </a:rPr>
              <a:t>) </a:t>
            </a:r>
            <a:r>
              <a:rPr dirty="0" sz="2800" spc="-25" b="1">
                <a:latin typeface="Microsoft JhengHei"/>
                <a:cs typeface="Microsoft JhengHei"/>
              </a:rPr>
              <a:t>若 </a:t>
            </a:r>
            <a:r>
              <a:rPr dirty="0" sz="2800" spc="45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spc="45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spc="45" b="1" i="1">
                <a:solidFill>
                  <a:srgbClr val="006FC0"/>
                </a:solidFill>
                <a:latin typeface="Monotype Corsiva"/>
                <a:cs typeface="Monotype Corsiva"/>
              </a:rPr>
              <a:t>B</a:t>
            </a:r>
            <a:r>
              <a:rPr dirty="0" sz="2800" spc="-145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spc="-20" b="1">
                <a:latin typeface="Microsoft JhengHei"/>
                <a:cs typeface="Microsoft JhengHei"/>
              </a:rPr>
              <a:t>，则 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spc="-55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spc="5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spc="50" b="1">
                <a:solidFill>
                  <a:srgbClr val="006FC0"/>
                </a:solidFill>
                <a:latin typeface="Microsoft JhengHei"/>
                <a:cs typeface="Microsoft JhengHei"/>
              </a:rPr>
              <a:t>∪</a:t>
            </a:r>
            <a:r>
              <a:rPr dirty="0" sz="2800" spc="50" b="1" i="1">
                <a:solidFill>
                  <a:srgbClr val="006FC0"/>
                </a:solidFill>
                <a:latin typeface="Monotype Corsiva"/>
                <a:cs typeface="Monotype Corsiva"/>
              </a:rPr>
              <a:t>B</a:t>
            </a:r>
            <a:r>
              <a:rPr dirty="0" sz="2800" spc="-145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spc="-50" b="1">
                <a:latin typeface="Microsoft JhengHei"/>
                <a:cs typeface="Microsoft JhengHei"/>
              </a:rPr>
              <a:t>；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Calibri"/>
                <a:cs typeface="Calibri"/>
              </a:rPr>
              <a:t>(3</a:t>
            </a:r>
            <a:r>
              <a:rPr dirty="0" sz="2800" spc="10" b="1">
                <a:latin typeface="Calibri"/>
                <a:cs typeface="Calibri"/>
              </a:rPr>
              <a:t>) </a:t>
            </a:r>
            <a:r>
              <a:rPr dirty="0" sz="2800" spc="-20" b="1">
                <a:latin typeface="Microsoft JhengHei"/>
                <a:cs typeface="Microsoft JhengHei"/>
              </a:rPr>
              <a:t>若 </a:t>
            </a:r>
            <a:r>
              <a:rPr dirty="0" sz="2800" spc="5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spc="50" b="1">
                <a:solidFill>
                  <a:srgbClr val="006FC0"/>
                </a:solidFill>
                <a:latin typeface="Symbol"/>
                <a:cs typeface="Symbol"/>
              </a:rPr>
              <a:t></a:t>
            </a:r>
            <a:r>
              <a:rPr dirty="0" sz="2800" spc="430" b="1">
                <a:latin typeface="Microsoft JhengHei"/>
                <a:cs typeface="Microsoft JhengHei"/>
              </a:rPr>
              <a:t>且</a:t>
            </a:r>
            <a:r>
              <a:rPr dirty="0" sz="2800" spc="45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spc="45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spc="45" b="1" i="1">
                <a:solidFill>
                  <a:srgbClr val="006FC0"/>
                </a:solidFill>
                <a:latin typeface="Monotype Corsiva"/>
                <a:cs typeface="Monotype Corsiva"/>
              </a:rPr>
              <a:t>B</a:t>
            </a:r>
            <a:r>
              <a:rPr dirty="0" sz="2800" spc="-55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spc="-20" b="1">
                <a:latin typeface="Microsoft JhengHei"/>
                <a:cs typeface="Microsoft JhengHei"/>
              </a:rPr>
              <a:t>，则 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∩B</a:t>
            </a:r>
            <a:r>
              <a:rPr dirty="0" sz="2800" spc="-130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spc="-1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∩A</a:t>
            </a:r>
            <a:r>
              <a:rPr dirty="0" sz="2800" spc="-35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spc="-50" b="1">
                <a:latin typeface="Microsoft JhengHei"/>
                <a:cs typeface="Microsoft JhengHei"/>
              </a:rPr>
              <a:t>；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Calibri"/>
                <a:cs typeface="Calibri"/>
              </a:rPr>
              <a:t>(4</a:t>
            </a:r>
            <a:r>
              <a:rPr dirty="0" sz="2800" spc="5" b="1">
                <a:latin typeface="Calibri"/>
                <a:cs typeface="Calibri"/>
              </a:rPr>
              <a:t>) </a:t>
            </a:r>
            <a:r>
              <a:rPr dirty="0" sz="2800" spc="-25" b="1">
                <a:latin typeface="Microsoft JhengHei"/>
                <a:cs typeface="Microsoft JhengHei"/>
              </a:rPr>
              <a:t>若 </a:t>
            </a:r>
            <a:r>
              <a:rPr dirty="0" sz="2800" spc="45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spc="45" b="1">
                <a:solidFill>
                  <a:srgbClr val="006FC0"/>
                </a:solidFill>
                <a:latin typeface="Symbol"/>
                <a:cs typeface="Symbol"/>
              </a:rPr>
              <a:t></a:t>
            </a:r>
            <a:r>
              <a:rPr dirty="0" sz="2800" spc="45" b="1" i="1">
                <a:solidFill>
                  <a:srgbClr val="006FC0"/>
                </a:solidFill>
                <a:latin typeface="Monotype Corsiva"/>
                <a:cs typeface="Monotype Corsiva"/>
              </a:rPr>
              <a:t>B</a:t>
            </a:r>
            <a:r>
              <a:rPr dirty="0" sz="2800" spc="-140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spc="-20" b="1">
                <a:latin typeface="Microsoft JhengHei"/>
                <a:cs typeface="Microsoft JhengHei"/>
              </a:rPr>
              <a:t>，则 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∩B</a:t>
            </a:r>
            <a:r>
              <a:rPr dirty="0" sz="2800" spc="-65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spc="-3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spc="-45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spc="-50" b="1">
                <a:latin typeface="Microsoft JhengHei"/>
                <a:cs typeface="Microsoft JhengHei"/>
              </a:rPr>
              <a:t>；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690"/>
              </a:spcBef>
            </a:pPr>
            <a:r>
              <a:rPr dirty="0" sz="2800" b="1">
                <a:latin typeface="Calibri"/>
                <a:cs typeface="Calibri"/>
              </a:rPr>
              <a:t>(5</a:t>
            </a:r>
            <a:r>
              <a:rPr dirty="0" sz="2800" spc="10" b="1">
                <a:latin typeface="Calibri"/>
                <a:cs typeface="Calibri"/>
              </a:rPr>
              <a:t>) </a:t>
            </a:r>
            <a:r>
              <a:rPr dirty="0" sz="2800" spc="-55" b="1">
                <a:latin typeface="Microsoft JhengHei"/>
                <a:cs typeface="Microsoft JhengHei"/>
              </a:rPr>
              <a:t>若 </a:t>
            </a:r>
            <a:r>
              <a:rPr dirty="0" sz="2800" spc="55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spc="55" b="1">
                <a:solidFill>
                  <a:srgbClr val="006FC0"/>
                </a:solidFill>
                <a:latin typeface="Symbol"/>
                <a:cs typeface="Symbol"/>
              </a:rPr>
              <a:t></a:t>
            </a:r>
            <a:r>
              <a:rPr dirty="0" sz="2800" spc="-19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latin typeface="Microsoft JhengHei"/>
                <a:cs typeface="Microsoft JhengHei"/>
              </a:rPr>
              <a:t>，则 </a:t>
            </a:r>
            <a:r>
              <a:rPr dirty="0" sz="2800" b="1" i="1">
                <a:solidFill>
                  <a:srgbClr val="006FC0"/>
                </a:solidFill>
                <a:latin typeface="Monotype Corsiva"/>
                <a:cs typeface="Monotype Corsiva"/>
              </a:rPr>
              <a:t>∩A</a:t>
            </a:r>
            <a:r>
              <a:rPr dirty="0" sz="2800" spc="-114" b="1" i="1">
                <a:solidFill>
                  <a:srgbClr val="006FC0"/>
                </a:solidFill>
                <a:latin typeface="Monotype Corsiva"/>
                <a:cs typeface="Monotype Corsiva"/>
              </a:rPr>
              <a:t> </a:t>
            </a:r>
            <a:r>
              <a:rPr dirty="0" sz="2800" spc="7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spc="70" b="1">
                <a:solidFill>
                  <a:srgbClr val="006FC0"/>
                </a:solidFill>
                <a:latin typeface="Microsoft JhengHei"/>
                <a:cs typeface="Microsoft JhengHei"/>
              </a:rPr>
              <a:t>∪</a:t>
            </a:r>
            <a:r>
              <a:rPr dirty="0" sz="2800" spc="70" b="1" i="1">
                <a:solidFill>
                  <a:srgbClr val="006FC0"/>
                </a:solidFill>
                <a:latin typeface="Monotype Corsiva"/>
                <a:cs typeface="Monotype Corsiva"/>
              </a:rPr>
              <a:t>A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5800" y="471551"/>
            <a:ext cx="524256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/>
              <a:t>族</a:t>
            </a:r>
            <a:r>
              <a:rPr dirty="0"/>
              <a:t>性</a:t>
            </a:r>
            <a:r>
              <a:rPr dirty="0"/>
              <a:t>质</a:t>
            </a:r>
            <a:r>
              <a:rPr dirty="0" spc="-25">
                <a:latin typeface="Calibri"/>
                <a:cs typeface="Calibri"/>
              </a:rPr>
              <a:t>(1)(2)</a:t>
            </a:r>
            <a:r>
              <a:rPr dirty="0"/>
              <a:t>的</a:t>
            </a:r>
            <a:r>
              <a:rPr dirty="0" spc="-50"/>
              <a:t>证</a:t>
            </a:r>
            <a:r>
              <a:rPr dirty="0" spc="-50"/>
              <a:t>明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456686" y="3521900"/>
            <a:ext cx="1684655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10" b="1">
                <a:latin typeface="Calibri"/>
                <a:cs typeface="Calibri"/>
              </a:rPr>
              <a:t>(</a:t>
            </a:r>
            <a:r>
              <a:rPr dirty="0" sz="2800" spc="70" b="1">
                <a:latin typeface="Microsoft JhengHei"/>
                <a:cs typeface="Microsoft JhengHei"/>
              </a:rPr>
              <a:t>已知</a:t>
            </a:r>
            <a:r>
              <a:rPr dirty="0" sz="2800" spc="-20" b="1" i="1">
                <a:latin typeface="Monotype Corsiva"/>
                <a:cs typeface="Monotype Corsiva"/>
              </a:rPr>
              <a:t>A</a:t>
            </a:r>
            <a:r>
              <a:rPr dirty="0" sz="2800" spc="-20" b="1">
                <a:latin typeface="Symbol"/>
                <a:cs typeface="Symbol"/>
              </a:rPr>
              <a:t></a:t>
            </a:r>
            <a:r>
              <a:rPr dirty="0" sz="2800" spc="-20" b="1" i="1">
                <a:latin typeface="Monotype Corsiva"/>
                <a:cs typeface="Monotype Corsiva"/>
              </a:rPr>
              <a:t>B</a:t>
            </a:r>
            <a:r>
              <a:rPr dirty="0" sz="2800" spc="-2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2882" y="1560080"/>
            <a:ext cx="3560445" cy="3615054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2800" b="1">
                <a:latin typeface="Calibri"/>
                <a:cs typeface="Calibri"/>
              </a:rPr>
              <a:t>(1</a:t>
            </a:r>
            <a:r>
              <a:rPr dirty="0" sz="2800" spc="5" b="1">
                <a:latin typeface="Calibri"/>
                <a:cs typeface="Calibri"/>
              </a:rPr>
              <a:t>) </a:t>
            </a:r>
            <a:r>
              <a:rPr dirty="0" sz="2800" spc="40" b="1">
                <a:latin typeface="Microsoft JhengHei"/>
                <a:cs typeface="Microsoft JhengHei"/>
              </a:rPr>
              <a:t>对于任意的</a:t>
            </a:r>
            <a:r>
              <a:rPr dirty="0" sz="2800" spc="-25" b="1">
                <a:latin typeface="Calibri"/>
                <a:cs typeface="Calibri"/>
              </a:rPr>
              <a:t>x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algn="ctr" marR="74295">
              <a:lnSpc>
                <a:spcPct val="100000"/>
              </a:lnSpc>
              <a:spcBef>
                <a:spcPts val="1325"/>
              </a:spcBef>
            </a:pPr>
            <a:r>
              <a:rPr dirty="0" sz="2800" spc="-20" b="1">
                <a:latin typeface="Calibri"/>
                <a:cs typeface="Calibri"/>
              </a:rPr>
              <a:t>x</a:t>
            </a:r>
            <a:r>
              <a:rPr dirty="0" sz="2800" spc="-20" b="1">
                <a:latin typeface="Symbol"/>
                <a:cs typeface="Symbol"/>
              </a:rPr>
              <a:t></a:t>
            </a:r>
            <a:r>
              <a:rPr dirty="0" sz="2800" spc="-20" b="1">
                <a:latin typeface="Microsoft JhengHei"/>
                <a:cs typeface="Microsoft JhengHei"/>
              </a:rPr>
              <a:t>∪</a:t>
            </a:r>
            <a:r>
              <a:rPr dirty="0" sz="2800" spc="-20" b="1" i="1">
                <a:latin typeface="Monotype Corsiva"/>
                <a:cs typeface="Monotype Corsiva"/>
              </a:rPr>
              <a:t>A</a:t>
            </a:r>
            <a:endParaRPr sz="2800">
              <a:latin typeface="Monotype Corsiva"/>
              <a:cs typeface="Monotype Corsiva"/>
            </a:endParaRPr>
          </a:p>
          <a:p>
            <a:pPr marL="744855">
              <a:lnSpc>
                <a:spcPct val="100000"/>
              </a:lnSpc>
              <a:spcBef>
                <a:spcPts val="1400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b="1">
                <a:latin typeface="Symbol"/>
                <a:cs typeface="Symbol"/>
              </a:rPr>
              <a:t></a:t>
            </a:r>
            <a:r>
              <a:rPr dirty="0" sz="2800" b="1">
                <a:latin typeface="Calibri"/>
                <a:cs typeface="Calibri"/>
              </a:rPr>
              <a:t>A(A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 i="1">
                <a:latin typeface="Monotype Corsiva"/>
                <a:cs typeface="Monotype Corsiva"/>
              </a:rPr>
              <a:t>A</a:t>
            </a:r>
            <a:r>
              <a:rPr dirty="0" sz="2800" spc="-140" b="1" i="1">
                <a:latin typeface="Monotype Corsiva"/>
                <a:cs typeface="Monotype Corsiva"/>
              </a:rPr>
              <a:t> 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x</a:t>
            </a:r>
            <a:r>
              <a:rPr dirty="0" sz="2800" spc="-20" b="1">
                <a:latin typeface="Symbol"/>
                <a:cs typeface="Symbol"/>
              </a:rPr>
              <a:t></a:t>
            </a:r>
            <a:r>
              <a:rPr dirty="0" sz="2800" spc="-20" b="1">
                <a:latin typeface="Calibri"/>
                <a:cs typeface="Calibri"/>
              </a:rPr>
              <a:t>A)</a:t>
            </a:r>
            <a:endParaRPr sz="2800">
              <a:latin typeface="Calibri"/>
              <a:cs typeface="Calibri"/>
            </a:endParaRPr>
          </a:p>
          <a:p>
            <a:pPr marL="744855">
              <a:lnSpc>
                <a:spcPct val="100000"/>
              </a:lnSpc>
              <a:spcBef>
                <a:spcPts val="1325"/>
              </a:spcBef>
            </a:pPr>
            <a:r>
              <a:rPr dirty="0" sz="2800" b="1">
                <a:solidFill>
                  <a:srgbClr val="CC0000"/>
                </a:solidFill>
                <a:latin typeface="Symbol"/>
                <a:cs typeface="Symbol"/>
              </a:rPr>
              <a:t></a:t>
            </a:r>
            <a:r>
              <a:rPr dirty="0" sz="2800" spc="-35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latin typeface="Symbol"/>
                <a:cs typeface="Symbol"/>
              </a:rPr>
              <a:t></a:t>
            </a:r>
            <a:r>
              <a:rPr dirty="0" sz="2800" b="1">
                <a:latin typeface="Calibri"/>
                <a:cs typeface="Calibri"/>
              </a:rPr>
              <a:t>A(A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 i="1">
                <a:latin typeface="Monotype Corsiva"/>
                <a:cs typeface="Monotype Corsiva"/>
              </a:rPr>
              <a:t>B</a:t>
            </a:r>
            <a:r>
              <a:rPr dirty="0" sz="2800" spc="-95" b="1" i="1">
                <a:latin typeface="Monotype Corsiva"/>
                <a:cs typeface="Monotype Corsiva"/>
              </a:rPr>
              <a:t> 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x</a:t>
            </a:r>
            <a:r>
              <a:rPr dirty="0" sz="2800" spc="-20" b="1">
                <a:latin typeface="Symbol"/>
                <a:cs typeface="Symbol"/>
              </a:rPr>
              <a:t></a:t>
            </a:r>
            <a:r>
              <a:rPr dirty="0" sz="2800" spc="-20" b="1">
                <a:latin typeface="Calibri"/>
                <a:cs typeface="Calibri"/>
              </a:rPr>
              <a:t>A)</a:t>
            </a:r>
            <a:endParaRPr sz="2800">
              <a:latin typeface="Calibri"/>
              <a:cs typeface="Calibri"/>
            </a:endParaRPr>
          </a:p>
          <a:p>
            <a:pPr marL="744855">
              <a:lnSpc>
                <a:spcPct val="100000"/>
              </a:lnSpc>
              <a:spcBef>
                <a:spcPts val="1325"/>
              </a:spcBef>
            </a:pPr>
            <a:r>
              <a:rPr dirty="0" sz="2800" b="1">
                <a:solidFill>
                  <a:srgbClr val="CC0000"/>
                </a:solidFill>
                <a:latin typeface="Symbol"/>
                <a:cs typeface="Symbol"/>
              </a:rPr>
              <a:t></a:t>
            </a:r>
            <a:r>
              <a:rPr dirty="0" sz="2800" spc="-114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x</a:t>
            </a:r>
            <a:r>
              <a:rPr dirty="0" sz="2800" spc="-20" b="1">
                <a:latin typeface="Symbol"/>
                <a:cs typeface="Symbol"/>
              </a:rPr>
              <a:t></a:t>
            </a:r>
            <a:r>
              <a:rPr dirty="0" sz="2800" spc="-20" b="1">
                <a:latin typeface="Microsoft JhengHei"/>
                <a:cs typeface="Microsoft JhengHei"/>
              </a:rPr>
              <a:t>∪</a:t>
            </a:r>
            <a:r>
              <a:rPr dirty="0" sz="2800" spc="-20" b="1" i="1">
                <a:latin typeface="Monotype Corsiva"/>
                <a:cs typeface="Monotype Corsiva"/>
              </a:rPr>
              <a:t>B</a:t>
            </a:r>
            <a:endParaRPr sz="2800">
              <a:latin typeface="Monotype Corsiva"/>
              <a:cs typeface="Monotype Corsiva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2800" spc="30" b="1">
                <a:latin typeface="Microsoft JhengHei"/>
                <a:cs typeface="Microsoft JhengHei"/>
              </a:rPr>
              <a:t>所以，∪</a:t>
            </a:r>
            <a:r>
              <a:rPr dirty="0" sz="2800" b="1" i="1">
                <a:latin typeface="Monotype Corsiva"/>
                <a:cs typeface="Monotype Corsiva"/>
              </a:rPr>
              <a:t>A</a:t>
            </a:r>
            <a:r>
              <a:rPr dirty="0" sz="2800" spc="-170" b="1" i="1">
                <a:latin typeface="Monotype Corsiva"/>
                <a:cs typeface="Monotype Corsiva"/>
              </a:rPr>
              <a:t> </a:t>
            </a:r>
            <a:r>
              <a:rPr dirty="0" sz="2800" spc="50" b="1">
                <a:latin typeface="Symbol"/>
                <a:cs typeface="Symbol"/>
              </a:rPr>
              <a:t></a:t>
            </a:r>
            <a:r>
              <a:rPr dirty="0" sz="2800" spc="50" b="1">
                <a:latin typeface="Microsoft JhengHei"/>
                <a:cs typeface="Microsoft JhengHei"/>
              </a:rPr>
              <a:t>∪</a:t>
            </a:r>
            <a:r>
              <a:rPr dirty="0" sz="2800" spc="50" b="1" i="1">
                <a:latin typeface="Monotype Corsiva"/>
                <a:cs typeface="Monotype Corsiva"/>
              </a:rPr>
              <a:t>B</a:t>
            </a:r>
            <a:r>
              <a:rPr dirty="0" sz="2800" spc="-105" b="1" i="1">
                <a:latin typeface="Monotype Corsiva"/>
                <a:cs typeface="Monotype Corsiva"/>
              </a:rPr>
              <a:t> 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2882" y="5316042"/>
            <a:ext cx="6497320" cy="45465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(2</a:t>
            </a:r>
            <a:r>
              <a:rPr dirty="0" sz="2800" spc="15" b="1">
                <a:latin typeface="Calibri"/>
                <a:cs typeface="Calibri"/>
              </a:rPr>
              <a:t>) </a:t>
            </a:r>
            <a:r>
              <a:rPr dirty="0" sz="2800" spc="-5" b="1">
                <a:latin typeface="Microsoft JhengHei"/>
                <a:cs typeface="Microsoft JhengHei"/>
              </a:rPr>
              <a:t>若 </a:t>
            </a:r>
            <a:r>
              <a:rPr dirty="0" sz="2800" spc="45" b="1" i="1">
                <a:latin typeface="Monotype Corsiva"/>
                <a:cs typeface="Monotype Corsiva"/>
              </a:rPr>
              <a:t>A</a:t>
            </a:r>
            <a:r>
              <a:rPr dirty="0" sz="2800" spc="45" b="1">
                <a:latin typeface="Symbol"/>
                <a:cs typeface="Symbol"/>
              </a:rPr>
              <a:t></a:t>
            </a:r>
            <a:r>
              <a:rPr dirty="0" sz="2800" spc="45" b="1" i="1">
                <a:latin typeface="Monotype Corsiva"/>
                <a:cs typeface="Monotype Corsiva"/>
              </a:rPr>
              <a:t>B</a:t>
            </a:r>
            <a:r>
              <a:rPr dirty="0" sz="2800" spc="-114" b="1" i="1">
                <a:latin typeface="Monotype Corsiva"/>
                <a:cs typeface="Monotype Corsiva"/>
              </a:rPr>
              <a:t> </a:t>
            </a:r>
            <a:r>
              <a:rPr dirty="0" sz="2800" spc="45" b="1">
                <a:latin typeface="Microsoft JhengHei"/>
                <a:cs typeface="Microsoft JhengHei"/>
              </a:rPr>
              <a:t>，由广义并集定义可知</a:t>
            </a:r>
            <a:r>
              <a:rPr dirty="0" sz="2800" b="1" i="1">
                <a:latin typeface="Monotype Corsiva"/>
                <a:cs typeface="Monotype Corsiva"/>
              </a:rPr>
              <a:t>A</a:t>
            </a:r>
            <a:r>
              <a:rPr dirty="0" sz="2800" b="1">
                <a:latin typeface="Symbol"/>
                <a:cs typeface="Symbol"/>
              </a:rPr>
              <a:t></a:t>
            </a:r>
            <a:r>
              <a:rPr dirty="0" sz="2800" b="1" i="1">
                <a:latin typeface="Monotype Corsiva"/>
                <a:cs typeface="Monotype Corsiva"/>
              </a:rPr>
              <a:t>B</a:t>
            </a:r>
            <a:r>
              <a:rPr dirty="0" sz="2800" spc="-114" b="1" i="1">
                <a:latin typeface="Monotype Corsiva"/>
                <a:cs typeface="Monotype Corsiva"/>
              </a:rPr>
              <a:t> 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集</a:t>
            </a:r>
            <a:r>
              <a:rPr dirty="0"/>
              <a:t>族</a:t>
            </a:r>
            <a:r>
              <a:rPr dirty="0"/>
              <a:t>性</a:t>
            </a:r>
            <a:r>
              <a:rPr dirty="0"/>
              <a:t>质</a:t>
            </a:r>
            <a:r>
              <a:rPr dirty="0" spc="-25">
                <a:latin typeface="Calibri"/>
                <a:cs typeface="Calibri"/>
              </a:rPr>
              <a:t>(3)</a:t>
            </a:r>
            <a:r>
              <a:rPr dirty="0"/>
              <a:t>的</a:t>
            </a:r>
            <a:r>
              <a:rPr dirty="0" spc="-50"/>
              <a:t>证</a:t>
            </a:r>
            <a:r>
              <a:rPr dirty="0" spc="-50"/>
              <a:t>明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02882" y="1550493"/>
            <a:ext cx="6910070" cy="4512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100"/>
              </a:spcBef>
            </a:pPr>
            <a:r>
              <a:rPr dirty="0" sz="2800" b="1">
                <a:latin typeface="Calibri"/>
                <a:cs typeface="Calibri"/>
              </a:rPr>
              <a:t>(3) </a:t>
            </a:r>
            <a:r>
              <a:rPr dirty="0" sz="2800" spc="65" b="1">
                <a:latin typeface="Microsoft JhengHei"/>
                <a:cs typeface="Microsoft JhengHei"/>
              </a:rPr>
              <a:t>由</a:t>
            </a:r>
            <a:r>
              <a:rPr dirty="0" sz="2800" b="1" i="1">
                <a:latin typeface="Monotype Corsiva"/>
                <a:cs typeface="Monotype Corsiva"/>
              </a:rPr>
              <a:t>A</a:t>
            </a:r>
            <a:r>
              <a:rPr dirty="0" sz="2800" b="1">
                <a:latin typeface="Symbol"/>
                <a:cs typeface="Symbol"/>
              </a:rPr>
              <a:t></a:t>
            </a:r>
            <a:r>
              <a:rPr dirty="0" sz="2800" spc="-5" b="1">
                <a:latin typeface="Microsoft JhengHei"/>
                <a:cs typeface="Microsoft JhengHei"/>
              </a:rPr>
              <a:t>，知</a:t>
            </a:r>
            <a:r>
              <a:rPr dirty="0" sz="2800" b="1" i="1">
                <a:latin typeface="Monotype Corsiva"/>
                <a:cs typeface="Monotype Corsiva"/>
              </a:rPr>
              <a:t>B</a:t>
            </a:r>
            <a:r>
              <a:rPr dirty="0" sz="2800" spc="-145" b="1" i="1">
                <a:latin typeface="Monotype Corsiva"/>
                <a:cs typeface="Monotype Corsiva"/>
              </a:rPr>
              <a:t> </a:t>
            </a:r>
            <a:r>
              <a:rPr dirty="0" sz="2800" spc="55" b="1">
                <a:latin typeface="Symbol"/>
                <a:cs typeface="Symbol"/>
              </a:rPr>
              <a:t></a:t>
            </a:r>
            <a:r>
              <a:rPr dirty="0" sz="2800" spc="20" b="1">
                <a:latin typeface="Microsoft JhengHei"/>
                <a:cs typeface="Microsoft JhengHei"/>
              </a:rPr>
              <a:t>，故</a:t>
            </a:r>
            <a:r>
              <a:rPr dirty="0" sz="2800" spc="-10" b="1" i="1">
                <a:latin typeface="Monotype Corsiva"/>
                <a:cs typeface="Monotype Corsiva"/>
              </a:rPr>
              <a:t>∩A</a:t>
            </a:r>
            <a:r>
              <a:rPr dirty="0" sz="2800" spc="-10" b="1">
                <a:latin typeface="Microsoft JhengHei"/>
                <a:cs typeface="Microsoft JhengHei"/>
              </a:rPr>
              <a:t>与</a:t>
            </a:r>
            <a:r>
              <a:rPr dirty="0" sz="2800" b="1" i="1">
                <a:latin typeface="Monotype Corsiva"/>
                <a:cs typeface="Monotype Corsiva"/>
              </a:rPr>
              <a:t>∩B</a:t>
            </a:r>
            <a:r>
              <a:rPr dirty="0" sz="2800" spc="-10" b="1">
                <a:latin typeface="Microsoft JhengHei"/>
                <a:cs typeface="Microsoft JhengHei"/>
              </a:rPr>
              <a:t>均有意义。</a:t>
            </a:r>
            <a:r>
              <a:rPr dirty="0" sz="2800" spc="35" b="1">
                <a:latin typeface="Microsoft JhengHei"/>
                <a:cs typeface="Microsoft JhengHei"/>
              </a:rPr>
              <a:t>对于任意的</a:t>
            </a:r>
            <a:r>
              <a:rPr dirty="0" sz="2800" spc="-25" b="1">
                <a:latin typeface="Calibri"/>
                <a:cs typeface="Calibri"/>
              </a:rPr>
              <a:t>x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algn="r" marR="4926965">
              <a:lnSpc>
                <a:spcPct val="100000"/>
              </a:lnSpc>
              <a:spcBef>
                <a:spcPts val="1614"/>
              </a:spcBef>
            </a:pPr>
            <a:r>
              <a:rPr dirty="0" sz="2800" spc="-20" b="1">
                <a:latin typeface="Calibri"/>
                <a:cs typeface="Calibri"/>
              </a:rPr>
              <a:t>x</a:t>
            </a:r>
            <a:r>
              <a:rPr dirty="0" sz="2800" spc="-20" b="1">
                <a:latin typeface="Symbol"/>
                <a:cs typeface="Symbol"/>
              </a:rPr>
              <a:t></a:t>
            </a:r>
            <a:r>
              <a:rPr dirty="0" sz="2800" spc="-20" b="1" i="1">
                <a:latin typeface="Monotype Corsiva"/>
                <a:cs typeface="Monotype Corsiva"/>
              </a:rPr>
              <a:t>∩B</a:t>
            </a:r>
            <a:endParaRPr sz="2800">
              <a:latin typeface="Monotype Corsiva"/>
              <a:cs typeface="Monotype Corsiva"/>
            </a:endParaRPr>
          </a:p>
          <a:p>
            <a:pPr marL="579755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80">
                <a:latin typeface="Times New Roman"/>
                <a:cs typeface="Times New Roman"/>
              </a:rPr>
              <a:t> </a:t>
            </a:r>
            <a:r>
              <a:rPr dirty="0" sz="2800" b="1">
                <a:latin typeface="Symbol"/>
                <a:cs typeface="Symbol"/>
              </a:rPr>
              <a:t></a:t>
            </a:r>
            <a:r>
              <a:rPr dirty="0" sz="2800" b="1">
                <a:latin typeface="Calibri"/>
                <a:cs typeface="Calibri"/>
              </a:rPr>
              <a:t>y(</a:t>
            </a:r>
            <a:r>
              <a:rPr dirty="0" sz="2800" spc="10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y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 i="1">
                <a:latin typeface="Monotype Corsiva"/>
                <a:cs typeface="Monotype Corsiva"/>
              </a:rPr>
              <a:t>B</a:t>
            </a:r>
            <a:r>
              <a:rPr dirty="0" sz="2800" spc="-55" b="1" i="1">
                <a:latin typeface="Monotype Corsiva"/>
                <a:cs typeface="Monotype Corsiva"/>
              </a:rPr>
              <a:t> 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y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579755">
              <a:lnSpc>
                <a:spcPct val="100000"/>
              </a:lnSpc>
              <a:spcBef>
                <a:spcPts val="1689"/>
              </a:spcBef>
              <a:tabLst>
                <a:tab pos="4369435" algn="l"/>
              </a:tabLst>
            </a:pP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-70">
                <a:latin typeface="Times New Roman"/>
                <a:cs typeface="Times New Roman"/>
              </a:rPr>
              <a:t> </a:t>
            </a:r>
            <a:r>
              <a:rPr dirty="0" sz="2800" b="1">
                <a:latin typeface="Symbol"/>
                <a:cs typeface="Symbol"/>
              </a:rPr>
              <a:t></a:t>
            </a:r>
            <a:r>
              <a:rPr dirty="0" sz="2800" b="1">
                <a:latin typeface="Calibri"/>
                <a:cs typeface="Calibri"/>
              </a:rPr>
              <a:t>y(</a:t>
            </a:r>
            <a:r>
              <a:rPr dirty="0" sz="2800" spc="2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y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 i="1">
                <a:latin typeface="Monotype Corsiva"/>
                <a:cs typeface="Monotype Corsiva"/>
              </a:rPr>
              <a:t>A</a:t>
            </a:r>
            <a:r>
              <a:rPr dirty="0" sz="2800" spc="-35" b="1" i="1">
                <a:latin typeface="Monotype Corsiva"/>
                <a:cs typeface="Monotype Corsiva"/>
              </a:rPr>
              <a:t> 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spc="-65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y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)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spc="-10" b="1">
                <a:latin typeface="Calibri"/>
                <a:cs typeface="Calibri"/>
              </a:rPr>
              <a:t>(</a:t>
            </a:r>
            <a:r>
              <a:rPr dirty="0" sz="2800" spc="-10" b="1" i="1">
                <a:latin typeface="Monotype Corsiva"/>
                <a:cs typeface="Monotype Corsiva"/>
              </a:rPr>
              <a:t>A</a:t>
            </a:r>
            <a:r>
              <a:rPr dirty="0" sz="2800" spc="-10" b="1">
                <a:latin typeface="Symbol"/>
                <a:cs typeface="Symbol"/>
              </a:rPr>
              <a:t></a:t>
            </a:r>
            <a:r>
              <a:rPr dirty="0" sz="2800" spc="-10" b="1" i="1">
                <a:latin typeface="Monotype Corsiva"/>
                <a:cs typeface="Monotype Corsiva"/>
              </a:rPr>
              <a:t>B</a:t>
            </a:r>
            <a:r>
              <a:rPr dirty="0" sz="2800" spc="-1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algn="r" marR="4956175">
              <a:lnSpc>
                <a:spcPct val="100000"/>
              </a:lnSpc>
              <a:spcBef>
                <a:spcPts val="168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110">
                <a:latin typeface="Times New Roman"/>
                <a:cs typeface="Times New Roman"/>
              </a:rPr>
              <a:t> </a:t>
            </a:r>
            <a:r>
              <a:rPr dirty="0" sz="2800" spc="-20" b="1">
                <a:latin typeface="Calibri"/>
                <a:cs typeface="Calibri"/>
              </a:rPr>
              <a:t>x</a:t>
            </a:r>
            <a:r>
              <a:rPr dirty="0" sz="2800" spc="-20" b="1">
                <a:latin typeface="Symbol"/>
                <a:cs typeface="Symbol"/>
              </a:rPr>
              <a:t></a:t>
            </a:r>
            <a:r>
              <a:rPr dirty="0" sz="2800" spc="-20" b="1" i="1">
                <a:latin typeface="Monotype Corsiva"/>
                <a:cs typeface="Monotype Corsiva"/>
              </a:rPr>
              <a:t>∩A</a:t>
            </a:r>
            <a:endParaRPr sz="2800">
              <a:latin typeface="Monotype Corsiva"/>
              <a:cs typeface="Monotype Corsiva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  <a:tabLst>
                <a:tab pos="3280410" algn="l"/>
              </a:tabLst>
            </a:pPr>
            <a:r>
              <a:rPr dirty="0" sz="2800" spc="70" b="1">
                <a:latin typeface="Microsoft JhengHei"/>
                <a:cs typeface="Microsoft JhengHei"/>
              </a:rPr>
              <a:t>所以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 i="1">
                <a:latin typeface="Monotype Corsiva"/>
                <a:cs typeface="Monotype Corsiva"/>
              </a:rPr>
              <a:t>∩B</a:t>
            </a:r>
            <a:r>
              <a:rPr dirty="0" sz="2800" spc="-200" b="1" i="1">
                <a:latin typeface="Monotype Corsiva"/>
                <a:cs typeface="Monotype Corsiva"/>
              </a:rPr>
              <a:t> </a:t>
            </a:r>
            <a:r>
              <a:rPr dirty="0" sz="2800" spc="50" b="1">
                <a:latin typeface="Symbol"/>
                <a:cs typeface="Symbol"/>
              </a:rPr>
              <a:t></a:t>
            </a:r>
            <a:r>
              <a:rPr dirty="0" sz="2800" spc="50" b="1" i="1">
                <a:latin typeface="Monotype Corsiva"/>
                <a:cs typeface="Monotype Corsiva"/>
              </a:rPr>
              <a:t>∩A</a:t>
            </a:r>
            <a:r>
              <a:rPr dirty="0" sz="2800" spc="-95" b="1" i="1">
                <a:latin typeface="Monotype Corsiva"/>
                <a:cs typeface="Monotype Corsiva"/>
              </a:rPr>
              <a:t> 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r>
              <a:rPr dirty="0" sz="2800" b="1">
                <a:latin typeface="Microsoft JhengHei"/>
                <a:cs typeface="Microsoft JhengHei"/>
              </a:rPr>
              <a:t>	</a:t>
            </a:r>
            <a:r>
              <a:rPr dirty="0" sz="2800" spc="-50" b="1">
                <a:latin typeface="Symbol"/>
                <a:cs typeface="Symbol"/>
              </a:rPr>
              <a:t></a:t>
            </a:r>
            <a:endParaRPr sz="28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670050">
              <a:lnSpc>
                <a:spcPct val="100000"/>
              </a:lnSpc>
              <a:spcBef>
                <a:spcPts val="95"/>
              </a:spcBef>
            </a:pPr>
            <a:r>
              <a:rPr dirty="0"/>
              <a:t>例</a:t>
            </a:r>
            <a:r>
              <a:rPr dirty="0" spc="-25">
                <a:latin typeface="Calibri"/>
                <a:cs typeface="Calibri"/>
              </a:rPr>
              <a:t>1.9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50493"/>
            <a:ext cx="4701540" cy="1949450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0"/>
              </a:spcBef>
            </a:pPr>
            <a:r>
              <a:rPr dirty="0" sz="2800" spc="-5" b="1">
                <a:latin typeface="Microsoft JhengHei"/>
                <a:cs typeface="Microsoft JhengHei"/>
              </a:rPr>
              <a:t>集合幂集运算具有下列性质：</a:t>
            </a:r>
            <a:endParaRPr sz="2800">
              <a:latin typeface="Microsoft JhengHei"/>
              <a:cs typeface="Microsoft JhengHei"/>
            </a:endParaRPr>
          </a:p>
          <a:p>
            <a:pPr marL="497205" indent="-485140">
              <a:lnSpc>
                <a:spcPct val="100000"/>
              </a:lnSpc>
              <a:spcBef>
                <a:spcPts val="1685"/>
              </a:spcBef>
              <a:buClr>
                <a:srgbClr val="000000"/>
              </a:buClr>
              <a:buAutoNum type="arabicParenBoth"/>
              <a:tabLst>
                <a:tab pos="497840" algn="l"/>
              </a:tabLst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155" b="1">
                <a:latin typeface="Microsoft JhengHei"/>
                <a:cs typeface="Microsoft JhengHei"/>
              </a:rPr>
              <a:t>当且仅当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P(A)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P(B)</a:t>
            </a:r>
            <a:r>
              <a:rPr dirty="0" sz="2800" spc="-10" b="1">
                <a:latin typeface="Microsoft JhengHei"/>
                <a:cs typeface="Microsoft JhengHei"/>
              </a:rPr>
              <a:t>；</a:t>
            </a:r>
            <a:endParaRPr sz="2800">
              <a:latin typeface="Microsoft JhengHei"/>
              <a:cs typeface="Microsoft JhengHei"/>
            </a:endParaRPr>
          </a:p>
          <a:p>
            <a:pPr marL="497205" indent="-485140">
              <a:lnSpc>
                <a:spcPct val="100000"/>
              </a:lnSpc>
              <a:spcBef>
                <a:spcPts val="1690"/>
              </a:spcBef>
              <a:buClr>
                <a:srgbClr val="000000"/>
              </a:buClr>
              <a:buAutoNum type="arabicParenBoth"/>
              <a:tabLst>
                <a:tab pos="497840" algn="l"/>
              </a:tabLst>
            </a:pP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P(A-B</a:t>
            </a:r>
            <a:r>
              <a:rPr dirty="0" sz="2800" spc="-15" b="1">
                <a:solidFill>
                  <a:srgbClr val="006FC0"/>
                </a:solidFill>
                <a:latin typeface="Calibri"/>
                <a:cs typeface="Calibri"/>
              </a:rPr>
              <a:t>)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z="2800" spc="2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(P(A)-P(B))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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{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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幂</a:t>
            </a:r>
            <a:r>
              <a:rPr dirty="0"/>
              <a:t>集</a:t>
            </a:r>
            <a:r>
              <a:rPr dirty="0"/>
              <a:t>性</a:t>
            </a:r>
            <a:r>
              <a:rPr dirty="0"/>
              <a:t>质</a:t>
            </a:r>
            <a:r>
              <a:rPr dirty="0" spc="-25">
                <a:latin typeface="Calibri"/>
                <a:cs typeface="Calibri"/>
              </a:rPr>
              <a:t>(1)</a:t>
            </a:r>
            <a:r>
              <a:rPr dirty="0"/>
              <a:t>的</a:t>
            </a:r>
            <a:r>
              <a:rPr dirty="0" spc="-50"/>
              <a:t>证</a:t>
            </a:r>
            <a:r>
              <a:rPr dirty="0" spc="-50"/>
              <a:t>明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3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(1) </a:t>
            </a:r>
            <a:r>
              <a:rPr dirty="0"/>
              <a:t>先证必要</a:t>
            </a:r>
            <a:r>
              <a:rPr dirty="0" spc="-35"/>
              <a:t>性</a:t>
            </a:r>
            <a:r>
              <a:rPr dirty="0" spc="-50"/>
              <a:t>。</a:t>
            </a:r>
            <a:r>
              <a:rPr dirty="0"/>
              <a:t>对</a:t>
            </a:r>
            <a:r>
              <a:rPr dirty="0"/>
              <a:t>于</a:t>
            </a:r>
            <a:r>
              <a:rPr dirty="0"/>
              <a:t>任</a:t>
            </a:r>
            <a:r>
              <a:rPr dirty="0"/>
              <a:t>意</a:t>
            </a:r>
            <a:r>
              <a:rPr dirty="0" spc="-40"/>
              <a:t>的</a:t>
            </a:r>
            <a:r>
              <a:rPr dirty="0" spc="-25">
                <a:latin typeface="Calibri"/>
                <a:cs typeface="Calibri"/>
              </a:rPr>
              <a:t>x</a:t>
            </a:r>
            <a:r>
              <a:rPr dirty="0" spc="-25"/>
              <a:t>，</a:t>
            </a:r>
          </a:p>
          <a:p>
            <a:pPr marL="387350">
              <a:lnSpc>
                <a:spcPct val="100000"/>
              </a:lnSpc>
              <a:spcBef>
                <a:spcPts val="1565"/>
              </a:spcBef>
            </a:pPr>
            <a:r>
              <a:rPr dirty="0" spc="-10">
                <a:latin typeface="Calibri"/>
                <a:cs typeface="Calibri"/>
              </a:rPr>
              <a:t>x</a:t>
            </a:r>
            <a:r>
              <a:rPr dirty="0" spc="-10">
                <a:latin typeface="Symbol"/>
                <a:cs typeface="Symbol"/>
              </a:rPr>
              <a:t></a:t>
            </a:r>
            <a:r>
              <a:rPr dirty="0" spc="-10">
                <a:latin typeface="Calibri"/>
                <a:cs typeface="Calibri"/>
              </a:rPr>
              <a:t>P(A)</a:t>
            </a: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>
                <a:latin typeface="Symbol"/>
                <a:cs typeface="Symbol"/>
              </a:rPr>
              <a:t>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spc="-25">
                <a:latin typeface="Calibri"/>
                <a:cs typeface="Calibri"/>
              </a:rPr>
              <a:t>x</a:t>
            </a:r>
            <a:r>
              <a:rPr dirty="0" spc="-25">
                <a:latin typeface="Symbol"/>
                <a:cs typeface="Symbol"/>
              </a:rPr>
              <a:t></a:t>
            </a:r>
            <a:r>
              <a:rPr dirty="0" spc="-25">
                <a:latin typeface="Calibri"/>
                <a:cs typeface="Calibri"/>
              </a:rPr>
              <a:t>A</a:t>
            </a:r>
          </a:p>
          <a:p>
            <a:pPr marL="12700">
              <a:lnSpc>
                <a:spcPct val="100000"/>
              </a:lnSpc>
              <a:spcBef>
                <a:spcPts val="1565"/>
              </a:spcBef>
              <a:tabLst>
                <a:tab pos="1430655" algn="l"/>
              </a:tabLst>
            </a:pPr>
            <a:r>
              <a:rPr dirty="0">
                <a:latin typeface="Symbol"/>
                <a:cs typeface="Symbol"/>
              </a:rPr>
              <a:t>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spc="-25">
                <a:latin typeface="Calibri"/>
                <a:cs typeface="Calibri"/>
              </a:rPr>
              <a:t>x</a:t>
            </a:r>
            <a:r>
              <a:rPr dirty="0" spc="-25">
                <a:latin typeface="Symbol"/>
                <a:cs typeface="Symbol"/>
              </a:rPr>
              <a:t></a:t>
            </a:r>
            <a:r>
              <a:rPr dirty="0" spc="-25">
                <a:latin typeface="Calibri"/>
                <a:cs typeface="Calibri"/>
              </a:rPr>
              <a:t>B</a:t>
            </a:r>
            <a:r>
              <a:rPr dirty="0">
                <a:latin typeface="Calibri"/>
                <a:cs typeface="Calibri"/>
              </a:rPr>
              <a:t>	</a:t>
            </a:r>
            <a:r>
              <a:rPr dirty="0" spc="-20">
                <a:latin typeface="Calibri"/>
                <a:cs typeface="Calibri"/>
              </a:rPr>
              <a:t>(</a:t>
            </a:r>
            <a:r>
              <a:rPr dirty="0" spc="-2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pc="-20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pc="-20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pc="-20">
                <a:latin typeface="Calibri"/>
                <a:cs typeface="Calibri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dirty="0">
                <a:latin typeface="Symbol"/>
                <a:cs typeface="Symbol"/>
              </a:rPr>
              <a:t>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spc="-10">
                <a:latin typeface="Calibri"/>
                <a:cs typeface="Calibri"/>
              </a:rPr>
              <a:t>x</a:t>
            </a:r>
            <a:r>
              <a:rPr dirty="0" spc="-10">
                <a:latin typeface="Symbol"/>
                <a:cs typeface="Symbol"/>
              </a:rPr>
              <a:t></a:t>
            </a:r>
            <a:r>
              <a:rPr dirty="0" spc="-10">
                <a:latin typeface="Calibri"/>
                <a:cs typeface="Calibri"/>
              </a:rPr>
              <a:t>P(B)</a:t>
            </a:r>
            <a:r>
              <a:rPr dirty="0" spc="-10"/>
              <a:t>，</a:t>
            </a: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pc="270"/>
              <a:t>故有</a:t>
            </a:r>
            <a:r>
              <a:rPr dirty="0" spc="-20">
                <a:solidFill>
                  <a:srgbClr val="006FC0"/>
                </a:solidFill>
                <a:latin typeface="Calibri"/>
                <a:cs typeface="Calibri"/>
              </a:rPr>
              <a:t>P(A)</a:t>
            </a:r>
            <a:r>
              <a:rPr dirty="0" spc="-20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pc="-20">
                <a:solidFill>
                  <a:srgbClr val="006FC0"/>
                </a:solidFill>
                <a:latin typeface="Calibri"/>
                <a:cs typeface="Calibri"/>
              </a:rPr>
              <a:t>P(B)</a:t>
            </a:r>
            <a:r>
              <a:rPr dirty="0" spc="-50"/>
              <a:t>。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160145">
              <a:lnSpc>
                <a:spcPct val="150300"/>
              </a:lnSpc>
              <a:spcBef>
                <a:spcPts val="100"/>
              </a:spcBef>
            </a:pPr>
            <a:r>
              <a:rPr dirty="0"/>
              <a:t>再</a:t>
            </a:r>
            <a:r>
              <a:rPr dirty="0"/>
              <a:t>证</a:t>
            </a:r>
            <a:r>
              <a:rPr dirty="0"/>
              <a:t>充</a:t>
            </a:r>
            <a:r>
              <a:rPr dirty="0"/>
              <a:t>分</a:t>
            </a:r>
            <a:r>
              <a:rPr dirty="0" spc="-35"/>
              <a:t>性</a:t>
            </a:r>
            <a:r>
              <a:rPr dirty="0" spc="-50"/>
              <a:t>。</a:t>
            </a:r>
            <a:r>
              <a:rPr dirty="0"/>
              <a:t>对</a:t>
            </a:r>
            <a:r>
              <a:rPr dirty="0"/>
              <a:t>于</a:t>
            </a:r>
            <a:r>
              <a:rPr dirty="0"/>
              <a:t>任</a:t>
            </a:r>
            <a:r>
              <a:rPr dirty="0"/>
              <a:t>意</a:t>
            </a:r>
            <a:r>
              <a:rPr dirty="0" spc="-40"/>
              <a:t>的</a:t>
            </a:r>
            <a:r>
              <a:rPr dirty="0" spc="-25">
                <a:latin typeface="Calibri"/>
                <a:cs typeface="Calibri"/>
              </a:rPr>
              <a:t>y</a:t>
            </a:r>
            <a:r>
              <a:rPr dirty="0" spc="-25"/>
              <a:t>，</a:t>
            </a:r>
          </a:p>
          <a:p>
            <a:pPr marL="461009">
              <a:lnSpc>
                <a:spcPct val="100000"/>
              </a:lnSpc>
              <a:spcBef>
                <a:spcPts val="1565"/>
              </a:spcBef>
            </a:pPr>
            <a:r>
              <a:rPr dirty="0" spc="-25">
                <a:latin typeface="Calibri"/>
                <a:cs typeface="Calibri"/>
              </a:rPr>
              <a:t>y</a:t>
            </a:r>
            <a:r>
              <a:rPr dirty="0" spc="-25">
                <a:latin typeface="Symbol"/>
                <a:cs typeface="Symbol"/>
              </a:rPr>
              <a:t></a:t>
            </a:r>
            <a:r>
              <a:rPr dirty="0" spc="-25">
                <a:latin typeface="Calibri"/>
                <a:cs typeface="Calibri"/>
              </a:rPr>
              <a:t>A</a:t>
            </a: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>
                <a:latin typeface="Symbol"/>
                <a:cs typeface="Symbol"/>
              </a:rPr>
              <a:t>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spc="-10">
                <a:latin typeface="Calibri"/>
                <a:cs typeface="Calibri"/>
              </a:rPr>
              <a:t>{y}</a:t>
            </a:r>
            <a:r>
              <a:rPr dirty="0" spc="-10">
                <a:latin typeface="Symbol"/>
                <a:cs typeface="Symbol"/>
              </a:rPr>
              <a:t></a:t>
            </a:r>
            <a:r>
              <a:rPr dirty="0" spc="-10">
                <a:latin typeface="Calibri"/>
                <a:cs typeface="Calibri"/>
              </a:rPr>
              <a:t>P(A)</a:t>
            </a:r>
          </a:p>
          <a:p>
            <a:pPr marL="12700">
              <a:lnSpc>
                <a:spcPct val="100000"/>
              </a:lnSpc>
              <a:spcBef>
                <a:spcPts val="1565"/>
              </a:spcBef>
              <a:tabLst>
                <a:tab pos="1750695" algn="l"/>
              </a:tabLst>
            </a:pPr>
            <a:r>
              <a:rPr dirty="0">
                <a:latin typeface="Symbol"/>
                <a:cs typeface="Symbol"/>
              </a:rPr>
              <a:t></a:t>
            </a:r>
            <a:r>
              <a:rPr dirty="0" spc="-75" b="0">
                <a:latin typeface="Times New Roman"/>
                <a:cs typeface="Times New Roman"/>
              </a:rPr>
              <a:t> </a:t>
            </a:r>
            <a:r>
              <a:rPr dirty="0" spc="-10">
                <a:latin typeface="Calibri"/>
                <a:cs typeface="Calibri"/>
              </a:rPr>
              <a:t>{y}</a:t>
            </a:r>
            <a:r>
              <a:rPr dirty="0" spc="-10">
                <a:latin typeface="Symbol"/>
                <a:cs typeface="Symbol"/>
              </a:rPr>
              <a:t></a:t>
            </a:r>
            <a:r>
              <a:rPr dirty="0" spc="-10">
                <a:latin typeface="Calibri"/>
                <a:cs typeface="Calibri"/>
              </a:rPr>
              <a:t>P(B)</a:t>
            </a:r>
            <a:r>
              <a:rPr dirty="0">
                <a:latin typeface="Calibri"/>
                <a:cs typeface="Calibri"/>
              </a:rPr>
              <a:t>	</a:t>
            </a:r>
            <a:r>
              <a:rPr dirty="0" spc="-10">
                <a:latin typeface="Calibri"/>
                <a:cs typeface="Calibri"/>
              </a:rPr>
              <a:t>(</a:t>
            </a:r>
            <a:r>
              <a:rPr dirty="0" spc="-10">
                <a:solidFill>
                  <a:srgbClr val="006FC0"/>
                </a:solidFill>
                <a:latin typeface="Calibri"/>
                <a:cs typeface="Calibri"/>
              </a:rPr>
              <a:t>P(A)</a:t>
            </a:r>
            <a:r>
              <a:rPr dirty="0" spc="-10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 spc="-10">
                <a:solidFill>
                  <a:srgbClr val="006FC0"/>
                </a:solidFill>
                <a:latin typeface="Calibri"/>
                <a:cs typeface="Calibri"/>
              </a:rPr>
              <a:t>P(B)</a:t>
            </a:r>
            <a:r>
              <a:rPr dirty="0" spc="-10">
                <a:latin typeface="Calibri"/>
                <a:cs typeface="Calibri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dirty="0">
                <a:latin typeface="Symbol"/>
                <a:cs typeface="Symbol"/>
              </a:rPr>
              <a:t>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spc="-25">
                <a:latin typeface="Calibri"/>
                <a:cs typeface="Calibri"/>
              </a:rPr>
              <a:t>y</a:t>
            </a:r>
            <a:r>
              <a:rPr dirty="0" spc="-25">
                <a:latin typeface="Symbol"/>
                <a:cs typeface="Symbol"/>
              </a:rPr>
              <a:t></a:t>
            </a:r>
            <a:r>
              <a:rPr dirty="0" spc="-25">
                <a:latin typeface="Calibri"/>
                <a:cs typeface="Calibri"/>
              </a:rPr>
              <a:t>B</a:t>
            </a: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/>
              <a:t>所</a:t>
            </a:r>
            <a:r>
              <a:rPr dirty="0"/>
              <a:t>以</a:t>
            </a:r>
            <a:r>
              <a:rPr dirty="0"/>
              <a:t>，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>
                <a:solidFill>
                  <a:srgbClr val="006FC0"/>
                </a:solidFill>
                <a:latin typeface="Symbol"/>
                <a:cs typeface="Symbol"/>
              </a:rPr>
              <a:t></a:t>
            </a:r>
            <a:r>
              <a:rPr dirty="0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pc="-50"/>
              <a:t>。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4073652" y="1559052"/>
            <a:ext cx="0" cy="4392930"/>
          </a:xfrm>
          <a:custGeom>
            <a:avLst/>
            <a:gdLst/>
            <a:ahLst/>
            <a:cxnLst/>
            <a:rect l="l" t="t" r="r" b="b"/>
            <a:pathLst>
              <a:path w="0" h="4392930">
                <a:moveTo>
                  <a:pt x="0" y="0"/>
                </a:moveTo>
                <a:lnTo>
                  <a:pt x="0" y="4392612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幂</a:t>
            </a:r>
            <a:r>
              <a:rPr dirty="0"/>
              <a:t>集</a:t>
            </a:r>
            <a:r>
              <a:rPr dirty="0"/>
              <a:t>性</a:t>
            </a:r>
            <a:r>
              <a:rPr dirty="0"/>
              <a:t>质</a:t>
            </a:r>
            <a:r>
              <a:rPr dirty="0" spc="-25">
                <a:latin typeface="Calibri"/>
                <a:cs typeface="Calibri"/>
              </a:rPr>
              <a:t>(2)</a:t>
            </a:r>
            <a:r>
              <a:rPr dirty="0"/>
              <a:t>的</a:t>
            </a:r>
            <a:r>
              <a:rPr dirty="0" spc="-50"/>
              <a:t>证</a:t>
            </a:r>
            <a:r>
              <a:rPr dirty="0" spc="-50"/>
              <a:t>明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02882" y="1560080"/>
            <a:ext cx="8300084" cy="421068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2800" spc="20" b="1">
                <a:latin typeface="Microsoft JhengHei"/>
                <a:cs typeface="Microsoft JhengHei"/>
              </a:rPr>
              <a:t>对于任意的集合</a:t>
            </a:r>
            <a:r>
              <a:rPr dirty="0" sz="2800" spc="-25" b="1">
                <a:latin typeface="Calibri"/>
                <a:cs typeface="Calibri"/>
              </a:rPr>
              <a:t>x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2800" spc="70" b="1">
                <a:latin typeface="Microsoft JhengHei"/>
                <a:cs typeface="Microsoft JhengHei"/>
              </a:rPr>
              <a:t>若</a:t>
            </a:r>
            <a:r>
              <a:rPr dirty="0" sz="2800" b="1">
                <a:latin typeface="Calibri"/>
                <a:cs typeface="Calibri"/>
              </a:rPr>
              <a:t>x=</a:t>
            </a:r>
            <a:r>
              <a:rPr dirty="0" sz="2800" b="1">
                <a:latin typeface="Symbol"/>
                <a:cs typeface="Symbol"/>
              </a:rPr>
              <a:t>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P(A)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P(B</a:t>
            </a:r>
            <a:r>
              <a:rPr dirty="0" sz="2800" spc="5" b="1">
                <a:latin typeface="Calibri"/>
                <a:cs typeface="Calibri"/>
              </a:rPr>
              <a:t>) </a:t>
            </a:r>
            <a:r>
              <a:rPr dirty="0" sz="2800" spc="70" b="1">
                <a:latin typeface="Microsoft JhengHei"/>
                <a:cs typeface="Microsoft JhengHei"/>
              </a:rPr>
              <a:t>且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(P(A)-</a:t>
            </a:r>
            <a:r>
              <a:rPr dirty="0" sz="2800" spc="-10" b="1">
                <a:latin typeface="Calibri"/>
                <a:cs typeface="Calibri"/>
              </a:rPr>
              <a:t>P(B))</a:t>
            </a:r>
            <a:r>
              <a:rPr dirty="0" sz="2800" spc="-10" b="1">
                <a:latin typeface="Symbol"/>
                <a:cs typeface="Symbol"/>
              </a:rPr>
              <a:t></a:t>
            </a:r>
            <a:r>
              <a:rPr dirty="0" sz="2800" spc="-10" b="1">
                <a:latin typeface="Calibri"/>
                <a:cs typeface="Calibri"/>
              </a:rPr>
              <a:t>{</a:t>
            </a:r>
            <a:r>
              <a:rPr dirty="0" sz="2800" spc="-10" b="1">
                <a:latin typeface="Symbol"/>
                <a:cs typeface="Symbol"/>
              </a:rPr>
              <a:t></a:t>
            </a:r>
            <a:r>
              <a:rPr dirty="0" sz="2800" spc="-10" b="1">
                <a:latin typeface="Calibri"/>
                <a:cs typeface="Calibri"/>
              </a:rPr>
              <a:t>}</a:t>
            </a:r>
            <a:r>
              <a:rPr dirty="0" sz="2800" spc="30" b="1">
                <a:latin typeface="Microsoft JhengHei"/>
                <a:cs typeface="Microsoft JhengHei"/>
              </a:rPr>
              <a:t>。若</a:t>
            </a:r>
            <a:r>
              <a:rPr dirty="0" sz="2800" spc="-20" b="1">
                <a:latin typeface="Calibri"/>
                <a:cs typeface="Calibri"/>
              </a:rPr>
              <a:t>x</a:t>
            </a:r>
            <a:r>
              <a:rPr dirty="0" sz="2800" spc="-20" b="1">
                <a:latin typeface="Symbol"/>
                <a:cs typeface="Symbol"/>
              </a:rPr>
              <a:t></a:t>
            </a:r>
            <a:r>
              <a:rPr dirty="0" sz="2800" spc="-20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P(A-</a:t>
            </a:r>
            <a:r>
              <a:rPr dirty="0" sz="2800" spc="-25" b="1">
                <a:latin typeface="Calibri"/>
                <a:cs typeface="Calibri"/>
              </a:rPr>
              <a:t>B)</a:t>
            </a:r>
            <a:endParaRPr sz="2800">
              <a:latin typeface="Calibri"/>
              <a:cs typeface="Calibri"/>
            </a:endParaRPr>
          </a:p>
          <a:p>
            <a:pPr marL="982344">
              <a:lnSpc>
                <a:spcPct val="100000"/>
              </a:lnSpc>
              <a:spcBef>
                <a:spcPts val="132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</a:t>
            </a:r>
            <a:r>
              <a:rPr dirty="0" sz="2800" b="1">
                <a:latin typeface="Calibri"/>
                <a:cs typeface="Calibri"/>
              </a:rPr>
              <a:t>A-B</a:t>
            </a:r>
            <a:r>
              <a:rPr dirty="0" sz="2800" spc="-85" b="1"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</a:t>
            </a:r>
            <a:r>
              <a:rPr dirty="0" sz="2800" spc="-5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</a:t>
            </a: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Calibri"/>
                <a:cs typeface="Calibri"/>
              </a:rPr>
              <a:t>x</a:t>
            </a:r>
            <a:r>
              <a:rPr dirty="0" u="sng" sz="2800" spc="-25" b="1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</a:t>
            </a:r>
            <a:r>
              <a:rPr dirty="0" sz="2800" spc="-25" b="1"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  <a:p>
            <a:pPr marL="982344">
              <a:lnSpc>
                <a:spcPct val="100000"/>
              </a:lnSpc>
              <a:spcBef>
                <a:spcPts val="1325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P(A)</a:t>
            </a:r>
            <a:r>
              <a:rPr dirty="0" sz="2800" spc="-114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x</a:t>
            </a:r>
            <a:r>
              <a:rPr dirty="0" sz="2800" spc="-10" b="1">
                <a:latin typeface="Symbol"/>
                <a:cs typeface="Symbol"/>
              </a:rPr>
              <a:t></a:t>
            </a:r>
            <a:r>
              <a:rPr dirty="0" sz="2800" spc="-10" b="1">
                <a:latin typeface="Calibri"/>
                <a:cs typeface="Calibri"/>
              </a:rPr>
              <a:t>P(B)</a:t>
            </a:r>
            <a:endParaRPr sz="2800">
              <a:latin typeface="Calibri"/>
              <a:cs typeface="Calibri"/>
            </a:endParaRPr>
          </a:p>
          <a:p>
            <a:pPr marL="982344">
              <a:lnSpc>
                <a:spcPct val="100000"/>
              </a:lnSpc>
              <a:spcBef>
                <a:spcPts val="1400"/>
              </a:spcBef>
            </a:pP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70">
                <a:latin typeface="Times New Roman"/>
                <a:cs typeface="Times New Roman"/>
              </a:rPr>
              <a:t>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>
                <a:latin typeface="Calibri"/>
                <a:cs typeface="Calibri"/>
              </a:rPr>
              <a:t>(P(A)-</a:t>
            </a:r>
            <a:r>
              <a:rPr dirty="0" sz="2800" spc="-20" b="1">
                <a:latin typeface="Calibri"/>
                <a:cs typeface="Calibri"/>
              </a:rPr>
              <a:t>P(B))</a:t>
            </a:r>
            <a:endParaRPr sz="280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1325"/>
              </a:spcBef>
            </a:pPr>
            <a:r>
              <a:rPr dirty="0" sz="2800" spc="80" b="1">
                <a:latin typeface="Microsoft JhengHei"/>
                <a:cs typeface="Microsoft JhengHei"/>
              </a:rPr>
              <a:t>综上所述，可知</a:t>
            </a:r>
            <a:r>
              <a:rPr dirty="0" sz="2800" b="1">
                <a:latin typeface="Calibri"/>
                <a:cs typeface="Calibri"/>
              </a:rPr>
              <a:t>P(A-B</a:t>
            </a:r>
            <a:r>
              <a:rPr dirty="0" sz="2800" spc="-10" b="1">
                <a:latin typeface="Calibri"/>
                <a:cs typeface="Calibri"/>
              </a:rPr>
              <a:t>) </a:t>
            </a:r>
            <a:r>
              <a:rPr dirty="0" sz="2800" b="1">
                <a:latin typeface="Symbol"/>
                <a:cs typeface="Symbol"/>
              </a:rPr>
              <a:t>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(P(A)-</a:t>
            </a:r>
            <a:r>
              <a:rPr dirty="0" sz="2800" b="1">
                <a:latin typeface="Calibri"/>
                <a:cs typeface="Calibri"/>
              </a:rPr>
              <a:t>P(B))</a:t>
            </a:r>
            <a:r>
              <a:rPr dirty="0" sz="2800" b="1">
                <a:latin typeface="Symbol"/>
                <a:cs typeface="Symbol"/>
              </a:rPr>
              <a:t></a:t>
            </a:r>
            <a:r>
              <a:rPr dirty="0" sz="2800" b="1">
                <a:latin typeface="Calibri"/>
                <a:cs typeface="Calibri"/>
              </a:rPr>
              <a:t>{</a:t>
            </a:r>
            <a:r>
              <a:rPr dirty="0" sz="2800" b="1">
                <a:latin typeface="Symbol"/>
                <a:cs typeface="Symbol"/>
              </a:rPr>
              <a:t></a:t>
            </a:r>
            <a:r>
              <a:rPr dirty="0" sz="2800" b="1">
                <a:latin typeface="Calibri"/>
                <a:cs typeface="Calibri"/>
              </a:rPr>
              <a:t>}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7071" y="471551"/>
            <a:ext cx="116014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小</a:t>
            </a:r>
            <a:r>
              <a:rPr dirty="0" spc="-50"/>
              <a:t>结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7330" rIns="0" bIns="0" rtlCol="0" vert="horz">
            <a:spAutoFit/>
          </a:bodyPr>
          <a:lstStyle/>
          <a:p>
            <a:pPr marL="497205" indent="-485140">
              <a:lnSpc>
                <a:spcPct val="100000"/>
              </a:lnSpc>
              <a:spcBef>
                <a:spcPts val="1790"/>
              </a:spcBef>
              <a:buFont typeface="Calibri"/>
              <a:buAutoNum type="arabicParenBoth"/>
              <a:tabLst>
                <a:tab pos="497840" algn="l"/>
              </a:tabLst>
            </a:pPr>
            <a:r>
              <a:rPr dirty="0" spc="25"/>
              <a:t>集合恒等式</a:t>
            </a:r>
          </a:p>
          <a:p>
            <a:pPr lvl="1" marL="753745" indent="-284480">
              <a:lnSpc>
                <a:spcPct val="100000"/>
              </a:lnSpc>
              <a:spcBef>
                <a:spcPts val="168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b="1">
                <a:latin typeface="Calibri"/>
                <a:cs typeface="Calibri"/>
              </a:rPr>
              <a:t>13</a:t>
            </a:r>
            <a:r>
              <a:rPr dirty="0" sz="2800" spc="5" b="1">
                <a:latin typeface="Microsoft JhengHei"/>
                <a:cs typeface="Microsoft JhengHei"/>
              </a:rPr>
              <a:t>组最基本的集合恒等式</a:t>
            </a:r>
            <a:endParaRPr sz="2800">
              <a:latin typeface="Microsoft JhengHei"/>
              <a:cs typeface="Microsoft JhengHei"/>
            </a:endParaRPr>
          </a:p>
          <a:p>
            <a:pPr marL="497205" indent="-485140">
              <a:lnSpc>
                <a:spcPct val="100000"/>
              </a:lnSpc>
              <a:spcBef>
                <a:spcPts val="1690"/>
              </a:spcBef>
              <a:buFont typeface="Calibri"/>
              <a:buAutoNum type="arabicParenBoth"/>
              <a:tabLst>
                <a:tab pos="497840" algn="l"/>
              </a:tabLst>
            </a:pPr>
            <a:r>
              <a:rPr dirty="0" spc="25"/>
              <a:t>半形式化方法</a:t>
            </a:r>
          </a:p>
          <a:p>
            <a:pPr lvl="1" marL="753745" indent="-284480">
              <a:lnSpc>
                <a:spcPct val="100000"/>
              </a:lnSpc>
              <a:spcBef>
                <a:spcPts val="168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5" b="1">
                <a:latin typeface="Microsoft JhengHei"/>
                <a:cs typeface="Microsoft JhengHei"/>
              </a:rPr>
              <a:t>推导集合等式和包含式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2023-02-15T05:04:15Z</dcterms:created>
  <dcterms:modified xsi:type="dcterms:W3CDTF">2023-02-15T05:04:15Z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2018-01-29T00:00:00Z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2018-01-29T00:00:00Z</vt:filetime>
  </property>
</Properties>
</file>