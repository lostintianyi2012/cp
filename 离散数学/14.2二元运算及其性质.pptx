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4" r:id="rId1"/>
  </p:sldMasterIdLst>
  <p:notesMasterIdLst>
    <p:notesMasterId r:id="rId24"/>
  </p:notesMasterIdLst>
  <p:handoutMasterIdLst>
    <p:handoutMasterId r:id="rId25"/>
  </p:handoutMasterIdLst>
  <p:sldIdLst>
    <p:sldId id="263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330" r:id="rId17"/>
    <p:sldId id="282" r:id="rId18"/>
    <p:sldId id="283" r:id="rId19"/>
    <p:sldId id="284" r:id="rId20"/>
    <p:sldId id="285" r:id="rId21"/>
    <p:sldId id="286" r:id="rId22"/>
    <p:sldId id="287" r:id="rId2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230" autoAdjust="0"/>
  </p:normalViewPr>
  <p:slideViewPr>
    <p:cSldViewPr>
      <p:cViewPr varScale="1">
        <p:scale>
          <a:sx n="80" d="100"/>
          <a:sy n="80" d="100"/>
        </p:scale>
        <p:origin x="1301" y="58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808CA02-7400-432D-8019-87B39BE667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116CC4-7150-4012-9A47-DD5D8E893B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CF64723-1590-4C9F-9C77-8DC200943AFC}" type="datetimeFigureOut">
              <a:rPr lang="zh-CN" altLang="en-US"/>
              <a:pPr>
                <a:defRPr/>
              </a:pPr>
              <a:t>2020/7/3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74D93D-83B6-4A18-B214-A96AC430C9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0B0319-5DBD-4A5C-9FA3-098C261036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41F2809E-C147-4D6D-BB4A-49CE4A375B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0ABA68E-9CDA-4263-A50C-E8F013F7C0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7CCAB7-2729-4243-A44D-2C394CABAA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A34E2DA-64E4-479D-85D0-B4D8C22DF058}" type="datetimeFigureOut">
              <a:rPr lang="zh-CN" altLang="en-US"/>
              <a:pPr>
                <a:defRPr/>
              </a:pPr>
              <a:t>2020/7/3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5B19532-4EB1-4FEC-B7CE-8EA6135B2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33797" name="备注占位符 4">
            <a:extLst>
              <a:ext uri="{FF2B5EF4-FFF2-40B4-BE49-F238E27FC236}">
                <a16:creationId xmlns:a16="http://schemas.microsoft.com/office/drawing/2014/main" id="{407DE84F-41EF-4269-963F-D89F865E42A7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F09D95-3C22-445B-827C-85F945117B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47D55-F048-4C4E-AC91-3841314F9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FE0D43FF-206B-45F5-9A6E-CFE82762554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E3D87C38-E4B9-4217-823B-D03ACC3569D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1C81E77B-FAE2-4A9F-8169-BFE6C3DE99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710D271-9D69-4EDE-879B-885F40119E80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49A5612-5FB0-4B3C-BF48-D340417EA07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72C9947-256C-4C84-8174-AEA1922EBA48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6FA05D6-9B1D-4F22-BB05-FC877E1DF3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F720D32-6DA7-44CD-BAE1-464E985D72E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FC3B6F9-B645-4CA9-84B7-80DAF1C7F2A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5403894-4BF4-4912-83F0-41F70D256D30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59F186A-750A-4807-82DC-1885048786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2B9A112-5813-4E0F-8177-05F4621DC5C0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601C422-15C4-4063-99DE-BFBE646B43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746008D-4543-4A45-BC74-E8E617501067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7AEA342-E183-4354-A514-8604D4C7902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4055CB2-4A70-4470-AEB6-3875E5B9F0A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9D89C55-2531-4827-BC12-4BBC7E27D6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B30706B-B907-465A-A247-CAB775F0AEB9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F940D9F-51A6-41EE-B4C5-7BEBC7FAA8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0101BA5-B154-4800-BD9C-9BC240F91146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4240F6A-DBD6-4B8A-90FC-80DDC7F7D0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9D383DE-F29C-4322-87C8-9525A2AE97B5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8941F71-325F-4300-B876-F1D4712DE5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7C45308-D887-4149-8B0D-6DB90B0F633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85EA0DC-7EE1-4634-8FFC-821792914B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D30F3F8-F1A3-49FF-B452-321A8473E04B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2E6833F-EA6C-44AA-931C-EFC72CF7D1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049B647-52DC-4FD9-8CB0-5B4421AD016E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A599C48-5FA4-40AE-B3D3-01860172F0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1AB6FE0-B5D0-45BA-9F94-AEF86EA8BDDD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DFE45E6-51C7-4EE3-B8E0-6A5AF15AD8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4908634-20FE-478B-987F-9B5F81319B83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B6971E-261B-47CE-B320-CF45EA9F9D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63A7407-4AC9-4A39-ABE2-0102D76251F3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73CBE89-B2A9-46EB-84D4-A871B91DE1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B9A6E3E-5B5C-4D31-9F82-F3FB0F6AB179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2353709-DBFC-4038-80A5-F3FD28752F1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C2DD78B-8CC8-46D3-8B8B-B645E278C09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70F0192-F97A-429D-ACDF-8FBC27B953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85D57E6-1738-4B10-A2C1-C6FA8953436D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691DE29-8868-42AF-809A-2683525231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0B3B512-4C3F-4EB4-B402-91A84CDF50AF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DAFB62C-CC76-46FE-AF97-2350C85576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C223D47-2500-48ED-9C76-7FDCFA2F5DF1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3D3203A-5E1C-4B44-B387-D11949EA95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E6338-9923-4859-93EC-8197CA85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80A2E-8E08-4879-9989-1E56AD16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B2DCD-C804-41B9-81D7-1317FC61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D649E-1F24-4929-A8FD-D6497DC71F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021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A19B-EFBC-464F-847B-8688ED6A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E909D-1357-461A-93E3-14857E91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AA031-2372-4440-8A20-CA13ABD7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090E8-43B2-4C8F-BB72-7E367981AA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14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BFEB7-6088-4F84-8D4D-81185BAC8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4C8F7-3992-49DF-BD0B-19E6FC28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41844-D712-4EFD-8C60-2D579537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267CD-CEBA-4FA8-802F-D3D57236DD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69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FF34A8-006B-45F1-A23D-FFE53BF9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109BBD6-707F-4852-9C78-6ED3FEFC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4DCD42-B14C-4ECE-945D-81863244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B51CD-8115-48B9-ADA2-267820C484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91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F316C1-5178-4836-87CF-505518AA9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E1DED9-0996-41A3-B836-0C5A2ACBC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07EC22-622E-4A16-8E86-9AA34F2A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A0422-54C5-4035-8632-555F93E474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242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86AEAD0-D1F9-4AA0-9CB1-277EB9E9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10F18A9-CC81-415F-9A49-A13A61E1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C6F3CF-499F-4F57-A7BD-767EC688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B6870-3A16-419B-ADED-1CF4D056AE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35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E29E89-8F6C-4557-8C3D-F073B736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05F1FE-2C4A-483A-BE51-4B2E7BD1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001D876-AE65-44D9-B5DC-E366AF95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80811-0707-4DB0-B2CD-57BF8A1BAB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80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DBB14A-7108-4174-AF8F-BC21F6BF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E0B4CDE-9206-4E94-ADA4-4E8F4911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32ADEE-6FAC-488F-BA94-1F7B96BE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E2205-A4AF-4A03-B20B-6024825BEE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833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51B5AF-2805-4FD1-9DCF-DB33E9C1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AF088D-550A-4FEC-862D-E0789177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04AED5-39D4-48C1-A5A1-280BE9CF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A643A-D3C3-4A57-9B8C-045C02A82C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87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A43E3-52F1-4B58-80D9-AF859CCF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A827D-7A19-4992-B630-86B8CD8B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A1DBC-BC32-4BF8-8348-84CF4508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819F0-D686-4F59-AE13-F8433C2F68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1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F354A-B2A8-4B9F-BE47-C7CCDAF0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AA131-802F-4BE3-8CB7-7A6B82F7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0BED5-6811-4922-8874-D6E7C9DE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3194F-AB39-41C0-8856-1D268365D5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9712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47C6-9058-4DB6-9E09-829F6E0D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050D-9B62-46F7-B0BA-98036799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5A563-67E4-4D69-BAFA-39939492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1E737-B702-4BD9-8F63-8488FA134F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19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428DD7-FBDA-490F-B490-CB785C7349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83329B9-300B-4DD4-A0A4-4FFD8F6607C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07B77-F5DE-46B1-9E10-078AEB570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2AFB-4F6B-4F7C-8CD5-FE24AAB3E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76983-6912-457B-807C-AEB883894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5A8D606-21AD-498C-BA43-A80C94D27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F37CA488-ABD6-4D01-B71B-C535A9356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628775"/>
            <a:ext cx="8229600" cy="4032250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anose="02010509060101010101" pitchFamily="49" charset="-122"/>
              </a:rPr>
              <a:t>代数结构</a:t>
            </a:r>
            <a:endParaRPr lang="en-US" altLang="zh-CN" sz="440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4800" b="1">
                <a:solidFill>
                  <a:srgbClr val="C00000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zh-CN">
                <a:latin typeface="Arial" panose="020B0604020202020204" pitchFamily="34" charset="0"/>
              </a:rPr>
              <a:t>Algebraic Structure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                                           </a:t>
            </a:r>
            <a:r>
              <a:rPr lang="zh-CN" altLang="en-US" b="1"/>
              <a:t>代数系统  半群与独异点群     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b="1"/>
              <a:t>                                           环与域  格与布尔代数</a:t>
            </a: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altLang="zh-CN" sz="4400" b="1">
                <a:solidFill>
                  <a:srgbClr val="C00000"/>
                </a:solidFill>
                <a:latin typeface="Arial" panose="020B0604020202020204" pitchFamily="34" charset="0"/>
              </a:rPr>
              <a:t>                 </a:t>
            </a:r>
            <a:endParaRPr lang="en-US" altLang="zh-CN" sz="4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>
            <a:extLst>
              <a:ext uri="{FF2B5EF4-FFF2-40B4-BE49-F238E27FC236}">
                <a16:creationId xmlns:a16="http://schemas.microsoft.com/office/drawing/2014/main" id="{5A9B1EA1-D34E-467E-B10A-CAE96C1C2EE7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2205038"/>
            <a:ext cx="1873250" cy="2847975"/>
            <a:chOff x="4422" y="1616"/>
            <a:chExt cx="1180" cy="1794"/>
          </a:xfrm>
        </p:grpSpPr>
        <p:sp>
          <p:nvSpPr>
            <p:cNvPr id="6191" name="Text Box 16">
              <a:extLst>
                <a:ext uri="{FF2B5EF4-FFF2-40B4-BE49-F238E27FC236}">
                  <a16:creationId xmlns:a16="http://schemas.microsoft.com/office/drawing/2014/main" id="{E41728E6-684A-42D0-9771-614F814FB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16"/>
              <a:ext cx="1134" cy="1794"/>
            </a:xfrm>
            <a:prstGeom prst="rect">
              <a:avLst/>
            </a:prstGeom>
            <a:solidFill>
              <a:srgbClr val="FFFF00">
                <a:alpha val="21960"/>
              </a:srgbClr>
            </a:solidFill>
            <a:ln w="9525">
              <a:solidFill>
                <a:srgbClr val="3399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zh-CN" b="1">
                  <a:latin typeface="Arial" panose="020B0604020202020204" pitchFamily="34" charset="0"/>
                </a:rPr>
                <a:t>  </a:t>
              </a:r>
            </a:p>
            <a:p>
              <a:pPr eaLnBrk="1" hangingPunct="1"/>
              <a:endParaRPr lang="en-US" altLang="zh-CN" b="1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zh-CN" b="1">
                  <a:latin typeface="Arial" panose="020B0604020202020204" pitchFamily="34" charset="0"/>
                </a:rPr>
                <a:t> </a:t>
              </a:r>
              <a:r>
                <a:rPr lang="zh-CN" altLang="en-US" b="1">
                  <a:latin typeface="Arial" panose="020B0604020202020204" pitchFamily="34" charset="0"/>
                </a:rPr>
                <a:t>新代数系统</a:t>
              </a:r>
            </a:p>
          </p:txBody>
        </p:sp>
        <p:sp>
          <p:nvSpPr>
            <p:cNvPr id="6192" name="Text Box 17">
              <a:extLst>
                <a:ext uri="{FF2B5EF4-FFF2-40B4-BE49-F238E27FC236}">
                  <a16:creationId xmlns:a16="http://schemas.microsoft.com/office/drawing/2014/main" id="{07ED2E31-37E9-44CB-9604-AD2EE3F0E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5" y="2350"/>
              <a:ext cx="289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同类型的</a:t>
              </a:r>
            </a:p>
          </p:txBody>
        </p:sp>
        <p:sp>
          <p:nvSpPr>
            <p:cNvPr id="6193" name="Text Box 18">
              <a:extLst>
                <a:ext uri="{FF2B5EF4-FFF2-40B4-BE49-F238E27FC236}">
                  <a16:creationId xmlns:a16="http://schemas.microsoft.com/office/drawing/2014/main" id="{AB4362DA-137E-4EA3-ABE0-5E8E81D0A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" y="1676"/>
              <a:ext cx="289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同种的</a:t>
              </a:r>
            </a:p>
          </p:txBody>
        </p:sp>
      </p:grpSp>
      <p:sp>
        <p:nvSpPr>
          <p:cNvPr id="9219" name="Rectangle 2">
            <a:extLst>
              <a:ext uri="{FF2B5EF4-FFF2-40B4-BE49-F238E27FC236}">
                <a16:creationId xmlns:a16="http://schemas.microsoft.com/office/drawing/2014/main" id="{EC93E349-2303-4DFF-8F84-40DB508DA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420100" cy="79216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第十五章 代数系统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390167-6915-4909-80A3-B453060F40B2}"/>
              </a:ext>
            </a:extLst>
          </p:cNvPr>
          <p:cNvGrpSpPr>
            <a:grpSpLocks/>
          </p:cNvGrpSpPr>
          <p:nvPr/>
        </p:nvGrpSpPr>
        <p:grpSpPr bwMode="auto">
          <a:xfrm>
            <a:off x="2516188" y="3140075"/>
            <a:ext cx="2663825" cy="1368425"/>
            <a:chOff x="1585" y="2205"/>
            <a:chExt cx="1653" cy="862"/>
          </a:xfrm>
        </p:grpSpPr>
        <p:sp>
          <p:nvSpPr>
            <p:cNvPr id="6189" name="Rectangle 4">
              <a:extLst>
                <a:ext uri="{FF2B5EF4-FFF2-40B4-BE49-F238E27FC236}">
                  <a16:creationId xmlns:a16="http://schemas.microsoft.com/office/drawing/2014/main" id="{2677B878-E948-4FE2-8CD7-14D050A3A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2836"/>
              <a:ext cx="1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代数系统的构成</a:t>
              </a:r>
            </a:p>
          </p:txBody>
        </p:sp>
        <p:sp>
          <p:nvSpPr>
            <p:cNvPr id="6190" name="Rectangle 5">
              <a:extLst>
                <a:ext uri="{FF2B5EF4-FFF2-40B4-BE49-F238E27FC236}">
                  <a16:creationId xmlns:a16="http://schemas.microsoft.com/office/drawing/2014/main" id="{4AD45FDC-5D2C-4793-9E87-C47A8EF56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5" y="2205"/>
              <a:ext cx="1653" cy="58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</a:pPr>
              <a:r>
                <a:rPr lang="zh-CN" altLang="en-US" sz="2400" b="1">
                  <a:latin typeface="Arial" panose="020B0604020202020204" pitchFamily="34" charset="0"/>
                </a:rPr>
                <a:t>成分：载体及运算</a:t>
              </a:r>
            </a:p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</a:pPr>
              <a:r>
                <a:rPr lang="zh-CN" altLang="en-US" sz="2400" b="1">
                  <a:latin typeface="Arial" panose="020B0604020202020204" pitchFamily="34" charset="0"/>
                </a:rPr>
                <a:t>公理：运算性质</a:t>
              </a:r>
            </a:p>
          </p:txBody>
        </p:sp>
      </p:grpSp>
      <p:sp>
        <p:nvSpPr>
          <p:cNvPr id="222214" name="Text Box 6">
            <a:extLst>
              <a:ext uri="{FF2B5EF4-FFF2-40B4-BE49-F238E27FC236}">
                <a16:creationId xmlns:a16="http://schemas.microsoft.com/office/drawing/2014/main" id="{3DF36CC5-E39A-4BF3-BFBD-366538E8B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3230563"/>
            <a:ext cx="1192212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积代数</a:t>
            </a:r>
          </a:p>
        </p:txBody>
      </p:sp>
      <p:sp>
        <p:nvSpPr>
          <p:cNvPr id="222215" name="Text Box 7">
            <a:extLst>
              <a:ext uri="{FF2B5EF4-FFF2-40B4-BE49-F238E27FC236}">
                <a16:creationId xmlns:a16="http://schemas.microsoft.com/office/drawing/2014/main" id="{9432EB40-DCC0-40CF-9D71-8253BD954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4022725"/>
            <a:ext cx="1192212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商代数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CFF34102-CCBA-4598-8F64-81191218B7A3}"/>
              </a:ext>
            </a:extLst>
          </p:cNvPr>
          <p:cNvGrpSpPr>
            <a:grpSpLocks/>
          </p:cNvGrpSpPr>
          <p:nvPr/>
        </p:nvGrpSpPr>
        <p:grpSpPr bwMode="auto">
          <a:xfrm>
            <a:off x="5613400" y="2341563"/>
            <a:ext cx="1479550" cy="368300"/>
            <a:chOff x="3536" y="1702"/>
            <a:chExt cx="907" cy="232"/>
          </a:xfrm>
        </p:grpSpPr>
        <p:sp>
          <p:nvSpPr>
            <p:cNvPr id="6187" name="Text Box 9">
              <a:extLst>
                <a:ext uri="{FF2B5EF4-FFF2-40B4-BE49-F238E27FC236}">
                  <a16:creationId xmlns:a16="http://schemas.microsoft.com/office/drawing/2014/main" id="{C07D78ED-15A7-4560-BA80-937F4BAA4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" y="1702"/>
              <a:ext cx="4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b="1">
                  <a:latin typeface="Arial" panose="020B0604020202020204" pitchFamily="34" charset="0"/>
                </a:rPr>
                <a:t> </a:t>
              </a:r>
              <a:r>
                <a:rPr lang="zh-CN" altLang="en-US" b="1">
                  <a:latin typeface="Arial" panose="020B0604020202020204" pitchFamily="34" charset="0"/>
                </a:rPr>
                <a:t>子集</a:t>
              </a:r>
            </a:p>
          </p:txBody>
        </p:sp>
        <p:sp>
          <p:nvSpPr>
            <p:cNvPr id="6188" name="Line 10">
              <a:extLst>
                <a:ext uri="{FF2B5EF4-FFF2-40B4-BE49-F238E27FC236}">
                  <a16:creationId xmlns:a16="http://schemas.microsoft.com/office/drawing/2014/main" id="{2AC9FD15-1CBA-4BA5-83BF-AAD8FC347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6" y="1934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BA82604D-8FA6-476D-92A6-F93655F93FBC}"/>
              </a:ext>
            </a:extLst>
          </p:cNvPr>
          <p:cNvGrpSpPr>
            <a:grpSpLocks/>
          </p:cNvGrpSpPr>
          <p:nvPr/>
        </p:nvGrpSpPr>
        <p:grpSpPr bwMode="auto">
          <a:xfrm>
            <a:off x="5613400" y="4070350"/>
            <a:ext cx="1479550" cy="438150"/>
            <a:chOff x="3536" y="2655"/>
            <a:chExt cx="907" cy="276"/>
          </a:xfrm>
        </p:grpSpPr>
        <p:sp>
          <p:nvSpPr>
            <p:cNvPr id="6185" name="Text Box 12">
              <a:extLst>
                <a:ext uri="{FF2B5EF4-FFF2-40B4-BE49-F238E27FC236}">
                  <a16:creationId xmlns:a16="http://schemas.microsoft.com/office/drawing/2014/main" id="{24E8E2F7-130D-441C-B9D5-9423FD396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2655"/>
              <a:ext cx="6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等价关系</a:t>
              </a:r>
            </a:p>
          </p:txBody>
        </p:sp>
        <p:sp>
          <p:nvSpPr>
            <p:cNvPr id="6186" name="Line 13">
              <a:extLst>
                <a:ext uri="{FF2B5EF4-FFF2-40B4-BE49-F238E27FC236}">
                  <a16:creationId xmlns:a16="http://schemas.microsoft.com/office/drawing/2014/main" id="{424F2994-1BC1-46A6-8A9C-FCA1642B7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6" y="2931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2222" name="Text Box 14">
            <a:extLst>
              <a:ext uri="{FF2B5EF4-FFF2-40B4-BE49-F238E27FC236}">
                <a16:creationId xmlns:a16="http://schemas.microsoft.com/office/drawing/2014/main" id="{1D91BE02-A92F-447A-A23A-4C32832D6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2438400"/>
            <a:ext cx="1192212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子代数</a:t>
            </a:r>
          </a:p>
        </p:txBody>
      </p:sp>
      <p:grpSp>
        <p:nvGrpSpPr>
          <p:cNvPr id="6" name="Group 19">
            <a:extLst>
              <a:ext uri="{FF2B5EF4-FFF2-40B4-BE49-F238E27FC236}">
                <a16:creationId xmlns:a16="http://schemas.microsoft.com/office/drawing/2014/main" id="{514D25CD-7C5C-43FB-9FEE-889D9A331990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5013325"/>
            <a:ext cx="1795463" cy="1223963"/>
            <a:chOff x="1857" y="3385"/>
            <a:chExt cx="1131" cy="771"/>
          </a:xfrm>
        </p:grpSpPr>
        <p:sp>
          <p:nvSpPr>
            <p:cNvPr id="6183" name="Text Box 20">
              <a:extLst>
                <a:ext uri="{FF2B5EF4-FFF2-40B4-BE49-F238E27FC236}">
                  <a16:creationId xmlns:a16="http://schemas.microsoft.com/office/drawing/2014/main" id="{32EBD904-C30F-45D6-9998-7ACCAE99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3385"/>
              <a:ext cx="1099" cy="5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Arial" panose="020B0604020202020204" pitchFamily="34" charset="0"/>
                </a:rPr>
                <a:t>代数系统的</a:t>
              </a:r>
            </a:p>
            <a:p>
              <a:pPr eaLnBrk="1" hangingPunct="1"/>
              <a:r>
                <a:rPr lang="zh-CN" altLang="en-US" sz="2400" b="1">
                  <a:latin typeface="Arial" panose="020B0604020202020204" pitchFamily="34" charset="0"/>
                </a:rPr>
                <a:t>同态与同构</a:t>
              </a:r>
            </a:p>
          </p:txBody>
        </p:sp>
        <p:sp>
          <p:nvSpPr>
            <p:cNvPr id="6184" name="Text Box 21">
              <a:extLst>
                <a:ext uri="{FF2B5EF4-FFF2-40B4-BE49-F238E27FC236}">
                  <a16:creationId xmlns:a16="http://schemas.microsoft.com/office/drawing/2014/main" id="{27DE78AD-86E1-49E6-A12B-68B88F499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3925"/>
              <a:ext cx="11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代数系统间关系</a:t>
              </a:r>
            </a:p>
          </p:txBody>
        </p:sp>
      </p:grpSp>
      <p:grpSp>
        <p:nvGrpSpPr>
          <p:cNvPr id="7" name="Group 22">
            <a:extLst>
              <a:ext uri="{FF2B5EF4-FFF2-40B4-BE49-F238E27FC236}">
                <a16:creationId xmlns:a16="http://schemas.microsoft.com/office/drawing/2014/main" id="{732DE840-E95A-471A-9240-17E72EFA1F2B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303588"/>
            <a:ext cx="1831975" cy="630237"/>
            <a:chOff x="431" y="2308"/>
            <a:chExt cx="1086" cy="397"/>
          </a:xfrm>
        </p:grpSpPr>
        <p:sp>
          <p:nvSpPr>
            <p:cNvPr id="6179" name="Text Box 23">
              <a:extLst>
                <a:ext uri="{FF2B5EF4-FFF2-40B4-BE49-F238E27FC236}">
                  <a16:creationId xmlns:a16="http://schemas.microsoft.com/office/drawing/2014/main" id="{AA86E11E-737C-43B7-8ED8-8E7EFC93C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308"/>
              <a:ext cx="634" cy="29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</a:t>
              </a:r>
              <a:r>
                <a:rPr lang="zh-CN" altLang="en-US" sz="2400" b="1">
                  <a:latin typeface="Arial" panose="020B0604020202020204" pitchFamily="34" charset="0"/>
                </a:rPr>
                <a:t>代数</a:t>
              </a:r>
            </a:p>
          </p:txBody>
        </p:sp>
        <p:grpSp>
          <p:nvGrpSpPr>
            <p:cNvPr id="6180" name="Group 24">
              <a:extLst>
                <a:ext uri="{FF2B5EF4-FFF2-40B4-BE49-F238E27FC236}">
                  <a16:creationId xmlns:a16="http://schemas.microsoft.com/office/drawing/2014/main" id="{F3893C6D-8E98-4735-AD6A-B761B4E722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5" y="2473"/>
              <a:ext cx="452" cy="232"/>
              <a:chOff x="1065" y="2473"/>
              <a:chExt cx="452" cy="232"/>
            </a:xfrm>
          </p:grpSpPr>
          <p:sp>
            <p:nvSpPr>
              <p:cNvPr id="6181" name="Text Box 25">
                <a:extLst>
                  <a:ext uri="{FF2B5EF4-FFF2-40B4-BE49-F238E27FC236}">
                    <a16:creationId xmlns:a16="http://schemas.microsoft.com/office/drawing/2014/main" id="{0BCB25EC-E8D7-4586-9490-3BDC05F9E3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1" y="2473"/>
                <a:ext cx="40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zh-CN" altLang="en-US" b="1">
                    <a:latin typeface="Arial" panose="020B0604020202020204" pitchFamily="34" charset="0"/>
                  </a:rPr>
                  <a:t>推广</a:t>
                </a:r>
              </a:p>
            </p:txBody>
          </p:sp>
          <p:sp>
            <p:nvSpPr>
              <p:cNvPr id="6182" name="Line 26">
                <a:extLst>
                  <a:ext uri="{FF2B5EF4-FFF2-40B4-BE49-F238E27FC236}">
                    <a16:creationId xmlns:a16="http://schemas.microsoft.com/office/drawing/2014/main" id="{903E152F-BFDE-4FC5-BF25-C22611892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5" y="2478"/>
                <a:ext cx="4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C0CEFC46-2E6D-4A58-9554-9EAE56BC2F06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2557463"/>
            <a:ext cx="2592387" cy="588962"/>
            <a:chOff x="1610" y="1842"/>
            <a:chExt cx="1542" cy="318"/>
          </a:xfrm>
        </p:grpSpPr>
        <p:sp>
          <p:nvSpPr>
            <p:cNvPr id="6176" name="Line 28">
              <a:extLst>
                <a:ext uri="{FF2B5EF4-FFF2-40B4-BE49-F238E27FC236}">
                  <a16:creationId xmlns:a16="http://schemas.microsoft.com/office/drawing/2014/main" id="{3E1CD8FB-9E2B-4415-9751-D59FA81C3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843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29">
              <a:extLst>
                <a:ext uri="{FF2B5EF4-FFF2-40B4-BE49-F238E27FC236}">
                  <a16:creationId xmlns:a16="http://schemas.microsoft.com/office/drawing/2014/main" id="{37FBB769-AD80-474A-B528-D50EB349A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842"/>
              <a:ext cx="1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8" name="Text Box 30">
              <a:extLst>
                <a:ext uri="{FF2B5EF4-FFF2-40B4-BE49-F238E27FC236}">
                  <a16:creationId xmlns:a16="http://schemas.microsoft.com/office/drawing/2014/main" id="{53B7C244-C124-4731-811D-C2909652A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1842"/>
              <a:ext cx="40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分类</a:t>
              </a:r>
            </a:p>
          </p:txBody>
        </p:sp>
      </p:grpSp>
      <p:grpSp>
        <p:nvGrpSpPr>
          <p:cNvPr id="10" name="Group 31">
            <a:extLst>
              <a:ext uri="{FF2B5EF4-FFF2-40B4-BE49-F238E27FC236}">
                <a16:creationId xmlns:a16="http://schemas.microsoft.com/office/drawing/2014/main" id="{BA15736A-094F-4F14-A959-6431D7349086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1555750"/>
            <a:ext cx="1438275" cy="989013"/>
            <a:chOff x="1021" y="1219"/>
            <a:chExt cx="906" cy="623"/>
          </a:xfrm>
        </p:grpSpPr>
        <p:sp>
          <p:nvSpPr>
            <p:cNvPr id="6174" name="Line 32">
              <a:extLst>
                <a:ext uri="{FF2B5EF4-FFF2-40B4-BE49-F238E27FC236}">
                  <a16:creationId xmlns:a16="http://schemas.microsoft.com/office/drawing/2014/main" id="{04C0DAC6-3713-4B86-8EBA-1CD1BF9EC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157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5" name="Text Box 33">
              <a:extLst>
                <a:ext uri="{FF2B5EF4-FFF2-40B4-BE49-F238E27FC236}">
                  <a16:creationId xmlns:a16="http://schemas.microsoft.com/office/drawing/2014/main" id="{4C7D234C-A228-47A2-8917-6E885B5A1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" y="1219"/>
              <a:ext cx="906" cy="30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Arial" panose="020B0604020202020204" pitchFamily="34" charset="0"/>
                </a:rPr>
                <a:t>半群与群</a:t>
              </a:r>
            </a:p>
          </p:txBody>
        </p:sp>
      </p:grpSp>
      <p:grpSp>
        <p:nvGrpSpPr>
          <p:cNvPr id="11" name="Group 34">
            <a:extLst>
              <a:ext uri="{FF2B5EF4-FFF2-40B4-BE49-F238E27FC236}">
                <a16:creationId xmlns:a16="http://schemas.microsoft.com/office/drawing/2014/main" id="{FC9AD45E-E25F-4E05-A47E-98EBA3C3C3EE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1574800"/>
            <a:ext cx="825500" cy="989013"/>
            <a:chOff x="2109" y="1219"/>
            <a:chExt cx="520" cy="623"/>
          </a:xfrm>
        </p:grpSpPr>
        <p:sp>
          <p:nvSpPr>
            <p:cNvPr id="6172" name="Text Box 35">
              <a:extLst>
                <a:ext uri="{FF2B5EF4-FFF2-40B4-BE49-F238E27FC236}">
                  <a16:creationId xmlns:a16="http://schemas.microsoft.com/office/drawing/2014/main" id="{1105B2EC-B978-4F72-AC31-30DEF091D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1219"/>
              <a:ext cx="520" cy="30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Arial" panose="020B0604020202020204" pitchFamily="34" charset="0"/>
                </a:rPr>
                <a:t>环域</a:t>
              </a:r>
            </a:p>
          </p:txBody>
        </p:sp>
        <p:sp>
          <p:nvSpPr>
            <p:cNvPr id="6173" name="Line 36">
              <a:extLst>
                <a:ext uri="{FF2B5EF4-FFF2-40B4-BE49-F238E27FC236}">
                  <a16:creationId xmlns:a16="http://schemas.microsoft.com/office/drawing/2014/main" id="{1F1BBD1E-26A4-481E-9225-EBAEDE424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57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37">
            <a:extLst>
              <a:ext uri="{FF2B5EF4-FFF2-40B4-BE49-F238E27FC236}">
                <a16:creationId xmlns:a16="http://schemas.microsoft.com/office/drawing/2014/main" id="{77EDCE48-EEBA-4814-B3A2-B18CB573CC85}"/>
              </a:ext>
            </a:extLst>
          </p:cNvPr>
          <p:cNvGrpSpPr>
            <a:grpSpLocks/>
          </p:cNvGrpSpPr>
          <p:nvPr/>
        </p:nvGrpSpPr>
        <p:grpSpPr bwMode="auto">
          <a:xfrm>
            <a:off x="4465638" y="1574800"/>
            <a:ext cx="2051050" cy="989013"/>
            <a:chOff x="2777" y="1219"/>
            <a:chExt cx="1257" cy="623"/>
          </a:xfrm>
        </p:grpSpPr>
        <p:sp>
          <p:nvSpPr>
            <p:cNvPr id="6170" name="Text Box 38">
              <a:extLst>
                <a:ext uri="{FF2B5EF4-FFF2-40B4-BE49-F238E27FC236}">
                  <a16:creationId xmlns:a16="http://schemas.microsoft.com/office/drawing/2014/main" id="{2779B5FD-A24F-4A23-A9B3-E5493854F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7" y="1219"/>
              <a:ext cx="1257" cy="30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Arial" panose="020B0604020202020204" pitchFamily="34" charset="0"/>
                </a:rPr>
                <a:t>格与布尔代数</a:t>
              </a:r>
            </a:p>
          </p:txBody>
        </p:sp>
        <p:sp>
          <p:nvSpPr>
            <p:cNvPr id="6171" name="Line 39">
              <a:extLst>
                <a:ext uri="{FF2B5EF4-FFF2-40B4-BE49-F238E27FC236}">
                  <a16:creationId xmlns:a16="http://schemas.microsoft.com/office/drawing/2014/main" id="{DBCCA72D-9C70-41C2-8EA4-974FF4A45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2" y="157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40">
            <a:extLst>
              <a:ext uri="{FF2B5EF4-FFF2-40B4-BE49-F238E27FC236}">
                <a16:creationId xmlns:a16="http://schemas.microsoft.com/office/drawing/2014/main" id="{BF1FF075-E3D0-4A2C-8A62-C57806E4F3CF}"/>
              </a:ext>
            </a:extLst>
          </p:cNvPr>
          <p:cNvGrpSpPr>
            <a:grpSpLocks/>
          </p:cNvGrpSpPr>
          <p:nvPr/>
        </p:nvGrpSpPr>
        <p:grpSpPr bwMode="auto">
          <a:xfrm>
            <a:off x="3803650" y="4508500"/>
            <a:ext cx="839788" cy="431800"/>
            <a:chOff x="2336" y="3067"/>
            <a:chExt cx="529" cy="272"/>
          </a:xfrm>
        </p:grpSpPr>
        <p:sp>
          <p:nvSpPr>
            <p:cNvPr id="6168" name="Text Box 41">
              <a:extLst>
                <a:ext uri="{FF2B5EF4-FFF2-40B4-BE49-F238E27FC236}">
                  <a16:creationId xmlns:a16="http://schemas.microsoft.com/office/drawing/2014/main" id="{033A8BB1-18D9-4EE1-AAE3-2F46218F4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" y="3108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映射</a:t>
              </a:r>
            </a:p>
          </p:txBody>
        </p:sp>
        <p:sp>
          <p:nvSpPr>
            <p:cNvPr id="6169" name="Line 42">
              <a:extLst>
                <a:ext uri="{FF2B5EF4-FFF2-40B4-BE49-F238E27FC236}">
                  <a16:creationId xmlns:a16="http://schemas.microsoft.com/office/drawing/2014/main" id="{DAF5C236-0B05-4689-8D88-1F3B8AB14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06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43">
            <a:extLst>
              <a:ext uri="{FF2B5EF4-FFF2-40B4-BE49-F238E27FC236}">
                <a16:creationId xmlns:a16="http://schemas.microsoft.com/office/drawing/2014/main" id="{1D61A829-A2EC-4D8A-A07F-713A7FE1B9FD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3133725"/>
            <a:ext cx="1512887" cy="439738"/>
            <a:chOff x="3515" y="2201"/>
            <a:chExt cx="907" cy="277"/>
          </a:xfrm>
        </p:grpSpPr>
        <p:sp>
          <p:nvSpPr>
            <p:cNvPr id="6166" name="Text Box 44">
              <a:extLst>
                <a:ext uri="{FF2B5EF4-FFF2-40B4-BE49-F238E27FC236}">
                  <a16:creationId xmlns:a16="http://schemas.microsoft.com/office/drawing/2014/main" id="{ADEB2D3C-39E6-4DC2-A127-77EB72089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2201"/>
              <a:ext cx="6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zh-CN" altLang="en-US" b="1">
                  <a:latin typeface="Arial" panose="020B0604020202020204" pitchFamily="34" charset="0"/>
                </a:rPr>
                <a:t>笛卡儿积</a:t>
              </a:r>
            </a:p>
          </p:txBody>
        </p:sp>
        <p:sp>
          <p:nvSpPr>
            <p:cNvPr id="6167" name="Line 45">
              <a:extLst>
                <a:ext uri="{FF2B5EF4-FFF2-40B4-BE49-F238E27FC236}">
                  <a16:creationId xmlns:a16="http://schemas.microsoft.com/office/drawing/2014/main" id="{1342017F-0834-449C-8AE0-9DDE5505D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247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E6D9F904-A98B-4241-BFB0-4C4109358497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2708275"/>
            <a:ext cx="450850" cy="1800225"/>
            <a:chOff x="3243" y="1933"/>
            <a:chExt cx="227" cy="1134"/>
          </a:xfrm>
        </p:grpSpPr>
        <p:sp>
          <p:nvSpPr>
            <p:cNvPr id="6164" name="Line 48">
              <a:extLst>
                <a:ext uri="{FF2B5EF4-FFF2-40B4-BE49-F238E27FC236}">
                  <a16:creationId xmlns:a16="http://schemas.microsoft.com/office/drawing/2014/main" id="{C39FD283-2B44-46E8-9168-607EB655E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478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Line 50">
              <a:extLst>
                <a:ext uri="{FF2B5EF4-FFF2-40B4-BE49-F238E27FC236}">
                  <a16:creationId xmlns:a16="http://schemas.microsoft.com/office/drawing/2014/main" id="{A9113CC9-3C84-4DB7-BC50-CAF83E36A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933"/>
              <a:ext cx="0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63" name="文本框 7">
            <a:extLst>
              <a:ext uri="{FF2B5EF4-FFF2-40B4-BE49-F238E27FC236}">
                <a16:creationId xmlns:a16="http://schemas.microsoft.com/office/drawing/2014/main" id="{2E4835D2-A4CF-4D5B-8DB2-5B5304619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290888"/>
            <a:ext cx="708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b="1">
                <a:latin typeface="宋体" panose="02010600030101010101" pitchFamily="2" charset="-122"/>
              </a:rPr>
              <a:t>产生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 animBg="1"/>
      <p:bldP spid="222215" grpId="0" animBg="1"/>
      <p:bldP spid="2222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F9DC144-6366-487E-BDDB-CCE5DC12A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60350"/>
            <a:ext cx="7772400" cy="639763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15.1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二元运算及其性质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32FE3A8-96C8-421F-933E-A3E4DDB382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341438"/>
            <a:ext cx="7772400" cy="4530725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元运算的定义及实例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元运算的表示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二元运算的算律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二元运算的特异元素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B3C17D4-FB0D-4532-B100-A45EDEF39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188913"/>
            <a:ext cx="7772400" cy="9271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元运算的定义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4487D48-5AA2-4D5D-B86B-6BF05549F7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07375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>
                <a:latin typeface="Times New Roman" panose="02020603050405020304" pitchFamily="18" charset="0"/>
              </a:rPr>
              <a:t>：设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为集合，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</a:rPr>
              <a:t>函数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称为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上的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二元运算</a:t>
            </a:r>
          </a:p>
          <a:p>
            <a:pPr eaLnBrk="1" hangingPunct="1">
              <a:lnSpc>
                <a:spcPts val="33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函数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称为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上的 </a:t>
            </a:r>
            <a:r>
              <a:rPr lang="en-US" altLang="zh-CN" sz="2400" b="1" i="1">
                <a:solidFill>
                  <a:srgbClr val="8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元运算 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=0,  0</a:t>
            </a:r>
            <a:r>
              <a:rPr lang="zh-CN" altLang="en-US" sz="2400" b="1">
                <a:latin typeface="Times New Roman" panose="02020603050405020304" pitchFamily="18" charset="0"/>
              </a:rPr>
              <a:t>元运算，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=1, </a:t>
            </a:r>
            <a:r>
              <a:rPr lang="zh-CN" altLang="en-US" sz="2400" b="1">
                <a:latin typeface="Times New Roman" panose="02020603050405020304" pitchFamily="18" charset="0"/>
              </a:rPr>
              <a:t>一元运算，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</a:rPr>
              <a:t>在运算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</a:rPr>
              <a:t>下是封闭的：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</a:rPr>
              <a:t>任何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中元素都可参与 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zh-CN" altLang="en-US" sz="2400" b="1">
                <a:latin typeface="Times New Roman" panose="02020603050405020304" pitchFamily="18" charset="0"/>
              </a:rPr>
              <a:t>运算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运算结果属于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B9A7C08-31F5-430E-9A03-1FD2A9428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元运算的实例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C03ABA2-B15B-4035-A599-1C5A61D94C3F}"/>
              </a:ext>
            </a:extLst>
          </p:cNvPr>
          <p:cNvGraphicFramePr>
            <a:graphicFrameLocks noGrp="1"/>
          </p:cNvGraphicFramePr>
          <p:nvPr/>
        </p:nvGraphicFramePr>
        <p:xfrm>
          <a:off x="827088" y="1557338"/>
          <a:ext cx="7416800" cy="33020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2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集合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二元运算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一元运算</a:t>
                      </a: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0</a:t>
                      </a:r>
                      <a:r>
                        <a:rPr lang="zh-CN" altLang="en-US" sz="2400" dirty="0"/>
                        <a:t>元运算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71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Z, Q, R, C 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+,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0,  1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59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+,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,  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endParaRPr lang="zh-CN" alt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59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, , , 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,  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endParaRPr lang="zh-CN" alt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083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∘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endParaRPr lang="zh-CN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1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83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 b="1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endParaRPr lang="zh-CN" alt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∘</a:t>
                      </a: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endParaRPr lang="zh-CN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endParaRPr lang="zh-CN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328" name="矩形 6">
            <a:extLst>
              <a:ext uri="{FF2B5EF4-FFF2-40B4-BE49-F238E27FC236}">
                <a16:creationId xmlns:a16="http://schemas.microsoft.com/office/drawing/2014/main" id="{02846CE9-A0B8-4FBB-A60D-41EAAB3BA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373688"/>
            <a:ext cx="3271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): 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zh-CN" altLang="en-US" sz="2400" b="1">
                <a:latin typeface="Times New Roman" panose="02020603050405020304" pitchFamily="18" charset="0"/>
              </a:rPr>
              <a:t>上的关系集合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CD1E2F2-71B6-4278-8432-706396A17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元运算的表示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1FAD3F3-BF96-43A9-9B25-1EB8BCB8A0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算符记号：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Lucida Sans Unicode" panose="020B0602030504020204" pitchFamily="34" charset="0"/>
              </a:rPr>
              <a:t>∘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/>
              <a:t>，</a:t>
            </a:r>
            <a:r>
              <a:rPr lang="zh-CN" altLang="en-US" sz="2800" b="1">
                <a:sym typeface="Symbol" panose="05050102010706020507" pitchFamily="18" charset="2"/>
              </a:rPr>
              <a:t></a:t>
            </a:r>
            <a:r>
              <a:rPr lang="zh-CN" altLang="en-US" sz="2800" b="1"/>
              <a:t>，</a:t>
            </a:r>
            <a:r>
              <a:rPr lang="zh-CN" altLang="en-US" sz="2800" b="1">
                <a:sym typeface="Symbol" panose="05050102010706020507" pitchFamily="18" charset="2"/>
              </a:rPr>
              <a:t></a:t>
            </a:r>
            <a:r>
              <a:rPr lang="zh-CN" altLang="en-US" sz="2800" b="1"/>
              <a:t>，□，</a:t>
            </a:r>
            <a:r>
              <a:rPr lang="zh-CN" altLang="en-US" sz="2800" b="1">
                <a:sym typeface="Symbol" panose="05050102010706020507" pitchFamily="18" charset="2"/>
              </a:rPr>
              <a:t></a:t>
            </a:r>
            <a:r>
              <a:rPr lang="zh-CN" altLang="en-US" sz="2800" b="1"/>
              <a:t>，△等，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表达式：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Lucida Sans Unicode" panose="020B0602030504020204" pitchFamily="34" charset="0"/>
              </a:rPr>
              <a:t>∘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Lucida Sans Unicode" panose="020B0602030504020204" pitchFamily="34" charset="0"/>
              </a:rPr>
              <a:t>∘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</a:rPr>
              <a:t> y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△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</a:rPr>
              <a:t> y 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/>
              <a:t>表示方法：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解析表达式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一元、二元运算表（适用于有穷集）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Group 2">
            <a:extLst>
              <a:ext uri="{FF2B5EF4-FFF2-40B4-BE49-F238E27FC236}">
                <a16:creationId xmlns:a16="http://schemas.microsoft.com/office/drawing/2014/main" id="{C6E8535F-44E9-4367-B87C-5D412EF26F2C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3448050"/>
          <a:ext cx="4464050" cy="2357438"/>
        </p:xfrm>
        <a:graphic>
          <a:graphicData uri="http://schemas.openxmlformats.org/drawingml/2006/table">
            <a:tbl>
              <a:tblPr/>
              <a:tblGrid>
                <a:gridCol w="871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1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</a:t>
                      </a:r>
                    </a:p>
                  </a:txBody>
                  <a:tcPr marL="91431" marR="91431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 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</a:t>
                      </a:r>
                    </a:p>
                  </a:txBody>
                  <a:tcPr marL="91431" marR="91431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3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marL="91431" marR="91431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 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      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  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        </a:t>
                      </a:r>
                    </a:p>
                  </a:txBody>
                  <a:tcPr marL="91431" marR="91431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7341" name="Group 13">
            <a:extLst>
              <a:ext uri="{FF2B5EF4-FFF2-40B4-BE49-F238E27FC236}">
                <a16:creationId xmlns:a16="http://schemas.microsoft.com/office/drawing/2014/main" id="{3E85400F-10D4-41FE-A8AD-A4C848C87A58}"/>
              </a:ext>
            </a:extLst>
          </p:cNvPr>
          <p:cNvGraphicFramePr>
            <a:graphicFrameLocks noGrp="1"/>
          </p:cNvGraphicFramePr>
          <p:nvPr/>
        </p:nvGraphicFramePr>
        <p:xfrm>
          <a:off x="6011863" y="3448050"/>
          <a:ext cx="1944687" cy="2286000"/>
        </p:xfrm>
        <a:graphic>
          <a:graphicData uri="http://schemas.openxmlformats.org/drawingml/2006/table">
            <a:tbl>
              <a:tblPr/>
              <a:tblGrid>
                <a:gridCol w="90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</a:p>
                  </a:txBody>
                  <a:tcPr marL="91467" marR="91467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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x</a:t>
                      </a:r>
                    </a:p>
                  </a:txBody>
                  <a:tcPr marL="91467" marR="91467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6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marL="91467" marR="91467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a,b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}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}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}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L="91467" marR="91467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60" name="Rectangle 24">
            <a:extLst>
              <a:ext uri="{FF2B5EF4-FFF2-40B4-BE49-F238E27FC236}">
                <a16:creationId xmlns:a16="http://schemas.microsoft.com/office/drawing/2014/main" id="{40719716-9EA2-4279-8708-71418929A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元运算的表示实例</a:t>
            </a:r>
          </a:p>
        </p:txBody>
      </p:sp>
      <p:sp>
        <p:nvSpPr>
          <p:cNvPr id="16409" name="Rectangle 25">
            <a:extLst>
              <a:ext uri="{FF2B5EF4-FFF2-40B4-BE49-F238E27FC236}">
                <a16:creationId xmlns:a16="http://schemas.microsoft.com/office/drawing/2014/main" id="{9469B169-F2E0-40BE-B742-B16CBBA1CD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229600" cy="2116137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表达式：∘是实数集 </a:t>
            </a:r>
            <a:r>
              <a:rPr lang="en-US" altLang="zh-CN" sz="2800" b="1">
                <a:latin typeface="Times New Roman" panose="02020603050405020304" pitchFamily="18" charset="0"/>
              </a:rPr>
              <a:t>R</a:t>
            </a:r>
            <a:r>
              <a:rPr lang="zh-CN" altLang="en-US" sz="2800" b="1">
                <a:latin typeface="Times New Roman" panose="02020603050405020304" pitchFamily="18" charset="0"/>
              </a:rPr>
              <a:t>上的二元运算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∘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</a:rPr>
              <a:t> =</a:t>
            </a:r>
            <a:r>
              <a:rPr lang="en-US" altLang="zh-CN" sz="2800" b="1" i="1">
                <a:latin typeface="Times New Roman" panose="02020603050405020304" pitchFamily="18" charset="0"/>
              </a:rPr>
              <a:t> x+y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</a:rPr>
              <a:t>xy 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运算表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({</a:t>
            </a:r>
            <a:r>
              <a:rPr lang="en-US" altLang="zh-CN" sz="2400" b="1" i="1">
                <a:latin typeface="Times New Roman" panose="02020603050405020304" pitchFamily="18" charset="0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</a:rPr>
              <a:t>}),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上的二元运算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，一元运算</a:t>
            </a: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354" name="Group 2">
            <a:extLst>
              <a:ext uri="{FF2B5EF4-FFF2-40B4-BE49-F238E27FC236}">
                <a16:creationId xmlns:a16="http://schemas.microsoft.com/office/drawing/2014/main" id="{8E544F26-DA8B-4CD0-B23E-77367E253432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2420938"/>
          <a:ext cx="5053012" cy="2752725"/>
        </p:xfrm>
        <a:graphic>
          <a:graphicData uri="http://schemas.openxmlformats.org/drawingml/2006/table">
            <a:tbl>
              <a:tblPr/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7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…    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6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0" lang="en-US" altLang="zh-CN" sz="2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… 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… 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……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…     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8365" name="Group 13">
            <a:extLst>
              <a:ext uri="{FF2B5EF4-FFF2-40B4-BE49-F238E27FC236}">
                <a16:creationId xmlns:a16="http://schemas.microsoft.com/office/drawing/2014/main" id="{75422580-7829-450D-B063-0589B9ABBDED}"/>
              </a:ext>
            </a:extLst>
          </p:cNvPr>
          <p:cNvGraphicFramePr>
            <a:graphicFrameLocks noGrp="1"/>
          </p:cNvGraphicFramePr>
          <p:nvPr/>
        </p:nvGraphicFramePr>
        <p:xfrm>
          <a:off x="6589713" y="2420938"/>
          <a:ext cx="1511300" cy="2736850"/>
        </p:xfrm>
        <a:graphic>
          <a:graphicData uri="http://schemas.openxmlformats.org/drawingml/2006/table">
            <a:tbl>
              <a:tblPr/>
              <a:tblGrid>
                <a:gridCol w="6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n</a:t>
                      </a:r>
                      <a:endParaRPr kumimoji="0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384" name="Rectangle 24">
            <a:extLst>
              <a:ext uri="{FF2B5EF4-FFF2-40B4-BE49-F238E27FC236}">
                <a16:creationId xmlns:a16="http://schemas.microsoft.com/office/drawing/2014/main" id="{28867B81-2E5E-4B6F-B2E8-250B4B5E0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15888"/>
            <a:ext cx="8229600" cy="720725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运算表的一般形式</a:t>
            </a:r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A0956257-08D3-491E-86D6-644CCFCB6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734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800000"/>
                </a:solidFill>
                <a:latin typeface="Arial" panose="020B0604020202020204" pitchFamily="34" charset="0"/>
              </a:rPr>
              <a:t>适用于有穷集上的一元、二元运算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51D885F-4BFE-4896-B7F4-7C9D29FFE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二元运算的算律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AF921E4-7FD4-4F43-AE50-D805078B53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C00000"/>
                </a:solidFill>
              </a:rPr>
              <a:t>涉及一个二元运算的算律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</a:t>
            </a:r>
            <a:r>
              <a:rPr lang="zh-CN" altLang="en-US" sz="2400" b="1"/>
              <a:t>交换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结合</a:t>
            </a:r>
            <a:r>
              <a:rPr lang="en-US" altLang="zh-CN" sz="2400" b="1">
                <a:latin typeface="宋体" panose="02010600030101010101" pitchFamily="2" charset="-122"/>
              </a:rPr>
              <a:t>——</a:t>
            </a:r>
            <a:r>
              <a:rPr lang="zh-CN" altLang="en-US" sz="2400" b="1"/>
              <a:t>广义结合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幂等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消去  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800" b="1">
                <a:solidFill>
                  <a:srgbClr val="C00000"/>
                </a:solidFill>
              </a:rPr>
              <a:t>涉及两个不同的二元运算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</a:t>
            </a:r>
            <a:r>
              <a:rPr lang="zh-CN" altLang="en-US" sz="2400" b="1"/>
              <a:t>分配</a:t>
            </a:r>
            <a:r>
              <a:rPr lang="en-US" altLang="zh-CN" sz="2400" b="1">
                <a:latin typeface="宋体" panose="02010600030101010101" pitchFamily="2" charset="-122"/>
              </a:rPr>
              <a:t>——</a:t>
            </a:r>
            <a:r>
              <a:rPr lang="zh-CN" altLang="en-US" sz="2400" b="1"/>
              <a:t>广义分配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吸收（以交换为前提）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4D9E4D40-BA2D-423E-B912-E5092EEBD8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277813"/>
            <a:ext cx="7772400" cy="5588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算律的定义  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 panose="05050102010706020507" pitchFamily="18" charset="2"/>
            </a:endParaRPr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5C3B1090-0974-4AFD-A6B8-655303B18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4025" y="981075"/>
            <a:ext cx="8235950" cy="5072063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设∘</a:t>
            </a:r>
            <a:r>
              <a:rPr lang="en-US" altLang="zh-CN" sz="2800" b="1">
                <a:latin typeface="Times New Roman" panose="02020603050405020304" pitchFamily="18" charset="0"/>
              </a:rPr>
              <a:t>,*</a:t>
            </a:r>
            <a:r>
              <a:rPr lang="zh-CN" altLang="en-US" sz="2800" b="1">
                <a:latin typeface="Times New Roman" panose="02020603050405020304" pitchFamily="18" charset="0"/>
              </a:rPr>
              <a:t>为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上的二元运算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交换律</a:t>
            </a:r>
            <a:r>
              <a:rPr lang="zh-CN" altLang="en-US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b=b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结合律 </a:t>
            </a:r>
            <a:r>
              <a:rPr lang="zh-CN" altLang="en-US" sz="2400" b="1"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a,b,c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   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)∘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幂等律</a:t>
            </a:r>
            <a:r>
              <a:rPr lang="zh-CN" altLang="en-US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 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a=a </a:t>
            </a: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分配律</a:t>
            </a:r>
            <a:r>
              <a:rPr lang="zh-CN" altLang="en-US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a,b,c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spcBef>
                <a:spcPts val="9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*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)=(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)*(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),   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*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)∘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=(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)*(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)   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吸收律</a:t>
            </a:r>
            <a:r>
              <a:rPr lang="zh-CN" altLang="en-US" sz="2400" b="1">
                <a:latin typeface="Times New Roman" panose="02020603050405020304" pitchFamily="18" charset="0"/>
              </a:rPr>
              <a:t>   设∘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>
                <a:latin typeface="Times New Roman" panose="02020603050405020304" pitchFamily="18" charset="0"/>
              </a:rPr>
              <a:t>可交换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ts val="9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*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*(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       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推广：结合律、幂等律、分配律推广到有限项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6C0FF57-1065-40A4-89A5-963382665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02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实例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31502" name="Group 78">
            <a:extLst>
              <a:ext uri="{FF2B5EF4-FFF2-40B4-BE49-F238E27FC236}">
                <a16:creationId xmlns:a16="http://schemas.microsoft.com/office/drawing/2014/main" id="{67A7CB83-55EB-4FC7-9800-02CD1C176353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684213" y="1268413"/>
          <a:ext cx="7772400" cy="4808538"/>
        </p:xfrm>
        <a:graphic>
          <a:graphicData uri="http://schemas.openxmlformats.org/drawingml/2006/table">
            <a:tbl>
              <a:tblPr/>
              <a:tblGrid>
                <a:gridCol w="135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交换律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结合律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幂等律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Z, Q, 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普通加法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普通乘法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(R)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矩阵加法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矩阵乘法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rowSpan="4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并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交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相对补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对称差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函数复合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  <a:cs typeface="Lucida Sans Unicode" panose="020B0602030504020204" pitchFamily="34" charset="0"/>
                        </a:rPr>
                        <a:t>∘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96786BE-C2B6-47B0-AD81-AF61AFEB9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02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32492" name="Group 44">
            <a:extLst>
              <a:ext uri="{FF2B5EF4-FFF2-40B4-BE49-F238E27FC236}">
                <a16:creationId xmlns:a16="http://schemas.microsoft.com/office/drawing/2014/main" id="{E0D59745-380F-400F-AAEB-02DAEB060C63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755650" y="1484313"/>
          <a:ext cx="7416800" cy="4289426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   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分配律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吸收律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92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Z, Q, R</a:t>
                      </a:r>
                      <a:endParaRPr kumimoji="0" lang="en-US" altLang="zh-CN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普通加法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与乘法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可分配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对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不分配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3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5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(R)</a:t>
                      </a:r>
                      <a:endParaRPr kumimoji="0" lang="en-US" altLang="zh-CN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矩阵加法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与乘法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可分配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对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不分配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895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并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与交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可分配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可分配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8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交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与对称差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可分配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不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7734" marB="4773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6A92ADE-E427-4E7A-A0ED-F693E2B1E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二元运算的特异元素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C970B67-BD78-4024-8A31-A455875968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zh-CN" altLang="en-US" sz="2800" b="1">
                <a:solidFill>
                  <a:srgbClr val="C00000"/>
                </a:solidFill>
              </a:rPr>
              <a:t>特异元素名称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</a:t>
            </a:r>
            <a:r>
              <a:rPr lang="zh-CN" altLang="en-US" sz="2400" b="1"/>
              <a:t>单位元（幺元）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</a:t>
            </a:r>
            <a:r>
              <a:rPr lang="zh-CN" altLang="en-US" sz="2400" b="1"/>
              <a:t>零元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zh-CN" altLang="en-US" sz="2400" b="1" i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幂等元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可逆元和逆元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b="1"/>
              <a:t> </a:t>
            </a:r>
            <a:r>
              <a:rPr lang="zh-CN" altLang="en-US" sz="2800" b="1">
                <a:solidFill>
                  <a:srgbClr val="C00000"/>
                </a:solidFill>
              </a:rPr>
              <a:t>说明：存在特异元素也可以作为算律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</a:t>
            </a:r>
            <a:r>
              <a:rPr lang="zh-CN" altLang="en-US" sz="2400" b="1"/>
              <a:t>同一律（存在单位元）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零律（存在零元）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035D578-7AF6-49B4-B034-8F70054BB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特异元素的定义与性质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9B7137-4327-48A0-8039-4BB2D085AA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57300"/>
            <a:ext cx="7991475" cy="48355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设∘为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上二元运算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单位元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,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 = 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e = a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零元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,  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 = 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 sz="2400" b="1" i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幂等元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a = a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可逆元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</a:rPr>
              <a:t>逆元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</a:rPr>
              <a:t>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 = y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x = e</a:t>
            </a:r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特异元素的性质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单位元以及零元的唯一性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如果 </a:t>
            </a:r>
            <a:r>
              <a:rPr lang="en-US" altLang="zh-CN" sz="2400" b="1">
                <a:latin typeface="Times New Roman" panose="02020603050405020304" pitchFamily="18" charset="0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| &gt;1, 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</a:rPr>
              <a:t>可结合运算逆元唯一性：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的逆元标记为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>
            <a:extLst>
              <a:ext uri="{FF2B5EF4-FFF2-40B4-BE49-F238E27FC236}">
                <a16:creationId xmlns:a16="http://schemas.microsoft.com/office/drawing/2014/main" id="{6F285AB7-2460-4387-BD27-3459678E8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514600"/>
          <a:ext cx="2743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r:id="rId4" imgW="2738643" imgH="1830319" progId="Word.Picture.8">
                  <p:embed/>
                </p:oleObj>
              </mc:Choice>
              <mc:Fallback>
                <p:oleObj r:id="rId4" imgW="2738643" imgH="1830319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14600"/>
                        <a:ext cx="2743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3">
            <a:extLst>
              <a:ext uri="{FF2B5EF4-FFF2-40B4-BE49-F238E27FC236}">
                <a16:creationId xmlns:a16="http://schemas.microsoft.com/office/drawing/2014/main" id="{A709C1EF-EEC6-456E-91F8-2992C8A1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单位元唯一性定理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6C01F54B-5A47-416E-ACA1-77DD8EEA7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96975"/>
            <a:ext cx="7920037" cy="23764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1  </a:t>
            </a:r>
          </a:p>
          <a:p>
            <a:pPr eaLnBrk="1" hangingPunct="1">
              <a:spcBef>
                <a:spcPts val="1075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对于给定集合 </a:t>
            </a:r>
            <a:r>
              <a:rPr lang="en-US" altLang="zh-CN" sz="2400" b="1" i="1">
                <a:latin typeface="Times New Roman" panose="02020603050405020304" pitchFamily="18" charset="0"/>
              </a:rPr>
              <a:t>A 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上的二元运算</a:t>
            </a:r>
            <a:r>
              <a:rPr lang="zh-CN" altLang="en-US" sz="2400" b="1">
                <a:latin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</a:rPr>
              <a:t>，如果存在 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 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 </a:t>
            </a:r>
            <a:r>
              <a:rPr lang="zh-CN" altLang="en-US" sz="2400" b="1">
                <a:latin typeface="Times New Roman" panose="02020603050405020304" pitchFamily="18" charset="0"/>
              </a:rPr>
              <a:t>使得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 </a:t>
            </a:r>
            <a:r>
              <a:rPr lang="zh-CN" altLang="en-US" sz="2400" b="1">
                <a:latin typeface="Times New Roman" panose="02020603050405020304" pitchFamily="18" charset="0"/>
              </a:rPr>
              <a:t>满足 </a:t>
            </a:r>
          </a:p>
          <a:p>
            <a:pPr eaLnBrk="1" hangingPunct="1">
              <a:spcBef>
                <a:spcPts val="538"/>
              </a:spcBef>
              <a:spcAft>
                <a:spcPts val="538"/>
              </a:spcAft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则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</a:rPr>
              <a:t> 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</a:rPr>
              <a:t>且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</a:rPr>
              <a:t>就是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中关于</a:t>
            </a:r>
            <a:r>
              <a:rPr lang="zh-CN" altLang="en-US" sz="2400" b="1">
                <a:latin typeface="Lucida Sans Unicode" panose="020B0602030504020204" pitchFamily="34" charset="0"/>
              </a:rPr>
              <a:t>∘ </a:t>
            </a:r>
            <a:r>
              <a:rPr lang="zh-CN" altLang="en-US" sz="2400" b="1">
                <a:latin typeface="Times New Roman" panose="02020603050405020304" pitchFamily="18" charset="0"/>
              </a:rPr>
              <a:t>运算的唯一的单位元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B7390163-0B2F-4A92-BDCA-2871859C6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35413"/>
            <a:ext cx="7772400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证         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  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令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</a:rPr>
              <a:t> e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</a:rPr>
              <a:t>则 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</a:rPr>
              <a:t>为单位元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假设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’ </a:t>
            </a:r>
            <a:r>
              <a:rPr lang="zh-CN" altLang="en-US" sz="2400" b="1">
                <a:latin typeface="Times New Roman" panose="02020603050405020304" pitchFamily="18" charset="0"/>
              </a:rPr>
              <a:t>也为单位元，则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                       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’=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’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 = e</a:t>
            </a:r>
          </a:p>
          <a:p>
            <a:pPr eaLnBrk="1" hangingPunct="1">
              <a:spcBef>
                <a:spcPct val="20000"/>
              </a:spcBef>
            </a:pPr>
            <a:endParaRPr lang="en-US" altLang="zh-CN" sz="2400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>
            <a:extLst>
              <a:ext uri="{FF2B5EF4-FFF2-40B4-BE49-F238E27FC236}">
                <a16:creationId xmlns:a16="http://schemas.microsoft.com/office/drawing/2014/main" id="{7725084E-C6E7-4FDC-A02B-312FCC162D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514600"/>
          <a:ext cx="2743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r:id="rId4" imgW="2738643" imgH="1830319" progId="Word.Picture.8">
                  <p:embed/>
                </p:oleObj>
              </mc:Choice>
              <mc:Fallback>
                <p:oleObj r:id="rId4" imgW="2738643" imgH="1830319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14600"/>
                        <a:ext cx="2743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3">
            <a:extLst>
              <a:ext uri="{FF2B5EF4-FFF2-40B4-BE49-F238E27FC236}">
                <a16:creationId xmlns:a16="http://schemas.microsoft.com/office/drawing/2014/main" id="{392E3B2E-AFA4-4174-9635-E247A2C53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零元唯一性定理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D4BDF2D8-88F9-4675-9EC9-A57E5373D5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0413" y="1270000"/>
            <a:ext cx="7772400" cy="5038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对于给定集合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上的二元运算</a:t>
            </a:r>
            <a:r>
              <a:rPr lang="zh-CN" altLang="en-US" sz="2400" b="1">
                <a:latin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</a:rPr>
              <a:t>，如果存在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使得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 </a:t>
            </a:r>
            <a:r>
              <a:rPr lang="zh-CN" altLang="en-US" sz="2400" b="1">
                <a:latin typeface="Times New Roman" panose="02020603050405020304" pitchFamily="18" charset="0"/>
              </a:rPr>
              <a:t>满足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                         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则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</a:rPr>
              <a:t>且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400" b="1">
                <a:latin typeface="Times New Roman" panose="02020603050405020304" pitchFamily="18" charset="0"/>
              </a:rPr>
              <a:t>就是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中关于</a:t>
            </a:r>
            <a:r>
              <a:rPr lang="zh-CN" altLang="en-US" sz="2400" b="1">
                <a:latin typeface="Lucida Sans Unicode" panose="020B0602030504020204" pitchFamily="34" charset="0"/>
              </a:rPr>
              <a:t>∘ </a:t>
            </a:r>
            <a:r>
              <a:rPr lang="zh-CN" altLang="en-US" sz="2400" b="1">
                <a:latin typeface="Times New Roman" panose="02020603050405020304" pitchFamily="18" charset="0"/>
              </a:rPr>
              <a:t>运算的唯一的零元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证明类似于定理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，留作思考</a:t>
            </a:r>
            <a:r>
              <a:rPr lang="en-US" altLang="zh-CN" sz="2400" b="1">
                <a:latin typeface="Times New Roman" panose="02020603050405020304" pitchFamily="18" charset="0"/>
              </a:rPr>
              <a:t>.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DD2D7C3-66CB-44A3-961A-8DBDB0A9C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7772400" cy="70326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逆元唯一性定理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91A6860-9AE6-43E4-A213-3374FEBF0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052513"/>
            <a:ext cx="7989888" cy="52562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</a:p>
          <a:p>
            <a:pPr eaLnBrk="1" hangingPunct="1">
              <a:lnSpc>
                <a:spcPts val="33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对于集合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上可结合的二元运算 </a:t>
            </a:r>
            <a:r>
              <a:rPr lang="zh-CN" altLang="en-US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</a:rPr>
              <a:t>如果对于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中元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ts val="33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素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</a:rPr>
              <a:t>存在元素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使得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 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 i="1">
                <a:latin typeface="Times New Roman" panose="02020603050405020304" pitchFamily="18" charset="0"/>
              </a:rPr>
              <a:t>= e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则                    </a:t>
            </a:r>
            <a:r>
              <a:rPr lang="en-US" altLang="zh-CN" sz="2400" b="1">
                <a:latin typeface="Times New Roman" panose="02020603050405020304" pitchFamily="18" charset="0"/>
              </a:rPr>
              <a:t>              </a:t>
            </a:r>
            <a:r>
              <a:rPr lang="zh-CN" altLang="en-US" sz="2400" b="1">
                <a:latin typeface="Times New Roman" panose="02020603050405020304" pitchFamily="18" charset="0"/>
              </a:rPr>
              <a:t>  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 i="1">
                <a:latin typeface="Times New Roman" panose="02020603050405020304" pitchFamily="18" charset="0"/>
              </a:rPr>
              <a:t>= y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且 </a:t>
            </a:r>
            <a:r>
              <a:rPr lang="en-US" altLang="zh-CN" sz="2400" b="1" i="1">
                <a:latin typeface="Times New Roman" panose="02020603050405020304" pitchFamily="18" charset="0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的唯一的逆元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</a:p>
          <a:p>
            <a:pPr eaLnBrk="1" hangingPunct="1">
              <a:lnSpc>
                <a:spcPts val="3300"/>
              </a:lnSpc>
              <a:spcBef>
                <a:spcPts val="963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证       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 i="1">
                <a:latin typeface="Times New Roman" panose="02020603050405020304" pitchFamily="18" charset="0"/>
              </a:rPr>
              <a:t>= 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令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 i="1">
                <a:latin typeface="Times New Roman" panose="02020603050405020304" pitchFamily="18" charset="0"/>
              </a:rPr>
              <a:t>= y</a:t>
            </a:r>
            <a:r>
              <a:rPr lang="en-US" altLang="zh-CN" sz="2400" b="1">
                <a:latin typeface="Times New Roman" panose="02020603050405020304" pitchFamily="18" charset="0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的逆元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假设 </a:t>
            </a:r>
            <a:r>
              <a:rPr lang="en-US" altLang="zh-CN" sz="2400" b="1" i="1">
                <a:latin typeface="Times New Roman" panose="02020603050405020304" pitchFamily="18" charset="0"/>
              </a:rPr>
              <a:t>y’</a:t>
            </a:r>
            <a:r>
              <a:rPr lang="zh-CN" altLang="en-US" sz="2400" b="1">
                <a:latin typeface="Times New Roman" panose="02020603050405020304" pitchFamily="18" charset="0"/>
              </a:rPr>
              <a:t>也是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的逆元，则  </a:t>
            </a: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’ =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’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e = y</a:t>
            </a:r>
            <a:r>
              <a:rPr lang="en-US" altLang="zh-CN" sz="2400" b="1">
                <a:latin typeface="Times New Roman" panose="02020603050405020304" pitchFamily="18" charset="0"/>
              </a:rPr>
              <a:t>’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’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 = e</a:t>
            </a:r>
            <a:r>
              <a:rPr lang="en-US" altLang="zh-CN" sz="2400" b="1">
                <a:latin typeface="Lucida Sans Unicode" panose="020B0602030504020204" pitchFamily="34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 = y</a:t>
            </a:r>
            <a:r>
              <a:rPr lang="en-US" altLang="zh-CN" sz="2400" b="1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6C95B65-3E7C-4086-B0FA-A327316FE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0326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特异元素的实例</a:t>
            </a:r>
          </a:p>
        </p:txBody>
      </p:sp>
      <p:graphicFrame>
        <p:nvGraphicFramePr>
          <p:cNvPr id="237624" name="Group 56">
            <a:extLst>
              <a:ext uri="{FF2B5EF4-FFF2-40B4-BE49-F238E27FC236}">
                <a16:creationId xmlns:a16="http://schemas.microsoft.com/office/drawing/2014/main" id="{AC5249A1-FD0F-40D2-9E77-4B8EC56E1849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468313" y="1341438"/>
          <a:ext cx="8286750" cy="4173538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496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集合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单位元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零元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逆元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945">
                <a:tc rowSpan="2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Z, Q, R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普通加法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x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的逆元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普通乘法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可逆元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存在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47">
                <a:tc rowSpan="2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(R)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矩阵加法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2095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209550" algn="l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的逆元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6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矩阵乘法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单位矩阵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矩阵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可逆元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存在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en-US" altLang="zh-CN" sz="2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945">
                <a:tc rowSpan="3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并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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的逆元为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9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交</a:t>
                      </a:r>
                      <a:endParaRPr kumimoji="0" lang="zh-CN" altLang="en-US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的逆元为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7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对称差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无</a:t>
                      </a: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ts val="33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的逆元为</a:t>
                      </a:r>
                      <a:r>
                        <a:rPr kumimoji="0" lang="en-US" altLang="zh-CN" sz="2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endParaRPr kumimoji="0" lang="en-US" altLang="zh-CN" sz="2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8378" marB="4837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967" name="Text Box 55">
            <a:extLst>
              <a:ext uri="{FF2B5EF4-FFF2-40B4-BE49-F238E27FC236}">
                <a16:creationId xmlns:a16="http://schemas.microsoft.com/office/drawing/2014/main" id="{D93819E7-CAB0-4867-B028-63D8368B9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7777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注意：只有可逆元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存在逆元，且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</a:rPr>
              <a:t>必须属于给定集合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76AFA951-CF25-4523-87F3-2485469D0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6975"/>
            <a:ext cx="7591425" cy="47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定义</a:t>
            </a:r>
            <a:r>
              <a:rPr lang="zh-CN" altLang="en-US" sz="2400" b="1"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8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为集合，</a:t>
            </a:r>
            <a:r>
              <a:rPr lang="zh-CN" altLang="en-US" sz="2400" b="1">
                <a:latin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宋体" panose="02010600030101010101" pitchFamily="2" charset="-122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上二元运算，若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 b, 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= a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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b=c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= c</a:t>
            </a:r>
            <a:r>
              <a:rPr lang="en-US" altLang="zh-CN" sz="2400" b="1">
                <a:latin typeface="Times New Roman" panose="02020603050405020304" pitchFamily="18" charset="0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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b=c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则称 </a:t>
            </a:r>
            <a:r>
              <a:rPr lang="zh-CN" altLang="en-US" sz="2400" b="1">
                <a:latin typeface="Times New Roman" panose="02020603050405020304" pitchFamily="18" charset="0"/>
              </a:rPr>
              <a:t>∘ 运算满足 </a:t>
            </a: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</a:rPr>
              <a:t>消去律</a:t>
            </a:r>
            <a:endParaRPr lang="zh-CN" altLang="en-US" sz="2400" b="1">
              <a:solidFill>
                <a:srgbClr val="C0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4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实例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Q, R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latin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， 满足消去律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(R),</a:t>
            </a:r>
            <a:r>
              <a:rPr lang="en-US" altLang="zh-CN" sz="2400" b="1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矩阵 </a:t>
            </a:r>
            <a:r>
              <a:rPr lang="en-US" altLang="zh-CN" sz="2400" b="1">
                <a:latin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满足消去律，矩阵  不满足消去律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lang="en-US" altLang="zh-CN" sz="2400" b="1">
                <a:latin typeface="宋体" panose="02010600030101010101" pitchFamily="2" charset="-122"/>
                <a:sym typeface="Symbol" panose="05050102010706020507" pitchFamily="18" charset="2"/>
              </a:rPr>
              <a:t>  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满足消去律，、、 一般不满足消去律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　函数合成 </a:t>
            </a:r>
            <a:r>
              <a:rPr lang="en-US" altLang="zh-CN" sz="2400" b="1">
                <a:latin typeface="Times New Roman" panose="02020603050405020304" pitchFamily="18" charset="0"/>
              </a:rPr>
              <a:t>∘ </a:t>
            </a:r>
            <a:r>
              <a:rPr lang="zh-CN" altLang="en-US" sz="2400" b="1">
                <a:latin typeface="Times New Roman" panose="02020603050405020304" pitchFamily="18" charset="0"/>
              </a:rPr>
              <a:t>一般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不满足消去律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20275B2-1CDE-4AEB-A61F-94C8FFB38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188913"/>
            <a:ext cx="7772400" cy="84613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消去律定义及实例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258A52E-1313-47EC-B0EA-C4E98D58A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例题分析</a:t>
            </a:r>
          </a:p>
        </p:txBody>
      </p:sp>
      <p:sp>
        <p:nvSpPr>
          <p:cNvPr id="239619" name="Text Box 3">
            <a:extLst>
              <a:ext uri="{FF2B5EF4-FFF2-40B4-BE49-F238E27FC236}">
                <a16:creationId xmlns:a16="http://schemas.microsoft.com/office/drawing/2014/main" id="{147CF877-710E-4CC8-8D61-28D010155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852738"/>
            <a:ext cx="787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</a:rPr>
              <a:t>证明算律成立：根据定义验证；证明算律不成立：举反例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</a:rPr>
              <a:t>.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endParaRPr lang="en-US" altLang="zh-CN" sz="2400" b="1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9620" name="Rectangle 4">
            <a:extLst>
              <a:ext uri="{FF2B5EF4-FFF2-40B4-BE49-F238E27FC236}">
                <a16:creationId xmlns:a16="http://schemas.microsoft.com/office/drawing/2014/main" id="{A6403462-C11E-4C0A-A9FD-B55411A46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7902575" cy="177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1   </a:t>
            </a:r>
            <a:r>
              <a:rPr lang="zh-CN" altLang="en-US" sz="2400" b="1">
                <a:latin typeface="Times New Roman" panose="02020603050405020304" pitchFamily="18" charset="0"/>
              </a:rPr>
              <a:t>设 </a:t>
            </a:r>
            <a:r>
              <a:rPr lang="zh-CN" altLang="en-US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运算为 </a:t>
            </a:r>
            <a:r>
              <a:rPr lang="en-US" altLang="zh-CN" sz="2400" b="1">
                <a:latin typeface="Times New Roman" panose="02020603050405020304" pitchFamily="18" charset="0"/>
              </a:rPr>
              <a:t>Q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上的二元运算，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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Q,  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</a:rPr>
              <a:t>+ </a:t>
            </a:r>
            <a:r>
              <a:rPr lang="en-US" altLang="zh-CN" sz="2400" b="1" i="1">
                <a:latin typeface="Times New Roman" panose="02020603050405020304" pitchFamily="18" charset="0"/>
              </a:rPr>
              <a:t>y </a:t>
            </a:r>
            <a:r>
              <a:rPr lang="en-US" altLang="zh-CN" sz="2400" b="1">
                <a:latin typeface="Times New Roman" panose="02020603050405020304" pitchFamily="18" charset="0"/>
              </a:rPr>
              <a:t>+ 2</a:t>
            </a:r>
            <a:r>
              <a:rPr lang="en-US" altLang="zh-CN" sz="2400" b="1" i="1">
                <a:latin typeface="Times New Roman" panose="02020603050405020304" pitchFamily="18" charset="0"/>
              </a:rPr>
              <a:t>xy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 (1) </a:t>
            </a:r>
            <a:r>
              <a:rPr lang="zh-CN" altLang="en-US" sz="2400" b="1">
                <a:latin typeface="Times New Roman" panose="02020603050405020304" pitchFamily="18" charset="0"/>
              </a:rPr>
              <a:t>判断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zh-CN" altLang="en-US" sz="2400" b="1">
                <a:latin typeface="Times New Roman" panose="02020603050405020304" pitchFamily="18" charset="0"/>
              </a:rPr>
              <a:t>运算是否满足交换、结合、幂等、消去律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 (2) </a:t>
            </a:r>
            <a:r>
              <a:rPr lang="zh-CN" altLang="en-US" sz="2400" b="1">
                <a:latin typeface="Times New Roman" panose="02020603050405020304" pitchFamily="18" charset="0"/>
              </a:rPr>
              <a:t>求出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</a:rPr>
              <a:t>运算的单位元、零元和所有可逆元素的逆元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39621" name="Text Box 5">
            <a:extLst>
              <a:ext uri="{FF2B5EF4-FFF2-40B4-BE49-F238E27FC236}">
                <a16:creationId xmlns:a16="http://schemas.microsoft.com/office/drawing/2014/main" id="{F38711A7-7CCA-4757-9897-62AA3AD5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3357563"/>
            <a:ext cx="78740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解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zh-CN" altLang="en-US" sz="2400" b="1">
                <a:latin typeface="Times New Roman" panose="02020603050405020304" pitchFamily="18" charset="0"/>
              </a:rPr>
              <a:t>运算可交换，可结合，可消去，不幂等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结合律成立，任取 </a:t>
            </a:r>
            <a:r>
              <a:rPr lang="en-US" altLang="zh-CN" sz="2400" b="1">
                <a:latin typeface="Times New Roman" panose="02020603050405020304" pitchFamily="18" charset="0"/>
              </a:rPr>
              <a:t>x, y, 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Q,</a:t>
            </a:r>
          </a:p>
          <a:p>
            <a:pPr eaLnBrk="1" hangingPunct="1">
              <a:spcBef>
                <a:spcPts val="3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       (x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400" b="1">
                <a:latin typeface="Times New Roman" panose="02020603050405020304" pitchFamily="18" charset="0"/>
              </a:rPr>
              <a:t>y)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400" b="1">
                <a:latin typeface="Times New Roman" panose="02020603050405020304" pitchFamily="18" charset="0"/>
              </a:rPr>
              <a:t>z = (x + y + 2xy) + z + 2(x + y + 2xy) z  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       = x + y + z + 2xy + 2xz + 2yz + 4xyz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         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(y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∘ </a:t>
            </a:r>
            <a:r>
              <a:rPr lang="en-US" altLang="zh-CN" sz="2400" b="1">
                <a:latin typeface="Times New Roman" panose="02020603050405020304" pitchFamily="18" charset="0"/>
              </a:rPr>
              <a:t>z) = x + (y + z + 2yz) + 2x(y + z + 2yz 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       = x + y + z + 2xy + 2xz + 2yz + 4xyz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幂等律不成立，因为 </a:t>
            </a:r>
            <a:r>
              <a:rPr lang="en-US" altLang="zh-CN" sz="2400" b="1">
                <a:latin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∘1=1+1+2=4 1 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/>
      <p:bldP spid="239619" grpId="1"/>
      <p:bldP spid="239620" grpId="0"/>
      <p:bldP spid="239621" grpId="0"/>
      <p:bldP spid="23962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F0FFD23-49EC-4285-970E-D97D7221D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40643" name="Text Box 3">
            <a:extLst>
              <a:ext uri="{FF2B5EF4-FFF2-40B4-BE49-F238E27FC236}">
                <a16:creationId xmlns:a16="http://schemas.microsoft.com/office/drawing/2014/main" id="{EF2BA756-4595-4E5E-B358-991EAADBB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81075"/>
            <a:ext cx="76454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设 ∘运算的单位元和零元分别为 </a:t>
            </a:r>
            <a:r>
              <a:rPr lang="en-US" altLang="zh-CN" sz="2400" b="1">
                <a:latin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400" b="1">
                <a:latin typeface="Times New Roman" panose="02020603050405020304" pitchFamily="18" charset="0"/>
              </a:rPr>
              <a:t>，则对于任意 </a:t>
            </a:r>
            <a:r>
              <a:rPr lang="en-US" altLang="zh-CN" sz="2400" b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有 </a:t>
            </a:r>
            <a:r>
              <a:rPr lang="en-US" altLang="zh-CN" sz="2400" b="1">
                <a:latin typeface="Times New Roman" panose="02020603050405020304" pitchFamily="18" charset="0"/>
              </a:rPr>
              <a:t>x ∘ e = x </a:t>
            </a:r>
            <a:r>
              <a:rPr lang="zh-CN" altLang="en-US" sz="2400" b="1">
                <a:latin typeface="Times New Roman" panose="02020603050405020304" pitchFamily="18" charset="0"/>
              </a:rPr>
              <a:t>成立，即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                 </a:t>
            </a:r>
            <a:r>
              <a:rPr lang="en-US" altLang="zh-CN" sz="2400" b="1">
                <a:latin typeface="Times New Roman" panose="02020603050405020304" pitchFamily="18" charset="0"/>
              </a:rPr>
              <a:t>x + e + 2xe =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e = 0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由于∘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运算可交换，所以 </a:t>
            </a:r>
            <a:r>
              <a:rPr lang="en-US" altLang="zh-CN" sz="2400" b="1">
                <a:latin typeface="Times New Roman" panose="02020603050405020304" pitchFamily="18" charset="0"/>
              </a:rPr>
              <a:t>0 </a:t>
            </a:r>
            <a:r>
              <a:rPr lang="zh-CN" altLang="en-US" sz="2400" b="1">
                <a:latin typeface="Times New Roman" panose="02020603050405020304" pitchFamily="18" charset="0"/>
              </a:rPr>
              <a:t>是幺元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78" name="Rectangle 4">
            <a:extLst>
              <a:ext uri="{FF2B5EF4-FFF2-40B4-BE49-F238E27FC236}">
                <a16:creationId xmlns:a16="http://schemas.microsoft.com/office/drawing/2014/main" id="{F9D37187-05B7-47A2-9FF4-74EFC669A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946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例题分析（续）</a:t>
            </a:r>
          </a:p>
        </p:txBody>
      </p:sp>
      <p:sp>
        <p:nvSpPr>
          <p:cNvPr id="240645" name="Text Box 5">
            <a:extLst>
              <a:ext uri="{FF2B5EF4-FFF2-40B4-BE49-F238E27FC236}">
                <a16:creationId xmlns:a16="http://schemas.microsoft.com/office/drawing/2014/main" id="{974B4A9A-2EFC-49E4-9F63-0C35AA236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924175"/>
            <a:ext cx="770413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对于任意 </a:t>
            </a:r>
            <a:r>
              <a:rPr lang="en-US" altLang="zh-CN" sz="2400" b="1">
                <a:latin typeface="Times New Roman" panose="02020603050405020304" pitchFamily="18" charset="0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</a:rPr>
              <a:t>有 </a:t>
            </a:r>
            <a:r>
              <a:rPr lang="en-US" altLang="zh-CN" sz="2400" b="1">
                <a:latin typeface="Times New Roman" panose="02020603050405020304" pitchFamily="18" charset="0"/>
              </a:rPr>
              <a:t>x∘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400" b="1">
                <a:latin typeface="Times New Roman" panose="02020603050405020304" pitchFamily="18" charset="0"/>
              </a:rPr>
              <a:t>成立，即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>
                <a:latin typeface="Times New Roman" panose="02020603050405020304" pitchFamily="18" charset="0"/>
              </a:rPr>
              <a:t>x+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 sz="2400" b="1">
                <a:latin typeface="Times New Roman" panose="02020603050405020304" pitchFamily="18" charset="0"/>
              </a:rPr>
              <a:t>+ 2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 x + 2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= 0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1/2 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65ED11D-D4BF-463A-8C95-37E16E72CDA3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933825"/>
            <a:ext cx="7704138" cy="2087563"/>
            <a:chOff x="476" y="2478"/>
            <a:chExt cx="4853" cy="1315"/>
          </a:xfrm>
        </p:grpSpPr>
        <p:sp>
          <p:nvSpPr>
            <p:cNvPr id="45063" name="Text Box 7">
              <a:extLst>
                <a:ext uri="{FF2B5EF4-FFF2-40B4-BE49-F238E27FC236}">
                  <a16:creationId xmlns:a16="http://schemas.microsoft.com/office/drawing/2014/main" id="{E0E08A6B-50B3-46B9-A083-1A5456D4B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478"/>
              <a:ext cx="4853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 b="1">
                  <a:latin typeface="Times New Roman" panose="02020603050405020304" pitchFamily="18" charset="0"/>
                </a:rPr>
                <a:t>给定 </a:t>
              </a:r>
              <a:r>
                <a:rPr lang="en-US" altLang="zh-CN" sz="2400" b="1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>
                  <a:latin typeface="Times New Roman" panose="02020603050405020304" pitchFamily="18" charset="0"/>
                </a:rPr>
                <a:t>，设 </a:t>
              </a:r>
              <a:r>
                <a:rPr lang="en-US" altLang="zh-CN" sz="2400" b="1">
                  <a:latin typeface="Times New Roman" panose="02020603050405020304" pitchFamily="18" charset="0"/>
                </a:rPr>
                <a:t>x 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的逆元为 </a:t>
              </a:r>
              <a:r>
                <a:rPr lang="en-US" altLang="zh-CN" sz="2400" b="1">
                  <a:latin typeface="Times New Roman" panose="02020603050405020304" pitchFamily="18" charset="0"/>
                </a:rPr>
                <a:t>y,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则有 </a:t>
              </a:r>
              <a:r>
                <a:rPr lang="en-US" altLang="zh-CN" sz="2400" b="1">
                  <a:latin typeface="Times New Roman" panose="02020603050405020304" pitchFamily="18" charset="0"/>
                </a:rPr>
                <a:t>x ∘ y = 0 </a:t>
              </a:r>
              <a:r>
                <a:rPr lang="zh-CN" altLang="en-US" sz="2400" b="1">
                  <a:latin typeface="Times New Roman" panose="02020603050405020304" pitchFamily="18" charset="0"/>
                </a:rPr>
                <a:t>成立，即</a:t>
              </a:r>
            </a:p>
            <a:p>
              <a:pPr eaLnBrk="1" hangingPunct="1">
                <a:lnSpc>
                  <a:spcPct val="120000"/>
                </a:lnSpc>
                <a:spcBef>
                  <a:spcPts val="12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x + y + 2xy = 0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               (x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zh-CN" sz="24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>
                  <a:latin typeface="Times New Roman" panose="02020603050405020304" pitchFamily="18" charset="0"/>
                </a:rPr>
                <a:t>1/2) </a:t>
              </a:r>
            </a:p>
            <a:p>
              <a:pPr eaLnBrk="1" hangingPunct="1">
                <a:lnSpc>
                  <a:spcPct val="120000"/>
                </a:lnSpc>
              </a:pPr>
              <a:endParaRPr lang="en-US" altLang="zh-CN" sz="2400" b="1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400" b="1">
                  <a:latin typeface="Times New Roman" panose="02020603050405020304" pitchFamily="18" charset="0"/>
                </a:rPr>
                <a:t>因此当 </a:t>
              </a:r>
              <a:r>
                <a:rPr lang="en-US" altLang="zh-CN" sz="2400" b="1">
                  <a:latin typeface="Times New Roman" panose="02020603050405020304" pitchFamily="18" charset="0"/>
                </a:rPr>
                <a:t>x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>
                  <a:latin typeface="Times New Roman" panose="02020603050405020304" pitchFamily="18" charset="0"/>
                </a:rPr>
                <a:t>1/2</a:t>
              </a:r>
              <a:r>
                <a:rPr lang="zh-CN" altLang="en-US" sz="2400" b="1">
                  <a:latin typeface="Times New Roman" panose="02020603050405020304" pitchFamily="18" charset="0"/>
                </a:rPr>
                <a:t>时，                   是 </a:t>
              </a:r>
              <a:r>
                <a:rPr lang="en-US" altLang="zh-CN" sz="2400" b="1">
                  <a:latin typeface="Times New Roman" panose="02020603050405020304" pitchFamily="18" charset="0"/>
                </a:rPr>
                <a:t>x 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的逆元</a:t>
              </a:r>
              <a:r>
                <a:rPr lang="en-US" altLang="zh-CN" sz="2400" b="1">
                  <a:latin typeface="Times New Roman" panose="02020603050405020304" pitchFamily="18" charset="0"/>
                </a:rPr>
                <a:t>. </a:t>
              </a:r>
            </a:p>
          </p:txBody>
        </p:sp>
        <p:graphicFrame>
          <p:nvGraphicFramePr>
            <p:cNvPr id="45064" name="Object 8">
              <a:extLst>
                <a:ext uri="{FF2B5EF4-FFF2-40B4-BE49-F238E27FC236}">
                  <a16:creationId xmlns:a16="http://schemas.microsoft.com/office/drawing/2014/main" id="{3E793EB8-DF44-451C-AF60-900DA6A26A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7" y="2795"/>
            <a:ext cx="952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66" r:id="rId4" imgW="609458" imgH="289528" progId="Equation.3">
                    <p:embed/>
                  </p:oleObj>
                </mc:Choice>
                <mc:Fallback>
                  <p:oleObj r:id="rId4" imgW="609458" imgH="289528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2795"/>
                          <a:ext cx="952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5" name="Object 9">
              <a:extLst>
                <a:ext uri="{FF2B5EF4-FFF2-40B4-BE49-F238E27FC236}">
                  <a16:creationId xmlns:a16="http://schemas.microsoft.com/office/drawing/2014/main" id="{4F3B0A8F-F5FB-488E-9D4F-5FB30DA1B3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9" y="3325"/>
            <a:ext cx="953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67" r:id="rId6" imgW="609458" imgH="289528" progId="Equation.3">
                    <p:embed/>
                  </p:oleObj>
                </mc:Choice>
                <mc:Fallback>
                  <p:oleObj r:id="rId6" imgW="609458" imgH="28952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325"/>
                          <a:ext cx="953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/>
      <p:bldP spid="2406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29266C1-275F-40C0-B87F-E4573B092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7747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例题分析（续）</a:t>
            </a:r>
          </a:p>
        </p:txBody>
      </p:sp>
      <p:graphicFrame>
        <p:nvGraphicFramePr>
          <p:cNvPr id="241708" name="Group 44">
            <a:extLst>
              <a:ext uri="{FF2B5EF4-FFF2-40B4-BE49-F238E27FC236}">
                <a16:creationId xmlns:a16="http://schemas.microsoft.com/office/drawing/2014/main" id="{C32EA934-CE23-416E-AA88-D38DED894058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187450" y="2133600"/>
          <a:ext cx="6665913" cy="1401944"/>
        </p:xfrm>
        <a:graphic>
          <a:graphicData uri="http://schemas.openxmlformats.org/drawingml/2006/table">
            <a:tbl>
              <a:tblPr/>
              <a:tblGrid>
                <a:gridCol w="50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0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98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L="91444" marR="91444" marT="45686" marB="4568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/>
                        </a:rPr>
                        <a:t>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91444" marR="91444" marT="45686" marB="4568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●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06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c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45686" marB="456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1667" name="Text Box 3">
            <a:extLst>
              <a:ext uri="{FF2B5EF4-FFF2-40B4-BE49-F238E27FC236}">
                <a16:creationId xmlns:a16="http://schemas.microsoft.com/office/drawing/2014/main" id="{255AD6B2-733F-480D-AC09-379A1C4E2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7889875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solidFill>
                  <a:srgbClr val="01390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说明哪些运算是可交换的、可结合的、幂等的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 (2) </a:t>
            </a:r>
            <a:r>
              <a:rPr lang="zh-CN" altLang="en-US" sz="2400" b="1">
                <a:latin typeface="Times New Roman" panose="02020603050405020304" pitchFamily="18" charset="0"/>
              </a:rPr>
              <a:t>求出每个运算的单位元、零元、所有可逆元素的逆元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41705" name="Text Box 41">
            <a:extLst>
              <a:ext uri="{FF2B5EF4-FFF2-40B4-BE49-F238E27FC236}">
                <a16:creationId xmlns:a16="http://schemas.microsoft.com/office/drawing/2014/main" id="{4885C0AC-10FB-451B-8E46-C2F766D6E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97425"/>
            <a:ext cx="7851775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zh-CN" altLang="en-US" sz="2400" b="1">
                <a:solidFill>
                  <a:srgbClr val="01390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的单位元为 </a:t>
            </a:r>
            <a:r>
              <a:rPr lang="en-US" altLang="zh-CN" sz="2400" b="1">
                <a:latin typeface="Times New Roman" panose="02020603050405020304" pitchFamily="18" charset="0"/>
              </a:rPr>
              <a:t>b, </a:t>
            </a:r>
            <a:r>
              <a:rPr lang="zh-CN" altLang="en-US" sz="2400" b="1">
                <a:latin typeface="Times New Roman" panose="02020603050405020304" pitchFamily="18" charset="0"/>
              </a:rPr>
              <a:t>没有零元， </a:t>
            </a:r>
            <a:r>
              <a:rPr lang="en-US" altLang="zh-CN" sz="2400" b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 = c, 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 = b, c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 = a  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400" b="1">
                <a:solidFill>
                  <a:srgbClr val="013906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600" b="1">
                <a:latin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sz="2400" b="1">
                <a:solidFill>
                  <a:srgbClr val="01390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的单位元和零元都不存在，没有可逆元素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400" b="1">
                <a:solidFill>
                  <a:srgbClr val="013906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1000" b="1">
                <a:latin typeface="Times New Roman" panose="02020603050405020304" pitchFamily="18" charset="0"/>
              </a:rPr>
              <a:t>●</a:t>
            </a:r>
            <a:r>
              <a:rPr lang="en-US" altLang="zh-CN" sz="1000" b="1">
                <a:solidFill>
                  <a:srgbClr val="013906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的单位元为 </a:t>
            </a:r>
            <a:r>
              <a:rPr lang="en-US" altLang="zh-CN" sz="2400" b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，零元为</a:t>
            </a:r>
            <a:r>
              <a:rPr lang="en-US" altLang="zh-CN" sz="2400" b="1">
                <a:latin typeface="Times New Roman" panose="02020603050405020304" pitchFamily="18" charset="0"/>
              </a:rPr>
              <a:t>c,  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=a.  b, c</a:t>
            </a:r>
            <a:r>
              <a:rPr lang="zh-CN" altLang="en-US" sz="2400" b="1">
                <a:latin typeface="Times New Roman" panose="02020603050405020304" pitchFamily="18" charset="0"/>
              </a:rPr>
              <a:t>不是可逆元素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41706" name="Rectangle 42">
            <a:extLst>
              <a:ext uri="{FF2B5EF4-FFF2-40B4-BE49-F238E27FC236}">
                <a16:creationId xmlns:a16="http://schemas.microsoft.com/office/drawing/2014/main" id="{1E92EED5-BFC0-47C8-91DD-810449A83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789363"/>
            <a:ext cx="7923212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解 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b="1">
                <a:latin typeface="Times New Roman" panose="02020603050405020304" pitchFamily="18" charset="0"/>
              </a:rPr>
              <a:t> 满足交换律、结合律；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 </a:t>
            </a:r>
            <a:r>
              <a:rPr lang="zh-CN" altLang="en-US" sz="2400" b="1">
                <a:latin typeface="Times New Roman" panose="02020603050405020304" pitchFamily="18" charset="0"/>
              </a:rPr>
              <a:t>满足结合律、幂等律；</a:t>
            </a:r>
          </a:p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solidFill>
                  <a:srgbClr val="013906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1000" b="1">
                <a:latin typeface="Times New Roman" panose="02020603050405020304" pitchFamily="18" charset="0"/>
              </a:rPr>
              <a:t>●</a:t>
            </a:r>
            <a:r>
              <a:rPr lang="zh-CN" altLang="en-US" sz="1000" b="1">
                <a:solidFill>
                  <a:srgbClr val="013906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满足交换律、结合律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1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1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1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1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/>
      <p:bldP spid="241705" grpId="0"/>
      <p:bldP spid="241706" grpId="0"/>
    </p:bld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2170</Words>
  <Application>Microsoft Office PowerPoint</Application>
  <PresentationFormat>全屏显示(4:3)</PresentationFormat>
  <Paragraphs>376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Calibri</vt:lpstr>
      <vt:lpstr>Arial</vt:lpstr>
      <vt:lpstr>Calibri Light</vt:lpstr>
      <vt:lpstr>Wingdings 2</vt:lpstr>
      <vt:lpstr>宋体</vt:lpstr>
      <vt:lpstr>等线</vt:lpstr>
      <vt:lpstr>幼圆</vt:lpstr>
      <vt:lpstr>Symbol</vt:lpstr>
      <vt:lpstr>Times New Roman</vt:lpstr>
      <vt:lpstr>Wingdings</vt:lpstr>
      <vt:lpstr>Lucida Sans Unicode</vt:lpstr>
      <vt:lpstr>Verdana</vt:lpstr>
      <vt:lpstr>HDOfficeLightV0</vt:lpstr>
      <vt:lpstr>Microsoft Word Picture</vt:lpstr>
      <vt:lpstr>Equation.3</vt:lpstr>
      <vt:lpstr>PowerPoint 演示文稿</vt:lpstr>
      <vt:lpstr>第十五章 代数系统</vt:lpstr>
      <vt:lpstr>15.1 二元运算及其性质</vt:lpstr>
      <vt:lpstr>n元运算的定义</vt:lpstr>
      <vt:lpstr>n元运算的实例 </vt:lpstr>
      <vt:lpstr>n元运算的表示</vt:lpstr>
      <vt:lpstr>n元运算的表示实例</vt:lpstr>
      <vt:lpstr>运算表的一般形式</vt:lpstr>
      <vt:lpstr>                         二元运算的算律</vt:lpstr>
      <vt:lpstr>算律的定义  </vt:lpstr>
      <vt:lpstr>  实例1</vt:lpstr>
      <vt:lpstr>  实例2</vt:lpstr>
      <vt:lpstr>二元运算的特异元素</vt:lpstr>
      <vt:lpstr>特异元素的定义与性质</vt:lpstr>
      <vt:lpstr>单位元唯一性定理</vt:lpstr>
      <vt:lpstr>零元唯一性定理</vt:lpstr>
      <vt:lpstr>逆元唯一性定理 </vt:lpstr>
      <vt:lpstr>特异元素的实例</vt:lpstr>
      <vt:lpstr>消去律定义及实例</vt:lpstr>
      <vt:lpstr>例题分析</vt:lpstr>
      <vt:lpstr>例题分析（续）</vt:lpstr>
      <vt:lpstr>例题分析（续）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319</cp:revision>
  <dcterms:created xsi:type="dcterms:W3CDTF">2005-12-02T07:25:32Z</dcterms:created>
  <dcterms:modified xsi:type="dcterms:W3CDTF">2020-07-03T09:36:33Z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2052-11.1.0.8612</vt:lpwstr>
  </property>
</Properties>
</file>