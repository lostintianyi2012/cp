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2"/>
  </p:notesMasterIdLst>
  <p:sldIdLst>
    <p:sldId id="331" r:id="rId2"/>
    <p:sldId id="383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CC00"/>
    <a:srgbClr val="FF0000"/>
    <a:srgbClr val="006600"/>
    <a:srgbClr val="FF9900"/>
    <a:srgbClr val="B2DE82"/>
    <a:srgbClr val="CCFFFF"/>
    <a:srgbClr val="BCE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7" autoAdjust="0"/>
    <p:restoredTop sz="91822" autoAdjust="0"/>
  </p:normalViewPr>
  <p:slideViewPr>
    <p:cSldViewPr>
      <p:cViewPr varScale="1">
        <p:scale>
          <a:sx n="79" d="100"/>
          <a:sy n="79" d="100"/>
        </p:scale>
        <p:origin x="134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DE91E7B-D3D3-4771-808B-5A2BF1D84F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E899F7-AAC8-4A5F-8289-E7F4396E533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C8E7FAB4-B50D-4BF1-A1B8-BA8CB334BA03}" type="datetimeFigureOut">
              <a:rPr lang="zh-CN" altLang="en-US"/>
              <a:pPr>
                <a:defRPr/>
              </a:pPr>
              <a:t>2020/7/30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0290D2C-3BC9-4112-9F4E-3F47CE3750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D0BADA9-B6A7-4416-8587-1A0D11BF7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83BA02-D612-449D-A180-A1B8F3AA3B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096374-613C-4EDC-9886-1C87B830E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3F562EBF-B461-449D-B2F5-3F730DA887BA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5364D122-822E-44FC-A98A-B7CC465809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9B698F-D4B0-4D0A-8243-EB495B94D781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D391D51-97FF-42F8-98BB-B6AF85F4D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F69916EF-7290-4207-91B3-E8FC2F9EB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95DB2D75-F411-410E-A633-4807A73FE4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BB3E27E-199E-4AA3-A9AD-0438D6A89074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717CB173-99AE-4EFA-98FC-6917D5B871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407D325-E7FC-4772-9CE7-8386A8D147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CB14865D-7053-47F1-BC6F-A74E4096F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04A6372-611E-4E3D-8D24-44671C569D70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44BB27B-E0C3-4043-A15D-85E6658EA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4C4200C-B49B-4A95-9B64-17137B32A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9B8784B-3839-4617-8353-532FECF784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39DDDE-0310-4C1E-95A1-D94454E73CF5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98CD5BA3-A838-4F4F-82B4-D11A6F7F0D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532835A-DB3F-4CA7-808D-2271B9E53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BB3A8AB2-56E1-4CD2-BD02-C44383082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004FDBD-AF47-4C66-A14F-0A5E8A70480E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453FDAB-7D7B-4A04-9A8B-245DD16ABB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229ED4A-6A95-499F-BC80-E1A49BF79E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4A6BCCD1-8F58-4E15-AC0E-F702FC4420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E5D4D16-E2B3-47D8-8496-FFEADA7AF40D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521E5E2-3202-41A3-86DC-8FBCD9B305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AA8DE24-20B5-4AA7-A1E7-79B7680468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4EE763CA-1B09-45F5-8F28-EF6312A86E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4D76CD4-01FA-4C64-B0D1-9767FF26DA86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C12F801B-EE9B-4908-857A-43EBA540AA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D1B0CA5-69DA-4DA4-B0BA-77D8D572E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E0B8B802-35F6-4DC6-978E-48161DC7B6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A579A77-3E87-4872-AE26-F3E9727B1DE8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1EC02DBD-3549-4306-81A2-1CEBBE1CD3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021B091-3311-4283-AB6D-E18B1DD1B9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C14EF047-7D0F-4C10-9E33-95C22FFF60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5344077-A46A-4692-A884-A4D7F71720C9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6142091-3A12-4E2D-84F4-E7E809D318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5505DAC-16BB-46F7-BDFB-41A5CF8C6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C2B1AE-1956-46D9-84AB-BD45B713A9C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667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5C12A8-8683-4D43-966F-4D4E15F4620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5079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3988A-43F7-4986-9D29-C2DCB27B08D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520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1DBEA1-D66E-4197-91F5-E8C21B8247E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2192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BA7A07-9586-4887-A0B3-4C0DB2F0CE2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43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136D46-B464-428C-B114-701830D0606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9484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2E55A0-A531-4A54-9041-B89C605A748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451369-0D2D-4E35-9874-6D3C3499E3E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0223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EBD013-B5FA-4F37-A7D1-B3A819E7AEE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30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612641-EC96-42F3-865C-FBA5F706A75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9308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2EE98-3CE1-4A01-B3D7-E72C018BA2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30100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2EE98-3CE1-4A01-B3D7-E72C018BA2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62981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E9C2EE98-3CE1-4A01-B3D7-E72C018BA29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2429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FEAE937-8929-48ED-BEC2-84B364E6FF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31127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 合 数 学</a:t>
            </a:r>
            <a:br>
              <a:rPr lang="zh-CN" altLang="en-US" sz="5800" dirty="0">
                <a:ea typeface="黑体" pitchFamily="2" charset="-122"/>
              </a:rPr>
            </a:br>
            <a:r>
              <a:rPr lang="en-US" altLang="zh-CN" sz="4000" dirty="0">
                <a:ea typeface="黑体" pitchFamily="2" charset="-122"/>
              </a:rPr>
              <a:t>Combinatorial</a:t>
            </a:r>
            <a:r>
              <a:rPr lang="en-US" altLang="zh-CN" sz="4000" dirty="0"/>
              <a:t> Mathematics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0A2199C-3269-42A7-A5F3-AD9C5ED971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47813" y="3260725"/>
            <a:ext cx="6400800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400" b="1" dirty="0">
                <a:solidFill>
                  <a:schemeClr val="tx1"/>
                </a:solidFill>
              </a:rPr>
              <a:t>组合存在定理   基本计数公式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3400" b="1" dirty="0">
                <a:solidFill>
                  <a:schemeClr val="tx1"/>
                </a:solidFill>
              </a:rPr>
              <a:t>递推方程    生成函数 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3400" b="1" dirty="0">
                <a:solidFill>
                  <a:schemeClr val="tx1"/>
                </a:solidFill>
              </a:rPr>
              <a:t> 容斥原理    </a:t>
            </a:r>
            <a:r>
              <a:rPr lang="en-US" altLang="zh-CN" sz="3400" b="1" dirty="0" err="1">
                <a:solidFill>
                  <a:schemeClr val="tx1"/>
                </a:solidFill>
              </a:rPr>
              <a:t>Polya</a:t>
            </a:r>
            <a:r>
              <a:rPr lang="zh-CN" altLang="en-US" sz="3400" b="1" dirty="0">
                <a:solidFill>
                  <a:schemeClr val="tx1"/>
                </a:solidFill>
              </a:rPr>
              <a:t>定理</a:t>
            </a:r>
            <a:r>
              <a:rPr lang="zh-CN" altLang="en-US" sz="3400" b="1" dirty="0">
                <a:solidFill>
                  <a:srgbClr val="898989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16716EE-0628-4E0F-8DF8-19B78BBB43A1}"/>
              </a:ext>
            </a:extLst>
          </p:cNvPr>
          <p:cNvSpPr/>
          <p:nvPr/>
        </p:nvSpPr>
        <p:spPr>
          <a:xfrm>
            <a:off x="7059784" y="4541059"/>
            <a:ext cx="1295400" cy="4333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120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计数模型</a:t>
            </a: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F9D0D141-D3E9-4D86-9786-AC98529D29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0743" y="136525"/>
            <a:ext cx="7402513" cy="76358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组合数学主要内容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D8F7C-FDDF-4651-BAB4-38F98665F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48375" y="635635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60D299-FC85-401D-94BF-8125BC5FD3AE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0EB56A-AD3E-4A66-993F-A109C9266DB8}"/>
              </a:ext>
            </a:extLst>
          </p:cNvPr>
          <p:cNvSpPr/>
          <p:nvPr/>
        </p:nvSpPr>
        <p:spPr>
          <a:xfrm>
            <a:off x="2090909" y="5549122"/>
            <a:ext cx="2160587" cy="60483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1200"/>
              </a:spcBef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鸽巢原理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5761A4-8C30-4AE0-BBFA-24A7C4AF349F}"/>
              </a:ext>
            </a:extLst>
          </p:cNvPr>
          <p:cNvSpPr/>
          <p:nvPr/>
        </p:nvSpPr>
        <p:spPr>
          <a:xfrm>
            <a:off x="4394371" y="5549122"/>
            <a:ext cx="2520950" cy="57626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chemeClr val="tx1"/>
                </a:solidFill>
              </a:rPr>
              <a:t>Ramsey</a:t>
            </a:r>
            <a:r>
              <a:rPr lang="zh-CN" altLang="en-US" sz="2400" b="1" dirty="0">
                <a:solidFill>
                  <a:schemeClr val="tx1"/>
                </a:solidFill>
              </a:rPr>
              <a:t>定理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3078" name="TextBox 6">
            <a:extLst>
              <a:ext uri="{FF2B5EF4-FFF2-40B4-BE49-F238E27FC236}">
                <a16:creationId xmlns:a16="http://schemas.microsoft.com/office/drawing/2014/main" id="{BD7E4802-D257-4E3B-B193-3311F018C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45" y="5490384"/>
            <a:ext cx="1008063" cy="7080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/>
              <a:t>组合</a:t>
            </a:r>
            <a:endParaRPr lang="en-US" altLang="zh-CN" sz="2000" b="1" dirty="0"/>
          </a:p>
          <a:p>
            <a:pPr algn="ctr" eaLnBrk="1" hangingPunct="1"/>
            <a:r>
              <a:rPr lang="zh-CN" altLang="en-US" sz="2000" b="1" dirty="0"/>
              <a:t>存在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7CF0DC-DC86-4E23-B58F-F2D2FBA3511B}"/>
              </a:ext>
            </a:extLst>
          </p:cNvPr>
          <p:cNvSpPr/>
          <p:nvPr/>
        </p:nvSpPr>
        <p:spPr>
          <a:xfrm>
            <a:off x="2090909" y="4398184"/>
            <a:ext cx="936625" cy="719138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选取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方案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08FC53-AA47-4B07-B455-F9F4B1336EE1}"/>
              </a:ext>
            </a:extLst>
          </p:cNvPr>
          <p:cNvSpPr/>
          <p:nvPr/>
        </p:nvSpPr>
        <p:spPr>
          <a:xfrm>
            <a:off x="7059784" y="3821922"/>
            <a:ext cx="1295400" cy="4318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120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计数方法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9876599-3290-4A38-8082-4CA48BF6FDB5}"/>
              </a:ext>
            </a:extLst>
          </p:cNvPr>
          <p:cNvSpPr/>
          <p:nvPr/>
        </p:nvSpPr>
        <p:spPr>
          <a:xfrm>
            <a:off x="6986759" y="3245659"/>
            <a:ext cx="1441450" cy="4318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120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计数定理</a:t>
            </a:r>
          </a:p>
        </p:txBody>
      </p:sp>
      <p:sp>
        <p:nvSpPr>
          <p:cNvPr id="3082" name="TextBox 24">
            <a:extLst>
              <a:ext uri="{FF2B5EF4-FFF2-40B4-BE49-F238E27FC236}">
                <a16:creationId xmlns:a16="http://schemas.microsoft.com/office/drawing/2014/main" id="{6845C351-644C-47C5-A079-E2BC7505C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45" y="3677459"/>
            <a:ext cx="1008064" cy="7080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 dirty="0"/>
              <a:t>组合</a:t>
            </a:r>
            <a:endParaRPr lang="en-US" altLang="zh-CN" sz="2000" b="1" dirty="0"/>
          </a:p>
          <a:p>
            <a:pPr algn="ctr" eaLnBrk="1" hangingPunct="1"/>
            <a:r>
              <a:rPr lang="zh-CN" altLang="en-US" sz="2000" b="1" dirty="0"/>
              <a:t>计数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7AB282F-5E67-496E-A0F2-6147EE12B176}"/>
              </a:ext>
            </a:extLst>
          </p:cNvPr>
          <p:cNvSpPr/>
          <p:nvPr/>
        </p:nvSpPr>
        <p:spPr>
          <a:xfrm>
            <a:off x="2090909" y="2166159"/>
            <a:ext cx="2376487" cy="503238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生成算法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966E8CF-B723-4CDD-9981-9E2EDA33CA5A}"/>
              </a:ext>
            </a:extLst>
          </p:cNvPr>
          <p:cNvSpPr/>
          <p:nvPr/>
        </p:nvSpPr>
        <p:spPr>
          <a:xfrm>
            <a:off x="4538834" y="2166159"/>
            <a:ext cx="2376487" cy="503238"/>
          </a:xfrm>
          <a:prstGeom prst="rect">
            <a:avLst/>
          </a:prstGeom>
          <a:noFill/>
          <a:ln w="38100"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组合设计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D1E732-F100-4D79-BA82-3AE7E0B9D4A0}"/>
              </a:ext>
            </a:extLst>
          </p:cNvPr>
          <p:cNvSpPr/>
          <p:nvPr/>
        </p:nvSpPr>
        <p:spPr>
          <a:xfrm>
            <a:off x="1946446" y="3029759"/>
            <a:ext cx="5113338" cy="2232025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087" name="组合 31">
            <a:extLst>
              <a:ext uri="{FF2B5EF4-FFF2-40B4-BE49-F238E27FC236}">
                <a16:creationId xmlns:a16="http://schemas.microsoft.com/office/drawing/2014/main" id="{BEC4DD90-D3BE-4E55-8D55-66EC2C23A22D}"/>
              </a:ext>
            </a:extLst>
          </p:cNvPr>
          <p:cNvGrpSpPr>
            <a:grpSpLocks/>
          </p:cNvGrpSpPr>
          <p:nvPr/>
        </p:nvGrpSpPr>
        <p:grpSpPr bwMode="auto">
          <a:xfrm>
            <a:off x="2090909" y="3174222"/>
            <a:ext cx="4824412" cy="1943100"/>
            <a:chOff x="971600" y="3501008"/>
            <a:chExt cx="4824536" cy="194421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86BA5B2-2BC2-4A27-BE03-E4E36DB1D66E}"/>
                </a:ext>
              </a:extLst>
            </p:cNvPr>
            <p:cNvSpPr/>
            <p:nvPr/>
          </p:nvSpPr>
          <p:spPr>
            <a:xfrm>
              <a:off x="1979688" y="4725673"/>
              <a:ext cx="936649" cy="719551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不定方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程解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B99125D-C6AD-43D0-A8F5-30E0D4A21C68}"/>
                </a:ext>
              </a:extLst>
            </p:cNvPr>
            <p:cNvSpPr/>
            <p:nvPr/>
          </p:nvSpPr>
          <p:spPr>
            <a:xfrm>
              <a:off x="3995865" y="4725673"/>
              <a:ext cx="863622" cy="719551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拆分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方案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B7EBDEA-39C4-4775-836D-33EA8972425B}"/>
                </a:ext>
              </a:extLst>
            </p:cNvPr>
            <p:cNvSpPr/>
            <p:nvPr/>
          </p:nvSpPr>
          <p:spPr>
            <a:xfrm>
              <a:off x="4932514" y="4725673"/>
              <a:ext cx="863622" cy="719551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放球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方案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0829462-B479-41FD-A6E5-5AE1628087B0}"/>
                </a:ext>
              </a:extLst>
            </p:cNvPr>
            <p:cNvSpPr/>
            <p:nvPr/>
          </p:nvSpPr>
          <p:spPr>
            <a:xfrm>
              <a:off x="971600" y="4149080"/>
              <a:ext cx="1439899" cy="432048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递推方程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4EE21D7-D5B4-43E4-9FE6-4BA31C336584}"/>
                </a:ext>
              </a:extLst>
            </p:cNvPr>
            <p:cNvSpPr/>
            <p:nvPr/>
          </p:nvSpPr>
          <p:spPr>
            <a:xfrm>
              <a:off x="2555966" y="4149080"/>
              <a:ext cx="1368460" cy="432048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生成函数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E6F47DF-48B4-4989-B1EB-9F2223044D9A}"/>
                </a:ext>
              </a:extLst>
            </p:cNvPr>
            <p:cNvSpPr/>
            <p:nvPr/>
          </p:nvSpPr>
          <p:spPr>
            <a:xfrm>
              <a:off x="3995865" y="4149080"/>
              <a:ext cx="1800271" cy="432048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指数生成函数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6E179B0-A109-4936-AFF4-11ED88CACCED}"/>
                </a:ext>
              </a:extLst>
            </p:cNvPr>
            <p:cNvSpPr/>
            <p:nvPr/>
          </p:nvSpPr>
          <p:spPr>
            <a:xfrm>
              <a:off x="971600" y="3501008"/>
              <a:ext cx="2376548" cy="503526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容斥原理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60EF8F4-6C71-41B2-B93E-B687034487E5}"/>
                </a:ext>
              </a:extLst>
            </p:cNvPr>
            <p:cNvSpPr/>
            <p:nvPr/>
          </p:nvSpPr>
          <p:spPr>
            <a:xfrm>
              <a:off x="3492615" y="3501008"/>
              <a:ext cx="2303521" cy="503526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anchor="ctr"/>
            <a:lstStyle/>
            <a:p>
              <a:pPr algn="ctr">
                <a:defRPr/>
              </a:pPr>
              <a:r>
                <a:rPr lang="en-US" altLang="zh-CN" sz="2000" b="1" dirty="0" err="1">
                  <a:solidFill>
                    <a:schemeClr val="tx1"/>
                  </a:solidFill>
                </a:rPr>
                <a:t>Polya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定理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A374318-F793-4203-AB8E-4782EAA65FC8}"/>
                </a:ext>
              </a:extLst>
            </p:cNvPr>
            <p:cNvSpPr/>
            <p:nvPr/>
          </p:nvSpPr>
          <p:spPr>
            <a:xfrm>
              <a:off x="2987777" y="4725673"/>
              <a:ext cx="936649" cy="719551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非降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algn="ctr">
                <a:defRPr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路径</a:t>
              </a:r>
            </a:p>
          </p:txBody>
        </p: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B48F5044-4F14-4049-8559-976A7C8887EA}"/>
              </a:ext>
            </a:extLst>
          </p:cNvPr>
          <p:cNvSpPr/>
          <p:nvPr/>
        </p:nvSpPr>
        <p:spPr>
          <a:xfrm>
            <a:off x="2090909" y="1085072"/>
            <a:ext cx="4824412" cy="7921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最短路径 、最小生成树、网络优化、</a:t>
            </a:r>
            <a:r>
              <a:rPr lang="en-US" altLang="zh-CN" sz="2000" b="1" dirty="0">
                <a:solidFill>
                  <a:schemeClr val="tx1"/>
                </a:solidFill>
              </a:rPr>
              <a:t>…</a:t>
            </a:r>
          </a:p>
          <a:p>
            <a:pPr algn="ctr">
              <a:spcBef>
                <a:spcPts val="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问题描述，建模，算法，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86ABE79-C475-4B0F-A7A4-4D02D88EE20A}"/>
              </a:ext>
            </a:extLst>
          </p:cNvPr>
          <p:cNvSpPr/>
          <p:nvPr/>
        </p:nvSpPr>
        <p:spPr>
          <a:xfrm>
            <a:off x="866946" y="1085072"/>
            <a:ext cx="1008063" cy="79216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组合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优化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C6A5AA8-F04F-4ED0-A7EB-913AADD02883}"/>
              </a:ext>
            </a:extLst>
          </p:cNvPr>
          <p:cNvSpPr/>
          <p:nvPr/>
        </p:nvSpPr>
        <p:spPr>
          <a:xfrm>
            <a:off x="866945" y="2033603"/>
            <a:ext cx="1008063" cy="79216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组合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>
              <a:spcBef>
                <a:spcPts val="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枚举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3052E0F-6B22-4062-9045-10BA77F02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组合数学的主要技巧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763F5EC-4C96-4FC6-BA56-5DD3D6D168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A50021"/>
                </a:solidFill>
              </a:rPr>
              <a:t>重要的组合思想</a:t>
            </a:r>
          </a:p>
          <a:p>
            <a:pPr eaLnBrk="1" hangingPunct="1"/>
            <a:r>
              <a:rPr lang="zh-CN" altLang="en-US" b="1"/>
              <a:t>  一一对应</a:t>
            </a:r>
          </a:p>
          <a:p>
            <a:pPr eaLnBrk="1" hangingPunct="1"/>
            <a:r>
              <a:rPr lang="zh-CN" altLang="en-US" b="1"/>
              <a:t> 数学归纳法</a:t>
            </a:r>
          </a:p>
          <a:p>
            <a:pPr eaLnBrk="1" hangingPunct="1"/>
            <a:r>
              <a:rPr lang="zh-CN" altLang="en-US" b="1"/>
              <a:t> 上下界逼近的处理方法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7DBFDCA-4085-4AB7-8612-9AD7C3C9DA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一一对应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E75996-9904-4DA0-9ACB-661322A8B1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125538"/>
            <a:ext cx="7772400" cy="26638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</a:rPr>
              <a:t>例</a:t>
            </a:r>
            <a:r>
              <a:rPr lang="en-US" altLang="zh-CN" sz="2800" b="1">
                <a:solidFill>
                  <a:srgbClr val="A50021"/>
                </a:solidFill>
              </a:rPr>
              <a:t>1</a:t>
            </a:r>
            <a:r>
              <a:rPr lang="en-US" altLang="zh-CN" sz="2800" b="1"/>
              <a:t>  </a:t>
            </a: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latin typeface="Times New Roman" panose="02020603050405020304" pitchFamily="18" charset="0"/>
              </a:rPr>
              <a:t>3 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latin typeface="Times New Roman" panose="02020603050405020304" pitchFamily="18" charset="0"/>
              </a:rPr>
              <a:t> 3 </a:t>
            </a:r>
            <a:r>
              <a:rPr lang="zh-CN" altLang="en-US" sz="2800" b="1">
                <a:latin typeface="Times New Roman" panose="02020603050405020304" pitchFamily="18" charset="0"/>
              </a:rPr>
              <a:t>的立方体至少需要多少次才能切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  成</a:t>
            </a:r>
            <a:r>
              <a:rPr lang="en-US" altLang="zh-CN" sz="2800" b="1">
                <a:latin typeface="Times New Roman" panose="02020603050405020304" pitchFamily="18" charset="0"/>
              </a:rPr>
              <a:t>27</a:t>
            </a:r>
            <a:r>
              <a:rPr lang="zh-CN" altLang="en-US" sz="2800" b="1">
                <a:latin typeface="Times New Roman" panose="02020603050405020304" pitchFamily="18" charset="0"/>
              </a:rPr>
              <a:t>个小立方体？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解： </a:t>
            </a:r>
            <a:r>
              <a:rPr lang="en-US" altLang="zh-CN" sz="2800" b="1">
                <a:latin typeface="Times New Roman" panose="02020603050405020304" pitchFamily="18" charset="0"/>
              </a:rPr>
              <a:t>6</a:t>
            </a:r>
            <a:r>
              <a:rPr lang="zh-CN" altLang="en-US" sz="2800" b="1">
                <a:latin typeface="Times New Roman" panose="02020603050405020304" pitchFamily="18" charset="0"/>
              </a:rPr>
              <a:t>次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 切割 </a:t>
            </a:r>
            <a:r>
              <a:rPr lang="zh-CN" altLang="en-US" sz="2800" b="1">
                <a:sym typeface="Symbol" panose="05050102010706020507" pitchFamily="18" charset="2"/>
              </a:rPr>
              <a:t></a:t>
            </a:r>
            <a:r>
              <a:rPr lang="zh-CN" altLang="en-US" sz="2800" b="1"/>
              <a:t> 中心立方体的面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 次数至少等于面数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75BBA3F9-3A47-450F-BE76-430344916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916113"/>
            <a:ext cx="2376488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3285" name="Rectangle 5">
            <a:extLst>
              <a:ext uri="{FF2B5EF4-FFF2-40B4-BE49-F238E27FC236}">
                <a16:creationId xmlns:a16="http://schemas.microsoft.com/office/drawing/2014/main" id="{F6BE6C00-286D-4775-A302-B500591A2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292600"/>
            <a:ext cx="80645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A50021"/>
                </a:solidFill>
              </a:rPr>
              <a:t>例</a:t>
            </a:r>
            <a:r>
              <a:rPr lang="en-US" altLang="zh-CN" sz="2800">
                <a:solidFill>
                  <a:srgbClr val="A50021"/>
                </a:solidFill>
              </a:rPr>
              <a:t>2</a:t>
            </a:r>
            <a:r>
              <a:rPr lang="en-US" altLang="zh-CN" sz="2800" b="1" i="1"/>
              <a:t>  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/>
              <a:t>个选手两人一组比赛决出冠军，需要多少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/>
              <a:t>次比赛？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/>
              <a:t>解： </a:t>
            </a:r>
            <a:r>
              <a:rPr lang="en-US" altLang="zh-CN" sz="2800" b="1" i="1">
                <a:latin typeface="Times New Roman" panose="02020603050405020304" pitchFamily="18" charset="0"/>
              </a:rPr>
              <a:t>n </a:t>
            </a:r>
            <a:r>
              <a:rPr lang="en-US" altLang="zh-CN" sz="2800" b="1">
                <a:latin typeface="Times New Roman" panose="02020603050405020304" pitchFamily="18" charset="0"/>
              </a:rPr>
              <a:t>-1</a:t>
            </a:r>
            <a:r>
              <a:rPr lang="zh-CN" altLang="en-US" sz="2800" b="1"/>
              <a:t>次，比赛 </a:t>
            </a:r>
            <a:r>
              <a:rPr lang="zh-CN" altLang="en-US" sz="2800" b="1">
                <a:sym typeface="Symbol" panose="05050102010706020507" pitchFamily="18" charset="2"/>
              </a:rPr>
              <a:t></a:t>
            </a:r>
            <a:r>
              <a:rPr lang="zh-CN" altLang="en-US" sz="2800" b="1"/>
              <a:t> 淘汰，比赛次数</a:t>
            </a:r>
            <a:r>
              <a:rPr lang="en-US" altLang="zh-CN" sz="2800" b="1"/>
              <a:t>=</a:t>
            </a:r>
            <a:r>
              <a:rPr lang="zh-CN" altLang="en-US" sz="2800" b="1"/>
              <a:t>淘汰人数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2DB568C-22A9-401E-8800-841CCCC0D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87129"/>
            <a:ext cx="8229600" cy="6350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组合计数模型与一一对应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6234E2-3965-4488-91FE-673D5739F4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412875"/>
            <a:ext cx="7772400" cy="4530725"/>
          </a:xfrm>
        </p:spPr>
        <p:txBody>
          <a:bodyPr/>
          <a:lstStyle/>
          <a:p>
            <a:pPr eaLnBrk="1" hangingPunct="1"/>
            <a:r>
              <a:rPr lang="zh-CN" altLang="en-US" b="1"/>
              <a:t>计数方法：计数模型与实际问题的对应</a:t>
            </a:r>
          </a:p>
          <a:p>
            <a:pPr eaLnBrk="1" hangingPunct="1"/>
            <a:r>
              <a:rPr lang="zh-CN" altLang="en-US" b="1"/>
              <a:t>计数模型：</a:t>
            </a:r>
          </a:p>
          <a:p>
            <a:pPr lvl="1" eaLnBrk="1" hangingPunct="1"/>
            <a:r>
              <a:rPr lang="zh-CN" altLang="en-US" b="1"/>
              <a:t>选取问题</a:t>
            </a:r>
          </a:p>
          <a:p>
            <a:pPr lvl="1" eaLnBrk="1" hangingPunct="1"/>
            <a:r>
              <a:rPr lang="zh-CN" altLang="en-US" b="1"/>
              <a:t>不定方程非负整数解问题</a:t>
            </a:r>
          </a:p>
          <a:p>
            <a:pPr lvl="1" eaLnBrk="1" hangingPunct="1"/>
            <a:r>
              <a:rPr lang="zh-CN" altLang="en-US" b="1"/>
              <a:t>非降路径问题</a:t>
            </a:r>
          </a:p>
          <a:p>
            <a:pPr lvl="1" eaLnBrk="1" hangingPunct="1"/>
            <a:r>
              <a:rPr lang="zh-CN" altLang="en-US" b="1"/>
              <a:t>整数拆分问题</a:t>
            </a:r>
          </a:p>
          <a:p>
            <a:pPr lvl="1" eaLnBrk="1" hangingPunct="1"/>
            <a:r>
              <a:rPr lang="zh-CN" altLang="en-US" b="1"/>
              <a:t>放球问题等等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2326AD7-AAB2-4D7C-9824-F14BE5D87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84931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数学归纳法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FA6DC0F-AD31-48C9-8060-9AB1468A9B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196975"/>
            <a:ext cx="7772400" cy="4852988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描述一个与自然数相关的命题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endParaRPr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证明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归纳基础：例如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(0) </a:t>
            </a:r>
            <a:r>
              <a:rPr lang="zh-CN" altLang="en-US" sz="2400" b="1">
                <a:latin typeface="Times New Roman" panose="02020603050405020304" pitchFamily="18" charset="0"/>
              </a:rPr>
              <a:t>真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归纳步骤：例如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+1)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800" b="1">
                <a:latin typeface="Times New Roman" panose="02020603050405020304" pitchFamily="18" charset="0"/>
              </a:rPr>
              <a:t>第一数学归纳法：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=0</a:t>
            </a:r>
            <a:r>
              <a:rPr lang="zh-CN" altLang="en-US" sz="2400" b="1">
                <a:latin typeface="Times New Roman" panose="02020603050405020304" pitchFamily="18" charset="0"/>
              </a:rPr>
              <a:t>为真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假设对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为真，证对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+1</a:t>
            </a:r>
            <a:r>
              <a:rPr lang="zh-CN" altLang="en-US" sz="2400" b="1">
                <a:latin typeface="Times New Roman" panose="02020603050405020304" pitchFamily="18" charset="0"/>
              </a:rPr>
              <a:t>为真</a:t>
            </a:r>
          </a:p>
          <a:p>
            <a:pPr eaLnBrk="1" hangingPunct="1">
              <a:spcBef>
                <a:spcPts val="18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 第二数学归纳法：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=0</a:t>
            </a:r>
            <a:r>
              <a:rPr lang="zh-CN" altLang="en-US" sz="2400" b="1">
                <a:latin typeface="Times New Roman" panose="02020603050405020304" pitchFamily="18" charset="0"/>
              </a:rPr>
              <a:t>为真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假设对一切小于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</a:rPr>
              <a:t>的 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zh-CN" altLang="en-US" sz="2400" b="1">
                <a:latin typeface="Times New Roman" panose="02020603050405020304" pitchFamily="18" charset="0"/>
              </a:rPr>
              <a:t>为真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证明对 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</a:rPr>
              <a:t>为真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048DE74-2425-4224-8D76-0B4F6C719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数学归纳法的推广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CDE2CD9-1653-4DD6-ADDA-13FAF2D75B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341438"/>
            <a:ext cx="8229600" cy="4525962"/>
          </a:xfrm>
        </p:spPr>
        <p:txBody>
          <a:bodyPr/>
          <a:lstStyle/>
          <a:p>
            <a:pPr marL="533400" indent="-533400" eaLnBrk="1" hangingPunct="1"/>
            <a:r>
              <a:rPr lang="zh-CN" altLang="en-US" sz="2800" b="1">
                <a:latin typeface="Times New Roman" panose="02020603050405020304" pitchFamily="18" charset="0"/>
              </a:rPr>
              <a:t>证明命题 </a:t>
            </a:r>
            <a:r>
              <a:rPr lang="en-US" altLang="zh-CN" sz="2800" b="1" i="1">
                <a:latin typeface="Times New Roman" panose="02020603050405020304" pitchFamily="18" charset="0"/>
              </a:rPr>
              <a:t>P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m, n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</a:rPr>
              <a:t>针对 </a:t>
            </a:r>
            <a:r>
              <a:rPr lang="en-US" altLang="zh-CN" sz="2400" b="1" i="1">
                <a:latin typeface="Times New Roman" panose="02020603050405020304" pitchFamily="18" charset="0"/>
              </a:rPr>
              <a:t>m, n </a:t>
            </a:r>
            <a:r>
              <a:rPr lang="zh-CN" altLang="en-US" sz="2400" b="1">
                <a:latin typeface="Times New Roman" panose="02020603050405020304" pitchFamily="18" charset="0"/>
              </a:rPr>
              <a:t>两个自然数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任意给定 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zh-CN" altLang="en-US" sz="2400" b="1">
                <a:latin typeface="Times New Roman" panose="02020603050405020304" pitchFamily="18" charset="0"/>
              </a:rPr>
              <a:t>（或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）对</a:t>
            </a:r>
            <a:r>
              <a:rPr lang="en-US" altLang="zh-CN" sz="2400" b="1" i="1">
                <a:latin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</a:rPr>
              <a:t>或 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</a:rPr>
              <a:t>归纳</a:t>
            </a:r>
          </a:p>
          <a:p>
            <a:pPr marL="533400" indent="-533400" eaLnBrk="1" hangingPunct="1">
              <a:spcBef>
                <a:spcPct val="6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多重归纳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</a:rPr>
              <a:t>归纳基础  </a:t>
            </a:r>
            <a:r>
              <a:rPr lang="en-US" altLang="zh-CN" sz="2400" b="1">
                <a:latin typeface="Times New Roman" panose="02020603050405020304" pitchFamily="18" charset="0"/>
              </a:rPr>
              <a:t>&lt;0,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’&gt;</a:t>
            </a:r>
            <a:r>
              <a:rPr lang="zh-CN" altLang="en-US" sz="2400" b="1">
                <a:latin typeface="Times New Roman" panose="02020603050405020304" pitchFamily="18" charset="0"/>
              </a:rPr>
              <a:t>为真，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’,0&gt;</a:t>
            </a:r>
            <a:r>
              <a:rPr lang="zh-CN" altLang="en-US" sz="2400" b="1">
                <a:latin typeface="Times New Roman" panose="02020603050405020304" pitchFamily="18" charset="0"/>
              </a:rPr>
              <a:t>为真 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归纳步骤  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假设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-1,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&gt;,&lt;</a:t>
            </a:r>
            <a:r>
              <a:rPr lang="en-US" altLang="zh-CN" sz="2400" b="1" i="1">
                <a:latin typeface="Times New Roman" panose="02020603050405020304" pitchFamily="18" charset="0"/>
              </a:rPr>
              <a:t>m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-1&gt;</a:t>
            </a:r>
            <a:r>
              <a:rPr lang="zh-CN" altLang="en-US" sz="2400" b="1">
                <a:latin typeface="Times New Roman" panose="02020603050405020304" pitchFamily="18" charset="0"/>
              </a:rPr>
              <a:t>为真，证</a:t>
            </a:r>
            <a:r>
              <a:rPr lang="en-US" altLang="zh-CN" sz="2400" b="1">
                <a:latin typeface="Times New Roman" panose="02020603050405020304" pitchFamily="18" charset="0"/>
              </a:rPr>
              <a:t>&lt;</a:t>
            </a:r>
            <a:r>
              <a:rPr lang="en-US" altLang="zh-CN" sz="2400" b="1" i="1">
                <a:latin typeface="Times New Roman" panose="02020603050405020304" pitchFamily="18" charset="0"/>
              </a:rPr>
              <a:t>m,n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</a:rPr>
              <a:t>为真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51BA1830-1E50-4CCE-8183-D11E4CA61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572"/>
            <a:ext cx="8229600" cy="7747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多重归纳</a:t>
            </a:r>
          </a:p>
        </p:txBody>
      </p:sp>
      <p:grpSp>
        <p:nvGrpSpPr>
          <p:cNvPr id="9219" name="Group 7">
            <a:extLst>
              <a:ext uri="{FF2B5EF4-FFF2-40B4-BE49-F238E27FC236}">
                <a16:creationId xmlns:a16="http://schemas.microsoft.com/office/drawing/2014/main" id="{860D7E7D-E83C-4C5F-A1F8-E755C6EACF70}"/>
              </a:ext>
            </a:extLst>
          </p:cNvPr>
          <p:cNvGrpSpPr>
            <a:grpSpLocks/>
          </p:cNvGrpSpPr>
          <p:nvPr/>
        </p:nvGrpSpPr>
        <p:grpSpPr bwMode="auto">
          <a:xfrm>
            <a:off x="1825625" y="1395413"/>
            <a:ext cx="4978400" cy="4103687"/>
            <a:chOff x="975" y="1117"/>
            <a:chExt cx="4264" cy="2585"/>
          </a:xfrm>
        </p:grpSpPr>
        <p:sp>
          <p:nvSpPr>
            <p:cNvPr id="9242" name="Line 4">
              <a:extLst>
                <a:ext uri="{FF2B5EF4-FFF2-40B4-BE49-F238E27FC236}">
                  <a16:creationId xmlns:a16="http://schemas.microsoft.com/office/drawing/2014/main" id="{C746776E-D9E2-4048-89CA-1E99B340C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3702"/>
              <a:ext cx="42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3" name="Line 6">
              <a:extLst>
                <a:ext uri="{FF2B5EF4-FFF2-40B4-BE49-F238E27FC236}">
                  <a16:creationId xmlns:a16="http://schemas.microsoft.com/office/drawing/2014/main" id="{0F14A6BD-A053-4FF0-A005-5D7A5E4AC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117"/>
              <a:ext cx="0" cy="25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8">
            <a:extLst>
              <a:ext uri="{FF2B5EF4-FFF2-40B4-BE49-F238E27FC236}">
                <a16:creationId xmlns:a16="http://schemas.microsoft.com/office/drawing/2014/main" id="{9F7E3556-1640-4118-A935-FC37E8E0014E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619375"/>
            <a:ext cx="144463" cy="2952750"/>
            <a:chOff x="657" y="1979"/>
            <a:chExt cx="91" cy="1860"/>
          </a:xfrm>
        </p:grpSpPr>
        <p:sp>
          <p:nvSpPr>
            <p:cNvPr id="9237" name="Oval 8">
              <a:extLst>
                <a:ext uri="{FF2B5EF4-FFF2-40B4-BE49-F238E27FC236}">
                  <a16:creationId xmlns:a16="http://schemas.microsoft.com/office/drawing/2014/main" id="{ECFDA3C8-1932-455B-86DF-E5741613C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3748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8" name="Oval 9">
              <a:extLst>
                <a:ext uri="{FF2B5EF4-FFF2-40B4-BE49-F238E27FC236}">
                  <a16:creationId xmlns:a16="http://schemas.microsoft.com/office/drawing/2014/main" id="{5BAA7538-9E40-427B-8835-29E7F7E3E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3339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9" name="Oval 10">
              <a:extLst>
                <a:ext uri="{FF2B5EF4-FFF2-40B4-BE49-F238E27FC236}">
                  <a16:creationId xmlns:a16="http://schemas.microsoft.com/office/drawing/2014/main" id="{3BAC031E-1F9F-476B-9EFF-F10A8164D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2886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0" name="Oval 11">
              <a:extLst>
                <a:ext uri="{FF2B5EF4-FFF2-40B4-BE49-F238E27FC236}">
                  <a16:creationId xmlns:a16="http://schemas.microsoft.com/office/drawing/2014/main" id="{EB87CBE0-318B-4CD5-841F-5070CFE08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243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1" name="Oval 12">
              <a:extLst>
                <a:ext uri="{FF2B5EF4-FFF2-40B4-BE49-F238E27FC236}">
                  <a16:creationId xmlns:a16="http://schemas.microsoft.com/office/drawing/2014/main" id="{3846DB58-4419-4CA2-879A-4A421811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1979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29">
            <a:extLst>
              <a:ext uri="{FF2B5EF4-FFF2-40B4-BE49-F238E27FC236}">
                <a16:creationId xmlns:a16="http://schemas.microsoft.com/office/drawing/2014/main" id="{9ECB3622-A45E-457E-BCFC-EEA74EE066C3}"/>
              </a:ext>
            </a:extLst>
          </p:cNvPr>
          <p:cNvGrpSpPr>
            <a:grpSpLocks/>
          </p:cNvGrpSpPr>
          <p:nvPr/>
        </p:nvGrpSpPr>
        <p:grpSpPr bwMode="auto">
          <a:xfrm>
            <a:off x="2473325" y="5427663"/>
            <a:ext cx="2303463" cy="144462"/>
            <a:chOff x="1111" y="3748"/>
            <a:chExt cx="1451" cy="91"/>
          </a:xfrm>
        </p:grpSpPr>
        <p:sp>
          <p:nvSpPr>
            <p:cNvPr id="9233" name="Oval 13">
              <a:extLst>
                <a:ext uri="{FF2B5EF4-FFF2-40B4-BE49-F238E27FC236}">
                  <a16:creationId xmlns:a16="http://schemas.microsoft.com/office/drawing/2014/main" id="{00905FFE-5554-4B4A-AE94-26F4AF22B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748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4" name="Oval 14">
              <a:extLst>
                <a:ext uri="{FF2B5EF4-FFF2-40B4-BE49-F238E27FC236}">
                  <a16:creationId xmlns:a16="http://schemas.microsoft.com/office/drawing/2014/main" id="{ECBB69D7-D0C9-4A6F-9A81-9ADB73B18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3748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5" name="Oval 15">
              <a:extLst>
                <a:ext uri="{FF2B5EF4-FFF2-40B4-BE49-F238E27FC236}">
                  <a16:creationId xmlns:a16="http://schemas.microsoft.com/office/drawing/2014/main" id="{AC5ACF61-61D5-4DC6-B535-C8C02E1C0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748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6" name="Oval 16">
              <a:extLst>
                <a:ext uri="{FF2B5EF4-FFF2-40B4-BE49-F238E27FC236}">
                  <a16:creationId xmlns:a16="http://schemas.microsoft.com/office/drawing/2014/main" id="{A98BF20E-E7B0-4AB1-BCC1-0967FF49B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3748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30">
            <a:extLst>
              <a:ext uri="{FF2B5EF4-FFF2-40B4-BE49-F238E27FC236}">
                <a16:creationId xmlns:a16="http://schemas.microsoft.com/office/drawing/2014/main" id="{3598940B-3261-4341-B7DE-ADD4C2015475}"/>
              </a:ext>
            </a:extLst>
          </p:cNvPr>
          <p:cNvGrpSpPr>
            <a:grpSpLocks/>
          </p:cNvGrpSpPr>
          <p:nvPr/>
        </p:nvGrpSpPr>
        <p:grpSpPr bwMode="auto">
          <a:xfrm>
            <a:off x="2473325" y="4059238"/>
            <a:ext cx="863600" cy="863600"/>
            <a:chOff x="1111" y="2886"/>
            <a:chExt cx="544" cy="544"/>
          </a:xfrm>
        </p:grpSpPr>
        <p:sp>
          <p:nvSpPr>
            <p:cNvPr id="9231" name="Oval 19">
              <a:extLst>
                <a:ext uri="{FF2B5EF4-FFF2-40B4-BE49-F238E27FC236}">
                  <a16:creationId xmlns:a16="http://schemas.microsoft.com/office/drawing/2014/main" id="{A5D3C73A-EC8B-42C9-B0A9-252A8AEF2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2886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2" name="Oval 20">
              <a:extLst>
                <a:ext uri="{FF2B5EF4-FFF2-40B4-BE49-F238E27FC236}">
                  <a16:creationId xmlns:a16="http://schemas.microsoft.com/office/drawing/2014/main" id="{196D78E2-5C1F-432D-BE87-D81A97A77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3339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0406" name="Oval 22">
            <a:extLst>
              <a:ext uri="{FF2B5EF4-FFF2-40B4-BE49-F238E27FC236}">
                <a16:creationId xmlns:a16="http://schemas.microsoft.com/office/drawing/2014/main" id="{7EDCD9EA-0ACD-4DC5-8FAF-776A0862E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3325" y="4779963"/>
            <a:ext cx="144463" cy="1444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Group 31">
            <a:extLst>
              <a:ext uri="{FF2B5EF4-FFF2-40B4-BE49-F238E27FC236}">
                <a16:creationId xmlns:a16="http://schemas.microsoft.com/office/drawing/2014/main" id="{EBDAB9BE-A172-4C98-A4C0-20D89041B5FD}"/>
              </a:ext>
            </a:extLst>
          </p:cNvPr>
          <p:cNvGrpSpPr>
            <a:grpSpLocks/>
          </p:cNvGrpSpPr>
          <p:nvPr/>
        </p:nvGrpSpPr>
        <p:grpSpPr bwMode="auto">
          <a:xfrm>
            <a:off x="2473325" y="3338513"/>
            <a:ext cx="1584325" cy="1584325"/>
            <a:chOff x="1111" y="2432"/>
            <a:chExt cx="998" cy="998"/>
          </a:xfrm>
        </p:grpSpPr>
        <p:sp>
          <p:nvSpPr>
            <p:cNvPr id="9228" name="Oval 18">
              <a:extLst>
                <a:ext uri="{FF2B5EF4-FFF2-40B4-BE49-F238E27FC236}">
                  <a16:creationId xmlns:a16="http://schemas.microsoft.com/office/drawing/2014/main" id="{0FAE7ED0-41E4-4448-9603-55D048AE6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2886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29" name="Oval 21">
              <a:extLst>
                <a:ext uri="{FF2B5EF4-FFF2-40B4-BE49-F238E27FC236}">
                  <a16:creationId xmlns:a16="http://schemas.microsoft.com/office/drawing/2014/main" id="{531F2A81-68C6-4D6B-8E5B-01712695C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243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30" name="Oval 23">
              <a:extLst>
                <a:ext uri="{FF2B5EF4-FFF2-40B4-BE49-F238E27FC236}">
                  <a16:creationId xmlns:a16="http://schemas.microsoft.com/office/drawing/2014/main" id="{2794D372-F7B2-4212-B54D-BFF6A08AC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339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0416" name="AutoShape 32">
            <a:extLst>
              <a:ext uri="{FF2B5EF4-FFF2-40B4-BE49-F238E27FC236}">
                <a16:creationId xmlns:a16="http://schemas.microsoft.com/office/drawing/2014/main" id="{55DD4AFC-A6FF-435E-9665-0B8E81D90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3770313"/>
            <a:ext cx="288925" cy="1657350"/>
          </a:xfrm>
          <a:prstGeom prst="upArrow">
            <a:avLst>
              <a:gd name="adj1" fmla="val 50000"/>
              <a:gd name="adj2" fmla="val 1434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0417" name="AutoShape 33">
            <a:extLst>
              <a:ext uri="{FF2B5EF4-FFF2-40B4-BE49-F238E27FC236}">
                <a16:creationId xmlns:a16="http://schemas.microsoft.com/office/drawing/2014/main" id="{D5D902DF-15CA-49A7-B57E-383012796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859463"/>
            <a:ext cx="1727200" cy="287337"/>
          </a:xfrm>
          <a:prstGeom prst="rightArrow">
            <a:avLst>
              <a:gd name="adj1" fmla="val 50000"/>
              <a:gd name="adj2" fmla="val 15027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0418" name="AutoShape 34">
            <a:extLst>
              <a:ext uri="{FF2B5EF4-FFF2-40B4-BE49-F238E27FC236}">
                <a16:creationId xmlns:a16="http://schemas.microsoft.com/office/drawing/2014/main" id="{2A22EF9A-4CA7-4DAA-B942-AC19D588AB0E}"/>
              </a:ext>
            </a:extLst>
          </p:cNvPr>
          <p:cNvSpPr>
            <a:spLocks noChangeArrowheads="1"/>
          </p:cNvSpPr>
          <p:nvPr/>
        </p:nvSpPr>
        <p:spPr bwMode="auto">
          <a:xfrm rot="3283050">
            <a:off x="4320382" y="2639219"/>
            <a:ext cx="417512" cy="1079500"/>
          </a:xfrm>
          <a:prstGeom prst="upArrow">
            <a:avLst>
              <a:gd name="adj1" fmla="val 50000"/>
              <a:gd name="adj2" fmla="val 6463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0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0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0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0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0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0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0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0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406" grpId="0" animBg="1"/>
      <p:bldP spid="400416" grpId="0" animBg="1"/>
      <p:bldP spid="400417" grpId="0" animBg="1"/>
      <p:bldP spid="4004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D622B4C-DD38-44FC-91F7-805B87875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上下界逼近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5EF0D73-0018-44D8-980A-2596DB0888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268413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确定某个值（或阶）</a:t>
            </a:r>
          </a:p>
          <a:p>
            <a:pPr eaLnBrk="1" hangingPunct="1"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zh-CN" altLang="en-US" sz="2800" b="1"/>
              <a:t>步骤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zh-CN" altLang="en-US" sz="2600" b="1"/>
              <a:t>证明这个值的上界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/>
              <a:t>     证明这个值的下界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/>
              <a:t>     如果上界与下界相等，则结束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600" b="1"/>
              <a:t>     否则改进上界或者下界，使得它们逐渐逼近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2F80F7EB-E857-4578-9050-9B1F3742C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</a:p>
        </p:txBody>
      </p:sp>
      <p:sp>
        <p:nvSpPr>
          <p:cNvPr id="11266" name="Rectangle 4">
            <a:extLst>
              <a:ext uri="{FF2B5EF4-FFF2-40B4-BE49-F238E27FC236}">
                <a16:creationId xmlns:a16="http://schemas.microsoft.com/office/drawing/2014/main" id="{45626387-353B-4BCF-8088-903B36A5B2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196975"/>
            <a:ext cx="8229600" cy="10810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用红、蓝两色任意对</a:t>
            </a:r>
            <a:r>
              <a:rPr lang="en-US" altLang="zh-CN" sz="2800" b="1" i="1">
                <a:latin typeface="Times New Roman" panose="02020603050405020304" pitchFamily="18" charset="0"/>
              </a:rPr>
              <a:t>K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zh-CN" altLang="en-US" sz="2800" b="1"/>
              <a:t>的边涂色，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zh-CN" altLang="en-US" sz="2800" b="1"/>
              <a:t>至少是多少才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能出现一个红色三角形，或一个蓝色的三角形？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778D2140-19BA-493F-9DEF-D8A1C6664184}"/>
              </a:ext>
            </a:extLst>
          </p:cNvPr>
          <p:cNvGrpSpPr>
            <a:grpSpLocks/>
          </p:cNvGrpSpPr>
          <p:nvPr/>
        </p:nvGrpSpPr>
        <p:grpSpPr bwMode="auto">
          <a:xfrm>
            <a:off x="1547813" y="3644900"/>
            <a:ext cx="1944687" cy="1439863"/>
            <a:chOff x="1156" y="2659"/>
            <a:chExt cx="1225" cy="907"/>
          </a:xfrm>
        </p:grpSpPr>
        <p:grpSp>
          <p:nvGrpSpPr>
            <p:cNvPr id="11290" name="Group 12">
              <a:extLst>
                <a:ext uri="{FF2B5EF4-FFF2-40B4-BE49-F238E27FC236}">
                  <a16:creationId xmlns:a16="http://schemas.microsoft.com/office/drawing/2014/main" id="{59FA4DA0-26DC-484B-B630-E2C33CB3F6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2659"/>
              <a:ext cx="1225" cy="907"/>
              <a:chOff x="1020" y="2659"/>
              <a:chExt cx="1225" cy="907"/>
            </a:xfrm>
          </p:grpSpPr>
          <p:sp>
            <p:nvSpPr>
              <p:cNvPr id="11292" name="Line 6">
                <a:extLst>
                  <a:ext uri="{FF2B5EF4-FFF2-40B4-BE49-F238E27FC236}">
                    <a16:creationId xmlns:a16="http://schemas.microsoft.com/office/drawing/2014/main" id="{989BC86F-C985-49E2-AB40-D9506D9043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20" y="2704"/>
                <a:ext cx="499" cy="635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3" name="Line 7">
                <a:extLst>
                  <a:ext uri="{FF2B5EF4-FFF2-40B4-BE49-F238E27FC236}">
                    <a16:creationId xmlns:a16="http://schemas.microsoft.com/office/drawing/2014/main" id="{AADC948A-19DD-4A18-8286-93AE5273D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2659"/>
                <a:ext cx="136" cy="907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4" name="Line 8">
                <a:extLst>
                  <a:ext uri="{FF2B5EF4-FFF2-40B4-BE49-F238E27FC236}">
                    <a16:creationId xmlns:a16="http://schemas.microsoft.com/office/drawing/2014/main" id="{C081EDE7-6C45-42B8-A62A-BE4904252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2659"/>
                <a:ext cx="726" cy="68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Line 9">
                <a:extLst>
                  <a:ext uri="{FF2B5EF4-FFF2-40B4-BE49-F238E27FC236}">
                    <a16:creationId xmlns:a16="http://schemas.microsoft.com/office/drawing/2014/main" id="{F0497EE4-359D-47C7-A4EA-B679D6725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0" y="3339"/>
                <a:ext cx="1225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6" name="Line 10">
                <a:extLst>
                  <a:ext uri="{FF2B5EF4-FFF2-40B4-BE49-F238E27FC236}">
                    <a16:creationId xmlns:a16="http://schemas.microsoft.com/office/drawing/2014/main" id="{C364C9BE-CBB2-4318-978C-01CC3E6278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66" y="3339"/>
                <a:ext cx="589" cy="227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91" name="Line 11">
              <a:extLst>
                <a:ext uri="{FF2B5EF4-FFF2-40B4-BE49-F238E27FC236}">
                  <a16:creationId xmlns:a16="http://schemas.microsoft.com/office/drawing/2014/main" id="{C43BD3CA-6261-41D4-9A75-4C0E873C62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3339"/>
              <a:ext cx="590" cy="22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6F44EEC6-57BF-444F-A3A7-13C141DC0DFD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3644900"/>
            <a:ext cx="1944687" cy="1439863"/>
            <a:chOff x="1156" y="2659"/>
            <a:chExt cx="1225" cy="907"/>
          </a:xfrm>
        </p:grpSpPr>
        <p:grpSp>
          <p:nvGrpSpPr>
            <p:cNvPr id="11283" name="Group 15">
              <a:extLst>
                <a:ext uri="{FF2B5EF4-FFF2-40B4-BE49-F238E27FC236}">
                  <a16:creationId xmlns:a16="http://schemas.microsoft.com/office/drawing/2014/main" id="{4E7D4324-C3AE-4113-9516-17006F36F4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2659"/>
              <a:ext cx="1225" cy="907"/>
              <a:chOff x="1020" y="2659"/>
              <a:chExt cx="1225" cy="907"/>
            </a:xfrm>
          </p:grpSpPr>
          <p:sp>
            <p:nvSpPr>
              <p:cNvPr id="11285" name="Line 16">
                <a:extLst>
                  <a:ext uri="{FF2B5EF4-FFF2-40B4-BE49-F238E27FC236}">
                    <a16:creationId xmlns:a16="http://schemas.microsoft.com/office/drawing/2014/main" id="{2687B07C-A7F7-4D3B-BCE0-ED7B91629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20" y="2704"/>
                <a:ext cx="499" cy="635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" name="Line 17">
                <a:extLst>
                  <a:ext uri="{FF2B5EF4-FFF2-40B4-BE49-F238E27FC236}">
                    <a16:creationId xmlns:a16="http://schemas.microsoft.com/office/drawing/2014/main" id="{6C82A74A-C8C6-4D8B-B1D9-10C359E22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2659"/>
                <a:ext cx="136" cy="907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" name="Line 18">
                <a:extLst>
                  <a:ext uri="{FF2B5EF4-FFF2-40B4-BE49-F238E27FC236}">
                    <a16:creationId xmlns:a16="http://schemas.microsoft.com/office/drawing/2014/main" id="{FD2609D5-227A-495A-8C98-F1AE72CD9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2659"/>
                <a:ext cx="726" cy="68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8" name="Line 19">
                <a:extLst>
                  <a:ext uri="{FF2B5EF4-FFF2-40B4-BE49-F238E27FC236}">
                    <a16:creationId xmlns:a16="http://schemas.microsoft.com/office/drawing/2014/main" id="{A890FD2F-BF45-4464-A98F-BF0962977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0" y="3339"/>
                <a:ext cx="1225" cy="0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9" name="Line 20">
                <a:extLst>
                  <a:ext uri="{FF2B5EF4-FFF2-40B4-BE49-F238E27FC236}">
                    <a16:creationId xmlns:a16="http://schemas.microsoft.com/office/drawing/2014/main" id="{C020576B-57FC-47BE-9202-42091F715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66" y="3339"/>
                <a:ext cx="589" cy="227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84" name="Line 21">
              <a:extLst>
                <a:ext uri="{FF2B5EF4-FFF2-40B4-BE49-F238E27FC236}">
                  <a16:creationId xmlns:a16="http://schemas.microsoft.com/office/drawing/2014/main" id="{84D05938-3BAD-4D61-A8A6-82DF2E08B7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3339"/>
              <a:ext cx="590" cy="227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3551" name="Rectangle 31">
            <a:extLst>
              <a:ext uri="{FF2B5EF4-FFF2-40B4-BE49-F238E27FC236}">
                <a16:creationId xmlns:a16="http://schemas.microsoft.com/office/drawing/2014/main" id="{ED60F0C2-F791-4E08-9DD7-1DBD1C9B0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565400"/>
            <a:ext cx="8135938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/>
              <a:t>证明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p"/>
            </a:pPr>
            <a:r>
              <a:rPr lang="zh-CN" altLang="en-US" sz="2800" b="1"/>
              <a:t>上界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b="1">
                <a:latin typeface="Times New Roman" panose="02020603050405020304" pitchFamily="18" charset="0"/>
              </a:rPr>
              <a:t>6. </a:t>
            </a:r>
            <a:r>
              <a:rPr lang="zh-CN" altLang="en-US" sz="2800" b="1"/>
              <a:t>某顶点关联的边至少有</a:t>
            </a:r>
            <a:r>
              <a:rPr lang="en-US" altLang="zh-CN" sz="2800"/>
              <a:t>3</a:t>
            </a:r>
            <a:r>
              <a:rPr lang="zh-CN" altLang="en-US" sz="2800" b="1"/>
              <a:t>条同色</a:t>
            </a:r>
          </a:p>
        </p:txBody>
      </p:sp>
      <p:grpSp>
        <p:nvGrpSpPr>
          <p:cNvPr id="6" name="Group 36">
            <a:extLst>
              <a:ext uri="{FF2B5EF4-FFF2-40B4-BE49-F238E27FC236}">
                <a16:creationId xmlns:a16="http://schemas.microsoft.com/office/drawing/2014/main" id="{B1C93DCD-6464-4712-8C40-479096AE0E07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716338"/>
            <a:ext cx="7993062" cy="2592387"/>
            <a:chOff x="295" y="2568"/>
            <a:chExt cx="5035" cy="1633"/>
          </a:xfrm>
        </p:grpSpPr>
        <p:grpSp>
          <p:nvGrpSpPr>
            <p:cNvPr id="11272" name="Group 35">
              <a:extLst>
                <a:ext uri="{FF2B5EF4-FFF2-40B4-BE49-F238E27FC236}">
                  <a16:creationId xmlns:a16="http://schemas.microsoft.com/office/drawing/2014/main" id="{43F36BF0-872E-4E5D-BEB6-189DDDCAD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5" y="2568"/>
              <a:ext cx="5035" cy="1633"/>
              <a:chOff x="295" y="2568"/>
              <a:chExt cx="5035" cy="1633"/>
            </a:xfrm>
          </p:grpSpPr>
          <p:grpSp>
            <p:nvGrpSpPr>
              <p:cNvPr id="11274" name="Group 30">
                <a:extLst>
                  <a:ext uri="{FF2B5EF4-FFF2-40B4-BE49-F238E27FC236}">
                    <a16:creationId xmlns:a16="http://schemas.microsoft.com/office/drawing/2014/main" id="{1615D5AD-5B27-418A-9A58-38BD5294B3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6" y="2568"/>
                <a:ext cx="1044" cy="1044"/>
                <a:chOff x="4286" y="2568"/>
                <a:chExt cx="1044" cy="1044"/>
              </a:xfrm>
            </p:grpSpPr>
            <p:grpSp>
              <p:nvGrpSpPr>
                <p:cNvPr id="11277" name="Group 29">
                  <a:extLst>
                    <a:ext uri="{FF2B5EF4-FFF2-40B4-BE49-F238E27FC236}">
                      <a16:creationId xmlns:a16="http://schemas.microsoft.com/office/drawing/2014/main" id="{1D2D5D61-7B67-41D1-B540-AB23EA6142A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86" y="2568"/>
                  <a:ext cx="1044" cy="1044"/>
                  <a:chOff x="4286" y="2568"/>
                  <a:chExt cx="1044" cy="1044"/>
                </a:xfrm>
              </p:grpSpPr>
              <p:sp>
                <p:nvSpPr>
                  <p:cNvPr id="11279" name="AutoShape 23">
                    <a:extLst>
                      <a:ext uri="{FF2B5EF4-FFF2-40B4-BE49-F238E27FC236}">
                        <a16:creationId xmlns:a16="http://schemas.microsoft.com/office/drawing/2014/main" id="{FC62E3D8-06AF-4526-9500-E1CAA7F846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86" y="2568"/>
                    <a:ext cx="1044" cy="1043"/>
                  </a:xfrm>
                  <a:prstGeom prst="pentagon">
                    <a:avLst/>
                  </a:prstGeom>
                  <a:solidFill>
                    <a:schemeClr val="bg1"/>
                  </a:solidFill>
                  <a:ln w="28575">
                    <a:solidFill>
                      <a:srgbClr val="FF33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1280" name="Line 24">
                    <a:extLst>
                      <a:ext uri="{FF2B5EF4-FFF2-40B4-BE49-F238E27FC236}">
                        <a16:creationId xmlns:a16="http://schemas.microsoft.com/office/drawing/2014/main" id="{D90420D7-3D8C-41FD-B1EF-94DFF69671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286" y="2976"/>
                    <a:ext cx="1043" cy="0"/>
                  </a:xfrm>
                  <a:prstGeom prst="line">
                    <a:avLst/>
                  </a:prstGeom>
                  <a:noFill/>
                  <a:ln w="28575">
                    <a:solidFill>
                      <a:srgbClr val="0033CC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81" name="Line 25">
                    <a:extLst>
                      <a:ext uri="{FF2B5EF4-FFF2-40B4-BE49-F238E27FC236}">
                        <a16:creationId xmlns:a16="http://schemas.microsoft.com/office/drawing/2014/main" id="{932D9F21-6CC7-4175-9C25-BCB96F42A6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785" y="2568"/>
                    <a:ext cx="318" cy="1044"/>
                  </a:xfrm>
                  <a:prstGeom prst="line">
                    <a:avLst/>
                  </a:prstGeom>
                  <a:noFill/>
                  <a:ln w="28575">
                    <a:solidFill>
                      <a:srgbClr val="0033CC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82" name="Line 26">
                    <a:extLst>
                      <a:ext uri="{FF2B5EF4-FFF2-40B4-BE49-F238E27FC236}">
                        <a16:creationId xmlns:a16="http://schemas.microsoft.com/office/drawing/2014/main" id="{E75360CF-9759-4364-A8D9-92F743D033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468" y="2568"/>
                    <a:ext cx="317" cy="1044"/>
                  </a:xfrm>
                  <a:prstGeom prst="line">
                    <a:avLst/>
                  </a:prstGeom>
                  <a:noFill/>
                  <a:ln w="28575">
                    <a:solidFill>
                      <a:srgbClr val="0033CC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1278" name="Line 28">
                  <a:extLst>
                    <a:ext uri="{FF2B5EF4-FFF2-40B4-BE49-F238E27FC236}">
                      <a16:creationId xmlns:a16="http://schemas.microsoft.com/office/drawing/2014/main" id="{D4ED967D-0663-4FB2-B560-43A2EB3129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68" y="2976"/>
                  <a:ext cx="861" cy="636"/>
                </a:xfrm>
                <a:prstGeom prst="line">
                  <a:avLst/>
                </a:prstGeom>
                <a:noFill/>
                <a:ln w="28575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75" name="Line 27">
                <a:extLst>
                  <a:ext uri="{FF2B5EF4-FFF2-40B4-BE49-F238E27FC236}">
                    <a16:creationId xmlns:a16="http://schemas.microsoft.com/office/drawing/2014/main" id="{238BA748-39BA-480D-92FD-E6C6281D01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6" y="2976"/>
                <a:ext cx="817" cy="636"/>
              </a:xfrm>
              <a:prstGeom prst="line">
                <a:avLst/>
              </a:prstGeom>
              <a:noFill/>
              <a:ln w="28575">
                <a:solidFill>
                  <a:srgbClr val="0033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6" name="Rectangle 32">
                <a:extLst>
                  <a:ext uri="{FF2B5EF4-FFF2-40B4-BE49-F238E27FC236}">
                    <a16:creationId xmlns:a16="http://schemas.microsoft.com/office/drawing/2014/main" id="{BCE05FEA-7864-4BDD-9EFE-E4C124E83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" y="3566"/>
                <a:ext cx="4990" cy="6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</a:pPr>
                <a:r>
                  <a:rPr lang="zh-CN" altLang="en-US" sz="2800" b="1"/>
                  <a:t>下界</a:t>
                </a:r>
                <a:r>
                  <a:rPr lang="en-US" altLang="zh-CN" sz="2800" b="1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>
                    <a:latin typeface="Times New Roman" panose="02020603050405020304" pitchFamily="18" charset="0"/>
                  </a:rPr>
                  <a:t>&gt;5.</a:t>
                </a:r>
                <a:r>
                  <a:rPr lang="en-US" altLang="zh-CN" sz="2800" b="1"/>
                  <a:t> </a:t>
                </a:r>
                <a:r>
                  <a:rPr lang="en-US" altLang="zh-CN" sz="2800" b="1" i="1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800" b="1">
                    <a:latin typeface="Times New Roman" panose="02020603050405020304" pitchFamily="18" charset="0"/>
                  </a:rPr>
                  <a:t>=5 </a:t>
                </a:r>
                <a:r>
                  <a:rPr lang="zh-CN" altLang="en-US" sz="2800" b="1"/>
                  <a:t>不可能做到</a:t>
                </a:r>
                <a:r>
                  <a:rPr lang="en-US" altLang="zh-CN" sz="2800" b="1"/>
                  <a:t>.</a:t>
                </a:r>
              </a:p>
              <a:p>
                <a:pPr eaLnBrk="1" hangingPunct="1">
                  <a:lnSpc>
                    <a:spcPct val="90000"/>
                  </a:lnSpc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p"/>
                </a:pPr>
                <a:r>
                  <a:rPr lang="en-US" altLang="zh-CN" sz="2800" b="1" i="1">
                    <a:latin typeface="Times New Roman" panose="02020603050405020304" pitchFamily="18" charset="0"/>
                  </a:rPr>
                  <a:t> n</a:t>
                </a:r>
                <a:r>
                  <a:rPr lang="en-US" altLang="zh-CN" sz="2800" b="1">
                    <a:latin typeface="Times New Roman" panose="02020603050405020304" pitchFamily="18" charset="0"/>
                  </a:rPr>
                  <a:t>=6.</a:t>
                </a:r>
                <a:endParaRPr lang="en-US" altLang="zh-CN" sz="2800" b="1"/>
              </a:p>
            </p:txBody>
          </p:sp>
        </p:grpSp>
        <p:sp>
          <p:nvSpPr>
            <p:cNvPr id="11273" name="Text Box 34">
              <a:extLst>
                <a:ext uri="{FF2B5EF4-FFF2-40B4-BE49-F238E27FC236}">
                  <a16:creationId xmlns:a16="http://schemas.microsoft.com/office/drawing/2014/main" id="{BC35CCBA-CF40-47F5-A957-F291B4497A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3" y="3738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反例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51" grpId="0"/>
    </p:bldLst>
  </p:timing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3597</TotalTime>
  <Words>504</Words>
  <Application>Microsoft Office PowerPoint</Application>
  <PresentationFormat>全屏显示(4:3)</PresentationFormat>
  <Paragraphs>104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Wingdings 2</vt:lpstr>
      <vt:lpstr>代数结构PPT</vt:lpstr>
      <vt:lpstr>组 合 数 学 Combinatorial Mathematics</vt:lpstr>
      <vt:lpstr>组合数学主要内容</vt:lpstr>
      <vt:lpstr>组合数学的主要技巧</vt:lpstr>
      <vt:lpstr>一一对应</vt:lpstr>
      <vt:lpstr>组合计数模型与一一对应</vt:lpstr>
      <vt:lpstr>数学归纳法</vt:lpstr>
      <vt:lpstr>数学归纳法的推广</vt:lpstr>
      <vt:lpstr>多重归纳</vt:lpstr>
      <vt:lpstr>上下界逼近</vt:lpstr>
      <vt:lpstr>实例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326</cp:revision>
  <dcterms:created xsi:type="dcterms:W3CDTF">2005-12-02T07:25:32Z</dcterms:created>
  <dcterms:modified xsi:type="dcterms:W3CDTF">2020-07-30T04:54:43Z</dcterms:modified>
</cp:coreProperties>
</file>