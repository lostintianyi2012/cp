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9"/>
  </p:notes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669900"/>
    <a:srgbClr val="CC6600"/>
    <a:srgbClr val="0080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89383" autoAdjust="0"/>
  </p:normalViewPr>
  <p:slideViewPr>
    <p:cSldViewPr>
      <p:cViewPr varScale="1">
        <p:scale>
          <a:sx n="77" d="100"/>
          <a:sy n="77" d="100"/>
        </p:scale>
        <p:origin x="139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69B1EE8-5E9D-4299-82B8-7EB8D11427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6BED7D-A7E9-4AAF-BC4F-DAE4D8A9B2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FBFB4B29-DE92-46E7-B275-D336810E1956}" type="datetimeFigureOut">
              <a:rPr lang="zh-CN" altLang="en-US"/>
              <a:pPr>
                <a:defRPr/>
              </a:pPr>
              <a:t>2020/7/25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7C5DEB3-582B-4D25-A1BA-021363E62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98B184B-2ACF-422D-AD25-131DD0027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AA2D5-325A-4824-976A-AA1ED72E27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4F4F04-3777-40E2-A8A6-C60C9408E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A2571B-7728-43A6-8755-D1EDEA499579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8B1E79D-CB7C-42E8-94FD-316E84FDB1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01D9CD-3093-4229-B043-07920AE9DB3E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E984D2F-B901-4466-94F2-3F46C45E5A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8EA0300E-1531-48B7-A99C-9355A7CF7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0EC3B7C-FF5D-4780-A3D8-B07D84763A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35EFFF-BCC9-41C7-BB67-8890BE51A1C4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A1AE385-3C81-4FA8-A392-10B83E6E9D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397D2E8-3A59-4A44-B8B7-085F57778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5066432B-1489-41E6-8B4F-7F21894E7E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71B94C-B177-46E4-A564-03473EE62632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2358116-372C-4C31-A71C-B0C798BC57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C6E9106-02A8-43B8-AE56-5E35673D4B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2D800EE-7AA5-453C-B834-10A45C1976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5D51E7-A8C9-432D-906E-1DFA4C13E48A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FC535F6-2B97-41A5-9BD8-63CA01FB2B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B5C47AF-FC36-42ED-8949-E6BDD8371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FEC3788-BF29-4077-B995-A545A7C97F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82E061-6730-4E5C-89F0-95FE9120DFCE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4451522-F896-4F50-9F39-AFF0F33752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132CDFE-0B97-41CA-877F-6593C90CB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695456B-845A-49A0-9C0D-0ABA7D4619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D9410F-8CDE-445F-8596-4882796EABAB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BF84C4C-B190-4A11-AE30-94198F94EA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B0D6867-68F9-4E11-A958-53ABA7B65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776275C6-498C-464E-BA2D-80AC151E1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A948CB-E007-439A-BCCE-921D371665DB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2E2924E1-BC38-4A3C-B597-D9867ED71C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6C7E46D-3B5E-455D-BAD6-04E33930B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91F991F-57DC-42AE-8575-EC9DD2D10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0E9FA1-FA05-46BE-A57D-25C87761A00A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0111970-775C-4BAF-BFF0-2FC99988EF7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EDD55D9-7D71-41D7-AAA6-1FEE64B1A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A951840-6E63-406C-8B06-98370D0CE9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689971-F19D-45B3-AAFB-F836FC970915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C8056799-E5A1-434A-89F8-DF3D832C92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D225E00-8F21-4EF4-98F1-456742445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33359C0-898C-462C-BAE7-F999179BA3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B5AE3C-EF8F-4714-8E7C-B8F580EDDB3C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161027C-3CD2-4090-8CE5-95710F814C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9F157D2F-F190-43BB-A02C-A9E401E44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D106364-AEAE-4AD6-A24F-71824E1D89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BDA5BA-B013-4A48-9501-81119EF14D5A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066C910-C911-4E6B-AEAE-332B8C61FC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0BC01BF-F1A6-4684-84B2-5CAB9E9CD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B796697-2541-4517-8717-46F43EB2AB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7C70D5-A437-42EF-8AFB-14FA0B2F5F12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2D69BB2-2CEE-4093-9970-090CB7FD79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107B9E4F-A29C-4020-B5E0-A532D0035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F14CF15-138B-4D72-9687-1554D22D1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2C2BE7-23C6-478E-BC1A-E38D4714D15D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47427CD-60CA-4F29-9B63-33912E2B77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EF5BFA94-5294-48E0-B403-6162CEC4C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2E1098AF-9F49-4BB9-8E8A-E037D7662D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6FE5C0-1549-4B51-8203-40CDEF5471B3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65E9A42-E605-40D8-A638-5C34DA7D0B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2872125-7DA0-4B6E-BDFB-55540E4BE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FEC0960B-8E5A-4CB9-8A31-1AE3521EB9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9CDC60-35B5-424D-9655-2420BBE2257B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E52FAE6-5E3E-413E-8345-78731913E2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17715E2-A9A4-4453-9062-331B859EF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727188B-496A-427B-8214-CA8F102E4A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1F9CB7-5C9F-4AF0-B4C8-A87F7A77B0A0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9B53D92-A906-4B03-80EB-BFA02DD467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25931B1-ACEA-41CA-9BE8-9B400E3BE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B46616B1-7368-400A-8E6B-DD4076FA9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12B15F-0B39-4EA7-ACF3-B5DFFA8921AA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3490BC3-222E-4C57-BEB6-CA5811E7407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0855367-6CA5-42F1-B5EC-3A08F0BB8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7B993AB9-4F8A-403E-853A-BBE55E0DE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D05731-BE7E-417F-98E5-1DFF976C9078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89D0D79-5CB6-4BEC-ACB2-086C3D0585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B7A5DE0-59F4-4DE1-AFD7-8929498B4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C240AAD8-2483-49D5-850E-DFCE25B765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08C6C8-6413-4A5F-B735-4B7833144662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6ABF302-EDD5-4894-9888-C11503467B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852DBD1-D4A5-4CD6-B281-E3AD4D37F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8A31D0E-3499-4ADF-B604-6D7DB9014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0700C8-DEDD-4084-9593-8F7016009C5C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512EA2F-A9B1-4EB2-B11F-12F548F677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CFE0C0B3-8099-4245-A805-9840D83D4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E0B6BF0-5CB2-40AC-9FC4-9AC29FD69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EBEF18-451B-4420-B1D0-67B767475406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A29FB8D2-7A10-4177-8E2A-04B4E2ACAB5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66D67DA-8B26-460D-9C20-6269C2694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DD2F7E9-04F8-4A39-9254-F5C0D2A57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942B0D-005C-47ED-840E-55389BBCF73C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0EE66C6-2436-4C28-BE81-34CA6D0161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79A1710B-0702-43C1-B486-3AB52A461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ADF9347F-03BA-400D-BF3D-F8A9FFDAB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D19EA0-C2C2-4BC3-BA71-489269626921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EB4DB094-05ED-4759-B585-B44C1D6C46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2FF6244-190C-4F38-9D63-447E6F23E5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9777F583-251F-4552-93F9-19BC744DC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960EB3-8694-40A9-93BF-140061005A36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6AD4BE3-F812-4E0A-99A7-F26796D2EF3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849A2D36-E1E0-4068-A3A8-56F3CE919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498B9E0D-1553-4661-85D7-0A57759F28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B3D8EDB-4FDD-4E99-A282-18C1D9780D9B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4F0EE85-9071-4475-8CD1-9FAD80B7F6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B0D5F72E-A406-46E5-B174-2553C206C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15CB19B-BC10-493D-A552-2EBBD32AE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4D1969-9A19-4FF0-8926-78C001448834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DDF805B7-1AB7-4682-97C9-6F676BB8AC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78323020-2202-4D8A-87AC-A47401D19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84864886-17C7-4BD9-8A99-29A7335363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86B197-C0A3-41F3-829D-5C9CA604378F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62B3ED9-B795-44B8-AF77-E53843A85D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FA5C000-18C1-4EBA-946A-D3167039A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031056-D824-465C-98CA-A1463399606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546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1B0E7-0DA3-45DC-BCD7-A769269F07A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47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619F3-ECED-438B-892C-17F66AF00C4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62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B9BDB-32B9-4745-AF41-923C1287722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9407E8-E585-4B56-8440-39ECDA7158E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36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DDE4E6-1FF3-44AB-A9A7-A65724AB1C7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1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90A4C2-2E78-48EE-8FFC-B1A2B1ED394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45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D12698-41B8-48F1-9721-984B3EBD915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605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F64CF-20E7-4489-B3AE-16A06ED81D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90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A4C73A-DAFE-4898-81A7-6899CD1D367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744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35E28-7019-4FCE-A039-AE71CB89B8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71400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35E28-7019-4FCE-A039-AE71CB89B8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61468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07435E28-7019-4FCE-A039-AE71CB89B8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62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Microsoft_Word_97_-_2003_Document.doc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A402F801-5421-4DF3-AADA-C96CD826A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" y="149227"/>
            <a:ext cx="836295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第十九章   格与布尔代数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A952787-6E70-44BF-8D38-1B3DF6710D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7772400" cy="4530725"/>
          </a:xfrm>
        </p:spPr>
        <p:txBody>
          <a:bodyPr/>
          <a:lstStyle/>
          <a:p>
            <a:pPr eaLnBrk="1" hangingPunct="1"/>
            <a:r>
              <a:rPr lang="zh-CN" altLang="en-US" b="1" dirty="0"/>
              <a:t>格的定义与性质</a:t>
            </a:r>
          </a:p>
          <a:p>
            <a:pPr eaLnBrk="1" hangingPunct="1"/>
            <a:r>
              <a:rPr lang="zh-CN" altLang="en-US" b="1" dirty="0"/>
              <a:t>子格、格同态与格的直积</a:t>
            </a:r>
          </a:p>
          <a:p>
            <a:pPr eaLnBrk="1" hangingPunct="1"/>
            <a:r>
              <a:rPr lang="zh-CN" altLang="en-US" b="1" dirty="0"/>
              <a:t>特殊的格</a:t>
            </a:r>
          </a:p>
          <a:p>
            <a:pPr eaLnBrk="1" hangingPunct="1"/>
            <a:r>
              <a:rPr lang="zh-CN" altLang="en-US" b="1" dirty="0"/>
              <a:t>布尔代数</a:t>
            </a:r>
          </a:p>
        </p:txBody>
      </p:sp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94ADFCB3-B36F-4043-A3CD-4A7F9DD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5BB69E-545A-48D7-9ACD-E9B466302F76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>
            <a:extLst>
              <a:ext uri="{FF2B5EF4-FFF2-40B4-BE49-F238E27FC236}">
                <a16:creationId xmlns:a16="http://schemas.microsoft.com/office/drawing/2014/main" id="{F11E8937-38E3-4F43-9448-04CB214CA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19.1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格的定义和性质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E6C4DAA-04D0-4570-8E1A-0A5050310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/>
              <a:t>格的定义</a:t>
            </a:r>
          </a:p>
          <a:p>
            <a:pPr eaLnBrk="1" hangingPunct="1"/>
            <a:r>
              <a:rPr lang="zh-CN" altLang="en-US" b="1"/>
              <a:t>格的基本性质</a:t>
            </a:r>
          </a:p>
          <a:p>
            <a:pPr lvl="1" eaLnBrk="1" hangingPunct="1"/>
            <a:r>
              <a:rPr lang="zh-CN" altLang="en-US" b="1"/>
              <a:t>对偶原理</a:t>
            </a:r>
          </a:p>
          <a:p>
            <a:pPr lvl="1" eaLnBrk="1" hangingPunct="1"/>
            <a:r>
              <a:rPr lang="zh-CN" altLang="en-US" b="1"/>
              <a:t>格中的基本等式与不等式</a:t>
            </a:r>
          </a:p>
          <a:p>
            <a:pPr lvl="1" eaLnBrk="1" hangingPunct="1"/>
            <a:r>
              <a:rPr lang="zh-CN" altLang="en-US" b="1"/>
              <a:t>格中的基本等价条件</a:t>
            </a:r>
          </a:p>
          <a:p>
            <a:pPr lvl="1" eaLnBrk="1" hangingPunct="1"/>
            <a:r>
              <a:rPr lang="zh-CN" altLang="en-US" b="1"/>
              <a:t>格中的算律</a:t>
            </a:r>
          </a:p>
          <a:p>
            <a:pPr eaLnBrk="1" hangingPunct="1"/>
            <a:r>
              <a:rPr lang="zh-CN" altLang="en-US" b="1"/>
              <a:t>格的代数定义</a:t>
            </a:r>
          </a:p>
          <a:p>
            <a:pPr eaLnBrk="1" hangingPunct="1"/>
            <a:r>
              <a:rPr lang="zh-CN" altLang="en-US" b="1"/>
              <a:t>格中的不等式</a:t>
            </a:r>
          </a:p>
        </p:txBody>
      </p:sp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3F5AB974-FEED-4321-8097-9E67E195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8EB0D6-3EEF-4770-832E-9E74D1F1E440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>
            <a:extLst>
              <a:ext uri="{FF2B5EF4-FFF2-40B4-BE49-F238E27FC236}">
                <a16:creationId xmlns:a16="http://schemas.microsoft.com/office/drawing/2014/main" id="{F0B95D79-9103-430A-BF9C-1DD0D2835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格的定义</a:t>
            </a:r>
          </a:p>
        </p:txBody>
      </p:sp>
      <p:sp>
        <p:nvSpPr>
          <p:cNvPr id="1027" name="灯片编号占位符 4">
            <a:extLst>
              <a:ext uri="{FF2B5EF4-FFF2-40B4-BE49-F238E27FC236}">
                <a16:creationId xmlns:a16="http://schemas.microsoft.com/office/drawing/2014/main" id="{60ED0123-FD83-404F-AE78-1A9E466C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6BA2D7-3CA2-4603-82DD-E987B43347BB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15E204A2-9A61-40E2-9658-22AFEC817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783737"/>
              </p:ext>
            </p:extLst>
          </p:nvPr>
        </p:nvGraphicFramePr>
        <p:xfrm>
          <a:off x="0" y="1125538"/>
          <a:ext cx="9144000" cy="508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Document" r:id="rId4" imgW="4024871" imgH="2243081" progId="Word.Document.8">
                  <p:embed/>
                </p:oleObj>
              </mc:Choice>
              <mc:Fallback>
                <p:oleObj name="Document" r:id="rId4" imgW="4024871" imgH="224308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25538"/>
                        <a:ext cx="9144000" cy="508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9DC79086-D386-4C4A-9B91-4F97E391A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351837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格的实例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——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正因子格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D02A068-81DC-4C83-9D3E-9E124D77CB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9450" y="1125538"/>
            <a:ext cx="7853363" cy="23050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2E4A2A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是正整数，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的正因子的集合</a:t>
            </a:r>
            <a:r>
              <a:rPr lang="en-US" altLang="zh-CN" sz="2400" b="1" dirty="0">
                <a:latin typeface="Times New Roman" panose="02020603050405020304" pitchFamily="18" charset="0"/>
              </a:rPr>
              <a:t>.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</a:rPr>
              <a:t>为整除关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系，则偏序集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400" b="1" dirty="0">
                <a:latin typeface="Times New Roman" panose="02020603050405020304" pitchFamily="18" charset="0"/>
              </a:rPr>
              <a:t>构成格</a:t>
            </a:r>
            <a:r>
              <a:rPr lang="en-US" altLang="zh-CN" sz="24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正因子格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 </a:t>
            </a:r>
            <a:r>
              <a:rPr lang="en-US" altLang="zh-CN" sz="2400" b="1" dirty="0">
                <a:latin typeface="Times New Roman" panose="02020603050405020304" pitchFamily="18" charset="0"/>
              </a:rPr>
              <a:t>lcm(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，即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的最小公倍数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gcd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，即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的最大公约数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下图给出了格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30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   </a:t>
            </a:r>
          </a:p>
        </p:txBody>
      </p:sp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3D5B2099-5138-48FA-9A12-70E930CD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3E7359-F18F-4B7D-90C4-79935570A491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10245" name="Picture 4" descr="13-1">
            <a:extLst>
              <a:ext uri="{FF2B5EF4-FFF2-40B4-BE49-F238E27FC236}">
                <a16:creationId xmlns:a16="http://schemas.microsoft.com/office/drawing/2014/main" id="{2431DA33-6DB6-4ED1-85DB-D89DA7DAF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2" b="4448"/>
          <a:stretch>
            <a:fillRect/>
          </a:stretch>
        </p:blipFill>
        <p:spPr bwMode="auto">
          <a:xfrm>
            <a:off x="1258888" y="3357563"/>
            <a:ext cx="6697662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>
            <a:extLst>
              <a:ext uri="{FF2B5EF4-FFF2-40B4-BE49-F238E27FC236}">
                <a16:creationId xmlns:a16="http://schemas.microsoft.com/office/drawing/2014/main" id="{15FCCF2F-113C-402B-97BB-D16B509A0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格的实例（续）</a:t>
            </a:r>
          </a:p>
        </p:txBody>
      </p:sp>
      <p:sp>
        <p:nvSpPr>
          <p:cNvPr id="402434" name="Rectangle 2">
            <a:extLst>
              <a:ext uri="{FF2B5EF4-FFF2-40B4-BE49-F238E27FC236}">
                <a16:creationId xmlns:a16="http://schemas.microsoft.com/office/drawing/2014/main" id="{9482D6BE-A450-4E06-B369-3CA131773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25538"/>
            <a:ext cx="8229600" cy="15128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14620E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判断下列偏序集是否构成格，并说明理由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(1) &lt;Z, ≤&gt;</a:t>
            </a:r>
            <a:r>
              <a:rPr lang="zh-CN" altLang="en-US" sz="2400" b="1">
                <a:latin typeface="Times New Roman" panose="02020603050405020304" pitchFamily="18" charset="0"/>
              </a:rPr>
              <a:t>，其中 </a:t>
            </a:r>
            <a:r>
              <a:rPr lang="en-US" altLang="zh-CN" sz="2400" b="1">
                <a:latin typeface="Times New Roman" panose="02020603050405020304" pitchFamily="18" charset="0"/>
              </a:rPr>
              <a:t>Z </a:t>
            </a:r>
            <a:r>
              <a:rPr lang="zh-CN" altLang="en-US" sz="2400" b="1">
                <a:latin typeface="Times New Roman" panose="02020603050405020304" pitchFamily="18" charset="0"/>
              </a:rPr>
              <a:t>是整数集，≤为小于或等于关系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(2) </a:t>
            </a:r>
            <a:r>
              <a:rPr lang="zh-CN" altLang="en-US" sz="2400" b="1">
                <a:latin typeface="Times New Roman" panose="02020603050405020304" pitchFamily="18" charset="0"/>
              </a:rPr>
              <a:t>偏序集的哈斯图分别在下图给出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9EA356DB-C31C-4E88-9597-BE8F352F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E93676-47E4-48F2-B1AF-06D5AFB08E6D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402436" name="Picture 4" descr="13-2">
            <a:extLst>
              <a:ext uri="{FF2B5EF4-FFF2-40B4-BE49-F238E27FC236}">
                <a16:creationId xmlns:a16="http://schemas.microsoft.com/office/drawing/2014/main" id="{7BAE422B-83FD-4C71-B8C7-ACE555FCF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7" b="11122"/>
          <a:stretch>
            <a:fillRect/>
          </a:stretch>
        </p:blipFill>
        <p:spPr bwMode="auto">
          <a:xfrm>
            <a:off x="1187450" y="2636838"/>
            <a:ext cx="7127875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2437" name="Text Box 5">
            <a:extLst>
              <a:ext uri="{FF2B5EF4-FFF2-40B4-BE49-F238E27FC236}">
                <a16:creationId xmlns:a16="http://schemas.microsoft.com/office/drawing/2014/main" id="{6A52294B-FC7E-4237-86F7-336ED2B09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3688"/>
            <a:ext cx="7704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是格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</p:txBody>
      </p:sp>
      <p:sp>
        <p:nvSpPr>
          <p:cNvPr id="402438" name="Text Box 6">
            <a:extLst>
              <a:ext uri="{FF2B5EF4-FFF2-40B4-BE49-F238E27FC236}">
                <a16:creationId xmlns:a16="http://schemas.microsoft.com/office/drawing/2014/main" id="{A25DA8A8-B518-4ACF-9A78-5E5AD3593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876925"/>
            <a:ext cx="7704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都不是格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2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2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2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2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4" grpId="0" build="p"/>
      <p:bldP spid="402437" grpId="0"/>
      <p:bldP spid="4024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5F585D05-A675-4918-A06A-1EBB45EBB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数据仓库的视图格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217BAEC-FB80-4D9B-A795-326E0C5B2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075612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数据仓库的数据空间可看成多维</a:t>
            </a:r>
            <a:r>
              <a:rPr lang="zh-CN" altLang="en-US" sz="2400" b="1">
                <a:latin typeface="宋体" panose="02010600030101010101" pitchFamily="2" charset="-122"/>
              </a:rPr>
              <a:t>“</a:t>
            </a:r>
            <a:r>
              <a:rPr lang="zh-CN" altLang="en-US" sz="2400" b="1"/>
              <a:t>立方体</a:t>
            </a:r>
            <a:r>
              <a:rPr lang="zh-CN" altLang="en-US" sz="2400" b="1">
                <a:latin typeface="宋体" panose="02010600030101010101" pitchFamily="2" charset="-122"/>
              </a:rPr>
              <a:t>”</a:t>
            </a:r>
            <a:r>
              <a:rPr lang="zh-CN" altLang="en-US" sz="2400" b="1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查询：</a:t>
            </a:r>
            <a:r>
              <a:rPr lang="en-US" altLang="zh-CN" sz="2400" b="1"/>
              <a:t>2005</a:t>
            </a:r>
            <a:r>
              <a:rPr lang="zh-CN" altLang="en-US" sz="2400" b="1"/>
              <a:t>年</a:t>
            </a:r>
            <a:r>
              <a:rPr lang="en-US" altLang="zh-CN" sz="2400" b="1"/>
              <a:t>1</a:t>
            </a:r>
            <a:r>
              <a:rPr lang="zh-CN" altLang="en-US" sz="2400" b="1"/>
              <a:t>月</a:t>
            </a:r>
            <a:r>
              <a:rPr lang="en-US" altLang="zh-CN" sz="2400" b="1"/>
              <a:t>1</a:t>
            </a:r>
            <a:r>
              <a:rPr lang="zh-CN" altLang="en-US" sz="2400" b="1"/>
              <a:t>号后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各城市汽车平均销售价格</a:t>
            </a:r>
            <a:r>
              <a:rPr lang="en-US" altLang="zh-CN" sz="2400" b="1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SELECT city, AVG (prices)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FROM Sales, Dealers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WHERE Sales.dealer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= Dealers.name AND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Data&gt;=’2005-01-01’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GROUP BY city;</a:t>
            </a:r>
          </a:p>
        </p:txBody>
      </p:sp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025C1F4E-D2E5-4018-9E93-1AE0232D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C9B979-8EC0-494D-909F-2A4459EC6809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2293" name="Group 4">
            <a:extLst>
              <a:ext uri="{FF2B5EF4-FFF2-40B4-BE49-F238E27FC236}">
                <a16:creationId xmlns:a16="http://schemas.microsoft.com/office/drawing/2014/main" id="{05E02B48-C12C-4402-B4E1-50587391532D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2060575"/>
            <a:ext cx="3960812" cy="3756025"/>
            <a:chOff x="1620" y="2220"/>
            <a:chExt cx="3517" cy="3120"/>
          </a:xfrm>
        </p:grpSpPr>
        <p:grpSp>
          <p:nvGrpSpPr>
            <p:cNvPr id="12294" name="Group 5">
              <a:extLst>
                <a:ext uri="{FF2B5EF4-FFF2-40B4-BE49-F238E27FC236}">
                  <a16:creationId xmlns:a16="http://schemas.microsoft.com/office/drawing/2014/main" id="{DAC81CD4-FE91-4452-B8FC-AC3FD9AC28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0" y="4092"/>
              <a:ext cx="719" cy="624"/>
              <a:chOff x="1081" y="4248"/>
              <a:chExt cx="719" cy="624"/>
            </a:xfrm>
          </p:grpSpPr>
          <p:sp>
            <p:nvSpPr>
              <p:cNvPr id="12302" name="Line 6">
                <a:extLst>
                  <a:ext uri="{FF2B5EF4-FFF2-40B4-BE49-F238E27FC236}">
                    <a16:creationId xmlns:a16="http://schemas.microsoft.com/office/drawing/2014/main" id="{1CC5F3B4-5663-425D-9474-20B2D77A8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9" y="4248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3" name="Text Box 7">
                <a:extLst>
                  <a:ext uri="{FF2B5EF4-FFF2-40B4-BE49-F238E27FC236}">
                    <a16:creationId xmlns:a16="http://schemas.microsoft.com/office/drawing/2014/main" id="{484E0F74-741B-4774-81BE-F2D835975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1" y="4560"/>
                <a:ext cx="719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000" b="1">
                    <a:latin typeface="Times New Roman" panose="02020603050405020304" pitchFamily="18" charset="0"/>
                  </a:rPr>
                  <a:t>代理商</a:t>
                </a:r>
                <a:endParaRPr lang="zh-CN" altLang="en-US" sz="2000" b="1"/>
              </a:p>
            </p:txBody>
          </p:sp>
        </p:grpSp>
        <p:pic>
          <p:nvPicPr>
            <p:cNvPr id="12295" name="Picture 8">
              <a:extLst>
                <a:ext uri="{FF2B5EF4-FFF2-40B4-BE49-F238E27FC236}">
                  <a16:creationId xmlns:a16="http://schemas.microsoft.com/office/drawing/2014/main" id="{C4982404-8768-4350-810B-4DD55CD51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0" y="2220"/>
              <a:ext cx="2797" cy="2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296" name="Group 9">
              <a:extLst>
                <a:ext uri="{FF2B5EF4-FFF2-40B4-BE49-F238E27FC236}">
                  <a16:creationId xmlns:a16="http://schemas.microsoft.com/office/drawing/2014/main" id="{ACBACA72-0E3D-43E2-8B49-41B11B79EF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0" y="5028"/>
              <a:ext cx="900" cy="312"/>
              <a:chOff x="3060" y="5808"/>
              <a:chExt cx="900" cy="312"/>
            </a:xfrm>
          </p:grpSpPr>
          <p:sp>
            <p:nvSpPr>
              <p:cNvPr id="12300" name="Text Box 10">
                <a:extLst>
                  <a:ext uri="{FF2B5EF4-FFF2-40B4-BE49-F238E27FC236}">
                    <a16:creationId xmlns:a16="http://schemas.microsoft.com/office/drawing/2014/main" id="{BEBBAB1E-4C5A-44A7-BE76-03360DB85C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0" y="5808"/>
                <a:ext cx="463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000" b="1">
                    <a:latin typeface="Times New Roman" panose="02020603050405020304" pitchFamily="18" charset="0"/>
                  </a:rPr>
                  <a:t>日期</a:t>
                </a:r>
                <a:endParaRPr lang="zh-CN" altLang="en-US" sz="2000" b="1"/>
              </a:p>
            </p:txBody>
          </p:sp>
          <p:sp>
            <p:nvSpPr>
              <p:cNvPr id="12301" name="Line 11">
                <a:extLst>
                  <a:ext uri="{FF2B5EF4-FFF2-40B4-BE49-F238E27FC236}">
                    <a16:creationId xmlns:a16="http://schemas.microsoft.com/office/drawing/2014/main" id="{FD061791-B21F-4B27-9B5A-9D6F89C7F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5964"/>
                <a:ext cx="3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297" name="Group 13">
              <a:extLst>
                <a:ext uri="{FF2B5EF4-FFF2-40B4-BE49-F238E27FC236}">
                  <a16:creationId xmlns:a16="http://schemas.microsoft.com/office/drawing/2014/main" id="{A68CBD21-5AD4-4DF7-BE96-70607BB250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0" y="2376"/>
              <a:ext cx="540" cy="468"/>
              <a:chOff x="2160" y="2220"/>
              <a:chExt cx="540" cy="468"/>
            </a:xfrm>
          </p:grpSpPr>
          <p:sp>
            <p:nvSpPr>
              <p:cNvPr id="12298" name="Line 14">
                <a:extLst>
                  <a:ext uri="{FF2B5EF4-FFF2-40B4-BE49-F238E27FC236}">
                    <a16:creationId xmlns:a16="http://schemas.microsoft.com/office/drawing/2014/main" id="{A1D73024-1977-4763-B4FA-F1A611F03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20" y="2220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9" name="Text Box 15">
                <a:extLst>
                  <a:ext uri="{FF2B5EF4-FFF2-40B4-BE49-F238E27FC236}">
                    <a16:creationId xmlns:a16="http://schemas.microsoft.com/office/drawing/2014/main" id="{2EDE3848-7F0C-4007-A8F5-57C98F34D2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376"/>
                <a:ext cx="54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000" b="1">
                    <a:latin typeface="Times New Roman" panose="02020603050405020304" pitchFamily="18" charset="0"/>
                  </a:rPr>
                  <a:t>汽车</a:t>
                </a:r>
                <a:endParaRPr lang="zh-CN" altLang="en-US" sz="2000" b="1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08C4C8B0-842D-4C87-AC75-93E15DF9C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维上的格结构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18C09230-D285-4314-937D-1DBD188701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4467225" cy="4530725"/>
          </a:xfrm>
        </p:spPr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zh-CN" altLang="en-US" sz="2400" b="1"/>
              <a:t>建立物化视图，占用较小空间，尽可能满足更多查询</a:t>
            </a:r>
            <a:r>
              <a:rPr lang="en-US" altLang="zh-CN" sz="2400" b="1"/>
              <a:t>.  </a:t>
            </a:r>
            <a:r>
              <a:rPr lang="zh-CN" altLang="en-US" sz="2400" b="1"/>
              <a:t>物化视图的结构</a:t>
            </a:r>
            <a:r>
              <a:rPr lang="en-US" altLang="zh-CN" sz="2400" b="1">
                <a:latin typeface="宋体" panose="02010600030101010101" pitchFamily="2" charset="-122"/>
              </a:rPr>
              <a:t>——</a:t>
            </a:r>
            <a:r>
              <a:rPr lang="zh-CN" altLang="en-US" sz="2400" b="1"/>
              <a:t>格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在联机分析处理（</a:t>
            </a:r>
            <a:r>
              <a:rPr lang="en-US" altLang="zh-CN" sz="2400" b="1">
                <a:latin typeface="Times New Roman" panose="02020603050405020304" pitchFamily="18" charset="0"/>
              </a:rPr>
              <a:t>OLAP</a:t>
            </a:r>
            <a:r>
              <a:rPr lang="zh-CN" altLang="en-US" sz="2400" b="1"/>
              <a:t>）中，为了加快查询速度，可以将数据按照维进行聚集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每维上的数据构成集合，对它的一种分组就是对这个集合的划分</a:t>
            </a:r>
            <a:r>
              <a:rPr lang="en-US" altLang="zh-CN" sz="2400" b="1"/>
              <a:t>.</a:t>
            </a:r>
            <a:r>
              <a:rPr lang="zh-CN" altLang="en-US" sz="2400" b="1"/>
              <a:t>如果把维上的所有分组的集合记</a:t>
            </a:r>
            <a:r>
              <a:rPr lang="zh-CN" altLang="en-US" sz="2400" b="1">
                <a:latin typeface="Times New Roman" panose="02020603050405020304" pitchFamily="18" charset="0"/>
              </a:rPr>
              <a:t>作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关于加细关系构成格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64387744-15E6-4870-8261-2EF13444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2E92313-60FE-429F-BFF5-AEEA9805C945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2" name="组合 66">
            <a:extLst>
              <a:ext uri="{FF2B5EF4-FFF2-40B4-BE49-F238E27FC236}">
                <a16:creationId xmlns:a16="http://schemas.microsoft.com/office/drawing/2014/main" id="{714A5D08-C44B-454C-A787-85E373FACF95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412875"/>
            <a:ext cx="2500312" cy="3671888"/>
            <a:chOff x="409439" y="1596666"/>
            <a:chExt cx="3146604" cy="4826142"/>
          </a:xfrm>
        </p:grpSpPr>
        <p:grpSp>
          <p:nvGrpSpPr>
            <p:cNvPr id="13331" name="组合 26">
              <a:extLst>
                <a:ext uri="{FF2B5EF4-FFF2-40B4-BE49-F238E27FC236}">
                  <a16:creationId xmlns:a16="http://schemas.microsoft.com/office/drawing/2014/main" id="{DA05B896-46D1-4DFD-94B2-FF1C1FE04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39" y="1596666"/>
              <a:ext cx="3146604" cy="4083542"/>
              <a:chOff x="1123819" y="2298904"/>
              <a:chExt cx="3146604" cy="4083542"/>
            </a:xfrm>
          </p:grpSpPr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E280F0CE-A8BB-4F66-AAAD-477335D6B0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2720" y="2298904"/>
                <a:ext cx="883047" cy="5258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全部</a:t>
                </a:r>
              </a:p>
            </p:txBody>
          </p:sp>
          <p:sp>
            <p:nvSpPr>
              <p:cNvPr id="31" name="TextBox 14">
                <a:extLst>
                  <a:ext uri="{FF2B5EF4-FFF2-40B4-BE49-F238E27FC236}">
                    <a16:creationId xmlns:a16="http://schemas.microsoft.com/office/drawing/2014/main" id="{DB5D9CB7-F4A7-4FB4-B7C1-5853FF5F56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5357" y="3346342"/>
                <a:ext cx="557398" cy="5237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年</a:t>
                </a:r>
              </a:p>
            </p:txBody>
          </p:sp>
          <p:sp>
            <p:nvSpPr>
              <p:cNvPr id="32" name="TextBox 15">
                <a:extLst>
                  <a:ext uri="{FF2B5EF4-FFF2-40B4-BE49-F238E27FC236}">
                    <a16:creationId xmlns:a16="http://schemas.microsoft.com/office/drawing/2014/main" id="{04B7C787-07F4-4727-BC6E-7A07411C0F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374" y="4143396"/>
                <a:ext cx="881049" cy="5258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季度</a:t>
                </a:r>
              </a:p>
            </p:txBody>
          </p:sp>
          <p:sp>
            <p:nvSpPr>
              <p:cNvPr id="33" name="TextBox 16">
                <a:extLst>
                  <a:ext uri="{FF2B5EF4-FFF2-40B4-BE49-F238E27FC236}">
                    <a16:creationId xmlns:a16="http://schemas.microsoft.com/office/drawing/2014/main" id="{6E2BBF1F-C54D-4618-94E9-B52AE8319E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5357" y="4856989"/>
                <a:ext cx="557398" cy="5258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j-ea"/>
                    <a:ea typeface="+mj-ea"/>
                  </a:rPr>
                  <a:t>月</a:t>
                </a:r>
              </a:p>
            </p:txBody>
          </p:sp>
          <p:grpSp>
            <p:nvGrpSpPr>
              <p:cNvPr id="13337" name="组合 25">
                <a:extLst>
                  <a:ext uri="{FF2B5EF4-FFF2-40B4-BE49-F238E27FC236}">
                    <a16:creationId xmlns:a16="http://schemas.microsoft.com/office/drawing/2014/main" id="{7550C50B-61F4-4883-B0E3-29EBE43D14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3042" y="2929462"/>
                <a:ext cx="1708921" cy="2928761"/>
                <a:chOff x="1643042" y="2929462"/>
                <a:chExt cx="1708921" cy="2928761"/>
              </a:xfrm>
            </p:grpSpPr>
            <p:sp>
              <p:nvSpPr>
                <p:cNvPr id="37" name="任意多边形 36">
                  <a:extLst>
                    <a:ext uri="{FF2B5EF4-FFF2-40B4-BE49-F238E27FC236}">
                      <a16:creationId xmlns:a16="http://schemas.microsoft.com/office/drawing/2014/main" id="{29F62ACB-5067-43FE-9FB8-6B5C6FFBE680}"/>
                    </a:ext>
                  </a:extLst>
                </p:cNvPr>
                <p:cNvSpPr/>
                <p:nvPr/>
              </p:nvSpPr>
              <p:spPr>
                <a:xfrm>
                  <a:off x="1715181" y="2999978"/>
                  <a:ext cx="1582292" cy="2729180"/>
                </a:xfrm>
                <a:custGeom>
                  <a:avLst/>
                  <a:gdLst>
                    <a:gd name="connsiteX0" fmla="*/ 798286 w 1756229"/>
                    <a:gd name="connsiteY0" fmla="*/ 0 h 2728686"/>
                    <a:gd name="connsiteX1" fmla="*/ 0 w 1756229"/>
                    <a:gd name="connsiteY1" fmla="*/ 1248229 h 2728686"/>
                    <a:gd name="connsiteX2" fmla="*/ 812800 w 1756229"/>
                    <a:gd name="connsiteY2" fmla="*/ 2728686 h 2728686"/>
                    <a:gd name="connsiteX3" fmla="*/ 1756229 w 1756229"/>
                    <a:gd name="connsiteY3" fmla="*/ 2032000 h 2728686"/>
                    <a:gd name="connsiteX4" fmla="*/ 1741715 w 1756229"/>
                    <a:gd name="connsiteY4" fmla="*/ 609600 h 2728686"/>
                    <a:gd name="connsiteX5" fmla="*/ 798286 w 1756229"/>
                    <a:gd name="connsiteY5" fmla="*/ 0 h 2728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56229" h="2728686">
                      <a:moveTo>
                        <a:pt x="798286" y="0"/>
                      </a:moveTo>
                      <a:lnTo>
                        <a:pt x="0" y="1248229"/>
                      </a:lnTo>
                      <a:lnTo>
                        <a:pt x="812800" y="2728686"/>
                      </a:lnTo>
                      <a:lnTo>
                        <a:pt x="1756229" y="2032000"/>
                      </a:lnTo>
                      <a:lnTo>
                        <a:pt x="1741715" y="609600"/>
                      </a:lnTo>
                      <a:lnTo>
                        <a:pt x="798286" y="0"/>
                      </a:lnTo>
                      <a:close/>
                    </a:path>
                  </a:pathLst>
                </a:custGeom>
                <a:ln w="381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n w="76200">
                      <a:solidFill>
                        <a:schemeClr val="accent5">
                          <a:lumMod val="50000"/>
                        </a:schemeClr>
                      </a:solidFill>
                    </a:ln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43FF1087-6A02-496F-AFE6-C1A637F103B7}"/>
                    </a:ext>
                  </a:extLst>
                </p:cNvPr>
                <p:cNvSpPr/>
                <p:nvPr/>
              </p:nvSpPr>
              <p:spPr>
                <a:xfrm>
                  <a:off x="3207570" y="3571687"/>
                  <a:ext cx="143845" cy="14397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AA4D5FA3-605B-4D0B-B83A-F1B754ACC16E}"/>
                    </a:ext>
                  </a:extLst>
                </p:cNvPr>
                <p:cNvSpPr/>
                <p:nvPr/>
              </p:nvSpPr>
              <p:spPr>
                <a:xfrm>
                  <a:off x="1643258" y="4214338"/>
                  <a:ext cx="143845" cy="14397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775CD233-7057-451B-BFD8-2378F9021996}"/>
                    </a:ext>
                  </a:extLst>
                </p:cNvPr>
                <p:cNvSpPr/>
                <p:nvPr/>
              </p:nvSpPr>
              <p:spPr>
                <a:xfrm>
                  <a:off x="3207570" y="4287367"/>
                  <a:ext cx="143845" cy="14188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44D32D91-0DDE-4A91-BE55-2D1F29437893}"/>
                    </a:ext>
                  </a:extLst>
                </p:cNvPr>
                <p:cNvSpPr/>
                <p:nvPr/>
              </p:nvSpPr>
              <p:spPr>
                <a:xfrm>
                  <a:off x="3207570" y="4998873"/>
                  <a:ext cx="143845" cy="1460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B45D3956-2892-42EC-8005-5E7F7C0A2713}"/>
                    </a:ext>
                  </a:extLst>
                </p:cNvPr>
                <p:cNvSpPr/>
                <p:nvPr/>
              </p:nvSpPr>
              <p:spPr>
                <a:xfrm>
                  <a:off x="2500333" y="5714553"/>
                  <a:ext cx="143845" cy="14397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2881004E-C93D-4063-A3EE-EE7DA0D0D1A6}"/>
                    </a:ext>
                  </a:extLst>
                </p:cNvPr>
                <p:cNvSpPr/>
                <p:nvPr/>
              </p:nvSpPr>
              <p:spPr>
                <a:xfrm>
                  <a:off x="2428410" y="2929036"/>
                  <a:ext cx="143845" cy="14397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35" name="TextBox 23">
                <a:extLst>
                  <a:ext uri="{FF2B5EF4-FFF2-40B4-BE49-F238E27FC236}">
                    <a16:creationId xmlns:a16="http://schemas.microsoft.com/office/drawing/2014/main" id="{0E41C4CF-8B72-4763-B323-FF93691A58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3819" y="4072454"/>
                <a:ext cx="557398" cy="5258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周</a:t>
                </a:r>
              </a:p>
            </p:txBody>
          </p:sp>
          <p:sp>
            <p:nvSpPr>
              <p:cNvPr id="36" name="TextBox 24">
                <a:extLst>
                  <a:ext uri="{FF2B5EF4-FFF2-40B4-BE49-F238E27FC236}">
                    <a16:creationId xmlns:a16="http://schemas.microsoft.com/office/drawing/2014/main" id="{D3DE9BCF-9540-4201-A0B0-7252E8A433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6488" y="5856437"/>
                <a:ext cx="557399" cy="5258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天</a:t>
                </a:r>
              </a:p>
            </p:txBody>
          </p:sp>
        </p:grpSp>
        <p:sp>
          <p:nvSpPr>
            <p:cNvPr id="29" name="TextBox 40">
              <a:extLst>
                <a:ext uri="{FF2B5EF4-FFF2-40B4-BE49-F238E27FC236}">
                  <a16:creationId xmlns:a16="http://schemas.microsoft.com/office/drawing/2014/main" id="{A23FD11A-3230-4DD7-BBFE-BAB9C5AE5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462" y="5815627"/>
              <a:ext cx="1360533" cy="607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latin typeface="+mn-ea"/>
                  <a:ea typeface="+mn-ea"/>
                </a:rPr>
                <a:t>时间维</a:t>
              </a:r>
            </a:p>
          </p:txBody>
        </p:sp>
      </p:grpSp>
      <p:grpSp>
        <p:nvGrpSpPr>
          <p:cNvPr id="5" name="组合 67">
            <a:extLst>
              <a:ext uri="{FF2B5EF4-FFF2-40B4-BE49-F238E27FC236}">
                <a16:creationId xmlns:a16="http://schemas.microsoft.com/office/drawing/2014/main" id="{A380FE9A-A575-4DD9-917B-74785C1BA435}"/>
              </a:ext>
            </a:extLst>
          </p:cNvPr>
          <p:cNvGrpSpPr>
            <a:grpSpLocks/>
          </p:cNvGrpSpPr>
          <p:nvPr/>
        </p:nvGrpSpPr>
        <p:grpSpPr bwMode="auto">
          <a:xfrm>
            <a:off x="7740650" y="1412875"/>
            <a:ext cx="1258888" cy="3630613"/>
            <a:chOff x="4018749" y="1674338"/>
            <a:chExt cx="1408614" cy="4613279"/>
          </a:xfrm>
        </p:grpSpPr>
        <p:grpSp>
          <p:nvGrpSpPr>
            <p:cNvPr id="13319" name="组合 39">
              <a:extLst>
                <a:ext uri="{FF2B5EF4-FFF2-40B4-BE49-F238E27FC236}">
                  <a16:creationId xmlns:a16="http://schemas.microsoft.com/office/drawing/2014/main" id="{1D970E10-F4DB-48B5-AC43-737F7D947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8751" y="1674338"/>
              <a:ext cx="1408612" cy="3917116"/>
              <a:chOff x="4018751" y="1947948"/>
              <a:chExt cx="1408612" cy="3917116"/>
            </a:xfrm>
          </p:grpSpPr>
          <p:grpSp>
            <p:nvGrpSpPr>
              <p:cNvPr id="13321" name="组合 34">
                <a:extLst>
                  <a:ext uri="{FF2B5EF4-FFF2-40B4-BE49-F238E27FC236}">
                    <a16:creationId xmlns:a16="http://schemas.microsoft.com/office/drawing/2014/main" id="{1043F82D-6DDA-43F3-B935-63AE71927E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9124" y="2571744"/>
                <a:ext cx="142876" cy="2714644"/>
                <a:chOff x="5072066" y="2786058"/>
                <a:chExt cx="142876" cy="2714644"/>
              </a:xfrm>
            </p:grpSpPr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78A9202E-D532-40FD-9FEA-FBAC94C5C620}"/>
                    </a:ext>
                  </a:extLst>
                </p:cNvPr>
                <p:cNvCxnSpPr>
                  <a:endCxn id="56" idx="4"/>
                </p:cNvCxnSpPr>
                <p:nvPr/>
              </p:nvCxnSpPr>
              <p:spPr>
                <a:xfrm rot="5400000">
                  <a:off x="3868096" y="4203764"/>
                  <a:ext cx="2551727" cy="17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C29EAEF4-30F6-41D5-95E8-FD4004D86A12}"/>
                    </a:ext>
                  </a:extLst>
                </p:cNvPr>
                <p:cNvSpPr/>
                <p:nvPr/>
              </p:nvSpPr>
              <p:spPr>
                <a:xfrm>
                  <a:off x="5072019" y="2785570"/>
                  <a:ext cx="142105" cy="1432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D9E06D1C-2BBE-499D-B481-8BFC6A5FDD10}"/>
                    </a:ext>
                  </a:extLst>
                </p:cNvPr>
                <p:cNvSpPr/>
                <p:nvPr/>
              </p:nvSpPr>
              <p:spPr>
                <a:xfrm>
                  <a:off x="5072019" y="3642869"/>
                  <a:ext cx="142105" cy="1432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02FDCB8B-3B24-4B11-98E1-FFFE3FEA8FE8}"/>
                    </a:ext>
                  </a:extLst>
                </p:cNvPr>
                <p:cNvSpPr/>
                <p:nvPr/>
              </p:nvSpPr>
              <p:spPr>
                <a:xfrm>
                  <a:off x="5072019" y="4500169"/>
                  <a:ext cx="142105" cy="14120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EBC32470-8773-4F22-966B-518E1FA45930}"/>
                    </a:ext>
                  </a:extLst>
                </p:cNvPr>
                <p:cNvSpPr/>
                <p:nvPr/>
              </p:nvSpPr>
              <p:spPr>
                <a:xfrm>
                  <a:off x="5072019" y="5337296"/>
                  <a:ext cx="142105" cy="1432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48" name="TextBox 35">
                <a:extLst>
                  <a:ext uri="{FF2B5EF4-FFF2-40B4-BE49-F238E27FC236}">
                    <a16:creationId xmlns:a16="http://schemas.microsoft.com/office/drawing/2014/main" id="{772955FC-B1E3-47C2-8F04-DED22A910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8683" y="1947948"/>
                <a:ext cx="785129" cy="508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全部</a:t>
                </a:r>
              </a:p>
            </p:txBody>
          </p:sp>
          <p:sp>
            <p:nvSpPr>
              <p:cNvPr id="49" name="TextBox 36">
                <a:extLst>
                  <a:ext uri="{FF2B5EF4-FFF2-40B4-BE49-F238E27FC236}">
                    <a16:creationId xmlns:a16="http://schemas.microsoft.com/office/drawing/2014/main" id="{6DE02E5D-4F0C-4EFC-96A3-4845B9D55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4010" y="3287352"/>
                <a:ext cx="493814" cy="508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省</a:t>
                </a:r>
              </a:p>
            </p:txBody>
          </p:sp>
          <p:sp>
            <p:nvSpPr>
              <p:cNvPr id="50" name="TextBox 37">
                <a:extLst>
                  <a:ext uri="{FF2B5EF4-FFF2-40B4-BE49-F238E27FC236}">
                    <a16:creationId xmlns:a16="http://schemas.microsoft.com/office/drawing/2014/main" id="{94E4CD07-34EC-42E8-8B4C-053F1E67A9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4010" y="4142634"/>
                <a:ext cx="783353" cy="508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城市</a:t>
                </a:r>
              </a:p>
            </p:txBody>
          </p:sp>
          <p:sp>
            <p:nvSpPr>
              <p:cNvPr id="51" name="TextBox 38">
                <a:extLst>
                  <a:ext uri="{FF2B5EF4-FFF2-40B4-BE49-F238E27FC236}">
                    <a16:creationId xmlns:a16="http://schemas.microsoft.com/office/drawing/2014/main" id="{734807A5-6552-4337-965C-27EB467CD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8749" y="5356974"/>
                <a:ext cx="1072891" cy="508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000" b="1" dirty="0">
                    <a:latin typeface="+mn-ea"/>
                    <a:ea typeface="+mn-ea"/>
                  </a:rPr>
                  <a:t>代理商</a:t>
                </a:r>
              </a:p>
            </p:txBody>
          </p:sp>
        </p:grpSp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53F6CC89-FC9E-491A-B6F5-EF5B00183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749" y="5700619"/>
              <a:ext cx="1245194" cy="586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latin typeface="+mn-ea"/>
                  <a:ea typeface="+mn-ea"/>
                </a:rPr>
                <a:t>地区维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CD7FDC48-4CA9-48CE-BA57-7FD95CE8C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视图格：维格的笛卡儿积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C6FB695-EE0A-4F1A-9357-C78D04A7B9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在每个维的格基础上，可为数据立方体的所有可能的物化视图定义一个格</a:t>
            </a:r>
            <a:r>
              <a:rPr lang="en-US" altLang="zh-CN" sz="2400" b="1">
                <a:latin typeface="Times New Roman" panose="02020603050405020304" pitchFamily="18" charset="0"/>
              </a:rPr>
              <a:t>——</a:t>
            </a:r>
            <a:r>
              <a:rPr lang="zh-CN" altLang="en-US" sz="2400" b="1">
                <a:latin typeface="Times New Roman" panose="02020603050405020304" pitchFamily="18" charset="0"/>
              </a:rPr>
              <a:t>视图格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如果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是两个物化视图，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≼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就意味着：在每一维上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对应的划分都是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对应划分的加细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上述数据仓库中物化视图构成格</a:t>
            </a:r>
          </a:p>
        </p:txBody>
      </p:sp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4A2DA2A9-E320-473F-B9E3-A0B0561C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8B91DD-3768-4833-A2A4-F760F18A2A99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4341" name="Group 20">
            <a:extLst>
              <a:ext uri="{FF2B5EF4-FFF2-40B4-BE49-F238E27FC236}">
                <a16:creationId xmlns:a16="http://schemas.microsoft.com/office/drawing/2014/main" id="{7AB93027-2595-4E07-85B6-55F5A1E7DDE1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933825"/>
            <a:ext cx="3425825" cy="2413000"/>
            <a:chOff x="1247" y="2568"/>
            <a:chExt cx="2158" cy="1520"/>
          </a:xfrm>
        </p:grpSpPr>
        <p:sp>
          <p:nvSpPr>
            <p:cNvPr id="14357" name="Line 12">
              <a:extLst>
                <a:ext uri="{FF2B5EF4-FFF2-40B4-BE49-F238E27FC236}">
                  <a16:creationId xmlns:a16="http://schemas.microsoft.com/office/drawing/2014/main" id="{BD394811-68C4-4103-AD36-5DD802740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7" y="2840"/>
              <a:ext cx="726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358" name="Group 19">
              <a:extLst>
                <a:ext uri="{FF2B5EF4-FFF2-40B4-BE49-F238E27FC236}">
                  <a16:creationId xmlns:a16="http://schemas.microsoft.com/office/drawing/2014/main" id="{BADBC3A2-F083-4685-A5D4-51C831355C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2568"/>
              <a:ext cx="2158" cy="1520"/>
              <a:chOff x="1247" y="2568"/>
              <a:chExt cx="2158" cy="1520"/>
            </a:xfrm>
          </p:grpSpPr>
          <p:sp>
            <p:nvSpPr>
              <p:cNvPr id="14359" name="Line 7">
                <a:extLst>
                  <a:ext uri="{FF2B5EF4-FFF2-40B4-BE49-F238E27FC236}">
                    <a16:creationId xmlns:a16="http://schemas.microsoft.com/office/drawing/2014/main" id="{40D2F912-96C3-4B94-8D07-541E970CE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840"/>
                <a:ext cx="45" cy="4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0" name="Line 8">
                <a:extLst>
                  <a:ext uri="{FF2B5EF4-FFF2-40B4-BE49-F238E27FC236}">
                    <a16:creationId xmlns:a16="http://schemas.microsoft.com/office/drawing/2014/main" id="{DDF155CF-2F0C-41C6-A621-B764F5CAF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3475"/>
                <a:ext cx="545" cy="31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1" name="Line 9">
                <a:extLst>
                  <a:ext uri="{FF2B5EF4-FFF2-40B4-BE49-F238E27FC236}">
                    <a16:creationId xmlns:a16="http://schemas.microsoft.com/office/drawing/2014/main" id="{05582D6D-A2D9-42BD-80FF-BF71A576B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0" y="2750"/>
                <a:ext cx="590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2" name="Line 10">
                <a:extLst>
                  <a:ext uri="{FF2B5EF4-FFF2-40B4-BE49-F238E27FC236}">
                    <a16:creationId xmlns:a16="http://schemas.microsoft.com/office/drawing/2014/main" id="{B49C0500-B405-44CF-A220-674032E0C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1" y="3339"/>
                <a:ext cx="0" cy="4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3" name="Line 11">
                <a:extLst>
                  <a:ext uri="{FF2B5EF4-FFF2-40B4-BE49-F238E27FC236}">
                    <a16:creationId xmlns:a16="http://schemas.microsoft.com/office/drawing/2014/main" id="{5ED4F591-0B18-440C-8C53-078FFD7B9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2750"/>
                <a:ext cx="499" cy="5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4" name="Text Box 13">
                <a:extLst>
                  <a:ext uri="{FF2B5EF4-FFF2-40B4-BE49-F238E27FC236}">
                    <a16:creationId xmlns:a16="http://schemas.microsoft.com/office/drawing/2014/main" id="{5887B988-30EB-4F13-B282-BB1A321AE2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0" y="3838"/>
                <a:ext cx="54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Sales</a:t>
                </a:r>
              </a:p>
            </p:txBody>
          </p:sp>
          <p:sp>
            <p:nvSpPr>
              <p:cNvPr id="14365" name="Text Box 14">
                <a:extLst>
                  <a:ext uri="{FF2B5EF4-FFF2-40B4-BE49-F238E27FC236}">
                    <a16:creationId xmlns:a16="http://schemas.microsoft.com/office/drawing/2014/main" id="{7552803F-20AA-4902-AC88-8D8C6F26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294"/>
                <a:ext cx="5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view1</a:t>
                </a:r>
              </a:p>
            </p:txBody>
          </p:sp>
          <p:sp>
            <p:nvSpPr>
              <p:cNvPr id="14366" name="Text Box 15">
                <a:extLst>
                  <a:ext uri="{FF2B5EF4-FFF2-40B4-BE49-F238E27FC236}">
                    <a16:creationId xmlns:a16="http://schemas.microsoft.com/office/drawing/2014/main" id="{BD37AB14-843D-4CAC-9CFB-7CAC338AD0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089"/>
                <a:ext cx="5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view2</a:t>
                </a:r>
              </a:p>
            </p:txBody>
          </p:sp>
          <p:sp>
            <p:nvSpPr>
              <p:cNvPr id="14367" name="Text Box 16">
                <a:extLst>
                  <a:ext uri="{FF2B5EF4-FFF2-40B4-BE49-F238E27FC236}">
                    <a16:creationId xmlns:a16="http://schemas.microsoft.com/office/drawing/2014/main" id="{DFD65578-D3DC-464E-919F-62D736659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2568"/>
                <a:ext cx="34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Q1</a:t>
                </a:r>
              </a:p>
            </p:txBody>
          </p:sp>
          <p:sp>
            <p:nvSpPr>
              <p:cNvPr id="14368" name="Text Box 17">
                <a:extLst>
                  <a:ext uri="{FF2B5EF4-FFF2-40B4-BE49-F238E27FC236}">
                    <a16:creationId xmlns:a16="http://schemas.microsoft.com/office/drawing/2014/main" id="{B99E34F4-A08B-4E90-88D3-AD1F352F25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4" y="2568"/>
                <a:ext cx="34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Q2</a:t>
                </a:r>
              </a:p>
            </p:txBody>
          </p:sp>
          <p:sp>
            <p:nvSpPr>
              <p:cNvPr id="14369" name="Text Box 18">
                <a:extLst>
                  <a:ext uri="{FF2B5EF4-FFF2-40B4-BE49-F238E27FC236}">
                    <a16:creationId xmlns:a16="http://schemas.microsoft.com/office/drawing/2014/main" id="{8A9EE7A9-1367-44D8-901C-70AE74403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2568"/>
                <a:ext cx="34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Q3</a:t>
                </a:r>
              </a:p>
            </p:txBody>
          </p:sp>
        </p:grpSp>
      </p:grpSp>
      <p:grpSp>
        <p:nvGrpSpPr>
          <p:cNvPr id="14342" name="组合 68">
            <a:extLst>
              <a:ext uri="{FF2B5EF4-FFF2-40B4-BE49-F238E27FC236}">
                <a16:creationId xmlns:a16="http://schemas.microsoft.com/office/drawing/2014/main" id="{A6E5A62E-835F-48AE-BCBF-83CE21947165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2852738"/>
            <a:ext cx="1700212" cy="3611562"/>
            <a:chOff x="6194200" y="1643050"/>
            <a:chExt cx="2021138" cy="4605069"/>
          </a:xfrm>
        </p:grpSpPr>
        <p:grpSp>
          <p:nvGrpSpPr>
            <p:cNvPr id="14343" name="组合 64">
              <a:extLst>
                <a:ext uri="{FF2B5EF4-FFF2-40B4-BE49-F238E27FC236}">
                  <a16:creationId xmlns:a16="http://schemas.microsoft.com/office/drawing/2014/main" id="{639B6F8F-FFAC-4469-8CC8-931BE76B7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200" y="1643050"/>
              <a:ext cx="2021138" cy="3643338"/>
              <a:chOff x="6337076" y="714356"/>
              <a:chExt cx="2021138" cy="4143404"/>
            </a:xfrm>
          </p:grpSpPr>
          <p:sp>
            <p:nvSpPr>
              <p:cNvPr id="22" name="任意多边形 21">
                <a:extLst>
                  <a:ext uri="{FF2B5EF4-FFF2-40B4-BE49-F238E27FC236}">
                    <a16:creationId xmlns:a16="http://schemas.microsoft.com/office/drawing/2014/main" id="{F49BB871-1AD2-422B-84C6-40F13AAEDBBB}"/>
                  </a:ext>
                </a:extLst>
              </p:cNvPr>
              <p:cNvSpPr/>
              <p:nvPr/>
            </p:nvSpPr>
            <p:spPr>
              <a:xfrm>
                <a:off x="6354060" y="2300460"/>
                <a:ext cx="2004154" cy="1772570"/>
              </a:xfrm>
              <a:custGeom>
                <a:avLst/>
                <a:gdLst>
                  <a:gd name="connsiteX0" fmla="*/ 1553028 w 2002971"/>
                  <a:gd name="connsiteY0" fmla="*/ 0 h 1770743"/>
                  <a:gd name="connsiteX1" fmla="*/ 362857 w 2002971"/>
                  <a:gd name="connsiteY1" fmla="*/ 754743 h 1770743"/>
                  <a:gd name="connsiteX2" fmla="*/ 0 w 2002971"/>
                  <a:gd name="connsiteY2" fmla="*/ 1770743 h 1770743"/>
                  <a:gd name="connsiteX3" fmla="*/ 914400 w 2002971"/>
                  <a:gd name="connsiteY3" fmla="*/ 1524000 h 1770743"/>
                  <a:gd name="connsiteX4" fmla="*/ 2002971 w 2002971"/>
                  <a:gd name="connsiteY4" fmla="*/ 522514 h 1770743"/>
                  <a:gd name="connsiteX5" fmla="*/ 1553028 w 2002971"/>
                  <a:gd name="connsiteY5" fmla="*/ 0 h 177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2971" h="1770743">
                    <a:moveTo>
                      <a:pt x="1553028" y="0"/>
                    </a:moveTo>
                    <a:lnTo>
                      <a:pt x="362857" y="754743"/>
                    </a:lnTo>
                    <a:lnTo>
                      <a:pt x="0" y="1770743"/>
                    </a:lnTo>
                    <a:lnTo>
                      <a:pt x="914400" y="1524000"/>
                    </a:lnTo>
                    <a:lnTo>
                      <a:pt x="2002971" y="522514"/>
                    </a:lnTo>
                    <a:lnTo>
                      <a:pt x="1553028" y="0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ln w="349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14346" name="组合 63">
                <a:extLst>
                  <a:ext uri="{FF2B5EF4-FFF2-40B4-BE49-F238E27FC236}">
                    <a16:creationId xmlns:a16="http://schemas.microsoft.com/office/drawing/2014/main" id="{B951C969-228C-4A07-A560-03121DB716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7076" y="714356"/>
                <a:ext cx="2021138" cy="4143404"/>
                <a:chOff x="6337076" y="642918"/>
                <a:chExt cx="2021138" cy="4143404"/>
              </a:xfrm>
            </p:grpSpPr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7A287071-26CC-44B2-9182-D15BBB46AEFA}"/>
                    </a:ext>
                  </a:extLst>
                </p:cNvPr>
                <p:cNvCxnSpPr/>
                <p:nvPr/>
              </p:nvCxnSpPr>
              <p:spPr>
                <a:xfrm>
                  <a:off x="6693747" y="1427912"/>
                  <a:ext cx="20759" cy="235728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348" name="组合 62">
                  <a:extLst>
                    <a:ext uri="{FF2B5EF4-FFF2-40B4-BE49-F238E27FC236}">
                      <a16:creationId xmlns:a16="http://schemas.microsoft.com/office/drawing/2014/main" id="{28B230AA-8003-4957-B681-A11665C99F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337076" y="642918"/>
                  <a:ext cx="2021138" cy="4143404"/>
                  <a:chOff x="6337076" y="642918"/>
                  <a:chExt cx="2021138" cy="4143404"/>
                </a:xfrm>
              </p:grpSpPr>
              <p:sp>
                <p:nvSpPr>
                  <p:cNvPr id="26" name="任意多边形 25">
                    <a:extLst>
                      <a:ext uri="{FF2B5EF4-FFF2-40B4-BE49-F238E27FC236}">
                        <a16:creationId xmlns:a16="http://schemas.microsoft.com/office/drawing/2014/main" id="{25457333-9098-46B9-88F5-8B069A6FE09A}"/>
                      </a:ext>
                    </a:extLst>
                  </p:cNvPr>
                  <p:cNvSpPr/>
                  <p:nvPr/>
                </p:nvSpPr>
                <p:spPr>
                  <a:xfrm>
                    <a:off x="6354060" y="656730"/>
                    <a:ext cx="2004154" cy="1772570"/>
                  </a:xfrm>
                  <a:custGeom>
                    <a:avLst/>
                    <a:gdLst>
                      <a:gd name="connsiteX0" fmla="*/ 1553028 w 2002971"/>
                      <a:gd name="connsiteY0" fmla="*/ 0 h 1770743"/>
                      <a:gd name="connsiteX1" fmla="*/ 362857 w 2002971"/>
                      <a:gd name="connsiteY1" fmla="*/ 754743 h 1770743"/>
                      <a:gd name="connsiteX2" fmla="*/ 0 w 2002971"/>
                      <a:gd name="connsiteY2" fmla="*/ 1770743 h 1770743"/>
                      <a:gd name="connsiteX3" fmla="*/ 914400 w 2002971"/>
                      <a:gd name="connsiteY3" fmla="*/ 1524000 h 1770743"/>
                      <a:gd name="connsiteX4" fmla="*/ 2002971 w 2002971"/>
                      <a:gd name="connsiteY4" fmla="*/ 522514 h 1770743"/>
                      <a:gd name="connsiteX5" fmla="*/ 1553028 w 2002971"/>
                      <a:gd name="connsiteY5" fmla="*/ 0 h 1770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02971" h="1770743">
                        <a:moveTo>
                          <a:pt x="1553028" y="0"/>
                        </a:moveTo>
                        <a:lnTo>
                          <a:pt x="362857" y="754743"/>
                        </a:lnTo>
                        <a:lnTo>
                          <a:pt x="0" y="1770743"/>
                        </a:lnTo>
                        <a:lnTo>
                          <a:pt x="914400" y="1524000"/>
                        </a:lnTo>
                        <a:lnTo>
                          <a:pt x="2002971" y="522514"/>
                        </a:lnTo>
                        <a:lnTo>
                          <a:pt x="1553028" y="0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  <a:alpha val="10000"/>
                    </a:schemeClr>
                  </a:solidFill>
                  <a:ln w="349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27" name="任意多边形 26">
                    <a:extLst>
                      <a:ext uri="{FF2B5EF4-FFF2-40B4-BE49-F238E27FC236}">
                        <a16:creationId xmlns:a16="http://schemas.microsoft.com/office/drawing/2014/main" id="{9C7D8EC8-E8C2-49E9-A5D1-BC6C55BD73B6}"/>
                      </a:ext>
                    </a:extLst>
                  </p:cNvPr>
                  <p:cNvSpPr/>
                  <p:nvPr/>
                </p:nvSpPr>
                <p:spPr>
                  <a:xfrm>
                    <a:off x="6354060" y="1501578"/>
                    <a:ext cx="2004154" cy="1770268"/>
                  </a:xfrm>
                  <a:custGeom>
                    <a:avLst/>
                    <a:gdLst>
                      <a:gd name="connsiteX0" fmla="*/ 1553028 w 2002971"/>
                      <a:gd name="connsiteY0" fmla="*/ 0 h 1770743"/>
                      <a:gd name="connsiteX1" fmla="*/ 362857 w 2002971"/>
                      <a:gd name="connsiteY1" fmla="*/ 754743 h 1770743"/>
                      <a:gd name="connsiteX2" fmla="*/ 0 w 2002971"/>
                      <a:gd name="connsiteY2" fmla="*/ 1770743 h 1770743"/>
                      <a:gd name="connsiteX3" fmla="*/ 914400 w 2002971"/>
                      <a:gd name="connsiteY3" fmla="*/ 1524000 h 1770743"/>
                      <a:gd name="connsiteX4" fmla="*/ 2002971 w 2002971"/>
                      <a:gd name="connsiteY4" fmla="*/ 522514 h 1770743"/>
                      <a:gd name="connsiteX5" fmla="*/ 1553028 w 2002971"/>
                      <a:gd name="connsiteY5" fmla="*/ 0 h 1770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02971" h="1770743">
                        <a:moveTo>
                          <a:pt x="1553028" y="0"/>
                        </a:moveTo>
                        <a:lnTo>
                          <a:pt x="362857" y="754743"/>
                        </a:lnTo>
                        <a:lnTo>
                          <a:pt x="0" y="1770743"/>
                        </a:lnTo>
                        <a:lnTo>
                          <a:pt x="914400" y="1524000"/>
                        </a:lnTo>
                        <a:lnTo>
                          <a:pt x="2002971" y="522514"/>
                        </a:lnTo>
                        <a:lnTo>
                          <a:pt x="1553028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10000"/>
                    </a:schemeClr>
                  </a:solidFill>
                  <a:ln w="349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F2D6781E-25F6-4C09-ABB9-E03A609A4DDA}"/>
                      </a:ext>
                    </a:extLst>
                  </p:cNvPr>
                  <p:cNvCxnSpPr/>
                  <p:nvPr/>
                </p:nvCxnSpPr>
                <p:spPr>
                  <a:xfrm>
                    <a:off x="8337456" y="1142460"/>
                    <a:ext cx="20758" cy="2357287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2DC51FAB-864D-44A4-92CB-07A4B3C80F5B}"/>
                      </a:ext>
                    </a:extLst>
                  </p:cNvPr>
                  <p:cNvCxnSpPr/>
                  <p:nvPr/>
                </p:nvCxnSpPr>
                <p:spPr>
                  <a:xfrm>
                    <a:off x="7909072" y="642918"/>
                    <a:ext cx="20759" cy="2357287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765ECDF9-6DD7-4EB7-AD43-D3AE20AD2EE6}"/>
                      </a:ext>
                    </a:extLst>
                  </p:cNvPr>
                  <p:cNvCxnSpPr/>
                  <p:nvPr/>
                </p:nvCxnSpPr>
                <p:spPr>
                  <a:xfrm>
                    <a:off x="7765649" y="1715668"/>
                    <a:ext cx="20759" cy="2354985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7B6F1689-9E9A-4CD3-A889-F7C58DA39F8F}"/>
                      </a:ext>
                    </a:extLst>
                  </p:cNvPr>
                  <p:cNvCxnSpPr/>
                  <p:nvPr/>
                </p:nvCxnSpPr>
                <p:spPr>
                  <a:xfrm>
                    <a:off x="6337076" y="2357936"/>
                    <a:ext cx="20758" cy="2357287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14856A75-E5AD-4794-B7BB-D6EAC47FF93C}"/>
                      </a:ext>
                    </a:extLst>
                  </p:cNvPr>
                  <p:cNvCxnSpPr/>
                  <p:nvPr/>
                </p:nvCxnSpPr>
                <p:spPr>
                  <a:xfrm>
                    <a:off x="7265554" y="2143847"/>
                    <a:ext cx="20758" cy="2357287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任意多边形 32">
                    <a:extLst>
                      <a:ext uri="{FF2B5EF4-FFF2-40B4-BE49-F238E27FC236}">
                        <a16:creationId xmlns:a16="http://schemas.microsoft.com/office/drawing/2014/main" id="{8F7BA131-58A6-4ECA-9846-792B0330A4E4}"/>
                      </a:ext>
                    </a:extLst>
                  </p:cNvPr>
                  <p:cNvSpPr/>
                  <p:nvPr/>
                </p:nvSpPr>
                <p:spPr>
                  <a:xfrm>
                    <a:off x="6354060" y="3016319"/>
                    <a:ext cx="2004154" cy="1770268"/>
                  </a:xfrm>
                  <a:custGeom>
                    <a:avLst/>
                    <a:gdLst>
                      <a:gd name="connsiteX0" fmla="*/ 1553028 w 2002971"/>
                      <a:gd name="connsiteY0" fmla="*/ 0 h 1770743"/>
                      <a:gd name="connsiteX1" fmla="*/ 362857 w 2002971"/>
                      <a:gd name="connsiteY1" fmla="*/ 754743 h 1770743"/>
                      <a:gd name="connsiteX2" fmla="*/ 0 w 2002971"/>
                      <a:gd name="connsiteY2" fmla="*/ 1770743 h 1770743"/>
                      <a:gd name="connsiteX3" fmla="*/ 914400 w 2002971"/>
                      <a:gd name="connsiteY3" fmla="*/ 1524000 h 1770743"/>
                      <a:gd name="connsiteX4" fmla="*/ 2002971 w 2002971"/>
                      <a:gd name="connsiteY4" fmla="*/ 522514 h 1770743"/>
                      <a:gd name="connsiteX5" fmla="*/ 1553028 w 2002971"/>
                      <a:gd name="connsiteY5" fmla="*/ 0 h 1770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02971" h="1770743">
                        <a:moveTo>
                          <a:pt x="1553028" y="0"/>
                        </a:moveTo>
                        <a:lnTo>
                          <a:pt x="362857" y="754743"/>
                        </a:lnTo>
                        <a:lnTo>
                          <a:pt x="0" y="1770743"/>
                        </a:lnTo>
                        <a:lnTo>
                          <a:pt x="914400" y="1524000"/>
                        </a:lnTo>
                        <a:lnTo>
                          <a:pt x="2002971" y="522514"/>
                        </a:lnTo>
                        <a:lnTo>
                          <a:pt x="1553028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10000"/>
                    </a:schemeClr>
                  </a:solidFill>
                  <a:ln w="349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</p:grpSp>
        </p:grpSp>
        <p:sp>
          <p:nvSpPr>
            <p:cNvPr id="21" name="TextBox 65">
              <a:extLst>
                <a:ext uri="{FF2B5EF4-FFF2-40B4-BE49-F238E27FC236}">
                  <a16:creationId xmlns:a16="http://schemas.microsoft.com/office/drawing/2014/main" id="{86FC718F-2BCE-4B73-8E90-259927206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0113" y="5786600"/>
              <a:ext cx="1113419" cy="46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latin typeface="+mn-ea"/>
                  <a:ea typeface="+mn-ea"/>
                </a:rPr>
                <a:t>视图格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EF84D9CE-E166-48F4-9D25-1F55A94EC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975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格的性质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——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对偶原理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115A47F5-C69A-4D85-8BCA-7CE57B92C4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229600" cy="14684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对偶命题：设 </a:t>
            </a:r>
            <a:r>
              <a:rPr lang="en-US" altLang="zh-CN" sz="2800" b="1" i="1">
                <a:latin typeface="Times New Roman" panose="02020603050405020304" pitchFamily="18" charset="0"/>
              </a:rPr>
              <a:t>P </a:t>
            </a:r>
            <a:r>
              <a:rPr lang="zh-CN" altLang="en-US" sz="2800" b="1">
                <a:latin typeface="Times New Roman" panose="02020603050405020304" pitchFamily="18" charset="0"/>
              </a:rPr>
              <a:t>是由格中元素</a:t>
            </a:r>
            <a:r>
              <a:rPr lang="en-US" altLang="zh-CN" sz="2800" b="1">
                <a:latin typeface="Times New Roman" panose="02020603050405020304" pitchFamily="18" charset="0"/>
              </a:rPr>
              <a:t>,≼, ≽, =,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zh-CN" altLang="en-US" sz="2800" b="1">
                <a:latin typeface="Times New Roman" panose="02020603050405020304" pitchFamily="18" charset="0"/>
              </a:rPr>
              <a:t>等表示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的命题，若将 </a:t>
            </a:r>
            <a:r>
              <a:rPr lang="en-US" altLang="zh-CN" sz="2800" b="1" i="1">
                <a:latin typeface="Times New Roman" panose="02020603050405020304" pitchFamily="18" charset="0"/>
              </a:rPr>
              <a:t>P </a:t>
            </a:r>
            <a:r>
              <a:rPr lang="zh-CN" altLang="en-US" sz="2800" b="1">
                <a:latin typeface="Times New Roman" panose="02020603050405020304" pitchFamily="18" charset="0"/>
              </a:rPr>
              <a:t>中的 ≼</a:t>
            </a:r>
            <a:r>
              <a:rPr lang="en-US" altLang="zh-CN" sz="2800" b="1">
                <a:latin typeface="Times New Roman" panose="02020603050405020304" pitchFamily="18" charset="0"/>
              </a:rPr>
              <a:t>, ≽,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zh-CN" altLang="en-US" sz="2800" b="1">
                <a:latin typeface="Times New Roman" panose="02020603050405020304" pitchFamily="18" charset="0"/>
              </a:rPr>
              <a:t>分别替换成 ≽</a:t>
            </a:r>
            <a:r>
              <a:rPr lang="en-US" altLang="zh-CN" sz="2800" b="1">
                <a:latin typeface="Times New Roman" panose="02020603050405020304" pitchFamily="18" charset="0"/>
              </a:rPr>
              <a:t>, ≼,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zh-CN" altLang="en-US" sz="2800" b="1">
                <a:latin typeface="Times New Roman" panose="02020603050405020304" pitchFamily="18" charset="0"/>
              </a:rPr>
              <a:t>得到的命题称为 </a:t>
            </a:r>
            <a:r>
              <a:rPr lang="en-US" altLang="zh-CN" sz="2800" b="1" i="1">
                <a:latin typeface="Times New Roman" panose="02020603050405020304" pitchFamily="18" charset="0"/>
              </a:rPr>
              <a:t>P 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对偶命题</a:t>
            </a:r>
            <a:r>
              <a:rPr lang="zh-CN" altLang="en-US" sz="2800" b="1">
                <a:latin typeface="Times New Roman" panose="02020603050405020304" pitchFamily="18" charset="0"/>
              </a:rPr>
              <a:t>，记作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*. </a:t>
            </a:r>
          </a:p>
        </p:txBody>
      </p:sp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25AFD3F6-B340-4706-A0FD-43C3CF76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6687F3-6682-4DEB-A306-44BA0F9993DF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1A9C2389-5D89-4678-B119-4D1E6FAC9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92600"/>
            <a:ext cx="8208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实例     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:    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           P</a:t>
            </a:r>
            <a:r>
              <a:rPr lang="en-US" altLang="zh-CN" sz="2800" b="1">
                <a:latin typeface="Times New Roman" panose="02020603050405020304" pitchFamily="18" charset="0"/>
              </a:rPr>
              <a:t>*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</a:rPr>
              <a:t> b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性质：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*)*=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F3ACB75E-C181-4106-9389-37F94D46D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41663"/>
            <a:ext cx="828198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对偶原理</a:t>
            </a:r>
            <a:r>
              <a:rPr lang="zh-CN" altLang="en-US" sz="2800" b="1">
                <a:latin typeface="Times New Roman" panose="02020603050405020304" pitchFamily="18" charset="0"/>
              </a:rPr>
              <a:t>：如果 </a:t>
            </a:r>
            <a:r>
              <a:rPr lang="en-US" altLang="zh-CN" sz="2800" b="1" i="1">
                <a:latin typeface="Times New Roman" panose="02020603050405020304" pitchFamily="18" charset="0"/>
              </a:rPr>
              <a:t>P </a:t>
            </a:r>
            <a:r>
              <a:rPr lang="zh-CN" altLang="en-US" sz="2800" b="1">
                <a:latin typeface="Times New Roman" panose="02020603050405020304" pitchFamily="18" charset="0"/>
              </a:rPr>
              <a:t>对于一切格为真，则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*</a:t>
            </a:r>
            <a:r>
              <a:rPr lang="zh-CN" altLang="en-US" sz="2800" b="1">
                <a:latin typeface="Times New Roman" panose="02020603050405020304" pitchFamily="18" charset="0"/>
              </a:rPr>
              <a:t>也对一切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格为真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4B3328BA-AE9A-4CF9-B9D3-35724C86D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格的性质（续）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7833C49-DE21-462B-9DF0-E330A34CA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66813"/>
            <a:ext cx="8229600" cy="53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</a:rPr>
              <a:t>格中的基本不等式和等式</a:t>
            </a:r>
          </a:p>
        </p:txBody>
      </p:sp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ED9AA4B7-5896-4F50-80E0-7F3F85E3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98170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061A174-C8F5-454A-8FAC-D21B7E17049D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59428" name="Text Box 4">
            <a:extLst>
              <a:ext uri="{FF2B5EF4-FFF2-40B4-BE49-F238E27FC236}">
                <a16:creationId xmlns:a16="http://schemas.microsoft.com/office/drawing/2014/main" id="{F47C4397-FB6C-42C9-82E5-1E53E6C6B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830388"/>
            <a:ext cx="151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59429" name="Text Box 5">
            <a:extLst>
              <a:ext uri="{FF2B5EF4-FFF2-40B4-BE49-F238E27FC236}">
                <a16:creationId xmlns:a16="http://schemas.microsoft.com/office/drawing/2014/main" id="{6E0F2587-2877-4352-A008-CE01045FB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333625"/>
            <a:ext cx="3602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b, b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9430" name="Text Box 6">
            <a:extLst>
              <a:ext uri="{FF2B5EF4-FFF2-40B4-BE49-F238E27FC236}">
                <a16:creationId xmlns:a16="http://schemas.microsoft.com/office/drawing/2014/main" id="{8EA73D40-2511-427A-A171-68F9D8328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968625"/>
            <a:ext cx="684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a,  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b  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9431" name="Text Box 7">
            <a:extLst>
              <a:ext uri="{FF2B5EF4-FFF2-40B4-BE49-F238E27FC236}">
                <a16:creationId xmlns:a16="http://schemas.microsoft.com/office/drawing/2014/main" id="{A11F49B9-D064-47BC-81B5-88F90CE16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471863"/>
            <a:ext cx="6840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>
                <a:latin typeface="Times New Roman" panose="02020603050405020304" pitchFamily="18" charset="0"/>
              </a:rPr>
              <a:t>,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9433" name="Text Box 9">
            <a:extLst>
              <a:ext uri="{FF2B5EF4-FFF2-40B4-BE49-F238E27FC236}">
                <a16:creationId xmlns:a16="http://schemas.microsoft.com/office/drawing/2014/main" id="{CF0EF446-0C9F-4598-8F1C-35668DADA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046538"/>
            <a:ext cx="6840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9434" name="Text Box 10">
            <a:extLst>
              <a:ext uri="{FF2B5EF4-FFF2-40B4-BE49-F238E27FC236}">
                <a16:creationId xmlns:a16="http://schemas.microsoft.com/office/drawing/2014/main" id="{E72343C7-E2B7-4E91-99DA-C9B30E588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622800"/>
            <a:ext cx="684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≽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≽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≽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9435" name="Text Box 11">
            <a:extLst>
              <a:ext uri="{FF2B5EF4-FFF2-40B4-BE49-F238E27FC236}">
                <a16:creationId xmlns:a16="http://schemas.microsoft.com/office/drawing/2014/main" id="{A8592EFE-4D00-4346-8A56-C005A81E0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5202238"/>
            <a:ext cx="684053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≼</a:t>
            </a:r>
            <a:r>
              <a:rPr lang="en-US" altLang="zh-CN" sz="42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≼</a:t>
            </a:r>
            <a:r>
              <a:rPr lang="en-US" altLang="zh-CN" sz="42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=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BCE2B98F-D5FA-4FA2-8304-4699EB2B7E8F}"/>
              </a:ext>
            </a:extLst>
          </p:cNvPr>
          <p:cNvGrpSpPr>
            <a:grpSpLocks/>
          </p:cNvGrpSpPr>
          <p:nvPr/>
        </p:nvGrpSpPr>
        <p:grpSpPr bwMode="auto">
          <a:xfrm>
            <a:off x="4425950" y="1830388"/>
            <a:ext cx="2003425" cy="863600"/>
            <a:chOff x="3107" y="1344"/>
            <a:chExt cx="1262" cy="544"/>
          </a:xfrm>
        </p:grpSpPr>
        <p:sp>
          <p:nvSpPr>
            <p:cNvPr id="16404" name="Text Box 13">
              <a:extLst>
                <a:ext uri="{FF2B5EF4-FFF2-40B4-BE49-F238E27FC236}">
                  <a16:creationId xmlns:a16="http://schemas.microsoft.com/office/drawing/2014/main" id="{B96826DC-8219-4FE2-AFE0-E84C6580D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464"/>
              <a:ext cx="1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自反，传递</a:t>
              </a:r>
            </a:p>
          </p:txBody>
        </p:sp>
        <p:sp>
          <p:nvSpPr>
            <p:cNvPr id="16405" name="AutoShape 14">
              <a:extLst>
                <a:ext uri="{FF2B5EF4-FFF2-40B4-BE49-F238E27FC236}">
                  <a16:creationId xmlns:a16="http://schemas.microsoft.com/office/drawing/2014/main" id="{06CAA69D-75FF-47D3-AFF9-C044CF374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1344"/>
              <a:ext cx="136" cy="54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4D5F6D20-980C-436E-8ECC-9D692E6D0DD0}"/>
              </a:ext>
            </a:extLst>
          </p:cNvPr>
          <p:cNvGrpSpPr>
            <a:grpSpLocks/>
          </p:cNvGrpSpPr>
          <p:nvPr/>
        </p:nvGrpSpPr>
        <p:grpSpPr bwMode="auto">
          <a:xfrm>
            <a:off x="4425950" y="3054350"/>
            <a:ext cx="2003425" cy="863600"/>
            <a:chOff x="3107" y="1344"/>
            <a:chExt cx="1262" cy="544"/>
          </a:xfrm>
        </p:grpSpPr>
        <p:sp>
          <p:nvSpPr>
            <p:cNvPr id="16402" name="Text Box 18">
              <a:extLst>
                <a:ext uri="{FF2B5EF4-FFF2-40B4-BE49-F238E27FC236}">
                  <a16:creationId xmlns:a16="http://schemas.microsoft.com/office/drawing/2014/main" id="{41B8E0E6-BA2A-41AF-B731-5710B8103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464"/>
              <a:ext cx="1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下界，上界</a:t>
              </a:r>
            </a:p>
          </p:txBody>
        </p:sp>
        <p:sp>
          <p:nvSpPr>
            <p:cNvPr id="16403" name="AutoShape 19">
              <a:extLst>
                <a:ext uri="{FF2B5EF4-FFF2-40B4-BE49-F238E27FC236}">
                  <a16:creationId xmlns:a16="http://schemas.microsoft.com/office/drawing/2014/main" id="{EE81FA12-86F0-4DFE-8236-DB7FDA2F2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1344"/>
              <a:ext cx="136" cy="54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8CDB83E7-55D4-479D-B8FF-DE62F595AA8B}"/>
              </a:ext>
            </a:extLst>
          </p:cNvPr>
          <p:cNvGrpSpPr>
            <a:grpSpLocks/>
          </p:cNvGrpSpPr>
          <p:nvPr/>
        </p:nvGrpSpPr>
        <p:grpSpPr bwMode="auto">
          <a:xfrm>
            <a:off x="4570413" y="4206875"/>
            <a:ext cx="3673475" cy="863600"/>
            <a:chOff x="3107" y="1344"/>
            <a:chExt cx="2034" cy="544"/>
          </a:xfrm>
        </p:grpSpPr>
        <p:sp>
          <p:nvSpPr>
            <p:cNvPr id="16400" name="Text Box 21">
              <a:extLst>
                <a:ext uri="{FF2B5EF4-FFF2-40B4-BE49-F238E27FC236}">
                  <a16:creationId xmlns:a16="http://schemas.microsoft.com/office/drawing/2014/main" id="{CC6C0A0F-85E4-4497-9686-D6AFBB599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464"/>
              <a:ext cx="18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最大下界，最小上界</a:t>
              </a:r>
            </a:p>
          </p:txBody>
        </p:sp>
        <p:sp>
          <p:nvSpPr>
            <p:cNvPr id="16401" name="AutoShape 22">
              <a:extLst>
                <a:ext uri="{FF2B5EF4-FFF2-40B4-BE49-F238E27FC236}">
                  <a16:creationId xmlns:a16="http://schemas.microsoft.com/office/drawing/2014/main" id="{587D1B1A-81C6-47E7-9689-7A21BDF88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1344"/>
              <a:ext cx="136" cy="54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59447" name="Text Box 23">
            <a:extLst>
              <a:ext uri="{FF2B5EF4-FFF2-40B4-BE49-F238E27FC236}">
                <a16:creationId xmlns:a16="http://schemas.microsoft.com/office/drawing/2014/main" id="{A5558BF7-B676-4296-A197-6D3696EB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5" y="533400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反对称性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9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9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9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9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8" grpId="0"/>
      <p:bldP spid="359429" grpId="0"/>
      <p:bldP spid="359430" grpId="0"/>
      <p:bldP spid="359431" grpId="0"/>
      <p:bldP spid="359433" grpId="0"/>
      <p:bldP spid="359434" grpId="0"/>
      <p:bldP spid="359435" grpId="0"/>
      <p:bldP spid="3594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D65A6498-688A-447A-A187-3058168AA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113" y="128588"/>
            <a:ext cx="8229600" cy="8524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格的性质（续）</a:t>
            </a:r>
          </a:p>
        </p:txBody>
      </p:sp>
      <p:sp>
        <p:nvSpPr>
          <p:cNvPr id="27650" name="灯片编号占位符 4">
            <a:extLst>
              <a:ext uri="{FF2B5EF4-FFF2-40B4-BE49-F238E27FC236}">
                <a16:creationId xmlns:a16="http://schemas.microsoft.com/office/drawing/2014/main" id="{82CE3A5A-EC2E-470A-842A-2039298E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056313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554443-B1F5-45CA-9767-AF74E3C5E3FD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833F6F0A-1C10-4707-83CB-2FB388BCE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600200"/>
            <a:ext cx="59039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85738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 i="1">
                <a:latin typeface="Times New Roman" panose="02020603050405020304" pitchFamily="18" charset="0"/>
              </a:rPr>
              <a:t> 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①             ②                  ③ 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4938E2EA-84EF-49C8-8247-71477BF12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096963"/>
            <a:ext cx="7559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格中的基本等价条件</a:t>
            </a: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F0957614-C564-4909-9220-2D0514687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549525"/>
            <a:ext cx="792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证：</a:t>
            </a:r>
            <a:endParaRPr lang="zh-CN" altLang="en-US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1478" name="Rectangle 6">
            <a:extLst>
              <a:ext uri="{FF2B5EF4-FFF2-40B4-BE49-F238E27FC236}">
                <a16:creationId xmlns:a16="http://schemas.microsoft.com/office/drawing/2014/main" id="{816C3F77-3B3B-4DFF-BF96-355DDD2B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975100"/>
            <a:ext cx="23764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②  </a:t>
            </a:r>
            <a:r>
              <a:rPr lang="en-US" altLang="zh-CN" sz="2800" b="1">
                <a:latin typeface="Times New Roman" panose="02020603050405020304" pitchFamily="18" charset="0"/>
              </a:rPr>
              <a:t>③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endParaRPr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1479" name="Rectangle 7">
            <a:extLst>
              <a:ext uri="{FF2B5EF4-FFF2-40B4-BE49-F238E27FC236}">
                <a16:creationId xmlns:a16="http://schemas.microsoft.com/office/drawing/2014/main" id="{1052F86C-25E7-48AE-8B65-EA6234FFC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5272088"/>
            <a:ext cx="26654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5725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③  </a:t>
            </a:r>
            <a:r>
              <a:rPr lang="en-US" altLang="zh-CN" sz="2800" b="1">
                <a:latin typeface="Times New Roman" panose="02020603050405020304" pitchFamily="18" charset="0"/>
              </a:rPr>
              <a:t>①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61480" name="Rectangle 8">
            <a:extLst>
              <a:ext uri="{FF2B5EF4-FFF2-40B4-BE49-F238E27FC236}">
                <a16:creationId xmlns:a16="http://schemas.microsoft.com/office/drawing/2014/main" id="{7D16DCE4-18E1-47B1-A914-7EC9B268B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471863"/>
            <a:ext cx="146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361482" name="Rectangle 10">
            <a:extLst>
              <a:ext uri="{FF2B5EF4-FFF2-40B4-BE49-F238E27FC236}">
                <a16:creationId xmlns:a16="http://schemas.microsoft.com/office/drawing/2014/main" id="{6FE3AB30-D4A7-4D99-A2F1-380221FCE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4624388"/>
            <a:ext cx="61214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42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61484" name="Rectangle 12">
            <a:extLst>
              <a:ext uri="{FF2B5EF4-FFF2-40B4-BE49-F238E27FC236}">
                <a16:creationId xmlns:a16="http://schemas.microsoft.com/office/drawing/2014/main" id="{C9CDC227-A5E0-4F56-94F8-018EC61E4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535238"/>
            <a:ext cx="4464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5725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①  </a:t>
            </a:r>
            <a:r>
              <a:rPr lang="en-US" altLang="zh-CN" sz="2800" b="1">
                <a:latin typeface="Times New Roman" panose="02020603050405020304" pitchFamily="18" charset="0"/>
              </a:rPr>
              <a:t>②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BCE7FDA7-E81F-43EB-B65C-1F4C7C70865F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3182938"/>
            <a:ext cx="2447925" cy="720725"/>
            <a:chOff x="3288" y="2341"/>
            <a:chExt cx="1542" cy="454"/>
          </a:xfrm>
        </p:grpSpPr>
        <p:sp>
          <p:nvSpPr>
            <p:cNvPr id="17424" name="Rectangle 9">
              <a:extLst>
                <a:ext uri="{FF2B5EF4-FFF2-40B4-BE49-F238E27FC236}">
                  <a16:creationId xmlns:a16="http://schemas.microsoft.com/office/drawing/2014/main" id="{7FB03D26-00DD-41CC-B0D4-6D83609FB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387"/>
              <a:ext cx="13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 a 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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 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425" name="AutoShape 13">
              <a:extLst>
                <a:ext uri="{FF2B5EF4-FFF2-40B4-BE49-F238E27FC236}">
                  <a16:creationId xmlns:a16="http://schemas.microsoft.com/office/drawing/2014/main" id="{761CD519-C708-43E2-B3F1-D11C13F25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2341"/>
              <a:ext cx="182" cy="454"/>
            </a:xfrm>
            <a:prstGeom prst="rightBrace">
              <a:avLst>
                <a:gd name="adj1" fmla="val 2078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086FECFF-C232-4268-BF09-761838A95FED}"/>
              </a:ext>
            </a:extLst>
          </p:cNvPr>
          <p:cNvGrpSpPr>
            <a:grpSpLocks/>
          </p:cNvGrpSpPr>
          <p:nvPr/>
        </p:nvGrpSpPr>
        <p:grpSpPr bwMode="auto">
          <a:xfrm>
            <a:off x="6264275" y="4551363"/>
            <a:ext cx="2665413" cy="649287"/>
            <a:chOff x="3923" y="3203"/>
            <a:chExt cx="1679" cy="409"/>
          </a:xfrm>
        </p:grpSpPr>
        <p:sp>
          <p:nvSpPr>
            <p:cNvPr id="17422" name="Rectangle 11">
              <a:extLst>
                <a:ext uri="{FF2B5EF4-FFF2-40B4-BE49-F238E27FC236}">
                  <a16:creationId xmlns:a16="http://schemas.microsoft.com/office/drawing/2014/main" id="{42EE5035-F41A-4E00-AD85-7FC0347DD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239"/>
              <a:ext cx="15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 a 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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 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7423" name="AutoShape 15">
              <a:extLst>
                <a:ext uri="{FF2B5EF4-FFF2-40B4-BE49-F238E27FC236}">
                  <a16:creationId xmlns:a16="http://schemas.microsoft.com/office/drawing/2014/main" id="{4E9F908D-D03C-4A8A-813A-8FF96BD17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3203"/>
              <a:ext cx="136" cy="409"/>
            </a:xfrm>
            <a:prstGeom prst="rightBrace">
              <a:avLst>
                <a:gd name="adj1" fmla="val 25061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8" grpId="0"/>
      <p:bldP spid="361479" grpId="0"/>
      <p:bldP spid="361480" grpId="0"/>
      <p:bldP spid="361482" grpId="0"/>
      <p:bldP spid="36148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C4F81C02-A734-45A4-B44F-DA1D1CDEC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5048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格的性质（续）</a:t>
            </a:r>
          </a:p>
        </p:txBody>
      </p:sp>
      <p:sp>
        <p:nvSpPr>
          <p:cNvPr id="28674" name="灯片编号占位符 4">
            <a:extLst>
              <a:ext uri="{FF2B5EF4-FFF2-40B4-BE49-F238E27FC236}">
                <a16:creationId xmlns:a16="http://schemas.microsoft.com/office/drawing/2014/main" id="{A3341284-E225-4C03-A679-7C69368F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9245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1C8BE9-F23D-45AD-BCF6-724B821F0F4A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5B5F857A-0296-4AED-B8EF-4143EA047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438" y="1917700"/>
            <a:ext cx="867886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56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证 </a:t>
            </a:r>
            <a:r>
              <a:rPr lang="en-US" altLang="zh-CN" sz="2800" b="1">
                <a:latin typeface="Times New Roman" panose="02020603050405020304" pitchFamily="18" charset="0"/>
              </a:rPr>
              <a:t>(1)</a:t>
            </a:r>
            <a:r>
              <a:rPr lang="en-US" altLang="zh-CN" sz="2800" b="1" i="1">
                <a:latin typeface="Times New Roman" panose="02020603050405020304" pitchFamily="18" charset="0"/>
              </a:rPr>
              <a:t>  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的最大下界，  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的最大下界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}={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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68D9B85B-2CB0-41CF-B218-C454984B1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227138"/>
            <a:ext cx="6256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格中交换律、结合律、幂等律、吸收律</a:t>
            </a:r>
          </a:p>
        </p:txBody>
      </p:sp>
      <p:sp>
        <p:nvSpPr>
          <p:cNvPr id="363525" name="Rectangle 5">
            <a:extLst>
              <a:ext uri="{FF2B5EF4-FFF2-40B4-BE49-F238E27FC236}">
                <a16:creationId xmlns:a16="http://schemas.microsoft.com/office/drawing/2014/main" id="{357EA546-2554-46C4-BE68-0A2CEB460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02025"/>
            <a:ext cx="85693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56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(2)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363526" name="Rectangle 6">
            <a:extLst>
              <a:ext uri="{FF2B5EF4-FFF2-40B4-BE49-F238E27FC236}">
                <a16:creationId xmlns:a16="http://schemas.microsoft.com/office/drawing/2014/main" id="{A3272AB2-1C55-4526-AE8C-15DE9B12B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4941888"/>
            <a:ext cx="7929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同理，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≼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440" name="Line 7">
            <a:extLst>
              <a:ext uri="{FF2B5EF4-FFF2-40B4-BE49-F238E27FC236}">
                <a16:creationId xmlns:a16="http://schemas.microsoft.com/office/drawing/2014/main" id="{0F835FFC-09CA-4343-8DFA-CA7ECC7E4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4005263"/>
            <a:ext cx="0" cy="5762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8441" name="Text Box 8">
            <a:extLst>
              <a:ext uri="{FF2B5EF4-FFF2-40B4-BE49-F238E27FC236}">
                <a16:creationId xmlns:a16="http://schemas.microsoft.com/office/drawing/2014/main" id="{1E3D8C37-1819-450A-9074-3462ECFA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5229225"/>
            <a:ext cx="360362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42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388CD7A0-F6DD-4B25-9FB4-E9F568D36F08}"/>
              </a:ext>
            </a:extLst>
          </p:cNvPr>
          <p:cNvGrpSpPr>
            <a:grpSpLocks/>
          </p:cNvGrpSpPr>
          <p:nvPr/>
        </p:nvGrpSpPr>
        <p:grpSpPr bwMode="auto">
          <a:xfrm>
            <a:off x="3767138" y="3933825"/>
            <a:ext cx="2376487" cy="731838"/>
            <a:chOff x="2381" y="2614"/>
            <a:chExt cx="1497" cy="461"/>
          </a:xfrm>
        </p:grpSpPr>
        <p:sp>
          <p:nvSpPr>
            <p:cNvPr id="18449" name="Rectangle 10">
              <a:extLst>
                <a:ext uri="{FF2B5EF4-FFF2-40B4-BE49-F238E27FC236}">
                  <a16:creationId xmlns:a16="http://schemas.microsoft.com/office/drawing/2014/main" id="{93A5D762-A18C-45FB-B957-48B879B5B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614"/>
              <a:ext cx="145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)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≼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420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pSp>
          <p:nvGrpSpPr>
            <p:cNvPr id="18450" name="Group 11">
              <a:extLst>
                <a:ext uri="{FF2B5EF4-FFF2-40B4-BE49-F238E27FC236}">
                  <a16:creationId xmlns:a16="http://schemas.microsoft.com/office/drawing/2014/main" id="{9210FCF4-4204-45B1-8F7B-E1FF571E6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1" y="2795"/>
              <a:ext cx="136" cy="279"/>
              <a:chOff x="2381" y="2795"/>
              <a:chExt cx="136" cy="279"/>
            </a:xfrm>
          </p:grpSpPr>
          <p:sp>
            <p:nvSpPr>
              <p:cNvPr id="18451" name="Line 12">
                <a:extLst>
                  <a:ext uri="{FF2B5EF4-FFF2-40B4-BE49-F238E27FC236}">
                    <a16:creationId xmlns:a16="http://schemas.microsoft.com/office/drawing/2014/main" id="{AC8B11F1-7941-4D57-B6EC-ECE4DEF91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1" y="2795"/>
                <a:ext cx="1" cy="27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8452" name="Line 13">
                <a:extLst>
                  <a:ext uri="{FF2B5EF4-FFF2-40B4-BE49-F238E27FC236}">
                    <a16:creationId xmlns:a16="http://schemas.microsoft.com/office/drawing/2014/main" id="{55BF7B9D-1EA8-4655-B9A8-E4EA48DF9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1" y="2938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63534" name="Rectangle 14">
            <a:extLst>
              <a:ext uri="{FF2B5EF4-FFF2-40B4-BE49-F238E27FC236}">
                <a16:creationId xmlns:a16="http://schemas.microsoft.com/office/drawing/2014/main" id="{9BA46DB2-37A2-4BB5-9253-5DA85DDBC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5302250"/>
            <a:ext cx="4129087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所以，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42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AA04D78A-749C-48C2-84CE-B665B59CBC83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3573463"/>
            <a:ext cx="4211637" cy="792162"/>
            <a:chOff x="3107" y="2523"/>
            <a:chExt cx="2653" cy="499"/>
          </a:xfrm>
        </p:grpSpPr>
        <p:sp>
          <p:nvSpPr>
            <p:cNvPr id="18445" name="Rectangle 16">
              <a:extLst>
                <a:ext uri="{FF2B5EF4-FFF2-40B4-BE49-F238E27FC236}">
                  <a16:creationId xmlns:a16="http://schemas.microsoft.com/office/drawing/2014/main" id="{80CDB235-4787-42FD-B73D-6FCBA0B45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" y="2523"/>
              <a:ext cx="1799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)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≼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42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18446" name="Line 17">
              <a:extLst>
                <a:ext uri="{FF2B5EF4-FFF2-40B4-BE49-F238E27FC236}">
                  <a16:creationId xmlns:a16="http://schemas.microsoft.com/office/drawing/2014/main" id="{A7D9E0AA-7F59-4728-ACDF-4FCC5267E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8" y="2614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47" name="Line 18">
              <a:extLst>
                <a:ext uri="{FF2B5EF4-FFF2-40B4-BE49-F238E27FC236}">
                  <a16:creationId xmlns:a16="http://schemas.microsoft.com/office/drawing/2014/main" id="{6FDEA81A-486A-4F33-9F0B-D731211BA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284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48" name="Line 19">
              <a:extLst>
                <a:ext uri="{FF2B5EF4-FFF2-40B4-BE49-F238E27FC236}">
                  <a16:creationId xmlns:a16="http://schemas.microsoft.com/office/drawing/2014/main" id="{126B00D6-1848-47D9-98AE-647E7890E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614"/>
              <a:ext cx="7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/>
      <p:bldP spid="363525" grpId="0"/>
      <p:bldP spid="363526" grpId="0"/>
      <p:bldP spid="3635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E2547A46-A4AC-4D81-97CC-6FA3981AA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格的代数定义</a:t>
            </a:r>
          </a:p>
        </p:txBody>
      </p:sp>
      <p:sp>
        <p:nvSpPr>
          <p:cNvPr id="29698" name="灯片编号占位符 4">
            <a:extLst>
              <a:ext uri="{FF2B5EF4-FFF2-40B4-BE49-F238E27FC236}">
                <a16:creationId xmlns:a16="http://schemas.microsoft.com/office/drawing/2014/main" id="{1DA7DE3F-25FC-4245-9D73-E2696518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F9F6BA-E742-45B0-9336-52A526C00BF4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0B2CC71-0A2E-40D6-A326-03C9C9D26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7993062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引理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&lt;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, *, ∘ &gt;</a:t>
            </a:r>
            <a:r>
              <a:rPr lang="zh-CN" altLang="en-US" sz="2800" b="1">
                <a:latin typeface="Times New Roman" panose="02020603050405020304" pitchFamily="18" charset="0"/>
              </a:rPr>
              <a:t>是具有两个二元运算的代数系统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如果 *</a:t>
            </a:r>
            <a:r>
              <a:rPr lang="en-US" altLang="zh-CN" sz="2800" b="1">
                <a:latin typeface="Times New Roman" panose="02020603050405020304" pitchFamily="18" charset="0"/>
              </a:rPr>
              <a:t>, ∘ </a:t>
            </a:r>
            <a:r>
              <a:rPr lang="zh-CN" altLang="en-US" sz="2800" b="1">
                <a:latin typeface="Times New Roman" panose="02020603050405020304" pitchFamily="18" charset="0"/>
              </a:rPr>
              <a:t>运算满足交换、结合、吸收律，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则  </a:t>
            </a:r>
            <a:r>
              <a:rPr lang="en-US" altLang="zh-CN" sz="2800" b="1">
                <a:latin typeface="Times New Roman" panose="02020603050405020304" pitchFamily="18" charset="0"/>
              </a:rPr>
              <a:t>(1)  *, ∘ </a:t>
            </a:r>
            <a:r>
              <a:rPr lang="zh-CN" altLang="en-US" sz="2800" b="1">
                <a:latin typeface="Times New Roman" panose="02020603050405020304" pitchFamily="18" charset="0"/>
              </a:rPr>
              <a:t>满足幂等律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>
                <a:latin typeface="Times New Roman" panose="02020603050405020304" pitchFamily="18" charset="0"/>
              </a:rPr>
              <a:t>(2)</a:t>
            </a:r>
            <a:r>
              <a:rPr lang="en-US" altLang="zh-CN" sz="2800" b="1" i="1">
                <a:latin typeface="Times New Roman" panose="02020603050405020304" pitchFamily="18" charset="0"/>
              </a:rPr>
              <a:t>  a </a:t>
            </a:r>
            <a:r>
              <a:rPr lang="en-US" altLang="zh-CN" sz="2800" b="1">
                <a:latin typeface="Times New Roman" panose="02020603050405020304" pitchFamily="18" charset="0"/>
              </a:rPr>
              <a:t>*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b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5572" name="Rectangle 4">
            <a:extLst>
              <a:ext uri="{FF2B5EF4-FFF2-40B4-BE49-F238E27FC236}">
                <a16:creationId xmlns:a16="http://schemas.microsoft.com/office/drawing/2014/main" id="{98869D53-0E57-457B-91DC-857C2FA9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479800"/>
            <a:ext cx="7561263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(1)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*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∘(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同理，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14EDE44-BBBF-46A7-949F-FCDADBC9C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4724400"/>
            <a:ext cx="7561263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(2) </a:t>
            </a:r>
            <a:r>
              <a:rPr lang="en-US" altLang="zh-CN" sz="2800" b="1">
                <a:sym typeface="Symbol" panose="05050102010706020507" pitchFamily="18" charset="2"/>
              </a:rPr>
              <a:t>“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*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ym typeface="Symbol" panose="05050102010706020507" pitchFamily="18" charset="2"/>
              </a:rPr>
              <a:t>“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∘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b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589A3798-AEC4-4954-930C-1FA420DF1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格的代数定义（续）</a:t>
            </a:r>
          </a:p>
        </p:txBody>
      </p:sp>
      <p:sp>
        <p:nvSpPr>
          <p:cNvPr id="30722" name="灯片编号占位符 4">
            <a:extLst>
              <a:ext uri="{FF2B5EF4-FFF2-40B4-BE49-F238E27FC236}">
                <a16:creationId xmlns:a16="http://schemas.microsoft.com/office/drawing/2014/main" id="{6548E873-72E9-4F4A-B54A-642F564D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3789EB-9DED-4F97-93C4-EA7C69C54659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CB73D84-485F-4FDC-9887-79C46B42A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5538"/>
            <a:ext cx="8353425" cy="196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7013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solidFill>
                  <a:srgbClr val="A50021"/>
                </a:solidFill>
                <a:latin typeface="Times New Roman" panose="02020603050405020304" pitchFamily="18" charset="0"/>
              </a:rPr>
              <a:t>定理 </a:t>
            </a:r>
            <a:r>
              <a:rPr lang="zh-CN" altLang="en-US" sz="2600" b="1">
                <a:latin typeface="Times New Roman" panose="02020603050405020304" pitchFamily="18" charset="0"/>
              </a:rPr>
              <a:t>设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>
                <a:latin typeface="Times New Roman" panose="02020603050405020304" pitchFamily="18" charset="0"/>
              </a:rPr>
              <a:t>,*,</a:t>
            </a:r>
            <a:r>
              <a:rPr lang="fr-FR" altLang="zh-CN" sz="2600" b="1">
                <a:latin typeface="Times New Roman" panose="02020603050405020304" pitchFamily="18" charset="0"/>
              </a:rPr>
              <a:t>∘</a:t>
            </a:r>
            <a:r>
              <a:rPr lang="en-US" altLang="zh-CN" sz="2600" b="1">
                <a:latin typeface="Times New Roman" panose="02020603050405020304" pitchFamily="18" charset="0"/>
              </a:rPr>
              <a:t>&gt; </a:t>
            </a:r>
            <a:r>
              <a:rPr lang="zh-CN" altLang="en-US" sz="2600" b="1">
                <a:latin typeface="Times New Roman" panose="02020603050405020304" pitchFamily="18" charset="0"/>
              </a:rPr>
              <a:t>是具有两个二元运算的代数系统，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     若 * 和 </a:t>
            </a:r>
            <a:r>
              <a:rPr lang="zh-CN" altLang="fr-FR" sz="2600" b="1">
                <a:latin typeface="Times New Roman" panose="02020603050405020304" pitchFamily="18" charset="0"/>
              </a:rPr>
              <a:t>∘ </a:t>
            </a:r>
            <a:r>
              <a:rPr lang="zh-CN" altLang="en-US" sz="2600" b="1">
                <a:latin typeface="Times New Roman" panose="02020603050405020304" pitchFamily="18" charset="0"/>
              </a:rPr>
              <a:t>运算满足交换、结合、吸收律，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     则可以适当定义 </a:t>
            </a:r>
            <a:r>
              <a:rPr lang="en-US" altLang="zh-CN" sz="2600" b="1" i="1">
                <a:latin typeface="Times New Roman" panose="02020603050405020304" pitchFamily="18" charset="0"/>
              </a:rPr>
              <a:t>S </a:t>
            </a:r>
            <a:r>
              <a:rPr lang="zh-CN" altLang="en-US" sz="2600" b="1">
                <a:latin typeface="Times New Roman" panose="02020603050405020304" pitchFamily="18" charset="0"/>
              </a:rPr>
              <a:t>上偏序 ≼，使得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>
                <a:latin typeface="Times New Roman" panose="02020603050405020304" pitchFamily="18" charset="0"/>
              </a:rPr>
              <a:t>, ≼&gt; </a:t>
            </a:r>
            <a:r>
              <a:rPr lang="zh-CN" altLang="en-US" sz="2600" b="1">
                <a:latin typeface="Times New Roman" panose="02020603050405020304" pitchFamily="18" charset="0"/>
              </a:rPr>
              <a:t>构成格，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     且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>
                <a:latin typeface="Times New Roman" panose="02020603050405020304" pitchFamily="18" charset="0"/>
              </a:rPr>
              <a:t>, ≼&gt; </a:t>
            </a:r>
            <a:r>
              <a:rPr lang="zh-CN" altLang="en-US" sz="2600" b="1">
                <a:latin typeface="Times New Roman" panose="02020603050405020304" pitchFamily="18" charset="0"/>
              </a:rPr>
              <a:t>导出的代数系统就是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>
                <a:latin typeface="Times New Roman" panose="02020603050405020304" pitchFamily="18" charset="0"/>
              </a:rPr>
              <a:t>,*,</a:t>
            </a:r>
            <a:r>
              <a:rPr lang="fr-FR" altLang="zh-CN" sz="2600" b="1">
                <a:latin typeface="Times New Roman" panose="02020603050405020304" pitchFamily="18" charset="0"/>
              </a:rPr>
              <a:t>∘</a:t>
            </a:r>
            <a:r>
              <a:rPr lang="en-US" altLang="zh-CN" sz="2600" b="1">
                <a:latin typeface="Times New Roman" panose="02020603050405020304" pitchFamily="18" charset="0"/>
              </a:rPr>
              <a:t>&gt;.</a:t>
            </a:r>
            <a:endParaRPr lang="en-US" altLang="zh-CN" sz="2600">
              <a:latin typeface="Times New Roman" panose="02020603050405020304" pitchFamily="18" charset="0"/>
            </a:endParaRP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99BD53D8-A124-4226-98B7-088B6BAF5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3381375"/>
            <a:ext cx="8135938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7013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证明思路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     利用运算 </a:t>
            </a:r>
            <a:r>
              <a:rPr lang="zh-CN" altLang="fr-FR" sz="2600" b="1">
                <a:latin typeface="Times New Roman" panose="02020603050405020304" pitchFamily="18" charset="0"/>
              </a:rPr>
              <a:t>∘ </a:t>
            </a:r>
            <a:r>
              <a:rPr lang="zh-CN" altLang="en-US" sz="2600" b="1">
                <a:latin typeface="Times New Roman" panose="02020603050405020304" pitchFamily="18" charset="0"/>
              </a:rPr>
              <a:t>或 * 定义 </a:t>
            </a:r>
            <a:r>
              <a:rPr lang="en-US" altLang="zh-CN" sz="2600" b="1" i="1">
                <a:latin typeface="Times New Roman" panose="02020603050405020304" pitchFamily="18" charset="0"/>
              </a:rPr>
              <a:t>S </a:t>
            </a:r>
            <a:r>
              <a:rPr lang="zh-CN" altLang="en-US" sz="2600" b="1">
                <a:latin typeface="Times New Roman" panose="02020603050405020304" pitchFamily="18" charset="0"/>
              </a:rPr>
              <a:t>上的二元关系 </a:t>
            </a:r>
            <a:r>
              <a:rPr lang="en-US" altLang="zh-CN" sz="2600" b="1" i="1">
                <a:latin typeface="Times New Roman" panose="02020603050405020304" pitchFamily="18" charset="0"/>
              </a:rPr>
              <a:t>R</a:t>
            </a:r>
            <a:endParaRPr lang="en-US" altLang="zh-CN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600" b="1">
                <a:latin typeface="Times New Roman" panose="02020603050405020304" pitchFamily="18" charset="0"/>
              </a:rPr>
              <a:t>     </a:t>
            </a:r>
            <a:r>
              <a:rPr lang="zh-CN" altLang="en-US" sz="2600" b="1">
                <a:latin typeface="Times New Roman" panose="02020603050405020304" pitchFamily="18" charset="0"/>
              </a:rPr>
              <a:t>证明 </a:t>
            </a:r>
            <a:r>
              <a:rPr lang="en-US" altLang="zh-CN" sz="2600" b="1" i="1">
                <a:latin typeface="Times New Roman" panose="02020603050405020304" pitchFamily="18" charset="0"/>
              </a:rPr>
              <a:t>R </a:t>
            </a:r>
            <a:r>
              <a:rPr lang="zh-CN" altLang="en-US" sz="2600" b="1">
                <a:latin typeface="Times New Roman" panose="02020603050405020304" pitchFamily="18" charset="0"/>
              </a:rPr>
              <a:t>为 </a:t>
            </a:r>
            <a:r>
              <a:rPr lang="en-US" altLang="zh-CN" sz="2600" b="1" i="1">
                <a:latin typeface="Times New Roman" panose="02020603050405020304" pitchFamily="18" charset="0"/>
              </a:rPr>
              <a:t>S </a:t>
            </a:r>
            <a:r>
              <a:rPr lang="zh-CN" altLang="en-US" sz="2600" b="1">
                <a:latin typeface="Times New Roman" panose="02020603050405020304" pitchFamily="18" charset="0"/>
              </a:rPr>
              <a:t>上的偏序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     证明对于 </a:t>
            </a:r>
            <a:r>
              <a:rPr lang="en-US" altLang="zh-CN" sz="2600" b="1" i="1">
                <a:latin typeface="Times New Roman" panose="02020603050405020304" pitchFamily="18" charset="0"/>
              </a:rPr>
              <a:t>S </a:t>
            </a:r>
            <a:r>
              <a:rPr lang="zh-CN" altLang="en-US" sz="2600" b="1">
                <a:latin typeface="Times New Roman" panose="02020603050405020304" pitchFamily="18" charset="0"/>
              </a:rPr>
              <a:t>中任意两个元素 </a:t>
            </a:r>
            <a:r>
              <a:rPr lang="en-US" altLang="zh-CN" sz="2600" b="1" i="1">
                <a:latin typeface="Times New Roman" panose="02020603050405020304" pitchFamily="18" charset="0"/>
              </a:rPr>
              <a:t>x, y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endParaRPr lang="en-US" altLang="zh-CN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CN" sz="2600" b="1" i="1">
                <a:latin typeface="Times New Roman" panose="02020603050405020304" pitchFamily="18" charset="0"/>
              </a:rPr>
              <a:t>                     x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fr-FR" altLang="zh-CN" sz="2600" b="1" i="1">
                <a:latin typeface="Times New Roman" panose="02020603050405020304" pitchFamily="18" charset="0"/>
              </a:rPr>
              <a:t>y 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fr-FR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fr-FR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fr-FR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fr-FR" altLang="zh-CN" sz="2600" b="1" i="1">
                <a:latin typeface="Times New Roman" panose="02020603050405020304" pitchFamily="18" charset="0"/>
              </a:rPr>
              <a:t>y 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fr-FR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fr-FR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 &lt; </a:t>
            </a:r>
            <a:r>
              <a:rPr lang="fr-FR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fr-FR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fr-FR" altLang="zh-CN" sz="2600" b="1">
                <a:latin typeface="Times New Roman" panose="02020603050405020304" pitchFamily="18" charset="0"/>
              </a:rPr>
              <a:t>&gt;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构成格</a:t>
            </a:r>
            <a:r>
              <a:rPr lang="zh-CN" altLang="fr-FR" sz="26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3">
            <a:extLst>
              <a:ext uri="{FF2B5EF4-FFF2-40B4-BE49-F238E27FC236}">
                <a16:creationId xmlns:a16="http://schemas.microsoft.com/office/drawing/2014/main" id="{CFEE007E-B5CC-4930-AEA1-1A421A636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定理的证明</a:t>
            </a:r>
          </a:p>
        </p:txBody>
      </p:sp>
      <p:sp>
        <p:nvSpPr>
          <p:cNvPr id="2051" name="灯片编号占位符 4">
            <a:extLst>
              <a:ext uri="{FF2B5EF4-FFF2-40B4-BE49-F238E27FC236}">
                <a16:creationId xmlns:a16="http://schemas.microsoft.com/office/drawing/2014/main" id="{3BBE55DB-AAE6-4212-AF2A-594455FA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1130F6-65BD-4CA5-85E7-90CA523C19DD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AED96677-E307-43DF-8F11-7EE6FDF7D7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196975"/>
          <a:ext cx="7343775" cy="461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文档" r:id="rId4" imgW="3162610" imgH="1987271" progId="Word.Document.8">
                  <p:embed/>
                </p:oleObj>
              </mc:Choice>
              <mc:Fallback>
                <p:oleObj name="文档" r:id="rId4" imgW="3162610" imgH="198727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96975"/>
                        <a:ext cx="7343775" cy="461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DD7B0857-0BC8-4A7C-81BB-82B080104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定理的证明（续）</a:t>
            </a:r>
          </a:p>
        </p:txBody>
      </p:sp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2B106FD1-29DD-478E-8A8E-DBF075D3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1A486B-BF54-4DB3-915C-F3AB3901F705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4CD5828-F54D-4145-8B2C-A0AAD11A5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12875"/>
            <a:ext cx="77755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(3)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为 </a:t>
            </a:r>
            <a:r>
              <a:rPr lang="en-US" altLang="zh-CN" sz="2800" b="1"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</a:rPr>
              <a:t>} </a:t>
            </a:r>
            <a:r>
              <a:rPr lang="zh-CN" altLang="en-US" sz="2800" b="1">
                <a:latin typeface="Times New Roman" panose="02020603050405020304" pitchFamily="18" charset="0"/>
              </a:rPr>
              <a:t>的上界</a:t>
            </a:r>
            <a:r>
              <a:rPr lang="zh-CN" altLang="en-US" sz="4200" b="1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371717" name="Rectangle 5">
            <a:extLst>
              <a:ext uri="{FF2B5EF4-FFF2-40B4-BE49-F238E27FC236}">
                <a16:creationId xmlns:a16="http://schemas.microsoft.com/office/drawing/2014/main" id="{5EF2A7F1-E00D-47F6-9079-A4522EBE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797425"/>
            <a:ext cx="720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同理，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*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是 </a:t>
            </a:r>
            <a:r>
              <a:rPr lang="en-US" altLang="zh-CN" sz="2800" b="1"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</a:rPr>
              <a:t>} </a:t>
            </a:r>
            <a:r>
              <a:rPr lang="zh-CN" altLang="en-US" sz="2800" b="1">
                <a:latin typeface="Times New Roman" panose="02020603050405020304" pitchFamily="18" charset="0"/>
              </a:rPr>
              <a:t>的最大下界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8DA983F8-7549-413A-B1B5-033E09081280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2205038"/>
            <a:ext cx="2879725" cy="946150"/>
            <a:chOff x="3243" y="1570"/>
            <a:chExt cx="1814" cy="596"/>
          </a:xfrm>
        </p:grpSpPr>
        <p:sp>
          <p:nvSpPr>
            <p:cNvPr id="21518" name="Text Box 7">
              <a:extLst>
                <a:ext uri="{FF2B5EF4-FFF2-40B4-BE49-F238E27FC236}">
                  <a16:creationId xmlns:a16="http://schemas.microsoft.com/office/drawing/2014/main" id="{D56FBD31-9816-4527-A6A0-9C2E6896D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570"/>
              <a:ext cx="1406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 </a:t>
              </a:r>
              <a:r>
                <a:rPr lang="en-US" altLang="zh-CN" sz="2800" b="1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≼ </a:t>
              </a:r>
              <a:r>
                <a:rPr lang="en-US" altLang="zh-CN" sz="2800" b="1" i="1">
                  <a:latin typeface="Times New Roman" panose="02020603050405020304" pitchFamily="18" charset="0"/>
                  <a:cs typeface="Lucida Sans Unicode" panose="020B0602030504020204" pitchFamily="34" charset="0"/>
                </a:rPr>
                <a:t>a</a:t>
              </a:r>
              <a:r>
                <a:rPr lang="en-US" altLang="zh-CN" sz="2800" b="1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∘</a:t>
              </a:r>
              <a:r>
                <a:rPr lang="en-US" altLang="zh-CN" sz="2800" b="1" i="1">
                  <a:latin typeface="Times New Roman" panose="02020603050405020304" pitchFamily="18" charset="0"/>
                  <a:cs typeface="Lucida Sans Unicode" panose="020B0602030504020204" pitchFamily="34" charset="0"/>
                </a:rPr>
                <a:t>b</a:t>
              </a:r>
            </a:p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b </a:t>
              </a:r>
              <a:r>
                <a:rPr lang="en-US" altLang="zh-CN" sz="2800" b="1">
                  <a:latin typeface="Times New Roman" panose="02020603050405020304" pitchFamily="18" charset="0"/>
                </a:rPr>
                <a:t>≼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</a:rPr>
                <a:t>∘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</a:t>
              </a:r>
              <a:endParaRPr lang="en-US" altLang="zh-CN" sz="2800" b="1" i="1">
                <a:latin typeface="Times New Roman" panose="02020603050405020304" pitchFamily="18" charset="0"/>
                <a:cs typeface="Lucida Sans Unicode" panose="020B0602030504020204" pitchFamily="34" charset="0"/>
              </a:endParaRPr>
            </a:p>
          </p:txBody>
        </p:sp>
        <p:sp>
          <p:nvSpPr>
            <p:cNvPr id="21519" name="Text Box 8">
              <a:extLst>
                <a:ext uri="{FF2B5EF4-FFF2-40B4-BE49-F238E27FC236}">
                  <a16:creationId xmlns:a16="http://schemas.microsoft.com/office/drawing/2014/main" id="{51EF5E02-9A73-4E08-ADFC-FAE91F67A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570"/>
              <a:ext cx="448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200">
                  <a:latin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6457C8AF-2704-405E-A9A7-9F8E1A10CEC8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4005263"/>
            <a:ext cx="2159000" cy="731837"/>
            <a:chOff x="3923" y="2478"/>
            <a:chExt cx="1360" cy="461"/>
          </a:xfrm>
        </p:grpSpPr>
        <p:sp>
          <p:nvSpPr>
            <p:cNvPr id="21516" name="Rectangle 10">
              <a:extLst>
                <a:ext uri="{FF2B5EF4-FFF2-40B4-BE49-F238E27FC236}">
                  <a16:creationId xmlns:a16="http://schemas.microsoft.com/office/drawing/2014/main" id="{D3074B83-9968-479A-8F10-8CE8BD67F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2478"/>
              <a:ext cx="86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</a:rPr>
                <a:t>∘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 </a:t>
              </a:r>
              <a:r>
                <a:rPr lang="en-US" altLang="zh-CN" sz="2800" b="1">
                  <a:latin typeface="Times New Roman" panose="02020603050405020304" pitchFamily="18" charset="0"/>
                </a:rPr>
                <a:t>≼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42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1517" name="Text Box 11">
              <a:extLst>
                <a:ext uri="{FF2B5EF4-FFF2-40B4-BE49-F238E27FC236}">
                  <a16:creationId xmlns:a16="http://schemas.microsoft.com/office/drawing/2014/main" id="{5FD23769-B319-4CC5-9FBD-F94EEE5ED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478"/>
              <a:ext cx="448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200">
                  <a:latin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</a:p>
          </p:txBody>
        </p:sp>
      </p:grpSp>
      <p:sp>
        <p:nvSpPr>
          <p:cNvPr id="371727" name="Text Box 15">
            <a:extLst>
              <a:ext uri="{FF2B5EF4-FFF2-40B4-BE49-F238E27FC236}">
                <a16:creationId xmlns:a16="http://schemas.microsoft.com/office/drawing/2014/main" id="{A45E5A1F-F1BA-46BF-9C7F-236A89678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488" y="2174875"/>
            <a:ext cx="3716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/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)∘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71728" name="Text Box 16">
            <a:extLst>
              <a:ext uri="{FF2B5EF4-FFF2-40B4-BE49-F238E27FC236}">
                <a16:creationId xmlns:a16="http://schemas.microsoft.com/office/drawing/2014/main" id="{907B4F6E-B4E5-4659-AD2C-5ACCFEFF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708275"/>
            <a:ext cx="3716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∘(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/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71729" name="Rectangle 17">
            <a:extLst>
              <a:ext uri="{FF2B5EF4-FFF2-40B4-BE49-F238E27FC236}">
                <a16:creationId xmlns:a16="http://schemas.microsoft.com/office/drawing/2014/main" id="{F1C91308-8C12-4D5B-BA04-BEFE18D8A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73463"/>
            <a:ext cx="7561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为 </a:t>
            </a:r>
            <a:r>
              <a:rPr lang="en-US" altLang="zh-CN" sz="2800" b="1"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</a:rPr>
              <a:t>} </a:t>
            </a:r>
            <a:r>
              <a:rPr lang="zh-CN" altLang="en-US" sz="2800" b="1">
                <a:latin typeface="Times New Roman" panose="02020603050405020304" pitchFamily="18" charset="0"/>
              </a:rPr>
              <a:t>的最小上界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假设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为上界</a:t>
            </a:r>
          </a:p>
        </p:txBody>
      </p:sp>
      <p:sp>
        <p:nvSpPr>
          <p:cNvPr id="371730" name="Text Box 18">
            <a:extLst>
              <a:ext uri="{FF2B5EF4-FFF2-40B4-BE49-F238E27FC236}">
                <a16:creationId xmlns:a16="http://schemas.microsoft.com/office/drawing/2014/main" id="{DFC51418-4CDB-429B-B94C-13A01C78B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149725"/>
            <a:ext cx="419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400" b="1"/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</a:rPr>
              <a:t>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1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1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1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1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7" grpId="0"/>
      <p:bldP spid="371727" grpId="0"/>
      <p:bldP spid="371728" grpId="0"/>
      <p:bldP spid="371729" grpId="0"/>
      <p:bldP spid="3717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61619EEC-3127-49C7-8E1A-C41E5AC3A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格的代数定义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C71E28B4-FACF-47DD-9624-652F8E383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96975"/>
            <a:ext cx="8820150" cy="48529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C00000"/>
                </a:solidFill>
              </a:rPr>
              <a:t>等价定义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   设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L</a:t>
            </a:r>
            <a:r>
              <a:rPr lang="en-US" altLang="zh-CN" sz="2600" b="1">
                <a:latin typeface="Times New Roman" panose="02020603050405020304" pitchFamily="18" charset="0"/>
              </a:rPr>
              <a:t>,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>
                <a:latin typeface="Times New Roman" panose="02020603050405020304" pitchFamily="18" charset="0"/>
              </a:rPr>
              <a:t>,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>
                <a:latin typeface="Times New Roman" panose="02020603050405020304" pitchFamily="18" charset="0"/>
              </a:rPr>
              <a:t>&gt; </a:t>
            </a:r>
            <a:r>
              <a:rPr lang="zh-CN" altLang="en-US" sz="2600" b="1">
                <a:latin typeface="Times New Roman" panose="02020603050405020304" pitchFamily="18" charset="0"/>
              </a:rPr>
              <a:t>是具有两个二元运算的代数系统，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   如果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zh-CN" altLang="en-US" sz="2600" b="1">
                <a:latin typeface="Times New Roman" panose="02020603050405020304" pitchFamily="18" charset="0"/>
              </a:rPr>
              <a:t>满足交换、结合、吸收律，则称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L</a:t>
            </a:r>
            <a:r>
              <a:rPr lang="en-US" altLang="zh-CN" sz="2600" b="1">
                <a:latin typeface="Times New Roman" panose="02020603050405020304" pitchFamily="18" charset="0"/>
              </a:rPr>
              <a:t>,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>
                <a:latin typeface="Times New Roman" panose="02020603050405020304" pitchFamily="18" charset="0"/>
              </a:rPr>
              <a:t>,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>
                <a:latin typeface="Times New Roman" panose="02020603050405020304" pitchFamily="18" charset="0"/>
              </a:rPr>
              <a:t>&gt; </a:t>
            </a:r>
            <a:r>
              <a:rPr lang="zh-CN" altLang="en-US" sz="2600" b="1">
                <a:latin typeface="Times New Roman" panose="02020603050405020304" pitchFamily="18" charset="0"/>
              </a:rPr>
              <a:t>是格</a:t>
            </a:r>
            <a:r>
              <a:rPr lang="en-US" altLang="zh-CN" sz="26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C00000"/>
                </a:solidFill>
                <a:latin typeface="Times New Roman" panose="02020603050405020304" pitchFamily="18" charset="0"/>
              </a:rPr>
              <a:t>实例</a:t>
            </a:r>
            <a:r>
              <a:rPr lang="zh-CN" altLang="en-US" sz="2600" b="1">
                <a:latin typeface="Times New Roman" panose="02020603050405020304" pitchFamily="18" charset="0"/>
              </a:rPr>
              <a:t>：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, gcd, lcm&gt;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b="1">
                <a:latin typeface="Times New Roman" panose="02020603050405020304" pitchFamily="18" charset="0"/>
              </a:rPr>
              <a:t> 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00" b="1" i="1">
                <a:latin typeface="Times New Roman" panose="02020603050405020304" pitchFamily="18" charset="0"/>
              </a:rPr>
              <a:t>x, y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fr-FR" altLang="zh-CN" sz="2600" b="1">
                <a:latin typeface="Times New Roman" panose="02020603050405020304" pitchFamily="18" charset="0"/>
              </a:rPr>
              <a:t> gcd (</a:t>
            </a:r>
            <a:r>
              <a:rPr lang="fr-FR" altLang="zh-CN" sz="2600" b="1" i="1">
                <a:latin typeface="Times New Roman" panose="02020603050405020304" pitchFamily="18" charset="0"/>
              </a:rPr>
              <a:t>x, y</a:t>
            </a:r>
            <a:r>
              <a:rPr lang="fr-FR" altLang="zh-CN" sz="2600" b="1">
                <a:latin typeface="Times New Roman" panose="02020603050405020304" pitchFamily="18" charset="0"/>
              </a:rPr>
              <a:t>) = gcd (</a:t>
            </a:r>
            <a:r>
              <a:rPr lang="fr-FR" altLang="zh-CN" sz="2600" b="1" i="1">
                <a:latin typeface="Times New Roman" panose="02020603050405020304" pitchFamily="18" charset="0"/>
              </a:rPr>
              <a:t>y, x</a:t>
            </a:r>
            <a:r>
              <a:rPr lang="fr-FR" altLang="zh-CN" sz="2600" b="1">
                <a:latin typeface="Times New Roman" panose="02020603050405020304" pitchFamily="18" charset="0"/>
              </a:rPr>
              <a:t>),  lcm (</a:t>
            </a:r>
            <a:r>
              <a:rPr lang="fr-FR" altLang="zh-CN" sz="2600" b="1" i="1">
                <a:latin typeface="Times New Roman" panose="02020603050405020304" pitchFamily="18" charset="0"/>
              </a:rPr>
              <a:t>x, y</a:t>
            </a:r>
            <a:r>
              <a:rPr lang="fr-FR" altLang="zh-CN" sz="2600" b="1">
                <a:latin typeface="Times New Roman" panose="02020603050405020304" pitchFamily="18" charset="0"/>
              </a:rPr>
              <a:t>) = lcm (</a:t>
            </a:r>
            <a:r>
              <a:rPr lang="fr-FR" altLang="zh-CN" sz="2600" b="1" i="1">
                <a:latin typeface="Times New Roman" panose="02020603050405020304" pitchFamily="18" charset="0"/>
              </a:rPr>
              <a:t>y, x</a:t>
            </a:r>
            <a:r>
              <a:rPr lang="fr-FR" altLang="zh-CN" sz="26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altLang="zh-CN" sz="2600" b="1">
                <a:latin typeface="Times New Roman" panose="02020603050405020304" pitchFamily="18" charset="0"/>
              </a:rPr>
              <a:t>                      gcd (</a:t>
            </a:r>
            <a:r>
              <a:rPr lang="fr-FR" altLang="zh-CN" sz="2600" b="1" i="1">
                <a:latin typeface="Times New Roman" panose="02020603050405020304" pitchFamily="18" charset="0"/>
              </a:rPr>
              <a:t>x</a:t>
            </a:r>
            <a:r>
              <a:rPr lang="fr-FR" altLang="zh-CN" sz="2600" b="1">
                <a:latin typeface="Times New Roman" panose="02020603050405020304" pitchFamily="18" charset="0"/>
              </a:rPr>
              <a:t>, gcd (</a:t>
            </a:r>
            <a:r>
              <a:rPr lang="fr-FR" altLang="zh-CN" sz="2600" b="1" i="1">
                <a:latin typeface="Times New Roman" panose="02020603050405020304" pitchFamily="18" charset="0"/>
              </a:rPr>
              <a:t>y, z</a:t>
            </a:r>
            <a:r>
              <a:rPr lang="fr-FR" altLang="zh-CN" sz="2600" b="1">
                <a:latin typeface="Times New Roman" panose="02020603050405020304" pitchFamily="18" charset="0"/>
              </a:rPr>
              <a:t>)) = gcd (gcd (</a:t>
            </a:r>
            <a:r>
              <a:rPr lang="fr-FR" altLang="zh-CN" sz="2600" b="1" i="1">
                <a:latin typeface="Times New Roman" panose="02020603050405020304" pitchFamily="18" charset="0"/>
              </a:rPr>
              <a:t>x, y</a:t>
            </a:r>
            <a:r>
              <a:rPr lang="fr-FR" altLang="zh-CN" sz="2600" b="1">
                <a:latin typeface="Times New Roman" panose="02020603050405020304" pitchFamily="18" charset="0"/>
              </a:rPr>
              <a:t>), </a:t>
            </a:r>
            <a:r>
              <a:rPr lang="fr-FR" altLang="zh-CN" sz="2600" b="1" i="1">
                <a:latin typeface="Times New Roman" panose="02020603050405020304" pitchFamily="18" charset="0"/>
              </a:rPr>
              <a:t>z</a:t>
            </a:r>
            <a:r>
              <a:rPr lang="fr-FR" altLang="zh-CN" sz="26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altLang="zh-CN" sz="2600" b="1">
                <a:latin typeface="Times New Roman" panose="02020603050405020304" pitchFamily="18" charset="0"/>
              </a:rPr>
              <a:t>                      lcm (</a:t>
            </a:r>
            <a:r>
              <a:rPr lang="fr-FR" altLang="zh-CN" sz="2600" b="1" i="1">
                <a:latin typeface="Times New Roman" panose="02020603050405020304" pitchFamily="18" charset="0"/>
              </a:rPr>
              <a:t>x</a:t>
            </a:r>
            <a:r>
              <a:rPr lang="fr-FR" altLang="zh-CN" sz="2600" b="1">
                <a:latin typeface="Times New Roman" panose="02020603050405020304" pitchFamily="18" charset="0"/>
              </a:rPr>
              <a:t>, lcm (</a:t>
            </a:r>
            <a:r>
              <a:rPr lang="fr-FR" altLang="zh-CN" sz="2600" b="1" i="1">
                <a:latin typeface="Times New Roman" panose="02020603050405020304" pitchFamily="18" charset="0"/>
              </a:rPr>
              <a:t>y, z</a:t>
            </a:r>
            <a:r>
              <a:rPr lang="fr-FR" altLang="zh-CN" sz="2600" b="1">
                <a:latin typeface="Times New Roman" panose="02020603050405020304" pitchFamily="18" charset="0"/>
              </a:rPr>
              <a:t>)) = lcm (lcm (</a:t>
            </a:r>
            <a:r>
              <a:rPr lang="fr-FR" altLang="zh-CN" sz="2600" b="1" i="1">
                <a:latin typeface="Times New Roman" panose="02020603050405020304" pitchFamily="18" charset="0"/>
              </a:rPr>
              <a:t>x, y</a:t>
            </a:r>
            <a:r>
              <a:rPr lang="fr-FR" altLang="zh-CN" sz="2600" b="1">
                <a:latin typeface="Times New Roman" panose="02020603050405020304" pitchFamily="18" charset="0"/>
              </a:rPr>
              <a:t>), </a:t>
            </a:r>
            <a:r>
              <a:rPr lang="fr-FR" altLang="zh-CN" sz="2600" b="1" i="1">
                <a:latin typeface="Times New Roman" panose="02020603050405020304" pitchFamily="18" charset="0"/>
              </a:rPr>
              <a:t>z</a:t>
            </a:r>
            <a:r>
              <a:rPr lang="fr-FR" altLang="zh-CN" sz="26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altLang="zh-CN" sz="2600" b="1">
                <a:latin typeface="Times New Roman" panose="02020603050405020304" pitchFamily="18" charset="0"/>
              </a:rPr>
              <a:t>                      gcd (</a:t>
            </a:r>
            <a:r>
              <a:rPr lang="fr-FR" altLang="zh-CN" sz="2600" b="1" i="1">
                <a:latin typeface="Times New Roman" panose="02020603050405020304" pitchFamily="18" charset="0"/>
              </a:rPr>
              <a:t>x</a:t>
            </a:r>
            <a:r>
              <a:rPr lang="fr-FR" altLang="zh-CN" sz="2600" b="1">
                <a:latin typeface="Times New Roman" panose="02020603050405020304" pitchFamily="18" charset="0"/>
              </a:rPr>
              <a:t>, lcm (</a:t>
            </a:r>
            <a:r>
              <a:rPr lang="fr-FR" altLang="zh-CN" sz="2600" b="1" i="1">
                <a:latin typeface="Times New Roman" panose="02020603050405020304" pitchFamily="18" charset="0"/>
              </a:rPr>
              <a:t>x, y</a:t>
            </a:r>
            <a:r>
              <a:rPr lang="fr-FR" altLang="zh-CN" sz="2600" b="1">
                <a:latin typeface="Times New Roman" panose="02020603050405020304" pitchFamily="18" charset="0"/>
              </a:rPr>
              <a:t>)) = </a:t>
            </a:r>
            <a:r>
              <a:rPr lang="fr-FR" altLang="zh-CN" sz="2600" b="1" i="1">
                <a:latin typeface="Times New Roman" panose="02020603050405020304" pitchFamily="18" charset="0"/>
              </a:rPr>
              <a:t>x</a:t>
            </a:r>
            <a:r>
              <a:rPr lang="fr-FR" altLang="zh-CN" sz="2600" b="1">
                <a:latin typeface="Times New Roman" panose="02020603050405020304" pitchFamily="18" charset="0"/>
              </a:rPr>
              <a:t>,  lcm (</a:t>
            </a:r>
            <a:r>
              <a:rPr lang="fr-FR" altLang="zh-CN" sz="2600" b="1" i="1">
                <a:latin typeface="Times New Roman" panose="02020603050405020304" pitchFamily="18" charset="0"/>
              </a:rPr>
              <a:t>x</a:t>
            </a:r>
            <a:r>
              <a:rPr lang="fr-FR" altLang="zh-CN" sz="2600" b="1">
                <a:latin typeface="Times New Roman" panose="02020603050405020304" pitchFamily="18" charset="0"/>
              </a:rPr>
              <a:t>, gcd (</a:t>
            </a:r>
            <a:r>
              <a:rPr lang="fr-FR" altLang="zh-CN" sz="2600" b="1" i="1">
                <a:latin typeface="Times New Roman" panose="02020603050405020304" pitchFamily="18" charset="0"/>
              </a:rPr>
              <a:t>x, y</a:t>
            </a:r>
            <a:r>
              <a:rPr lang="fr-FR" altLang="zh-CN" sz="2600" b="1">
                <a:latin typeface="Times New Roman" panose="02020603050405020304" pitchFamily="18" charset="0"/>
              </a:rPr>
              <a:t>)) = </a:t>
            </a:r>
            <a:r>
              <a:rPr lang="fr-FR" altLang="zh-CN" sz="2600" b="1" i="1">
                <a:latin typeface="Times New Roman" panose="02020603050405020304" pitchFamily="18" charset="0"/>
              </a:rPr>
              <a:t>x</a:t>
            </a:r>
            <a:r>
              <a:rPr lang="fr-FR" altLang="zh-CN" sz="2600" b="1">
                <a:latin typeface="Times New Roman" panose="02020603050405020304" pitchFamily="18" charset="0"/>
              </a:rPr>
              <a:t>  </a:t>
            </a:r>
            <a:endParaRPr lang="en-US" altLang="zh-CN" sz="2600" b="1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65000"/>
              </a:spcBef>
              <a:buFont typeface="Wingdings" panose="05000000000000000000" pitchFamily="2" charset="2"/>
              <a:buNone/>
            </a:pPr>
            <a:r>
              <a:rPr lang="en-US" altLang="zh-CN" sz="2600" b="1" i="1">
                <a:latin typeface="Times New Roman" panose="02020603050405020304" pitchFamily="18" charset="0"/>
              </a:rPr>
              <a:t> x </a:t>
            </a:r>
            <a:r>
              <a:rPr lang="en-US" altLang="zh-CN" sz="2600" b="1">
                <a:latin typeface="Times New Roman" panose="02020603050405020304" pitchFamily="18" charset="0"/>
              </a:rPr>
              <a:t>| </a:t>
            </a:r>
            <a:r>
              <a:rPr lang="en-US" altLang="zh-CN" sz="2600" b="1" i="1">
                <a:latin typeface="Times New Roman" panose="02020603050405020304" pitchFamily="18" charset="0"/>
              </a:rPr>
              <a:t>y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>
                <a:latin typeface="Times New Roman" panose="02020603050405020304" pitchFamily="18" charset="0"/>
              </a:rPr>
              <a:t> lcm (</a:t>
            </a:r>
            <a:r>
              <a:rPr lang="en-US" altLang="zh-CN" sz="2600" b="1" i="1">
                <a:latin typeface="Times New Roman" panose="02020603050405020304" pitchFamily="18" charset="0"/>
              </a:rPr>
              <a:t>x, y</a:t>
            </a:r>
            <a:r>
              <a:rPr lang="en-US" altLang="zh-CN" sz="2600" b="1">
                <a:latin typeface="Times New Roman" panose="02020603050405020304" pitchFamily="18" charset="0"/>
              </a:rPr>
              <a:t>) = </a:t>
            </a:r>
            <a:r>
              <a:rPr lang="en-US" altLang="zh-CN" sz="2600" b="1" i="1">
                <a:latin typeface="Times New Roman" panose="02020603050405020304" pitchFamily="18" charset="0"/>
              </a:rPr>
              <a:t>y</a:t>
            </a:r>
            <a:r>
              <a:rPr lang="zh-CN" altLang="en-US" sz="2600" b="1">
                <a:latin typeface="Times New Roman" panose="02020603050405020304" pitchFamily="18" charset="0"/>
              </a:rPr>
              <a:t>，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, |&gt; </a:t>
            </a:r>
            <a:r>
              <a:rPr lang="zh-CN" altLang="en-US" sz="2600" b="1">
                <a:latin typeface="Times New Roman" panose="02020603050405020304" pitchFamily="18" charset="0"/>
              </a:rPr>
              <a:t>与 </a:t>
            </a:r>
            <a:r>
              <a:rPr lang="en-US" altLang="zh-CN" sz="2600" b="1">
                <a:latin typeface="Times New Roman" panose="02020603050405020304" pitchFamily="18" charset="0"/>
              </a:rPr>
              <a:t>&lt;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, gcd, lcm&gt;</a:t>
            </a:r>
            <a:r>
              <a:rPr lang="zh-CN" altLang="en-US" sz="2600" b="1">
                <a:latin typeface="Times New Roman" panose="02020603050405020304" pitchFamily="18" charset="0"/>
              </a:rPr>
              <a:t>是同一个格</a:t>
            </a:r>
          </a:p>
        </p:txBody>
      </p:sp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14A5C8DD-B43B-4500-83B1-53C05C7F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55EFEE-0170-4F2D-972A-A479F2CB6E5D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90124BDC-9EBA-4041-B802-3FF3F37F5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格的性质（续）</a:t>
            </a:r>
          </a:p>
        </p:txBody>
      </p:sp>
      <p:sp>
        <p:nvSpPr>
          <p:cNvPr id="33794" name="灯片编号占位符 4">
            <a:extLst>
              <a:ext uri="{FF2B5EF4-FFF2-40B4-BE49-F238E27FC236}">
                <a16:creationId xmlns:a16="http://schemas.microsoft.com/office/drawing/2014/main" id="{65302CFB-F2FE-40B0-94CF-9AFC8C3A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0F9E7E-6EB6-4EC7-A63C-96F8A39C5C3F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6BDA7F2-0809-41B8-BB40-F01FEBB00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8280400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127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格的不等式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4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）保序不等式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）分配不等式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≼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≽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）模不等式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≼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思考：如何证明以上不等式？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E40E3C4-08AB-48F5-8328-92FABF78C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不满足分配律的格</a:t>
            </a:r>
          </a:p>
        </p:txBody>
      </p:sp>
      <p:sp>
        <p:nvSpPr>
          <p:cNvPr id="34818" name="灯片编号占位符 4">
            <a:extLst>
              <a:ext uri="{FF2B5EF4-FFF2-40B4-BE49-F238E27FC236}">
                <a16:creationId xmlns:a16="http://schemas.microsoft.com/office/drawing/2014/main" id="{4CE27E25-77A8-4A7D-A899-F905773A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956B50-F183-4B1D-804F-BB36437633BD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20508A1-77C4-407A-8DE1-98EFE07E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9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4581" name="Picture 4" descr="13-5">
            <a:extLst>
              <a:ext uri="{FF2B5EF4-FFF2-40B4-BE49-F238E27FC236}">
                <a16:creationId xmlns:a16="http://schemas.microsoft.com/office/drawing/2014/main" id="{5C34D6E9-2921-4693-A011-84907920C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93" t="6673" b="24908"/>
          <a:stretch>
            <a:fillRect/>
          </a:stretch>
        </p:blipFill>
        <p:spPr bwMode="auto">
          <a:xfrm>
            <a:off x="1690688" y="620713"/>
            <a:ext cx="5618162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5">
            <a:extLst>
              <a:ext uri="{FF2B5EF4-FFF2-40B4-BE49-F238E27FC236}">
                <a16:creationId xmlns:a16="http://schemas.microsoft.com/office/drawing/2014/main" id="{D20C5822-4087-4952-972F-B8A87598D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644900"/>
            <a:ext cx="6913562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          </a:t>
            </a:r>
            <a:r>
              <a:rPr lang="zh-CN" altLang="en-US" sz="2800" b="1">
                <a:latin typeface="Times New Roman" panose="02020603050405020304" pitchFamily="18" charset="0"/>
              </a:rPr>
              <a:t>钻石格                  五角格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钻石格：</a:t>
            </a:r>
            <a:r>
              <a:rPr lang="zh-CN" altLang="en-US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思考：指出五角格不满足分配律的元素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钻石格是模格，五角格不是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>
            <a:extLst>
              <a:ext uri="{FF2B5EF4-FFF2-40B4-BE49-F238E27FC236}">
                <a16:creationId xmlns:a16="http://schemas.microsoft.com/office/drawing/2014/main" id="{7BE65AA0-98EC-4D75-8A3E-E8A21102E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子格、格同态格的直积</a:t>
            </a:r>
          </a:p>
        </p:txBody>
      </p:sp>
      <p:sp>
        <p:nvSpPr>
          <p:cNvPr id="3077" name="Rectangle 4">
            <a:extLst>
              <a:ext uri="{FF2B5EF4-FFF2-40B4-BE49-F238E27FC236}">
                <a16:creationId xmlns:a16="http://schemas.microsoft.com/office/drawing/2014/main" id="{F54F3723-2B7A-44FC-B59D-A6035F59E6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子格 </a:t>
            </a:r>
          </a:p>
          <a:p>
            <a:pPr lvl="1" eaLnBrk="1" hangingPunct="1"/>
            <a:r>
              <a:rPr lang="zh-CN" altLang="en-US" b="1"/>
              <a:t>子格定义</a:t>
            </a:r>
          </a:p>
          <a:p>
            <a:pPr lvl="1" eaLnBrk="1" hangingPunct="1"/>
            <a:r>
              <a:rPr lang="zh-CN" altLang="en-US" b="1"/>
              <a:t>子格判别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/>
              <a:t>格的同态与同构</a:t>
            </a:r>
          </a:p>
          <a:p>
            <a:pPr lvl="1" eaLnBrk="1" hangingPunct="1"/>
            <a:r>
              <a:rPr lang="zh-CN" altLang="en-US" b="1"/>
              <a:t>格同态定义</a:t>
            </a:r>
          </a:p>
          <a:p>
            <a:pPr lvl="1" eaLnBrk="1" hangingPunct="1"/>
            <a:r>
              <a:rPr lang="zh-CN" altLang="en-US" b="1"/>
              <a:t>格同态的性质</a:t>
            </a:r>
          </a:p>
          <a:p>
            <a:pPr lvl="1" eaLnBrk="1" hangingPunct="1"/>
            <a:r>
              <a:rPr lang="zh-CN" altLang="en-US" b="1"/>
              <a:t>完备格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/>
              <a:t>格的直积 </a:t>
            </a:r>
          </a:p>
        </p:txBody>
      </p:sp>
      <p:sp>
        <p:nvSpPr>
          <p:cNvPr id="3075" name="灯片编号占位符 5">
            <a:extLst>
              <a:ext uri="{FF2B5EF4-FFF2-40B4-BE49-F238E27FC236}">
                <a16:creationId xmlns:a16="http://schemas.microsoft.com/office/drawing/2014/main" id="{535D6903-5B70-4420-A09D-B7777D9F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237288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6D69D7-D70C-4374-8958-C1D424AF74F5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698D9487-ACD3-4993-B101-D4ECBD101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5050" y="1841500"/>
          <a:ext cx="5618163" cy="482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文档" r:id="rId4" imgW="2321531" imgH="1992024" progId="Word.Document.8">
                  <p:embed/>
                </p:oleObj>
              </mc:Choice>
              <mc:Fallback>
                <p:oleObj name="文档" r:id="rId4" imgW="2321531" imgH="199202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1841500"/>
                        <a:ext cx="5618163" cy="482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51C60EC5-391C-4A4B-AD11-252077D18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72400" cy="64837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格的子格</a:t>
            </a:r>
          </a:p>
        </p:txBody>
      </p:sp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286CFDFC-4721-482E-83C7-DA35C5F9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C53672-8801-4305-A48E-3E4EABF85C9A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E5B3620-5C7D-406F-AB1D-491558015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41663"/>
            <a:ext cx="7993063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96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实例：子群格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是格，但一定不是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的子格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例如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Klein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四元群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L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{ 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{ </a:t>
            </a:r>
            <a:r>
              <a:rPr lang="en-US" altLang="zh-CN" sz="2800" b="1">
                <a:latin typeface="Times New Roman" panose="02020603050405020304" pitchFamily="18" charset="0"/>
              </a:rPr>
              <a:t>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b,c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a,b,c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a,b,e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a,c,e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b,c,e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endParaRPr lang="en-US" altLang="zh-CN" sz="42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596AB923-76A2-4E51-9EB5-77D02BEB4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777557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96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子格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的非空子集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zh-CN" altLang="en-US" sz="2800" b="1">
                <a:latin typeface="Times New Roman" panose="02020603050405020304" pitchFamily="18" charset="0"/>
              </a:rPr>
              <a:t>，且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关于 </a:t>
            </a:r>
            <a:r>
              <a:rPr lang="en-US" altLang="zh-CN" sz="2800" b="1" i="1">
                <a:latin typeface="Times New Roman" panose="02020603050405020304" pitchFamily="18" charset="0"/>
              </a:rPr>
              <a:t>L </a:t>
            </a:r>
            <a:r>
              <a:rPr lang="zh-CN" altLang="en-US" sz="2800" b="1">
                <a:latin typeface="Times New Roman" panose="02020603050405020304" pitchFamily="18" charset="0"/>
              </a:rPr>
              <a:t>中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和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运算封闭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注意：子格元素在原格中求最大下界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最小上界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42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C1356D41-4FE1-433E-9B75-C86415AE2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格的同态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64F11F8-F9AD-436F-A4B9-2A0663FDB4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351838" cy="49244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A50021"/>
                </a:solidFill>
                <a:latin typeface="Times New Roman" pitchFamily="18" charset="0"/>
              </a:rPr>
              <a:t>定义</a:t>
            </a:r>
            <a:r>
              <a:rPr lang="zh-CN" altLang="en-US" sz="2800" b="1" dirty="0">
                <a:latin typeface="Times New Roman" pitchFamily="18" charset="0"/>
              </a:rPr>
              <a:t>  设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1 </a:t>
            </a:r>
            <a:r>
              <a:rPr lang="zh-CN" altLang="en-US" sz="2800" b="1" dirty="0">
                <a:latin typeface="Times New Roman" pitchFamily="18" charset="0"/>
              </a:rPr>
              <a:t>和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2 </a:t>
            </a:r>
            <a:r>
              <a:rPr lang="zh-CN" altLang="en-US" sz="2800" b="1" dirty="0">
                <a:latin typeface="Times New Roman" pitchFamily="18" charset="0"/>
              </a:rPr>
              <a:t>是格</a:t>
            </a:r>
            <a:r>
              <a:rPr lang="en-US" altLang="zh-CN" sz="2800" b="1" dirty="0">
                <a:latin typeface="Times New Roman" pitchFamily="18" charset="0"/>
              </a:rPr>
              <a:t>, 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: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</a:rPr>
              <a:t>,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i="1" dirty="0">
                <a:latin typeface="Times New Roman" pitchFamily="18" charset="0"/>
              </a:rPr>
              <a:t>x, y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</a:rPr>
              <a:t>，有            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         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x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2800" b="1" i="1" dirty="0">
                <a:latin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</a:rPr>
              <a:t>) =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</a:rPr>
              <a:t>)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</a:rPr>
              <a:t>), 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x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 </a:t>
            </a:r>
            <a:r>
              <a:rPr lang="en-US" altLang="zh-CN" sz="2800" b="1" i="1" dirty="0">
                <a:latin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</a:rPr>
              <a:t>) =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</a:rPr>
              <a:t>)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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</a:rPr>
              <a:t>)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则称</a:t>
            </a:r>
            <a:r>
              <a:rPr lang="zh-CN" altLang="en-US" sz="2800" b="1" i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f  </a:t>
            </a:r>
            <a:r>
              <a:rPr lang="zh-CN" altLang="en-US" sz="2800" b="1" dirty="0">
                <a:latin typeface="Times New Roman" pitchFamily="18" charset="0"/>
              </a:rPr>
              <a:t>为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1 </a:t>
            </a:r>
            <a:r>
              <a:rPr lang="zh-CN" altLang="en-US" sz="2800" b="1" dirty="0">
                <a:latin typeface="Times New Roman" pitchFamily="18" charset="0"/>
              </a:rPr>
              <a:t>到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2 </a:t>
            </a:r>
            <a:r>
              <a:rPr lang="zh-CN" altLang="en-US" sz="2800" b="1" dirty="0">
                <a:latin typeface="Times New Roman" pitchFamily="18" charset="0"/>
              </a:rPr>
              <a:t>的同态</a:t>
            </a:r>
            <a:r>
              <a:rPr lang="en-US" altLang="zh-CN" sz="2800" b="1" dirty="0">
                <a:latin typeface="Times New Roman" pitchFamily="18" charset="0"/>
              </a:rPr>
              <a:t>.  </a:t>
            </a:r>
          </a:p>
          <a:p>
            <a:pPr marL="324000" eaLnBrk="1" hangingPunct="1">
              <a:spcBef>
                <a:spcPts val="2400"/>
              </a:spcBef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实例：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1 </a:t>
            </a:r>
            <a:r>
              <a:rPr lang="en-US" altLang="zh-CN" sz="2800" b="1" dirty="0">
                <a:latin typeface="Times New Roman" pitchFamily="18" charset="0"/>
              </a:rPr>
              <a:t>= &lt;{1,2,3,6}, | &gt;,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</a:rPr>
              <a:t>           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2 </a:t>
            </a:r>
            <a:r>
              <a:rPr lang="en-US" altLang="zh-CN" sz="2800" b="1" dirty="0">
                <a:latin typeface="Times New Roman" pitchFamily="18" charset="0"/>
              </a:rPr>
              <a:t>= &lt;{0,1},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 &gt;</a:t>
            </a:r>
            <a:r>
              <a:rPr lang="en-US" altLang="zh-CN" sz="2800" b="1" dirty="0">
                <a:latin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</a:rPr>
              <a:t>           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(1) =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(2) = 0,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</a:rPr>
              <a:t>           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(3) =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en-US" altLang="zh-CN" sz="2800" b="1" dirty="0">
                <a:latin typeface="Times New Roman" pitchFamily="18" charset="0"/>
              </a:rPr>
              <a:t>(6) = 1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</a:rPr>
              <a:t>            </a:t>
            </a:r>
            <a:r>
              <a:rPr lang="en-US" altLang="zh-CN" sz="2800" b="1" i="1" dirty="0">
                <a:latin typeface="Times New Roman" pitchFamily="18" charset="0"/>
              </a:rPr>
              <a:t>f </a:t>
            </a:r>
            <a:r>
              <a:rPr lang="zh-CN" altLang="en-US" sz="2800" b="1" dirty="0">
                <a:latin typeface="Times New Roman" pitchFamily="18" charset="0"/>
              </a:rPr>
              <a:t>为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1 </a:t>
            </a:r>
            <a:r>
              <a:rPr lang="zh-CN" altLang="en-US" sz="2800" b="1" dirty="0">
                <a:latin typeface="Times New Roman" pitchFamily="18" charset="0"/>
              </a:rPr>
              <a:t>到 </a:t>
            </a:r>
            <a:r>
              <a:rPr lang="en-US" altLang="zh-CN" sz="2800" b="1" i="1" dirty="0">
                <a:latin typeface="Times New Roman" pitchFamily="18" charset="0"/>
              </a:rPr>
              <a:t>L</a:t>
            </a:r>
            <a:r>
              <a:rPr lang="en-US" altLang="zh-CN" sz="2800" b="1" baseline="-25000" dirty="0">
                <a:latin typeface="Times New Roman" pitchFamily="18" charset="0"/>
              </a:rPr>
              <a:t>2 </a:t>
            </a:r>
            <a:r>
              <a:rPr lang="zh-CN" altLang="en-US" sz="2800" b="1" dirty="0">
                <a:latin typeface="Times New Roman" pitchFamily="18" charset="0"/>
              </a:rPr>
              <a:t>的同态</a:t>
            </a:r>
            <a:r>
              <a:rPr lang="en-US" altLang="zh-CN" sz="2800" b="1" dirty="0">
                <a:latin typeface="Times New Roman" pitchFamily="18" charset="0"/>
              </a:rPr>
              <a:t>. </a:t>
            </a:r>
          </a:p>
        </p:txBody>
      </p:sp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62239585-ACEA-40D4-B794-FF081842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88169A-9EEB-433B-8214-E3CE87E36990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26629" name="Picture 4" descr="图形1">
            <a:extLst>
              <a:ext uri="{FF2B5EF4-FFF2-40B4-BE49-F238E27FC236}">
                <a16:creationId xmlns:a16="http://schemas.microsoft.com/office/drawing/2014/main" id="{4954A90F-1BB6-4DDA-9708-76E7E9411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3046413"/>
            <a:ext cx="2557463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5BC4F950-9437-4E65-8380-26F3BF76A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格同态的性质</a:t>
            </a:r>
          </a:p>
        </p:txBody>
      </p:sp>
      <p:sp>
        <p:nvSpPr>
          <p:cNvPr id="27651" name="内容占位符 5">
            <a:extLst>
              <a:ext uri="{FF2B5EF4-FFF2-40B4-BE49-F238E27FC236}">
                <a16:creationId xmlns:a16="http://schemas.microsoft.com/office/drawing/2014/main" id="{6B8AB458-5084-4DAF-BD06-33F06273C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68413"/>
            <a:ext cx="8229600" cy="16144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格同态具有保序性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是格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到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的同态，则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≼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≼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2" name="灯片编号占位符 4">
            <a:extLst>
              <a:ext uri="{FF2B5EF4-FFF2-40B4-BE49-F238E27FC236}">
                <a16:creationId xmlns:a16="http://schemas.microsoft.com/office/drawing/2014/main" id="{8D41C5B7-4EAE-4F26-95CC-F32C7E18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0C4593-F080-41B6-A87A-9DD55FD2284A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51C073C8-7A8B-48B6-967A-F2F72DB65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4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50DFAA3C-3D61-45F3-AFB3-302B6C4B18BD}"/>
              </a:ext>
            </a:extLst>
          </p:cNvPr>
          <p:cNvSpPr txBox="1">
            <a:spLocks/>
          </p:cNvSpPr>
          <p:nvPr/>
        </p:nvSpPr>
        <p:spPr bwMode="auto">
          <a:xfrm>
            <a:off x="539750" y="3284538"/>
            <a:ext cx="822960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证：  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≼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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=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endParaRPr lang="zh-CN" altLang="en-US" sz="28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f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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=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</a:t>
            </a:r>
            <a:endParaRPr lang="zh-CN" altLang="en-US" sz="28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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=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</a:t>
            </a:r>
            <a:endParaRPr lang="zh-CN" altLang="en-US" sz="28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≼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endParaRPr lang="zh-CN" altLang="en-US" sz="28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注意：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 ≼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不一定推出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≼ </a:t>
            </a:r>
            <a:r>
              <a:rPr lang="en-US" sz="28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zh-CN" altLang="en-US" sz="2800" b="1" kern="0" dirty="0">
                <a:latin typeface="Times New Roman" pitchFamily="18" charset="0"/>
                <a:ea typeface="+mn-ea"/>
                <a:cs typeface="Times New Roman" pitchFamily="18" charset="0"/>
              </a:rPr>
              <a:t>思考反例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>
            <a:extLst>
              <a:ext uri="{FF2B5EF4-FFF2-40B4-BE49-F238E27FC236}">
                <a16:creationId xmlns:a16="http://schemas.microsoft.com/office/drawing/2014/main" id="{7E20B696-39F6-47A8-A026-5DDC794E5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格同态的性质（续）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46D4B603-A2FA-42AA-8CA4-E4D240FC1E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96975"/>
            <a:ext cx="8229600" cy="49974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</a:rPr>
              <a:t>f  </a:t>
            </a:r>
            <a:r>
              <a:rPr lang="zh-CN" altLang="en-US" sz="2800" b="1">
                <a:latin typeface="Times New Roman" panose="02020603050405020304" pitchFamily="18" charset="0"/>
              </a:rPr>
              <a:t>为双射，</a:t>
            </a:r>
            <a:r>
              <a:rPr lang="en-US" altLang="zh-CN" sz="2800" b="1" i="1">
                <a:latin typeface="Times New Roman" panose="02020603050405020304" pitchFamily="18" charset="0"/>
              </a:rPr>
              <a:t>f  </a:t>
            </a:r>
            <a:r>
              <a:rPr lang="zh-CN" altLang="en-US" sz="2800" b="1">
                <a:latin typeface="Times New Roman" panose="02020603050405020304" pitchFamily="18" charset="0"/>
              </a:rPr>
              <a:t>为 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到 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的同构当且仅当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    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</a:rPr>
              <a:t>a, 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i="1">
                <a:latin typeface="Times New Roman" panose="02020603050405020304" pitchFamily="18" charset="0"/>
              </a:rPr>
              <a:t> 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≼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证明同构的思路：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</a:t>
            </a:r>
            <a:r>
              <a:rPr lang="en-US" altLang="zh-CN" sz="2800" b="1">
                <a:latin typeface="Times New Roman" panose="02020603050405020304" pitchFamily="18" charset="0"/>
              </a:rPr>
              <a:t>(1) </a:t>
            </a:r>
            <a:r>
              <a:rPr lang="zh-CN" altLang="en-US" sz="2800" b="1">
                <a:latin typeface="Times New Roman" panose="02020603050405020304" pitchFamily="18" charset="0"/>
              </a:rPr>
              <a:t>由保序性证明 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f </a:t>
            </a:r>
            <a:r>
              <a:rPr lang="en-US" altLang="zh-CN" sz="2800" b="1" u="sng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a</a:t>
            </a:r>
            <a:r>
              <a:rPr lang="en-US" altLang="zh-CN" sz="2800" b="1" u="sng">
                <a:latin typeface="Times New Roman" panose="02020603050405020304" pitchFamily="18" charset="0"/>
              </a:rPr>
              <a:t>) 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f </a:t>
            </a:r>
            <a:r>
              <a:rPr lang="en-US" altLang="zh-CN" sz="2800" b="1" u="sng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b</a:t>
            </a:r>
            <a:r>
              <a:rPr lang="en-US" altLang="zh-CN" sz="2800" b="1" u="sng">
                <a:latin typeface="Times New Roman" panose="02020603050405020304" pitchFamily="18" charset="0"/>
              </a:rPr>
              <a:t>) ≼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f </a:t>
            </a:r>
            <a:r>
              <a:rPr lang="en-US" altLang="zh-CN" sz="2800" b="1" u="sng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a 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b</a:t>
            </a:r>
            <a:r>
              <a:rPr lang="en-US" altLang="zh-CN" sz="2800" b="1" u="sng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(2) </a:t>
            </a:r>
            <a:r>
              <a:rPr lang="zh-CN" altLang="en-US" sz="2800" b="1">
                <a:latin typeface="Times New Roman" panose="02020603050405020304" pitchFamily="18" charset="0"/>
              </a:rPr>
              <a:t>由满射性存在 </a:t>
            </a:r>
            <a:r>
              <a:rPr lang="en-US" altLang="zh-CN" sz="2800" b="1" i="1">
                <a:latin typeface="Times New Roman" panose="02020603050405020304" pitchFamily="18" charset="0"/>
              </a:rPr>
              <a:t>d </a:t>
            </a:r>
            <a:r>
              <a:rPr lang="zh-CN" altLang="en-US" sz="2800" b="1">
                <a:latin typeface="Times New Roman" panose="02020603050405020304" pitchFamily="18" charset="0"/>
              </a:rPr>
              <a:t>使得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) 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</a:t>
            </a:r>
            <a:r>
              <a:rPr lang="zh-CN" altLang="en-US" sz="2800" b="1">
                <a:latin typeface="Times New Roman" panose="02020603050405020304" pitchFamily="18" charset="0"/>
              </a:rPr>
              <a:t>由 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≼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推出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同理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(3) 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推出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f </a:t>
            </a:r>
            <a:r>
              <a:rPr lang="en-US" altLang="zh-CN" sz="2800" b="1" u="sng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a 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b</a:t>
            </a:r>
            <a:r>
              <a:rPr lang="en-US" altLang="zh-CN" sz="2800" b="1" u="sng">
                <a:latin typeface="Times New Roman" panose="02020603050405020304" pitchFamily="18" charset="0"/>
              </a:rPr>
              <a:t>) ≼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f </a:t>
            </a:r>
            <a:r>
              <a:rPr lang="en-US" altLang="zh-CN" sz="2800" b="1" u="sng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a</a:t>
            </a:r>
            <a:r>
              <a:rPr lang="en-US" altLang="zh-CN" sz="2800" b="1" u="sng">
                <a:latin typeface="Times New Roman" panose="02020603050405020304" pitchFamily="18" charset="0"/>
              </a:rPr>
              <a:t>) 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f</a:t>
            </a:r>
            <a:r>
              <a:rPr lang="en-US" altLang="zh-CN" sz="2800" b="1" u="sng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b</a:t>
            </a:r>
            <a:r>
              <a:rPr lang="en-US" altLang="zh-CN" sz="2800" b="1" u="sng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  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(4)  </a:t>
            </a:r>
            <a:r>
              <a:rPr lang="zh-CN" altLang="en-US" sz="2800" b="1">
                <a:latin typeface="Times New Roman" panose="02020603050405020304" pitchFamily="18" charset="0"/>
              </a:rPr>
              <a:t>由 </a:t>
            </a:r>
            <a:r>
              <a:rPr lang="en-US" altLang="zh-CN" sz="2800" b="1">
                <a:latin typeface="Times New Roman" panose="02020603050405020304" pitchFamily="18" charset="0"/>
              </a:rPr>
              <a:t>(1) </a:t>
            </a:r>
            <a:r>
              <a:rPr lang="zh-CN" altLang="en-US" sz="2800" b="1">
                <a:latin typeface="Times New Roman" panose="02020603050405020304" pitchFamily="18" charset="0"/>
              </a:rPr>
              <a:t>和 </a:t>
            </a:r>
            <a:r>
              <a:rPr lang="en-US" altLang="zh-CN" sz="2800" b="1">
                <a:latin typeface="Times New Roman" panose="02020603050405020304" pitchFamily="18" charset="0"/>
              </a:rPr>
              <a:t>(3) </a:t>
            </a:r>
            <a:r>
              <a:rPr lang="zh-CN" altLang="en-US" sz="2800" b="1">
                <a:latin typeface="Times New Roman" panose="02020603050405020304" pitchFamily="18" charset="0"/>
              </a:rPr>
              <a:t>得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(5) </a:t>
            </a:r>
            <a:r>
              <a:rPr lang="zh-CN" altLang="en-US" sz="2800" b="1">
                <a:latin typeface="Times New Roman" panose="02020603050405020304" pitchFamily="18" charset="0"/>
              </a:rPr>
              <a:t>同理 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 </a:t>
            </a:r>
          </a:p>
        </p:txBody>
      </p:sp>
      <p:sp>
        <p:nvSpPr>
          <p:cNvPr id="4099" name="灯片编号占位符 5">
            <a:extLst>
              <a:ext uri="{FF2B5EF4-FFF2-40B4-BE49-F238E27FC236}">
                <a16:creationId xmlns:a16="http://schemas.microsoft.com/office/drawing/2014/main" id="{2900EE58-793B-475C-A860-7C4CD122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60A765-C44B-4123-89FA-D8BFED31B7FA}" type="slidenum">
              <a:rPr lang="en-US" altLang="zh-CN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BF2BB45D-5825-45EE-A001-A110A60701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628775"/>
          <a:ext cx="8243888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文档" r:id="rId4" imgW="3982948" imgH="2211199" progId="Word.Document.8">
                  <p:embed/>
                </p:oleObj>
              </mc:Choice>
              <mc:Fallback>
                <p:oleObj name="文档" r:id="rId4" imgW="3982948" imgH="221119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628775"/>
                        <a:ext cx="8243888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4">
            <a:extLst>
              <a:ext uri="{FF2B5EF4-FFF2-40B4-BE49-F238E27FC236}">
                <a16:creationId xmlns:a16="http://schemas.microsoft.com/office/drawing/2014/main" id="{5D88D369-321D-404A-B8CA-FB5BD35A1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4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AB428334-5B61-42DA-971E-7EF9EA5A6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完备格</a:t>
            </a:r>
          </a:p>
        </p:txBody>
      </p:sp>
      <p:sp>
        <p:nvSpPr>
          <p:cNvPr id="28675" name="内容占位符 4">
            <a:extLst>
              <a:ext uri="{FF2B5EF4-FFF2-40B4-BE49-F238E27FC236}">
                <a16:creationId xmlns:a16="http://schemas.microsoft.com/office/drawing/2014/main" id="{D162A816-9C95-45B2-A7A8-00960E85F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196975"/>
            <a:ext cx="8424862" cy="47577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设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是格，若对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的任何子集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的最大下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最小上界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存在，则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是完备格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可以是空集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x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的下界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 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x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的上界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 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≼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前件为假，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中任何元素都是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的上界和下界，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取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最大元为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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，最小元为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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条件：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为偏序集，任意子集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实例：有限格、幂集格、格的理想格完备</a:t>
            </a:r>
          </a:p>
        </p:txBody>
      </p:sp>
      <p:sp>
        <p:nvSpPr>
          <p:cNvPr id="38916" name="灯片编号占位符 4">
            <a:extLst>
              <a:ext uri="{FF2B5EF4-FFF2-40B4-BE49-F238E27FC236}">
                <a16:creationId xmlns:a16="http://schemas.microsoft.com/office/drawing/2014/main" id="{B45FCEEF-73A9-4FC6-AD22-2CD0F3A6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7366F9-5324-4300-BAC6-3414AABEBD0D}" type="slidenum">
              <a:rPr lang="en-US" altLang="zh-CN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>
            <a:extLst>
              <a:ext uri="{FF2B5EF4-FFF2-40B4-BE49-F238E27FC236}">
                <a16:creationId xmlns:a16="http://schemas.microsoft.com/office/drawing/2014/main" id="{BAF594B3-4CC8-40A7-B96E-A48444B74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7294" y="168621"/>
            <a:ext cx="6729412" cy="9271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格的理想</a:t>
            </a:r>
          </a:p>
        </p:txBody>
      </p:sp>
      <p:sp>
        <p:nvSpPr>
          <p:cNvPr id="5123" name="灯片编号占位符 4">
            <a:extLst>
              <a:ext uri="{FF2B5EF4-FFF2-40B4-BE49-F238E27FC236}">
                <a16:creationId xmlns:a16="http://schemas.microsoft.com/office/drawing/2014/main" id="{ED1A6032-B4CF-40D8-B4D6-873FAC49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21F0223-475E-4D9E-8DE6-1F24DB2356EE}" type="slidenum">
              <a:rPr lang="en-US" altLang="zh-CN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913B79EC-5CA3-4240-880A-00EABB89C4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125538"/>
          <a:ext cx="8361363" cy="480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文档" r:id="rId4" imgW="3983309" imgH="2285722" progId="Word.Document.8">
                  <p:embed/>
                </p:oleObj>
              </mc:Choice>
              <mc:Fallback>
                <p:oleObj name="文档" r:id="rId4" imgW="3983309" imgH="228572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125538"/>
                        <a:ext cx="8361363" cy="480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5" name="Picture 4" descr="13-5">
            <a:extLst>
              <a:ext uri="{FF2B5EF4-FFF2-40B4-BE49-F238E27FC236}">
                <a16:creationId xmlns:a16="http://schemas.microsoft.com/office/drawing/2014/main" id="{2F4EC3CB-FFF4-4AD0-8AF1-426ACCFA1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9" t="6673" r="56410" b="25514"/>
          <a:stretch>
            <a:fillRect/>
          </a:stretch>
        </p:blipFill>
        <p:spPr bwMode="auto">
          <a:xfrm>
            <a:off x="5724525" y="2133600"/>
            <a:ext cx="273685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>
            <a:extLst>
              <a:ext uri="{FF2B5EF4-FFF2-40B4-BE49-F238E27FC236}">
                <a16:creationId xmlns:a16="http://schemas.microsoft.com/office/drawing/2014/main" id="{0932C147-102F-4F9A-86F6-2A281949C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92163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格对完备格的可嵌入性</a:t>
            </a:r>
          </a:p>
        </p:txBody>
      </p:sp>
      <p:sp>
        <p:nvSpPr>
          <p:cNvPr id="6147" name="灯片编号占位符 4">
            <a:extLst>
              <a:ext uri="{FF2B5EF4-FFF2-40B4-BE49-F238E27FC236}">
                <a16:creationId xmlns:a16="http://schemas.microsoft.com/office/drawing/2014/main" id="{A6BF1281-2B95-4A1D-8D09-A8567DDB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AE743B-EAC5-4220-98D1-B1C1F940459A}" type="slidenum">
              <a:rPr lang="en-US" altLang="zh-CN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D4E344CC-1E9E-4FAF-8694-73E02A5132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6513" y="1196975"/>
          <a:ext cx="8897938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文档" r:id="rId4" imgW="4288552" imgH="886448" progId="Word.Document.8">
                  <p:embed/>
                </p:oleObj>
              </mc:Choice>
              <mc:Fallback>
                <p:oleObj name="文档" r:id="rId4" imgW="4288552" imgH="88644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6513" y="1196975"/>
                        <a:ext cx="8897938" cy="183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9" name="Picture 4" descr="图形2">
            <a:extLst>
              <a:ext uri="{FF2B5EF4-FFF2-40B4-BE49-F238E27FC236}">
                <a16:creationId xmlns:a16="http://schemas.microsoft.com/office/drawing/2014/main" id="{F45CDC8D-DE6B-494E-ADCC-6BB8C686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0" r="75812" b="15520"/>
          <a:stretch>
            <a:fillRect/>
          </a:stretch>
        </p:blipFill>
        <p:spPr bwMode="auto">
          <a:xfrm>
            <a:off x="1763713" y="2636838"/>
            <a:ext cx="2195512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5" descr="图形2">
            <a:extLst>
              <a:ext uri="{FF2B5EF4-FFF2-40B4-BE49-F238E27FC236}">
                <a16:creationId xmlns:a16="http://schemas.microsoft.com/office/drawing/2014/main" id="{AE126706-280D-405D-BF2D-866E4AE97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5" t="26440" r="43683"/>
          <a:stretch>
            <a:fillRect/>
          </a:stretch>
        </p:blipFill>
        <p:spPr bwMode="auto">
          <a:xfrm>
            <a:off x="4643438" y="2565400"/>
            <a:ext cx="3059112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Text Box 6">
            <a:extLst>
              <a:ext uri="{FF2B5EF4-FFF2-40B4-BE49-F238E27FC236}">
                <a16:creationId xmlns:a16="http://schemas.microsoft.com/office/drawing/2014/main" id="{17621EEA-AD5E-4F31-90F3-BD0834D87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746750"/>
            <a:ext cx="4478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思考：格 </a:t>
            </a:r>
            <a:r>
              <a:rPr lang="en-US" altLang="zh-CN" sz="2400" b="1">
                <a:latin typeface="Times New Roman" panose="02020603050405020304" pitchFamily="18" charset="0"/>
              </a:rPr>
              <a:t>&lt; Z,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&gt;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如何嵌入？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3443</TotalTime>
  <Words>2546</Words>
  <Application>Microsoft Office PowerPoint</Application>
  <PresentationFormat>全屏显示(4:3)</PresentationFormat>
  <Paragraphs>288</Paragraphs>
  <Slides>27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Calibri</vt:lpstr>
      <vt:lpstr>Times New Roman</vt:lpstr>
      <vt:lpstr>Symbol</vt:lpstr>
      <vt:lpstr>Wingdings</vt:lpstr>
      <vt:lpstr>Lucida Sans Unicode</vt:lpstr>
      <vt:lpstr>代数结构PPT</vt:lpstr>
      <vt:lpstr>Microsoft Word 97 - 2003 文档</vt:lpstr>
      <vt:lpstr>Microsoft Word 文档</vt:lpstr>
      <vt:lpstr>第十九章   格与布尔代数</vt:lpstr>
      <vt:lpstr>19.1  格的定义和性质</vt:lpstr>
      <vt:lpstr>格的定义</vt:lpstr>
      <vt:lpstr>格的实例——正因子格</vt:lpstr>
      <vt:lpstr>格的实例（续）</vt:lpstr>
      <vt:lpstr>数据仓库的视图格</vt:lpstr>
      <vt:lpstr>维上的格结构</vt:lpstr>
      <vt:lpstr>视图格：维格的笛卡儿积</vt:lpstr>
      <vt:lpstr>格的性质——对偶原理</vt:lpstr>
      <vt:lpstr>格的性质（续）</vt:lpstr>
      <vt:lpstr>格的性质（续）</vt:lpstr>
      <vt:lpstr>格的性质（续）</vt:lpstr>
      <vt:lpstr>格的代数定义</vt:lpstr>
      <vt:lpstr>格的代数定义（续）</vt:lpstr>
      <vt:lpstr>定理的证明</vt:lpstr>
      <vt:lpstr>定理的证明（续）</vt:lpstr>
      <vt:lpstr>格的代数定义</vt:lpstr>
      <vt:lpstr>格的性质（续）</vt:lpstr>
      <vt:lpstr>不满足分配律的格</vt:lpstr>
      <vt:lpstr>19.2 子格、格同态格的直积</vt:lpstr>
      <vt:lpstr>格的子格</vt:lpstr>
      <vt:lpstr>格的同态</vt:lpstr>
      <vt:lpstr>格同态的性质</vt:lpstr>
      <vt:lpstr>格同态的性质（续）</vt:lpstr>
      <vt:lpstr>完备格</vt:lpstr>
      <vt:lpstr>格的理想</vt:lpstr>
      <vt:lpstr>格对完备格的可嵌入性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320</cp:revision>
  <dcterms:created xsi:type="dcterms:W3CDTF">2005-12-02T07:25:32Z</dcterms:created>
  <dcterms:modified xsi:type="dcterms:W3CDTF">2020-07-25T04:58:44Z</dcterms:modified>
</cp:coreProperties>
</file>