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5"/>
  </p:notesMasterIdLst>
  <p:sldIdLst>
    <p:sldId id="295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 varScale="1">
        <p:scale>
          <a:sx n="79" d="100"/>
          <a:sy n="79" d="100"/>
        </p:scale>
        <p:origin x="134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B72A3D9-4079-4B4C-AEFE-7A6E12E0CC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B30AD6-CCA0-4CD4-841F-4F62E4CD6AC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AF95D351-C42A-4F57-8FF1-2DB181B9274A}" type="datetimeFigureOut">
              <a:rPr lang="zh-CN" altLang="en-US"/>
              <a:pPr>
                <a:defRPr/>
              </a:pPr>
              <a:t>2020/7/17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D64F637D-E922-4247-B681-0C733EEF3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FFA983AC-B4AB-47CF-8A83-CBE16A066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98A4AC-8D0C-44EF-B5FD-16DD5A94BA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C28C16-2B1F-464F-BAB2-AD23DFB7B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0EF9A3D5-A090-4873-8AF2-C775AD14E45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0505E809-1CCD-421F-89ED-E151813B10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092B5C-F691-46AC-B3F6-0E0F6BBB70C4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5802BD58-C34B-4C85-82A7-867CD89185B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86ECCF74-8870-43C0-BA21-1B9B6A1A6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3E85AC85-54B1-4F7B-B39F-35EA8BCFDF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1FA999-8B1F-4FCD-A0C5-72AF8256565C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28692B4-EF78-4DCA-9702-D9B75F5D2BE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DB51870-C4DC-449A-ADAF-5702D6F59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C9CBD29-6EB0-47BB-9D5D-3F563F9DC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A5D69F-61D9-412B-AFD4-F196C5881180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3FA2A27E-F8A3-4D36-9981-4D156696FC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03E1FC8-122C-4747-9EA3-0519B52DB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17EB9DC7-CAB6-436D-AB19-1DEA36AB3F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42492E-60E2-4B4B-9F66-FC4BA8C07B25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5D298CA-CCB6-44C5-9B8A-B5446F3168E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DF17175-FDDD-4E80-B493-F13A2A1661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027AF3E-D898-4AE1-AB1B-9FBC932722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5C2A139-8FA3-4FAC-8192-5CD60B79BE51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52604E0-F172-4E09-B238-80EE4EC5DC8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24C9656-8F69-47A5-9142-9ECEC6F441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B408CA4-6808-4FEE-9030-E32AE68E4B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DDA2CA-D224-43CB-B952-AD1B927E9F17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1653303-C9D5-42DD-9EE7-7F696344B81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5E5631B6-CEF7-4CF2-911C-F614EC307E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D215B321-0737-4E3C-84CE-79B2C728B6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7D0219-20CB-4E34-B761-1D27A86DEC04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D0A52EA9-2DE7-4B8C-AD25-A5110D3B4BA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54A1D44-E476-46CD-B634-8F787F291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E1159B7-8194-40B4-AC56-AD39253940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ADBA04A-DAC5-46A4-A1CB-31C77BF2CC70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AF58903-2A43-462F-ACA0-3D6EB7C7B5C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359B6A7F-2E36-4D04-B93A-E0D8C5611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A03979AA-93DF-458D-B72A-6230690712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AFA23C-BB54-4B20-B251-4869058D5D8A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3A39EE9-E951-4FB4-8925-ACC07CC1C80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CAAD945-4211-471C-B0F2-4BEF395BA5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F3038F0-EED5-4428-84B6-4BCFAD15D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0C41D70-E23B-44BF-AB32-DC0E03FC105E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BC13CB4-4D94-420D-8572-66EA711EF23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741BCFC7-7D19-4B0D-B7D3-8FCD58C67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DA6BD39B-9B57-4ACC-B712-6B89DC27CB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0150A4-C435-4D3E-83B4-4C23601499DB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27D06A2D-F9FF-42E6-B4A4-5179A2E1AA7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154A04E-6F10-4F8C-8EEE-A5304DC29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70BD2383-6DFD-4E6B-8C2B-A1CC6CAA8E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C4915ED-11FA-412B-A4B6-1237DB82446F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A9C21F3-5961-4CF7-9F67-88E762A391E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742E0416-483F-4322-A263-931E0617E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F32C67B7-4E5B-4475-987E-76DBA8C293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09FD9B-E6BE-4EAD-B653-9D2777271BA9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40C498E8-A4A5-4B4A-9AF0-C3DEEBF71DD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FEABA9B2-267B-4AA3-970E-1964637DA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BA0D3762-B2B7-4CF9-B0E5-361EF35099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4E6966-B1DF-4A42-BC28-E0551E28B4AD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12A8BF04-12AF-40AA-B3B5-B6D5ACE0654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0A14B9C-32F4-4C02-B6A4-2CC7B8E18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F69B53B4-C007-4DFA-913C-5BE20576AD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245D870-60AC-4099-B22E-DD71F1A8F254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204B1B-65DA-469A-A103-831C78D9F90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65DD2CF-0999-4615-A7CC-369CB26EC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19E38E3D-8CE3-4D23-9871-9891076BC9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E26C61-9403-45BA-8324-44FED4EFB764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DB37CD5B-C750-4D22-8959-AD37A957ADC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54444A67-0293-4CA9-9CFE-56020FED1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11441C21-B21E-4741-90B0-22CB0D1C20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2603E9-0D7F-41B7-9FD2-5501EC86999E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EAB9BAD-75AD-4AAE-B152-206AD4E00B2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81858532-1046-46D9-98C1-F90DE90207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B210827-3130-4A44-BA98-B26B6018C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C366F9-6760-475E-A7DB-2F150D97B1CB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3DD5539D-AB36-4B96-AB92-B8F5ACED775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96391FA0-A654-48EC-928E-A31335455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D40A1D6E-F304-4C23-8C45-B541550DB0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A746CC-CB8D-4043-92E4-276D3908CCEF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ABD100A-5680-4099-9C08-F7CEAAA07BD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C5F2E6C-B584-44EE-987A-14A22FB25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6B7C8108-0151-4F84-81C6-B02CFB68CE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BF04B1-F657-4D97-A41F-2EC63467BFF6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E8E36D3-B59E-4B8F-8361-2E1243A4E1F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57C1058F-0049-4166-8ABD-6AF8776D1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D6005730-042B-4BE9-9BD1-CD487DE1A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53E830C-42B5-4254-9CDF-C31CF28642EE}" type="slidenum">
              <a:rPr lang="en-US" altLang="zh-CN"/>
              <a:pPr eaLnBrk="1" hangingPunct="1"/>
              <a:t>23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2281315-4FCB-4684-A678-7E490A62C74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373049E5-7033-42D7-8E76-12369EB171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DCB9EA-4526-4E60-8675-F0E2B9CC85C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587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74A639-4279-449F-9BD5-26724C2417C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848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6D7495-1D66-4078-BF7C-CABE0F9F180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829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B799DC-CB49-4423-B0C4-9DCA06DF76C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6763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448FA3-5042-48F1-B9CE-BED20F6E16D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3515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4E6F52-4839-4E26-8E81-C04C30BA0BB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977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83C9A2-B7E5-45EE-B4AF-14CAC681784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97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632768-3DF6-4DD2-B079-74117F3126E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7753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51A027-1F0D-45C2-BC33-5CC22E74936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3379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9BDFF-866B-46AF-B2BC-153461F5A69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889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702EE-745D-47C8-8252-10C7CF1847C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23085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702EE-745D-47C8-8252-10C7CF1847C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740657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F7B702EE-745D-47C8-8252-10C7CF1847C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5132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33F15AD6-018E-4E41-833D-45EA9B73C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17.3 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循环群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AD59415-63D1-4BD5-8270-8D06BD993B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/>
              <a:t>循环群的定义</a:t>
            </a:r>
          </a:p>
          <a:p>
            <a:pPr eaLnBrk="1" hangingPunct="1"/>
            <a:r>
              <a:rPr lang="zh-CN" altLang="en-US" sz="2800" b="1"/>
              <a:t>循环群的分类</a:t>
            </a:r>
          </a:p>
          <a:p>
            <a:pPr eaLnBrk="1" hangingPunct="1"/>
            <a:r>
              <a:rPr lang="zh-CN" altLang="en-US" sz="2800" b="1"/>
              <a:t>生成元</a:t>
            </a:r>
          </a:p>
          <a:p>
            <a:pPr eaLnBrk="1" hangingPunct="1"/>
            <a:r>
              <a:rPr lang="zh-CN" altLang="en-US" sz="2800" b="1"/>
              <a:t>子群</a:t>
            </a:r>
          </a:p>
          <a:p>
            <a:pPr eaLnBrk="1" hangingPunct="1"/>
            <a:r>
              <a:rPr lang="zh-CN" altLang="en-US" sz="2800" b="1"/>
              <a:t>循环群的实例</a:t>
            </a:r>
          </a:p>
        </p:txBody>
      </p:sp>
      <p:sp>
        <p:nvSpPr>
          <p:cNvPr id="7170" name="灯片编号占位符 5">
            <a:extLst>
              <a:ext uri="{FF2B5EF4-FFF2-40B4-BE49-F238E27FC236}">
                <a16:creationId xmlns:a16="http://schemas.microsoft.com/office/drawing/2014/main" id="{EEE45C04-9D0A-40EF-8A0D-72E4A605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12BDE2-37EF-44E1-96D4-1A8EB1B002CF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1C6061B2-F3AD-4C13-8A9C-E39B10984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435975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循环群的定义及其分类</a:t>
            </a:r>
          </a:p>
        </p:txBody>
      </p:sp>
      <p:sp>
        <p:nvSpPr>
          <p:cNvPr id="7172" name="内容占位符 4">
            <a:extLst>
              <a:ext uri="{FF2B5EF4-FFF2-40B4-BE49-F238E27FC236}">
                <a16:creationId xmlns:a16="http://schemas.microsoft.com/office/drawing/2014/main" id="{791125C7-86E0-4297-ACAE-34238294A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196975"/>
            <a:ext cx="8229600" cy="47577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 </a:t>
            </a:r>
            <a:r>
              <a:rPr lang="en-US" altLang="zh-CN" sz="2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= {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为循环群，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的生成元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分类：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生成元的阶无限，则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为无限循环群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生成元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阶元，则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{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阶循环群</a:t>
            </a: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&lt;Z,+&gt;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为无限循环群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&lt;Z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阶循环群</a:t>
            </a:r>
          </a:p>
          <a:p>
            <a:endParaRPr lang="zh-CN" altLang="en-US"/>
          </a:p>
        </p:txBody>
      </p:sp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F87121A2-CC36-459E-84FC-A26B5981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C6016A-7DEF-42BC-8C84-C6DD4B38AE09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FC50F227-9816-4F54-A020-076A8C992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循环群的生成元</a:t>
            </a:r>
          </a:p>
        </p:txBody>
      </p:sp>
      <p:sp>
        <p:nvSpPr>
          <p:cNvPr id="8195" name="内容占位符 4">
            <a:extLst>
              <a:ext uri="{FF2B5EF4-FFF2-40B4-BE49-F238E27FC236}">
                <a16:creationId xmlns:a16="http://schemas.microsoft.com/office/drawing/2014/main" id="{E8E0AF25-0F1E-49D9-93F3-658308E97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0800"/>
            <a:ext cx="8543925" cy="2971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是循环群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(1)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若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是无限循环群，则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的生成元是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(2)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若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阶循环群，则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有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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个生成元，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时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&lt;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的生成元为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的生成元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n, 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1.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" name="灯片编号占位符 4">
            <a:extLst>
              <a:ext uri="{FF2B5EF4-FFF2-40B4-BE49-F238E27FC236}">
                <a16:creationId xmlns:a16="http://schemas.microsoft.com/office/drawing/2014/main" id="{1FC7D42A-FE6E-45BA-9F01-381D2047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38E3994-582C-4F18-851E-CC73D6855034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A7044E6C-0084-4EEE-92BF-384C46D8108E}"/>
              </a:ext>
            </a:extLst>
          </p:cNvPr>
          <p:cNvSpPr txBox="1">
            <a:spLocks/>
          </p:cNvSpPr>
          <p:nvPr/>
        </p:nvSpPr>
        <p:spPr bwMode="auto">
          <a:xfrm>
            <a:off x="571500" y="3789363"/>
            <a:ext cx="8229600" cy="135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证明思路：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(1)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证明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kern="0" baseline="30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</a:t>
            </a:r>
            <a:r>
              <a:rPr lang="en-US" sz="2400" b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1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是生成元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   证明若存在生成元 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，则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b = a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或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kern="0" baseline="3000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</a:t>
            </a:r>
            <a:r>
              <a:rPr lang="en-US" sz="2400" b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F1595A5D-D133-4EDA-931E-D1976BA9D145}"/>
              </a:ext>
            </a:extLst>
          </p:cNvPr>
          <p:cNvSpPr txBox="1">
            <a:spLocks/>
          </p:cNvSpPr>
          <p:nvPr/>
        </p:nvSpPr>
        <p:spPr bwMode="auto">
          <a:xfrm>
            <a:off x="571500" y="5300663"/>
            <a:ext cx="82296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(2)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只需证明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(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r, n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) = 1,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则 </a:t>
            </a:r>
            <a:r>
              <a:rPr lang="en-US" sz="2400" b="1" i="1" kern="0" dirty="0" err="1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i="1" kern="0" baseline="30000" dirty="0" err="1">
                <a:latin typeface="Times New Roman" pitchFamily="18" charset="0"/>
                <a:ea typeface="+mn-ea"/>
                <a:cs typeface="Times New Roman" pitchFamily="18" charset="0"/>
              </a:rPr>
              <a:t>r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是生成元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  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反之，若 </a:t>
            </a:r>
            <a:r>
              <a:rPr lang="en-US" sz="2400" b="1" i="1" kern="0" dirty="0" err="1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i="1" kern="0" baseline="30000" dirty="0" err="1">
                <a:latin typeface="Times New Roman" pitchFamily="18" charset="0"/>
                <a:ea typeface="+mn-ea"/>
                <a:cs typeface="Times New Roman" pitchFamily="18" charset="0"/>
              </a:rPr>
              <a:t>r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是生成元，则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r, n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) = 1. 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61CB7C2F-553E-4DF6-801B-633062CD2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0063" y="340519"/>
            <a:ext cx="7772400" cy="774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</a:t>
            </a:r>
          </a:p>
        </p:txBody>
      </p:sp>
      <p:sp>
        <p:nvSpPr>
          <p:cNvPr id="1029" name="内容占位符 4">
            <a:extLst>
              <a:ext uri="{FF2B5EF4-FFF2-40B4-BE49-F238E27FC236}">
                <a16:creationId xmlns:a16="http://schemas.microsoft.com/office/drawing/2014/main" id="{233F5778-EEF4-4956-AFC8-28A70F090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196975"/>
            <a:ext cx="8229600" cy="24288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(1)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是生成元，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任取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假设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为生成元，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 = a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= b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a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j t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j t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若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j t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与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为无限阶元矛盾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因此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j = t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1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或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j = t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027" name="灯片编号占位符 5">
            <a:extLst>
              <a:ext uri="{FF2B5EF4-FFF2-40B4-BE49-F238E27FC236}">
                <a16:creationId xmlns:a16="http://schemas.microsoft.com/office/drawing/2014/main" id="{D339D6DF-313F-4153-99A3-F6C49156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7CFF8F-4DA4-4387-B65D-73BA25B7794E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C4AEB63F-7928-4168-AEC2-9608C23204F8}"/>
              </a:ext>
            </a:extLst>
          </p:cNvPr>
          <p:cNvSpPr txBox="1">
            <a:spLocks/>
          </p:cNvSpPr>
          <p:nvPr/>
        </p:nvSpPr>
        <p:spPr bwMode="auto">
          <a:xfrm>
            <a:off x="500063" y="3584575"/>
            <a:ext cx="8229600" cy="135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(2) 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400" b="1" i="1" kern="0" dirty="0" err="1">
                <a:latin typeface="Times New Roman" pitchFamily="18" charset="0"/>
                <a:ea typeface="+mn-ea"/>
                <a:cs typeface="Times New Roman" pitchFamily="18" charset="0"/>
              </a:rPr>
              <a:t>n,r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) = 1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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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i="1" kern="0" dirty="0" err="1">
                <a:latin typeface="Times New Roman" pitchFamily="18" charset="0"/>
                <a:ea typeface="+mn-ea"/>
                <a:cs typeface="Times New Roman" pitchFamily="18" charset="0"/>
              </a:rPr>
              <a:t>u,v</a:t>
            </a:r>
            <a:r>
              <a:rPr lang="en-US" sz="2400" b="1" kern="0" dirty="0" err="1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</a:t>
            </a:r>
            <a:r>
              <a:rPr lang="en-US" sz="2400" b="1" kern="0" dirty="0" err="1">
                <a:latin typeface="Times New Roman" pitchFamily="18" charset="0"/>
                <a:ea typeface="+mn-ea"/>
                <a:cs typeface="Times New Roman" pitchFamily="18" charset="0"/>
              </a:rPr>
              <a:t>Z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u n+ r v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=1)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           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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u n + r v</a:t>
            </a:r>
            <a:r>
              <a:rPr lang="en-US" sz="2400" b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=(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r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v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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r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为生成元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反之，若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r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为生成元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endParaRPr lang="zh-CN" altLang="en-US" sz="2800" b="1" kern="0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1031" name="Rectangle 6">
            <a:extLst>
              <a:ext uri="{FF2B5EF4-FFF2-40B4-BE49-F238E27FC236}">
                <a16:creationId xmlns:a16="http://schemas.microsoft.com/office/drawing/2014/main" id="{848B9E4C-9726-4CCC-BB1C-6125A2ADD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2997470B-8005-4F65-B5F3-392A00282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313" y="4883150"/>
          <a:ext cx="7358062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公式" r:id="rId4" imgW="3187440" imgH="469800" progId="Equation.3">
                  <p:embed/>
                </p:oleObj>
              </mc:Choice>
              <mc:Fallback>
                <p:oleObj name="公式" r:id="rId4" imgW="3187440" imgH="46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4883150"/>
                        <a:ext cx="7358062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54750CD9-CDC9-4936-AA43-EA11F3D7A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循环群的子群</a:t>
            </a:r>
          </a:p>
        </p:txBody>
      </p:sp>
      <p:sp>
        <p:nvSpPr>
          <p:cNvPr id="9219" name="内容占位符 4">
            <a:extLst>
              <a:ext uri="{FF2B5EF4-FFF2-40B4-BE49-F238E27FC236}">
                <a16:creationId xmlns:a16="http://schemas.microsoft.com/office/drawing/2014/main" id="{0CE6D515-54C1-4DEA-86D1-6914EF785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196975"/>
            <a:ext cx="8229600" cy="23288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是循环群，那么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的子群也是循环群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是无限阶，则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的子群除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外也是无限阶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阶的，则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的子群的阶是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的因子，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对于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的每个正因子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中有且仅有一个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阶子群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灯片编号占位符 4">
            <a:extLst>
              <a:ext uri="{FF2B5EF4-FFF2-40B4-BE49-F238E27FC236}">
                <a16:creationId xmlns:a16="http://schemas.microsoft.com/office/drawing/2014/main" id="{D629D19F-1759-4AA7-ADB2-C87996CA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281E48-52C1-4C0D-A646-F8DD899CAE47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426AD04A-F7F5-4067-87F9-DBA3CD9066AA}"/>
              </a:ext>
            </a:extLst>
          </p:cNvPr>
          <p:cNvSpPr txBox="1">
            <a:spLocks/>
          </p:cNvSpPr>
          <p:nvPr/>
        </p:nvSpPr>
        <p:spPr bwMode="auto">
          <a:xfrm>
            <a:off x="500063" y="3573463"/>
            <a:ext cx="8229600" cy="235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证明思路：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(1)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子群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H</a:t>
            </a:r>
            <a:r>
              <a:rPr lang="zh-CN" alt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中最小正方幂元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zh-CN" alt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为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H</a:t>
            </a:r>
            <a:r>
              <a:rPr lang="zh-CN" alt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的生成元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(2)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若子群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H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 &lt;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m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&gt;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有限，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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e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则推出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|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|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有限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(3)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H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 &lt;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m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&gt;, |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H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| = |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m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|, (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n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e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从而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|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m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|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是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zh-CN" alt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的因子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(4)  &lt;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n/ d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&gt;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是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zh-CN" alt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阶子群，然后证明唯一性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  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20E3556B-4350-41B1-A85C-9F6AD3320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</a:t>
            </a:r>
          </a:p>
        </p:txBody>
      </p:sp>
      <p:sp>
        <p:nvSpPr>
          <p:cNvPr id="10243" name="内容占位符 4">
            <a:extLst>
              <a:ext uri="{FF2B5EF4-FFF2-40B4-BE49-F238E27FC236}">
                <a16:creationId xmlns:a16="http://schemas.microsoft.com/office/drawing/2014/main" id="{C784B39A-AF96-4E0D-88C4-2E4FACACB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23288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&lt;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的子群，不妨设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中最小正方幂元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对于任意整数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l m + r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r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0, 1, … 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1}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灯片编号占位符 4">
            <a:extLst>
              <a:ext uri="{FF2B5EF4-FFF2-40B4-BE49-F238E27FC236}">
                <a16:creationId xmlns:a16="http://schemas.microsoft.com/office/drawing/2014/main" id="{5BB64BAC-DFA4-4BCB-8F88-D28D5956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8A17A1-7E6A-4BD9-B538-F438D545D761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DAA175A2-D65F-4BF5-9B76-AD80B267B5CF}"/>
              </a:ext>
            </a:extLst>
          </p:cNvPr>
          <p:cNvSpPr txBox="1">
            <a:spLocks/>
          </p:cNvSpPr>
          <p:nvPr/>
        </p:nvSpPr>
        <p:spPr bwMode="auto">
          <a:xfrm>
            <a:off x="500063" y="3789363"/>
            <a:ext cx="842962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(2)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设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H</a:t>
            </a:r>
            <a:r>
              <a:rPr lang="zh-CN" alt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为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zh-CN" alt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的子群，若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H </a:t>
            </a:r>
            <a:r>
              <a:rPr lang="zh-CN" alt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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{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e</a:t>
            </a:r>
            <a:r>
              <a:rPr lang="zh-CN" alt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},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必有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H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 &lt;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zh-CN" alt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&gt;, 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zh-CN" alt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为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H</a:t>
            </a:r>
            <a:r>
              <a:rPr lang="zh-CN" alt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中最小正方幂元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假设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|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H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| =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t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则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m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t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=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e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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 </a:t>
            </a:r>
            <a:r>
              <a:rPr lang="en-US" sz="2400" b="1" i="1" kern="0" baseline="30000" dirty="0">
                <a:latin typeface="Times New Roman" pitchFamily="18" charset="0"/>
                <a:ea typeface="+mn-ea"/>
                <a:cs typeface="Times New Roman" pitchFamily="18" charset="0"/>
              </a:rPr>
              <a:t>m t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=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e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，与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zh-CN" alt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为无限阶元矛盾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4EAEF16D-714D-4E43-81EB-B76F505EA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证明（续）</a:t>
            </a:r>
          </a:p>
        </p:txBody>
      </p:sp>
      <p:sp>
        <p:nvSpPr>
          <p:cNvPr id="2052" name="内容占位符 4">
            <a:extLst>
              <a:ext uri="{FF2B5EF4-FFF2-40B4-BE49-F238E27FC236}">
                <a16:creationId xmlns:a16="http://schemas.microsoft.com/office/drawing/2014/main" id="{475C3977-D972-4E01-8089-0E1B483E7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19002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{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e ,a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命题显然成立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若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必有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&lt;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中最小正方幂元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|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(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|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3" name="灯片编号占位符 4">
            <a:extLst>
              <a:ext uri="{FF2B5EF4-FFF2-40B4-BE49-F238E27FC236}">
                <a16:creationId xmlns:a16="http://schemas.microsoft.com/office/drawing/2014/main" id="{CD0BA570-CFAE-4E76-B0EF-256B49E6C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FE9329B-35CB-49A0-9465-A2D80E4ECB80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2" name="组合 7">
            <a:extLst>
              <a:ext uri="{FF2B5EF4-FFF2-40B4-BE49-F238E27FC236}">
                <a16:creationId xmlns:a16="http://schemas.microsoft.com/office/drawing/2014/main" id="{3C20294B-7E7B-45E0-BF96-4A4034F58F84}"/>
              </a:ext>
            </a:extLst>
          </p:cNvPr>
          <p:cNvGrpSpPr>
            <a:grpSpLocks/>
          </p:cNvGrpSpPr>
          <p:nvPr/>
        </p:nvGrpSpPr>
        <p:grpSpPr bwMode="auto">
          <a:xfrm>
            <a:off x="571500" y="3213100"/>
            <a:ext cx="8229600" cy="2928938"/>
            <a:chOff x="571472" y="3200734"/>
            <a:chExt cx="8229600" cy="3000397"/>
          </a:xfrm>
        </p:grpSpPr>
        <p:sp>
          <p:nvSpPr>
            <p:cNvPr id="7" name="内容占位符 4">
              <a:extLst>
                <a:ext uri="{FF2B5EF4-FFF2-40B4-BE49-F238E27FC236}">
                  <a16:creationId xmlns:a16="http://schemas.microsoft.com/office/drawing/2014/main" id="{018C6E8F-05D4-4BA6-82EF-867F1D6F170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71472" y="3200734"/>
              <a:ext cx="8229600" cy="3000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  <a:defRPr/>
              </a:pP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(4) 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设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d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|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n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，则 </a:t>
              </a:r>
              <a:r>
                <a:rPr lang="en-US" altLang="zh-CN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H </a:t>
              </a:r>
              <a:r>
                <a:rPr lang="en-US" altLang="zh-CN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= &lt;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altLang="zh-CN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a</a:t>
              </a:r>
              <a:r>
                <a:rPr lang="en-US" altLang="zh-CN" sz="2400" b="1" i="1" kern="0" baseline="30000" dirty="0">
                  <a:latin typeface="Times New Roman" pitchFamily="18" charset="0"/>
                  <a:ea typeface="+mn-ea"/>
                  <a:cs typeface="Times New Roman" pitchFamily="18" charset="0"/>
                </a:rPr>
                <a:t>n/d</a:t>
              </a:r>
              <a:r>
                <a:rPr lang="zh-CN" altLang="en-US" sz="2400" b="1" i="1" kern="0" baseline="3000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altLang="zh-CN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&gt; 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是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G</a:t>
              </a:r>
              <a:r>
                <a:rPr lang="zh-CN" alt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的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d</a:t>
              </a:r>
              <a:r>
                <a:rPr lang="zh-CN" alt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阶子群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.</a:t>
              </a:r>
              <a:endPara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indent="-342900"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  <a:defRPr/>
              </a:pP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若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H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’= &lt;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a</a:t>
              </a:r>
              <a:r>
                <a:rPr lang="en-US" sz="2400" b="1" i="1" kern="0" baseline="30000" dirty="0">
                  <a:latin typeface="Times New Roman" pitchFamily="18" charset="0"/>
                  <a:ea typeface="+mn-ea"/>
                  <a:cs typeface="Times New Roman" pitchFamily="18" charset="0"/>
                </a:rPr>
                <a:t>m</a:t>
              </a:r>
              <a:r>
                <a:rPr lang="zh-CN" altLang="en-US" sz="2400" b="1" i="1" kern="0" baseline="3000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&gt; 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也是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G</a:t>
              </a:r>
              <a:r>
                <a:rPr lang="zh-CN" alt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的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d</a:t>
              </a:r>
              <a:r>
                <a:rPr lang="zh-CN" alt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阶子群，其中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a</a:t>
              </a:r>
              <a:r>
                <a:rPr lang="zh-CN" alt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sz="2400" b="1" i="1" kern="0" baseline="30000" dirty="0">
                  <a:latin typeface="Times New Roman" pitchFamily="18" charset="0"/>
                  <a:ea typeface="+mn-ea"/>
                  <a:cs typeface="Times New Roman" pitchFamily="18" charset="0"/>
                </a:rPr>
                <a:t>m</a:t>
              </a:r>
              <a:r>
                <a:rPr lang="zh-CN" altLang="en-US" sz="2400" b="1" i="1" kern="0" baseline="30000" dirty="0">
                  <a:latin typeface="Times New Roman" pitchFamily="18" charset="0"/>
                  <a:ea typeface="+mn-ea"/>
                  <a:cs typeface="Times New Roman" pitchFamily="18" charset="0"/>
                </a:rPr>
                <a:t>  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为最小正方</a:t>
              </a:r>
            </a:p>
            <a:p>
              <a:pPr marL="342900" indent="-342900"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  <a:defRPr/>
              </a:pP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幂元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.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则</a:t>
              </a:r>
            </a:p>
            <a:p>
              <a:pPr marL="342900" indent="-342900"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  <a:defRPr/>
              </a:pP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 </a:t>
              </a:r>
              <a:endPara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indent="-342900"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  <a:defRPr/>
              </a:pPr>
              <a:endPara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342900" indent="-342900" eaLnBrk="0" hangingPunct="0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  <a:defRPr/>
              </a:pP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H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’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  <a:sym typeface="Symbol"/>
                </a:rPr>
                <a:t>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H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, |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H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’|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=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|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H 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| =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d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  <a:sym typeface="Symbol"/>
                </a:rPr>
                <a:t>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H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’</a:t>
              </a:r>
              <a:r>
                <a:rPr lang="zh-CN" alt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= </a:t>
              </a:r>
              <a:r>
                <a:rPr lang="en-US" sz="2400" b="1" i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H</a:t>
              </a:r>
              <a:r>
                <a:rPr lang="en-US" sz="2400" b="1" kern="0" dirty="0">
                  <a:latin typeface="Times New Roman" pitchFamily="18" charset="0"/>
                  <a:ea typeface="+mn-ea"/>
                  <a:cs typeface="Times New Roman" pitchFamily="18" charset="0"/>
                </a:rPr>
                <a:t>    </a:t>
              </a:r>
              <a:endPara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graphicFrame>
          <p:nvGraphicFramePr>
            <p:cNvPr id="2050" name="Object 5">
              <a:extLst>
                <a:ext uri="{FF2B5EF4-FFF2-40B4-BE49-F238E27FC236}">
                  <a16:creationId xmlns:a16="http://schemas.microsoft.com/office/drawing/2014/main" id="{5A7184D6-76FD-423D-A85B-68B3CDD0D9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57290" y="4528501"/>
            <a:ext cx="6846911" cy="811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" name="公式" r:id="rId4" imgW="3530520" imgH="431640" progId="Equation.3">
                    <p:embed/>
                  </p:oleObj>
                </mc:Choice>
                <mc:Fallback>
                  <p:oleObj name="公式" r:id="rId4" imgW="3530520" imgH="431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7290" y="4528501"/>
                          <a:ext cx="6846911" cy="811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322BFF42-3B1B-4D7F-96F5-50AE24F89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260350"/>
            <a:ext cx="7772400" cy="7921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2290" name="灯片编号占位符 4">
            <a:extLst>
              <a:ext uri="{FF2B5EF4-FFF2-40B4-BE49-F238E27FC236}">
                <a16:creationId xmlns:a16="http://schemas.microsoft.com/office/drawing/2014/main" id="{57E95D46-671A-401C-A45E-FBFE146D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03963" y="63563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F786452-B1FC-459F-8FE4-57D0F7776848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529B4B7D-33EE-495B-AC41-1AA7A3E08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196975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CC0000"/>
                </a:solidFill>
                <a:latin typeface="Times New Roman" panose="02020603050405020304" pitchFamily="18" charset="0"/>
              </a:rPr>
              <a:t>1  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(1) </a:t>
            </a:r>
            <a:r>
              <a:rPr lang="en-US" altLang="zh-CN" sz="2400" b="1">
                <a:latin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</a:rPr>
              <a:t>Z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en-US" altLang="zh-CN" sz="2400" b="1">
                <a:latin typeface="Times New Roman" panose="02020603050405020304" pitchFamily="18" charset="0"/>
              </a:rPr>
              <a:t>&gt;, </a:t>
            </a:r>
            <a:r>
              <a:rPr lang="zh-CN" altLang="en-US" sz="2400" b="1">
                <a:latin typeface="Times New Roman" panose="02020603050405020304" pitchFamily="18" charset="0"/>
              </a:rPr>
              <a:t>求生成元、子群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1956" name="Rectangle 4">
            <a:extLst>
              <a:ext uri="{FF2B5EF4-FFF2-40B4-BE49-F238E27FC236}">
                <a16:creationId xmlns:a16="http://schemas.microsoft.com/office/drawing/2014/main" id="{D5AF2391-946C-4632-9E4A-B8FFFDE4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1700213"/>
            <a:ext cx="633571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生成元为与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12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互质的数：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1, 5, 7, 11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12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的正因子为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1, 2, 3, 4, 6, 12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子群：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&lt;0&gt;,&lt;1&gt;, &lt;2&gt;,&lt;3&gt;, &lt;4&gt;, &lt;6&gt;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1957" name="Rectangle 5">
            <a:extLst>
              <a:ext uri="{FF2B5EF4-FFF2-40B4-BE49-F238E27FC236}">
                <a16:creationId xmlns:a16="http://schemas.microsoft.com/office/drawing/2014/main" id="{0BD73E5A-4DD5-4F5A-9359-8900B5403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24175"/>
            <a:ext cx="698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= &lt; 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阶群，求生成元和子群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1958" name="Rectangle 6">
            <a:extLst>
              <a:ext uri="{FF2B5EF4-FFF2-40B4-BE49-F238E27FC236}">
                <a16:creationId xmlns:a16="http://schemas.microsoft.com/office/drawing/2014/main" id="{266B7CE7-0182-4667-84B5-F0A649F17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3357563"/>
            <a:ext cx="74295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生成元为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14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22 </a:t>
            </a:r>
            <a:endParaRPr lang="en-US" altLang="zh-CN" sz="2400" baseline="30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的子群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&gt;, &lt; 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&gt;, 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4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&gt;,&lt;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6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&gt;, 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8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&gt;,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12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1959" name="Rectangle 7">
            <a:extLst>
              <a:ext uri="{FF2B5EF4-FFF2-40B4-BE49-F238E27FC236}">
                <a16:creationId xmlns:a16="http://schemas.microsoft.com/office/drawing/2014/main" id="{8B2E102B-9687-40F3-8268-15C663E04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513" y="5732463"/>
            <a:ext cx="5976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生成元：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1;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子群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, n =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0,1,</a:t>
            </a:r>
            <a:r>
              <a:rPr lang="en-US" altLang="zh-CN" sz="2400" b="1">
                <a:sym typeface="Symbol" panose="05050102010706020507" pitchFamily="18" charset="2"/>
              </a:rPr>
              <a:t>…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381960" name="Rectangle 8">
            <a:extLst>
              <a:ext uri="{FF2B5EF4-FFF2-40B4-BE49-F238E27FC236}">
                <a16:creationId xmlns:a16="http://schemas.microsoft.com/office/drawing/2014/main" id="{EB099B9C-6979-4065-8B23-142B98B39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221163"/>
            <a:ext cx="7489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(3) 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&gt;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为无限循环群，求生成元和子群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1961" name="Rectangle 9">
            <a:extLst>
              <a:ext uri="{FF2B5EF4-FFF2-40B4-BE49-F238E27FC236}">
                <a16:creationId xmlns:a16="http://schemas.microsoft.com/office/drawing/2014/main" id="{3B102118-D65C-430C-BDA0-A508AB78A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4724400"/>
            <a:ext cx="6335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生成元为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 a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；子群为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&lt;a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i =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0,1,2,</a:t>
            </a:r>
            <a:r>
              <a:rPr lang="en-US" altLang="zh-CN" sz="2400" b="1">
                <a:sym typeface="Symbol" panose="05050102010706020507" pitchFamily="18" charset="2"/>
              </a:rPr>
              <a:t>…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1962" name="Rectangle 10">
            <a:extLst>
              <a:ext uri="{FF2B5EF4-FFF2-40B4-BE49-F238E27FC236}">
                <a16:creationId xmlns:a16="http://schemas.microsoft.com/office/drawing/2014/main" id="{48750B37-A700-4B06-BEFB-48FAB569C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229225"/>
            <a:ext cx="6408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(4)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G = &lt;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,+ &gt;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，求生成元和子群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1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1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1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1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1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1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1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1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1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1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1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1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5" grpId="0"/>
      <p:bldP spid="381956" grpId="0"/>
      <p:bldP spid="381957" grpId="0"/>
      <p:bldP spid="381958" grpId="0"/>
      <p:bldP spid="381959" grpId="0"/>
      <p:bldP spid="381960" grpId="0"/>
      <p:bldP spid="381961" grpId="0"/>
      <p:bldP spid="3819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2C991BED-83EE-47B3-9583-F77DC156A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17.4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变换群与置换群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C3FE1500-42E1-4210-830E-7D78199E97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b="1"/>
              <a:t>变换群</a:t>
            </a:r>
          </a:p>
          <a:p>
            <a:pPr lvl="1" eaLnBrk="1" hangingPunct="1"/>
            <a:r>
              <a:rPr lang="zh-CN" altLang="en-US" b="1"/>
              <a:t>变换群的定义</a:t>
            </a:r>
          </a:p>
          <a:p>
            <a:pPr lvl="1" eaLnBrk="1" hangingPunct="1"/>
            <a:r>
              <a:rPr lang="zh-CN" altLang="en-US" b="1"/>
              <a:t>变换群的实例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/>
              <a:t>元置换群</a:t>
            </a:r>
          </a:p>
          <a:p>
            <a:pPr lvl="1" eaLnBrk="1" hangingPunct="1"/>
            <a:r>
              <a:rPr lang="zh-CN" altLang="en-US" b="1"/>
              <a:t>置换的表示</a:t>
            </a:r>
          </a:p>
          <a:p>
            <a:pPr lvl="1" eaLnBrk="1" hangingPunct="1"/>
            <a:r>
              <a:rPr lang="zh-CN" altLang="en-US" b="1"/>
              <a:t>置换的乘法和求逆运算</a:t>
            </a:r>
          </a:p>
          <a:p>
            <a:pPr lvl="1" eaLnBrk="1" hangingPunct="1"/>
            <a:r>
              <a:rPr lang="zh-CN" altLang="en-US" b="1"/>
              <a:t>置换群中元素的阶与子群</a:t>
            </a:r>
          </a:p>
          <a:p>
            <a:pPr lvl="1" eaLnBrk="1" hangingPunct="1"/>
            <a:r>
              <a:rPr lang="zh-CN" altLang="en-US" b="1"/>
              <a:t>置换群的实例</a:t>
            </a:r>
          </a:p>
        </p:txBody>
      </p:sp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B3A9B99F-8C50-4596-9987-29EFFEC5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393C60-6885-4A74-A75F-BF634F8710D5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848326F9-276B-40CF-87CB-38C9FAE96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变换群</a:t>
            </a:r>
          </a:p>
        </p:txBody>
      </p:sp>
      <p:sp>
        <p:nvSpPr>
          <p:cNvPr id="13316" name="内容占位符 4">
            <a:extLst>
              <a:ext uri="{FF2B5EF4-FFF2-40B4-BE49-F238E27FC236}">
                <a16:creationId xmlns:a16="http://schemas.microsoft.com/office/drawing/2014/main" id="{C42FEA84-DDFC-47AB-8036-01A27D676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279525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变换群的定义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上的变换：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上的一一变换：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双射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上的一一变换群：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{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|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为双射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关于变换乘法构成群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上的变换群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G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为群，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，令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f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，则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为一一变换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H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关于变换乘法构成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上的变换群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H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F72CBC77-1228-486A-B50B-A2B74598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7D3894-7F1D-428E-BCEF-A5EBAFAA395E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>
            <a:extLst>
              <a:ext uri="{FF2B5EF4-FFF2-40B4-BE49-F238E27FC236}">
                <a16:creationId xmlns:a16="http://schemas.microsoft.com/office/drawing/2014/main" id="{481B00A5-2DC7-4681-941C-0A2DC69A8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变换群的实例</a:t>
            </a:r>
          </a:p>
        </p:txBody>
      </p:sp>
      <p:sp>
        <p:nvSpPr>
          <p:cNvPr id="14338" name="内容占位符 4">
            <a:extLst>
              <a:ext uri="{FF2B5EF4-FFF2-40B4-BE49-F238E27FC236}">
                <a16:creationId xmlns:a16="http://schemas.microsoft.com/office/drawing/2014/main" id="{49C83DBF-2F39-4236-AA26-7C8483065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268413"/>
            <a:ext cx="8229600" cy="45259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例如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G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e, a, b, c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e,e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a,a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b,b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c,c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f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e,a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a,e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c,b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e,b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a,c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c,a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b,a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c,e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思考：怎样证明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同构于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与独异点的表示定理进行比较 </a:t>
            </a:r>
          </a:p>
        </p:txBody>
      </p:sp>
      <p:sp>
        <p:nvSpPr>
          <p:cNvPr id="15363" name="灯片编号占位符 2">
            <a:extLst>
              <a:ext uri="{FF2B5EF4-FFF2-40B4-BE49-F238E27FC236}">
                <a16:creationId xmlns:a16="http://schemas.microsoft.com/office/drawing/2014/main" id="{487D79FA-7BCA-4AFD-9EDC-043E886F2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86532F-AC79-4313-8A0B-838D2E6F958D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A87A1D51-3B6B-4D71-9D01-4831990175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元置换群</a:t>
            </a:r>
          </a:p>
        </p:txBody>
      </p:sp>
      <p:sp>
        <p:nvSpPr>
          <p:cNvPr id="15363" name="内容占位符 4">
            <a:extLst>
              <a:ext uri="{FF2B5EF4-FFF2-40B4-BE49-F238E27FC236}">
                <a16:creationId xmlns:a16="http://schemas.microsoft.com/office/drawing/2014/main" id="{7473081A-367B-4DFB-BAFF-1911DDA7E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上的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元置换：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上的一一变换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表示法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(1)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置换的表示法：令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1, 2, …,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(2)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不交轮换的分解式：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其中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…,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为不交轮换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(3)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对换分解式：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对换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j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(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j i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… 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16388" name="灯片编号占位符 4">
            <a:extLst>
              <a:ext uri="{FF2B5EF4-FFF2-40B4-BE49-F238E27FC236}">
                <a16:creationId xmlns:a16="http://schemas.microsoft.com/office/drawing/2014/main" id="{F5EAE5F3-288C-4298-AA29-EF3E8CA22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4391AE-2DF8-43E1-A2D8-E962CF0FA913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9517C04F-B9B4-4BFE-A840-84EF90DBC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元置换的轮换表示</a:t>
            </a:r>
          </a:p>
        </p:txBody>
      </p:sp>
      <p:sp>
        <p:nvSpPr>
          <p:cNvPr id="16387" name="内容占位符 4">
            <a:extLst>
              <a:ext uri="{FF2B5EF4-FFF2-40B4-BE49-F238E27FC236}">
                <a16:creationId xmlns:a16="http://schemas.microsoft.com/office/drawing/2014/main" id="{E42163A0-1102-4CDC-BE08-41AB302E4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686800" cy="14716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任何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元置换都可以表成不交的轮换之积，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并且表法是唯一的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即：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 = {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/>
          </a:p>
        </p:txBody>
      </p:sp>
      <p:sp>
        <p:nvSpPr>
          <p:cNvPr id="17412" name="灯片编号占位符 4">
            <a:extLst>
              <a:ext uri="{FF2B5EF4-FFF2-40B4-BE49-F238E27FC236}">
                <a16:creationId xmlns:a16="http://schemas.microsoft.com/office/drawing/2014/main" id="{48732143-4270-40D5-AEEC-B9DBF00B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887A7ED-5F03-4334-B096-AB5CE7F7E327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97EB5567-9537-4DEF-A957-FC7869B0C36D}"/>
              </a:ext>
            </a:extLst>
          </p:cNvPr>
          <p:cNvSpPr txBox="1">
            <a:spLocks/>
          </p:cNvSpPr>
          <p:nvPr/>
        </p:nvSpPr>
        <p:spPr bwMode="auto">
          <a:xfrm>
            <a:off x="571500" y="2924175"/>
            <a:ext cx="8229600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证明思路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(1)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可以表成不交的轮换之积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 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对改变的文字个数归纳证明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(2)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唯一性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假设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                      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…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sz="2400" b="1" i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t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,  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</a:t>
            </a:r>
            <a:r>
              <a:rPr lang="en-US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</a:t>
            </a:r>
            <a:r>
              <a:rPr lang="en-US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…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</a:t>
            </a:r>
            <a:r>
              <a:rPr lang="en-US" sz="2400" b="1" i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令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X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 {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1,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2,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… ,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sz="2400" b="1" i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t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},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Y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 {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</a:t>
            </a:r>
            <a:r>
              <a:rPr lang="en-US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1,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</a:t>
            </a:r>
            <a:r>
              <a:rPr lang="en-US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2,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… ,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</a:t>
            </a:r>
            <a:r>
              <a:rPr lang="en-US" sz="2400" b="1" i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l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}  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任取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sz="2400" b="1" i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j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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,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sz="2400" b="1" i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j 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 (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… </a:t>
            </a:r>
            <a:r>
              <a:rPr lang="en-US" sz="2400" b="1" i="1" kern="0" dirty="0" err="1">
                <a:latin typeface="Times New Roman" pitchFamily="18" charset="0"/>
                <a:ea typeface="+mn-ea"/>
                <a:cs typeface="Times New Roman" pitchFamily="18" charset="0"/>
              </a:rPr>
              <a:t>i</a:t>
            </a:r>
            <a:r>
              <a:rPr lang="en-US" sz="2400" b="1" i="1" kern="0" baseline="-25000" dirty="0" err="1"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),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m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&gt;1,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证明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</a:t>
            </a:r>
            <a:r>
              <a:rPr lang="en-US" sz="2400" b="1" i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s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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Y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使得 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</a:t>
            </a:r>
            <a:r>
              <a:rPr lang="en-US" sz="2400" b="1" i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j 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=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</a:t>
            </a:r>
            <a:r>
              <a:rPr lang="en-US" sz="2400" b="1" i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s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，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从而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X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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Y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同理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Y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/>
              </a:rPr>
              <a:t> </a:t>
            </a:r>
            <a:r>
              <a:rPr lang="en-US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.   </a:t>
            </a:r>
            <a:endParaRPr lang="zh-CN" altLang="en-US" sz="2800" b="1" kern="0" dirty="0">
              <a:solidFill>
                <a:schemeClr val="tx2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>
            <a:extLst>
              <a:ext uri="{FF2B5EF4-FFF2-40B4-BE49-F238E27FC236}">
                <a16:creationId xmlns:a16="http://schemas.microsoft.com/office/drawing/2014/main" id="{56C54801-68FC-4AF7-BD1F-F324BC2C3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元置换的轮换指数</a:t>
            </a:r>
          </a:p>
        </p:txBody>
      </p:sp>
      <p:sp>
        <p:nvSpPr>
          <p:cNvPr id="3077" name="内容占位符 4">
            <a:extLst>
              <a:ext uri="{FF2B5EF4-FFF2-40B4-BE49-F238E27FC236}">
                <a16:creationId xmlns:a16="http://schemas.microsoft.com/office/drawing/2014/main" id="{69965C9F-05F3-4639-8D49-3C288402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346200"/>
            <a:ext cx="82296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轮换指数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轮换的个数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例如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指数为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1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不同指数的个数是如下方程的非负整数解的个数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… +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nx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例如：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={1,2,3}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上的置换  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=(1),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=(1 2),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=(1 3),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=(2 3)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=(1 2 3),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=(1 3 2)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轮换指数为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1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3078" name="灯片编号占位符 4">
            <a:extLst>
              <a:ext uri="{FF2B5EF4-FFF2-40B4-BE49-F238E27FC236}">
                <a16:creationId xmlns:a16="http://schemas.microsoft.com/office/drawing/2014/main" id="{B146FD5D-35F1-4338-93CC-696089E1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082FEDF-8867-4A07-877F-A74937EC68C5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9" name="Rectangle 6">
            <a:extLst>
              <a:ext uri="{FF2B5EF4-FFF2-40B4-BE49-F238E27FC236}">
                <a16:creationId xmlns:a16="http://schemas.microsoft.com/office/drawing/2014/main" id="{B7BEB7D7-6A9E-48FC-8130-ECB79DF30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4" name="Object 5">
            <a:extLst>
              <a:ext uri="{FF2B5EF4-FFF2-40B4-BE49-F238E27FC236}">
                <a16:creationId xmlns:a16="http://schemas.microsoft.com/office/drawing/2014/main" id="{97AB4B9D-6FEC-4DBC-B05E-FC1BB50C5C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1344613"/>
          <a:ext cx="28114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公式" r:id="rId4" imgW="1168200" imgH="241200" progId="Equation.3">
                  <p:embed/>
                </p:oleObj>
              </mc:Choice>
              <mc:Fallback>
                <p:oleObj name="公式" r:id="rId4" imgW="116820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1344613"/>
                        <a:ext cx="281146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Rectangle 8">
            <a:extLst>
              <a:ext uri="{FF2B5EF4-FFF2-40B4-BE49-F238E27FC236}">
                <a16:creationId xmlns:a16="http://schemas.microsoft.com/office/drawing/2014/main" id="{B7FF84FA-73B6-4992-A87B-7D262C31E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5" name="Object 7">
            <a:extLst>
              <a:ext uri="{FF2B5EF4-FFF2-40B4-BE49-F238E27FC236}">
                <a16:creationId xmlns:a16="http://schemas.microsoft.com/office/drawing/2014/main" id="{2BF65026-9986-418C-A554-D1713EDC5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1924050"/>
          <a:ext cx="39052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公式" r:id="rId6" imgW="1955800" imgH="431800" progId="Equation.3">
                  <p:embed/>
                </p:oleObj>
              </mc:Choice>
              <mc:Fallback>
                <p:oleObj name="公式" r:id="rId6" imgW="19558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1924050"/>
                        <a:ext cx="390525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F6BC9BD0-F623-42E0-A4FB-07BFEDF174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元置换的对换表示</a:t>
            </a:r>
          </a:p>
        </p:txBody>
      </p:sp>
      <p:sp>
        <p:nvSpPr>
          <p:cNvPr id="17411" name="内容占位符 4">
            <a:extLst>
              <a:ext uri="{FF2B5EF4-FFF2-40B4-BE49-F238E27FC236}">
                <a16:creationId xmlns:a16="http://schemas.microsoft.com/office/drawing/2014/main" id="{C193A8C8-159D-4A6D-A24C-E7A0BBAB8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任意轮换都可以表成对换之积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对换可以有交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表法不唯一，但是对换个数的奇偶性不变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奇置换、偶置换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奇置换：表成奇数个对换之积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偶置换：表成偶数个对换之积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奇置换与偶置换之间存在一一对应，因此各有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! / 2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18436" name="灯片编号占位符 4">
            <a:extLst>
              <a:ext uri="{FF2B5EF4-FFF2-40B4-BE49-F238E27FC236}">
                <a16:creationId xmlns:a16="http://schemas.microsoft.com/office/drawing/2014/main" id="{57AA6063-C657-4134-8A10-36C95056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065404-B9DC-4CAE-9E09-A81F8CAD2D09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D64CFE27-0B38-4E90-BBEE-58B59AC1D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置换的乘法与求逆</a:t>
            </a:r>
          </a:p>
        </p:txBody>
      </p:sp>
      <p:sp>
        <p:nvSpPr>
          <p:cNvPr id="18435" name="内容占位符 4">
            <a:extLst>
              <a:ext uri="{FF2B5EF4-FFF2-40B4-BE49-F238E27FC236}">
                <a16:creationId xmlns:a16="http://schemas.microsoft.com/office/drawing/2014/main" id="{618F4385-A92A-40B1-9839-CAA3F57DD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置换的乘法：函数的合成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例如：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元置换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(132)(5648)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(18246573),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 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(15728) (3) (4) (6) = (15728)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置换求逆：求反函数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(132) (5648)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(8465) (231),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{ 1, 2, … 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上所有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元置换的集合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关于置换乘法构成群，称为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元对称群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的子群称为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元置换群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例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元对称群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(1), (12), (13), (23), (123), (132) }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3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元交代群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(1), (123), (132) }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灯片编号占位符 4">
            <a:extLst>
              <a:ext uri="{FF2B5EF4-FFF2-40B4-BE49-F238E27FC236}">
                <a16:creationId xmlns:a16="http://schemas.microsoft.com/office/drawing/2014/main" id="{EBAAC136-AF13-4D9A-822D-783482683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570DD57-D9A5-4272-B4A7-A14BCF0D59C1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840BF1D8-2B95-4D51-8184-32715EDB7C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57885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置换群中元素的阶与子群</a:t>
            </a:r>
          </a:p>
        </p:txBody>
      </p:sp>
      <p:sp>
        <p:nvSpPr>
          <p:cNvPr id="19459" name="内容占位符 5">
            <a:extLst>
              <a:ext uri="{FF2B5EF4-FFF2-40B4-BE49-F238E27FC236}">
                <a16:creationId xmlns:a16="http://schemas.microsoft.com/office/drawing/2014/main" id="{A5E23B39-7216-4DA9-B2C6-3DAC046F0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元素的阶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阶轮换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的阶为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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是不交轮换的分解式，则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|=[|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|,|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|,…,|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|]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子群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{(1)},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元交代群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例如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子群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&lt; (1) &gt;,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&lt; (12) &gt;, &lt; (13) &gt;,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&lt; (23) &gt;,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&lt; (123) &gt;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20484" name="灯片编号占位符 4">
            <a:extLst>
              <a:ext uri="{FF2B5EF4-FFF2-40B4-BE49-F238E27FC236}">
                <a16:creationId xmlns:a16="http://schemas.microsoft.com/office/drawing/2014/main" id="{1D528644-EC72-4EB4-9A97-A17600B7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512E43-3AF1-403F-9345-76CD0F4462D5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19461" name="Picture 4" descr="图形11">
            <a:extLst>
              <a:ext uri="{FF2B5EF4-FFF2-40B4-BE49-F238E27FC236}">
                <a16:creationId xmlns:a16="http://schemas.microsoft.com/office/drawing/2014/main" id="{6E972039-3162-45FD-89CD-6CF858221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513" y="3068638"/>
            <a:ext cx="410527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>
            <a:extLst>
              <a:ext uri="{FF2B5EF4-FFF2-40B4-BE49-F238E27FC236}">
                <a16:creationId xmlns:a16="http://schemas.microsoft.com/office/drawing/2014/main" id="{2385F6DA-17DD-4A64-83AE-D72627B36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置换群的实例</a:t>
            </a:r>
          </a:p>
        </p:txBody>
      </p:sp>
      <p:sp>
        <p:nvSpPr>
          <p:cNvPr id="4099" name="灯片编号占位符 4">
            <a:extLst>
              <a:ext uri="{FF2B5EF4-FFF2-40B4-BE49-F238E27FC236}">
                <a16:creationId xmlns:a16="http://schemas.microsoft.com/office/drawing/2014/main" id="{515163CD-3F7B-4E67-B066-32AF4FB4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52EAC2B-3C9B-4468-A3CE-3E0E3B38A845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42010784-4839-450B-8373-0081D56524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088" y="1196975"/>
          <a:ext cx="7373937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Document" r:id="rId4" imgW="3438723" imgH="2246869" progId="Word.Document.8">
                  <p:embed/>
                </p:oleObj>
              </mc:Choice>
              <mc:Fallback>
                <p:oleObj name="Document" r:id="rId4" imgW="3438723" imgH="224686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1196975"/>
                        <a:ext cx="7373937" cy="484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2172DBF8-B57D-4E71-B901-6CEF70AEB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不同构的图的计数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2CD3CB5-3C14-46A6-A084-0A32EE05CC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3213" y="1196975"/>
            <a:ext cx="5565775" cy="16557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</a:rPr>
              <a:t>= {(1),(12),(13),(23),(123),(132)}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对三角形的边着黑红两色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方案数对应了</a:t>
            </a:r>
            <a:r>
              <a:rPr lang="en-US" altLang="zh-CN" sz="2400" b="1">
                <a:latin typeface="Times New Roman" panose="02020603050405020304" pitchFamily="18" charset="0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</a:rPr>
              <a:t>顶点不同构的图的个数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6C66EA18-6966-4ED1-9742-C86C83EA4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27BD8A-B58A-42B4-8CED-F697442F340C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20485" name="Group 4">
            <a:extLst>
              <a:ext uri="{FF2B5EF4-FFF2-40B4-BE49-F238E27FC236}">
                <a16:creationId xmlns:a16="http://schemas.microsoft.com/office/drawing/2014/main" id="{1ED0673D-99E7-4A47-8FA9-5ECC540A94A8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1341438"/>
            <a:ext cx="1512887" cy="1296987"/>
            <a:chOff x="703" y="1298"/>
            <a:chExt cx="953" cy="817"/>
          </a:xfrm>
        </p:grpSpPr>
        <p:sp>
          <p:nvSpPr>
            <p:cNvPr id="20513" name="AutoShape 5">
              <a:extLst>
                <a:ext uri="{FF2B5EF4-FFF2-40B4-BE49-F238E27FC236}">
                  <a16:creationId xmlns:a16="http://schemas.microsoft.com/office/drawing/2014/main" id="{C06E0A55-5FDC-4E0B-8565-A91B8B0E4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344"/>
              <a:ext cx="862" cy="726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14" name="Oval 6">
              <a:extLst>
                <a:ext uri="{FF2B5EF4-FFF2-40B4-BE49-F238E27FC236}">
                  <a16:creationId xmlns:a16="http://schemas.microsoft.com/office/drawing/2014/main" id="{A969B6D9-68AD-4021-BCDA-A79D8E33F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2024"/>
              <a:ext cx="91" cy="9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15" name="Oval 7">
              <a:extLst>
                <a:ext uri="{FF2B5EF4-FFF2-40B4-BE49-F238E27FC236}">
                  <a16:creationId xmlns:a16="http://schemas.microsoft.com/office/drawing/2014/main" id="{67269C37-1747-41EE-855F-E9D9A5ECF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025"/>
              <a:ext cx="91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16" name="Oval 8">
              <a:extLst>
                <a:ext uri="{FF2B5EF4-FFF2-40B4-BE49-F238E27FC236}">
                  <a16:creationId xmlns:a16="http://schemas.microsoft.com/office/drawing/2014/main" id="{B6489987-9B87-47D3-8722-222B695DF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1298"/>
              <a:ext cx="91" cy="9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0486" name="Group 9">
            <a:extLst>
              <a:ext uri="{FF2B5EF4-FFF2-40B4-BE49-F238E27FC236}">
                <a16:creationId xmlns:a16="http://schemas.microsoft.com/office/drawing/2014/main" id="{0A3F6635-65DA-49CA-83BE-F7496DE547A8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213100"/>
            <a:ext cx="3600450" cy="2881313"/>
            <a:chOff x="975" y="2160"/>
            <a:chExt cx="2268" cy="1815"/>
          </a:xfrm>
        </p:grpSpPr>
        <p:grpSp>
          <p:nvGrpSpPr>
            <p:cNvPr id="20489" name="Group 10">
              <a:extLst>
                <a:ext uri="{FF2B5EF4-FFF2-40B4-BE49-F238E27FC236}">
                  <a16:creationId xmlns:a16="http://schemas.microsoft.com/office/drawing/2014/main" id="{DBE62EBB-9AFD-4D6A-8465-4881F3E73F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" y="2160"/>
              <a:ext cx="953" cy="817"/>
              <a:chOff x="975" y="2523"/>
              <a:chExt cx="953" cy="817"/>
            </a:xfrm>
          </p:grpSpPr>
          <p:grpSp>
            <p:nvGrpSpPr>
              <p:cNvPr id="20507" name="Group 11">
                <a:extLst>
                  <a:ext uri="{FF2B5EF4-FFF2-40B4-BE49-F238E27FC236}">
                    <a16:creationId xmlns:a16="http://schemas.microsoft.com/office/drawing/2014/main" id="{AD0D5026-083E-4A35-BE79-2A66DD34D3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5" y="2523"/>
                <a:ext cx="953" cy="817"/>
                <a:chOff x="703" y="1298"/>
                <a:chExt cx="953" cy="817"/>
              </a:xfrm>
            </p:grpSpPr>
            <p:sp>
              <p:nvSpPr>
                <p:cNvPr id="20509" name="AutoShape 12">
                  <a:extLst>
                    <a:ext uri="{FF2B5EF4-FFF2-40B4-BE49-F238E27FC236}">
                      <a16:creationId xmlns:a16="http://schemas.microsoft.com/office/drawing/2014/main" id="{4E49FA9E-8365-418D-A118-FFF733905B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344"/>
                  <a:ext cx="862" cy="726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510" name="Oval 13">
                  <a:extLst>
                    <a:ext uri="{FF2B5EF4-FFF2-40B4-BE49-F238E27FC236}">
                      <a16:creationId xmlns:a16="http://schemas.microsoft.com/office/drawing/2014/main" id="{1F64EF60-1ECE-4CCC-AD2E-DE8E20AACA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03" y="2024"/>
                  <a:ext cx="91" cy="9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511" name="Oval 14">
                  <a:extLst>
                    <a:ext uri="{FF2B5EF4-FFF2-40B4-BE49-F238E27FC236}">
                      <a16:creationId xmlns:a16="http://schemas.microsoft.com/office/drawing/2014/main" id="{965D802D-7450-41D5-B587-C732AC4AB1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5" y="2025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512" name="Oval 15">
                  <a:extLst>
                    <a:ext uri="{FF2B5EF4-FFF2-40B4-BE49-F238E27FC236}">
                      <a16:creationId xmlns:a16="http://schemas.microsoft.com/office/drawing/2014/main" id="{0A364989-5868-48D8-AB46-1DAA903F16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1" y="1298"/>
                  <a:ext cx="91" cy="9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0508" name="Line 16">
                <a:extLst>
                  <a:ext uri="{FF2B5EF4-FFF2-40B4-BE49-F238E27FC236}">
                    <a16:creationId xmlns:a16="http://schemas.microsoft.com/office/drawing/2014/main" id="{A90A2403-294C-48DB-B847-47909109D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2614"/>
                <a:ext cx="408" cy="6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490" name="Group 17">
              <a:extLst>
                <a:ext uri="{FF2B5EF4-FFF2-40B4-BE49-F238E27FC236}">
                  <a16:creationId xmlns:a16="http://schemas.microsoft.com/office/drawing/2014/main" id="{F77B51AB-C490-441D-9104-1387009FBA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0" y="2160"/>
              <a:ext cx="953" cy="817"/>
              <a:chOff x="2427" y="2433"/>
              <a:chExt cx="953" cy="817"/>
            </a:xfrm>
          </p:grpSpPr>
          <p:grpSp>
            <p:nvGrpSpPr>
              <p:cNvPr id="20501" name="Group 18">
                <a:extLst>
                  <a:ext uri="{FF2B5EF4-FFF2-40B4-BE49-F238E27FC236}">
                    <a16:creationId xmlns:a16="http://schemas.microsoft.com/office/drawing/2014/main" id="{9C484ECC-CB36-44F7-90ED-7C3319A196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7" y="2433"/>
                <a:ext cx="953" cy="817"/>
                <a:chOff x="703" y="1298"/>
                <a:chExt cx="953" cy="817"/>
              </a:xfrm>
            </p:grpSpPr>
            <p:sp>
              <p:nvSpPr>
                <p:cNvPr id="20503" name="AutoShape 19">
                  <a:extLst>
                    <a:ext uri="{FF2B5EF4-FFF2-40B4-BE49-F238E27FC236}">
                      <a16:creationId xmlns:a16="http://schemas.microsoft.com/office/drawing/2014/main" id="{7C435587-9D1F-4551-9B34-8589942A6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344"/>
                  <a:ext cx="862" cy="726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504" name="Oval 20">
                  <a:extLst>
                    <a:ext uri="{FF2B5EF4-FFF2-40B4-BE49-F238E27FC236}">
                      <a16:creationId xmlns:a16="http://schemas.microsoft.com/office/drawing/2014/main" id="{EA4985DC-2CFC-4D8A-B376-3E1A22515A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03" y="2024"/>
                  <a:ext cx="91" cy="9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505" name="Oval 21">
                  <a:extLst>
                    <a:ext uri="{FF2B5EF4-FFF2-40B4-BE49-F238E27FC236}">
                      <a16:creationId xmlns:a16="http://schemas.microsoft.com/office/drawing/2014/main" id="{CF76893B-FA60-43D2-8338-7744B198EC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5" y="2025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506" name="Oval 22">
                  <a:extLst>
                    <a:ext uri="{FF2B5EF4-FFF2-40B4-BE49-F238E27FC236}">
                      <a16:creationId xmlns:a16="http://schemas.microsoft.com/office/drawing/2014/main" id="{57710764-C483-4DCB-AF11-188CF29BEE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1" y="1298"/>
                  <a:ext cx="91" cy="9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0502" name="Line 23">
                <a:extLst>
                  <a:ext uri="{FF2B5EF4-FFF2-40B4-BE49-F238E27FC236}">
                    <a16:creationId xmlns:a16="http://schemas.microsoft.com/office/drawing/2014/main" id="{8F9F6136-C803-405D-8E13-10CD4BAC0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17" y="3204"/>
                <a:ext cx="817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491" name="Group 24">
              <a:extLst>
                <a:ext uri="{FF2B5EF4-FFF2-40B4-BE49-F238E27FC236}">
                  <a16:creationId xmlns:a16="http://schemas.microsoft.com/office/drawing/2014/main" id="{9FE9E041-EC5B-49BE-A6AA-61C6940D4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0" y="3158"/>
              <a:ext cx="953" cy="817"/>
              <a:chOff x="3696" y="2478"/>
              <a:chExt cx="953" cy="817"/>
            </a:xfrm>
          </p:grpSpPr>
          <p:grpSp>
            <p:nvGrpSpPr>
              <p:cNvPr id="20495" name="Group 25">
                <a:extLst>
                  <a:ext uri="{FF2B5EF4-FFF2-40B4-BE49-F238E27FC236}">
                    <a16:creationId xmlns:a16="http://schemas.microsoft.com/office/drawing/2014/main" id="{7321B4FA-0777-408E-B51A-2A827AF959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2478"/>
                <a:ext cx="953" cy="817"/>
                <a:chOff x="703" y="1298"/>
                <a:chExt cx="953" cy="817"/>
              </a:xfrm>
            </p:grpSpPr>
            <p:sp>
              <p:nvSpPr>
                <p:cNvPr id="20497" name="AutoShape 26">
                  <a:extLst>
                    <a:ext uri="{FF2B5EF4-FFF2-40B4-BE49-F238E27FC236}">
                      <a16:creationId xmlns:a16="http://schemas.microsoft.com/office/drawing/2014/main" id="{EF75FD8E-5696-4BAC-AAB0-E8DF395084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344"/>
                  <a:ext cx="862" cy="726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FFFFF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498" name="Oval 27">
                  <a:extLst>
                    <a:ext uri="{FF2B5EF4-FFF2-40B4-BE49-F238E27FC236}">
                      <a16:creationId xmlns:a16="http://schemas.microsoft.com/office/drawing/2014/main" id="{3293E723-BB2B-45D3-87A8-4DEF498BBB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03" y="2024"/>
                  <a:ext cx="91" cy="9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499" name="Oval 28">
                  <a:extLst>
                    <a:ext uri="{FF2B5EF4-FFF2-40B4-BE49-F238E27FC236}">
                      <a16:creationId xmlns:a16="http://schemas.microsoft.com/office/drawing/2014/main" id="{7A8623DD-DC6C-4DED-BEE7-E8023BF865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5" y="2025"/>
                  <a:ext cx="91" cy="9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20500" name="Oval 29">
                  <a:extLst>
                    <a:ext uri="{FF2B5EF4-FFF2-40B4-BE49-F238E27FC236}">
                      <a16:creationId xmlns:a16="http://schemas.microsoft.com/office/drawing/2014/main" id="{5C9F2F5F-57BD-4269-A990-C5C9E17989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1" y="1298"/>
                  <a:ext cx="91" cy="9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0496" name="Line 30">
                <a:extLst>
                  <a:ext uri="{FF2B5EF4-FFF2-40B4-BE49-F238E27FC236}">
                    <a16:creationId xmlns:a16="http://schemas.microsoft.com/office/drawing/2014/main" id="{213E3834-C5C0-4698-87DB-2C0AA002B2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2" y="2568"/>
                <a:ext cx="408" cy="68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492" name="AutoShape 31">
              <a:extLst>
                <a:ext uri="{FF2B5EF4-FFF2-40B4-BE49-F238E27FC236}">
                  <a16:creationId xmlns:a16="http://schemas.microsoft.com/office/drawing/2014/main" id="{53EC1DAE-4D5D-4709-A536-483138091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432"/>
              <a:ext cx="499" cy="136"/>
            </a:xfrm>
            <a:prstGeom prst="rightArrow">
              <a:avLst>
                <a:gd name="adj1" fmla="val 50000"/>
                <a:gd name="adj2" fmla="val 9172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93" name="AutoShape 32">
              <a:extLst>
                <a:ext uri="{FF2B5EF4-FFF2-40B4-BE49-F238E27FC236}">
                  <a16:creationId xmlns:a16="http://schemas.microsoft.com/office/drawing/2014/main" id="{FB6B8546-DD88-4814-B880-67DEF5943A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343635">
              <a:off x="2426" y="3249"/>
              <a:ext cx="499" cy="136"/>
            </a:xfrm>
            <a:prstGeom prst="rightArrow">
              <a:avLst>
                <a:gd name="adj1" fmla="val 50000"/>
                <a:gd name="adj2" fmla="val 9172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94" name="AutoShape 33">
              <a:extLst>
                <a:ext uri="{FF2B5EF4-FFF2-40B4-BE49-F238E27FC236}">
                  <a16:creationId xmlns:a16="http://schemas.microsoft.com/office/drawing/2014/main" id="{F753DAC9-AA81-46F4-BCD8-C0C062B0D4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551619">
              <a:off x="1247" y="3204"/>
              <a:ext cx="499" cy="136"/>
            </a:xfrm>
            <a:prstGeom prst="rightArrow">
              <a:avLst>
                <a:gd name="adj1" fmla="val 50000"/>
                <a:gd name="adj2" fmla="val 9172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0487" name="Text Box 34">
            <a:extLst>
              <a:ext uri="{FF2B5EF4-FFF2-40B4-BE49-F238E27FC236}">
                <a16:creationId xmlns:a16="http://schemas.microsoft.com/office/drawing/2014/main" id="{95AC7193-B1F7-47CB-9261-1B01D436F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5084763"/>
            <a:ext cx="29416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着色方案构成的轮换</a:t>
            </a:r>
          </a:p>
          <a:p>
            <a:pPr eaLnBrk="1" hangingPunct="1"/>
            <a:endParaRPr lang="en-US" altLang="zh-CN" sz="2400" b="1"/>
          </a:p>
        </p:txBody>
      </p:sp>
      <p:sp>
        <p:nvSpPr>
          <p:cNvPr id="20488" name="Text Box 35">
            <a:extLst>
              <a:ext uri="{FF2B5EF4-FFF2-40B4-BE49-F238E27FC236}">
                <a16:creationId xmlns:a16="http://schemas.microsoft.com/office/drawing/2014/main" id="{A7AD8DA3-77B0-489C-8BDC-40A5DC4E7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713" y="3068638"/>
            <a:ext cx="40814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在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/>
              <a:t>的作用下着色方案计数，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用</a:t>
            </a:r>
            <a:r>
              <a:rPr lang="en-US" altLang="zh-CN" sz="2400"/>
              <a:t>Polya</a:t>
            </a:r>
            <a:r>
              <a:rPr lang="zh-CN" altLang="en-US" sz="2400" b="1"/>
              <a:t>定理</a:t>
            </a:r>
            <a:r>
              <a:rPr lang="en-US" altLang="zh-CN" sz="2400" b="1"/>
              <a:t>(</a:t>
            </a:r>
            <a:r>
              <a:rPr lang="zh-CN" altLang="en-US" sz="2400" b="1"/>
              <a:t>第</a:t>
            </a:r>
            <a:r>
              <a:rPr lang="en-US" altLang="zh-CN" sz="2400"/>
              <a:t>23</a:t>
            </a:r>
            <a:r>
              <a:rPr lang="zh-CN" altLang="en-US" sz="2400" b="1"/>
              <a:t>章</a:t>
            </a:r>
            <a:r>
              <a:rPr lang="en-US" altLang="zh-CN" sz="2400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/>
              <a:t>可以得到方案数等于</a:t>
            </a:r>
            <a:r>
              <a:rPr lang="en-US" altLang="zh-CN" sz="2400"/>
              <a:t>4</a:t>
            </a:r>
            <a:r>
              <a:rPr lang="en-US" altLang="zh-CN" sz="2400" b="1"/>
              <a:t>. </a:t>
            </a:r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>
            <a:extLst>
              <a:ext uri="{FF2B5EF4-FFF2-40B4-BE49-F238E27FC236}">
                <a16:creationId xmlns:a16="http://schemas.microsoft.com/office/drawing/2014/main" id="{21D9A380-94F7-4676-BD16-353604612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2A8C5D-C121-4145-BB60-B8620E7C6C3B}" type="slidenum">
              <a:rPr lang="en-US" altLang="zh-CN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1507" name="Text Box 2">
            <a:extLst>
              <a:ext uri="{FF2B5EF4-FFF2-40B4-BE49-F238E27FC236}">
                <a16:creationId xmlns:a16="http://schemas.microsoft.com/office/drawing/2014/main" id="{6FB6C97C-298B-41D1-84C8-CEDAA84DE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268413"/>
            <a:ext cx="7056438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算法描述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    输入</a:t>
            </a:r>
            <a:r>
              <a:rPr lang="en-US" altLang="zh-CN" sz="2400" b="1" dirty="0">
                <a:latin typeface="Times New Roman" panose="02020603050405020304" pitchFamily="18" charset="0"/>
              </a:rPr>
              <a:t>: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dirty="0">
                <a:latin typeface="Times New Roman" panose="02020603050405020304" pitchFamily="18" charset="0"/>
              </a:rPr>
              <a:t> 1.</a:t>
            </a: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输出</a:t>
            </a:r>
            <a:r>
              <a:rPr lang="en-US" altLang="zh-CN" sz="2400" b="1" dirty="0"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</a:rPr>
              <a:t>按非递减顺序排序的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算法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bubbleSort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   1.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FLAG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        //  </a:t>
            </a:r>
            <a:r>
              <a:rPr lang="zh-CN" altLang="en-US" sz="2400" b="1" dirty="0">
                <a:latin typeface="Times New Roman" panose="02020603050405020304" pitchFamily="18" charset="0"/>
              </a:rPr>
              <a:t>标记被交换的最后元素位置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2.  while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FLAG</a:t>
            </a:r>
            <a:r>
              <a:rPr lang="en-US" altLang="zh-CN" sz="2400" b="1" dirty="0">
                <a:latin typeface="Times New Roman" panose="02020603050405020304" pitchFamily="18" charset="0"/>
              </a:rPr>
              <a:t> &gt; 1  do</a:t>
            </a: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   3.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FLAG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   4.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FLAG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latin typeface="Times New Roman" panose="02020603050405020304" pitchFamily="18" charset="0"/>
              </a:rPr>
              <a:t>1     </a:t>
            </a: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   5.     for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=1  to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k</a:t>
            </a:r>
            <a:r>
              <a:rPr lang="en-US" altLang="zh-CN" sz="2400" b="1" dirty="0">
                <a:latin typeface="Times New Roman" panose="02020603050405020304" pitchFamily="18" charset="0"/>
              </a:rPr>
              <a:t>  do</a:t>
            </a: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   6.         if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) &gt;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+1)  then  </a:t>
            </a: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   7.          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+1)</a:t>
            </a: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   8.          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FLAG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j</a:t>
            </a:r>
            <a:r>
              <a:rPr lang="en-US" altLang="zh-CN" sz="20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                 </a:t>
            </a:r>
          </a:p>
        </p:txBody>
      </p:sp>
      <p:sp>
        <p:nvSpPr>
          <p:cNvPr id="41988" name="Text Box 3">
            <a:extLst>
              <a:ext uri="{FF2B5EF4-FFF2-40B4-BE49-F238E27FC236}">
                <a16:creationId xmlns:a16="http://schemas.microsoft.com/office/drawing/2014/main" id="{6737D40A-4754-43E3-B653-A0BC5E0A5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60350"/>
            <a:ext cx="7993063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冒泡排序算法分析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E78DB56D-DE30-43AC-871B-2EE613BC9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175"/>
            <a:ext cx="8229600" cy="635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实例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7BCEDA2-40C5-4F65-9BDD-97978B53E5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8888" y="5359400"/>
            <a:ext cx="7545387" cy="5032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特点：交换发生在相邻元素之间</a:t>
            </a:r>
            <a:r>
              <a:rPr lang="en-US" altLang="zh-CN" sz="2400" b="1">
                <a:latin typeface="宋体" panose="02010600030101010101" pitchFamily="2" charset="-122"/>
              </a:rPr>
              <a:t>——</a:t>
            </a:r>
            <a:r>
              <a:rPr lang="zh-CN" altLang="en-US" sz="2400" b="1"/>
              <a:t>对换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  </a:t>
            </a:r>
          </a:p>
        </p:txBody>
      </p:sp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C48F4744-EB27-490C-AD12-898B9672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98170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A7405A6-4721-4805-9E20-5901360D3661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D3039FB4-B458-4D9A-8826-9524DD3DE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182688"/>
            <a:ext cx="538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5    7    2    6    9    3    1    8    </a:t>
            </a:r>
            <a:r>
              <a:rPr lang="en-US" altLang="zh-CN" sz="2400">
                <a:solidFill>
                  <a:srgbClr val="3333CC"/>
                </a:solidFill>
              </a:rPr>
              <a:t>4</a:t>
            </a:r>
          </a:p>
        </p:txBody>
      </p:sp>
      <p:sp>
        <p:nvSpPr>
          <p:cNvPr id="22534" name="Rectangle 5">
            <a:extLst>
              <a:ext uri="{FF2B5EF4-FFF2-40B4-BE49-F238E27FC236}">
                <a16:creationId xmlns:a16="http://schemas.microsoft.com/office/drawing/2014/main" id="{6AC400F0-1038-40BB-B994-9A57A7989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758950"/>
            <a:ext cx="538162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/>
              <a:t>5    2    6    7    3    1    8    </a:t>
            </a:r>
            <a:r>
              <a:rPr lang="en-US" altLang="zh-CN" sz="2400">
                <a:solidFill>
                  <a:srgbClr val="0033CC"/>
                </a:solidFill>
              </a:rPr>
              <a:t>4</a:t>
            </a:r>
            <a:r>
              <a:rPr lang="en-US" altLang="zh-CN" sz="2400">
                <a:solidFill>
                  <a:srgbClr val="FF3300"/>
                </a:solidFill>
              </a:rPr>
              <a:t> </a:t>
            </a:r>
            <a:r>
              <a:rPr lang="en-US" altLang="zh-CN" sz="2400"/>
              <a:t>  </a:t>
            </a:r>
            <a:r>
              <a:rPr lang="en-US" altLang="zh-CN" sz="2400">
                <a:solidFill>
                  <a:srgbClr val="A50021"/>
                </a:solidFill>
              </a:rPr>
              <a:t> 9</a:t>
            </a:r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AC17DD8A-611C-48F0-B48F-4293FCA6B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333625"/>
            <a:ext cx="538162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/>
              <a:t>2    5    6    3    1    7    </a:t>
            </a:r>
            <a:r>
              <a:rPr lang="en-US" altLang="zh-CN" sz="2400">
                <a:solidFill>
                  <a:srgbClr val="0033CC"/>
                </a:solidFill>
              </a:rPr>
              <a:t>4 </a:t>
            </a:r>
            <a:r>
              <a:rPr lang="en-US" altLang="zh-CN" sz="2400"/>
              <a:t>   </a:t>
            </a:r>
            <a:r>
              <a:rPr lang="en-US" altLang="zh-CN" sz="2400">
                <a:solidFill>
                  <a:srgbClr val="A50021"/>
                </a:solidFill>
              </a:rPr>
              <a:t>8    9</a:t>
            </a:r>
          </a:p>
        </p:txBody>
      </p:sp>
      <p:sp>
        <p:nvSpPr>
          <p:cNvPr id="22536" name="Rectangle 7">
            <a:extLst>
              <a:ext uri="{FF2B5EF4-FFF2-40B4-BE49-F238E27FC236}">
                <a16:creationId xmlns:a16="http://schemas.microsoft.com/office/drawing/2014/main" id="{EC9908CA-7009-4FB3-A501-882AB47C7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838450"/>
            <a:ext cx="538162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/>
              <a:t>2    5    3    1    6    </a:t>
            </a:r>
            <a:r>
              <a:rPr lang="en-US" altLang="zh-CN" sz="2400">
                <a:solidFill>
                  <a:srgbClr val="0033CC"/>
                </a:solidFill>
              </a:rPr>
              <a:t>4 </a:t>
            </a:r>
            <a:r>
              <a:rPr lang="en-US" altLang="zh-CN" sz="2400"/>
              <a:t>   </a:t>
            </a:r>
            <a:r>
              <a:rPr lang="en-US" altLang="zh-CN" sz="2400">
                <a:solidFill>
                  <a:srgbClr val="A50021"/>
                </a:solidFill>
              </a:rPr>
              <a:t>7    8    9</a:t>
            </a:r>
          </a:p>
        </p:txBody>
      </p:sp>
      <p:sp>
        <p:nvSpPr>
          <p:cNvPr id="22537" name="Rectangle 8">
            <a:extLst>
              <a:ext uri="{FF2B5EF4-FFF2-40B4-BE49-F238E27FC236}">
                <a16:creationId xmlns:a16="http://schemas.microsoft.com/office/drawing/2014/main" id="{FA861321-F5AA-4196-98CA-74B1529A5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270250"/>
            <a:ext cx="538162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/>
              <a:t>2    3    1    5    </a:t>
            </a:r>
            <a:r>
              <a:rPr lang="en-US" altLang="zh-CN" sz="2400">
                <a:solidFill>
                  <a:srgbClr val="0033CC"/>
                </a:solidFill>
              </a:rPr>
              <a:t>4 </a:t>
            </a:r>
            <a:r>
              <a:rPr lang="en-US" altLang="zh-CN" sz="2400"/>
              <a:t>   </a:t>
            </a:r>
            <a:r>
              <a:rPr lang="en-US" altLang="zh-CN" sz="2400">
                <a:solidFill>
                  <a:srgbClr val="A50021"/>
                </a:solidFill>
              </a:rPr>
              <a:t>6    7    8    9</a:t>
            </a:r>
          </a:p>
        </p:txBody>
      </p:sp>
      <p:sp>
        <p:nvSpPr>
          <p:cNvPr id="22538" name="Rectangle 9">
            <a:extLst>
              <a:ext uri="{FF2B5EF4-FFF2-40B4-BE49-F238E27FC236}">
                <a16:creationId xmlns:a16="http://schemas.microsoft.com/office/drawing/2014/main" id="{8D3F6428-822C-490E-BA78-2683848D4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775075"/>
            <a:ext cx="538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2    1    3    </a:t>
            </a:r>
            <a:r>
              <a:rPr lang="en-US" altLang="zh-CN" sz="2400">
                <a:solidFill>
                  <a:srgbClr val="0033CC"/>
                </a:solidFill>
              </a:rPr>
              <a:t>4 </a:t>
            </a:r>
            <a:r>
              <a:rPr lang="en-US" altLang="zh-CN" sz="2400"/>
              <a:t>   </a:t>
            </a:r>
            <a:r>
              <a:rPr lang="en-US" altLang="zh-CN" sz="2400">
                <a:solidFill>
                  <a:srgbClr val="A50021"/>
                </a:solidFill>
              </a:rPr>
              <a:t>5    6    7    8    9</a:t>
            </a:r>
          </a:p>
        </p:txBody>
      </p:sp>
      <p:sp>
        <p:nvSpPr>
          <p:cNvPr id="22539" name="Rectangle 10">
            <a:extLst>
              <a:ext uri="{FF2B5EF4-FFF2-40B4-BE49-F238E27FC236}">
                <a16:creationId xmlns:a16="http://schemas.microsoft.com/office/drawing/2014/main" id="{92B51CA9-ACEC-4DAF-9CF8-3BEBC090F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289425"/>
            <a:ext cx="538162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66FF"/>
                </a:solidFill>
              </a:rPr>
              <a:t>1</a:t>
            </a:r>
            <a:r>
              <a:rPr lang="en-US" altLang="zh-CN" sz="2400"/>
              <a:t>    2</a:t>
            </a:r>
            <a:r>
              <a:rPr lang="en-US" altLang="zh-CN" sz="2400">
                <a:solidFill>
                  <a:srgbClr val="3333CC"/>
                </a:solidFill>
              </a:rPr>
              <a:t> </a:t>
            </a:r>
            <a:r>
              <a:rPr lang="en-US" altLang="zh-CN" sz="2400"/>
              <a:t>   3</a:t>
            </a:r>
            <a:r>
              <a:rPr lang="en-US" altLang="zh-CN" sz="2400">
                <a:solidFill>
                  <a:srgbClr val="3333CC"/>
                </a:solidFill>
              </a:rPr>
              <a:t> </a:t>
            </a:r>
            <a:r>
              <a:rPr lang="en-US" altLang="zh-CN" sz="2400">
                <a:solidFill>
                  <a:srgbClr val="A50021"/>
                </a:solidFill>
              </a:rPr>
              <a:t>   4    5    6    7    8    9</a:t>
            </a:r>
          </a:p>
        </p:txBody>
      </p:sp>
      <p:sp>
        <p:nvSpPr>
          <p:cNvPr id="22540" name="Rectangle 11">
            <a:extLst>
              <a:ext uri="{FF2B5EF4-FFF2-40B4-BE49-F238E27FC236}">
                <a16:creationId xmlns:a16="http://schemas.microsoft.com/office/drawing/2014/main" id="{5F785D19-0F37-48BF-81A8-087731A04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4783138"/>
            <a:ext cx="548957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/>
              <a:t>1    </a:t>
            </a:r>
            <a:r>
              <a:rPr lang="en-US" altLang="zh-CN" sz="2400">
                <a:solidFill>
                  <a:srgbClr val="A50021"/>
                </a:solidFill>
              </a:rPr>
              <a:t>2    3    4    5    6    7    8    9</a:t>
            </a:r>
            <a:r>
              <a:rPr lang="en-US" altLang="zh-CN" sz="2400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Text Box 3">
            <a:extLst>
              <a:ext uri="{FF2B5EF4-FFF2-40B4-BE49-F238E27FC236}">
                <a16:creationId xmlns:a16="http://schemas.microsoft.com/office/drawing/2014/main" id="{B93FFD86-A4B4-4C03-BAE0-0E92F42FA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8064500" cy="7191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置换与逆序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4093D72-74B4-440B-AFDA-A0E2FA5D81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268413"/>
            <a:ext cx="7272338" cy="47529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每个输入是一个 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zh-CN" altLang="en-US" sz="2400" b="1"/>
              <a:t>元置换，其 </a:t>
            </a:r>
            <a:r>
              <a:rPr lang="zh-CN" altLang="en-US" sz="2400" b="1">
                <a:solidFill>
                  <a:srgbClr val="A50021"/>
                </a:solidFill>
              </a:rPr>
              <a:t>逆序序列</a:t>
            </a:r>
            <a:r>
              <a:rPr lang="zh-CN" altLang="en-US" sz="2400" b="1"/>
              <a:t>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= 0;  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</a:rPr>
              <a:t>= 0,1;   …  ; 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 0,1, … ,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-1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其中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表示在 </a:t>
            </a:r>
            <a:r>
              <a:rPr lang="en-US" altLang="zh-CN" sz="2400" b="1" i="1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后面且比 </a:t>
            </a:r>
            <a:r>
              <a:rPr lang="en-US" altLang="zh-CN" sz="2400" b="1" i="1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小的数的个数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置换与它的逆序序列构成一一对应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逆序数</a:t>
            </a:r>
            <a:r>
              <a:rPr lang="zh-CN" altLang="en-US" sz="2400" b="1">
                <a:latin typeface="Times New Roman" panose="02020603050405020304" pitchFamily="18" charset="0"/>
              </a:rPr>
              <a:t>  置换中的逆序总数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 </a:t>
            </a:r>
            <a:r>
              <a:rPr lang="zh-CN" altLang="en-US" sz="2400" b="1" i="1">
                <a:latin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 +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 + … +</a:t>
            </a:r>
            <a:r>
              <a:rPr lang="en-US" altLang="zh-CN" sz="2400" b="1" i="1">
                <a:latin typeface="Times New Roman" panose="02020603050405020304" pitchFamily="18" charset="0"/>
              </a:rPr>
              <a:t> b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400" b="1" i="1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/>
              <a:t>实例：置换                        </a:t>
            </a:r>
            <a:r>
              <a:rPr lang="en-US" altLang="zh-CN" sz="2400" b="1">
                <a:latin typeface="Times New Roman" panose="02020603050405020304" pitchFamily="18" charset="0"/>
              </a:rPr>
              <a:t>3 1 6 5 8 7 2 4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</a:t>
            </a:r>
            <a:r>
              <a:rPr lang="zh-CN" altLang="en-US" sz="2400" b="1"/>
              <a:t>逆序序列为          </a:t>
            </a:r>
            <a:r>
              <a:rPr lang="en-US" altLang="zh-CN" sz="2400" b="1">
                <a:latin typeface="Times New Roman" panose="02020603050405020304" pitchFamily="18" charset="0"/>
              </a:rPr>
              <a:t>( 0, 0, 2, 0, 2, 3, 2, 3 )</a:t>
            </a:r>
            <a:r>
              <a:rPr lang="en-US" altLang="zh-CN" sz="2400" b="1"/>
              <a:t>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         </a:t>
            </a:r>
            <a:r>
              <a:rPr lang="zh-CN" altLang="en-US" sz="2400" b="1"/>
              <a:t>逆序数                  </a:t>
            </a:r>
            <a:r>
              <a:rPr lang="en-US" altLang="zh-CN" sz="2400" b="1">
                <a:latin typeface="Times New Roman" panose="02020603050405020304" pitchFamily="18" charset="0"/>
              </a:rPr>
              <a:t>12</a:t>
            </a:r>
          </a:p>
          <a:p>
            <a:pPr eaLnBrk="1" hangingPunct="1">
              <a:lnSpc>
                <a:spcPct val="80000"/>
              </a:lnSpc>
              <a:spcBef>
                <a:spcPct val="550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排序算法的输入：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元置换，复杂度：比较次数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冒泡排序：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每次相邻元素对换只能消除 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个逆序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比较次数 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 交换次数  输入含有的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逆序个数</a:t>
            </a:r>
          </a:p>
        </p:txBody>
      </p:sp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7D6C8B89-0581-44FD-BC0A-CCCCF6A3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6F1CBA-BCC6-4F31-AD3E-EE914B7415B2}" type="slidenum">
              <a:rPr lang="en-US" altLang="zh-CN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8231A0EB-B3E0-43C0-AB12-8B41014F4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632700" cy="7191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复杂度分析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632DF689-8532-4E07-89C7-76ADE52A4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268413"/>
            <a:ext cx="8280400" cy="47529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A50021"/>
                </a:solidFill>
              </a:rPr>
              <a:t>最坏情况分析  </a:t>
            </a:r>
            <a:r>
              <a:rPr lang="zh-CN" altLang="en-US" sz="2400" b="1" dirty="0">
                <a:latin typeface="Times New Roman" panose="02020603050405020304" pitchFamily="18" charset="0"/>
              </a:rPr>
              <a:t>最大的逆序数是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1)/2, </a:t>
            </a:r>
            <a:r>
              <a:rPr lang="zh-CN" altLang="en-US" sz="2400" b="1" dirty="0">
                <a:latin typeface="Times New Roman" panose="02020603050405020304" pitchFamily="18" charset="0"/>
              </a:rPr>
              <a:t>最坏情况交换次数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至少是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1)/2, </a:t>
            </a:r>
            <a:r>
              <a:rPr lang="zh-CN" altLang="en-US" sz="2400" b="1" dirty="0">
                <a:latin typeface="Times New Roman" panose="02020603050405020304" pitchFamily="18" charset="0"/>
              </a:rPr>
              <a:t>比较次数至少是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1)/2.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平均情况分析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设各种输入是等概率的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置换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 的</a:t>
            </a:r>
            <a:r>
              <a:rPr lang="zh-CN" altLang="en-US" sz="2400" b="1" dirty="0">
                <a:latin typeface="Times New Roman" panose="02020603050405020304" pitchFamily="18" charset="0"/>
              </a:rPr>
              <a:t>逆序序列是 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 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置换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 的</a:t>
            </a:r>
            <a:r>
              <a:rPr lang="zh-CN" altLang="en-US" sz="2400" b="1" dirty="0">
                <a:latin typeface="Times New Roman" panose="02020603050405020304" pitchFamily="18" charset="0"/>
              </a:rPr>
              <a:t>逆序序列为  </a:t>
            </a:r>
            <a:r>
              <a:rPr lang="en-US" altLang="zh-CN" sz="2400" b="1" dirty="0">
                <a:latin typeface="Times New Roman" panose="02020603050405020304" pitchFamily="18" charset="0"/>
              </a:rPr>
              <a:t>(0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 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与 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的逆序数之和为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1)/2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将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!</a:t>
            </a:r>
            <a:r>
              <a:rPr lang="zh-CN" altLang="en-US" sz="2400" b="1" dirty="0">
                <a:latin typeface="Times New Roman" panose="02020603050405020304" pitchFamily="18" charset="0"/>
              </a:rPr>
              <a:t>个置换分成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!/2</a:t>
            </a:r>
            <a:r>
              <a:rPr lang="zh-CN" altLang="en-US" sz="2400" b="1" dirty="0">
                <a:latin typeface="Times New Roman" panose="02020603050405020304" pitchFamily="18" charset="0"/>
              </a:rPr>
              <a:t>个组，每组逆序之和为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1)/2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！个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排列平均逆序数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1)/4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，平均的交换次数至少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1)/4   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A50021"/>
                </a:solidFill>
              </a:rPr>
              <a:t>结论：冒泡排序的最坏和平均时间复杂性均为 </a:t>
            </a:r>
            <a:r>
              <a:rPr lang="en-US" altLang="zh-CN" sz="2400" b="1" i="1" dirty="0">
                <a:solidFill>
                  <a:srgbClr val="A50021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A5002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baseline="30000" dirty="0">
                <a:solidFill>
                  <a:srgbClr val="A50021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C26CF50C-B068-4BA4-80F8-4C3CD5BB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32D017-DD04-4E42-92CD-11C9EF97116C}" type="slidenum">
              <a:rPr lang="en-US" altLang="zh-CN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3388</TotalTime>
  <Words>2816</Words>
  <Application>Microsoft Office PowerPoint</Application>
  <PresentationFormat>全屏显示(4:3)</PresentationFormat>
  <Paragraphs>271</Paragraphs>
  <Slides>23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Calibri</vt:lpstr>
      <vt:lpstr>Times New Roman</vt:lpstr>
      <vt:lpstr>Symbol</vt:lpstr>
      <vt:lpstr>Wingdings</vt:lpstr>
      <vt:lpstr>黑体</vt:lpstr>
      <vt:lpstr>幼圆</vt:lpstr>
      <vt:lpstr>代数结构PPT</vt:lpstr>
      <vt:lpstr>Microsoft 公式 3.0</vt:lpstr>
      <vt:lpstr>Microsoft Office Word 97 - 2003 文档</vt:lpstr>
      <vt:lpstr>17.3  循环群</vt:lpstr>
      <vt:lpstr>循环群的定义及其分类</vt:lpstr>
      <vt:lpstr>循环群的生成元</vt:lpstr>
      <vt:lpstr>证明</vt:lpstr>
      <vt:lpstr>循环群的子群</vt:lpstr>
      <vt:lpstr>证明</vt:lpstr>
      <vt:lpstr>证明（续）</vt:lpstr>
      <vt:lpstr>实例</vt:lpstr>
      <vt:lpstr>17.4 变换群与置换群</vt:lpstr>
      <vt:lpstr>变换群</vt:lpstr>
      <vt:lpstr>变换群的实例</vt:lpstr>
      <vt:lpstr>n元置换群</vt:lpstr>
      <vt:lpstr>n元置换的轮换表示</vt:lpstr>
      <vt:lpstr>n元置换的轮换指数</vt:lpstr>
      <vt:lpstr>n元置换的对换表示</vt:lpstr>
      <vt:lpstr>置换的乘法与求逆</vt:lpstr>
      <vt:lpstr>置换群中元素的阶与子群</vt:lpstr>
      <vt:lpstr>置换群的实例</vt:lpstr>
      <vt:lpstr>不同构的图的计数</vt:lpstr>
      <vt:lpstr>PowerPoint 演示文稿</vt:lpstr>
      <vt:lpstr>实例</vt:lpstr>
      <vt:lpstr>置换与逆序</vt:lpstr>
      <vt:lpstr>复杂度分析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328</cp:revision>
  <dcterms:created xsi:type="dcterms:W3CDTF">2005-12-02T07:25:32Z</dcterms:created>
  <dcterms:modified xsi:type="dcterms:W3CDTF">2020-07-17T04:58:19Z</dcterms:modified>
</cp:coreProperties>
</file>