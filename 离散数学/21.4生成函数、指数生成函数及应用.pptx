
<file path=[Content_Types].xml><?xml version="1.0" encoding="utf-8"?>
<Types xmlns="http://schemas.openxmlformats.org/package/2006/content-types">
  <Default Extension="bin" ContentType="application/vnd.openxmlformats-officedocument.oleObject"/>
  <Default Extension="doc" ContentType="application/msword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1"/>
  </p:sldMasterIdLst>
  <p:notesMasterIdLst>
    <p:notesMasterId r:id="rId27"/>
  </p:notesMasterIdLst>
  <p:sldIdLst>
    <p:sldId id="323" r:id="rId2"/>
    <p:sldId id="324" r:id="rId3"/>
    <p:sldId id="325" r:id="rId4"/>
    <p:sldId id="326" r:id="rId5"/>
    <p:sldId id="370" r:id="rId6"/>
    <p:sldId id="327" r:id="rId7"/>
    <p:sldId id="32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71" r:id="rId21"/>
    <p:sldId id="372" r:id="rId22"/>
    <p:sldId id="373" r:id="rId23"/>
    <p:sldId id="374" r:id="rId24"/>
    <p:sldId id="375" r:id="rId25"/>
    <p:sldId id="376" r:id="rId26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008000"/>
    <a:srgbClr val="669900"/>
    <a:srgbClr val="99CC00"/>
    <a:srgbClr val="CC0000"/>
    <a:srgbClr val="FFD54F"/>
    <a:srgbClr val="4D4D4D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2157" autoAdjust="0"/>
  </p:normalViewPr>
  <p:slideViewPr>
    <p:cSldViewPr>
      <p:cViewPr>
        <p:scale>
          <a:sx n="60" d="100"/>
          <a:sy n="60" d="100"/>
        </p:scale>
        <p:origin x="1877" y="4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87C7D24-B504-40ED-A63A-5132464DFC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A78D62-D815-451A-9DA6-5392C35723C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93BC41E3-64D9-4B7D-BC31-93D8F1AB947F}" type="datetimeFigureOut">
              <a:rPr lang="zh-CN" altLang="en-US"/>
              <a:pPr>
                <a:defRPr/>
              </a:pPr>
              <a:t>2020/8/14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0AAE1818-4896-4CA6-B177-3D7AF5A56C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9242ACF-2C94-446C-AEDC-6C7FD797FE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3971EF-79E2-4F21-8843-78C5679E021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9BE24C-3DD2-4901-ADDC-061438096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A46E984A-7EEA-456E-8E7A-B3AE35331CBA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5F9530BB-4AB0-4CEF-9035-60AEFA77AF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B168716-E5AC-4C70-A49E-E838754AE13B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6C71F758-F119-478B-A511-A0F6FDFC7C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5E5099D-5408-4CC7-ADA7-172E4CC648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188E63CA-F1FB-4D66-BD88-453A936613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117C191-5237-4620-8B53-8763415EB323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0244DAEA-4E35-4F85-BF97-877EDBAEC7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F7D886AF-9482-4834-A306-339CEBDBA7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8F8C09CE-6223-44E4-91A8-C07B012202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1CBD479-D9B8-4B3A-B4D6-5858C252438F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3EB68602-0A13-4617-8D5F-EBD6E8DC60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430975DD-930D-4682-9C4E-D78A433F11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1651F592-28DE-47A9-83D0-A8A701ED52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82CDE6C-357D-4F6F-BE4F-E26B973C68E8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2C9EAFB4-B6D9-4739-BA3A-A2930F3E53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108AC11-3130-439D-B24A-7780981590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4EA87E85-F99F-47C6-A4F8-FD9B1090C0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8271675-747C-4EE0-A8C8-8E2B300814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9A7B6764-6257-4EFA-9C19-C11E4ED3B3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F6906CB-9252-4189-A73D-725D07164A51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3F73322D-1559-4458-8CB5-28F516F829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185F65D6-05F7-4D02-B024-F4114EB7EE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8E627FE7-5661-4E7D-AFDC-14EB1BF228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A4BE4A4-2CBC-480D-8298-1175698C69B9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E31D3F6B-9F02-4037-8B32-9E61BE0757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D1CC831E-342C-490C-9D26-CD1C7FE11E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4F8FBFC3-2BBA-44FD-81AD-8EB2405F8F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AFFFBAD-082A-4B7B-8911-A96666FBBA33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B49AE2BC-429C-4E91-8CA9-59835A958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84954AF6-AFC7-4ABE-895D-5A501C213C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970CE161-50D1-4063-83FE-2800C6305B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B081F7F-95BF-4212-BE8B-AD050B9C18B8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EAC55275-3692-4F9E-8EF9-2A7492D817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E893AAA7-F2EB-46F9-B345-9FAF7D9AE9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CB4332A7-B261-48B2-982F-506F9ED42A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CABB5F2-946D-4467-BF6D-4D10EB20DBEA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C4F92BD5-D824-4585-A2B1-53BFC10966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5F1BC7F9-9FEE-4CAA-8D89-783D850975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5C5B3871-31C1-47E1-8212-D4E507BF2B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23738D-E0EF-4BFB-B4FF-C5447DFFB6C2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ACF7D80D-6CAA-4026-922B-A12543E549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C23C5B91-1680-4653-BC99-6465772A72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6161130E-BD33-4AD7-93B3-53B655D275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E20BF6D-0C4E-4EE3-9B82-DEA4DCC29C3B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3E9EEDA-A79C-4A36-9DE6-7818840A1C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BAA8DB7D-71C0-40BF-A8DB-C55F213BE5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FD496E09-7196-4C6D-B256-C248CBF726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0044312-D71A-4432-9579-5F9D85EECA7D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76CEA361-8B73-4301-8B9F-1A96DDD14B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57580D80-1676-496E-B30B-6DC98418B3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D6C274DA-5296-4D85-9710-E3D05F71C5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9CD86E7-D9AE-412C-9868-90E0367E30B1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327B93ED-265D-47C6-88F8-CF6EF3273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8AD40BE7-1EBA-4576-959C-76731E718F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D5E7DC10-8CFC-46C3-938C-DD1680F1FE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6045100-9A3A-48EE-A91E-C91DABD93CFE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BADFDA82-88F6-408F-88D3-2259A25143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701A1270-202B-4504-BEE7-EFBBECD840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BE1687DC-B9D3-4CC9-A5AD-60D3B300B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9939F4E-5464-4336-995B-DCA68500B6E6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CF62EBCE-8A3E-4456-8094-35A7F71003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7575F661-03C5-424F-A7C8-F51325B561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8D4B3A7E-CF02-4A66-9C62-0DD119AFD8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8A3BD52-8C2E-4F80-B76B-904FBAD0BF26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91AEB5B7-2C48-4D49-9FFD-5722EA6467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BCE4B5AB-FCFC-46AE-82FF-2161F65643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DBA88D46-2610-4BAA-80E6-9FC6814FFE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52CFF3E-C8EC-4139-9975-339F35449F9E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F73FF6D8-2DDE-40D4-A579-87A5EC6B33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B7639A29-4C36-4565-8E42-AA8A7BBE1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25401630-1A5E-4016-8BC5-F0D3B8209C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E6CA1D4-776D-4264-A504-3C76E2874A2E}" type="slidenum">
              <a:rPr lang="en-US" altLang="zh-CN"/>
              <a:pPr eaLnBrk="1" hangingPunct="1"/>
              <a:t>19</a:t>
            </a:fld>
            <a:endParaRPr lang="en-US" altLang="zh-CN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A5861B83-62CE-4521-9706-6D90A56FDB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021B899C-1296-4F1A-958C-E4F5416F33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C6DA3318-3971-4033-93C3-56B048255B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AEB9E1E-86B5-465A-9A72-C97493027C23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DF3A588B-3210-4833-B413-13C2706C1C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0391A165-E0DE-4D9F-A956-89C081F0F8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95A11587-235C-4F00-A10F-26923006B9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5956151-4155-47BC-BEB6-80724DA77B69}" type="slidenum">
              <a:rPr lang="en-US" altLang="zh-CN"/>
              <a:pPr eaLnBrk="1" hangingPunct="1"/>
              <a:t>21</a:t>
            </a:fld>
            <a:endParaRPr lang="en-US" altLang="zh-CN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18766C95-F411-4545-A4A7-5048D3DCBE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1A2C58F8-59ED-4082-9105-B9BF98B6BD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7E7BAECA-44CA-4D0C-995F-D2CC0FE434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D986CB5-9C12-412B-940C-91AD5A101EB5}" type="slidenum">
              <a:rPr lang="en-US" altLang="zh-CN"/>
              <a:pPr eaLnBrk="1" hangingPunct="1"/>
              <a:t>22</a:t>
            </a:fld>
            <a:endParaRPr lang="en-US" altLang="zh-CN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86AF2634-C922-4C9A-BB28-76A08F7BED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7F1EA252-F633-4508-850C-91C0ED5A4A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FDBC0ED2-8412-459F-9B16-0B4084FBAF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FCB53A6-D6EA-4633-9E2F-567074FC82AD}" type="slidenum">
              <a:rPr lang="en-US" altLang="zh-CN"/>
              <a:pPr eaLnBrk="1" hangingPunct="1"/>
              <a:t>23</a:t>
            </a:fld>
            <a:endParaRPr lang="en-US" altLang="zh-CN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8D459709-0980-4D17-A39F-39B8CE0F3F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D2642D6C-81D2-459C-BD85-88AE77A191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22020A56-49ED-4AD5-9D31-3F6494C8E6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8B2E852-9ECE-4D21-AC5A-A672ED1D35D5}" type="slidenum">
              <a:rPr lang="en-US" altLang="zh-CN"/>
              <a:pPr eaLnBrk="1" hangingPunct="1"/>
              <a:t>24</a:t>
            </a:fld>
            <a:endParaRPr lang="en-US" altLang="zh-CN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D4EFAA9C-DD7D-4196-8415-BBE61E0927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F5751E08-6DC6-424F-88CE-CB5D39AD25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5CA5BE5F-730F-4180-8095-53749EEE12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5AC0848-8DE7-4030-A9D7-D51795E1F8B6}" type="slidenum">
              <a:rPr lang="en-US" altLang="zh-CN"/>
              <a:pPr eaLnBrk="1" hangingPunct="1"/>
              <a:t>25</a:t>
            </a:fld>
            <a:endParaRPr lang="en-US" altLang="zh-CN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2A5D8C0-E83A-4981-B057-53B07CC4A7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69E33417-A7D1-483D-A7E7-0B6D706E71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F08B70-99F5-4987-869A-10CEFFAB97F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784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2F5724-747B-4820-BBA3-2A4B5C64866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2236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898DD8-C774-47CF-888C-74AC13936CC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4308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11F269-8707-4428-958D-D2E733897C1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448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86B17C-AA8A-4794-B322-190E9B72907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6647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9EE555-8FCE-47DB-80E3-BFB68784C95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9446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C58F1B-B8BD-4F44-8FD1-5AB425EC9AD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7624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4D5613-9886-4B28-B646-20549E70857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90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98038C-76FA-47E5-8ABF-74EB5C1DD15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7381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5F29C2-757A-49CC-9004-4DC2E7B00C1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2078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E03524-CF02-4E32-820B-77AECADE623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70926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E03524-CF02-4E32-820B-77AECADE623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470201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9580A8F3-11F8-45B8-BC69-81B2CD149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1B25CDF9-3DDA-4BCF-B79E-094D5F034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289F91C9-B5EB-492B-B04E-02561DAB8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6E60F8-337D-478F-96EC-E7E6D27BF6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5453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3">
            <a:extLst>
              <a:ext uri="{FF2B5EF4-FFF2-40B4-BE49-F238E27FC236}">
                <a16:creationId xmlns:a16="http://schemas.microsoft.com/office/drawing/2014/main" id="{441063CB-0397-45EB-82F0-74B69333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BF91C05-84C5-4749-8DD9-05CB8073B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19D7F2BC-788B-4873-8641-68FA01AA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028FA6-2F74-45AE-8FB9-2748952C5A9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6189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E2E03524-CF02-4E32-820B-77AECADE623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7841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0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4.emf"/><Relationship Id="rId4" Type="http://schemas.openxmlformats.org/officeDocument/2006/relationships/oleObject" Target="../embeddings/Microsoft_Word_97_-_2003_Document.doc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1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4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6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7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8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9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2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4.emf"/><Relationship Id="rId4" Type="http://schemas.openxmlformats.org/officeDocument/2006/relationships/oleObject" Target="../embeddings/oleObject2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3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26.emf"/><Relationship Id="rId4" Type="http://schemas.openxmlformats.org/officeDocument/2006/relationships/oleObject" Target="../embeddings/oleObject2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27.emf"/><Relationship Id="rId4" Type="http://schemas.openxmlformats.org/officeDocument/2006/relationships/oleObject" Target="../embeddings/oleObject25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28.emf"/><Relationship Id="rId4" Type="http://schemas.openxmlformats.org/officeDocument/2006/relationships/oleObject" Target="../embeddings/oleObject2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E9814724-F9C7-47C6-A020-8C023A886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22.4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生成函数的应用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41433F0-A9DB-46B4-9859-69D87CC99B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484313"/>
            <a:ext cx="7772400" cy="4530725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zh-CN" altLang="en-US" b="1" dirty="0"/>
              <a:t>求解递推方程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b="1" dirty="0"/>
              <a:t>计数多重集的 </a:t>
            </a:r>
            <a:r>
              <a:rPr lang="en-US" altLang="zh-CN" b="1" i="1" dirty="0">
                <a:latin typeface="Times New Roman" panose="02020603050405020304" pitchFamily="18" charset="0"/>
              </a:rPr>
              <a:t>r </a:t>
            </a:r>
            <a:r>
              <a:rPr lang="zh-CN" altLang="en-US" b="1" dirty="0"/>
              <a:t>组合数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b="1" dirty="0"/>
              <a:t>不定方程的解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b="1" dirty="0"/>
              <a:t>整数拆分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BBC1E9-08EE-4B8D-A9EE-8DF5A092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8676671-AF3F-4BEF-A730-0DB4DC91F41B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76AAB2C5-BD1A-47B5-8939-4D28D5CE3E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950" y="1125538"/>
          <a:ext cx="7056438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文档" r:id="rId4" imgW="3050623" imgH="456175" progId="Word.Document.8">
                  <p:embed/>
                </p:oleObj>
              </mc:Choice>
              <mc:Fallback>
                <p:oleObj name="文档" r:id="rId4" imgW="3050623" imgH="45617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1125538"/>
                        <a:ext cx="7056438" cy="108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>
            <a:extLst>
              <a:ext uri="{FF2B5EF4-FFF2-40B4-BE49-F238E27FC236}">
                <a16:creationId xmlns:a16="http://schemas.microsoft.com/office/drawing/2014/main" id="{232C717B-3E19-4C6A-A14E-BE99C81E8A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975" y="1844675"/>
          <a:ext cx="8229600" cy="483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文档" r:id="rId6" imgW="3712214" imgH="2180814" progId="Word.Document.8">
                  <p:embed/>
                </p:oleObj>
              </mc:Choice>
              <mc:Fallback>
                <p:oleObj name="文档" r:id="rId6" imgW="3712214" imgH="2180814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75" y="1844675"/>
                        <a:ext cx="8229600" cy="4833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Rectangle 4">
            <a:extLst>
              <a:ext uri="{FF2B5EF4-FFF2-40B4-BE49-F238E27FC236}">
                <a16:creationId xmlns:a16="http://schemas.microsoft.com/office/drawing/2014/main" id="{47FC0DEA-00D0-492A-8A27-AEAE11AA58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求解递推方程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A47952-FD19-4AC3-A07B-8221B510D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825BB2-A3ED-4BA2-9E23-34A906EB0CAF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2">
            <a:extLst>
              <a:ext uri="{FF2B5EF4-FFF2-40B4-BE49-F238E27FC236}">
                <a16:creationId xmlns:a16="http://schemas.microsoft.com/office/drawing/2014/main" id="{06915D1A-E01F-41B2-BEDD-030ED6D7DA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求解递推方程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续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A2D742D5-F4B9-451A-AB98-2BB543DEC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8D1EB53-64C7-4F08-A7F0-96625254AA35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2050" name="Object 3">
            <a:extLst>
              <a:ext uri="{FF2B5EF4-FFF2-40B4-BE49-F238E27FC236}">
                <a16:creationId xmlns:a16="http://schemas.microsoft.com/office/drawing/2014/main" id="{BABF6600-C9ED-4EB4-B9AB-A4A9CE569C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2924175"/>
          <a:ext cx="19431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公式" r:id="rId4" imgW="977900" imgH="431800" progId="Equation.3">
                  <p:embed/>
                </p:oleObj>
              </mc:Choice>
              <mc:Fallback>
                <p:oleObj name="公式" r:id="rId4" imgW="9779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924175"/>
                        <a:ext cx="1943100" cy="862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Rectangle 4">
            <a:extLst>
              <a:ext uri="{FF2B5EF4-FFF2-40B4-BE49-F238E27FC236}">
                <a16:creationId xmlns:a16="http://schemas.microsoft.com/office/drawing/2014/main" id="{041E9308-D590-45D0-848D-581F7625D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924175"/>
            <a:ext cx="4130675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解：设</a:t>
            </a:r>
            <a:r>
              <a:rPr lang="en-US" altLang="zh-CN" sz="2800" b="1">
                <a:latin typeface="Times New Roman" panose="02020603050405020304" pitchFamily="18" charset="0"/>
              </a:rPr>
              <a:t>{</a:t>
            </a:r>
            <a:r>
              <a:rPr lang="en-US" altLang="zh-CN" sz="2800" b="1" i="1">
                <a:latin typeface="Times New Roman" panose="02020603050405020304" pitchFamily="18" charset="0"/>
              </a:rPr>
              <a:t>h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}</a:t>
            </a:r>
            <a:r>
              <a:rPr lang="zh-CN" altLang="en-US" sz="2800" b="1">
                <a:latin typeface="Times New Roman" panose="02020603050405020304" pitchFamily="18" charset="0"/>
              </a:rPr>
              <a:t>的生成函数为</a:t>
            </a:r>
            <a:r>
              <a:rPr lang="zh-CN" altLang="en-US" sz="42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055" name="Rectangle 5">
            <a:extLst>
              <a:ext uri="{FF2B5EF4-FFF2-40B4-BE49-F238E27FC236}">
                <a16:creationId xmlns:a16="http://schemas.microsoft.com/office/drawing/2014/main" id="{CA2C2D4B-2EBB-4EC7-BBAE-EFDEEDDE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51" name="Object 6">
            <a:extLst>
              <a:ext uri="{FF2B5EF4-FFF2-40B4-BE49-F238E27FC236}">
                <a16:creationId xmlns:a16="http://schemas.microsoft.com/office/drawing/2014/main" id="{BB84797F-DF3D-4AFD-B388-533EA592DB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1268413"/>
          <a:ext cx="3960813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公式" r:id="rId6" imgW="1587500" imgH="660400" progId="Equation.3">
                  <p:embed/>
                </p:oleObj>
              </mc:Choice>
              <mc:Fallback>
                <p:oleObj name="公式" r:id="rId6" imgW="1587500" imgH="660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268413"/>
                        <a:ext cx="3960813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6" name="Text Box 7">
            <a:extLst>
              <a:ext uri="{FF2B5EF4-FFF2-40B4-BE49-F238E27FC236}">
                <a16:creationId xmlns:a16="http://schemas.microsoft.com/office/drawing/2014/main" id="{3280BBF1-EAFF-49ED-8FF3-16534175E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341438"/>
            <a:ext cx="719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57" name="Rectangle 8">
            <a:extLst>
              <a:ext uri="{FF2B5EF4-FFF2-40B4-BE49-F238E27FC236}">
                <a16:creationId xmlns:a16="http://schemas.microsoft.com/office/drawing/2014/main" id="{806758A1-C8D6-4766-A877-4F0F243A0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05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52" name="Object 9">
            <a:extLst>
              <a:ext uri="{FF2B5EF4-FFF2-40B4-BE49-F238E27FC236}">
                <a16:creationId xmlns:a16="http://schemas.microsoft.com/office/drawing/2014/main" id="{6C06164A-5B94-4A8F-923D-B39B022B5D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3789363"/>
          <a:ext cx="4613275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公式" r:id="rId8" imgW="2171700" imgH="1143000" progId="Equation.3">
                  <p:embed/>
                </p:oleObj>
              </mc:Choice>
              <mc:Fallback>
                <p:oleObj name="公式" r:id="rId8" imgW="2171700" imgH="1143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789363"/>
                        <a:ext cx="4613275" cy="2232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>
            <a:extLst>
              <a:ext uri="{FF2B5EF4-FFF2-40B4-BE49-F238E27FC236}">
                <a16:creationId xmlns:a16="http://schemas.microsoft.com/office/drawing/2014/main" id="{81D142A8-5785-4BEE-8F6D-FC4E3B113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074" name="Object 3">
            <a:extLst>
              <a:ext uri="{FF2B5EF4-FFF2-40B4-BE49-F238E27FC236}">
                <a16:creationId xmlns:a16="http://schemas.microsoft.com/office/drawing/2014/main" id="{B7AEB08C-B012-478D-B43A-B847FD21C2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341438"/>
          <a:ext cx="6743700" cy="431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公式" r:id="rId4" imgW="3454200" imgH="2209680" progId="Equation.3">
                  <p:embed/>
                </p:oleObj>
              </mc:Choice>
              <mc:Fallback>
                <p:oleObj name="公式" r:id="rId4" imgW="3454200" imgH="22096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341438"/>
                        <a:ext cx="6743700" cy="431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0" name="Rectangle 4">
            <a:extLst>
              <a:ext uri="{FF2B5EF4-FFF2-40B4-BE49-F238E27FC236}">
                <a16:creationId xmlns:a16="http://schemas.microsoft.com/office/drawing/2014/main" id="{E59C12C2-7227-40FB-904A-D5E70803BC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求解递推方程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续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52D3C8-5EFA-4B02-86E2-88C232235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C70413B-78A7-464F-9084-D5A551CF49D7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077" name="TextBox 5">
            <a:extLst>
              <a:ext uri="{FF2B5EF4-FFF2-40B4-BE49-F238E27FC236}">
                <a16:creationId xmlns:a16="http://schemas.microsoft.com/office/drawing/2014/main" id="{2F10576A-76A2-49DE-9F8E-F9B65AEBF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5013325"/>
            <a:ext cx="35290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Catalan</a:t>
            </a:r>
            <a:r>
              <a:rPr lang="zh-CN" altLang="en-US" sz="2400" b="1" dirty="0"/>
              <a:t>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>
            <a:extLst>
              <a:ext uri="{FF2B5EF4-FFF2-40B4-BE49-F238E27FC236}">
                <a16:creationId xmlns:a16="http://schemas.microsoft.com/office/drawing/2014/main" id="{BD09D78D-E5AE-416C-913A-2A65FB1E1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981075"/>
            <a:ext cx="8785225" cy="319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76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矩阵乘法：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… 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为矩阵序列，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为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阶矩阵，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1,2,…,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 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确定乘法顺序使得元素相乘的总次数最少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输入：向量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&lt;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… 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i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&gt;</a:t>
            </a: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实例：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&lt;10, 100, 5, 50&gt; </a:t>
            </a:r>
          </a:p>
          <a:p>
            <a:pPr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10 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100,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100 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5,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5 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50,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</a:t>
            </a:r>
          </a:p>
          <a:p>
            <a:pPr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    10 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100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5 + 10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50 = 7500 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):     10 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100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50 + 100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50 = 75000 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AC88D274-2F2A-4C5B-9F8E-7C61B4F6C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4968" y="223365"/>
            <a:ext cx="8374063" cy="561975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应用：搜索规模的估计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9F2CF37D-56A3-4122-BC78-B547D9676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051C15C-DCED-4B85-91FB-663D1082C5EB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103" name="Rectangle 3">
            <a:extLst>
              <a:ext uri="{FF2B5EF4-FFF2-40B4-BE49-F238E27FC236}">
                <a16:creationId xmlns:a16="http://schemas.microsoft.com/office/drawing/2014/main" id="{A3D83349-99C4-4FE3-9967-84C63BF57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221163"/>
            <a:ext cx="8424862" cy="93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b="1">
                <a:sym typeface="Symbol" panose="05050102010706020507" pitchFamily="18" charset="2"/>
              </a:rPr>
              <a:t>一般算法：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次运算</a:t>
            </a:r>
            <a:r>
              <a:rPr lang="zh-CN" altLang="en-US" sz="2400" b="1">
                <a:sym typeface="Symbol" panose="05050102010706020507" pitchFamily="18" charset="2"/>
              </a:rPr>
              <a:t>加括号方法有               种，</a:t>
            </a:r>
            <a:endParaRPr lang="en-US" altLang="zh-CN" sz="2400" b="1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endParaRPr lang="zh-CN" altLang="en-US" sz="2400" b="1">
              <a:sym typeface="Symbol" panose="05050102010706020507" pitchFamily="18" charset="2"/>
            </a:endParaRPr>
          </a:p>
        </p:txBody>
      </p:sp>
      <p:graphicFrame>
        <p:nvGraphicFramePr>
          <p:cNvPr id="4098" name="Object 4">
            <a:extLst>
              <a:ext uri="{FF2B5EF4-FFF2-40B4-BE49-F238E27FC236}">
                <a16:creationId xmlns:a16="http://schemas.microsoft.com/office/drawing/2014/main" id="{BE6E7CA8-87E3-4D6A-A6AE-8670903DDD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4076700"/>
          <a:ext cx="1079500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公式" r:id="rId4" imgW="685800" imgH="469800" progId="Equation.3">
                  <p:embed/>
                </p:oleObj>
              </mc:Choice>
              <mc:Fallback>
                <p:oleObj name="公式" r:id="rId4" imgW="685800" imgH="46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4076700"/>
                        <a:ext cx="1079500" cy="738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矩形 6">
            <a:extLst>
              <a:ext uri="{FF2B5EF4-FFF2-40B4-BE49-F238E27FC236}">
                <a16:creationId xmlns:a16="http://schemas.microsoft.com/office/drawing/2014/main" id="{AE0E52A5-C8B6-4ABE-91D2-75253D1A4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935538"/>
            <a:ext cx="17938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Stirling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公式</a:t>
            </a:r>
          </a:p>
        </p:txBody>
      </p:sp>
      <p:graphicFrame>
        <p:nvGraphicFramePr>
          <p:cNvPr id="4099" name="Object 2">
            <a:extLst>
              <a:ext uri="{FF2B5EF4-FFF2-40B4-BE49-F238E27FC236}">
                <a16:creationId xmlns:a16="http://schemas.microsoft.com/office/drawing/2014/main" id="{CCFC9F33-DECC-4ABD-8345-78041F375B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4803775"/>
          <a:ext cx="316865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公式" r:id="rId6" imgW="1600200" imgH="406080" progId="Equation.3">
                  <p:embed/>
                </p:oleObj>
              </mc:Choice>
              <mc:Fallback>
                <p:oleObj name="公式" r:id="rId6" imgW="1600200" imgH="4060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803775"/>
                        <a:ext cx="3168650" cy="7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2">
            <a:extLst>
              <a:ext uri="{FF2B5EF4-FFF2-40B4-BE49-F238E27FC236}">
                <a16:creationId xmlns:a16="http://schemas.microsoft.com/office/drawing/2014/main" id="{E790E9E1-E9D7-4A83-A2DA-0840D28126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5475288"/>
          <a:ext cx="4681538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公式" r:id="rId8" imgW="2666880" imgH="457200" progId="Equation.3">
                  <p:embed/>
                </p:oleObj>
              </mc:Choice>
              <mc:Fallback>
                <p:oleObj name="公式" r:id="rId8" imgW="266688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475288"/>
                        <a:ext cx="4681538" cy="833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5" name="TextBox 9">
            <a:extLst>
              <a:ext uri="{FF2B5EF4-FFF2-40B4-BE49-F238E27FC236}">
                <a16:creationId xmlns:a16="http://schemas.microsoft.com/office/drawing/2014/main" id="{3DA42F5D-A550-439D-B0C9-2EE22CFD0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589588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方法数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BCB7C36E-DC0B-410E-B2FF-D2BB892CEB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238" y="1341438"/>
          <a:ext cx="8715375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文档" r:id="rId4" imgW="3802738" imgH="1893305" progId="Word.Document.8">
                  <p:embed/>
                </p:oleObj>
              </mc:Choice>
              <mc:Fallback>
                <p:oleObj name="文档" r:id="rId4" imgW="3802738" imgH="189330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8" y="1341438"/>
                        <a:ext cx="8715375" cy="434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3" name="Rectangle 3">
            <a:extLst>
              <a:ext uri="{FF2B5EF4-FFF2-40B4-BE49-F238E27FC236}">
                <a16:creationId xmlns:a16="http://schemas.microsoft.com/office/drawing/2014/main" id="{2C4E2E24-4173-4BC1-AC0E-1E3FA873AC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多重集的 </a:t>
            </a:r>
            <a:r>
              <a:rPr lang="en-US" altLang="zh-CN" sz="40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r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组合数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11564B-6050-464E-94EB-6A8F11DA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66391C6-A862-40C5-ACBC-844272E88FA1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>
            <a:extLst>
              <a:ext uri="{FF2B5EF4-FFF2-40B4-BE49-F238E27FC236}">
                <a16:creationId xmlns:a16="http://schemas.microsoft.com/office/drawing/2014/main" id="{F378DC89-901E-4233-9E60-433D3E754D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3550" y="1052513"/>
          <a:ext cx="8329613" cy="538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文档" r:id="rId4" imgW="3945196" imgH="2549747" progId="Word.Document.8">
                  <p:embed/>
                </p:oleObj>
              </mc:Choice>
              <mc:Fallback>
                <p:oleObj name="文档" r:id="rId4" imgW="3945196" imgH="2549747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50" y="1052513"/>
                        <a:ext cx="8329613" cy="5386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7" name="Rectangle 3">
            <a:extLst>
              <a:ext uri="{FF2B5EF4-FFF2-40B4-BE49-F238E27FC236}">
                <a16:creationId xmlns:a16="http://schemas.microsoft.com/office/drawing/2014/main" id="{E54E7CF4-D811-44DF-ADC8-A9A3D0D59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多重集的 </a:t>
            </a:r>
            <a:r>
              <a:rPr lang="en-US" altLang="zh-CN" sz="40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r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组合数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续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0DEFF65-B884-4BEC-8912-C6BA51F45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CC15A7D-81C3-46BA-BF52-639600A9146F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>
            <a:extLst>
              <a:ext uri="{FF2B5EF4-FFF2-40B4-BE49-F238E27FC236}">
                <a16:creationId xmlns:a16="http://schemas.microsoft.com/office/drawing/2014/main" id="{40CBF19D-7573-43FF-B3AA-CAC996E1D9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613" y="1196975"/>
          <a:ext cx="8201025" cy="520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文档" r:id="rId4" imgW="4219294" imgH="2670443" progId="Word.Document.8">
                  <p:embed/>
                </p:oleObj>
              </mc:Choice>
              <mc:Fallback>
                <p:oleObj name="文档" r:id="rId4" imgW="4219294" imgH="267044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3" y="1196975"/>
                        <a:ext cx="8201025" cy="5200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1" name="Rectangle 3">
            <a:extLst>
              <a:ext uri="{FF2B5EF4-FFF2-40B4-BE49-F238E27FC236}">
                <a16:creationId xmlns:a16="http://schemas.microsoft.com/office/drawing/2014/main" id="{765EE4F6-E94D-4573-9A9C-1FE6BD33EA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不定方程解的个数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389940-959A-423F-9421-D814F042B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43985EA-5774-4D6C-AA2F-3C446A7E3813}" type="slidenum">
              <a:rPr lang="en-US" altLang="zh-CN">
                <a:solidFill>
                  <a:srgbClr val="898989"/>
                </a:solidFill>
              </a:rPr>
              <a:pPr eaLnBrk="1" hangingPunct="1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>
            <a:extLst>
              <a:ext uri="{FF2B5EF4-FFF2-40B4-BE49-F238E27FC236}">
                <a16:creationId xmlns:a16="http://schemas.microsoft.com/office/drawing/2014/main" id="{C3E67608-3A1A-4D3D-874B-8F5C1FAEE2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468564"/>
              </p:ext>
            </p:extLst>
          </p:nvPr>
        </p:nvGraphicFramePr>
        <p:xfrm>
          <a:off x="387548" y="1052736"/>
          <a:ext cx="8216900" cy="556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Document" r:id="rId4" imgW="4078848" imgH="2758222" progId="Word.Document.8">
                  <p:embed/>
                </p:oleObj>
              </mc:Choice>
              <mc:Fallback>
                <p:oleObj name="Document" r:id="rId4" imgW="4078848" imgH="275822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548" y="1052736"/>
                        <a:ext cx="8216900" cy="556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6" name="Rectangle 3">
            <a:extLst>
              <a:ext uri="{FF2B5EF4-FFF2-40B4-BE49-F238E27FC236}">
                <a16:creationId xmlns:a16="http://schemas.microsoft.com/office/drawing/2014/main" id="{AA1FFC03-99B3-4469-B61A-4CDFB3B937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不定方程解的个数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续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875B5D-0FC5-4897-BF62-DE7DA0A1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E29836B-F17F-4B31-ACCF-8CDDB2E44DFD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E9EBBE98-2DB5-4466-BA80-3CB01DC277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" y="1268413"/>
          <a:ext cx="8375650" cy="344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9" name="文档" r:id="rId4" imgW="4145164" imgH="1698181" progId="Word.Document.8">
                  <p:embed/>
                </p:oleObj>
              </mc:Choice>
              <mc:Fallback>
                <p:oleObj name="文档" r:id="rId4" imgW="4145164" imgH="1698181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" y="1268413"/>
                        <a:ext cx="8375650" cy="3440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1" name="Group 3">
            <a:extLst>
              <a:ext uri="{FF2B5EF4-FFF2-40B4-BE49-F238E27FC236}">
                <a16:creationId xmlns:a16="http://schemas.microsoft.com/office/drawing/2014/main" id="{3A6BE91E-4736-4D1B-B95C-A0626902CE4A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4508500"/>
          <a:ext cx="7632700" cy="1150938"/>
        </p:xfrm>
        <a:graphic>
          <a:graphicData uri="http://schemas.openxmlformats.org/drawingml/2006/table">
            <a:tbl>
              <a:tblPr/>
              <a:tblGrid>
                <a:gridCol w="804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9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95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95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89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重量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方案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5346" name="Rectangle 50">
            <a:extLst>
              <a:ext uri="{FF2B5EF4-FFF2-40B4-BE49-F238E27FC236}">
                <a16:creationId xmlns:a16="http://schemas.microsoft.com/office/drawing/2014/main" id="{C73E179F-AFB9-4623-BA78-B4618AF3F6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不定方程解的个数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续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18DE8B-ECE5-41F5-BD53-A631DE534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D1BC717-6A58-422D-B7E9-21F5BE2F3DF1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>
            <a:extLst>
              <a:ext uri="{FF2B5EF4-FFF2-40B4-BE49-F238E27FC236}">
                <a16:creationId xmlns:a16="http://schemas.microsoft.com/office/drawing/2014/main" id="{5F19884D-044F-4DDA-AFE9-96596CC259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285750" y="1196975"/>
          <a:ext cx="8867775" cy="510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Document" r:id="rId4" imgW="4315899" imgH="2479353" progId="Word.Document.8">
                  <p:embed/>
                </p:oleObj>
              </mc:Choice>
              <mc:Fallback>
                <p:oleObj name="Document" r:id="rId4" imgW="4315899" imgH="2479353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85750" y="1196975"/>
                        <a:ext cx="8867775" cy="5108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3" name="Rectangle 3">
            <a:extLst>
              <a:ext uri="{FF2B5EF4-FFF2-40B4-BE49-F238E27FC236}">
                <a16:creationId xmlns:a16="http://schemas.microsoft.com/office/drawing/2014/main" id="{A472DE0F-EDED-4D90-9E18-4F673D037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不定方程解的个数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续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9B4FE0-81BB-4E15-B0D1-B22818205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66E5403-13C7-4594-844B-00525179E582}" type="slidenum">
              <a:rPr lang="en-US" altLang="zh-CN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7B78140E-B3B7-4739-BDF0-7D34F4DDE3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正整数的拆分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5D03539-E214-4307-B8B4-FB61FDF66E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650" y="1341438"/>
            <a:ext cx="7772400" cy="4530725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zh-CN" altLang="en-US" b="1"/>
              <a:t>拆分的定义与分类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b="1"/>
              <a:t>无序拆分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b="1"/>
              <a:t>有序拆分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47139A-D12E-42B4-AFF8-3036502D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3CF66BF-5D27-44BB-A50D-41239281A680}" type="slidenum">
              <a:rPr lang="en-US" altLang="zh-CN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2194" name="Group 2">
            <a:extLst>
              <a:ext uri="{FF2B5EF4-FFF2-40B4-BE49-F238E27FC236}">
                <a16:creationId xmlns:a16="http://schemas.microsoft.com/office/drawing/2014/main" id="{B57B39FD-ADED-4395-9EAF-EDF8BC3901C0}"/>
              </a:ext>
            </a:extLst>
          </p:cNvPr>
          <p:cNvGraphicFramePr>
            <a:graphicFrameLocks noGrp="1"/>
          </p:cNvGraphicFramePr>
          <p:nvPr/>
        </p:nvGraphicFramePr>
        <p:xfrm>
          <a:off x="1187450" y="1196975"/>
          <a:ext cx="6551613" cy="4714874"/>
        </p:xfrm>
        <a:graphic>
          <a:graphicData uri="http://schemas.openxmlformats.org/drawingml/2006/table">
            <a:tbl>
              <a:tblPr/>
              <a:tblGrid>
                <a:gridCol w="1474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5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0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有序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无序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8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不重复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= 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= 1+3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= 3+1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= 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= 1+3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9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Times New Roman" pitchFamily="18" charset="0"/>
                        </a:rPr>
                        <a:t>重复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= 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= 1+3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= 3+1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= 2+2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= 2+1+1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= 1+2+1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= 1+1+2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= 1+1+1+1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= 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= 1+3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= 2+2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= 2+1+1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 = 1+1+1+1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9348" name="Rectangle 20">
            <a:extLst>
              <a:ext uri="{FF2B5EF4-FFF2-40B4-BE49-F238E27FC236}">
                <a16:creationId xmlns:a16="http://schemas.microsoft.com/office/drawing/2014/main" id="{DECD3353-D414-497C-9DFC-2352FE0B8C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60648"/>
            <a:ext cx="7772400" cy="792163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拆分的定义与分类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980D06-FE63-453D-81C7-381330DCD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F77C449-5D5F-488F-B1EA-7240DCF9A897}" type="slidenum">
              <a:rPr lang="en-US" altLang="zh-CN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2">
            <a:extLst>
              <a:ext uri="{FF2B5EF4-FFF2-40B4-BE49-F238E27FC236}">
                <a16:creationId xmlns:a16="http://schemas.microsoft.com/office/drawing/2014/main" id="{7A7126F8-327D-466C-81C3-F0E062ABF5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138" y="1125538"/>
          <a:ext cx="8301037" cy="522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文档" r:id="rId4" imgW="4062377" imgH="2561852" progId="Word.Document.8">
                  <p:embed/>
                </p:oleObj>
              </mc:Choice>
              <mc:Fallback>
                <p:oleObj name="文档" r:id="rId4" imgW="4062377" imgH="256185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38" y="1125538"/>
                        <a:ext cx="8301037" cy="5226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7" name="Rectangle 3">
            <a:extLst>
              <a:ext uri="{FF2B5EF4-FFF2-40B4-BE49-F238E27FC236}">
                <a16:creationId xmlns:a16="http://schemas.microsoft.com/office/drawing/2014/main" id="{DA8A33A4-31E4-4580-9348-34ECC01370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无序拆分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33FF03-8211-4F72-AF76-2FFB95D1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742E8D1-68DA-44D9-8FFA-1202F97C5C74}" type="slidenum">
              <a:rPr lang="en-US" altLang="zh-CN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2">
            <a:extLst>
              <a:ext uri="{FF2B5EF4-FFF2-40B4-BE49-F238E27FC236}">
                <a16:creationId xmlns:a16="http://schemas.microsoft.com/office/drawing/2014/main" id="{8685EBB0-2625-4C66-BE21-0368C45381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2750" y="1052513"/>
          <a:ext cx="8142288" cy="568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文档" r:id="rId4" imgW="4027786" imgH="2810235" progId="Word.Document.8">
                  <p:embed/>
                </p:oleObj>
              </mc:Choice>
              <mc:Fallback>
                <p:oleObj name="文档" r:id="rId4" imgW="4027786" imgH="281023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" y="1052513"/>
                        <a:ext cx="8142288" cy="5688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1" name="Rectangle 3">
            <a:extLst>
              <a:ext uri="{FF2B5EF4-FFF2-40B4-BE49-F238E27FC236}">
                <a16:creationId xmlns:a16="http://schemas.microsoft.com/office/drawing/2014/main" id="{F3A1FE2A-2D02-4121-A43F-6C05E0D018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5013" y="11588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69DEF6-77CF-4396-85BA-0B8DE6A52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AEFA372-3CF9-4355-A07D-27D5DBD8B44A}" type="slidenum">
              <a:rPr lang="en-US" altLang="zh-CN">
                <a:solidFill>
                  <a:srgbClr val="898989"/>
                </a:solidFill>
              </a:rPr>
              <a:pPr eaLnBrk="1" hangingPunct="1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0E4570EC-F7CE-480F-A1A5-B18D9085F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6302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有限制条件的无序拆分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7601D88-6457-42E3-AA81-DD0D2FAA30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196975"/>
            <a:ext cx="8066087" cy="4530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将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</a:rPr>
              <a:t>无序拆分成正整数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, … ,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n</a:t>
            </a:r>
            <a:endParaRPr lang="en-US" altLang="zh-CN" sz="2800" b="1" baseline="-2500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   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 </a:t>
            </a:r>
            <a:r>
              <a:rPr lang="en-US" altLang="zh-CN" sz="2800" b="1">
                <a:latin typeface="Times New Roman" panose="02020603050405020304" pitchFamily="18" charset="0"/>
              </a:rPr>
              <a:t>+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 + … +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n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800" b="1" i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</a:p>
          <a:p>
            <a:pPr eaLnBrk="1" hangingPunct="1">
              <a:spcBef>
                <a:spcPct val="700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限制条件：</a:t>
            </a:r>
            <a:r>
              <a:rPr lang="en-US" altLang="zh-CN" sz="2800" b="1" i="1">
                <a:latin typeface="Times New Roman" panose="02020603050405020304" pitchFamily="18" charset="0"/>
              </a:rPr>
              <a:t>l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转变为方程非负整数解的问题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228B19-5EF3-4A55-B7D6-7283B71A3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8A3230A-485A-4F83-B02B-BF15067A534D}" type="slidenum">
              <a:rPr lang="en-US" altLang="zh-CN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2">
            <a:extLst>
              <a:ext uri="{FF2B5EF4-FFF2-40B4-BE49-F238E27FC236}">
                <a16:creationId xmlns:a16="http://schemas.microsoft.com/office/drawing/2014/main" id="{1A303B3D-96DE-48F6-BCE8-724647C612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025" y="1052513"/>
          <a:ext cx="8404225" cy="514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1" name="文档" r:id="rId4" imgW="4709783" imgH="2884814" progId="Word.Document.8">
                  <p:embed/>
                </p:oleObj>
              </mc:Choice>
              <mc:Fallback>
                <p:oleObj name="文档" r:id="rId4" imgW="4709783" imgH="2884814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" y="1052513"/>
                        <a:ext cx="8404225" cy="5148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6" name="Rectangle 4">
            <a:extLst>
              <a:ext uri="{FF2B5EF4-FFF2-40B4-BE49-F238E27FC236}">
                <a16:creationId xmlns:a16="http://schemas.microsoft.com/office/drawing/2014/main" id="{6723C06B-4DDD-484B-A59E-4971E9587B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有限制条件的无序拆分</a:t>
            </a:r>
          </a:p>
        </p:txBody>
      </p:sp>
      <p:sp>
        <p:nvSpPr>
          <p:cNvPr id="38" name="灯片编号占位符 37">
            <a:extLst>
              <a:ext uri="{FF2B5EF4-FFF2-40B4-BE49-F238E27FC236}">
                <a16:creationId xmlns:a16="http://schemas.microsoft.com/office/drawing/2014/main" id="{24ADDCFE-8355-49C6-86A4-B313340FA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7308F1A-F89B-40ED-9D58-B90DC2B3FF4C}" type="slidenum">
              <a:rPr lang="en-US" altLang="zh-CN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13316" name="组合 46">
            <a:extLst>
              <a:ext uri="{FF2B5EF4-FFF2-40B4-BE49-F238E27FC236}">
                <a16:creationId xmlns:a16="http://schemas.microsoft.com/office/drawing/2014/main" id="{89A31CC2-9BAA-432F-8CC7-199E7E4BFBCA}"/>
              </a:ext>
            </a:extLst>
          </p:cNvPr>
          <p:cNvGrpSpPr>
            <a:grpSpLocks/>
          </p:cNvGrpSpPr>
          <p:nvPr/>
        </p:nvGrpSpPr>
        <p:grpSpPr bwMode="auto">
          <a:xfrm>
            <a:off x="5651500" y="2636838"/>
            <a:ext cx="2592388" cy="3279775"/>
            <a:chOff x="5220072" y="2524834"/>
            <a:chExt cx="2592288" cy="3280430"/>
          </a:xfrm>
        </p:grpSpPr>
        <p:grpSp>
          <p:nvGrpSpPr>
            <p:cNvPr id="13318" name="组合 43">
              <a:extLst>
                <a:ext uri="{FF2B5EF4-FFF2-40B4-BE49-F238E27FC236}">
                  <a16:creationId xmlns:a16="http://schemas.microsoft.com/office/drawing/2014/main" id="{4A147652-3E4D-4311-B868-9A041BD00E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20072" y="2708920"/>
              <a:ext cx="2592288" cy="3096344"/>
              <a:chOff x="5076056" y="2708920"/>
              <a:chExt cx="2592288" cy="3096344"/>
            </a:xfrm>
          </p:grpSpPr>
          <p:grpSp>
            <p:nvGrpSpPr>
              <p:cNvPr id="13321" name="组合 42">
                <a:extLst>
                  <a:ext uri="{FF2B5EF4-FFF2-40B4-BE49-F238E27FC236}">
                    <a16:creationId xmlns:a16="http://schemas.microsoft.com/office/drawing/2014/main" id="{69FDA152-4851-4A4E-A85F-37353CF475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76056" y="2708920"/>
                <a:ext cx="2592288" cy="3096344"/>
                <a:chOff x="5076056" y="2708920"/>
                <a:chExt cx="2592288" cy="3096344"/>
              </a:xfrm>
            </p:grpSpPr>
            <p:grpSp>
              <p:nvGrpSpPr>
                <p:cNvPr id="13330" name="组合 39">
                  <a:extLst>
                    <a:ext uri="{FF2B5EF4-FFF2-40B4-BE49-F238E27FC236}">
                      <a16:creationId xmlns:a16="http://schemas.microsoft.com/office/drawing/2014/main" id="{CD9EC73F-7BB6-4856-BDAE-3D488E2F23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48064" y="3573016"/>
                  <a:ext cx="1296144" cy="2160240"/>
                  <a:chOff x="5148064" y="3573016"/>
                  <a:chExt cx="1296144" cy="2160240"/>
                </a:xfrm>
              </p:grpSpPr>
              <p:sp>
                <p:nvSpPr>
                  <p:cNvPr id="27" name="矩形 26">
                    <a:extLst>
                      <a:ext uri="{FF2B5EF4-FFF2-40B4-BE49-F238E27FC236}">
                        <a16:creationId xmlns:a16="http://schemas.microsoft.com/office/drawing/2014/main" id="{47B58714-C528-4FC6-8EA8-E1FFD4270E31}"/>
                      </a:ext>
                    </a:extLst>
                  </p:cNvPr>
                  <p:cNvSpPr/>
                  <p:nvPr/>
                </p:nvSpPr>
                <p:spPr>
                  <a:xfrm>
                    <a:off x="5147491" y="3572793"/>
                    <a:ext cx="1296937" cy="216101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cxnSp>
                <p:nvCxnSpPr>
                  <p:cNvPr id="35" name="直接连接符 34">
                    <a:extLst>
                      <a:ext uri="{FF2B5EF4-FFF2-40B4-BE49-F238E27FC236}">
                        <a16:creationId xmlns:a16="http://schemas.microsoft.com/office/drawing/2014/main" id="{F5FC9803-2F73-44F1-A5A7-FD37BD47826D}"/>
                      </a:ext>
                    </a:extLst>
                  </p:cNvPr>
                  <p:cNvCxnSpPr/>
                  <p:nvPr/>
                </p:nvCxnSpPr>
                <p:spPr>
                  <a:xfrm>
                    <a:off x="6012645" y="3572793"/>
                    <a:ext cx="0" cy="2161018"/>
                  </a:xfrm>
                  <a:prstGeom prst="line">
                    <a:avLst/>
                  </a:prstGeom>
                  <a:ln w="2222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直接连接符 35">
                    <a:extLst>
                      <a:ext uri="{FF2B5EF4-FFF2-40B4-BE49-F238E27FC236}">
                        <a16:creationId xmlns:a16="http://schemas.microsoft.com/office/drawing/2014/main" id="{6EF32C48-2D82-4DCE-87B7-4A7E1FB3C045}"/>
                      </a:ext>
                    </a:extLst>
                  </p:cNvPr>
                  <p:cNvCxnSpPr/>
                  <p:nvPr/>
                </p:nvCxnSpPr>
                <p:spPr>
                  <a:xfrm>
                    <a:off x="5579274" y="3572793"/>
                    <a:ext cx="0" cy="2161018"/>
                  </a:xfrm>
                  <a:prstGeom prst="line">
                    <a:avLst/>
                  </a:prstGeom>
                  <a:ln w="2222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331" name="组合 38">
                  <a:extLst>
                    <a:ext uri="{FF2B5EF4-FFF2-40B4-BE49-F238E27FC236}">
                      <a16:creationId xmlns:a16="http://schemas.microsoft.com/office/drawing/2014/main" id="{B5B44766-C893-472B-BAE5-41B3716527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76056" y="2708920"/>
                  <a:ext cx="1440160" cy="3096344"/>
                  <a:chOff x="5076056" y="2708920"/>
                  <a:chExt cx="1440160" cy="3096344"/>
                </a:xfrm>
              </p:grpSpPr>
              <p:cxnSp>
                <p:nvCxnSpPr>
                  <p:cNvPr id="7" name="直接箭头连接符 6">
                    <a:extLst>
                      <a:ext uri="{FF2B5EF4-FFF2-40B4-BE49-F238E27FC236}">
                        <a16:creationId xmlns:a16="http://schemas.microsoft.com/office/drawing/2014/main" id="{96A70DF8-84DC-470E-A298-37B4E80C6C6D}"/>
                      </a:ext>
                    </a:extLst>
                  </p:cNvPr>
                  <p:cNvCxnSpPr/>
                  <p:nvPr/>
                </p:nvCxnSpPr>
                <p:spPr>
                  <a:xfrm flipH="1" flipV="1">
                    <a:off x="5139554" y="2709021"/>
                    <a:ext cx="7938" cy="2961278"/>
                  </a:xfrm>
                  <a:prstGeom prst="straightConnector1">
                    <a:avLst/>
                  </a:prstGeom>
                  <a:ln w="25400">
                    <a:headEnd type="non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" name="椭圆 9">
                    <a:extLst>
                      <a:ext uri="{FF2B5EF4-FFF2-40B4-BE49-F238E27FC236}">
                        <a16:creationId xmlns:a16="http://schemas.microsoft.com/office/drawing/2014/main" id="{88B7E0DD-1D4E-41A5-A4B9-F0329FC1BFFD}"/>
                      </a:ext>
                    </a:extLst>
                  </p:cNvPr>
                  <p:cNvSpPr/>
                  <p:nvPr/>
                </p:nvSpPr>
                <p:spPr>
                  <a:xfrm>
                    <a:off x="5076056" y="3501341"/>
                    <a:ext cx="144457" cy="144492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椭圆 10">
                    <a:extLst>
                      <a:ext uri="{FF2B5EF4-FFF2-40B4-BE49-F238E27FC236}">
                        <a16:creationId xmlns:a16="http://schemas.microsoft.com/office/drawing/2014/main" id="{67AEBE34-61BA-4C5F-B979-D6D6A038D906}"/>
                      </a:ext>
                    </a:extLst>
                  </p:cNvPr>
                  <p:cNvSpPr/>
                  <p:nvPr/>
                </p:nvSpPr>
                <p:spPr>
                  <a:xfrm>
                    <a:off x="5076056" y="3933227"/>
                    <a:ext cx="144457" cy="144492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椭圆 11">
                    <a:extLst>
                      <a:ext uri="{FF2B5EF4-FFF2-40B4-BE49-F238E27FC236}">
                        <a16:creationId xmlns:a16="http://schemas.microsoft.com/office/drawing/2014/main" id="{D829E552-F7FF-4A26-9308-401F8E466AB8}"/>
                      </a:ext>
                    </a:extLst>
                  </p:cNvPr>
                  <p:cNvSpPr/>
                  <p:nvPr/>
                </p:nvSpPr>
                <p:spPr>
                  <a:xfrm>
                    <a:off x="5076056" y="4365114"/>
                    <a:ext cx="144457" cy="144492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椭圆 12">
                    <a:extLst>
                      <a:ext uri="{FF2B5EF4-FFF2-40B4-BE49-F238E27FC236}">
                        <a16:creationId xmlns:a16="http://schemas.microsoft.com/office/drawing/2014/main" id="{EC6320D5-8E4D-4E9D-BE2F-F44B89E781FA}"/>
                      </a:ext>
                    </a:extLst>
                  </p:cNvPr>
                  <p:cNvSpPr/>
                  <p:nvPr/>
                </p:nvSpPr>
                <p:spPr>
                  <a:xfrm>
                    <a:off x="5076056" y="4797000"/>
                    <a:ext cx="144457" cy="144492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椭圆 13">
                    <a:extLst>
                      <a:ext uri="{FF2B5EF4-FFF2-40B4-BE49-F238E27FC236}">
                        <a16:creationId xmlns:a16="http://schemas.microsoft.com/office/drawing/2014/main" id="{1F1320E7-FB50-4276-9414-6C6C86EF6CBA}"/>
                      </a:ext>
                    </a:extLst>
                  </p:cNvPr>
                  <p:cNvSpPr/>
                  <p:nvPr/>
                </p:nvSpPr>
                <p:spPr>
                  <a:xfrm>
                    <a:off x="5076056" y="5228886"/>
                    <a:ext cx="144457" cy="144492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" name="椭圆 14">
                    <a:extLst>
                      <a:ext uri="{FF2B5EF4-FFF2-40B4-BE49-F238E27FC236}">
                        <a16:creationId xmlns:a16="http://schemas.microsoft.com/office/drawing/2014/main" id="{8FC5DBD2-1E69-4555-BD32-A9DDC6D5A6D9}"/>
                      </a:ext>
                    </a:extLst>
                  </p:cNvPr>
                  <p:cNvSpPr/>
                  <p:nvPr/>
                </p:nvSpPr>
                <p:spPr>
                  <a:xfrm>
                    <a:off x="5076056" y="5660772"/>
                    <a:ext cx="144457" cy="144492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20" name="椭圆 19">
                    <a:extLst>
                      <a:ext uri="{FF2B5EF4-FFF2-40B4-BE49-F238E27FC236}">
                        <a16:creationId xmlns:a16="http://schemas.microsoft.com/office/drawing/2014/main" id="{1A831CD0-3DFD-4687-AE9D-DFD164A8FBC8}"/>
                      </a:ext>
                    </a:extLst>
                  </p:cNvPr>
                  <p:cNvSpPr/>
                  <p:nvPr/>
                </p:nvSpPr>
                <p:spPr>
                  <a:xfrm>
                    <a:off x="5507839" y="5660772"/>
                    <a:ext cx="144457" cy="144492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26" name="椭圆 25">
                    <a:extLst>
                      <a:ext uri="{FF2B5EF4-FFF2-40B4-BE49-F238E27FC236}">
                        <a16:creationId xmlns:a16="http://schemas.microsoft.com/office/drawing/2014/main" id="{726EA22E-6134-4B1C-9CA9-C1B12158DAE4}"/>
                      </a:ext>
                    </a:extLst>
                  </p:cNvPr>
                  <p:cNvSpPr/>
                  <p:nvPr/>
                </p:nvSpPr>
                <p:spPr>
                  <a:xfrm>
                    <a:off x="6371406" y="5660772"/>
                    <a:ext cx="144457" cy="144492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zh-CN" altLang="en-US"/>
                  </a:p>
                </p:txBody>
              </p:sp>
            </p:grpSp>
            <p:grpSp>
              <p:nvGrpSpPr>
                <p:cNvPr id="13332" name="组合 40">
                  <a:extLst>
                    <a:ext uri="{FF2B5EF4-FFF2-40B4-BE49-F238E27FC236}">
                      <a16:creationId xmlns:a16="http://schemas.microsoft.com/office/drawing/2014/main" id="{04ACE4DF-27B8-4B1E-ACC0-CE99CA89F6F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48064" y="4005064"/>
                  <a:ext cx="2520280" cy="1728192"/>
                  <a:chOff x="5148064" y="4005064"/>
                  <a:chExt cx="2520280" cy="1728192"/>
                </a:xfrm>
              </p:grpSpPr>
              <p:cxnSp>
                <p:nvCxnSpPr>
                  <p:cNvPr id="6" name="直接箭头连接符 5">
                    <a:extLst>
                      <a:ext uri="{FF2B5EF4-FFF2-40B4-BE49-F238E27FC236}">
                        <a16:creationId xmlns:a16="http://schemas.microsoft.com/office/drawing/2014/main" id="{4BEC6028-6C01-40BB-9EB1-669119C091EA}"/>
                      </a:ext>
                    </a:extLst>
                  </p:cNvPr>
                  <p:cNvCxnSpPr/>
                  <p:nvPr/>
                </p:nvCxnSpPr>
                <p:spPr>
                  <a:xfrm>
                    <a:off x="5147491" y="5733812"/>
                    <a:ext cx="2520853" cy="0"/>
                  </a:xfrm>
                  <a:prstGeom prst="straightConnector1">
                    <a:avLst/>
                  </a:prstGeom>
                  <a:ln w="25400">
                    <a:headEnd type="non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直接连接符 28">
                    <a:extLst>
                      <a:ext uri="{FF2B5EF4-FFF2-40B4-BE49-F238E27FC236}">
                        <a16:creationId xmlns:a16="http://schemas.microsoft.com/office/drawing/2014/main" id="{0EA4A4C6-01C1-4EB2-B00E-9DB357A0E429}"/>
                      </a:ext>
                    </a:extLst>
                  </p:cNvPr>
                  <p:cNvCxnSpPr/>
                  <p:nvPr/>
                </p:nvCxnSpPr>
                <p:spPr>
                  <a:xfrm>
                    <a:off x="5218925" y="4004680"/>
                    <a:ext cx="1225503" cy="0"/>
                  </a:xfrm>
                  <a:prstGeom prst="line">
                    <a:avLst/>
                  </a:prstGeom>
                  <a:ln w="2222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直接连接符 30">
                    <a:extLst>
                      <a:ext uri="{FF2B5EF4-FFF2-40B4-BE49-F238E27FC236}">
                        <a16:creationId xmlns:a16="http://schemas.microsoft.com/office/drawing/2014/main" id="{3D6BCD31-3E16-4C6B-A47C-74FFEAE30F1C}"/>
                      </a:ext>
                    </a:extLst>
                  </p:cNvPr>
                  <p:cNvCxnSpPr/>
                  <p:nvPr/>
                </p:nvCxnSpPr>
                <p:spPr>
                  <a:xfrm>
                    <a:off x="5218925" y="4436566"/>
                    <a:ext cx="1225503" cy="0"/>
                  </a:xfrm>
                  <a:prstGeom prst="line">
                    <a:avLst/>
                  </a:prstGeom>
                  <a:ln w="2222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直接连接符 31">
                    <a:extLst>
                      <a:ext uri="{FF2B5EF4-FFF2-40B4-BE49-F238E27FC236}">
                        <a16:creationId xmlns:a16="http://schemas.microsoft.com/office/drawing/2014/main" id="{5A46A7A0-44C9-486A-A520-3091D51D44B4}"/>
                      </a:ext>
                    </a:extLst>
                  </p:cNvPr>
                  <p:cNvCxnSpPr/>
                  <p:nvPr/>
                </p:nvCxnSpPr>
                <p:spPr>
                  <a:xfrm>
                    <a:off x="5218925" y="4870040"/>
                    <a:ext cx="1225503" cy="0"/>
                  </a:xfrm>
                  <a:prstGeom prst="line">
                    <a:avLst/>
                  </a:prstGeom>
                  <a:ln w="2222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接连接符 32">
                    <a:extLst>
                      <a:ext uri="{FF2B5EF4-FFF2-40B4-BE49-F238E27FC236}">
                        <a16:creationId xmlns:a16="http://schemas.microsoft.com/office/drawing/2014/main" id="{CC2479F9-65D2-4DB3-8146-95CFAF5910DA}"/>
                      </a:ext>
                    </a:extLst>
                  </p:cNvPr>
                  <p:cNvCxnSpPr/>
                  <p:nvPr/>
                </p:nvCxnSpPr>
                <p:spPr>
                  <a:xfrm>
                    <a:off x="5218925" y="5301926"/>
                    <a:ext cx="1225503" cy="0"/>
                  </a:xfrm>
                  <a:prstGeom prst="line">
                    <a:avLst/>
                  </a:prstGeom>
                  <a:ln w="2222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8811C2AD-0851-4698-B632-2E060F38568A}"/>
                  </a:ext>
                </a:extLst>
              </p:cNvPr>
              <p:cNvSpPr/>
              <p:nvPr/>
            </p:nvSpPr>
            <p:spPr>
              <a:xfrm>
                <a:off x="5507839" y="3933227"/>
                <a:ext cx="144457" cy="14449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80C5039F-6243-4815-9217-CDAE133E277C}"/>
                  </a:ext>
                </a:extLst>
              </p:cNvPr>
              <p:cNvSpPr/>
              <p:nvPr/>
            </p:nvSpPr>
            <p:spPr>
              <a:xfrm>
                <a:off x="5507839" y="4365114"/>
                <a:ext cx="144457" cy="14449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640F5342-30FE-4040-ADB6-92DCF63B6AC3}"/>
                  </a:ext>
                </a:extLst>
              </p:cNvPr>
              <p:cNvSpPr/>
              <p:nvPr/>
            </p:nvSpPr>
            <p:spPr>
              <a:xfrm>
                <a:off x="5507839" y="4797000"/>
                <a:ext cx="144457" cy="14449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6CDB0947-057B-4125-951A-24C2F35D09F9}"/>
                  </a:ext>
                </a:extLst>
              </p:cNvPr>
              <p:cNvSpPr/>
              <p:nvPr/>
            </p:nvSpPr>
            <p:spPr>
              <a:xfrm>
                <a:off x="5507839" y="5228886"/>
                <a:ext cx="144457" cy="14449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94E830C5-5B85-4EF7-A489-289C3A3B5F4C}"/>
                  </a:ext>
                </a:extLst>
              </p:cNvPr>
              <p:cNvSpPr/>
              <p:nvPr/>
            </p:nvSpPr>
            <p:spPr>
              <a:xfrm>
                <a:off x="5939623" y="4797000"/>
                <a:ext cx="144457" cy="14449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4659C92D-DB4A-432B-A04F-9F0F65C654DD}"/>
                  </a:ext>
                </a:extLst>
              </p:cNvPr>
              <p:cNvSpPr/>
              <p:nvPr/>
            </p:nvSpPr>
            <p:spPr>
              <a:xfrm>
                <a:off x="5939623" y="5228886"/>
                <a:ext cx="144457" cy="14449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617BE628-AB71-4911-A690-10CAAA4E6EC4}"/>
                  </a:ext>
                </a:extLst>
              </p:cNvPr>
              <p:cNvSpPr/>
              <p:nvPr/>
            </p:nvSpPr>
            <p:spPr>
              <a:xfrm>
                <a:off x="5939623" y="5660772"/>
                <a:ext cx="144457" cy="14449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8D473D8A-7685-47AC-9ED2-4E527A27F1BF}"/>
                  </a:ext>
                </a:extLst>
              </p:cNvPr>
              <p:cNvSpPr/>
              <p:nvPr/>
            </p:nvSpPr>
            <p:spPr>
              <a:xfrm>
                <a:off x="6372994" y="5228886"/>
                <a:ext cx="142869" cy="14449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sp>
          <p:nvSpPr>
            <p:cNvPr id="13319" name="TextBox 44">
              <a:extLst>
                <a:ext uri="{FF2B5EF4-FFF2-40B4-BE49-F238E27FC236}">
                  <a16:creationId xmlns:a16="http://schemas.microsoft.com/office/drawing/2014/main" id="{FF2C5820-28D2-42F6-8C6D-806641EAC1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088" y="2524834"/>
              <a:ext cx="144016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/>
                <a:t>大小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CN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20" name="TextBox 45">
              <a:extLst>
                <a:ext uri="{FF2B5EF4-FFF2-40B4-BE49-F238E27FC236}">
                  <a16:creationId xmlns:a16="http://schemas.microsoft.com/office/drawing/2014/main" id="{616E92A5-03FA-405B-97FC-478C66E52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6256" y="5261138"/>
              <a:ext cx="9361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/>
                <a:t>个数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CN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>
            <a:extLst>
              <a:ext uri="{FF2B5EF4-FFF2-40B4-BE49-F238E27FC236}">
                <a16:creationId xmlns:a16="http://schemas.microsoft.com/office/drawing/2014/main" id="{62B78880-FEFD-424D-A91C-C203FDB64E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175" y="1125538"/>
          <a:ext cx="8515350" cy="458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文档" r:id="rId4" imgW="4586800" imgH="2471926" progId="Word.Document.8">
                  <p:embed/>
                </p:oleObj>
              </mc:Choice>
              <mc:Fallback>
                <p:oleObj name="文档" r:id="rId4" imgW="4586800" imgH="2471926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" y="1125538"/>
                        <a:ext cx="8515350" cy="458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19" name="Rectangle 3">
            <a:extLst>
              <a:ext uri="{FF2B5EF4-FFF2-40B4-BE49-F238E27FC236}">
                <a16:creationId xmlns:a16="http://schemas.microsoft.com/office/drawing/2014/main" id="{AB5E48CE-10B7-4819-8CFD-B0DC8177F5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905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有序拆分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75D3B2-FDBA-4E7C-B614-671C1117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DA0ADA3-F4E0-46F0-988C-4F92AAC8322A}" type="slidenum">
              <a:rPr lang="en-US" altLang="zh-CN">
                <a:solidFill>
                  <a:srgbClr val="898989"/>
                </a:solidFill>
              </a:rPr>
              <a:pPr eaLnBrk="1" hangingPunct="1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2">
            <a:extLst>
              <a:ext uri="{FF2B5EF4-FFF2-40B4-BE49-F238E27FC236}">
                <a16:creationId xmlns:a16="http://schemas.microsoft.com/office/drawing/2014/main" id="{D33799DC-5104-4C2D-B616-53888D40B5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747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有序拆分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续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365" name="Rectangle 3">
            <a:extLst>
              <a:ext uri="{FF2B5EF4-FFF2-40B4-BE49-F238E27FC236}">
                <a16:creationId xmlns:a16="http://schemas.microsoft.com/office/drawing/2014/main" id="{1FF5A8E3-3FE2-4DD0-B28E-D1274527E10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68413"/>
            <a:ext cx="8218488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方法二：生成函数</a:t>
            </a:r>
            <a:r>
              <a:rPr lang="en-US" altLang="zh-CN" sz="2400" b="1"/>
              <a:t>.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</a:rPr>
              <a:t>      G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</a:rPr>
              <a:t>) = (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</a:rPr>
              <a:t>+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+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</a:rPr>
              <a:t>+…)</a:t>
            </a:r>
            <a:r>
              <a:rPr lang="en-US" altLang="zh-CN" sz="2400" b="1" i="1" baseline="30000">
                <a:latin typeface="Times New Roman" panose="02020603050405020304" pitchFamily="18" charset="0"/>
              </a:rPr>
              <a:t>r </a:t>
            </a:r>
            <a:r>
              <a:rPr lang="zh-CN" altLang="en-US" sz="2400" b="1">
                <a:latin typeface="Times New Roman" panose="02020603050405020304" pitchFamily="18" charset="0"/>
              </a:rPr>
              <a:t>中 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 i="1" baseline="30000">
                <a:latin typeface="Times New Roman" panose="02020603050405020304" pitchFamily="18" charset="0"/>
              </a:rPr>
              <a:t>N </a:t>
            </a:r>
            <a:r>
              <a:rPr lang="zh-CN" altLang="en-US" sz="2400" b="1">
                <a:latin typeface="Times New Roman" panose="02020603050405020304" pitchFamily="18" charset="0"/>
              </a:rPr>
              <a:t>项的系数</a:t>
            </a:r>
            <a:r>
              <a:rPr lang="en-US" altLang="zh-CN" sz="2400" b="1">
                <a:latin typeface="Times New Roman" panose="02020603050405020304" pitchFamily="18" charset="0"/>
              </a:rPr>
              <a:t>.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  </a:t>
            </a:r>
          </a:p>
          <a:p>
            <a:pPr eaLnBrk="1" hangingPunct="1">
              <a:lnSpc>
                <a:spcPct val="90000"/>
              </a:lnSpc>
            </a:pPr>
            <a:endParaRPr lang="en-US" altLang="zh-CN" sz="2400" b="1"/>
          </a:p>
          <a:p>
            <a:pPr eaLnBrk="1" hangingPunct="1">
              <a:lnSpc>
                <a:spcPct val="90000"/>
              </a:lnSpc>
            </a:pPr>
            <a:endParaRPr lang="en-US" altLang="zh-CN" sz="2400" b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 b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    </a:t>
            </a:r>
            <a:r>
              <a:rPr lang="zh-CN" altLang="en-US" sz="2400" b="1"/>
              <a:t>所求的方法数为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b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(2) </a:t>
            </a:r>
            <a:r>
              <a:rPr lang="zh-CN" altLang="en-US" sz="2400" b="1"/>
              <a:t>不允许重复有序拆分：不允许重复无序拆分 </a:t>
            </a:r>
            <a:r>
              <a:rPr lang="en-US" altLang="zh-CN" sz="2400" b="1"/>
              <a:t>+ </a:t>
            </a:r>
            <a:r>
              <a:rPr lang="zh-CN" altLang="en-US" sz="2400" b="1"/>
              <a:t>全排列</a:t>
            </a:r>
          </a:p>
        </p:txBody>
      </p:sp>
      <p:graphicFrame>
        <p:nvGraphicFramePr>
          <p:cNvPr id="15362" name="Object 4">
            <a:extLst>
              <a:ext uri="{FF2B5EF4-FFF2-40B4-BE49-F238E27FC236}">
                <a16:creationId xmlns:a16="http://schemas.microsoft.com/office/drawing/2014/main" id="{435DDAD4-1CF5-4CA4-A8F4-CC120BD97EAE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181100" y="2133600"/>
          <a:ext cx="7058025" cy="202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公式" r:id="rId4" imgW="3060360" imgH="876240" progId="Equation.3">
                  <p:embed/>
                </p:oleObj>
              </mc:Choice>
              <mc:Fallback>
                <p:oleObj name="公式" r:id="rId4" imgW="3060360" imgH="876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2133600"/>
                        <a:ext cx="7058025" cy="2020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5">
            <a:extLst>
              <a:ext uri="{FF2B5EF4-FFF2-40B4-BE49-F238E27FC236}">
                <a16:creationId xmlns:a16="http://schemas.microsoft.com/office/drawing/2014/main" id="{17C04F66-51B1-45C9-9BEB-6BFB5A64D487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298825" y="4365625"/>
          <a:ext cx="79216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公式" r:id="rId6" imgW="507960" imgH="431640" progId="Equation.3">
                  <p:embed/>
                </p:oleObj>
              </mc:Choice>
              <mc:Fallback>
                <p:oleObj name="公式" r:id="rId6" imgW="50796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825" y="4365625"/>
                        <a:ext cx="792163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3EE4D7-178C-44D2-9754-94264EA1F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939C11C-C59A-4A92-8CE4-4FB37FFA8494}" type="slidenum">
              <a:rPr lang="en-US" altLang="zh-CN">
                <a:solidFill>
                  <a:srgbClr val="898989"/>
                </a:solidFill>
              </a:rPr>
              <a:pPr eaLnBrk="1" hangingPunct="1"/>
              <a:t>19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>
            <a:extLst>
              <a:ext uri="{FF2B5EF4-FFF2-40B4-BE49-F238E27FC236}">
                <a16:creationId xmlns:a16="http://schemas.microsoft.com/office/drawing/2014/main" id="{CDC49B9B-3CB9-439E-884B-5EE44B2689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088" y="1125538"/>
          <a:ext cx="8723312" cy="535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文档" r:id="rId4" imgW="4622379" imgH="2838342" progId="Word.Document.8">
                  <p:embed/>
                </p:oleObj>
              </mc:Choice>
              <mc:Fallback>
                <p:oleObj name="文档" r:id="rId4" imgW="4622379" imgH="2838342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88" y="1125538"/>
                        <a:ext cx="8723312" cy="535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7" name="Rectangle 3">
            <a:extLst>
              <a:ext uri="{FF2B5EF4-FFF2-40B4-BE49-F238E27FC236}">
                <a16:creationId xmlns:a16="http://schemas.microsoft.com/office/drawing/2014/main" id="{30FBDC6D-76FE-4782-B96E-C96B6666D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77813"/>
            <a:ext cx="7772400" cy="703262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22.5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指数生成函数 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4042B9-59A4-4E69-8C48-4CA3A5445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867F6F2-03B1-4ACC-BC23-1EDCD5B9CC6E}" type="slidenum">
              <a:rPr lang="en-US" altLang="zh-CN">
                <a:solidFill>
                  <a:srgbClr val="898989"/>
                </a:solidFill>
              </a:rPr>
              <a:pPr eaLnBrk="1" hangingPunct="1"/>
              <a:t>20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>
            <a:extLst>
              <a:ext uri="{FF2B5EF4-FFF2-40B4-BE49-F238E27FC236}">
                <a16:creationId xmlns:a16="http://schemas.microsoft.com/office/drawing/2014/main" id="{BC3E8512-B4F2-44A4-B931-44F130D370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050" y="1125538"/>
          <a:ext cx="8493125" cy="566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文档" r:id="rId4" imgW="4462735" imgH="2975246" progId="Word.Document.8">
                  <p:embed/>
                </p:oleObj>
              </mc:Choice>
              <mc:Fallback>
                <p:oleObj name="文档" r:id="rId4" imgW="4462735" imgH="2975246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" y="1125538"/>
                        <a:ext cx="8493125" cy="566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1" name="Rectangle 3">
            <a:extLst>
              <a:ext uri="{FF2B5EF4-FFF2-40B4-BE49-F238E27FC236}">
                <a16:creationId xmlns:a16="http://schemas.microsoft.com/office/drawing/2014/main" id="{01A9DB24-A175-45F0-AD6A-3B1582F73E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指数生成函数的性质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547CC9-81F8-4963-BC22-7E5D7555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424EE8B-9855-4227-9CB6-E9CC6936B6E6}" type="slidenum">
              <a:rPr lang="en-US" altLang="zh-CN">
                <a:solidFill>
                  <a:srgbClr val="898989"/>
                </a:solidFill>
              </a:rPr>
              <a:pPr eaLnBrk="1" hangingPunct="1"/>
              <a:t>21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>
            <a:extLst>
              <a:ext uri="{FF2B5EF4-FFF2-40B4-BE49-F238E27FC236}">
                <a16:creationId xmlns:a16="http://schemas.microsoft.com/office/drawing/2014/main" id="{B6493D0E-30FB-4AB4-86FB-1D4865381F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050" y="1341438"/>
          <a:ext cx="7954963" cy="483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文档" r:id="rId4" imgW="3654509" imgH="2219004" progId="Word.Document.8">
                  <p:embed/>
                </p:oleObj>
              </mc:Choice>
              <mc:Fallback>
                <p:oleObj name="文档" r:id="rId4" imgW="3654509" imgH="2219004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" y="1341438"/>
                        <a:ext cx="7954963" cy="483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5" name="Rectangle 3">
            <a:extLst>
              <a:ext uri="{FF2B5EF4-FFF2-40B4-BE49-F238E27FC236}">
                <a16:creationId xmlns:a16="http://schemas.microsoft.com/office/drawing/2014/main" id="{8711F27A-0459-44DB-971C-136964A979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多重集排列计数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A97432-0FD0-43A6-BD42-24915CAED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6751D71-C2DD-4682-A57D-45C9E7F6AB0C}" type="slidenum">
              <a:rPr lang="en-US" altLang="zh-CN">
                <a:solidFill>
                  <a:srgbClr val="898989"/>
                </a:solidFill>
              </a:rPr>
              <a:pPr eaLnBrk="1" hangingPunct="1"/>
              <a:t>22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>
            <a:extLst>
              <a:ext uri="{FF2B5EF4-FFF2-40B4-BE49-F238E27FC236}">
                <a16:creationId xmlns:a16="http://schemas.microsoft.com/office/drawing/2014/main" id="{4CAE3FF7-9B39-45E7-8CC0-7DCB1B5130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1052513"/>
          <a:ext cx="9118600" cy="499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文档" r:id="rId4" imgW="5072241" imgH="2776728" progId="Word.Document.8">
                  <p:embed/>
                </p:oleObj>
              </mc:Choice>
              <mc:Fallback>
                <p:oleObj name="文档" r:id="rId4" imgW="5072241" imgH="277672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052513"/>
                        <a:ext cx="9118600" cy="499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9" name="Rectangle 3">
            <a:extLst>
              <a:ext uri="{FF2B5EF4-FFF2-40B4-BE49-F238E27FC236}">
                <a16:creationId xmlns:a16="http://schemas.microsoft.com/office/drawing/2014/main" id="{313D1E7F-53DF-4CDA-9748-6441C9AA5B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证明：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04AD6-870E-48BB-A344-A48E41BB6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611096F-8B17-4FE9-AB0C-24E100FCFCE1}" type="slidenum">
              <a:rPr lang="en-US" altLang="zh-CN">
                <a:solidFill>
                  <a:srgbClr val="898989"/>
                </a:solidFill>
              </a:rPr>
              <a:pPr eaLnBrk="1" hangingPunct="1"/>
              <a:t>23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>
            <a:extLst>
              <a:ext uri="{FF2B5EF4-FFF2-40B4-BE49-F238E27FC236}">
                <a16:creationId xmlns:a16="http://schemas.microsoft.com/office/drawing/2014/main" id="{B0A60247-BB4C-4BBF-AD7D-AA821DC2EC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252413" y="1125538"/>
          <a:ext cx="9144001" cy="505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文档" r:id="rId4" imgW="4281687" imgH="2424007" progId="Word.Document.8">
                  <p:embed/>
                </p:oleObj>
              </mc:Choice>
              <mc:Fallback>
                <p:oleObj name="文档" r:id="rId4" imgW="4281687" imgH="2424007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52413" y="1125538"/>
                        <a:ext cx="9144001" cy="505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3" name="Rectangle 3">
            <a:extLst>
              <a:ext uri="{FF2B5EF4-FFF2-40B4-BE49-F238E27FC236}">
                <a16:creationId xmlns:a16="http://schemas.microsoft.com/office/drawing/2014/main" id="{8A00E2D1-416B-4EB0-B0A7-70A492E872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3387" y="302802"/>
            <a:ext cx="7772400" cy="647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AE4E0B-CA91-43CC-87D5-17BD7C775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ED31AAF-741C-45F1-8002-8A13704C43D1}" type="slidenum">
              <a:rPr lang="en-US" altLang="zh-CN">
                <a:solidFill>
                  <a:srgbClr val="898989"/>
                </a:solidFill>
              </a:rPr>
              <a:pPr eaLnBrk="1" hangingPunct="1"/>
              <a:t>24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>
            <a:extLst>
              <a:ext uri="{FF2B5EF4-FFF2-40B4-BE49-F238E27FC236}">
                <a16:creationId xmlns:a16="http://schemas.microsoft.com/office/drawing/2014/main" id="{91BEAFBD-67BC-4E38-9247-B3902F4B6D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313" y="1268413"/>
          <a:ext cx="7985125" cy="538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0" name="文档" r:id="rId4" imgW="4371129" imgH="2951467" progId="Word.Document.8">
                  <p:embed/>
                </p:oleObj>
              </mc:Choice>
              <mc:Fallback>
                <p:oleObj name="文档" r:id="rId4" imgW="4371129" imgH="2951467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3" y="1268413"/>
                        <a:ext cx="7985125" cy="538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7" name="Rectangle 3">
            <a:extLst>
              <a:ext uri="{FF2B5EF4-FFF2-40B4-BE49-F238E27FC236}">
                <a16:creationId xmlns:a16="http://schemas.microsoft.com/office/drawing/2014/main" id="{57C03052-697E-492B-9EB1-CED42C6EA5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生成函数求法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EB26C7-CD35-45D3-8B00-C38825683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DE52583-6563-480C-9C47-2E1F2E2C9B84}" type="slidenum">
              <a:rPr lang="en-US" altLang="zh-CN">
                <a:solidFill>
                  <a:srgbClr val="898989"/>
                </a:solidFill>
              </a:rPr>
              <a:pPr eaLnBrk="1" hangingPunct="1"/>
              <a:t>25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3315</TotalTime>
  <Words>528</Words>
  <Application>Microsoft Office PowerPoint</Application>
  <PresentationFormat>全屏显示(4:3)</PresentationFormat>
  <Paragraphs>161</Paragraphs>
  <Slides>25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宋体</vt:lpstr>
      <vt:lpstr>Arial</vt:lpstr>
      <vt:lpstr>Calibri</vt:lpstr>
      <vt:lpstr>Calibri Light</vt:lpstr>
      <vt:lpstr>Times New Roman</vt:lpstr>
      <vt:lpstr>Wingdings</vt:lpstr>
      <vt:lpstr>Wingdings 2</vt:lpstr>
      <vt:lpstr>代数结构PPT</vt:lpstr>
      <vt:lpstr>文档</vt:lpstr>
      <vt:lpstr>公式</vt:lpstr>
      <vt:lpstr>Document</vt:lpstr>
      <vt:lpstr>Microsoft Word 97 - 2003 文档</vt:lpstr>
      <vt:lpstr>22.4 生成函数的应用</vt:lpstr>
      <vt:lpstr>求解递推方程</vt:lpstr>
      <vt:lpstr>求解递推方程(续)</vt:lpstr>
      <vt:lpstr>求解递推方程(续)</vt:lpstr>
      <vt:lpstr>应用：搜索规模的估计</vt:lpstr>
      <vt:lpstr>多重集的 r 组合数</vt:lpstr>
      <vt:lpstr>多重集的 r 组合数(续)</vt:lpstr>
      <vt:lpstr>不定方程解的个数</vt:lpstr>
      <vt:lpstr>不定方程解的个数(续)</vt:lpstr>
      <vt:lpstr>不定方程解的个数(续)</vt:lpstr>
      <vt:lpstr>不定方程解的个数(续)</vt:lpstr>
      <vt:lpstr>正整数的拆分</vt:lpstr>
      <vt:lpstr>拆分的定义与分类</vt:lpstr>
      <vt:lpstr>无序拆分</vt:lpstr>
      <vt:lpstr>实例</vt:lpstr>
      <vt:lpstr>有限制条件的无序拆分</vt:lpstr>
      <vt:lpstr>有限制条件的无序拆分</vt:lpstr>
      <vt:lpstr>有序拆分</vt:lpstr>
      <vt:lpstr>有序拆分(续)</vt:lpstr>
      <vt:lpstr>22.5 指数生成函数 </vt:lpstr>
      <vt:lpstr>指数生成函数的性质</vt:lpstr>
      <vt:lpstr>应用-多重集排列计数</vt:lpstr>
      <vt:lpstr>证明：</vt:lpstr>
      <vt:lpstr>实例</vt:lpstr>
      <vt:lpstr>应用(生成函数求法)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325</cp:revision>
  <dcterms:created xsi:type="dcterms:W3CDTF">2005-12-02T07:25:32Z</dcterms:created>
  <dcterms:modified xsi:type="dcterms:W3CDTF">2020-08-14T06:20:18Z</dcterms:modified>
</cp:coreProperties>
</file>