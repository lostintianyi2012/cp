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75" r:id="rId3"/>
    <p:sldId id="257" r:id="rId4"/>
    <p:sldId id="260" r:id="rId5"/>
    <p:sldId id="258" r:id="rId6"/>
    <p:sldId id="263" r:id="rId7"/>
    <p:sldId id="264" r:id="rId8"/>
    <p:sldId id="276" r:id="rId9"/>
    <p:sldId id="259" r:id="rId10"/>
    <p:sldId id="288" r:id="rId11"/>
    <p:sldId id="261" r:id="rId12"/>
    <p:sldId id="262" r:id="rId13"/>
    <p:sldId id="269" r:id="rId14"/>
    <p:sldId id="270" r:id="rId15"/>
    <p:sldId id="278" r:id="rId16"/>
    <p:sldId id="279" r:id="rId17"/>
    <p:sldId id="277" r:id="rId18"/>
    <p:sldId id="286" r:id="rId19"/>
    <p:sldId id="287" r:id="rId20"/>
    <p:sldId id="272" r:id="rId21"/>
    <p:sldId id="281" r:id="rId22"/>
    <p:sldId id="282" r:id="rId23"/>
    <p:sldId id="283" r:id="rId24"/>
    <p:sldId id="280" r:id="rId25"/>
    <p:sldId id="285" r:id="rId26"/>
    <p:sldId id="289" r:id="rId27"/>
    <p:sldId id="273" r:id="rId28"/>
    <p:sldId id="27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2278732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1527871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138844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3559627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137184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3363122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3733059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3809721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3834873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3021987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162C01B-2AD1-4283-8E85-7DCAA33E8071}" type="slidenum">
              <a:rPr lang="zh-CN" altLang="en-US" smtClean="0"/>
              <a:t>‹#›</a:t>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98178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1993635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162C01B-2AD1-4283-8E85-7DCAA33E8071}" type="slidenum">
              <a:rPr lang="zh-CN" altLang="en-US" smtClean="0"/>
              <a:t>‹#›</a:t>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83357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单击此处编辑母版文本样式</a:t>
            </a:r>
          </a:p>
        </p:txBody>
      </p:sp>
      <p:sp>
        <p:nvSpPr>
          <p:cNvPr id="5" name="Date Placeholder 4"/>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2307940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1863789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986218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C852325-8B9E-4900-A255-6B4445B46845}" type="datetimeFigureOut">
              <a:rPr lang="zh-CN" altLang="en-US" smtClean="0"/>
              <a:t>2021/2/1</a:t>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162C01B-2AD1-4283-8E85-7DCAA33E8071}" type="slidenum">
              <a:rPr lang="zh-CN" altLang="en-US" smtClean="0"/>
              <a:t>‹#›</a:t>
            </a:fld>
            <a:endParaRPr lang="zh-CN" altLang="en-US"/>
          </a:p>
        </p:txBody>
      </p:sp>
    </p:spTree>
    <p:extLst>
      <p:ext uri="{BB962C8B-B14F-4D97-AF65-F5344CB8AC3E}">
        <p14:creationId xmlns:p14="http://schemas.microsoft.com/office/powerpoint/2010/main" val="279380708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5.wmf"/><Relationship Id="rId18" Type="http://schemas.openxmlformats.org/officeDocument/2006/relationships/oleObject" Target="../embeddings/oleObject9.bin"/><Relationship Id="rId26" Type="http://schemas.openxmlformats.org/officeDocument/2006/relationships/oleObject" Target="../embeddings/oleObject13.bin"/><Relationship Id="rId3" Type="http://schemas.openxmlformats.org/officeDocument/2006/relationships/image" Target="../media/image10.wmf"/><Relationship Id="rId21" Type="http://schemas.openxmlformats.org/officeDocument/2006/relationships/image" Target="../media/image19.wmf"/><Relationship Id="rId34" Type="http://schemas.openxmlformats.org/officeDocument/2006/relationships/oleObject" Target="../embeddings/oleObject19.bin"/><Relationship Id="rId7" Type="http://schemas.openxmlformats.org/officeDocument/2006/relationships/image" Target="../media/image12.wmf"/><Relationship Id="rId12" Type="http://schemas.openxmlformats.org/officeDocument/2006/relationships/oleObject" Target="../embeddings/oleObject6.bin"/><Relationship Id="rId17" Type="http://schemas.openxmlformats.org/officeDocument/2006/relationships/image" Target="../media/image17.wmf"/><Relationship Id="rId25" Type="http://schemas.openxmlformats.org/officeDocument/2006/relationships/image" Target="../media/image21.wmf"/><Relationship Id="rId33" Type="http://schemas.openxmlformats.org/officeDocument/2006/relationships/oleObject" Target="../embeddings/oleObject18.bin"/><Relationship Id="rId38" Type="http://schemas.openxmlformats.org/officeDocument/2006/relationships/image" Target="../media/image28.png"/><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14.wmf"/><Relationship Id="rId24" Type="http://schemas.openxmlformats.org/officeDocument/2006/relationships/oleObject" Target="../embeddings/oleObject12.bin"/><Relationship Id="rId32" Type="http://schemas.openxmlformats.org/officeDocument/2006/relationships/oleObject" Target="../embeddings/oleObject17.bin"/><Relationship Id="rId37" Type="http://schemas.openxmlformats.org/officeDocument/2006/relationships/image" Target="../media/image27.png"/><Relationship Id="rId5" Type="http://schemas.openxmlformats.org/officeDocument/2006/relationships/image" Target="../media/image11.wmf"/><Relationship Id="rId15" Type="http://schemas.openxmlformats.org/officeDocument/2006/relationships/image" Target="../media/image16.wmf"/><Relationship Id="rId23" Type="http://schemas.openxmlformats.org/officeDocument/2006/relationships/image" Target="../media/image20.wmf"/><Relationship Id="rId28" Type="http://schemas.openxmlformats.org/officeDocument/2006/relationships/image" Target="../media/image22.wmf"/><Relationship Id="rId36" Type="http://schemas.openxmlformats.org/officeDocument/2006/relationships/image" Target="../media/image24.wmf"/><Relationship Id="rId10" Type="http://schemas.openxmlformats.org/officeDocument/2006/relationships/oleObject" Target="../embeddings/oleObject5.bin"/><Relationship Id="rId19" Type="http://schemas.openxmlformats.org/officeDocument/2006/relationships/image" Target="../media/image18.wmf"/><Relationship Id="rId31" Type="http://schemas.openxmlformats.org/officeDocument/2006/relationships/image" Target="../media/image23.wmf"/><Relationship Id="rId4" Type="http://schemas.openxmlformats.org/officeDocument/2006/relationships/oleObject" Target="../embeddings/oleObject2.bin"/><Relationship Id="rId9" Type="http://schemas.openxmlformats.org/officeDocument/2006/relationships/image" Target="../media/image13.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oleObject" Target="../embeddings/oleObject14.bin"/><Relationship Id="rId30" Type="http://schemas.openxmlformats.org/officeDocument/2006/relationships/oleObject" Target="../embeddings/oleObject16.bin"/><Relationship Id="rId35" Type="http://schemas.openxmlformats.org/officeDocument/2006/relationships/oleObject" Target="../embeddings/oleObject20.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A0E3EB-947A-4760-AA37-A7FB17A1B69A}"/>
              </a:ext>
            </a:extLst>
          </p:cNvPr>
          <p:cNvSpPr>
            <a:spLocks noGrp="1"/>
          </p:cNvSpPr>
          <p:nvPr>
            <p:ph type="ctrTitle"/>
          </p:nvPr>
        </p:nvSpPr>
        <p:spPr/>
        <p:txBody>
          <a:bodyPr/>
          <a:lstStyle/>
          <a:p>
            <a:r>
              <a:rPr lang="zh-CN" altLang="en-US" dirty="0"/>
              <a:t>广义串并联图</a:t>
            </a:r>
          </a:p>
        </p:txBody>
      </p:sp>
      <p:sp>
        <p:nvSpPr>
          <p:cNvPr id="3" name="副标题 2">
            <a:extLst>
              <a:ext uri="{FF2B5EF4-FFF2-40B4-BE49-F238E27FC236}">
                <a16:creationId xmlns:a16="http://schemas.microsoft.com/office/drawing/2014/main" id="{3CE250C9-1A50-48C4-8452-A88D89FB62E7}"/>
              </a:ext>
            </a:extLst>
          </p:cNvPr>
          <p:cNvSpPr>
            <a:spLocks noGrp="1"/>
          </p:cNvSpPr>
          <p:nvPr>
            <p:ph type="subTitle" idx="1"/>
          </p:nvPr>
        </p:nvSpPr>
        <p:spPr/>
        <p:txBody>
          <a:bodyPr>
            <a:normAutofit/>
          </a:bodyPr>
          <a:lstStyle/>
          <a:p>
            <a:r>
              <a:rPr lang="zh-CN" altLang="en-US" dirty="0"/>
              <a:t>福州一中 林昊翰（</a:t>
            </a:r>
            <a:r>
              <a:rPr lang="en-US" altLang="zh-CN" dirty="0" err="1"/>
              <a:t>E·Space</a:t>
            </a:r>
            <a:r>
              <a:rPr lang="zh-CN" altLang="en-US" dirty="0"/>
              <a:t>粉丝应援团）</a:t>
            </a:r>
            <a:endParaRPr lang="en-US" altLang="zh-CN" dirty="0"/>
          </a:p>
          <a:p>
            <a:r>
              <a:rPr lang="zh-CN" altLang="en-US" dirty="0"/>
              <a:t>福州一中 陈雨昕（</a:t>
            </a:r>
            <a:r>
              <a:rPr lang="en-US" altLang="zh-CN" dirty="0" err="1"/>
              <a:t>E·Space</a:t>
            </a:r>
            <a:r>
              <a:rPr lang="zh-CN" altLang="en-US" dirty="0"/>
              <a:t>粉丝应援团）</a:t>
            </a:r>
            <a:endParaRPr lang="en-US" altLang="zh-CN" dirty="0"/>
          </a:p>
        </p:txBody>
      </p:sp>
      <p:pic>
        <p:nvPicPr>
          <p:cNvPr id="5" name="图片 4">
            <a:extLst>
              <a:ext uri="{FF2B5EF4-FFF2-40B4-BE49-F238E27FC236}">
                <a16:creationId xmlns:a16="http://schemas.microsoft.com/office/drawing/2014/main" id="{3DBB8E7C-36D0-4EA3-901F-B7B1D02D7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3632" y="3248117"/>
            <a:ext cx="1998483" cy="2537757"/>
          </a:xfrm>
          <a:prstGeom prst="rect">
            <a:avLst/>
          </a:prstGeom>
        </p:spPr>
      </p:pic>
      <p:sp>
        <p:nvSpPr>
          <p:cNvPr id="6" name="文本框 5">
            <a:extLst>
              <a:ext uri="{FF2B5EF4-FFF2-40B4-BE49-F238E27FC236}">
                <a16:creationId xmlns:a16="http://schemas.microsoft.com/office/drawing/2014/main" id="{64CE68F2-0A87-4486-9AB1-5A027DA2CD10}"/>
              </a:ext>
            </a:extLst>
          </p:cNvPr>
          <p:cNvSpPr txBox="1"/>
          <p:nvPr/>
        </p:nvSpPr>
        <p:spPr>
          <a:xfrm>
            <a:off x="7638852" y="5903662"/>
            <a:ext cx="2672526" cy="369332"/>
          </a:xfrm>
          <a:prstGeom prst="rect">
            <a:avLst/>
          </a:prstGeom>
          <a:noFill/>
        </p:spPr>
        <p:txBody>
          <a:bodyPr wrap="none" rtlCol="0">
            <a:spAutoFit/>
          </a:bodyPr>
          <a:lstStyle/>
          <a:p>
            <a:r>
              <a:rPr lang="en-US" altLang="zh-CN" dirty="0"/>
              <a:t>Fig.1 </a:t>
            </a:r>
            <a:r>
              <a:rPr lang="en-US" altLang="zh-CN" dirty="0" err="1"/>
              <a:t>E·Space</a:t>
            </a:r>
            <a:r>
              <a:rPr lang="en-US" altLang="zh-CN" dirty="0"/>
              <a:t> </a:t>
            </a:r>
            <a:r>
              <a:rPr lang="zh-CN" altLang="en-US" dirty="0"/>
              <a:t>珍贵照片</a:t>
            </a:r>
          </a:p>
        </p:txBody>
      </p:sp>
    </p:spTree>
    <p:extLst>
      <p:ext uri="{BB962C8B-B14F-4D97-AF65-F5344CB8AC3E}">
        <p14:creationId xmlns:p14="http://schemas.microsoft.com/office/powerpoint/2010/main" val="191332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定义</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我们把一张无自环无向连通图称为</a:t>
                </a:r>
                <a:r>
                  <a:rPr lang="zh-CN" altLang="en-US" b="1" dirty="0"/>
                  <a:t>广义串并联图</a:t>
                </a:r>
                <a:r>
                  <a:rPr lang="zh-CN" altLang="en-US" dirty="0"/>
                  <a:t>，当且仅当不存在 </a:t>
                </a:r>
                <a14:m>
                  <m:oMath xmlns:m="http://schemas.openxmlformats.org/officeDocument/2006/math">
                    <m:r>
                      <a:rPr lang="en-US" altLang="zh-CN" b="0" i="1" smtClean="0">
                        <a:latin typeface="Cambria Math" panose="02040503050406030204" pitchFamily="18" charset="0"/>
                      </a:rPr>
                      <m:t>4</m:t>
                    </m:r>
                  </m:oMath>
                </a14:m>
                <a:r>
                  <a:rPr lang="zh-CN" altLang="en-US" dirty="0"/>
                  <a:t> 个结点及 </a:t>
                </a:r>
                <a14:m>
                  <m:oMath xmlns:m="http://schemas.openxmlformats.org/officeDocument/2006/math">
                    <m:r>
                      <a:rPr lang="en-US" altLang="zh-CN" b="0" i="1" smtClean="0">
                        <a:latin typeface="Cambria Math" panose="02040503050406030204" pitchFamily="18" charset="0"/>
                      </a:rPr>
                      <m:t>6</m:t>
                    </m:r>
                  </m:oMath>
                </a14:m>
                <a:r>
                  <a:rPr lang="zh-CN" altLang="en-US" dirty="0"/>
                  <a:t> 条两两除公共端点外点不相交的路径连接这 </a:t>
                </a:r>
                <a14:m>
                  <m:oMath xmlns:m="http://schemas.openxmlformats.org/officeDocument/2006/math">
                    <m:r>
                      <a:rPr lang="en-US" altLang="zh-CN" i="1" dirty="0">
                        <a:latin typeface="Cambria Math" panose="02040503050406030204" pitchFamily="18" charset="0"/>
                      </a:rPr>
                      <m:t>4</m:t>
                    </m:r>
                  </m:oMath>
                </a14:m>
                <a:r>
                  <a:rPr lang="zh-CN" altLang="en-US" dirty="0"/>
                  <a:t> 个结点的每一对（简短一点说，不存在同胚于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4</m:t>
                        </m:r>
                      </m:sub>
                    </m:sSub>
                  </m:oMath>
                </a14:m>
                <a:r>
                  <a:rPr lang="zh-CN" altLang="en-US" dirty="0"/>
                  <a:t> 的子图）。</a:t>
                </a:r>
                <a:endParaRPr lang="en-US" altLang="zh-CN" baseline="30000" dirty="0"/>
              </a:p>
              <a:p>
                <a:endParaRPr lang="en-US" altLang="zh-CN" baseline="30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2621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9C0950-D986-4A99-A1C7-79C7D8476EA6}"/>
              </a:ext>
            </a:extLst>
          </p:cNvPr>
          <p:cNvSpPr>
            <a:spLocks noGrp="1"/>
          </p:cNvSpPr>
          <p:nvPr>
            <p:ph type="title"/>
          </p:nvPr>
        </p:nvSpPr>
        <p:spPr/>
        <p:txBody>
          <a:bodyPr/>
          <a:lstStyle/>
          <a:p>
            <a:r>
              <a:rPr lang="zh-CN" altLang="en-US" dirty="0"/>
              <a:t>收缩操作</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0BBAA65-A18A-4365-9C4C-F5E04967D0BF}"/>
                  </a:ext>
                </a:extLst>
              </p:cNvPr>
              <p:cNvSpPr>
                <a:spLocks noGrp="1"/>
              </p:cNvSpPr>
              <p:nvPr>
                <p:ph idx="1"/>
              </p:nvPr>
            </p:nvSpPr>
            <p:spPr/>
            <p:txBody>
              <a:bodyPr/>
              <a:lstStyle/>
              <a:p>
                <a:r>
                  <a:rPr lang="zh-CN" altLang="en-US" dirty="0"/>
                  <a:t>对于一张无向图，定义</a:t>
                </a:r>
                <a:r>
                  <a:rPr lang="zh-CN" altLang="en-US" b="1" dirty="0"/>
                  <a:t>收缩操作</a:t>
                </a:r>
                <a:r>
                  <a:rPr lang="zh-CN" altLang="en-US" dirty="0"/>
                  <a:t>：</a:t>
                </a:r>
                <a:endParaRPr lang="en-US" altLang="zh-CN" dirty="0"/>
              </a:p>
              <a:p>
                <a:pPr marL="800100" lvl="1" indent="-342900">
                  <a:buFont typeface="+mj-lt"/>
                  <a:buAutoNum type="arabicPeriod"/>
                </a:pPr>
                <a:r>
                  <a:rPr lang="zh-CN" altLang="en-US" b="1" dirty="0"/>
                  <a:t>删 </a:t>
                </a:r>
                <a14:m>
                  <m:oMath xmlns:m="http://schemas.openxmlformats.org/officeDocument/2006/math">
                    <m:r>
                      <a:rPr lang="en-US" altLang="zh-CN" b="1" i="1" smtClean="0">
                        <a:latin typeface="Cambria Math" panose="02040503050406030204" pitchFamily="18" charset="0"/>
                      </a:rPr>
                      <m:t>𝟏</m:t>
                    </m:r>
                  </m:oMath>
                </a14:m>
                <a:r>
                  <a:rPr lang="zh-CN" altLang="en-US" b="1" dirty="0"/>
                  <a:t> 度点</a:t>
                </a:r>
                <a:r>
                  <a:rPr lang="zh-CN" altLang="en-US" dirty="0"/>
                  <a:t>：删除</a:t>
                </a:r>
                <a:r>
                  <a:rPr lang="en-US" altLang="zh-CN" dirty="0"/>
                  <a:t> </a:t>
                </a:r>
                <a14:m>
                  <m:oMath xmlns:m="http://schemas.openxmlformats.org/officeDocument/2006/math">
                    <m:r>
                      <a:rPr lang="en-US" altLang="zh-CN" b="0" i="1" smtClean="0">
                        <a:latin typeface="Cambria Math" panose="02040503050406030204" pitchFamily="18" charset="0"/>
                      </a:rPr>
                      <m:t>1</m:t>
                    </m:r>
                  </m:oMath>
                </a14:m>
                <a:r>
                  <a:rPr lang="zh-CN" altLang="en-US" dirty="0"/>
                  <a:t> 度点 </a:t>
                </a:r>
                <a14:m>
                  <m:oMath xmlns:m="http://schemas.openxmlformats.org/officeDocument/2006/math">
                    <m:r>
                      <a:rPr lang="en-US" altLang="zh-CN" b="0" i="1" smtClean="0">
                        <a:latin typeface="Cambria Math" panose="02040503050406030204" pitchFamily="18" charset="0"/>
                      </a:rPr>
                      <m:t>𝑢</m:t>
                    </m:r>
                  </m:oMath>
                </a14:m>
                <a:r>
                  <a:rPr lang="zh-CN" altLang="en-US" dirty="0"/>
                  <a:t> 和其关联的边</a:t>
                </a:r>
                <a:endParaRPr lang="en-US" altLang="zh-CN" dirty="0"/>
              </a:p>
              <a:p>
                <a:pPr marL="800100" lvl="1" indent="-342900">
                  <a:buFont typeface="+mj-lt"/>
                  <a:buAutoNum type="arabicPeriod"/>
                </a:pPr>
                <a:r>
                  <a:rPr lang="zh-CN" altLang="en-US" b="1" dirty="0"/>
                  <a:t>叠合重边</a:t>
                </a:r>
                <a:r>
                  <a:rPr lang="zh-CN" altLang="en-US" dirty="0"/>
                  <a:t>：对于重边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oMath>
                </a14:m>
                <a:r>
                  <a:rPr lang="zh-CN" altLang="en-US" dirty="0"/>
                  <a:t>，将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i="1">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oMath>
                </a14:m>
                <a:r>
                  <a:rPr lang="en-US" altLang="zh-CN" dirty="0"/>
                  <a:t> </a:t>
                </a:r>
                <a:r>
                  <a:rPr lang="zh-CN" altLang="en-US" dirty="0"/>
                  <a:t>合并成一条边</a:t>
                </a:r>
                <a:endParaRPr lang="en-US" altLang="zh-CN" dirty="0"/>
              </a:p>
              <a:p>
                <a:pPr marL="800100" lvl="1" indent="-342900">
                  <a:buFont typeface="+mj-lt"/>
                  <a:buAutoNum type="arabicPeriod"/>
                </a:pPr>
                <a:r>
                  <a:rPr lang="zh-CN" altLang="en-US" b="1" dirty="0"/>
                  <a:t>缩 </a:t>
                </a:r>
                <a14:m>
                  <m:oMath xmlns:m="http://schemas.openxmlformats.org/officeDocument/2006/math">
                    <m:r>
                      <a:rPr lang="en-US" altLang="zh-CN" b="1" i="1" smtClean="0">
                        <a:latin typeface="Cambria Math" panose="02040503050406030204" pitchFamily="18" charset="0"/>
                      </a:rPr>
                      <m:t>𝟐</m:t>
                    </m:r>
                  </m:oMath>
                </a14:m>
                <a:r>
                  <a:rPr lang="zh-CN" altLang="en-US" b="1" dirty="0"/>
                  <a:t> 度点</a:t>
                </a:r>
                <a:r>
                  <a:rPr lang="zh-CN" altLang="en-US" dirty="0"/>
                  <a:t>：删除 </a:t>
                </a:r>
                <a14:m>
                  <m:oMath xmlns:m="http://schemas.openxmlformats.org/officeDocument/2006/math">
                    <m:r>
                      <a:rPr lang="en-US" altLang="zh-CN" b="0" i="1" smtClean="0">
                        <a:latin typeface="Cambria Math" panose="02040503050406030204" pitchFamily="18" charset="0"/>
                      </a:rPr>
                      <m:t>2</m:t>
                    </m:r>
                  </m:oMath>
                </a14:m>
                <a:r>
                  <a:rPr lang="zh-CN" altLang="en-US" dirty="0"/>
                  <a:t> 度点 </a:t>
                </a:r>
                <a14:m>
                  <m:oMath xmlns:m="http://schemas.openxmlformats.org/officeDocument/2006/math">
                    <m:r>
                      <a:rPr lang="en-US" altLang="zh-CN" b="0" i="1" smtClean="0">
                        <a:latin typeface="Cambria Math" panose="02040503050406030204" pitchFamily="18" charset="0"/>
                      </a:rPr>
                      <m:t>𝑢</m:t>
                    </m:r>
                  </m:oMath>
                </a14:m>
                <a:r>
                  <a:rPr lang="zh-CN" altLang="en-US" dirty="0"/>
                  <a:t> 和其关联的边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oMath>
                </a14:m>
                <a:r>
                  <a:rPr lang="zh-CN" altLang="en-US" dirty="0"/>
                  <a:t>、</a:t>
                </a:r>
                <a14:m>
                  <m:oMath xmlns:m="http://schemas.openxmlformats.org/officeDocument/2006/math">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𝑢</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𝑤</m:t>
                    </m:r>
                    <m:r>
                      <a:rPr lang="en-US" altLang="zh-CN" b="0" i="1" dirty="0" smtClean="0">
                        <a:latin typeface="Cambria Math" panose="02040503050406030204" pitchFamily="18" charset="0"/>
                      </a:rPr>
                      <m:t>)</m:t>
                    </m:r>
                  </m:oMath>
                </a14:m>
                <a:r>
                  <a:rPr lang="zh-CN" altLang="en-US" dirty="0"/>
                  <a:t>，添加边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 </m:t>
                    </m:r>
                    <m:r>
                      <a:rPr lang="en-US" altLang="zh-CN" b="0" i="1" smtClean="0">
                        <a:latin typeface="Cambria Math" panose="02040503050406030204" pitchFamily="18" charset="0"/>
                      </a:rPr>
                      <m:t>𝑤</m:t>
                    </m:r>
                    <m:r>
                      <a:rPr lang="en-US" altLang="zh-CN" b="0" i="1" smtClean="0">
                        <a:latin typeface="Cambria Math" panose="02040503050406030204" pitchFamily="18" charset="0"/>
                      </a:rPr>
                      <m:t>)</m:t>
                    </m:r>
                  </m:oMath>
                </a14:m>
                <a:endParaRPr lang="en-US" altLang="zh-CN" dirty="0"/>
              </a:p>
              <a:p>
                <a:r>
                  <a:rPr lang="zh-CN" altLang="en-US" dirty="0"/>
                  <a:t>可以证明，任意广义串并联图都可以通过若干次收缩操作变成有且仅有一个点，没有边的图</a:t>
                </a:r>
                <a:r>
                  <a:rPr lang="en-US" altLang="zh-CN" baseline="30000" dirty="0"/>
                  <a:t>[1]</a:t>
                </a:r>
                <a:r>
                  <a:rPr lang="zh-CN" altLang="en-US" dirty="0"/>
                  <a:t> 。</a:t>
                </a:r>
                <a:endParaRPr lang="en-US" altLang="zh-CN" dirty="0"/>
              </a:p>
            </p:txBody>
          </p:sp>
        </mc:Choice>
        <mc:Fallback xmlns="">
          <p:sp>
            <p:nvSpPr>
              <p:cNvPr id="3" name="内容占位符 2">
                <a:extLst>
                  <a:ext uri="{FF2B5EF4-FFF2-40B4-BE49-F238E27FC236}">
                    <a16:creationId xmlns:a16="http://schemas.microsoft.com/office/drawing/2014/main" xmlns:a14="http://schemas.microsoft.com/office/drawing/2010/main" xmlns="" id="{80BBAA65-A18A-4365-9C4C-F5E04967D0BF}"/>
                  </a:ext>
                </a:extLst>
              </p:cNvPr>
              <p:cNvSpPr>
                <a:spLocks noGrp="1" noRot="1" noChangeAspect="1" noMove="1" noResize="1" noEditPoints="1" noAdjustHandles="1" noChangeArrowheads="1" noChangeShapeType="1" noTextEdit="1"/>
              </p:cNvSpPr>
              <p:nvPr>
                <p:ph idx="1"/>
              </p:nvPr>
            </p:nvSpPr>
            <p:spPr>
              <a:blipFill rotWithShape="1">
                <a:blip r:embed="rId2"/>
                <a:stretch>
                  <a:fillRect l="-479" t="-11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9535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EA042C-ADD3-4AAE-916F-AD3D23E4DF9C}"/>
              </a:ext>
            </a:extLst>
          </p:cNvPr>
          <p:cNvSpPr>
            <a:spLocks noGrp="1"/>
          </p:cNvSpPr>
          <p:nvPr>
            <p:ph type="title"/>
          </p:nvPr>
        </p:nvSpPr>
        <p:spPr/>
        <p:txBody>
          <a:bodyPr/>
          <a:lstStyle/>
          <a:p>
            <a:r>
              <a:rPr lang="zh-CN" altLang="en-US" dirty="0"/>
              <a:t>小试牛刀</a:t>
            </a:r>
          </a:p>
        </p:txBody>
      </p:sp>
      <p:sp>
        <p:nvSpPr>
          <p:cNvPr id="3" name="内容占位符 2">
            <a:extLst>
              <a:ext uri="{FF2B5EF4-FFF2-40B4-BE49-F238E27FC236}">
                <a16:creationId xmlns:a16="http://schemas.microsoft.com/office/drawing/2014/main" id="{F30B2EDB-C8DF-495B-B353-72D1724E9954}"/>
              </a:ext>
            </a:extLst>
          </p:cNvPr>
          <p:cNvSpPr>
            <a:spLocks noGrp="1"/>
          </p:cNvSpPr>
          <p:nvPr>
            <p:ph idx="1"/>
          </p:nvPr>
        </p:nvSpPr>
        <p:spPr/>
        <p:txBody>
          <a:bodyPr/>
          <a:lstStyle/>
          <a:p>
            <a:r>
              <a:rPr lang="zh-CN" altLang="en-US" dirty="0"/>
              <a:t>收缩操作有什么作用呢？</a:t>
            </a:r>
            <a:endParaRPr lang="en-US" altLang="zh-CN" dirty="0"/>
          </a:p>
          <a:p>
            <a:r>
              <a:rPr lang="zh-CN" altLang="en-US" dirty="0"/>
              <a:t>广义串并联图上简单 </a:t>
            </a:r>
            <a:r>
              <a:rPr lang="en-US" altLang="zh-CN" dirty="0"/>
              <a:t>DP</a:t>
            </a:r>
          </a:p>
          <a:p>
            <a:r>
              <a:rPr lang="zh-CN" altLang="en-US" dirty="0"/>
              <a:t>稀疏随机图的简单 </a:t>
            </a:r>
            <a:r>
              <a:rPr lang="en-US" altLang="zh-CN" dirty="0"/>
              <a:t>DP</a:t>
            </a:r>
          </a:p>
          <a:p>
            <a:r>
              <a:rPr lang="zh-CN" altLang="en-US" dirty="0"/>
              <a:t>我们来看两道例题</a:t>
            </a:r>
            <a:endParaRPr lang="en-US" altLang="zh-CN" dirty="0"/>
          </a:p>
        </p:txBody>
      </p:sp>
    </p:spTree>
    <p:extLst>
      <p:ext uri="{BB962C8B-B14F-4D97-AF65-F5344CB8AC3E}">
        <p14:creationId xmlns:p14="http://schemas.microsoft.com/office/powerpoint/2010/main" val="3795310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625371-EE3F-425A-94F7-601D73BCA97F}"/>
              </a:ext>
            </a:extLst>
          </p:cNvPr>
          <p:cNvSpPr>
            <a:spLocks noGrp="1"/>
          </p:cNvSpPr>
          <p:nvPr>
            <p:ph type="title"/>
          </p:nvPr>
        </p:nvSpPr>
        <p:spPr/>
        <p:txBody>
          <a:bodyPr/>
          <a:lstStyle/>
          <a:p>
            <a:r>
              <a:rPr lang="en-US" altLang="zh-CN" dirty="0"/>
              <a:t>[SNOI2020]</a:t>
            </a:r>
            <a:r>
              <a:rPr lang="zh-CN" altLang="en-US" dirty="0"/>
              <a:t>生成树</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5356D6B-0ADF-4D74-B4A0-9EEF2D1B9614}"/>
                  </a:ext>
                </a:extLst>
              </p:cNvPr>
              <p:cNvSpPr>
                <a:spLocks noGrp="1"/>
              </p:cNvSpPr>
              <p:nvPr>
                <p:ph idx="1"/>
              </p:nvPr>
            </p:nvSpPr>
            <p:spPr/>
            <p:txBody>
              <a:bodyPr/>
              <a:lstStyle/>
              <a:p>
                <a:r>
                  <a:rPr lang="zh-CN" altLang="en-US" b="0" i="0" dirty="0">
                    <a:effectLst/>
                    <a:latin typeface="Open Sans"/>
                  </a:rPr>
                  <a:t>题意：给定无向连通图 </a:t>
                </a:r>
                <a14:m>
                  <m:oMath xmlns:m="http://schemas.openxmlformats.org/officeDocument/2006/math">
                    <m:r>
                      <a:rPr lang="en-US" altLang="zh-CN" b="0" i="1" smtClean="0">
                        <a:effectLst/>
                        <a:latin typeface="Cambria Math" panose="02040503050406030204" pitchFamily="18" charset="0"/>
                      </a:rPr>
                      <m:t>𝐺</m:t>
                    </m:r>
                  </m:oMath>
                </a14:m>
                <a:r>
                  <a:rPr lang="zh-CN" altLang="en-US" b="0" i="0" dirty="0">
                    <a:effectLst/>
                    <a:latin typeface="Open Sans"/>
                  </a:rPr>
                  <a:t>，已知 </a:t>
                </a:r>
                <a14:m>
                  <m:oMath xmlns:m="http://schemas.openxmlformats.org/officeDocument/2006/math">
                    <m:r>
                      <a:rPr lang="en-US" altLang="zh-CN" b="0" i="1" smtClean="0">
                        <a:effectLst/>
                        <a:latin typeface="Cambria Math" panose="02040503050406030204" pitchFamily="18" charset="0"/>
                      </a:rPr>
                      <m:t>𝐺</m:t>
                    </m:r>
                  </m:oMath>
                </a14:m>
                <a:r>
                  <a:rPr lang="zh-CN" altLang="en-US" b="0" i="0" dirty="0">
                    <a:effectLst/>
                    <a:latin typeface="Open Sans"/>
                  </a:rPr>
                  <a:t> 在删掉一条边后是一棵仙人掌（仙人掌：不存在两个拥有公共边的简单环的无向连通图），求 </a:t>
                </a:r>
                <a14:m>
                  <m:oMath xmlns:m="http://schemas.openxmlformats.org/officeDocument/2006/math">
                    <m:r>
                      <a:rPr lang="en-US" altLang="zh-CN" b="0" i="1" smtClean="0">
                        <a:effectLst/>
                        <a:latin typeface="Cambria Math" panose="02040503050406030204" pitchFamily="18" charset="0"/>
                      </a:rPr>
                      <m:t>𝐺</m:t>
                    </m:r>
                  </m:oMath>
                </a14:m>
                <a:r>
                  <a:rPr lang="zh-CN" altLang="en-US" b="0" i="0" dirty="0">
                    <a:effectLst/>
                    <a:latin typeface="Open Sans"/>
                  </a:rPr>
                  <a:t> 的生成树个数。结果对 </a:t>
                </a:r>
                <a14:m>
                  <m:oMath xmlns:m="http://schemas.openxmlformats.org/officeDocument/2006/math">
                    <m:r>
                      <a:rPr lang="en-US" altLang="zh-CN" b="0" i="1" smtClean="0">
                        <a:effectLst/>
                        <a:latin typeface="Cambria Math" panose="02040503050406030204" pitchFamily="18" charset="0"/>
                      </a:rPr>
                      <m:t>998244353</m:t>
                    </m:r>
                  </m:oMath>
                </a14:m>
                <a:r>
                  <a:rPr lang="zh-CN" altLang="en-US" b="0" i="0" dirty="0">
                    <a:effectLst/>
                    <a:latin typeface="Open Sans"/>
                  </a:rPr>
                  <a:t> 取模。</a:t>
                </a:r>
                <a:endParaRPr lang="en-US" altLang="zh-CN" b="0" i="0" dirty="0">
                  <a:effectLst/>
                  <a:latin typeface="Open Sans"/>
                </a:endParaRPr>
              </a:p>
              <a:p>
                <a14:m>
                  <m:oMath xmlns:m="http://schemas.openxmlformats.org/officeDocument/2006/math">
                    <m:d>
                      <m:dPr>
                        <m:begChr m:val="|"/>
                        <m:endChr m:val="|"/>
                        <m:ctrlPr>
                          <a:rPr lang="en-US" altLang="zh-CN" b="0" i="1" smtClean="0">
                            <a:effectLst/>
                            <a:latin typeface="Cambria Math" panose="02040503050406030204" pitchFamily="18" charset="0"/>
                          </a:rPr>
                        </m:ctrlPr>
                      </m:dPr>
                      <m:e>
                        <m:r>
                          <a:rPr lang="en-US" altLang="zh-CN" b="0" i="1" smtClean="0">
                            <a:effectLst/>
                            <a:latin typeface="Cambria Math"/>
                          </a:rPr>
                          <m:t>𝑉</m:t>
                        </m:r>
                      </m:e>
                    </m:d>
                    <m:r>
                      <a:rPr lang="en-US" altLang="zh-CN" b="0" i="1" smtClean="0">
                        <a:effectLst/>
                        <a:latin typeface="Cambria Math"/>
                      </a:rPr>
                      <m:t>,</m:t>
                    </m:r>
                    <m:d>
                      <m:dPr>
                        <m:begChr m:val="|"/>
                        <m:endChr m:val="|"/>
                        <m:ctrlPr>
                          <a:rPr lang="en-US" altLang="zh-CN" b="0" i="1" smtClean="0">
                            <a:effectLst/>
                            <a:latin typeface="Cambria Math" panose="02040503050406030204" pitchFamily="18" charset="0"/>
                          </a:rPr>
                        </m:ctrlPr>
                      </m:dPr>
                      <m:e>
                        <m:r>
                          <a:rPr lang="en-US" altLang="zh-CN" b="0" i="1" smtClean="0">
                            <a:effectLst/>
                            <a:latin typeface="Cambria Math"/>
                          </a:rPr>
                          <m:t>𝐸</m:t>
                        </m:r>
                      </m:e>
                    </m:d>
                    <m:r>
                      <a:rPr lang="en-US" altLang="zh-CN" b="0" i="1" smtClean="0">
                        <a:effectLst/>
                        <a:latin typeface="Cambria Math"/>
                        <a:ea typeface="Cambria Math"/>
                      </a:rPr>
                      <m:t>≤</m:t>
                    </m:r>
                    <m:sSup>
                      <m:sSupPr>
                        <m:ctrlPr>
                          <a:rPr lang="en-US" altLang="zh-CN" b="0" i="1" smtClean="0">
                            <a:effectLst/>
                            <a:latin typeface="Cambria Math" panose="02040503050406030204" pitchFamily="18" charset="0"/>
                            <a:ea typeface="Cambria Math"/>
                          </a:rPr>
                        </m:ctrlPr>
                      </m:sSupPr>
                      <m:e>
                        <m:r>
                          <a:rPr lang="en-US" altLang="zh-CN" b="0" i="1" smtClean="0">
                            <a:effectLst/>
                            <a:latin typeface="Cambria Math"/>
                            <a:ea typeface="Cambria Math"/>
                          </a:rPr>
                          <m:t>10</m:t>
                        </m:r>
                      </m:e>
                      <m:sup>
                        <m:r>
                          <a:rPr lang="en-US" altLang="zh-CN" b="0" i="1" smtClean="0">
                            <a:effectLst/>
                            <a:latin typeface="Cambria Math"/>
                            <a:ea typeface="Cambria Math"/>
                          </a:rPr>
                          <m:t>5</m:t>
                        </m:r>
                      </m:sup>
                    </m:sSup>
                  </m:oMath>
                </a14:m>
                <a:r>
                  <a:rPr lang="en-US" altLang="zh-CN" b="0" i="0" dirty="0">
                    <a:effectLst/>
                    <a:latin typeface="Open Sans"/>
                  </a:rPr>
                  <a:t>, </a:t>
                </a:r>
                <a14:m>
                  <m:oMath xmlns:m="http://schemas.openxmlformats.org/officeDocument/2006/math">
                    <m:r>
                      <a:rPr lang="en-US" altLang="zh-CN" b="0" i="1" smtClean="0">
                        <a:effectLst/>
                        <a:latin typeface="Cambria Math" panose="02040503050406030204" pitchFamily="18" charset="0"/>
                      </a:rPr>
                      <m:t>1</m:t>
                    </m:r>
                    <m:r>
                      <m:rPr>
                        <m:sty m:val="p"/>
                      </m:rPr>
                      <a:rPr lang="en-US" altLang="zh-CN" b="0" i="0" smtClean="0">
                        <a:effectLst/>
                        <a:latin typeface="Cambria Math" panose="02040503050406030204" pitchFamily="18" charset="0"/>
                      </a:rPr>
                      <m:t>s</m:t>
                    </m:r>
                  </m:oMath>
                </a14:m>
                <a:r>
                  <a:rPr lang="en-US" altLang="zh-CN" b="0" dirty="0">
                    <a:effectLst/>
                    <a:latin typeface="Open Sans"/>
                  </a:rPr>
                  <a:t>, </a:t>
                </a:r>
                <a14:m>
                  <m:oMath xmlns:m="http://schemas.openxmlformats.org/officeDocument/2006/math">
                    <m:r>
                      <a:rPr lang="en-US" altLang="zh-CN" b="0" i="1" smtClean="0">
                        <a:effectLst/>
                        <a:latin typeface="Cambria Math" panose="02040503050406030204" pitchFamily="18" charset="0"/>
                      </a:rPr>
                      <m:t>256</m:t>
                    </m:r>
                    <m:r>
                      <m:rPr>
                        <m:sty m:val="p"/>
                      </m:rPr>
                      <a:rPr lang="en-US" altLang="zh-CN" b="0" i="0" smtClean="0">
                        <a:effectLst/>
                        <a:latin typeface="Cambria Math" panose="02040503050406030204" pitchFamily="18" charset="0"/>
                      </a:rPr>
                      <m:t>MB</m:t>
                    </m:r>
                  </m:oMath>
                </a14:m>
                <a:r>
                  <a:rPr lang="zh-CN" altLang="en-US" b="0" dirty="0">
                    <a:effectLst/>
                    <a:latin typeface="Open Sans"/>
                  </a:rPr>
                  <a:t>（如无说明，以后各题时空限制均以此为准）</a:t>
                </a:r>
                <a:endParaRPr lang="en-US" altLang="zh-CN" b="0" dirty="0">
                  <a:effectLst/>
                  <a:latin typeface="Open Sans"/>
                </a:endParaRPr>
              </a:p>
              <a:p>
                <a:r>
                  <a:rPr lang="zh-CN" altLang="en-US" dirty="0"/>
                  <a:t>常规：仔细分析 </a:t>
                </a:r>
                <a:r>
                  <a:rPr lang="en-US" altLang="zh-CN" dirty="0"/>
                  <a:t>DFS </a:t>
                </a:r>
                <a:r>
                  <a:rPr lang="zh-CN" altLang="en-US" dirty="0"/>
                  <a:t>树，找到题中可删去的边。对于仙人掌，可以建圆方树统计；删去的边在圆方树上的路径特殊统计一下。</a:t>
                </a:r>
                <a:endParaRPr lang="en-US" altLang="zh-CN" dirty="0"/>
              </a:p>
            </p:txBody>
          </p:sp>
        </mc:Choice>
        <mc:Fallback xmlns="">
          <p:sp>
            <p:nvSpPr>
              <p:cNvPr id="3" name="内容占位符 2">
                <a:extLst>
                  <a:ext uri="{FF2B5EF4-FFF2-40B4-BE49-F238E27FC236}">
                    <a16:creationId xmlns:a16="http://schemas.microsoft.com/office/drawing/2014/main" id="{65356D6B-0ADF-4D74-B4A0-9EEF2D1B9614}"/>
                  </a:ext>
                </a:extLst>
              </p:cNvPr>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2794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40B59-A774-4206-BC44-24E0F2FE8081}"/>
              </a:ext>
            </a:extLst>
          </p:cNvPr>
          <p:cNvSpPr>
            <a:spLocks noGrp="1"/>
          </p:cNvSpPr>
          <p:nvPr>
            <p:ph type="title"/>
          </p:nvPr>
        </p:nvSpPr>
        <p:spPr/>
        <p:txBody>
          <a:bodyPr/>
          <a:lstStyle/>
          <a:p>
            <a:r>
              <a:rPr lang="en-US" altLang="zh-CN" dirty="0"/>
              <a:t>[SNOI2020]</a:t>
            </a:r>
            <a:r>
              <a:rPr lang="zh-CN" altLang="en-US" dirty="0"/>
              <a:t>生成树</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6501782-AF85-44AA-B7A4-5A9BE103281A}"/>
                  </a:ext>
                </a:extLst>
              </p:cNvPr>
              <p:cNvSpPr>
                <a:spLocks noGrp="1"/>
              </p:cNvSpPr>
              <p:nvPr>
                <p:ph idx="1"/>
              </p:nvPr>
            </p:nvSpPr>
            <p:spPr/>
            <p:txBody>
              <a:bodyPr>
                <a:normAutofit/>
              </a:bodyPr>
              <a:lstStyle/>
              <a:p>
                <a:r>
                  <a:rPr lang="zh-CN" altLang="en-US" dirty="0"/>
                  <a:t>另解</a:t>
                </a:r>
                <a:r>
                  <a:rPr lang="en-US" altLang="zh-CN" baseline="30000" dirty="0"/>
                  <a:t>[2]</a:t>
                </a:r>
                <a:r>
                  <a:rPr lang="zh-CN" altLang="en-US" dirty="0"/>
                  <a:t>：该图是广义串并联图。收缩以后，考虑每条边 </a:t>
                </a:r>
                <a14:m>
                  <m:oMath xmlns:m="http://schemas.openxmlformats.org/officeDocument/2006/math">
                    <m:r>
                      <a:rPr lang="en-US" altLang="zh-CN" b="0" i="1" smtClean="0">
                        <a:latin typeface="Cambria Math" panose="02040503050406030204" pitchFamily="18" charset="0"/>
                      </a:rPr>
                      <m:t>𝑒</m:t>
                    </m:r>
                  </m:oMath>
                </a14:m>
                <a:r>
                  <a:rPr lang="zh-CN" altLang="en-US" dirty="0"/>
                  <a:t>，记 </a:t>
                </a:r>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𝑒</m:t>
                        </m:r>
                      </m:e>
                    </m:d>
                  </m:oMath>
                </a14:m>
                <a:r>
                  <a:rPr lang="zh-CN" altLang="en-US" dirty="0"/>
                  <a:t> 表示边在生成树中的方案数，</a:t>
                </a:r>
                <a14:m>
                  <m:oMath xmlns:m="http://schemas.openxmlformats.org/officeDocument/2006/math">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𝑒</m:t>
                        </m:r>
                      </m:e>
                    </m:d>
                  </m:oMath>
                </a14:m>
                <a:r>
                  <a:rPr lang="zh-CN" altLang="en-US" dirty="0"/>
                  <a:t> 表示边不在生成树中的方案数。</a:t>
                </a:r>
                <a:endParaRPr lang="en-US" altLang="zh-CN" dirty="0"/>
              </a:p>
              <a:p>
                <a:r>
                  <a:rPr lang="zh-CN" altLang="en-US" dirty="0"/>
                  <a:t>初值 </a:t>
                </a:r>
                <a14:m>
                  <m:oMath xmlns:m="http://schemas.openxmlformats.org/officeDocument/2006/math">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𝑒</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𝑔</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𝑒</m:t>
                        </m:r>
                      </m:e>
                    </m:d>
                    <m:r>
                      <a:rPr lang="en-US" altLang="zh-CN" b="0" i="1" dirty="0" smtClean="0">
                        <a:latin typeface="Cambria Math" panose="02040503050406030204" pitchFamily="18" charset="0"/>
                      </a:rPr>
                      <m:t>=1</m:t>
                    </m:r>
                  </m:oMath>
                </a14:m>
                <a:r>
                  <a:rPr lang="zh-CN" altLang="en-US" dirty="0"/>
                  <a:t>，答案为 </a:t>
                </a:r>
                <a14:m>
                  <m:oMath xmlns:m="http://schemas.openxmlformats.org/officeDocument/2006/math">
                    <m:r>
                      <a:rPr lang="en-US" altLang="zh-CN" b="0" i="1" smtClean="0">
                        <a:latin typeface="Cambria Math" panose="02040503050406030204" pitchFamily="18" charset="0"/>
                      </a:rPr>
                      <m:t>1</m:t>
                    </m:r>
                  </m:oMath>
                </a14:m>
                <a:r>
                  <a:rPr lang="zh-CN" altLang="en-US" dirty="0"/>
                  <a:t>。</a:t>
                </a:r>
                <a:endParaRPr lang="en-US" altLang="zh-CN" dirty="0"/>
              </a:p>
              <a:p>
                <a:r>
                  <a:rPr lang="zh-CN" altLang="en-US" dirty="0"/>
                  <a:t>对于删 </a:t>
                </a:r>
                <a14:m>
                  <m:oMath xmlns:m="http://schemas.openxmlformats.org/officeDocument/2006/math">
                    <m:r>
                      <a:rPr lang="en-US" altLang="zh-CN" i="1" dirty="0" smtClean="0">
                        <a:latin typeface="Cambria Math" panose="02040503050406030204" pitchFamily="18" charset="0"/>
                      </a:rPr>
                      <m:t>1</m:t>
                    </m:r>
                  </m:oMath>
                </a14:m>
                <a:r>
                  <a:rPr lang="en-US" altLang="zh-CN" dirty="0"/>
                  <a:t> </a:t>
                </a:r>
                <a:r>
                  <a:rPr lang="zh-CN" altLang="en-US" dirty="0"/>
                  <a:t>度点操作，设关联的边为 </a:t>
                </a:r>
                <a14:m>
                  <m:oMath xmlns:m="http://schemas.openxmlformats.org/officeDocument/2006/math">
                    <m:r>
                      <a:rPr lang="en-US" altLang="zh-CN" b="0" i="1" smtClean="0">
                        <a:latin typeface="Cambria Math" panose="02040503050406030204" pitchFamily="18" charset="0"/>
                      </a:rPr>
                      <m:t>𝑒</m:t>
                    </m:r>
                  </m:oMath>
                </a14:m>
                <a:r>
                  <a:rPr lang="zh-CN" altLang="en-US" dirty="0"/>
                  <a:t>，将 </a:t>
                </a:r>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𝑒</m:t>
                        </m:r>
                      </m:e>
                    </m:d>
                  </m:oMath>
                </a14:m>
                <a:r>
                  <a:rPr lang="en-US" altLang="zh-CN" dirty="0"/>
                  <a:t> </a:t>
                </a:r>
                <a:r>
                  <a:rPr lang="zh-CN" altLang="en-US" dirty="0"/>
                  <a:t>乘入答案</a:t>
                </a:r>
                <a:endParaRPr lang="en-US" altLang="zh-CN" dirty="0"/>
              </a:p>
              <a:p>
                <a:r>
                  <a:rPr lang="zh-CN" altLang="en-US" dirty="0"/>
                  <a:t>对于叠合重边操作，设将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oMath>
                </a14:m>
                <a:r>
                  <a:rPr lang="zh-CN" altLang="en-US" dirty="0"/>
                  <a:t> 合并成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oMath>
                </a14:m>
                <a:endParaRPr lang="en-US" altLang="zh-CN" b="0" i="1" dirty="0">
                  <a:latin typeface="Cambria Math" panose="02040503050406030204" pitchFamily="18" charset="0"/>
                </a:endParaRPr>
              </a:p>
              <a:p>
                <a:pPr lvl="1"/>
                <a14:m>
                  <m:oMath xmlns:m="http://schemas.openxmlformats.org/officeDocument/2006/math">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𝑔</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e>
                    </m:d>
                  </m:oMath>
                </a14:m>
                <a:r>
                  <a:rPr lang="zh-CN" altLang="en-US" dirty="0"/>
                  <a:t>，</a:t>
                </a:r>
                <a14:m>
                  <m:oMath xmlns:m="http://schemas.openxmlformats.org/officeDocument/2006/math">
                    <m:r>
                      <a:rPr lang="en-US" altLang="zh-CN" b="0" i="1" dirty="0" smtClean="0">
                        <a:latin typeface="Cambria Math" panose="02040503050406030204" pitchFamily="18" charset="0"/>
                      </a:rPr>
                      <m:t>𝑔</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m:t>
                            </m:r>
                          </m:sup>
                        </m:sSup>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𝑔</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𝑔</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2</m:t>
                            </m:r>
                          </m:sub>
                        </m:sSub>
                      </m:e>
                    </m:d>
                  </m:oMath>
                </a14:m>
                <a:endParaRPr lang="en-US" altLang="zh-CN" b="0" dirty="0"/>
              </a:p>
              <a:p>
                <a:r>
                  <a:rPr lang="zh-CN" altLang="en-US" dirty="0"/>
                  <a:t>对于缩 </a:t>
                </a:r>
                <a14:m>
                  <m:oMath xmlns:m="http://schemas.openxmlformats.org/officeDocument/2006/math">
                    <m:r>
                      <a:rPr lang="en-US" altLang="zh-CN" b="0" i="1" smtClean="0">
                        <a:latin typeface="Cambria Math" panose="02040503050406030204" pitchFamily="18" charset="0"/>
                      </a:rPr>
                      <m:t>2</m:t>
                    </m:r>
                  </m:oMath>
                </a14:m>
                <a:r>
                  <a:rPr lang="zh-CN" altLang="en-US" dirty="0"/>
                  <a:t> 度点操作，设将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𝑤</m:t>
                        </m:r>
                      </m:e>
                    </m:d>
                  </m:oMath>
                </a14:m>
                <a:r>
                  <a:rPr lang="en-US" altLang="zh-CN" dirty="0"/>
                  <a:t> </a:t>
                </a:r>
                <a:r>
                  <a:rPr lang="zh-CN" altLang="en-US" dirty="0"/>
                  <a:t>缩成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r>
                          <a:rPr lang="en-US" altLang="zh-CN" b="0" i="1" smtClean="0">
                            <a:latin typeface="Cambria Math" panose="02040503050406030204" pitchFamily="18" charset="0"/>
                          </a:rPr>
                          <m:t>, </m:t>
                        </m:r>
                        <m:r>
                          <a:rPr lang="en-US" altLang="zh-CN" b="0" i="1" smtClean="0">
                            <a:latin typeface="Cambria Math" panose="02040503050406030204" pitchFamily="18" charset="0"/>
                          </a:rPr>
                          <m:t>𝑤</m:t>
                        </m:r>
                      </m:e>
                    </m:d>
                  </m:oMath>
                </a14:m>
                <a:endParaRPr lang="en-US" altLang="zh-CN" dirty="0"/>
              </a:p>
              <a:p>
                <a:pPr lvl="1"/>
                <a14:m>
                  <m:oMath xmlns:m="http://schemas.openxmlformats.org/officeDocument/2006/math">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m:t>
                            </m:r>
                          </m:sup>
                        </m:sSup>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b="0" i="1" dirty="0" smtClean="0">
                                <a:latin typeface="Cambria Math" panose="02040503050406030204" pitchFamily="18" charset="0"/>
                              </a:rPr>
                              <m:t>2</m:t>
                            </m:r>
                          </m:sub>
                        </m:sSub>
                      </m:e>
                    </m:d>
                  </m:oMath>
                </a14:m>
                <a:r>
                  <a:rPr lang="zh-CN" altLang="en-US" dirty="0"/>
                  <a:t>，</a:t>
                </a:r>
                <a:r>
                  <a:rPr lang="en-US" altLang="zh-CN" dirty="0"/>
                  <a:t> </a:t>
                </a:r>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sup>
                        </m:sSup>
                      </m:e>
                    </m:d>
                    <m:r>
                      <a:rPr lang="en-US" altLang="zh-CN" i="1">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1</m:t>
                            </m:r>
                          </m:sub>
                        </m:sSub>
                      </m:e>
                    </m:d>
                    <m:r>
                      <a:rPr lang="en-US" altLang="zh-CN" i="1">
                        <a:latin typeface="Cambria Math" panose="02040503050406030204" pitchFamily="18" charset="0"/>
                      </a:rPr>
                      <m:t>𝑔</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2</m:t>
                            </m:r>
                          </m:sub>
                        </m:sSub>
                      </m:e>
                    </m:d>
                    <m:r>
                      <a:rPr lang="en-US" altLang="zh-CN" i="1">
                        <a:latin typeface="Cambria Math" panose="02040503050406030204" pitchFamily="18" charset="0"/>
                      </a:rPr>
                      <m:t>+</m:t>
                    </m:r>
                    <m:r>
                      <a:rPr lang="en-US" altLang="zh-CN" i="1">
                        <a:latin typeface="Cambria Math" panose="02040503050406030204" pitchFamily="18" charset="0"/>
                      </a:rPr>
                      <m:t>𝑔</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1</m:t>
                            </m:r>
                          </m:sub>
                        </m:sSub>
                      </m:e>
                    </m:d>
                    <m:r>
                      <a:rPr lang="en-US" altLang="zh-CN" i="1">
                        <a:latin typeface="Cambria Math" panose="02040503050406030204" pitchFamily="18" charset="0"/>
                      </a:rPr>
                      <m:t>𝑓</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2</m:t>
                            </m:r>
                          </m:sub>
                        </m:sSub>
                      </m:e>
                    </m:d>
                  </m:oMath>
                </a14:m>
                <a:endParaRPr lang="en-US" altLang="zh-CN" dirty="0"/>
              </a:p>
              <a:p>
                <a:r>
                  <a:rPr lang="zh-CN" altLang="en-US" dirty="0"/>
                  <a:t>类似地可以简便求解这种图的最大独立集等问题，倒推方案也较为容易</a:t>
                </a:r>
                <a:endParaRPr lang="en-US" altLang="zh-CN" dirty="0"/>
              </a:p>
            </p:txBody>
          </p:sp>
        </mc:Choice>
        <mc:Fallback xmlns="">
          <p:sp>
            <p:nvSpPr>
              <p:cNvPr id="3" name="内容占位符 2">
                <a:extLst>
                  <a:ext uri="{FF2B5EF4-FFF2-40B4-BE49-F238E27FC236}">
                    <a16:creationId xmlns:a16="http://schemas.microsoft.com/office/drawing/2014/main" id="{F6501782-AF85-44AA-B7A4-5A9BE103281A}"/>
                  </a:ext>
                </a:extLst>
              </p:cNvPr>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9910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0B7AE-1C96-43A8-8559-3B489BE6D07E}"/>
              </a:ext>
            </a:extLst>
          </p:cNvPr>
          <p:cNvSpPr>
            <a:spLocks noGrp="1"/>
          </p:cNvSpPr>
          <p:nvPr>
            <p:ph type="title"/>
          </p:nvPr>
        </p:nvSpPr>
        <p:spPr/>
        <p:txBody>
          <a:bodyPr/>
          <a:lstStyle/>
          <a:p>
            <a:r>
              <a:rPr lang="en-US" altLang="zh-CN" dirty="0"/>
              <a:t>[THUPC2021</a:t>
            </a:r>
            <a:r>
              <a:rPr lang="zh-CN" altLang="en-US" dirty="0"/>
              <a:t>预赛</a:t>
            </a:r>
            <a:r>
              <a:rPr lang="en-US" altLang="zh-CN" dirty="0"/>
              <a:t>]</a:t>
            </a:r>
            <a:r>
              <a:rPr lang="zh-CN" altLang="en-US" dirty="0"/>
              <a:t>独立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1F7956-0B01-4BFE-B784-ECA796A9D156}"/>
                  </a:ext>
                </a:extLst>
              </p:cNvPr>
              <p:cNvSpPr>
                <a:spLocks noGrp="1"/>
              </p:cNvSpPr>
              <p:nvPr>
                <p:ph idx="1"/>
              </p:nvPr>
            </p:nvSpPr>
            <p:spPr/>
            <p:txBody>
              <a:bodyPr/>
              <a:lstStyle/>
              <a:p>
                <a:r>
                  <a:rPr lang="zh-CN" altLang="en-US" dirty="0"/>
                  <a:t>简单带权无向图，</a:t>
                </a:r>
                <a14:m>
                  <m:oMath xmlns:m="http://schemas.openxmlformats.org/officeDocument/2006/math">
                    <m:r>
                      <a:rPr lang="en-US" altLang="zh-CN" b="0" i="1" smtClean="0">
                        <a:latin typeface="Cambria Math" panose="02040503050406030204" pitchFamily="18" charset="0"/>
                      </a:rPr>
                      <m:t>𝑛</m:t>
                    </m:r>
                  </m:oMath>
                </a14:m>
                <a:r>
                  <a:rPr lang="zh-CN" altLang="en-US" dirty="0"/>
                  <a:t> 个点 </a:t>
                </a:r>
                <a14:m>
                  <m:oMath xmlns:m="http://schemas.openxmlformats.org/officeDocument/2006/math">
                    <m:r>
                      <a:rPr lang="en-US" altLang="zh-CN" b="0" i="1" smtClean="0">
                        <a:latin typeface="Cambria Math" panose="02040503050406030204" pitchFamily="18" charset="0"/>
                      </a:rPr>
                      <m:t>𝑚</m:t>
                    </m:r>
                  </m:oMath>
                </a14:m>
                <a:r>
                  <a:rPr lang="zh-CN" altLang="en-US" dirty="0"/>
                  <a:t> 条边，要求选择点集 </a:t>
                </a:r>
                <a14:m>
                  <m:oMath xmlns:m="http://schemas.openxmlformats.org/officeDocument/2006/math">
                    <m:r>
                      <a:rPr lang="en-US" altLang="zh-CN" b="0" i="1" smtClean="0">
                        <a:latin typeface="Cambria Math" panose="02040503050406030204" pitchFamily="18" charset="0"/>
                      </a:rPr>
                      <m:t>𝐴</m:t>
                    </m:r>
                  </m:oMath>
                </a14:m>
                <a:endParaRPr lang="en-US" altLang="zh-CN" b="0" dirty="0"/>
              </a:p>
              <a:p>
                <a:r>
                  <a:rPr lang="zh-CN" altLang="en-US" dirty="0"/>
                  <a:t>对于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oMath>
                </a14:m>
                <a:r>
                  <a:rPr lang="zh-CN" altLang="en-US" dirty="0"/>
                  <a:t>，加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oMath>
                </a14:m>
                <a:r>
                  <a:rPr lang="zh-CN" altLang="en-US" dirty="0"/>
                  <a:t> 分；对于 </a:t>
                </a:r>
                <a14:m>
                  <m:oMath xmlns:m="http://schemas.openxmlformats.org/officeDocument/2006/math">
                    <m:r>
                      <a:rPr lang="en-US" altLang="zh-CN" b="0" i="1" smtClean="0">
                        <a:latin typeface="Cambria Math" panose="02040503050406030204" pitchFamily="18" charset="0"/>
                      </a:rPr>
                      <m:t>𝑒</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e>
                    </m:d>
                  </m:oMath>
                </a14:m>
                <a:r>
                  <a:rPr lang="zh-CN" altLang="en-US" dirty="0"/>
                  <a:t>，若 </a:t>
                </a:r>
                <a14:m>
                  <m:oMath xmlns:m="http://schemas.openxmlformats.org/officeDocument/2006/math">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oMath>
                </a14:m>
                <a:r>
                  <a:rPr lang="zh-CN" altLang="en-US" dirty="0"/>
                  <a:t>，扣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𝑒</m:t>
                        </m:r>
                      </m:sub>
                    </m:sSub>
                  </m:oMath>
                </a14:m>
                <a:r>
                  <a:rPr lang="zh-CN" altLang="en-US" dirty="0"/>
                  <a:t> 分</a:t>
                </a:r>
                <a:endParaRPr lang="en-US" altLang="zh-CN" dirty="0"/>
              </a:p>
              <a:p>
                <a:r>
                  <a:rPr lang="zh-CN" altLang="en-US" dirty="0"/>
                  <a:t>求最大得分</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zh-CN" altLang="en-US" dirty="0"/>
                  <a:t>，</a:t>
                </a:r>
                <a14:m>
                  <m:oMath xmlns:m="http://schemas.openxmlformats.org/officeDocument/2006/math">
                    <m:r>
                      <a:rPr lang="en-US" altLang="zh-CN" b="0" i="1" dirty="0" smtClean="0">
                        <a:latin typeface="Cambria Math" panose="02040503050406030204" pitchFamily="18" charset="0"/>
                      </a:rPr>
                      <m:t>0≤</m:t>
                    </m:r>
                    <m:r>
                      <a:rPr lang="en-US" altLang="zh-CN" b="0" i="1" dirty="0" smtClean="0">
                        <a:latin typeface="Cambria Math" panose="02040503050406030204" pitchFamily="18" charset="0"/>
                      </a:rPr>
                      <m:t>𝑚</m:t>
                    </m:r>
                    <m:r>
                      <a:rPr lang="en-US" altLang="zh-CN" b="0"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a:rPr>
                          <m:t>𝑛</m:t>
                        </m:r>
                      </m:num>
                      <m:den>
                        <m:r>
                          <a:rPr lang="en-US" altLang="zh-CN" i="1" dirty="0">
                            <a:latin typeface="Cambria Math"/>
                          </a:rPr>
                          <m:t>2</m:t>
                        </m:r>
                      </m:den>
                    </m:f>
                  </m:oMath>
                </a14:m>
                <a:r>
                  <a:rPr lang="zh-CN" altLang="en-US" dirty="0"/>
                  <a:t>，权值与边的两端点由独立的随机数生成器生成</a:t>
                </a:r>
                <a:endParaRPr lang="en-US" altLang="zh-CN" dirty="0"/>
              </a:p>
              <a:p>
                <a:r>
                  <a:rPr lang="zh-CN" altLang="en-US" dirty="0"/>
                  <a:t>标答：每个环上任取一个点，枚举这些点是否选择，剩下的树形</a:t>
                </a:r>
                <a:r>
                  <a:rPr lang="en-US" altLang="zh-CN" dirty="0"/>
                  <a:t>DP</a:t>
                </a:r>
              </a:p>
              <a:p>
                <a:r>
                  <a:rPr lang="zh-CN" altLang="en-US" dirty="0"/>
                  <a:t>我队赛时：进行收缩操作，不能收缩时枚举点度最大的点是否选择，继续收缩</a:t>
                </a:r>
                <a:endParaRPr lang="en-US" altLang="zh-CN" dirty="0"/>
              </a:p>
              <a:p>
                <a:r>
                  <a:rPr lang="zh-CN" altLang="en-US" dirty="0"/>
                  <a:t>类似做法可用于快速求解最大权独立集</a:t>
                </a:r>
                <a:endParaRPr lang="en-US" altLang="zh-CN" dirty="0"/>
              </a:p>
              <a:p>
                <a:r>
                  <a:rPr lang="zh-CN" altLang="en-US" dirty="0"/>
                  <a:t>可以解决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a:rPr>
                          <m:t>𝑚</m:t>
                        </m:r>
                      </m:num>
                      <m:den>
                        <m:r>
                          <a:rPr lang="en-US" altLang="zh-CN" b="0" i="1" smtClean="0">
                            <a:latin typeface="Cambria Math"/>
                          </a:rPr>
                          <m:t>𝑛</m:t>
                        </m:r>
                      </m:den>
                    </m:f>
                  </m:oMath>
                </a14:m>
                <a:r>
                  <a:rPr lang="zh-CN" altLang="en-US" dirty="0"/>
                  <a:t> 略大一些的随机图</a:t>
                </a:r>
                <a:endParaRPr lang="en-US" altLang="zh-CN" dirty="0"/>
              </a:p>
            </p:txBody>
          </p:sp>
        </mc:Choice>
        <mc:Fallback xmlns="">
          <p:sp>
            <p:nvSpPr>
              <p:cNvPr id="3" name="内容占位符 2">
                <a:extLst>
                  <a:ext uri="{FF2B5EF4-FFF2-40B4-BE49-F238E27FC236}">
                    <a16:creationId xmlns:a16="http://schemas.microsoft.com/office/drawing/2014/main" xmlns:a14="http://schemas.microsoft.com/office/drawing/2010/main" xmlns="" id="{DD1F7956-0B01-4BFE-B784-ECA796A9D156}"/>
                  </a:ext>
                </a:extLst>
              </p:cNvPr>
              <p:cNvSpPr>
                <a:spLocks noGrp="1" noRot="1" noChangeAspect="1" noMove="1" noResize="1" noEditPoints="1" noAdjustHandles="1" noChangeArrowheads="1" noChangeShapeType="1" noTextEdit="1"/>
              </p:cNvSpPr>
              <p:nvPr>
                <p:ph idx="1"/>
              </p:nvPr>
            </p:nvSpPr>
            <p:spPr>
              <a:blipFill rotWithShape="1">
                <a:blip r:embed="rId2"/>
                <a:stretch>
                  <a:fillRect l="-479" t="-11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806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EA042C-ADD3-4AAE-916F-AD3D23E4DF9C}"/>
              </a:ext>
            </a:extLst>
          </p:cNvPr>
          <p:cNvSpPr>
            <a:spLocks noGrp="1"/>
          </p:cNvSpPr>
          <p:nvPr>
            <p:ph type="title"/>
          </p:nvPr>
        </p:nvSpPr>
        <p:spPr/>
        <p:txBody>
          <a:bodyPr/>
          <a:lstStyle/>
          <a:p>
            <a:r>
              <a:rPr lang="zh-CN" altLang="en-US" dirty="0"/>
              <a:t>能不能做到更多？</a:t>
            </a:r>
          </a:p>
        </p:txBody>
      </p:sp>
      <p:sp>
        <p:nvSpPr>
          <p:cNvPr id="3" name="内容占位符 2">
            <a:extLst>
              <a:ext uri="{FF2B5EF4-FFF2-40B4-BE49-F238E27FC236}">
                <a16:creationId xmlns:a16="http://schemas.microsoft.com/office/drawing/2014/main" id="{F30B2EDB-C8DF-495B-B353-72D1724E9954}"/>
              </a:ext>
            </a:extLst>
          </p:cNvPr>
          <p:cNvSpPr>
            <a:spLocks noGrp="1"/>
          </p:cNvSpPr>
          <p:nvPr>
            <p:ph idx="1"/>
          </p:nvPr>
        </p:nvSpPr>
        <p:spPr/>
        <p:txBody>
          <a:bodyPr/>
          <a:lstStyle/>
          <a:p>
            <a:r>
              <a:rPr lang="zh-CN" altLang="en-US" dirty="0"/>
              <a:t>我们希望将仙人掌上类似问题推广进来，例如：</a:t>
            </a:r>
            <a:endParaRPr lang="en-US" altLang="zh-CN" dirty="0"/>
          </a:p>
          <a:p>
            <a:r>
              <a:rPr lang="zh-CN" altLang="en-US" dirty="0"/>
              <a:t>链分治维护动态</a:t>
            </a:r>
            <a:r>
              <a:rPr lang="en-US" altLang="zh-CN" dirty="0"/>
              <a:t>DP</a:t>
            </a:r>
          </a:p>
          <a:p>
            <a:r>
              <a:rPr lang="zh-CN" altLang="en-US" dirty="0"/>
              <a:t>较复杂</a:t>
            </a:r>
            <a:r>
              <a:rPr lang="en-US" altLang="zh-CN" dirty="0"/>
              <a:t>DP</a:t>
            </a:r>
          </a:p>
          <a:p>
            <a:r>
              <a:rPr lang="zh-CN" altLang="en-US" dirty="0"/>
              <a:t>多次询问最短路</a:t>
            </a:r>
            <a:endParaRPr lang="en-US" altLang="zh-CN" dirty="0"/>
          </a:p>
          <a:p>
            <a:r>
              <a:rPr lang="zh-CN" altLang="en-US" dirty="0"/>
              <a:t>点</a:t>
            </a:r>
            <a:r>
              <a:rPr lang="en-US" altLang="zh-CN" dirty="0"/>
              <a:t>/</a:t>
            </a:r>
            <a:r>
              <a:rPr lang="zh-CN" altLang="en-US" dirty="0"/>
              <a:t>边分治</a:t>
            </a:r>
            <a:endParaRPr lang="en-US" altLang="zh-CN" dirty="0"/>
          </a:p>
          <a:p>
            <a:endParaRPr lang="en-US" altLang="zh-CN" dirty="0"/>
          </a:p>
          <a:p>
            <a:r>
              <a:rPr lang="zh-CN" altLang="en-US" dirty="0"/>
              <a:t>我们需要发掘更多的性质来解决这些问题。</a:t>
            </a:r>
            <a:endParaRPr lang="en-US" altLang="zh-CN" dirty="0"/>
          </a:p>
        </p:txBody>
      </p:sp>
    </p:spTree>
    <p:extLst>
      <p:ext uri="{BB962C8B-B14F-4D97-AF65-F5344CB8AC3E}">
        <p14:creationId xmlns:p14="http://schemas.microsoft.com/office/powerpoint/2010/main" val="3524172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36DCAB-E9BE-4F9B-8735-04FFEC4AAFA4}"/>
              </a:ext>
            </a:extLst>
          </p:cNvPr>
          <p:cNvSpPr>
            <a:spLocks noGrp="1"/>
          </p:cNvSpPr>
          <p:nvPr>
            <p:ph type="title"/>
          </p:nvPr>
        </p:nvSpPr>
        <p:spPr/>
        <p:txBody>
          <a:bodyPr/>
          <a:lstStyle/>
          <a:p>
            <a:r>
              <a:rPr lang="zh-CN" altLang="en-US" dirty="0"/>
              <a:t>单元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570B6FD-14A7-41DF-9855-31410D2D041E}"/>
                  </a:ext>
                </a:extLst>
              </p:cNvPr>
              <p:cNvSpPr>
                <a:spLocks noGrp="1"/>
              </p:cNvSpPr>
              <p:nvPr>
                <p:ph idx="1"/>
              </p:nvPr>
            </p:nvSpPr>
            <p:spPr/>
            <p:txBody>
              <a:bodyPr>
                <a:normAutofit/>
              </a:bodyPr>
              <a:lstStyle/>
              <a:p>
                <a:r>
                  <a:rPr lang="zh-CN" altLang="en-US" dirty="0"/>
                  <a:t>收缩过程中，可能会添加一些新的边，但点只会删而不会添加，不过信息可能改动</a:t>
                </a:r>
                <a:endParaRPr lang="en-US" altLang="zh-CN" dirty="0"/>
              </a:p>
              <a:p>
                <a:r>
                  <a:rPr lang="zh-CN" altLang="en-US" dirty="0"/>
                  <a:t>当 </a:t>
                </a:r>
                <a14:m>
                  <m:oMath xmlns:m="http://schemas.openxmlformats.org/officeDocument/2006/math">
                    <m:r>
                      <a:rPr lang="en-US" altLang="zh-CN" b="0" i="1" smtClean="0">
                        <a:latin typeface="Cambria Math" panose="02040503050406030204" pitchFamily="18" charset="0"/>
                      </a:rPr>
                      <m:t>1</m:t>
                    </m:r>
                  </m:oMath>
                </a14:m>
                <a:r>
                  <a:rPr lang="zh-CN" altLang="en-US" dirty="0"/>
                  <a:t> 度点 </a:t>
                </a:r>
                <a14:m>
                  <m:oMath xmlns:m="http://schemas.openxmlformats.org/officeDocument/2006/math">
                    <m:r>
                      <a:rPr lang="en-US" altLang="zh-CN" b="0" i="1" smtClean="0">
                        <a:latin typeface="Cambria Math" panose="02040503050406030204" pitchFamily="18" charset="0"/>
                      </a:rPr>
                      <m:t>𝑢</m:t>
                    </m:r>
                  </m:oMath>
                </a14:m>
                <a:r>
                  <a:rPr lang="zh-CN" altLang="en-US" dirty="0"/>
                  <a:t> 及其邻边 </a:t>
                </a:r>
                <a14:m>
                  <m:oMath xmlns:m="http://schemas.openxmlformats.org/officeDocument/2006/math">
                    <m:r>
                      <a:rPr lang="en-US" altLang="zh-CN" b="0" i="1" smtClean="0">
                        <a:latin typeface="Cambria Math" panose="02040503050406030204" pitchFamily="18" charset="0"/>
                      </a:rPr>
                      <m:t>𝑒</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e>
                    </m:d>
                  </m:oMath>
                </a14:m>
                <a:r>
                  <a:rPr lang="zh-CN" altLang="en-US" dirty="0"/>
                  <a:t> 被删掉时，其信息合并到 </a:t>
                </a:r>
                <a14:m>
                  <m:oMath xmlns:m="http://schemas.openxmlformats.org/officeDocument/2006/math">
                    <m:r>
                      <a:rPr lang="en-US" altLang="zh-CN" b="0" i="1" smtClean="0">
                        <a:latin typeface="Cambria Math" panose="02040503050406030204" pitchFamily="18" charset="0"/>
                      </a:rPr>
                      <m:t>𝑣</m:t>
                    </m:r>
                  </m:oMath>
                </a14:m>
                <a:r>
                  <a:rPr lang="en-US" altLang="zh-CN" dirty="0"/>
                  <a:t> </a:t>
                </a:r>
                <a:r>
                  <a:rPr lang="zh-CN" altLang="en-US" dirty="0"/>
                  <a:t>上</a:t>
                </a:r>
                <a:endParaRPr lang="en-US" altLang="zh-CN" dirty="0"/>
              </a:p>
              <a:p>
                <a:r>
                  <a:rPr lang="zh-CN" altLang="en-US" dirty="0"/>
                  <a:t>当 </a:t>
                </a:r>
                <a14:m>
                  <m:oMath xmlns:m="http://schemas.openxmlformats.org/officeDocument/2006/math">
                    <m:r>
                      <a:rPr lang="en-US" altLang="zh-CN" b="0" i="1" smtClean="0">
                        <a:latin typeface="Cambria Math" panose="02040503050406030204" pitchFamily="18" charset="0"/>
                      </a:rPr>
                      <m:t>2</m:t>
                    </m:r>
                  </m:oMath>
                </a14:m>
                <a:r>
                  <a:rPr lang="en-US" altLang="zh-CN" dirty="0"/>
                  <a:t> </a:t>
                </a:r>
                <a:r>
                  <a:rPr lang="zh-CN" altLang="en-US" dirty="0"/>
                  <a:t>度点 </a:t>
                </a:r>
                <a14:m>
                  <m:oMath xmlns:m="http://schemas.openxmlformats.org/officeDocument/2006/math">
                    <m:r>
                      <a:rPr lang="en-US" altLang="zh-CN" b="0" i="1" smtClean="0">
                        <a:latin typeface="Cambria Math" panose="02040503050406030204" pitchFamily="18" charset="0"/>
                      </a:rPr>
                      <m:t>𝑢</m:t>
                    </m:r>
                  </m:oMath>
                </a14:m>
                <a:r>
                  <a:rPr lang="en-US" altLang="zh-CN" dirty="0"/>
                  <a:t> </a:t>
                </a:r>
                <a:r>
                  <a:rPr lang="zh-CN" altLang="en-US" dirty="0"/>
                  <a:t>及其两邻边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𝑤</m:t>
                        </m:r>
                      </m:e>
                    </m:d>
                  </m:oMath>
                </a14:m>
                <a:r>
                  <a:rPr lang="en-US" altLang="zh-CN" dirty="0"/>
                  <a:t> </a:t>
                </a:r>
                <a:r>
                  <a:rPr lang="zh-CN" altLang="en-US" dirty="0"/>
                  <a:t>被缩成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r>
                          <a:rPr lang="en-US" altLang="zh-CN" b="0" i="1" smtClean="0">
                            <a:latin typeface="Cambria Math" panose="02040503050406030204" pitchFamily="18" charset="0"/>
                          </a:rPr>
                          <m:t>, </m:t>
                        </m:r>
                        <m:r>
                          <a:rPr lang="en-US" altLang="zh-CN" b="0" i="1" smtClean="0">
                            <a:latin typeface="Cambria Math" panose="02040503050406030204" pitchFamily="18" charset="0"/>
                          </a:rPr>
                          <m:t>𝑤</m:t>
                        </m:r>
                      </m:e>
                    </m:d>
                  </m:oMath>
                </a14:m>
                <a:r>
                  <a:rPr lang="en-US" altLang="zh-CN" dirty="0"/>
                  <a:t> </a:t>
                </a:r>
                <a:r>
                  <a:rPr lang="zh-CN" altLang="en-US" dirty="0"/>
                  <a:t>时，其信息合并到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oMath>
                </a14:m>
                <a:r>
                  <a:rPr lang="en-US" altLang="zh-CN" dirty="0"/>
                  <a:t> </a:t>
                </a:r>
                <a:r>
                  <a:rPr lang="zh-CN" altLang="en-US" dirty="0"/>
                  <a:t>上</a:t>
                </a:r>
                <a:endParaRPr lang="en-US" altLang="zh-CN" dirty="0"/>
              </a:p>
              <a:p>
                <a:r>
                  <a:rPr lang="zh-CN" altLang="en-US" dirty="0"/>
                  <a:t>当重边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oMath>
                </a14:m>
                <a:r>
                  <a:rPr lang="en-US" altLang="zh-CN" dirty="0"/>
                  <a:t> </a:t>
                </a:r>
                <a:r>
                  <a:rPr lang="zh-CN" altLang="en-US" dirty="0"/>
                  <a:t>被叠合成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oMath>
                </a14:m>
                <a:r>
                  <a:rPr lang="en-US" altLang="zh-CN" dirty="0"/>
                  <a:t> </a:t>
                </a:r>
                <a:r>
                  <a:rPr lang="zh-CN" altLang="en-US" dirty="0"/>
                  <a:t>时，其信息合并到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sup>
                    </m:sSup>
                  </m:oMath>
                </a14:m>
                <a:r>
                  <a:rPr lang="en-US" altLang="zh-CN" dirty="0"/>
                  <a:t> </a:t>
                </a:r>
                <a:r>
                  <a:rPr lang="zh-CN" altLang="en-US" dirty="0"/>
                  <a:t>上</a:t>
                </a:r>
                <a:endParaRPr lang="en-US" altLang="zh-CN" dirty="0"/>
              </a:p>
              <a:p>
                <a:r>
                  <a:rPr lang="zh-CN" altLang="en-US" dirty="0"/>
                  <a:t>考虑收缩过程中的点与边接受了原图的哪些部分的信息，称为该点或边对应的</a:t>
                </a:r>
                <a:r>
                  <a:rPr lang="zh-CN" altLang="en-US" b="1" dirty="0"/>
                  <a:t>单元</a:t>
                </a:r>
                <a:endParaRPr lang="en-US" altLang="zh-CN" b="1" dirty="0"/>
              </a:p>
              <a:p>
                <a:r>
                  <a:rPr lang="zh-CN" altLang="en-US" dirty="0"/>
                  <a:t>单元是一些连通的点和边的集合，分为</a:t>
                </a:r>
                <a:r>
                  <a:rPr lang="zh-CN" altLang="en-US" b="1" dirty="0"/>
                  <a:t>点型</a:t>
                </a:r>
                <a:r>
                  <a:rPr lang="zh-CN" altLang="en-US" dirty="0"/>
                  <a:t>与</a:t>
                </a:r>
                <a:r>
                  <a:rPr lang="zh-CN" altLang="en-US" b="1" dirty="0"/>
                  <a:t>边型</a:t>
                </a:r>
                <a:endParaRPr lang="en-US" altLang="zh-CN" dirty="0"/>
              </a:p>
              <a:p>
                <a:r>
                  <a:rPr lang="zh-CN" altLang="en-US" dirty="0"/>
                  <a:t>点对应的单元称作点型单元，定义此点为此点型单元的</a:t>
                </a:r>
                <a:r>
                  <a:rPr lang="zh-CN" altLang="en-US" b="1" dirty="0"/>
                  <a:t>端点</a:t>
                </a:r>
                <a:endParaRPr lang="en-US" altLang="zh-CN" dirty="0"/>
              </a:p>
              <a:p>
                <a:r>
                  <a:rPr lang="zh-CN" altLang="en-US" dirty="0"/>
                  <a:t>边对应的单元称作边型单元，定义此边的两个端点为此边型单元的两个</a:t>
                </a:r>
                <a:r>
                  <a:rPr lang="zh-CN" altLang="en-US" b="1" dirty="0"/>
                  <a:t>端点</a:t>
                </a:r>
                <a:endParaRPr lang="en-US" altLang="zh-CN" dirty="0"/>
              </a:p>
            </p:txBody>
          </p:sp>
        </mc:Choice>
        <mc:Fallback xmlns="">
          <p:sp>
            <p:nvSpPr>
              <p:cNvPr id="3" name="内容占位符 2">
                <a:extLst>
                  <a:ext uri="{FF2B5EF4-FFF2-40B4-BE49-F238E27FC236}">
                    <a16:creationId xmlns:a16="http://schemas.microsoft.com/office/drawing/2014/main" id="{5570B6FD-14A7-41DF-9855-31410D2D041E}"/>
                  </a:ext>
                </a:extLst>
              </p:cNvPr>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66188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598FEB-3851-45F4-BE96-1B5E932693B4}"/>
              </a:ext>
            </a:extLst>
          </p:cNvPr>
          <p:cNvSpPr>
            <a:spLocks noGrp="1"/>
          </p:cNvSpPr>
          <p:nvPr>
            <p:ph type="title"/>
          </p:nvPr>
        </p:nvSpPr>
        <p:spPr/>
        <p:txBody>
          <a:bodyPr/>
          <a:lstStyle/>
          <a:p>
            <a:r>
              <a:rPr lang="zh-CN" altLang="en-US" dirty="0"/>
              <a:t>串并联树</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13042F5-4CA9-4976-B21F-EC329C5CB4EC}"/>
                  </a:ext>
                </a:extLst>
              </p:cNvPr>
              <p:cNvSpPr>
                <a:spLocks noGrp="1"/>
              </p:cNvSpPr>
              <p:nvPr>
                <p:ph idx="1"/>
              </p:nvPr>
            </p:nvSpPr>
            <p:spPr/>
            <p:txBody>
              <a:bodyPr/>
              <a:lstStyle/>
              <a:p>
                <a:r>
                  <a:rPr lang="zh-CN" altLang="en-US" dirty="0"/>
                  <a:t>初始时每个点、每条边都作为一个单元</a:t>
                </a:r>
                <a:endParaRPr lang="en-US" altLang="zh-CN" dirty="0"/>
              </a:p>
              <a:p>
                <a:r>
                  <a:rPr lang="zh-CN" altLang="en-US" dirty="0"/>
                  <a:t>对于 </a:t>
                </a:r>
                <a14:m>
                  <m:oMath xmlns:m="http://schemas.openxmlformats.org/officeDocument/2006/math">
                    <m:r>
                      <a:rPr lang="en-US" altLang="zh-CN" b="0" i="1" smtClean="0">
                        <a:latin typeface="Cambria Math" panose="02040503050406030204" pitchFamily="18" charset="0"/>
                      </a:rPr>
                      <m:t>1</m:t>
                    </m:r>
                  </m:oMath>
                </a14:m>
                <a:r>
                  <a:rPr lang="zh-CN" altLang="en-US" dirty="0"/>
                  <a:t> 度点 </a:t>
                </a:r>
                <a14:m>
                  <m:oMath xmlns:m="http://schemas.openxmlformats.org/officeDocument/2006/math">
                    <m:r>
                      <a:rPr lang="en-US" altLang="zh-CN" b="0" i="1" smtClean="0">
                        <a:latin typeface="Cambria Math" panose="02040503050406030204" pitchFamily="18" charset="0"/>
                      </a:rPr>
                      <m:t>𝑢</m:t>
                    </m:r>
                  </m:oMath>
                </a14:m>
                <a:r>
                  <a:rPr lang="zh-CN" altLang="en-US" dirty="0"/>
                  <a:t>、其关联的边 </a:t>
                </a:r>
                <a14:m>
                  <m:oMath xmlns:m="http://schemas.openxmlformats.org/officeDocument/2006/math">
                    <m:r>
                      <a:rPr lang="en-US" altLang="zh-CN" b="0" i="1" smtClean="0">
                        <a:latin typeface="Cambria Math" panose="02040503050406030204" pitchFamily="18" charset="0"/>
                      </a:rPr>
                      <m:t>𝑒</m:t>
                    </m:r>
                  </m:oMath>
                </a14:m>
                <a:r>
                  <a:rPr lang="zh-CN" altLang="en-US" dirty="0"/>
                  <a:t> 和点 </a:t>
                </a:r>
                <a14:m>
                  <m:oMath xmlns:m="http://schemas.openxmlformats.org/officeDocument/2006/math">
                    <m:r>
                      <a:rPr lang="en-US" altLang="zh-CN" b="0" i="1" smtClean="0">
                        <a:latin typeface="Cambria Math" panose="02040503050406030204" pitchFamily="18" charset="0"/>
                      </a:rPr>
                      <m:t>𝑣</m:t>
                    </m:r>
                  </m:oMath>
                </a14:m>
                <a:r>
                  <a:rPr lang="zh-CN" altLang="en-US" dirty="0"/>
                  <a:t>，设它们对应的单元为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oMath>
                </a14:m>
                <a:r>
                  <a:rPr lang="zh-CN" altLang="en-US" dirty="0"/>
                  <a:t>，删 </a:t>
                </a:r>
                <a14:m>
                  <m:oMath xmlns:m="http://schemas.openxmlformats.org/officeDocument/2006/math">
                    <m:r>
                      <a:rPr lang="en-US" altLang="zh-CN" b="0" i="1" smtClean="0">
                        <a:latin typeface="Cambria Math" panose="02040503050406030204" pitchFamily="18" charset="0"/>
                      </a:rPr>
                      <m:t>1</m:t>
                    </m:r>
                  </m:oMath>
                </a14:m>
                <a:r>
                  <a:rPr lang="zh-CN" altLang="en-US" dirty="0"/>
                  <a:t> 度点后 </a:t>
                </a:r>
                <a14:m>
                  <m:oMath xmlns:m="http://schemas.openxmlformats.org/officeDocument/2006/math">
                    <m:r>
                      <a:rPr lang="en-US" altLang="zh-CN" b="0" i="1" smtClean="0">
                        <a:latin typeface="Cambria Math" panose="02040503050406030204" pitchFamily="18" charset="0"/>
                      </a:rPr>
                      <m:t>𝑣</m:t>
                    </m:r>
                  </m:oMath>
                </a14:m>
                <a:r>
                  <a:rPr lang="zh-CN" altLang="en-US" dirty="0"/>
                  <a:t> 对应的点型单元为</a:t>
                </a:r>
                <a:r>
                  <a:rPr lang="en-US" altLang="zh-CN" dirty="0"/>
                  <a:t> </a:t>
                </a:r>
                <a14:m>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e>
                    </m:d>
                  </m:oMath>
                </a14:m>
                <a:r>
                  <a:rPr lang="zh-CN" altLang="en-US" dirty="0"/>
                  <a:t>，让</a:t>
                </a:r>
                <a:r>
                  <a:rPr lang="en-US" altLang="zh-CN" dirty="0"/>
                  <a:t> </a:t>
                </a:r>
                <a14:m>
                  <m:oMath xmlns:m="http://schemas.openxmlformats.org/officeDocument/2006/math">
                    <m:r>
                      <a:rPr lang="en-US" altLang="zh-CN" b="0" i="1" smtClean="0">
                        <a:latin typeface="Cambria Math" panose="02040503050406030204" pitchFamily="18" charset="0"/>
                      </a:rPr>
                      <m:t>𝑑</m:t>
                    </m:r>
                  </m:oMath>
                </a14:m>
                <a:r>
                  <a:rPr lang="en-US" altLang="zh-CN" dirty="0"/>
                  <a:t> </a:t>
                </a:r>
                <a:r>
                  <a:rPr lang="zh-CN" altLang="en-US" dirty="0"/>
                  <a:t>作为</a:t>
                </a:r>
                <a:r>
                  <a:rPr lang="en-US" altLang="zh-CN" dirty="0"/>
                  <a:t>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oMath>
                </a14:m>
                <a:r>
                  <a:rPr lang="en-US" altLang="zh-CN" dirty="0"/>
                  <a:t> </a:t>
                </a:r>
                <a:r>
                  <a:rPr lang="zh-CN" altLang="en-US" dirty="0"/>
                  <a:t>的父结点</a:t>
                </a:r>
                <a:endParaRPr lang="en-US" altLang="zh-CN" dirty="0"/>
              </a:p>
              <a:p>
                <a:r>
                  <a:rPr lang="zh-CN" altLang="en-US" dirty="0"/>
                  <a:t>对于重边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oMath>
                </a14:m>
                <a:r>
                  <a:rPr lang="zh-CN" altLang="en-US" dirty="0"/>
                  <a:t>，设它们对应的单元为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oMath>
                </a14:m>
                <a:r>
                  <a:rPr lang="zh-CN" altLang="en-US" dirty="0"/>
                  <a:t>，叠合重边后对应边型单元 </a:t>
                </a:r>
                <a14:m>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e>
                    </m:d>
                  </m:oMath>
                </a14:m>
                <a:r>
                  <a:rPr lang="zh-CN" altLang="en-US" dirty="0"/>
                  <a:t> ，让</a:t>
                </a:r>
                <a:r>
                  <a:rPr lang="en-US" altLang="zh-CN" dirty="0"/>
                  <a:t> </a:t>
                </a:r>
                <a14:m>
                  <m:oMath xmlns:m="http://schemas.openxmlformats.org/officeDocument/2006/math">
                    <m:r>
                      <a:rPr lang="en-US" altLang="zh-CN" i="1" smtClean="0">
                        <a:latin typeface="Cambria Math" panose="02040503050406030204" pitchFamily="18" charset="0"/>
                      </a:rPr>
                      <m:t>𝑑</m:t>
                    </m:r>
                  </m:oMath>
                </a14:m>
                <a:r>
                  <a:rPr lang="en-US" altLang="zh-CN" dirty="0"/>
                  <a:t> </a:t>
                </a:r>
                <a:r>
                  <a:rPr lang="zh-CN" altLang="en-US" dirty="0"/>
                  <a:t>作为</a:t>
                </a:r>
                <a:r>
                  <a:rPr lang="en-US" altLang="zh-CN" dirty="0"/>
                  <a:t> </a:t>
                </a:r>
                <a14:m>
                  <m:oMath xmlns:m="http://schemas.openxmlformats.org/officeDocument/2006/math">
                    <m:r>
                      <a:rPr lang="en-US" altLang="zh-CN" b="0" i="1" smtClean="0">
                        <a:latin typeface="Cambria Math" panose="02040503050406030204" pitchFamily="18" charset="0"/>
                      </a:rPr>
                      <m:t>𝑎</m:t>
                    </m:r>
                    <m:r>
                      <a:rPr lang="en-US" altLang="zh-CN" i="1">
                        <a:latin typeface="Cambria Math" panose="02040503050406030204" pitchFamily="18" charset="0"/>
                      </a:rPr>
                      <m:t>, </m:t>
                    </m:r>
                    <m:r>
                      <a:rPr lang="en-US" altLang="zh-CN" b="0" i="1" smtClean="0">
                        <a:latin typeface="Cambria Math" panose="02040503050406030204" pitchFamily="18" charset="0"/>
                      </a:rPr>
                      <m:t>𝑏</m:t>
                    </m:r>
                  </m:oMath>
                </a14:m>
                <a:r>
                  <a:rPr lang="en-US" altLang="zh-CN" dirty="0"/>
                  <a:t> </a:t>
                </a:r>
                <a:r>
                  <a:rPr lang="zh-CN" altLang="en-US" dirty="0"/>
                  <a:t>的父结点</a:t>
                </a:r>
                <a:endParaRPr lang="en-US" altLang="zh-CN" dirty="0"/>
              </a:p>
              <a:p>
                <a:r>
                  <a:rPr lang="zh-CN" altLang="en-US" dirty="0"/>
                  <a:t>对于 </a:t>
                </a:r>
                <a14:m>
                  <m:oMath xmlns:m="http://schemas.openxmlformats.org/officeDocument/2006/math">
                    <m:r>
                      <a:rPr lang="en-US" altLang="zh-CN" b="0" i="1" smtClean="0">
                        <a:latin typeface="Cambria Math" panose="02040503050406030204" pitchFamily="18" charset="0"/>
                      </a:rPr>
                      <m:t>2</m:t>
                    </m:r>
                  </m:oMath>
                </a14:m>
                <a:r>
                  <a:rPr lang="zh-CN" altLang="en-US" dirty="0"/>
                  <a:t> 度点 </a:t>
                </a:r>
                <a14:m>
                  <m:oMath xmlns:m="http://schemas.openxmlformats.org/officeDocument/2006/math">
                    <m:r>
                      <a:rPr lang="en-US" altLang="zh-CN" b="0" i="1" smtClean="0">
                        <a:latin typeface="Cambria Math" panose="02040503050406030204" pitchFamily="18" charset="0"/>
                      </a:rPr>
                      <m:t>𝑢</m:t>
                    </m:r>
                  </m:oMath>
                </a14:m>
                <a:r>
                  <a:rPr lang="zh-CN" altLang="en-US" dirty="0"/>
                  <a:t>、其关联的两边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2</m:t>
                        </m:r>
                      </m:sub>
                    </m:sSub>
                  </m:oMath>
                </a14:m>
                <a:r>
                  <a:rPr lang="zh-CN" altLang="en-US" dirty="0"/>
                  <a:t>，设它们对应的单元为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oMath>
                </a14:m>
                <a:r>
                  <a:rPr lang="zh-CN" altLang="en-US" dirty="0"/>
                  <a:t>，缩</a:t>
                </a:r>
                <a:r>
                  <a:rPr lang="en-US" altLang="zh-CN" dirty="0"/>
                  <a:t> </a:t>
                </a:r>
                <a14:m>
                  <m:oMath xmlns:m="http://schemas.openxmlformats.org/officeDocument/2006/math">
                    <m:r>
                      <a:rPr lang="en-US" altLang="zh-CN" b="0" i="1" smtClean="0">
                        <a:latin typeface="Cambria Math" panose="02040503050406030204" pitchFamily="18" charset="0"/>
                      </a:rPr>
                      <m:t>2</m:t>
                    </m:r>
                  </m:oMath>
                </a14:m>
                <a:r>
                  <a:rPr lang="zh-CN" altLang="en-US" dirty="0"/>
                  <a:t> 度点后对应边型单元</a:t>
                </a:r>
                <a:r>
                  <a:rPr lang="en-US" altLang="zh-CN" dirty="0"/>
                  <a:t> </a:t>
                </a:r>
                <a14:m>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 ∗</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e>
                    </m:d>
                  </m:oMath>
                </a14:m>
                <a:r>
                  <a:rPr lang="zh-CN" altLang="en-US" dirty="0"/>
                  <a:t>，让</a:t>
                </a:r>
                <a:r>
                  <a:rPr lang="en-US" altLang="zh-CN" dirty="0"/>
                  <a:t> </a:t>
                </a:r>
                <a14:m>
                  <m:oMath xmlns:m="http://schemas.openxmlformats.org/officeDocument/2006/math">
                    <m:r>
                      <a:rPr lang="en-US" altLang="zh-CN" b="0" i="1" smtClean="0">
                        <a:latin typeface="Cambria Math" panose="02040503050406030204" pitchFamily="18" charset="0"/>
                      </a:rPr>
                      <m:t>𝑑</m:t>
                    </m:r>
                  </m:oMath>
                </a14:m>
                <a:r>
                  <a:rPr lang="en-US" altLang="zh-CN" dirty="0"/>
                  <a:t> </a:t>
                </a:r>
                <a:r>
                  <a:rPr lang="zh-CN" altLang="en-US" dirty="0"/>
                  <a:t>作为</a:t>
                </a:r>
                <a:r>
                  <a:rPr lang="en-US" altLang="zh-CN" dirty="0"/>
                  <a:t> </a:t>
                </a:r>
                <a14:m>
                  <m:oMath xmlns:m="http://schemas.openxmlformats.org/officeDocument/2006/math">
                    <m:r>
                      <a:rPr lang="en-US" altLang="zh-CN" b="0" i="1" smtClean="0">
                        <a:latin typeface="Cambria Math" panose="02040503050406030204" pitchFamily="18" charset="0"/>
                      </a:rPr>
                      <m:t>𝑏</m:t>
                    </m:r>
                    <m:r>
                      <a:rPr lang="en-US" altLang="zh-CN" b="0" i="1" smtClean="0">
                        <a:latin typeface="Cambria Math" panose="02040503050406030204" pitchFamily="18" charset="0"/>
                      </a:rPr>
                      <m:t>, </m:t>
                    </m:r>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𝑐</m:t>
                    </m:r>
                  </m:oMath>
                </a14:m>
                <a:r>
                  <a:rPr lang="en-US" altLang="zh-CN" dirty="0"/>
                  <a:t> </a:t>
                </a:r>
                <a:r>
                  <a:rPr lang="zh-CN" altLang="en-US" dirty="0"/>
                  <a:t>的父结点</a:t>
                </a:r>
                <a:endParaRPr lang="en-US" altLang="zh-CN" dirty="0"/>
              </a:p>
              <a:p>
                <a:r>
                  <a:rPr lang="zh-CN" altLang="en-US" dirty="0"/>
                  <a:t>这样构成的表达式树称为</a:t>
                </a:r>
                <a:r>
                  <a:rPr lang="zh-CN" altLang="en-US" b="1" dirty="0"/>
                  <a:t>串并联树</a:t>
                </a:r>
                <a:endParaRPr lang="en-US" altLang="zh-CN" b="1" dirty="0"/>
              </a:p>
              <a:p>
                <a:r>
                  <a:rPr lang="zh-CN" altLang="en-US" dirty="0"/>
                  <a:t>单元内的所有元素，就是串并联树的子树内叶子结点对应的点或边</a:t>
                </a:r>
                <a:endParaRPr lang="en-US" altLang="zh-CN" b="1" dirty="0"/>
              </a:p>
              <a:p>
                <a:endParaRPr lang="zh-CN" altLang="en-US" dirty="0"/>
              </a:p>
            </p:txBody>
          </p:sp>
        </mc:Choice>
        <mc:Fallback xmlns="">
          <p:sp>
            <p:nvSpPr>
              <p:cNvPr id="3" name="内容占位符 2">
                <a:extLst>
                  <a:ext uri="{FF2B5EF4-FFF2-40B4-BE49-F238E27FC236}">
                    <a16:creationId xmlns:a16="http://schemas.microsoft.com/office/drawing/2014/main" id="{513042F5-4CA9-4976-B21F-EC329C5CB4EC}"/>
                  </a:ext>
                </a:extLst>
              </p:cNvPr>
              <p:cNvSpPr>
                <a:spLocks noGrp="1" noRot="1" noChangeAspect="1" noMove="1" noResize="1" noEditPoints="1" noAdjustHandles="1" noChangeArrowheads="1" noChangeShapeType="1" noTextEdit="1"/>
              </p:cNvSpPr>
              <p:nvPr>
                <p:ph idx="1"/>
              </p:nvPr>
            </p:nvSpPr>
            <p:spPr>
              <a:blipFill>
                <a:blip r:embed="rId2"/>
                <a:stretch>
                  <a:fillRect l="-479" t="-806" r="-30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72972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220777-E166-4FBD-AE7F-F99F63F3FB69}"/>
              </a:ext>
            </a:extLst>
          </p:cNvPr>
          <p:cNvSpPr>
            <a:spLocks noGrp="1"/>
          </p:cNvSpPr>
          <p:nvPr>
            <p:ph type="title"/>
          </p:nvPr>
        </p:nvSpPr>
        <p:spPr/>
        <p:txBody>
          <a:bodyPr/>
          <a:lstStyle/>
          <a:p>
            <a:r>
              <a:rPr lang="zh-CN" altLang="en-US" dirty="0"/>
              <a:t>似曾相识？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7604DD-592A-4CBF-922C-E63CB20D3A5D}"/>
                  </a:ext>
                </a:extLst>
              </p:cNvPr>
              <p:cNvSpPr>
                <a:spLocks noGrp="1"/>
              </p:cNvSpPr>
              <p:nvPr>
                <p:ph idx="1"/>
              </p:nvPr>
            </p:nvSpPr>
            <p:spPr/>
            <p:txBody>
              <a:bodyPr/>
              <a:lstStyle/>
              <a:p>
                <a:r>
                  <a:rPr lang="zh-CN" altLang="en-US" dirty="0"/>
                  <a:t>和 </a:t>
                </a:r>
                <a:r>
                  <a:rPr lang="en-US" altLang="zh-CN" dirty="0"/>
                  <a:t>Top tree </a:t>
                </a:r>
                <a:r>
                  <a:rPr lang="zh-CN" altLang="en-US" dirty="0"/>
                  <a:t>是不是很像？</a:t>
                </a:r>
                <a:endParaRPr lang="en-US" altLang="zh-CN" dirty="0"/>
              </a:p>
              <a:p>
                <a:r>
                  <a:rPr lang="zh-CN" altLang="en-US" dirty="0"/>
                  <a:t>共同点在于：</a:t>
                </a:r>
                <a:endParaRPr lang="en-US" altLang="zh-CN" dirty="0"/>
              </a:p>
              <a:p>
                <a:pPr marL="800100" lvl="1" indent="-342900">
                  <a:buFont typeface="+mj-lt"/>
                  <a:buAutoNum type="arabicPeriod"/>
                </a:pPr>
                <a:r>
                  <a:rPr lang="en-US" altLang="zh-CN" dirty="0"/>
                  <a:t>Top tree </a:t>
                </a:r>
                <a:r>
                  <a:rPr lang="zh-CN" altLang="en-US" dirty="0"/>
                  <a:t>和串并联树的单元对应结构都只有少数端点与外部邻接</a:t>
                </a:r>
                <a:endParaRPr lang="en-US" altLang="zh-CN" dirty="0"/>
              </a:p>
              <a:p>
                <a:pPr marL="800100" lvl="1" indent="-342900">
                  <a:buFont typeface="+mj-lt"/>
                  <a:buAutoNum type="arabicPeriod"/>
                </a:pPr>
                <a:r>
                  <a:rPr lang="en-US" altLang="zh-CN" dirty="0"/>
                  <a:t>Top tree </a:t>
                </a:r>
                <a:r>
                  <a:rPr lang="zh-CN" altLang="en-US" dirty="0"/>
                  <a:t>和串并联树的结构都表示了单元的合并操作</a:t>
                </a:r>
                <a:endParaRPr lang="en-US" altLang="zh-CN" dirty="0"/>
              </a:p>
              <a:p>
                <a:pPr marL="800100" lvl="1" indent="-342900">
                  <a:buFont typeface="+mj-lt"/>
                  <a:buAutoNum type="arabicPeriod"/>
                </a:pPr>
                <a:r>
                  <a:rPr lang="en-US" altLang="zh-CN" dirty="0"/>
                  <a:t>Top tree </a:t>
                </a:r>
                <a:r>
                  <a:rPr lang="zh-CN" altLang="en-US" dirty="0"/>
                  <a:t>和串并联树的合并操作都消除了度为 </a:t>
                </a:r>
                <a14:m>
                  <m:oMath xmlns:m="http://schemas.openxmlformats.org/officeDocument/2006/math">
                    <m:r>
                      <a:rPr lang="en-US" altLang="zh-CN" b="0" i="1" smtClean="0">
                        <a:latin typeface="Cambria Math" panose="02040503050406030204" pitchFamily="18" charset="0"/>
                      </a:rPr>
                      <m:t>1</m:t>
                    </m:r>
                  </m:oMath>
                </a14:m>
                <a:r>
                  <a:rPr lang="en-US" altLang="zh-CN" dirty="0"/>
                  <a:t> </a:t>
                </a:r>
                <a:r>
                  <a:rPr lang="zh-CN" altLang="en-US" dirty="0"/>
                  <a:t>或 </a:t>
                </a:r>
                <a14:m>
                  <m:oMath xmlns:m="http://schemas.openxmlformats.org/officeDocument/2006/math">
                    <m:r>
                      <a:rPr lang="en-US" altLang="zh-CN" b="0" i="1" smtClean="0">
                        <a:latin typeface="Cambria Math" panose="02040503050406030204" pitchFamily="18" charset="0"/>
                      </a:rPr>
                      <m:t>2</m:t>
                    </m:r>
                  </m:oMath>
                </a14:m>
                <a:r>
                  <a:rPr lang="en-US" altLang="zh-CN" dirty="0"/>
                  <a:t> </a:t>
                </a:r>
                <a:r>
                  <a:rPr lang="zh-CN" altLang="en-US" dirty="0"/>
                  <a:t>的点</a:t>
                </a:r>
                <a:endParaRPr lang="en-US" altLang="zh-CN" dirty="0"/>
              </a:p>
            </p:txBody>
          </p:sp>
        </mc:Choice>
        <mc:Fallback xmlns="">
          <p:sp>
            <p:nvSpPr>
              <p:cNvPr id="3" name="内容占位符 2">
                <a:extLst>
                  <a:ext uri="{FF2B5EF4-FFF2-40B4-BE49-F238E27FC236}">
                    <a16:creationId xmlns:a16="http://schemas.microsoft.com/office/drawing/2014/main" id="{377604DD-592A-4CBF-922C-E63CB20D3A5D}"/>
                  </a:ext>
                </a:extLst>
              </p:cNvPr>
              <p:cNvSpPr>
                <a:spLocks noGrp="1" noRot="1" noChangeAspect="1" noMove="1" noResize="1" noEditPoints="1" noAdjustHandles="1" noChangeArrowheads="1" noChangeShapeType="1" noTextEdit="1"/>
              </p:cNvSpPr>
              <p:nvPr>
                <p:ph idx="1"/>
              </p:nvPr>
            </p:nvSpPr>
            <p:spPr>
              <a:blipFill>
                <a:blip r:embed="rId2"/>
                <a:stretch>
                  <a:fillRect l="-479" t="-9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50976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80651B-E149-48FD-8F64-1DBF5FE9D81F}"/>
              </a:ext>
            </a:extLst>
          </p:cNvPr>
          <p:cNvSpPr>
            <a:spLocks noGrp="1"/>
          </p:cNvSpPr>
          <p:nvPr>
            <p:ph type="title"/>
          </p:nvPr>
        </p:nvSpPr>
        <p:spPr>
          <a:xfrm>
            <a:off x="2592925" y="624110"/>
            <a:ext cx="8911687" cy="1280890"/>
          </a:xfrm>
        </p:spPr>
        <p:txBody>
          <a:bodyPr/>
          <a:lstStyle/>
          <a:p>
            <a:r>
              <a:rPr lang="zh-CN" altLang="en-US" dirty="0"/>
              <a:t>似曾相识？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2238E7B-CADB-404B-A9D0-D483B442C7F2}"/>
                  </a:ext>
                </a:extLst>
              </p:cNvPr>
              <p:cNvSpPr>
                <a:spLocks noGrp="1"/>
              </p:cNvSpPr>
              <p:nvPr>
                <p:ph idx="1"/>
              </p:nvPr>
            </p:nvSpPr>
            <p:spPr>
              <a:xfrm>
                <a:off x="2589212" y="2133600"/>
                <a:ext cx="8915400" cy="3777622"/>
              </a:xfrm>
            </p:spPr>
            <p:txBody>
              <a:bodyPr/>
              <a:lstStyle/>
              <a:p>
                <a:r>
                  <a:rPr lang="zh-CN" altLang="en-US" dirty="0"/>
                  <a:t>和 </a:t>
                </a:r>
                <a:r>
                  <a:rPr lang="en-US" altLang="zh-CN" dirty="0"/>
                  <a:t>Top tree </a:t>
                </a:r>
                <a:r>
                  <a:rPr lang="zh-CN" altLang="en-US" dirty="0"/>
                  <a:t>是不是很像？</a:t>
                </a:r>
                <a:endParaRPr lang="en-US" altLang="zh-CN" dirty="0"/>
              </a:p>
              <a:p>
                <a:r>
                  <a:rPr lang="zh-CN" altLang="en-US" dirty="0"/>
                  <a:t>不同点在于：</a:t>
                </a:r>
                <a:endParaRPr lang="en-US" altLang="zh-CN" dirty="0"/>
              </a:p>
              <a:p>
                <a:pPr lvl="1"/>
                <a:r>
                  <a:rPr lang="en-US" altLang="zh-CN" dirty="0"/>
                  <a:t>Top tree </a:t>
                </a:r>
                <a:r>
                  <a:rPr lang="zh-CN" altLang="en-US" dirty="0"/>
                  <a:t>的簇均表示收缩过程中的一条边，串并联树的单元表示点或边</a:t>
                </a:r>
                <a:endParaRPr lang="en-US" altLang="zh-CN" dirty="0"/>
              </a:p>
              <a:p>
                <a:pPr lvl="1"/>
                <a:r>
                  <a:rPr lang="en-US" altLang="zh-CN" dirty="0"/>
                  <a:t>Top tree </a:t>
                </a:r>
                <a:r>
                  <a:rPr lang="zh-CN" altLang="en-US" dirty="0"/>
                  <a:t>的 </a:t>
                </a:r>
                <a:r>
                  <a:rPr lang="en-US" altLang="zh-CN" dirty="0"/>
                  <a:t>rake </a:t>
                </a:r>
                <a:r>
                  <a:rPr lang="zh-CN" altLang="en-US" dirty="0"/>
                  <a:t>操作将簇合并到另一簇上，串并联树将点型、边型两个单元合并到一个点型单元上</a:t>
                </a:r>
                <a:endParaRPr lang="en-US" altLang="zh-CN" dirty="0"/>
              </a:p>
              <a:p>
                <a:pPr lvl="1"/>
                <a:r>
                  <a:rPr lang="en-US" altLang="zh-CN" dirty="0"/>
                  <a:t>Top tree </a:t>
                </a:r>
                <a:r>
                  <a:rPr lang="zh-CN" altLang="en-US" dirty="0"/>
                  <a:t>不需要处理重边，串并联树必须处理重边</a:t>
                </a:r>
                <a:endParaRPr lang="en-US" altLang="zh-CN" dirty="0"/>
              </a:p>
              <a:p>
                <a:pPr lvl="1"/>
                <a:r>
                  <a:rPr lang="zh-CN" altLang="en-US" dirty="0"/>
                  <a:t>对于 </a:t>
                </a:r>
                <a14:m>
                  <m:oMath xmlns:m="http://schemas.openxmlformats.org/officeDocument/2006/math">
                    <m:r>
                      <a:rPr lang="en-US" altLang="zh-CN" smtClean="0">
                        <a:latin typeface="Cambria Math" panose="02040503050406030204" pitchFamily="18" charset="0"/>
                      </a:rPr>
                      <m:t>𝑛</m:t>
                    </m:r>
                  </m:oMath>
                </a14:m>
                <a:r>
                  <a:rPr lang="en-US" altLang="zh-CN" dirty="0"/>
                  <a:t> </a:t>
                </a:r>
                <a:r>
                  <a:rPr lang="zh-CN" altLang="en-US" dirty="0"/>
                  <a:t>个点的图，</a:t>
                </a:r>
                <a:r>
                  <a:rPr lang="en-US" altLang="zh-CN" dirty="0"/>
                  <a:t>top tree </a:t>
                </a:r>
                <a:r>
                  <a:rPr lang="zh-CN" altLang="en-US" dirty="0"/>
                  <a:t>的高度可以做到 </a:t>
                </a:r>
                <a14:m>
                  <m:oMath xmlns:m="http://schemas.openxmlformats.org/officeDocument/2006/math">
                    <m:r>
                      <a:rPr lang="en-US" altLang="zh-CN" smtClean="0">
                        <a:latin typeface="Cambria Math" panose="02040503050406030204" pitchFamily="18" charset="0"/>
                      </a:rPr>
                      <m:t>𝑂</m:t>
                    </m:r>
                    <m:r>
                      <a:rPr lang="en-US" altLang="zh-CN" smtClean="0">
                        <a:latin typeface="Cambria Math" panose="02040503050406030204" pitchFamily="18" charset="0"/>
                      </a:rPr>
                      <m:t>(</m:t>
                    </m:r>
                    <m:func>
                      <m:funcPr>
                        <m:ctrlPr>
                          <a:rPr lang="en-US" altLang="zh-CN" i="1" smtClean="0">
                            <a:latin typeface="Cambria Math" panose="02040503050406030204" pitchFamily="18" charset="0"/>
                          </a:rPr>
                        </m:ctrlPr>
                      </m:funcPr>
                      <m:fName>
                        <m:r>
                          <m:rPr>
                            <m:sty m:val="p"/>
                          </m:rPr>
                          <a:rPr lang="en-US" altLang="zh-CN" smtClean="0">
                            <a:latin typeface="Cambria Math" panose="02040503050406030204" pitchFamily="18" charset="0"/>
                          </a:rPr>
                          <m:t>log</m:t>
                        </m:r>
                      </m:fName>
                      <m:e>
                        <m:r>
                          <a:rPr lang="en-US" altLang="zh-CN" smtClean="0">
                            <a:latin typeface="Cambria Math" panose="02040503050406030204" pitchFamily="18" charset="0"/>
                          </a:rPr>
                          <m:t>𝑛</m:t>
                        </m:r>
                      </m:e>
                    </m:func>
                    <m:r>
                      <a:rPr lang="en-US" altLang="zh-CN" smtClean="0">
                        <a:latin typeface="Cambria Math" panose="02040503050406030204" pitchFamily="18" charset="0"/>
                      </a:rPr>
                      <m:t>)</m:t>
                    </m:r>
                  </m:oMath>
                </a14:m>
                <a:r>
                  <a:rPr lang="en-US" altLang="zh-CN" dirty="0"/>
                  <a:t> </a:t>
                </a:r>
                <a:r>
                  <a:rPr lang="zh-CN" altLang="en-US" dirty="0"/>
                  <a:t>级别，而串并联树的高度可达 </a:t>
                </a:r>
                <a14:m>
                  <m:oMath xmlns:m="http://schemas.openxmlformats.org/officeDocument/2006/math">
                    <m:r>
                      <m:rPr>
                        <m:sty m:val="p"/>
                      </m:rPr>
                      <a:rPr lang="en-US" altLang="zh-CN" b="0" i="0" smtClean="0">
                        <a:latin typeface="Cambria Math" panose="02040503050406030204" pitchFamily="18" charset="0"/>
                      </a:rPr>
                      <m:t>Θ</m:t>
                    </m:r>
                    <m:r>
                      <a:rPr lang="en-US" altLang="zh-CN" smtClean="0">
                        <a:latin typeface="Cambria Math" panose="02040503050406030204" pitchFamily="18" charset="0"/>
                      </a:rPr>
                      <m:t>(</m:t>
                    </m:r>
                    <m:r>
                      <a:rPr lang="en-US" altLang="zh-CN" smtClean="0">
                        <a:latin typeface="Cambria Math" panose="02040503050406030204" pitchFamily="18" charset="0"/>
                      </a:rPr>
                      <m:t>𝑛</m:t>
                    </m:r>
                    <m:r>
                      <a:rPr lang="en-US" altLang="zh-CN" smtClean="0">
                        <a:latin typeface="Cambria Math" panose="02040503050406030204" pitchFamily="18" charset="0"/>
                      </a:rPr>
                      <m:t>)</m:t>
                    </m:r>
                  </m:oMath>
                </a14:m>
                <a:endParaRPr lang="en-US" altLang="zh-CN" dirty="0"/>
              </a:p>
              <a:p>
                <a:pPr lvl="1"/>
                <a:r>
                  <a:rPr lang="zh-CN" altLang="en-US" dirty="0"/>
                  <a:t>举例：</a:t>
                </a:r>
                <a:endParaRPr lang="en-US" altLang="zh-CN" dirty="0"/>
              </a:p>
            </p:txBody>
          </p:sp>
        </mc:Choice>
        <mc:Fallback xmlns="">
          <p:sp>
            <p:nvSpPr>
              <p:cNvPr id="3" name="内容占位符 2">
                <a:extLst>
                  <a:ext uri="{FF2B5EF4-FFF2-40B4-BE49-F238E27FC236}">
                    <a16:creationId xmlns:a16="http://schemas.microsoft.com/office/drawing/2014/main" id="{92238E7B-CADB-404B-A9D0-D483B442C7F2}"/>
                  </a:ext>
                </a:extLst>
              </p:cNvPr>
              <p:cNvSpPr>
                <a:spLocks noGrp="1" noRot="1" noChangeAspect="1" noMove="1" noResize="1" noEditPoints="1" noAdjustHandles="1" noChangeArrowheads="1" noChangeShapeType="1" noTextEdit="1"/>
              </p:cNvSpPr>
              <p:nvPr>
                <p:ph idx="1"/>
              </p:nvPr>
            </p:nvSpPr>
            <p:spPr>
              <a:xfrm>
                <a:off x="2589212" y="2133600"/>
                <a:ext cx="8915400" cy="3777622"/>
              </a:xfrm>
              <a:blipFill>
                <a:blip r:embed="rId2"/>
                <a:stretch>
                  <a:fillRect l="-479" t="-96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30CC956C-6230-4D7A-A4B2-E538EF1C388D}"/>
              </a:ext>
            </a:extLst>
          </p:cNvPr>
          <p:cNvPicPr>
            <a:picLocks noChangeAspect="1"/>
          </p:cNvPicPr>
          <p:nvPr/>
        </p:nvPicPr>
        <p:blipFill rotWithShape="1">
          <a:blip r:embed="rId3">
            <a:extLst>
              <a:ext uri="{28A0092B-C50C-407E-A947-70E740481C1C}">
                <a14:useLocalDpi xmlns:a14="http://schemas.microsoft.com/office/drawing/2010/main" val="0"/>
              </a:ext>
            </a:extLst>
          </a:blip>
          <a:srcRect l="19888" t="19635" r="19043" b="21168"/>
          <a:stretch/>
        </p:blipFill>
        <p:spPr>
          <a:xfrm>
            <a:off x="4176073" y="4704528"/>
            <a:ext cx="2073898" cy="2010330"/>
          </a:xfrm>
          <a:prstGeom prst="rect">
            <a:avLst/>
          </a:prstGeom>
        </p:spPr>
      </p:pic>
    </p:spTree>
    <p:extLst>
      <p:ext uri="{BB962C8B-B14F-4D97-AF65-F5344CB8AC3E}">
        <p14:creationId xmlns:p14="http://schemas.microsoft.com/office/powerpoint/2010/main" val="629378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EDA2B-AFA8-4A8A-9C0D-8F94CE9D3BCE}"/>
              </a:ext>
            </a:extLst>
          </p:cNvPr>
          <p:cNvSpPr>
            <a:spLocks noGrp="1"/>
          </p:cNvSpPr>
          <p:nvPr>
            <p:ph type="title"/>
          </p:nvPr>
        </p:nvSpPr>
        <p:spPr/>
        <p:txBody>
          <a:bodyPr/>
          <a:lstStyle/>
          <a:p>
            <a:r>
              <a:rPr lang="zh-CN" altLang="en-US" dirty="0"/>
              <a:t>有什么用？</a:t>
            </a:r>
          </a:p>
        </p:txBody>
      </p:sp>
      <p:sp>
        <p:nvSpPr>
          <p:cNvPr id="3" name="内容占位符 2">
            <a:extLst>
              <a:ext uri="{FF2B5EF4-FFF2-40B4-BE49-F238E27FC236}">
                <a16:creationId xmlns:a16="http://schemas.microsoft.com/office/drawing/2014/main" id="{411D712A-127B-4052-8AD3-74705266D234}"/>
              </a:ext>
            </a:extLst>
          </p:cNvPr>
          <p:cNvSpPr>
            <a:spLocks noGrp="1"/>
          </p:cNvSpPr>
          <p:nvPr>
            <p:ph idx="1"/>
          </p:nvPr>
        </p:nvSpPr>
        <p:spPr/>
        <p:txBody>
          <a:bodyPr/>
          <a:lstStyle/>
          <a:p>
            <a:r>
              <a:rPr lang="zh-CN" altLang="en-US" dirty="0"/>
              <a:t>串并联树可以将原广义串并联图转化为树形结构，有助于解析广义串并联图的结构，将树上相关问题推广到广义串并联图上来。</a:t>
            </a:r>
            <a:endParaRPr lang="en-US" altLang="zh-CN" dirty="0"/>
          </a:p>
          <a:p>
            <a:r>
              <a:rPr lang="zh-CN" altLang="en-US" dirty="0"/>
              <a:t>一个直接应用就是可以在串并联树上链分治维护动态</a:t>
            </a:r>
            <a:r>
              <a:rPr lang="en-US" altLang="zh-CN" dirty="0"/>
              <a:t>DP</a:t>
            </a:r>
            <a:r>
              <a:rPr lang="zh-CN" altLang="en-US" dirty="0"/>
              <a:t>。</a:t>
            </a:r>
            <a:endParaRPr lang="en-US" altLang="zh-CN" dirty="0"/>
          </a:p>
          <a:p>
            <a:r>
              <a:rPr lang="zh-CN" altLang="en-US" dirty="0"/>
              <a:t>以下举一例。</a:t>
            </a:r>
          </a:p>
        </p:txBody>
      </p:sp>
    </p:spTree>
    <p:extLst>
      <p:ext uri="{BB962C8B-B14F-4D97-AF65-F5344CB8AC3E}">
        <p14:creationId xmlns:p14="http://schemas.microsoft.com/office/powerpoint/2010/main" val="1434037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85B13E-008D-4CE3-A78D-2483578E3336}"/>
              </a:ext>
            </a:extLst>
          </p:cNvPr>
          <p:cNvSpPr>
            <a:spLocks noGrp="1"/>
          </p:cNvSpPr>
          <p:nvPr>
            <p:ph type="title"/>
          </p:nvPr>
        </p:nvSpPr>
        <p:spPr/>
        <p:txBody>
          <a:bodyPr/>
          <a:lstStyle/>
          <a:p>
            <a:r>
              <a:rPr lang="en-US" altLang="zh-CN" dirty="0"/>
              <a:t>[2019 </a:t>
            </a:r>
            <a:r>
              <a:rPr lang="zh-CN" altLang="en-US" dirty="0"/>
              <a:t>集训队互测</a:t>
            </a:r>
            <a:r>
              <a:rPr lang="en-US" altLang="zh-CN" dirty="0"/>
              <a:t>]</a:t>
            </a:r>
            <a:r>
              <a:rPr lang="zh-CN" altLang="en-US" dirty="0"/>
              <a:t>公园</a:t>
            </a:r>
            <a:r>
              <a:rPr lang="en-US" altLang="zh-CN" baseline="30000" dirty="0"/>
              <a:t>[1]</a:t>
            </a:r>
            <a:endParaRPr lang="zh-CN" altLang="en-US" baseline="30000" dirty="0"/>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D7FF724E-ED73-4AA3-9CFE-DBB1B458FB6F}"/>
                  </a:ext>
                </a:extLst>
              </p:cNvPr>
              <p:cNvSpPr>
                <a:spLocks noGrp="1"/>
              </p:cNvSpPr>
              <p:nvPr>
                <p:ph idx="1"/>
              </p:nvPr>
            </p:nvSpPr>
            <p:spPr/>
            <p:txBody>
              <a:bodyPr/>
              <a:lstStyle/>
              <a:p>
                <a14:m>
                  <m:oMath xmlns:m="http://schemas.openxmlformats.org/officeDocument/2006/math">
                    <m:r>
                      <a:rPr lang="en-US" altLang="zh-CN" b="0" i="1" smtClean="0">
                        <a:latin typeface="Cambria Math" panose="02040503050406030204" pitchFamily="18" charset="0"/>
                      </a:rPr>
                      <m:t>𝑛</m:t>
                    </m:r>
                  </m:oMath>
                </a14:m>
                <a:r>
                  <a:rPr lang="zh-CN" altLang="en-US" dirty="0"/>
                  <a:t> 个点、</a:t>
                </a:r>
                <a14:m>
                  <m:oMath xmlns:m="http://schemas.openxmlformats.org/officeDocument/2006/math">
                    <m:r>
                      <a:rPr lang="en-US" altLang="zh-CN" b="0" i="1" smtClean="0">
                        <a:latin typeface="Cambria Math" panose="02040503050406030204" pitchFamily="18" charset="0"/>
                      </a:rPr>
                      <m:t>𝑚</m:t>
                    </m:r>
                  </m:oMath>
                </a14:m>
                <a:r>
                  <a:rPr lang="zh-CN" altLang="en-US" dirty="0"/>
                  <a:t> 条边的简单广义串并联图</a:t>
                </a:r>
                <a:endParaRPr lang="en-US" altLang="zh-CN" dirty="0"/>
              </a:p>
              <a:p>
                <a:r>
                  <a:rPr lang="zh-CN" altLang="en-US" dirty="0"/>
                  <a:t>点 </a:t>
                </a:r>
                <a14:m>
                  <m:oMath xmlns:m="http://schemas.openxmlformats.org/officeDocument/2006/math">
                    <m:r>
                      <a:rPr lang="en-US" altLang="zh-CN" b="0" i="1" smtClean="0">
                        <a:latin typeface="Cambria Math" panose="02040503050406030204" pitchFamily="18" charset="0"/>
                      </a:rPr>
                      <m:t>𝑣</m:t>
                    </m:r>
                  </m:oMath>
                </a14:m>
                <a:r>
                  <a:rPr lang="zh-CN" altLang="en-US" dirty="0"/>
                  <a:t> 有两个点权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𝑣</m:t>
                        </m:r>
                        <m:r>
                          <a:rPr lang="en-US" altLang="zh-CN" b="0" i="1" smtClean="0">
                            <a:latin typeface="Cambria Math" panose="02040503050406030204" pitchFamily="18" charset="0"/>
                          </a:rPr>
                          <m:t>,0</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𝑣</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6</m:t>
                        </m:r>
                      </m:sup>
                    </m:sSup>
                  </m:oMath>
                </a14:m>
                <a:endParaRPr lang="en-US" altLang="zh-CN" dirty="0"/>
              </a:p>
              <a:p>
                <a:r>
                  <a:rPr lang="zh-CN" altLang="en-US" dirty="0"/>
                  <a:t>边 </a:t>
                </a:r>
                <a14:m>
                  <m:oMath xmlns:m="http://schemas.openxmlformats.org/officeDocument/2006/math">
                    <m:r>
                      <a:rPr lang="en-US" altLang="zh-CN" b="0" i="1" smtClean="0">
                        <a:latin typeface="Cambria Math" panose="02040503050406030204" pitchFamily="18" charset="0"/>
                      </a:rPr>
                      <m:t>𝑒</m:t>
                    </m:r>
                  </m:oMath>
                </a14:m>
                <a:r>
                  <a:rPr lang="zh-CN" altLang="en-US" dirty="0"/>
                  <a:t> 取定一个方向 </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e>
                    </m:d>
                  </m:oMath>
                </a14:m>
                <a:r>
                  <a:rPr lang="zh-CN" altLang="en-US" dirty="0"/>
                  <a:t>，有四个边权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𝑒</m:t>
                        </m:r>
                        <m:r>
                          <a:rPr lang="en-US" altLang="zh-CN" b="0" i="1" smtClean="0">
                            <a:latin typeface="Cambria Math" panose="02040503050406030204" pitchFamily="18" charset="0"/>
                          </a:rPr>
                          <m:t>,0,0</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𝑒</m:t>
                        </m:r>
                        <m:r>
                          <a:rPr lang="en-US" altLang="zh-CN" b="0" i="1" smtClean="0">
                            <a:latin typeface="Cambria Math" panose="02040503050406030204" pitchFamily="18" charset="0"/>
                          </a:rPr>
                          <m:t>,0,1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𝑒</m:t>
                        </m:r>
                        <m:r>
                          <a:rPr lang="en-US" altLang="zh-CN" b="0" i="1" smtClean="0">
                            <a:latin typeface="Cambria Math" panose="02040503050406030204" pitchFamily="18" charset="0"/>
                          </a:rPr>
                          <m:t>,1,0</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𝑒</m:t>
                        </m:r>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6</m:t>
                        </m:r>
                      </m:sup>
                    </m:sSup>
                  </m:oMath>
                </a14:m>
                <a:endParaRPr lang="en-US" altLang="zh-CN" dirty="0"/>
              </a:p>
              <a:p>
                <a:r>
                  <a:rPr lang="zh-CN" altLang="en-US" dirty="0"/>
                  <a:t>给每个点染色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0, 1</m:t>
                        </m:r>
                      </m:e>
                    </m:d>
                  </m:oMath>
                </a14:m>
                <a:r>
                  <a:rPr lang="zh-CN" altLang="en-US" dirty="0"/>
                  <a:t>，最大化得分</a:t>
                </a:r>
                <a:endParaRPr lang="en-US" altLang="zh-CN" dirty="0"/>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en-US" altLang="zh-CN" b="0" i="1" smtClean="0">
                              <a:latin typeface="Cambria Math" panose="02040503050406030204" pitchFamily="18" charset="0"/>
                            </a:rPr>
                            <m:t>𝑉</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𝑣</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𝑣</m:t>
                                  </m:r>
                                </m:sub>
                              </m:sSub>
                            </m:sub>
                          </m:sSub>
                        </m:e>
                      </m:nary>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𝑒</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𝑒</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𝑣</m:t>
                                  </m:r>
                                </m:sub>
                              </m:sSub>
                            </m:sub>
                          </m:sSub>
                        </m:e>
                      </m:nary>
                    </m:oMath>
                  </m:oMathPara>
                </a14:m>
                <a:endParaRPr lang="en-US" altLang="zh-CN" dirty="0"/>
              </a:p>
              <a:p>
                <a:r>
                  <a:rPr lang="zh-CN" altLang="en-US" dirty="0"/>
                  <a:t>要求支持 </a:t>
                </a:r>
                <a14:m>
                  <m:oMath xmlns:m="http://schemas.openxmlformats.org/officeDocument/2006/math">
                    <m:r>
                      <a:rPr lang="en-US" altLang="zh-CN" b="0" i="1" smtClean="0">
                        <a:latin typeface="Cambria Math" panose="02040503050406030204" pitchFamily="18" charset="0"/>
                      </a:rPr>
                      <m:t>𝑄</m:t>
                    </m:r>
                  </m:oMath>
                </a14:m>
                <a:r>
                  <a:rPr lang="zh-CN" altLang="en-US" dirty="0"/>
                  <a:t> 次单点</a:t>
                </a:r>
                <a:r>
                  <a:rPr lang="en-US" altLang="zh-CN" dirty="0"/>
                  <a:t>/</a:t>
                </a:r>
                <a:r>
                  <a:rPr lang="zh-CN" altLang="en-US" dirty="0"/>
                  <a:t>边权值修改</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𝑄</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endParaRPr lang="en-US" altLang="zh-CN" dirty="0"/>
              </a:p>
              <a:p>
                <a14:m>
                  <m:oMath xmlns:m="http://schemas.openxmlformats.org/officeDocument/2006/math">
                    <m:r>
                      <a:rPr lang="en-US" altLang="zh-CN" i="1" dirty="0" smtClean="0">
                        <a:latin typeface="Cambria Math" panose="02040503050406030204" pitchFamily="18" charset="0"/>
                      </a:rPr>
                      <m:t>4</m:t>
                    </m:r>
                    <m:r>
                      <m:rPr>
                        <m:sty m:val="p"/>
                      </m:rPr>
                      <a:rPr lang="en-US" altLang="zh-CN" i="0" dirty="0" smtClean="0">
                        <a:latin typeface="Cambria Math" panose="02040503050406030204" pitchFamily="18" charset="0"/>
                      </a:rPr>
                      <m:t>s</m:t>
                    </m:r>
                    <m:r>
                      <a:rPr lang="en-US" altLang="zh-CN"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smtClean="0">
                        <a:latin typeface="Cambria Math" panose="02040503050406030204" pitchFamily="18" charset="0"/>
                      </a:rPr>
                      <m:t>1</m:t>
                    </m:r>
                    <m:r>
                      <m:rPr>
                        <m:sty m:val="p"/>
                      </m:rPr>
                      <a:rPr lang="en-US" altLang="zh-CN" i="0" dirty="0" smtClean="0">
                        <a:latin typeface="Cambria Math" panose="02040503050406030204" pitchFamily="18" charset="0"/>
                      </a:rPr>
                      <m:t>G</m:t>
                    </m:r>
                    <m:r>
                      <m:rPr>
                        <m:sty m:val="p"/>
                      </m:rPr>
                      <a:rPr lang="en-US" altLang="zh-CN" i="0" dirty="0">
                        <a:latin typeface="Cambria Math" panose="02040503050406030204" pitchFamily="18" charset="0"/>
                      </a:rPr>
                      <m:t>B</m:t>
                    </m:r>
                  </m:oMath>
                </a14:m>
                <a:endParaRPr lang="en-US" altLang="zh-CN" dirty="0"/>
              </a:p>
            </p:txBody>
          </p:sp>
        </mc:Choice>
        <mc:Fallback xmlns="">
          <p:sp>
            <p:nvSpPr>
              <p:cNvPr id="5" name="内容占位符 4">
                <a:extLst>
                  <a:ext uri="{FF2B5EF4-FFF2-40B4-BE49-F238E27FC236}">
                    <a16:creationId xmlns:a16="http://schemas.microsoft.com/office/drawing/2014/main" id="{D7FF724E-ED73-4AA3-9CFE-DBB1B458FB6F}"/>
                  </a:ext>
                </a:extLst>
              </p:cNvPr>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181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如果没有修改，类似上述求最大权独立集的方法进行收缩并 </a:t>
                </a:r>
                <a:r>
                  <a:rPr lang="en-US" altLang="zh-CN" dirty="0"/>
                  <a:t>DP</a:t>
                </a:r>
              </a:p>
              <a:p>
                <a:r>
                  <a:rPr lang="zh-CN" altLang="en-US" dirty="0"/>
                  <a:t>在串并联树上，此 </a:t>
                </a:r>
                <a:r>
                  <a:rPr lang="en-US" altLang="zh-CN" dirty="0"/>
                  <a:t>DP </a:t>
                </a:r>
                <a:r>
                  <a:rPr lang="zh-CN" altLang="en-US" dirty="0"/>
                  <a:t>是普通的树形 </a:t>
                </a:r>
                <a:r>
                  <a:rPr lang="en-US" altLang="zh-CN" dirty="0"/>
                  <a:t>DP</a:t>
                </a:r>
              </a:p>
              <a:p>
                <a:r>
                  <a:rPr lang="zh-CN" altLang="en-US" dirty="0"/>
                  <a:t>于是对串并联树进行轻重链剖分</a:t>
                </a:r>
                <a:endParaRPr lang="en-US" altLang="zh-CN" dirty="0"/>
              </a:p>
              <a:p>
                <a:r>
                  <a:rPr lang="zh-CN" altLang="en-US" dirty="0"/>
                  <a:t>用 </a:t>
                </a:r>
                <a14:m>
                  <m:oMath xmlns:m="http://schemas.openxmlformats.org/officeDocument/2006/math">
                    <m:r>
                      <a:rPr lang="en-US" altLang="zh-CN" b="0" i="1" smtClean="0">
                        <a:latin typeface="Cambria Math" panose="02040503050406030204" pitchFamily="18" charset="0"/>
                      </a:rPr>
                      <m:t>+, </m:t>
                    </m:r>
                    <m:r>
                      <m:rPr>
                        <m:sty m:val="p"/>
                      </m:rPr>
                      <a:rPr lang="en-US" altLang="zh-CN" b="0" i="1" smtClean="0">
                        <a:latin typeface="Cambria Math" panose="02040503050406030204" pitchFamily="18" charset="0"/>
                      </a:rPr>
                      <m:t>min</m:t>
                    </m:r>
                  </m:oMath>
                </a14:m>
                <a:r>
                  <a:rPr lang="en-US" altLang="zh-CN" dirty="0"/>
                  <a:t> </a:t>
                </a:r>
                <a:r>
                  <a:rPr lang="zh-CN" altLang="en-US" dirty="0"/>
                  <a:t>代替 </a:t>
                </a:r>
                <a14:m>
                  <m:oMath xmlns:m="http://schemas.openxmlformats.org/officeDocument/2006/math">
                    <m:r>
                      <a:rPr lang="en-US" altLang="zh-CN" b="0" i="1" smtClean="0">
                        <a:latin typeface="Cambria Math" panose="02040503050406030204" pitchFamily="18" charset="0"/>
                      </a:rPr>
                      <m:t>×, +</m:t>
                    </m:r>
                  </m:oMath>
                </a14:m>
                <a:r>
                  <a:rPr lang="zh-CN" altLang="en-US" dirty="0"/>
                  <a:t>，将转移写成关于重子树 </a:t>
                </a:r>
                <a:r>
                  <a:rPr lang="en-US" altLang="zh-CN" dirty="0"/>
                  <a:t>DP </a:t>
                </a:r>
                <a:r>
                  <a:rPr lang="zh-CN" altLang="en-US" dirty="0"/>
                  <a:t>值的矩阵乘法</a:t>
                </a:r>
                <a:endParaRPr lang="en-US" altLang="zh-CN" dirty="0"/>
              </a:p>
              <a:p>
                <a:r>
                  <a:rPr lang="zh-CN" altLang="en-US" dirty="0"/>
                  <a:t>线段树维护重链的区间矩阵积即可</a:t>
                </a:r>
                <a:endParaRPr lang="en-US" altLang="zh-CN" dirty="0"/>
              </a:p>
              <a:p>
                <a:r>
                  <a:rPr lang="zh-CN" altLang="en-US" dirty="0"/>
                  <a:t>于是每次修改只需要连带修改路径上的轻边父结点的矩阵</a:t>
                </a:r>
                <a:endParaRPr lang="en-US" altLang="zh-CN" dirty="0"/>
              </a:p>
              <a:p>
                <a:r>
                  <a:rPr lang="zh-CN" altLang="en-US" dirty="0"/>
                  <a:t>时间复杂度 </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func>
                          <m:funcPr>
                            <m:ctrlPr>
                              <a:rPr lang="en-US" altLang="zh-CN" b="0" i="1" smtClean="0">
                                <a:latin typeface="Cambria Math" panose="02040503050406030204" pitchFamily="18" charset="0"/>
                              </a:rPr>
                            </m:ctrlPr>
                          </m:funcPr>
                          <m:fName>
                            <m:sSup>
                              <m:sSupPr>
                                <m:ctrlPr>
                                  <a:rPr lang="en-US" altLang="zh-CN" b="0" i="1" smtClean="0">
                                    <a:latin typeface="Cambria Math" panose="02040503050406030204" pitchFamily="18" charset="0"/>
                                  </a:rPr>
                                </m:ctrlPr>
                              </m:sSupPr>
                              <m:e>
                                <m:r>
                                  <m:rPr>
                                    <m:sty m:val="p"/>
                                  </m:rPr>
                                  <a:rPr lang="en-US" altLang="zh-CN" b="0" i="0" smtClean="0">
                                    <a:latin typeface="Cambria Math" panose="02040503050406030204" pitchFamily="18" charset="0"/>
                                  </a:rPr>
                                  <m:t>log</m:t>
                                </m:r>
                              </m:e>
                              <m:sup>
                                <m:r>
                                  <a:rPr lang="en-US" altLang="zh-CN" b="0" i="1" smtClean="0">
                                    <a:latin typeface="Cambria Math" panose="02040503050406030204" pitchFamily="18" charset="0"/>
                                  </a:rPr>
                                  <m:t>2</m:t>
                                </m:r>
                              </m:sup>
                            </m:sSup>
                          </m:fName>
                          <m:e>
                            <m:r>
                              <a:rPr lang="en-US" altLang="zh-CN" b="0" i="1" smtClean="0">
                                <a:latin typeface="Cambria Math" panose="02040503050406030204" pitchFamily="18" charset="0"/>
                              </a:rPr>
                              <m:t>𝑛</m:t>
                            </m:r>
                          </m:e>
                        </m:func>
                      </m:e>
                    </m:d>
                  </m:oMath>
                </a14:m>
                <a:r>
                  <a:rPr lang="zh-CN" altLang="en-US" dirty="0"/>
                  <a:t>（使用全局平衡二叉树可以做到 </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𝑛</m:t>
                            </m:r>
                          </m:e>
                        </m:func>
                      </m:e>
                    </m:d>
                  </m:oMath>
                </a14:m>
                <a:r>
                  <a:rPr lang="zh-CN" altLang="en-US" dirty="0"/>
                  <a:t>）</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9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76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更多性质</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我们希望广义串并联图能够具有更多类似于树和仙人掌的性质。</a:t>
                </a:r>
                <a:endParaRPr lang="en-US" altLang="zh-CN" dirty="0"/>
              </a:p>
              <a:p>
                <a:r>
                  <a:rPr lang="zh-CN" altLang="en-US" dirty="0"/>
                  <a:t>树的一个重要的性质就是“子树”的概念。也就是说，对于树上的一个“子树”，其只有子树的根这一个结点可能向外界连通，从而大部分树上问题可以通过将子树内状态信息压缩到这个根结点上解决。</a:t>
                </a:r>
                <a:endParaRPr lang="en-US" altLang="zh-CN" dirty="0"/>
              </a:p>
              <a:p>
                <a:r>
                  <a:rPr lang="zh-CN" altLang="en-US" dirty="0"/>
                  <a:t>那么串并联树上的子树在原图上是否对应着一个结构？而这一种结构是否具有类似上述的较好性质呢？</a:t>
                </a:r>
                <a:endParaRPr lang="en-US" altLang="zh-CN" dirty="0"/>
              </a:p>
              <a:p>
                <a:r>
                  <a:rPr lang="zh-CN" altLang="en-US" dirty="0"/>
                  <a:t>答案是肯定的，我们称以串并联树上结点 </a:t>
                </a:r>
                <a14:m>
                  <m:oMath xmlns:m="http://schemas.openxmlformats.org/officeDocument/2006/math">
                    <m:r>
                      <a:rPr lang="en-US" altLang="zh-CN" b="0" i="1" smtClean="0">
                        <a:latin typeface="Cambria Math"/>
                      </a:rPr>
                      <m:t>𝑢</m:t>
                    </m:r>
                  </m:oMath>
                </a14:m>
                <a:r>
                  <a:rPr lang="zh-CN" altLang="en-US" dirty="0"/>
                  <a:t> 的子树在原图上对应的子图称为点 </a:t>
                </a:r>
                <a14:m>
                  <m:oMath xmlns:m="http://schemas.openxmlformats.org/officeDocument/2006/math">
                    <m:r>
                      <a:rPr lang="en-US" altLang="zh-CN" i="1">
                        <a:latin typeface="Cambria Math"/>
                      </a:rPr>
                      <m:t>𝑢</m:t>
                    </m:r>
                  </m:oMath>
                </a14:m>
                <a:r>
                  <a:rPr lang="zh-CN" altLang="en-US" dirty="0"/>
                  <a:t> 对应的</a:t>
                </a:r>
                <a:r>
                  <a:rPr lang="zh-CN" altLang="en-US" b="1" dirty="0"/>
                  <a:t>内部图</a:t>
                </a:r>
                <a:r>
                  <a:rPr lang="zh-CN" altLang="en-US"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8766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内部图</a:t>
            </a:r>
          </a:p>
        </p:txBody>
      </p:sp>
      <p:sp>
        <p:nvSpPr>
          <p:cNvPr id="3" name="内容占位符 2"/>
          <p:cNvSpPr>
            <a:spLocks noGrp="1"/>
          </p:cNvSpPr>
          <p:nvPr>
            <p:ph idx="1"/>
          </p:nvPr>
        </p:nvSpPr>
        <p:spPr/>
        <p:txBody>
          <a:bodyPr/>
          <a:lstStyle/>
          <a:p>
            <a:r>
              <a:rPr lang="zh-CN" altLang="en-US" dirty="0"/>
              <a:t>点型单元的内部图为其所有元素对应的子图，边型单元内部图是所有元素补上两端点后对应的子图</a:t>
            </a:r>
            <a:endParaRPr lang="en-US" altLang="zh-CN" dirty="0"/>
          </a:p>
          <a:p>
            <a:r>
              <a:rPr lang="zh-CN" altLang="en-US" dirty="0"/>
              <a:t>可以证明，内部图只有端点这一到两个结点可能向外界连通，这一性质也就和上述子树性质十分相似，可以通过这个性质将内部图内状态信息压缩到端点上解决</a:t>
            </a:r>
            <a:endParaRPr lang="en-US" altLang="zh-CN" dirty="0"/>
          </a:p>
        </p:txBody>
      </p:sp>
    </p:spTree>
    <p:extLst>
      <p:ext uri="{BB962C8B-B14F-4D97-AF65-F5344CB8AC3E}">
        <p14:creationId xmlns:p14="http://schemas.microsoft.com/office/powerpoint/2010/main" val="1410824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内部图</a:t>
            </a:r>
          </a:p>
        </p:txBody>
      </p:sp>
      <p:sp>
        <p:nvSpPr>
          <p:cNvPr id="3" name="内容占位符 2"/>
          <p:cNvSpPr>
            <a:spLocks noGrp="1"/>
          </p:cNvSpPr>
          <p:nvPr>
            <p:ph idx="1"/>
          </p:nvPr>
        </p:nvSpPr>
        <p:spPr/>
        <p:txBody>
          <a:bodyPr/>
          <a:lstStyle/>
          <a:p>
            <a:r>
              <a:rPr lang="zh-CN" altLang="en-US" dirty="0"/>
              <a:t>如图所示：</a:t>
            </a:r>
          </a:p>
        </p:txBody>
      </p:sp>
      <p:sp>
        <p:nvSpPr>
          <p:cNvPr id="4" name="椭圆 3">
            <a:extLst>
              <a:ext uri="{FF2B5EF4-FFF2-40B4-BE49-F238E27FC236}">
                <a16:creationId xmlns:a16="http://schemas.microsoft.com/office/drawing/2014/main" id="{086B6DEF-C763-4018-AF97-774599CA134C}"/>
              </a:ext>
            </a:extLst>
          </p:cNvPr>
          <p:cNvSpPr/>
          <p:nvPr/>
        </p:nvSpPr>
        <p:spPr>
          <a:xfrm>
            <a:off x="8548304" y="3989637"/>
            <a:ext cx="2742112" cy="2346388"/>
          </a:xfrm>
          <a:prstGeom prst="ellipse">
            <a:avLst/>
          </a:prstGeom>
          <a:solidFill>
            <a:srgbClr val="00B0F0">
              <a:alpha val="30000"/>
            </a:srgbClr>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pSp>
        <p:nvGrpSpPr>
          <p:cNvPr id="5" name="组合 4">
            <a:extLst>
              <a:ext uri="{FF2B5EF4-FFF2-40B4-BE49-F238E27FC236}">
                <a16:creationId xmlns:a16="http://schemas.microsoft.com/office/drawing/2014/main" id="{E7D4069E-EC2B-4AF1-8D09-321B30B13828}"/>
              </a:ext>
            </a:extLst>
          </p:cNvPr>
          <p:cNvGrpSpPr/>
          <p:nvPr/>
        </p:nvGrpSpPr>
        <p:grpSpPr>
          <a:xfrm>
            <a:off x="9396733" y="4650952"/>
            <a:ext cx="1101141" cy="914541"/>
            <a:chOff x="7858370" y="6237780"/>
            <a:chExt cx="1045809" cy="778792"/>
          </a:xfrm>
        </p:grpSpPr>
        <p:graphicFrame>
          <p:nvGraphicFramePr>
            <p:cNvPr id="6" name="Object 7">
              <a:extLst>
                <a:ext uri="{FF2B5EF4-FFF2-40B4-BE49-F238E27FC236}">
                  <a16:creationId xmlns:a16="http://schemas.microsoft.com/office/drawing/2014/main" id="{B75469E5-D08A-40EE-8723-7C5E4919C214}"/>
                </a:ext>
              </a:extLst>
            </p:cNvPr>
            <p:cNvGraphicFramePr>
              <a:graphicFrameLocks noChangeAspect="1"/>
            </p:cNvGraphicFramePr>
            <p:nvPr/>
          </p:nvGraphicFramePr>
          <p:xfrm>
            <a:off x="8438352" y="6237780"/>
            <a:ext cx="303054" cy="444763"/>
          </p:xfrm>
          <a:graphic>
            <a:graphicData uri="http://schemas.openxmlformats.org/presentationml/2006/ole">
              <mc:AlternateContent xmlns:mc="http://schemas.openxmlformats.org/markup-compatibility/2006">
                <mc:Choice xmlns:v="urn:schemas-microsoft-com:vml" Requires="v">
                  <p:oleObj name="Equation" r:id="rId2" imgW="304536" imgH="444114" progId="Equation.DSMT4">
                    <p:embed/>
                  </p:oleObj>
                </mc:Choice>
                <mc:Fallback>
                  <p:oleObj name="Equation" r:id="rId2" imgW="304536" imgH="444114" progId="Equation.DSMT4">
                    <p:embed/>
                    <p:pic>
                      <p:nvPicPr>
                        <p:cNvPr id="82"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38352" y="6237780"/>
                          <a:ext cx="303054" cy="444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 name="直接连接符 6">
              <a:extLst>
                <a:ext uri="{FF2B5EF4-FFF2-40B4-BE49-F238E27FC236}">
                  <a16:creationId xmlns:a16="http://schemas.microsoft.com/office/drawing/2014/main" id="{AE448C6B-383B-4DA5-8836-175DDB6FCC51}"/>
                </a:ext>
              </a:extLst>
            </p:cNvPr>
            <p:cNvCxnSpPr/>
            <p:nvPr/>
          </p:nvCxnSpPr>
          <p:spPr>
            <a:xfrm flipH="1" flipV="1">
              <a:off x="7858370" y="6245176"/>
              <a:ext cx="1045809" cy="771396"/>
            </a:xfrm>
            <a:prstGeom prst="line">
              <a:avLst/>
            </a:prstGeom>
            <a:ln w="57150" cmpd="sng">
              <a:solidFill>
                <a:srgbClr val="0070C0">
                  <a:alpha val="67000"/>
                </a:srgbClr>
              </a:solidFill>
              <a:prstDash val="dash"/>
            </a:ln>
          </p:spPr>
          <p:style>
            <a:lnRef idx="3">
              <a:schemeClr val="accent5"/>
            </a:lnRef>
            <a:fillRef idx="0">
              <a:schemeClr val="accent5"/>
            </a:fillRef>
            <a:effectRef idx="2">
              <a:schemeClr val="accent5"/>
            </a:effectRef>
            <a:fontRef idx="minor">
              <a:schemeClr val="tx1"/>
            </a:fontRef>
          </p:style>
        </p:cxnSp>
      </p:grpSp>
      <p:grpSp>
        <p:nvGrpSpPr>
          <p:cNvPr id="8" name="组合 41">
            <a:extLst>
              <a:ext uri="{FF2B5EF4-FFF2-40B4-BE49-F238E27FC236}">
                <a16:creationId xmlns:a16="http://schemas.microsoft.com/office/drawing/2014/main" id="{CF599713-4879-4EEC-BF3A-8EC731C74C22}"/>
              </a:ext>
            </a:extLst>
          </p:cNvPr>
          <p:cNvGrpSpPr/>
          <p:nvPr/>
        </p:nvGrpSpPr>
        <p:grpSpPr>
          <a:xfrm>
            <a:off x="10619904" y="4464443"/>
            <a:ext cx="497396" cy="1057968"/>
            <a:chOff x="10275127" y="4302882"/>
            <a:chExt cx="497396" cy="1057968"/>
          </a:xfrm>
        </p:grpSpPr>
        <p:cxnSp>
          <p:nvCxnSpPr>
            <p:cNvPr id="9" name="直接连接符 8">
              <a:extLst>
                <a:ext uri="{FF2B5EF4-FFF2-40B4-BE49-F238E27FC236}">
                  <a16:creationId xmlns:a16="http://schemas.microsoft.com/office/drawing/2014/main" id="{3B4AAD23-A611-474A-AB31-0B39B598A901}"/>
                </a:ext>
              </a:extLst>
            </p:cNvPr>
            <p:cNvCxnSpPr/>
            <p:nvPr/>
          </p:nvCxnSpPr>
          <p:spPr>
            <a:xfrm flipV="1">
              <a:off x="10275127" y="4302882"/>
              <a:ext cx="24394" cy="1057968"/>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graphicFrame>
          <p:nvGraphicFramePr>
            <p:cNvPr id="10" name="Object 6">
              <a:extLst>
                <a:ext uri="{FF2B5EF4-FFF2-40B4-BE49-F238E27FC236}">
                  <a16:creationId xmlns:a16="http://schemas.microsoft.com/office/drawing/2014/main" id="{534C779A-5224-44E9-ABFA-64D542DB0D86}"/>
                </a:ext>
              </a:extLst>
            </p:cNvPr>
            <p:cNvGraphicFramePr>
              <a:graphicFrameLocks noChangeAspect="1"/>
            </p:cNvGraphicFramePr>
            <p:nvPr/>
          </p:nvGraphicFramePr>
          <p:xfrm>
            <a:off x="10467723" y="4595042"/>
            <a:ext cx="304800" cy="444500"/>
          </p:xfrm>
          <a:graphic>
            <a:graphicData uri="http://schemas.openxmlformats.org/presentationml/2006/ole">
              <mc:AlternateContent xmlns:mc="http://schemas.openxmlformats.org/markup-compatibility/2006">
                <mc:Choice xmlns:v="urn:schemas-microsoft-com:vml" Requires="v">
                  <p:oleObj name="Equation" r:id="rId4" imgW="304536" imgH="444114" progId="Equation.DSMT4">
                    <p:embed/>
                  </p:oleObj>
                </mc:Choice>
                <mc:Fallback>
                  <p:oleObj name="Equation" r:id="rId4" imgW="304536" imgH="444114" progId="Equation.DSMT4">
                    <p:embed/>
                    <p:pic>
                      <p:nvPicPr>
                        <p:cNvPr id="4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67723" y="4595042"/>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11" name="直接连接符 10">
            <a:extLst>
              <a:ext uri="{FF2B5EF4-FFF2-40B4-BE49-F238E27FC236}">
                <a16:creationId xmlns:a16="http://schemas.microsoft.com/office/drawing/2014/main" id="{88FA34CD-DA78-45CF-B76C-A4DDD63AE817}"/>
              </a:ext>
            </a:extLst>
          </p:cNvPr>
          <p:cNvCxnSpPr/>
          <p:nvPr/>
        </p:nvCxnSpPr>
        <p:spPr>
          <a:xfrm flipV="1">
            <a:off x="10611405" y="4380477"/>
            <a:ext cx="36214" cy="1176951"/>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grpSp>
        <p:nvGrpSpPr>
          <p:cNvPr id="12" name="组合 44">
            <a:extLst>
              <a:ext uri="{FF2B5EF4-FFF2-40B4-BE49-F238E27FC236}">
                <a16:creationId xmlns:a16="http://schemas.microsoft.com/office/drawing/2014/main" id="{91629E75-73D1-4424-8638-ABA675712152}"/>
              </a:ext>
            </a:extLst>
          </p:cNvPr>
          <p:cNvGrpSpPr/>
          <p:nvPr/>
        </p:nvGrpSpPr>
        <p:grpSpPr>
          <a:xfrm>
            <a:off x="9390203" y="4803135"/>
            <a:ext cx="1045807" cy="878059"/>
            <a:chOff x="9149113" y="4600582"/>
            <a:chExt cx="993255" cy="747724"/>
          </a:xfrm>
        </p:grpSpPr>
        <p:cxnSp>
          <p:nvCxnSpPr>
            <p:cNvPr id="13" name="直接连接符 12">
              <a:extLst>
                <a:ext uri="{FF2B5EF4-FFF2-40B4-BE49-F238E27FC236}">
                  <a16:creationId xmlns:a16="http://schemas.microsoft.com/office/drawing/2014/main" id="{6D8D1DE6-393D-4F9C-A646-56429AD4ED0A}"/>
                </a:ext>
              </a:extLst>
            </p:cNvPr>
            <p:cNvCxnSpPr>
              <a:stCxn id="33" idx="1"/>
              <a:endCxn id="40" idx="5"/>
            </p:cNvCxnSpPr>
            <p:nvPr/>
          </p:nvCxnSpPr>
          <p:spPr>
            <a:xfrm flipH="1" flipV="1">
              <a:off x="9149113" y="4600582"/>
              <a:ext cx="993255" cy="680021"/>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graphicFrame>
          <p:nvGraphicFramePr>
            <p:cNvPr id="14" name="Object 7">
              <a:extLst>
                <a:ext uri="{FF2B5EF4-FFF2-40B4-BE49-F238E27FC236}">
                  <a16:creationId xmlns:a16="http://schemas.microsoft.com/office/drawing/2014/main" id="{3E497345-CC2F-4B4D-B77F-D38B60E06444}"/>
                </a:ext>
              </a:extLst>
            </p:cNvPr>
            <p:cNvGraphicFramePr>
              <a:graphicFrameLocks noChangeAspect="1"/>
            </p:cNvGraphicFramePr>
            <p:nvPr/>
          </p:nvGraphicFramePr>
          <p:xfrm>
            <a:off x="9294941" y="4903805"/>
            <a:ext cx="292100" cy="444501"/>
          </p:xfrm>
          <a:graphic>
            <a:graphicData uri="http://schemas.openxmlformats.org/presentationml/2006/ole">
              <mc:AlternateContent xmlns:mc="http://schemas.openxmlformats.org/markup-compatibility/2006">
                <mc:Choice xmlns:v="urn:schemas-microsoft-com:vml" Requires="v">
                  <p:oleObj name="Equation" r:id="rId6" imgW="291973" imgH="444307" progId="Equation.DSMT4">
                    <p:embed/>
                  </p:oleObj>
                </mc:Choice>
                <mc:Fallback>
                  <p:oleObj name="Equation" r:id="rId6" imgW="291973" imgH="444307" progId="Equation.DSMT4">
                    <p:embed/>
                    <p:pic>
                      <p:nvPicPr>
                        <p:cNvPr id="4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94941" y="4903805"/>
                          <a:ext cx="292100" cy="4445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15" name="直接连接符 14">
            <a:extLst>
              <a:ext uri="{FF2B5EF4-FFF2-40B4-BE49-F238E27FC236}">
                <a16:creationId xmlns:a16="http://schemas.microsoft.com/office/drawing/2014/main" id="{D023B74A-DF86-416B-8CC5-F84953DFA1D9}"/>
              </a:ext>
            </a:extLst>
          </p:cNvPr>
          <p:cNvCxnSpPr/>
          <p:nvPr/>
        </p:nvCxnSpPr>
        <p:spPr>
          <a:xfrm flipH="1" flipV="1">
            <a:off x="9334866" y="4742618"/>
            <a:ext cx="1113577" cy="887237"/>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16" name="直接连接符 15">
            <a:extLst>
              <a:ext uri="{FF2B5EF4-FFF2-40B4-BE49-F238E27FC236}">
                <a16:creationId xmlns:a16="http://schemas.microsoft.com/office/drawing/2014/main" id="{061E4844-3617-42D8-B1E0-98A4B12E50B5}"/>
              </a:ext>
            </a:extLst>
          </p:cNvPr>
          <p:cNvCxnSpPr/>
          <p:nvPr/>
        </p:nvCxnSpPr>
        <p:spPr>
          <a:xfrm flipV="1">
            <a:off x="5097845" y="3529451"/>
            <a:ext cx="1403287" cy="398353"/>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17" name="直接连接符 16">
            <a:extLst>
              <a:ext uri="{FF2B5EF4-FFF2-40B4-BE49-F238E27FC236}">
                <a16:creationId xmlns:a16="http://schemas.microsoft.com/office/drawing/2014/main" id="{841315BF-3781-4879-8FA6-B40753C9CA6F}"/>
              </a:ext>
            </a:extLst>
          </p:cNvPr>
          <p:cNvCxnSpPr/>
          <p:nvPr/>
        </p:nvCxnSpPr>
        <p:spPr>
          <a:xfrm>
            <a:off x="6608265" y="3564156"/>
            <a:ext cx="970230" cy="2110966"/>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18" name="直接连接符 17">
            <a:extLst>
              <a:ext uri="{FF2B5EF4-FFF2-40B4-BE49-F238E27FC236}">
                <a16:creationId xmlns:a16="http://schemas.microsoft.com/office/drawing/2014/main" id="{6CBAAAB2-4793-474F-AE6D-631DFA7A3F1A}"/>
              </a:ext>
            </a:extLst>
          </p:cNvPr>
          <p:cNvCxnSpPr>
            <a:cxnSpLocks/>
            <a:stCxn id="52" idx="5"/>
          </p:cNvCxnSpPr>
          <p:nvPr/>
        </p:nvCxnSpPr>
        <p:spPr>
          <a:xfrm>
            <a:off x="6746448" y="3597148"/>
            <a:ext cx="1538217" cy="2096081"/>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19" name="直接连接符 18">
            <a:extLst>
              <a:ext uri="{FF2B5EF4-FFF2-40B4-BE49-F238E27FC236}">
                <a16:creationId xmlns:a16="http://schemas.microsoft.com/office/drawing/2014/main" id="{565AC2D3-E351-4146-9EBA-B268B6EDCBA3}"/>
              </a:ext>
            </a:extLst>
          </p:cNvPr>
          <p:cNvCxnSpPr>
            <a:cxnSpLocks/>
          </p:cNvCxnSpPr>
          <p:nvPr/>
        </p:nvCxnSpPr>
        <p:spPr>
          <a:xfrm flipV="1">
            <a:off x="9307708" y="3647145"/>
            <a:ext cx="162962" cy="977774"/>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20" name="直接连接符 19">
            <a:extLst>
              <a:ext uri="{FF2B5EF4-FFF2-40B4-BE49-F238E27FC236}">
                <a16:creationId xmlns:a16="http://schemas.microsoft.com/office/drawing/2014/main" id="{E73C3072-55F4-4BB4-898C-CC57E875CC1B}"/>
              </a:ext>
            </a:extLst>
          </p:cNvPr>
          <p:cNvCxnSpPr/>
          <p:nvPr/>
        </p:nvCxnSpPr>
        <p:spPr>
          <a:xfrm flipH="1">
            <a:off x="3939004" y="3936857"/>
            <a:ext cx="878184" cy="398353"/>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21" name="直接连接符 20">
            <a:extLst>
              <a:ext uri="{FF2B5EF4-FFF2-40B4-BE49-F238E27FC236}">
                <a16:creationId xmlns:a16="http://schemas.microsoft.com/office/drawing/2014/main" id="{C7EB97E5-DFA2-414E-B5D8-9DC40794758D}"/>
              </a:ext>
            </a:extLst>
          </p:cNvPr>
          <p:cNvCxnSpPr/>
          <p:nvPr/>
        </p:nvCxnSpPr>
        <p:spPr>
          <a:xfrm>
            <a:off x="5097846" y="4081713"/>
            <a:ext cx="724277" cy="1584356"/>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22" name="直接连接符 21">
            <a:extLst>
              <a:ext uri="{FF2B5EF4-FFF2-40B4-BE49-F238E27FC236}">
                <a16:creationId xmlns:a16="http://schemas.microsoft.com/office/drawing/2014/main" id="{7FA80266-64E7-4069-906F-ABD476567595}"/>
              </a:ext>
            </a:extLst>
          </p:cNvPr>
          <p:cNvCxnSpPr/>
          <p:nvPr/>
        </p:nvCxnSpPr>
        <p:spPr>
          <a:xfrm>
            <a:off x="5070685" y="4009285"/>
            <a:ext cx="1647731" cy="1720158"/>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sp>
        <p:nvSpPr>
          <p:cNvPr id="23" name="椭圆 22">
            <a:extLst>
              <a:ext uri="{FF2B5EF4-FFF2-40B4-BE49-F238E27FC236}">
                <a16:creationId xmlns:a16="http://schemas.microsoft.com/office/drawing/2014/main" id="{4B361DBB-7018-41AC-8173-442A29D01003}"/>
              </a:ext>
            </a:extLst>
          </p:cNvPr>
          <p:cNvSpPr/>
          <p:nvPr/>
        </p:nvSpPr>
        <p:spPr>
          <a:xfrm>
            <a:off x="4752747" y="3758170"/>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cxnSp>
        <p:nvCxnSpPr>
          <p:cNvPr id="24" name="直接连接符 23">
            <a:extLst>
              <a:ext uri="{FF2B5EF4-FFF2-40B4-BE49-F238E27FC236}">
                <a16:creationId xmlns:a16="http://schemas.microsoft.com/office/drawing/2014/main" id="{149AF197-4218-43A0-9D6C-2D6B9A89DE5F}"/>
              </a:ext>
            </a:extLst>
          </p:cNvPr>
          <p:cNvCxnSpPr/>
          <p:nvPr/>
        </p:nvCxnSpPr>
        <p:spPr>
          <a:xfrm flipV="1">
            <a:off x="3078923" y="4425744"/>
            <a:ext cx="778598" cy="416461"/>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25" name="直接连接符 24">
            <a:extLst>
              <a:ext uri="{FF2B5EF4-FFF2-40B4-BE49-F238E27FC236}">
                <a16:creationId xmlns:a16="http://schemas.microsoft.com/office/drawing/2014/main" id="{13956C6A-87EA-47E2-91E5-76692DF7D602}"/>
              </a:ext>
            </a:extLst>
          </p:cNvPr>
          <p:cNvCxnSpPr/>
          <p:nvPr/>
        </p:nvCxnSpPr>
        <p:spPr>
          <a:xfrm flipH="1" flipV="1">
            <a:off x="4056697" y="4461958"/>
            <a:ext cx="896294" cy="1186006"/>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sp>
        <p:nvSpPr>
          <p:cNvPr id="26" name="椭圆 25">
            <a:extLst>
              <a:ext uri="{FF2B5EF4-FFF2-40B4-BE49-F238E27FC236}">
                <a16:creationId xmlns:a16="http://schemas.microsoft.com/office/drawing/2014/main" id="{C7B6EED1-B3FA-4CF4-A556-FAC8ECF7D1F5}"/>
              </a:ext>
            </a:extLst>
          </p:cNvPr>
          <p:cNvSpPr/>
          <p:nvPr/>
        </p:nvSpPr>
        <p:spPr>
          <a:xfrm>
            <a:off x="3766057" y="4176506"/>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cxnSp>
        <p:nvCxnSpPr>
          <p:cNvPr id="27" name="直接连接符 26">
            <a:extLst>
              <a:ext uri="{FF2B5EF4-FFF2-40B4-BE49-F238E27FC236}">
                <a16:creationId xmlns:a16="http://schemas.microsoft.com/office/drawing/2014/main" id="{45844428-627A-449A-986A-7C51C7D559F8}"/>
              </a:ext>
            </a:extLst>
          </p:cNvPr>
          <p:cNvCxnSpPr/>
          <p:nvPr/>
        </p:nvCxnSpPr>
        <p:spPr>
          <a:xfrm flipV="1">
            <a:off x="2173576" y="4996113"/>
            <a:ext cx="660903" cy="660904"/>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28" name="直接连接符 27">
            <a:extLst>
              <a:ext uri="{FF2B5EF4-FFF2-40B4-BE49-F238E27FC236}">
                <a16:creationId xmlns:a16="http://schemas.microsoft.com/office/drawing/2014/main" id="{D78A842D-ABED-45F2-B57F-FCEFAA4240F0}"/>
              </a:ext>
            </a:extLst>
          </p:cNvPr>
          <p:cNvCxnSpPr/>
          <p:nvPr/>
        </p:nvCxnSpPr>
        <p:spPr>
          <a:xfrm flipH="1" flipV="1">
            <a:off x="3015549" y="5014220"/>
            <a:ext cx="9053" cy="597530"/>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cxnSp>
        <p:nvCxnSpPr>
          <p:cNvPr id="29" name="直接连接符 28">
            <a:extLst>
              <a:ext uri="{FF2B5EF4-FFF2-40B4-BE49-F238E27FC236}">
                <a16:creationId xmlns:a16="http://schemas.microsoft.com/office/drawing/2014/main" id="{530F3E18-3883-4C87-894A-ACAA2E922E7C}"/>
              </a:ext>
            </a:extLst>
          </p:cNvPr>
          <p:cNvCxnSpPr/>
          <p:nvPr/>
        </p:nvCxnSpPr>
        <p:spPr>
          <a:xfrm flipH="1" flipV="1">
            <a:off x="3142297" y="4923685"/>
            <a:ext cx="724280" cy="688064"/>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sp>
        <p:nvSpPr>
          <p:cNvPr id="30" name="椭圆 29">
            <a:extLst>
              <a:ext uri="{FF2B5EF4-FFF2-40B4-BE49-F238E27FC236}">
                <a16:creationId xmlns:a16="http://schemas.microsoft.com/office/drawing/2014/main" id="{357E5F83-7B91-4331-9D46-11A93B818D2B}"/>
              </a:ext>
            </a:extLst>
          </p:cNvPr>
          <p:cNvSpPr/>
          <p:nvPr/>
        </p:nvSpPr>
        <p:spPr>
          <a:xfrm>
            <a:off x="2800355" y="4731785"/>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31" name="对象 30">
            <a:extLst>
              <a:ext uri="{FF2B5EF4-FFF2-40B4-BE49-F238E27FC236}">
                <a16:creationId xmlns:a16="http://schemas.microsoft.com/office/drawing/2014/main" id="{C3044B5B-B9AD-4E4E-90AF-47C4C9F6784D}"/>
              </a:ext>
            </a:extLst>
          </p:cNvPr>
          <p:cNvGraphicFramePr>
            <a:graphicFrameLocks noChangeAspect="1"/>
          </p:cNvGraphicFramePr>
          <p:nvPr>
            <p:extLst>
              <p:ext uri="{D42A27DB-BD31-4B8C-83A1-F6EECF244321}">
                <p14:modId xmlns:p14="http://schemas.microsoft.com/office/powerpoint/2010/main" val="4283046980"/>
              </p:ext>
            </p:extLst>
          </p:nvPr>
        </p:nvGraphicFramePr>
        <p:xfrm>
          <a:off x="2850685" y="4710599"/>
          <a:ext cx="292100" cy="444500"/>
        </p:xfrm>
        <a:graphic>
          <a:graphicData uri="http://schemas.openxmlformats.org/presentationml/2006/ole">
            <mc:AlternateContent xmlns:mc="http://schemas.openxmlformats.org/markup-compatibility/2006">
              <mc:Choice xmlns:v="urn:schemas-microsoft-com:vml" Requires="v">
                <p:oleObj name="Equation" r:id="rId8" imgW="291973" imgH="444307" progId="Equation.DSMT4">
                  <p:embed/>
                </p:oleObj>
              </mc:Choice>
              <mc:Fallback>
                <p:oleObj name="Equation" r:id="rId8" imgW="291973" imgH="444307" progId="Equation.DSMT4">
                  <p:embed/>
                  <p:pic>
                    <p:nvPicPr>
                      <p:cNvPr id="29" name="对象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0685" y="4710599"/>
                        <a:ext cx="2921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椭圆 31">
            <a:extLst>
              <a:ext uri="{FF2B5EF4-FFF2-40B4-BE49-F238E27FC236}">
                <a16:creationId xmlns:a16="http://schemas.microsoft.com/office/drawing/2014/main" id="{5A9EDA5E-5EF7-47E4-BDF5-11B182FD0B6B}"/>
              </a:ext>
            </a:extLst>
          </p:cNvPr>
          <p:cNvSpPr/>
          <p:nvPr/>
        </p:nvSpPr>
        <p:spPr>
          <a:xfrm>
            <a:off x="10399230" y="4037685"/>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33" name="椭圆 32">
            <a:extLst>
              <a:ext uri="{FF2B5EF4-FFF2-40B4-BE49-F238E27FC236}">
                <a16:creationId xmlns:a16="http://schemas.microsoft.com/office/drawing/2014/main" id="{96C8A84D-7868-46E5-9B56-276B0CAED90C}"/>
              </a:ext>
            </a:extLst>
          </p:cNvPr>
          <p:cNvSpPr/>
          <p:nvPr/>
        </p:nvSpPr>
        <p:spPr>
          <a:xfrm>
            <a:off x="10374836" y="5540517"/>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pSp>
        <p:nvGrpSpPr>
          <p:cNvPr id="34" name="组合 38">
            <a:extLst>
              <a:ext uri="{FF2B5EF4-FFF2-40B4-BE49-F238E27FC236}">
                <a16:creationId xmlns:a16="http://schemas.microsoft.com/office/drawing/2014/main" id="{70BCD633-A500-43F2-96EB-32F7C5F98185}"/>
              </a:ext>
            </a:extLst>
          </p:cNvPr>
          <p:cNvGrpSpPr/>
          <p:nvPr/>
        </p:nvGrpSpPr>
        <p:grpSpPr>
          <a:xfrm>
            <a:off x="9451371" y="3989637"/>
            <a:ext cx="1009030" cy="665815"/>
            <a:chOff x="9097541" y="3828076"/>
            <a:chExt cx="1009030" cy="665815"/>
          </a:xfrm>
        </p:grpSpPr>
        <p:cxnSp>
          <p:nvCxnSpPr>
            <p:cNvPr id="35" name="直接连接符 34">
              <a:extLst>
                <a:ext uri="{FF2B5EF4-FFF2-40B4-BE49-F238E27FC236}">
                  <a16:creationId xmlns:a16="http://schemas.microsoft.com/office/drawing/2014/main" id="{37AC0ACC-DA28-4AF9-8EED-00DB4544B7D3}"/>
                </a:ext>
              </a:extLst>
            </p:cNvPr>
            <p:cNvCxnSpPr>
              <a:stCxn id="40" idx="6"/>
              <a:endCxn id="32" idx="3"/>
            </p:cNvCxnSpPr>
            <p:nvPr/>
          </p:nvCxnSpPr>
          <p:spPr>
            <a:xfrm flipV="1">
              <a:off x="9097541" y="4232658"/>
              <a:ext cx="1009030" cy="261233"/>
            </a:xfrm>
            <a:prstGeom prst="line">
              <a:avLst/>
            </a:prstGeom>
            <a:ln w="57150">
              <a:solidFill>
                <a:schemeClr val="accent5">
                  <a:lumMod val="40000"/>
                  <a:lumOff val="60000"/>
                </a:schemeClr>
              </a:solidFill>
            </a:ln>
          </p:spPr>
          <p:style>
            <a:lnRef idx="3">
              <a:schemeClr val="accent5"/>
            </a:lnRef>
            <a:fillRef idx="0">
              <a:schemeClr val="accent5"/>
            </a:fillRef>
            <a:effectRef idx="2">
              <a:schemeClr val="accent5"/>
            </a:effectRef>
            <a:fontRef idx="minor">
              <a:schemeClr val="tx1"/>
            </a:fontRef>
          </p:style>
        </p:cxnSp>
        <p:graphicFrame>
          <p:nvGraphicFramePr>
            <p:cNvPr id="36" name="Object 5">
              <a:extLst>
                <a:ext uri="{FF2B5EF4-FFF2-40B4-BE49-F238E27FC236}">
                  <a16:creationId xmlns:a16="http://schemas.microsoft.com/office/drawing/2014/main" id="{062528CF-8014-4439-ADA7-5ADDDA8420F9}"/>
                </a:ext>
              </a:extLst>
            </p:cNvPr>
            <p:cNvGraphicFramePr>
              <a:graphicFrameLocks noChangeAspect="1"/>
            </p:cNvGraphicFramePr>
            <p:nvPr/>
          </p:nvGraphicFramePr>
          <p:xfrm>
            <a:off x="9383775" y="3828076"/>
            <a:ext cx="266700" cy="444500"/>
          </p:xfrm>
          <a:graphic>
            <a:graphicData uri="http://schemas.openxmlformats.org/presentationml/2006/ole">
              <mc:AlternateContent xmlns:mc="http://schemas.openxmlformats.org/markup-compatibility/2006">
                <mc:Choice xmlns:v="urn:schemas-microsoft-com:vml" Requires="v">
                  <p:oleObj name="Equation" r:id="rId10" imgW="266469" imgH="444114" progId="Equation.DSMT4">
                    <p:embed/>
                  </p:oleObj>
                </mc:Choice>
                <mc:Fallback>
                  <p:oleObj name="Equation" r:id="rId10" imgW="266469" imgH="444114" progId="Equation.DSMT4">
                    <p:embed/>
                    <p:pic>
                      <p:nvPicPr>
                        <p:cNvPr id="41"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83775" y="3828076"/>
                          <a:ext cx="266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7" name="椭圆 36">
            <a:extLst>
              <a:ext uri="{FF2B5EF4-FFF2-40B4-BE49-F238E27FC236}">
                <a16:creationId xmlns:a16="http://schemas.microsoft.com/office/drawing/2014/main" id="{8DBFE170-E057-4F67-A247-1DC8213D0F10}"/>
              </a:ext>
            </a:extLst>
          </p:cNvPr>
          <p:cNvSpPr/>
          <p:nvPr/>
        </p:nvSpPr>
        <p:spPr>
          <a:xfrm>
            <a:off x="5648904" y="5613537"/>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38" name="椭圆 37">
            <a:extLst>
              <a:ext uri="{FF2B5EF4-FFF2-40B4-BE49-F238E27FC236}">
                <a16:creationId xmlns:a16="http://schemas.microsoft.com/office/drawing/2014/main" id="{56978D7A-1E56-410D-99A5-FFC6D81EF2A5}"/>
              </a:ext>
            </a:extLst>
          </p:cNvPr>
          <p:cNvSpPr/>
          <p:nvPr/>
        </p:nvSpPr>
        <p:spPr>
          <a:xfrm>
            <a:off x="2810917" y="5584320"/>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39" name="椭圆 38">
            <a:extLst>
              <a:ext uri="{FF2B5EF4-FFF2-40B4-BE49-F238E27FC236}">
                <a16:creationId xmlns:a16="http://schemas.microsoft.com/office/drawing/2014/main" id="{128D8B04-1CFC-4E37-B382-95C693B26FA8}"/>
              </a:ext>
            </a:extLst>
          </p:cNvPr>
          <p:cNvSpPr/>
          <p:nvPr/>
        </p:nvSpPr>
        <p:spPr>
          <a:xfrm>
            <a:off x="6563829" y="5594611"/>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40" name="椭圆 39">
            <a:extLst>
              <a:ext uri="{FF2B5EF4-FFF2-40B4-BE49-F238E27FC236}">
                <a16:creationId xmlns:a16="http://schemas.microsoft.com/office/drawing/2014/main" id="{B4384725-6B98-438D-A255-F774864CB0D5}"/>
              </a:ext>
            </a:extLst>
          </p:cNvPr>
          <p:cNvSpPr/>
          <p:nvPr/>
        </p:nvSpPr>
        <p:spPr>
          <a:xfrm>
            <a:off x="9033666" y="4446599"/>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41" name="椭圆 40">
            <a:extLst>
              <a:ext uri="{FF2B5EF4-FFF2-40B4-BE49-F238E27FC236}">
                <a16:creationId xmlns:a16="http://schemas.microsoft.com/office/drawing/2014/main" id="{3B83BBC6-67DA-49C7-B176-10B1DDD152C9}"/>
              </a:ext>
            </a:extLst>
          </p:cNvPr>
          <p:cNvSpPr/>
          <p:nvPr/>
        </p:nvSpPr>
        <p:spPr>
          <a:xfrm>
            <a:off x="1914624" y="5611480"/>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42" name="椭圆 41">
            <a:extLst>
              <a:ext uri="{FF2B5EF4-FFF2-40B4-BE49-F238E27FC236}">
                <a16:creationId xmlns:a16="http://schemas.microsoft.com/office/drawing/2014/main" id="{CCF53A41-1A68-4175-88B7-6BD9E7703B6C}"/>
              </a:ext>
            </a:extLst>
          </p:cNvPr>
          <p:cNvSpPr/>
          <p:nvPr/>
        </p:nvSpPr>
        <p:spPr>
          <a:xfrm>
            <a:off x="3778129" y="5600918"/>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43" name="椭圆 42">
            <a:extLst>
              <a:ext uri="{FF2B5EF4-FFF2-40B4-BE49-F238E27FC236}">
                <a16:creationId xmlns:a16="http://schemas.microsoft.com/office/drawing/2014/main" id="{2F5FBB3E-C3D1-4121-8AF0-89A6F1F2DF09}"/>
              </a:ext>
            </a:extLst>
          </p:cNvPr>
          <p:cNvSpPr/>
          <p:nvPr/>
        </p:nvSpPr>
        <p:spPr>
          <a:xfrm>
            <a:off x="4754395" y="5617516"/>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pSp>
        <p:nvGrpSpPr>
          <p:cNvPr id="44" name="组合 75">
            <a:extLst>
              <a:ext uri="{FF2B5EF4-FFF2-40B4-BE49-F238E27FC236}">
                <a16:creationId xmlns:a16="http://schemas.microsoft.com/office/drawing/2014/main" id="{F8CD4C4E-C7FD-4D6E-BD61-00983C2B0042}"/>
              </a:ext>
            </a:extLst>
          </p:cNvPr>
          <p:cNvGrpSpPr/>
          <p:nvPr/>
        </p:nvGrpSpPr>
        <p:grpSpPr>
          <a:xfrm>
            <a:off x="9258494" y="3220674"/>
            <a:ext cx="417705" cy="444500"/>
            <a:chOff x="8679836" y="4264733"/>
            <a:chExt cx="417705" cy="444500"/>
          </a:xfrm>
        </p:grpSpPr>
        <p:sp>
          <p:nvSpPr>
            <p:cNvPr id="45" name="椭圆 44">
              <a:extLst>
                <a:ext uri="{FF2B5EF4-FFF2-40B4-BE49-F238E27FC236}">
                  <a16:creationId xmlns:a16="http://schemas.microsoft.com/office/drawing/2014/main" id="{FEC9BAF7-74DA-4F8D-8188-5841908D3DDC}"/>
                </a:ext>
              </a:extLst>
            </p:cNvPr>
            <p:cNvSpPr/>
            <p:nvPr/>
          </p:nvSpPr>
          <p:spPr>
            <a:xfrm>
              <a:off x="8679836" y="4285038"/>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46" name="对象 45">
              <a:extLst>
                <a:ext uri="{FF2B5EF4-FFF2-40B4-BE49-F238E27FC236}">
                  <a16:creationId xmlns:a16="http://schemas.microsoft.com/office/drawing/2014/main" id="{390D8AF1-8A3A-4900-8001-AC26D66E7E5D}"/>
                </a:ext>
              </a:extLst>
            </p:cNvPr>
            <p:cNvGraphicFramePr>
              <a:graphicFrameLocks noChangeAspect="1"/>
            </p:cNvGraphicFramePr>
            <p:nvPr>
              <p:extLst>
                <p:ext uri="{D42A27DB-BD31-4B8C-83A1-F6EECF244321}">
                  <p14:modId xmlns:p14="http://schemas.microsoft.com/office/powerpoint/2010/main" val="3420503930"/>
                </p:ext>
              </p:extLst>
            </p:nvPr>
          </p:nvGraphicFramePr>
          <p:xfrm>
            <a:off x="8722322" y="4264733"/>
            <a:ext cx="304800" cy="444500"/>
          </p:xfrm>
          <a:graphic>
            <a:graphicData uri="http://schemas.openxmlformats.org/presentationml/2006/ole">
              <mc:AlternateContent xmlns:mc="http://schemas.openxmlformats.org/markup-compatibility/2006">
                <mc:Choice xmlns:v="urn:schemas-microsoft-com:vml" Requires="v">
                  <p:oleObj name="Equation" r:id="rId12" imgW="304536" imgH="444114" progId="Equation.DSMT4">
                    <p:embed/>
                  </p:oleObj>
                </mc:Choice>
                <mc:Fallback>
                  <p:oleObj name="Equation" r:id="rId12" imgW="304536" imgH="444114" progId="Equation.DSMT4">
                    <p:embed/>
                    <p:pic>
                      <p:nvPicPr>
                        <p:cNvPr id="78" name="对象 7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22322" y="4264733"/>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8" name="椭圆 47">
            <a:extLst>
              <a:ext uri="{FF2B5EF4-FFF2-40B4-BE49-F238E27FC236}">
                <a16:creationId xmlns:a16="http://schemas.microsoft.com/office/drawing/2014/main" id="{973C9229-BF3A-439E-8E9C-B201B3D9803C}"/>
              </a:ext>
            </a:extLst>
          </p:cNvPr>
          <p:cNvSpPr/>
          <p:nvPr/>
        </p:nvSpPr>
        <p:spPr>
          <a:xfrm>
            <a:off x="7404292" y="5611209"/>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49" name="Object 4">
            <a:extLst>
              <a:ext uri="{FF2B5EF4-FFF2-40B4-BE49-F238E27FC236}">
                <a16:creationId xmlns:a16="http://schemas.microsoft.com/office/drawing/2014/main" id="{96B51C79-C74D-4079-800F-F7FC68C29900}"/>
              </a:ext>
            </a:extLst>
          </p:cNvPr>
          <p:cNvGraphicFramePr>
            <a:graphicFrameLocks noChangeAspect="1"/>
          </p:cNvGraphicFramePr>
          <p:nvPr>
            <p:extLst>
              <p:ext uri="{D42A27DB-BD31-4B8C-83A1-F6EECF244321}">
                <p14:modId xmlns:p14="http://schemas.microsoft.com/office/powerpoint/2010/main" val="1039242073"/>
              </p:ext>
            </p:extLst>
          </p:nvPr>
        </p:nvGraphicFramePr>
        <p:xfrm>
          <a:off x="7465547" y="5610711"/>
          <a:ext cx="304800" cy="444500"/>
        </p:xfrm>
        <a:graphic>
          <a:graphicData uri="http://schemas.openxmlformats.org/presentationml/2006/ole">
            <mc:AlternateContent xmlns:mc="http://schemas.openxmlformats.org/markup-compatibility/2006">
              <mc:Choice xmlns:v="urn:schemas-microsoft-com:vml" Requires="v">
                <p:oleObj name="Equation" r:id="rId14" imgW="304536" imgH="444114" progId="Equation.DSMT4">
                  <p:embed/>
                </p:oleObj>
              </mc:Choice>
              <mc:Fallback>
                <p:oleObj name="Equation" r:id="rId14" imgW="304536" imgH="444114" progId="Equation.DSMT4">
                  <p:embed/>
                  <p:pic>
                    <p:nvPicPr>
                      <p:cNvPr id="85"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65547" y="5610711"/>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 name="椭圆 49">
            <a:extLst>
              <a:ext uri="{FF2B5EF4-FFF2-40B4-BE49-F238E27FC236}">
                <a16:creationId xmlns:a16="http://schemas.microsoft.com/office/drawing/2014/main" id="{73C05CD2-522A-49A2-9813-4A6F09070771}"/>
              </a:ext>
            </a:extLst>
          </p:cNvPr>
          <p:cNvSpPr/>
          <p:nvPr/>
        </p:nvSpPr>
        <p:spPr>
          <a:xfrm>
            <a:off x="8119517" y="5611209"/>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51" name="Object 4">
            <a:extLst>
              <a:ext uri="{FF2B5EF4-FFF2-40B4-BE49-F238E27FC236}">
                <a16:creationId xmlns:a16="http://schemas.microsoft.com/office/drawing/2014/main" id="{BF3B1B23-ACAD-433E-8956-4997D8ECB843}"/>
              </a:ext>
            </a:extLst>
          </p:cNvPr>
          <p:cNvGraphicFramePr>
            <a:graphicFrameLocks noChangeAspect="1"/>
          </p:cNvGraphicFramePr>
          <p:nvPr>
            <p:extLst>
              <p:ext uri="{D42A27DB-BD31-4B8C-83A1-F6EECF244321}">
                <p14:modId xmlns:p14="http://schemas.microsoft.com/office/powerpoint/2010/main" val="2272088825"/>
              </p:ext>
            </p:extLst>
          </p:nvPr>
        </p:nvGraphicFramePr>
        <p:xfrm>
          <a:off x="8181510" y="5610711"/>
          <a:ext cx="304800" cy="444500"/>
        </p:xfrm>
        <a:graphic>
          <a:graphicData uri="http://schemas.openxmlformats.org/presentationml/2006/ole">
            <mc:AlternateContent xmlns:mc="http://schemas.openxmlformats.org/markup-compatibility/2006">
              <mc:Choice xmlns:v="urn:schemas-microsoft-com:vml" Requires="v">
                <p:oleObj name="Equation" r:id="rId16" imgW="304536" imgH="444114" progId="Equation.DSMT4">
                  <p:embed/>
                </p:oleObj>
              </mc:Choice>
              <mc:Fallback>
                <p:oleObj name="Equation" r:id="rId16" imgW="304536" imgH="444114" progId="Equation.DSMT4">
                  <p:embed/>
                  <p:pic>
                    <p:nvPicPr>
                      <p:cNvPr id="87"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81510" y="5610711"/>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 name="椭圆 51">
            <a:extLst>
              <a:ext uri="{FF2B5EF4-FFF2-40B4-BE49-F238E27FC236}">
                <a16:creationId xmlns:a16="http://schemas.microsoft.com/office/drawing/2014/main" id="{9B8A8B71-7859-4FAF-9CF1-781F4853DA28}"/>
              </a:ext>
            </a:extLst>
          </p:cNvPr>
          <p:cNvSpPr/>
          <p:nvPr/>
        </p:nvSpPr>
        <p:spPr>
          <a:xfrm>
            <a:off x="6389915" y="3240614"/>
            <a:ext cx="417705" cy="417705"/>
          </a:xfrm>
          <a:prstGeom prst="ellipse">
            <a:avLst/>
          </a:prstGeom>
          <a:gradFill>
            <a:gsLst>
              <a:gs pos="0">
                <a:schemeClr val="accent4">
                  <a:lumMod val="60000"/>
                  <a:lumOff val="40000"/>
                </a:schemeClr>
              </a:gs>
              <a:gs pos="100000">
                <a:schemeClr val="accent4">
                  <a:lumMod val="75000"/>
                </a:schemeClr>
              </a:gs>
            </a:gsLst>
          </a:gra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53" name="对象 52">
            <a:extLst>
              <a:ext uri="{FF2B5EF4-FFF2-40B4-BE49-F238E27FC236}">
                <a16:creationId xmlns:a16="http://schemas.microsoft.com/office/drawing/2014/main" id="{361CE2F1-B255-4031-BA81-1E2C0EE46EF0}"/>
              </a:ext>
            </a:extLst>
          </p:cNvPr>
          <p:cNvGraphicFramePr>
            <a:graphicFrameLocks noChangeAspect="1"/>
          </p:cNvGraphicFramePr>
          <p:nvPr>
            <p:extLst>
              <p:ext uri="{D42A27DB-BD31-4B8C-83A1-F6EECF244321}">
                <p14:modId xmlns:p14="http://schemas.microsoft.com/office/powerpoint/2010/main" val="2800184025"/>
              </p:ext>
            </p:extLst>
          </p:nvPr>
        </p:nvGraphicFramePr>
        <p:xfrm>
          <a:off x="6452142" y="3219995"/>
          <a:ext cx="266700" cy="444500"/>
        </p:xfrm>
        <a:graphic>
          <a:graphicData uri="http://schemas.openxmlformats.org/presentationml/2006/ole">
            <mc:AlternateContent xmlns:mc="http://schemas.openxmlformats.org/markup-compatibility/2006">
              <mc:Choice xmlns:v="urn:schemas-microsoft-com:vml" Requires="v">
                <p:oleObj name="Equation" r:id="rId18" imgW="266469" imgH="444114" progId="Equation.DSMT4">
                  <p:embed/>
                </p:oleObj>
              </mc:Choice>
              <mc:Fallback>
                <p:oleObj name="Equation" r:id="rId18" imgW="266469" imgH="444114" progId="Equation.DSMT4">
                  <p:embed/>
                  <p:pic>
                    <p:nvPicPr>
                      <p:cNvPr id="89" name="对象 8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452142" y="3219995"/>
                        <a:ext cx="266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 name="椭圆 53">
            <a:extLst>
              <a:ext uri="{FF2B5EF4-FFF2-40B4-BE49-F238E27FC236}">
                <a16:creationId xmlns:a16="http://schemas.microsoft.com/office/drawing/2014/main" id="{95B36A1A-D6BC-40CF-8347-6DD62E88D153}"/>
              </a:ext>
            </a:extLst>
          </p:cNvPr>
          <p:cNvSpPr/>
          <p:nvPr/>
        </p:nvSpPr>
        <p:spPr>
          <a:xfrm>
            <a:off x="1902553" y="5617516"/>
            <a:ext cx="417705" cy="417705"/>
          </a:xfrm>
          <a:prstGeom prst="ellipse">
            <a:avLst/>
          </a:prstGeom>
          <a:solidFill>
            <a:srgbClr val="FF000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55" name="椭圆 54">
            <a:extLst>
              <a:ext uri="{FF2B5EF4-FFF2-40B4-BE49-F238E27FC236}">
                <a16:creationId xmlns:a16="http://schemas.microsoft.com/office/drawing/2014/main" id="{8B595647-F783-4E73-A7E1-B45A4A95344C}"/>
              </a:ext>
            </a:extLst>
          </p:cNvPr>
          <p:cNvSpPr/>
          <p:nvPr/>
        </p:nvSpPr>
        <p:spPr>
          <a:xfrm>
            <a:off x="2797337" y="5588846"/>
            <a:ext cx="417705" cy="417705"/>
          </a:xfrm>
          <a:prstGeom prst="ellipse">
            <a:avLst/>
          </a:prstGeom>
          <a:solidFill>
            <a:srgbClr val="FF000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sp>
        <p:nvSpPr>
          <p:cNvPr id="56" name="椭圆 55">
            <a:extLst>
              <a:ext uri="{FF2B5EF4-FFF2-40B4-BE49-F238E27FC236}">
                <a16:creationId xmlns:a16="http://schemas.microsoft.com/office/drawing/2014/main" id="{8A3981FE-1C63-494D-BB2F-07FC513B2927}"/>
              </a:ext>
            </a:extLst>
          </p:cNvPr>
          <p:cNvSpPr/>
          <p:nvPr/>
        </p:nvSpPr>
        <p:spPr>
          <a:xfrm>
            <a:off x="3773603" y="5605445"/>
            <a:ext cx="417705" cy="417705"/>
          </a:xfrm>
          <a:prstGeom prst="ellipse">
            <a:avLst/>
          </a:prstGeom>
          <a:solidFill>
            <a:srgbClr val="FF000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57" name="Object 3">
            <a:extLst>
              <a:ext uri="{FF2B5EF4-FFF2-40B4-BE49-F238E27FC236}">
                <a16:creationId xmlns:a16="http://schemas.microsoft.com/office/drawing/2014/main" id="{41B2241B-19B5-42A4-89D4-01747F613FB8}"/>
              </a:ext>
            </a:extLst>
          </p:cNvPr>
          <p:cNvGraphicFramePr>
            <a:graphicFrameLocks noChangeAspect="1"/>
          </p:cNvGraphicFramePr>
          <p:nvPr>
            <p:extLst>
              <p:ext uri="{D42A27DB-BD31-4B8C-83A1-F6EECF244321}">
                <p14:modId xmlns:p14="http://schemas.microsoft.com/office/powerpoint/2010/main" val="2174675956"/>
              </p:ext>
            </p:extLst>
          </p:nvPr>
        </p:nvGraphicFramePr>
        <p:xfrm>
          <a:off x="2872658" y="5563118"/>
          <a:ext cx="304800" cy="444500"/>
        </p:xfrm>
        <a:graphic>
          <a:graphicData uri="http://schemas.openxmlformats.org/presentationml/2006/ole">
            <mc:AlternateContent xmlns:mc="http://schemas.openxmlformats.org/markup-compatibility/2006">
              <mc:Choice xmlns:v="urn:schemas-microsoft-com:vml" Requires="v">
                <p:oleObj name="Equation" r:id="rId20" imgW="304536" imgH="444114" progId="Equation.DSMT4">
                  <p:embed/>
                </p:oleObj>
              </mc:Choice>
              <mc:Fallback>
                <p:oleObj name="Equation" r:id="rId20" imgW="304536" imgH="444114" progId="Equation.DSMT4">
                  <p:embed/>
                  <p:pic>
                    <p:nvPicPr>
                      <p:cNvPr id="51" name="Object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72658" y="5563118"/>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对象 57">
            <a:extLst>
              <a:ext uri="{FF2B5EF4-FFF2-40B4-BE49-F238E27FC236}">
                <a16:creationId xmlns:a16="http://schemas.microsoft.com/office/drawing/2014/main" id="{57E0FE7B-EDD6-4BF1-8E5A-2307D0DBA9F1}"/>
              </a:ext>
            </a:extLst>
          </p:cNvPr>
          <p:cNvGraphicFramePr>
            <a:graphicFrameLocks noChangeAspect="1"/>
          </p:cNvGraphicFramePr>
          <p:nvPr>
            <p:extLst>
              <p:ext uri="{D42A27DB-BD31-4B8C-83A1-F6EECF244321}">
                <p14:modId xmlns:p14="http://schemas.microsoft.com/office/powerpoint/2010/main" val="103740921"/>
              </p:ext>
            </p:extLst>
          </p:nvPr>
        </p:nvGraphicFramePr>
        <p:xfrm>
          <a:off x="1976851" y="5590861"/>
          <a:ext cx="266700" cy="444500"/>
        </p:xfrm>
        <a:graphic>
          <a:graphicData uri="http://schemas.openxmlformats.org/presentationml/2006/ole">
            <mc:AlternateContent xmlns:mc="http://schemas.openxmlformats.org/markup-compatibility/2006">
              <mc:Choice xmlns:v="urn:schemas-microsoft-com:vml" Requires="v">
                <p:oleObj name="Equation" r:id="rId22" imgW="266469" imgH="444114" progId="Equation.DSMT4">
                  <p:embed/>
                </p:oleObj>
              </mc:Choice>
              <mc:Fallback>
                <p:oleObj name="Equation" r:id="rId22" imgW="266469" imgH="444114" progId="Equation.DSMT4">
                  <p:embed/>
                  <p:pic>
                    <p:nvPicPr>
                      <p:cNvPr id="58" name="对象 5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76851" y="5590861"/>
                        <a:ext cx="266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对象 58">
            <a:extLst>
              <a:ext uri="{FF2B5EF4-FFF2-40B4-BE49-F238E27FC236}">
                <a16:creationId xmlns:a16="http://schemas.microsoft.com/office/drawing/2014/main" id="{F0F647E8-1758-41FB-AA76-90CD7CDF6650}"/>
              </a:ext>
            </a:extLst>
          </p:cNvPr>
          <p:cNvGraphicFramePr>
            <a:graphicFrameLocks noChangeAspect="1"/>
          </p:cNvGraphicFramePr>
          <p:nvPr>
            <p:extLst>
              <p:ext uri="{D42A27DB-BD31-4B8C-83A1-F6EECF244321}">
                <p14:modId xmlns:p14="http://schemas.microsoft.com/office/powerpoint/2010/main" val="3655878450"/>
              </p:ext>
            </p:extLst>
          </p:nvPr>
        </p:nvGraphicFramePr>
        <p:xfrm>
          <a:off x="3820647" y="5580549"/>
          <a:ext cx="304800" cy="444500"/>
        </p:xfrm>
        <a:graphic>
          <a:graphicData uri="http://schemas.openxmlformats.org/presentationml/2006/ole">
            <mc:AlternateContent xmlns:mc="http://schemas.openxmlformats.org/markup-compatibility/2006">
              <mc:Choice xmlns:v="urn:schemas-microsoft-com:vml" Requires="v">
                <p:oleObj name="Equation" r:id="rId24" imgW="304536" imgH="444114" progId="Equation.DSMT4">
                  <p:embed/>
                </p:oleObj>
              </mc:Choice>
              <mc:Fallback>
                <p:oleObj name="Equation" r:id="rId24" imgW="304536" imgH="444114" progId="Equation.DSMT4">
                  <p:embed/>
                  <p:pic>
                    <p:nvPicPr>
                      <p:cNvPr id="60" name="对象 59"/>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20647" y="5580549"/>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椭圆 59">
            <a:extLst>
              <a:ext uri="{FF2B5EF4-FFF2-40B4-BE49-F238E27FC236}">
                <a16:creationId xmlns:a16="http://schemas.microsoft.com/office/drawing/2014/main" id="{D0C15E56-34D5-4661-8878-80F41FAC842C}"/>
              </a:ext>
            </a:extLst>
          </p:cNvPr>
          <p:cNvSpPr/>
          <p:nvPr/>
        </p:nvSpPr>
        <p:spPr>
          <a:xfrm>
            <a:off x="10400739" y="4030142"/>
            <a:ext cx="417705" cy="417705"/>
          </a:xfrm>
          <a:prstGeom prst="ellipse">
            <a:avLst/>
          </a:prstGeom>
          <a:solidFill>
            <a:srgbClr val="FF000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61" name="Object 3">
            <a:extLst>
              <a:ext uri="{FF2B5EF4-FFF2-40B4-BE49-F238E27FC236}">
                <a16:creationId xmlns:a16="http://schemas.microsoft.com/office/drawing/2014/main" id="{61964A75-AAA3-4CA7-8754-2EE8136C6848}"/>
              </a:ext>
            </a:extLst>
          </p:cNvPr>
          <p:cNvGraphicFramePr>
            <a:graphicFrameLocks noChangeAspect="1"/>
          </p:cNvGraphicFramePr>
          <p:nvPr>
            <p:extLst>
              <p:ext uri="{D42A27DB-BD31-4B8C-83A1-F6EECF244321}">
                <p14:modId xmlns:p14="http://schemas.microsoft.com/office/powerpoint/2010/main" val="3170468128"/>
              </p:ext>
            </p:extLst>
          </p:nvPr>
        </p:nvGraphicFramePr>
        <p:xfrm>
          <a:off x="10460971" y="4016483"/>
          <a:ext cx="304800" cy="444500"/>
        </p:xfrm>
        <a:graphic>
          <a:graphicData uri="http://schemas.openxmlformats.org/presentationml/2006/ole">
            <mc:AlternateContent xmlns:mc="http://schemas.openxmlformats.org/markup-compatibility/2006">
              <mc:Choice xmlns:v="urn:schemas-microsoft-com:vml" Requires="v">
                <p:oleObj name="Equation" r:id="rId26" imgW="304536" imgH="444114" progId="Equation.DSMT4">
                  <p:embed/>
                </p:oleObj>
              </mc:Choice>
              <mc:Fallback>
                <p:oleObj name="Equation" r:id="rId26" imgW="304536" imgH="444114" progId="Equation.DSMT4">
                  <p:embed/>
                  <p:pic>
                    <p:nvPicPr>
                      <p:cNvPr id="35" name="Object 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460971" y="4016483"/>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 name="椭圆 61">
            <a:extLst>
              <a:ext uri="{FF2B5EF4-FFF2-40B4-BE49-F238E27FC236}">
                <a16:creationId xmlns:a16="http://schemas.microsoft.com/office/drawing/2014/main" id="{B75E389D-8A55-4668-A20C-C427AE5CF536}"/>
              </a:ext>
            </a:extLst>
          </p:cNvPr>
          <p:cNvSpPr/>
          <p:nvPr/>
        </p:nvSpPr>
        <p:spPr>
          <a:xfrm>
            <a:off x="4751376" y="5623551"/>
            <a:ext cx="417705" cy="417705"/>
          </a:xfrm>
          <a:prstGeom prst="ellipse">
            <a:avLst/>
          </a:prstGeom>
          <a:solidFill>
            <a:srgbClr val="FF000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63" name="对象 62">
            <a:extLst>
              <a:ext uri="{FF2B5EF4-FFF2-40B4-BE49-F238E27FC236}">
                <a16:creationId xmlns:a16="http://schemas.microsoft.com/office/drawing/2014/main" id="{79351E6F-F852-4D55-9261-5BAB83A5BF69}"/>
              </a:ext>
            </a:extLst>
          </p:cNvPr>
          <p:cNvGraphicFramePr>
            <a:graphicFrameLocks noChangeAspect="1"/>
          </p:cNvGraphicFramePr>
          <p:nvPr>
            <p:extLst>
              <p:ext uri="{D42A27DB-BD31-4B8C-83A1-F6EECF244321}">
                <p14:modId xmlns:p14="http://schemas.microsoft.com/office/powerpoint/2010/main" val="3843936732"/>
              </p:ext>
            </p:extLst>
          </p:nvPr>
        </p:nvGraphicFramePr>
        <p:xfrm>
          <a:off x="4803310" y="5596424"/>
          <a:ext cx="292100" cy="444500"/>
        </p:xfrm>
        <a:graphic>
          <a:graphicData uri="http://schemas.openxmlformats.org/presentationml/2006/ole">
            <mc:AlternateContent xmlns:mc="http://schemas.openxmlformats.org/markup-compatibility/2006">
              <mc:Choice xmlns:v="urn:schemas-microsoft-com:vml" Requires="v">
                <p:oleObj name="Equation" r:id="rId27" imgW="291973" imgH="444307" progId="Equation.DSMT4">
                  <p:embed/>
                </p:oleObj>
              </mc:Choice>
              <mc:Fallback>
                <p:oleObj name="Equation" r:id="rId27" imgW="291973" imgH="444307" progId="Equation.DSMT4">
                  <p:embed/>
                  <p:pic>
                    <p:nvPicPr>
                      <p:cNvPr id="62" name="对象 6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803310" y="5596424"/>
                        <a:ext cx="2921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4" name="对象 63">
            <a:extLst>
              <a:ext uri="{FF2B5EF4-FFF2-40B4-BE49-F238E27FC236}">
                <a16:creationId xmlns:a16="http://schemas.microsoft.com/office/drawing/2014/main" id="{BF73BCC7-432D-4881-9594-F99251B12B46}"/>
              </a:ext>
            </a:extLst>
          </p:cNvPr>
          <p:cNvGraphicFramePr>
            <a:graphicFrameLocks noChangeAspect="1"/>
          </p:cNvGraphicFramePr>
          <p:nvPr>
            <p:extLst>
              <p:ext uri="{D42A27DB-BD31-4B8C-83A1-F6EECF244321}">
                <p14:modId xmlns:p14="http://schemas.microsoft.com/office/powerpoint/2010/main" val="1052296855"/>
              </p:ext>
            </p:extLst>
          </p:nvPr>
        </p:nvGraphicFramePr>
        <p:xfrm>
          <a:off x="5711131" y="5592918"/>
          <a:ext cx="266700" cy="444500"/>
        </p:xfrm>
        <a:graphic>
          <a:graphicData uri="http://schemas.openxmlformats.org/presentationml/2006/ole">
            <mc:AlternateContent xmlns:mc="http://schemas.openxmlformats.org/markup-compatibility/2006">
              <mc:Choice xmlns:v="urn:schemas-microsoft-com:vml" Requires="v">
                <p:oleObj name="Equation" r:id="rId29" imgW="266469" imgH="444114" progId="Equation.DSMT4">
                  <p:embed/>
                </p:oleObj>
              </mc:Choice>
              <mc:Fallback>
                <p:oleObj name="Equation" r:id="rId29" imgW="266469" imgH="444114" progId="Equation.DSMT4">
                  <p:embed/>
                  <p:pic>
                    <p:nvPicPr>
                      <p:cNvPr id="49" name="对象 4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11131" y="5592918"/>
                        <a:ext cx="266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4">
            <a:extLst>
              <a:ext uri="{FF2B5EF4-FFF2-40B4-BE49-F238E27FC236}">
                <a16:creationId xmlns:a16="http://schemas.microsoft.com/office/drawing/2014/main" id="{D7AF90F8-27E3-4DD9-997B-3C4C8958EAF8}"/>
              </a:ext>
            </a:extLst>
          </p:cNvPr>
          <p:cNvGraphicFramePr>
            <a:graphicFrameLocks noChangeAspect="1"/>
          </p:cNvGraphicFramePr>
          <p:nvPr>
            <p:extLst>
              <p:ext uri="{D42A27DB-BD31-4B8C-83A1-F6EECF244321}">
                <p14:modId xmlns:p14="http://schemas.microsoft.com/office/powerpoint/2010/main" val="2137731014"/>
              </p:ext>
            </p:extLst>
          </p:nvPr>
        </p:nvGraphicFramePr>
        <p:xfrm>
          <a:off x="6631386" y="5594277"/>
          <a:ext cx="292100" cy="444500"/>
        </p:xfrm>
        <a:graphic>
          <a:graphicData uri="http://schemas.openxmlformats.org/presentationml/2006/ole">
            <mc:AlternateContent xmlns:mc="http://schemas.openxmlformats.org/markup-compatibility/2006">
              <mc:Choice xmlns:v="urn:schemas-microsoft-com:vml" Requires="v">
                <p:oleObj name="Equation" r:id="rId30" imgW="291973" imgH="444307" progId="Equation.DSMT4">
                  <p:embed/>
                </p:oleObj>
              </mc:Choice>
              <mc:Fallback>
                <p:oleObj name="Equation" r:id="rId30" imgW="291973" imgH="444307" progId="Equation.DSMT4">
                  <p:embed/>
                  <p:pic>
                    <p:nvPicPr>
                      <p:cNvPr id="56" name="Object 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631386" y="5594277"/>
                        <a:ext cx="2921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 name="椭圆 65">
            <a:extLst>
              <a:ext uri="{FF2B5EF4-FFF2-40B4-BE49-F238E27FC236}">
                <a16:creationId xmlns:a16="http://schemas.microsoft.com/office/drawing/2014/main" id="{C3DB3AA5-F124-46E9-97A7-76B28C7E0DC5}"/>
              </a:ext>
            </a:extLst>
          </p:cNvPr>
          <p:cNvSpPr/>
          <p:nvPr/>
        </p:nvSpPr>
        <p:spPr>
          <a:xfrm>
            <a:off x="9042718" y="4446598"/>
            <a:ext cx="417705" cy="417705"/>
          </a:xfrm>
          <a:prstGeom prst="ellipse">
            <a:avLst/>
          </a:prstGeom>
          <a:solidFill>
            <a:srgbClr val="0070C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67" name="对象 66">
            <a:extLst>
              <a:ext uri="{FF2B5EF4-FFF2-40B4-BE49-F238E27FC236}">
                <a16:creationId xmlns:a16="http://schemas.microsoft.com/office/drawing/2014/main" id="{E3C1F180-51C0-4F69-8E91-B49476976507}"/>
              </a:ext>
            </a:extLst>
          </p:cNvPr>
          <p:cNvGraphicFramePr>
            <a:graphicFrameLocks noChangeAspect="1"/>
          </p:cNvGraphicFramePr>
          <p:nvPr>
            <p:extLst>
              <p:ext uri="{D42A27DB-BD31-4B8C-83A1-F6EECF244321}">
                <p14:modId xmlns:p14="http://schemas.microsoft.com/office/powerpoint/2010/main" val="1608117978"/>
              </p:ext>
            </p:extLst>
          </p:nvPr>
        </p:nvGraphicFramePr>
        <p:xfrm>
          <a:off x="9095893" y="4425980"/>
          <a:ext cx="266700" cy="444500"/>
        </p:xfrm>
        <a:graphic>
          <a:graphicData uri="http://schemas.openxmlformats.org/presentationml/2006/ole">
            <mc:AlternateContent xmlns:mc="http://schemas.openxmlformats.org/markup-compatibility/2006">
              <mc:Choice xmlns:v="urn:schemas-microsoft-com:vml" Requires="v">
                <p:oleObj name="Equation" r:id="rId32" imgW="266469" imgH="444114" progId="Equation.DSMT4">
                  <p:embed/>
                </p:oleObj>
              </mc:Choice>
              <mc:Fallback>
                <p:oleObj name="Equation" r:id="rId32" imgW="266469" imgH="444114" progId="Equation.DSMT4">
                  <p:embed/>
                  <p:pic>
                    <p:nvPicPr>
                      <p:cNvPr id="55" name="对象 5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95893" y="4425980"/>
                        <a:ext cx="266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 name="椭圆 67">
            <a:extLst>
              <a:ext uri="{FF2B5EF4-FFF2-40B4-BE49-F238E27FC236}">
                <a16:creationId xmlns:a16="http://schemas.microsoft.com/office/drawing/2014/main" id="{58A5E5F5-6B28-4E47-BA8D-0387AB9315A9}"/>
              </a:ext>
            </a:extLst>
          </p:cNvPr>
          <p:cNvSpPr/>
          <p:nvPr/>
        </p:nvSpPr>
        <p:spPr>
          <a:xfrm>
            <a:off x="10382633" y="5551120"/>
            <a:ext cx="417705" cy="417705"/>
          </a:xfrm>
          <a:prstGeom prst="ellipse">
            <a:avLst/>
          </a:prstGeom>
          <a:solidFill>
            <a:srgbClr val="0070C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69" name="Object 4">
            <a:extLst>
              <a:ext uri="{FF2B5EF4-FFF2-40B4-BE49-F238E27FC236}">
                <a16:creationId xmlns:a16="http://schemas.microsoft.com/office/drawing/2014/main" id="{76C62D2A-B44C-4DBD-9F08-5837865E94D2}"/>
              </a:ext>
            </a:extLst>
          </p:cNvPr>
          <p:cNvGraphicFramePr>
            <a:graphicFrameLocks noChangeAspect="1"/>
          </p:cNvGraphicFramePr>
          <p:nvPr>
            <p:extLst>
              <p:ext uri="{D42A27DB-BD31-4B8C-83A1-F6EECF244321}">
                <p14:modId xmlns:p14="http://schemas.microsoft.com/office/powerpoint/2010/main" val="3033613150"/>
              </p:ext>
            </p:extLst>
          </p:nvPr>
        </p:nvGraphicFramePr>
        <p:xfrm>
          <a:off x="10442393" y="5513024"/>
          <a:ext cx="292100" cy="444500"/>
        </p:xfrm>
        <a:graphic>
          <a:graphicData uri="http://schemas.openxmlformats.org/presentationml/2006/ole">
            <mc:AlternateContent xmlns:mc="http://schemas.openxmlformats.org/markup-compatibility/2006">
              <mc:Choice xmlns:v="urn:schemas-microsoft-com:vml" Requires="v">
                <p:oleObj name="Equation" r:id="rId33" imgW="291973" imgH="444307" progId="Equation.DSMT4">
                  <p:embed/>
                </p:oleObj>
              </mc:Choice>
              <mc:Fallback>
                <p:oleObj name="Equation" r:id="rId33" imgW="291973" imgH="444307" progId="Equation.DSMT4">
                  <p:embed/>
                  <p:pic>
                    <p:nvPicPr>
                      <p:cNvPr id="38" name="Object 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0442393" y="5513024"/>
                        <a:ext cx="2921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 name="椭圆 69">
            <a:extLst>
              <a:ext uri="{FF2B5EF4-FFF2-40B4-BE49-F238E27FC236}">
                <a16:creationId xmlns:a16="http://schemas.microsoft.com/office/drawing/2014/main" id="{1CF28A23-0B69-432E-AE27-8856C6DB86FD}"/>
              </a:ext>
            </a:extLst>
          </p:cNvPr>
          <p:cNvSpPr/>
          <p:nvPr/>
        </p:nvSpPr>
        <p:spPr>
          <a:xfrm>
            <a:off x="3764549" y="4174994"/>
            <a:ext cx="417705" cy="417705"/>
          </a:xfrm>
          <a:prstGeom prst="ellipse">
            <a:avLst/>
          </a:prstGeom>
          <a:solidFill>
            <a:srgbClr val="0070C0"/>
          </a:solidFill>
        </p:spPr>
        <p:style>
          <a:lnRef idx="0">
            <a:schemeClr val="accent4"/>
          </a:lnRef>
          <a:fillRef idx="3">
            <a:schemeClr val="accent4"/>
          </a:fillRef>
          <a:effectRef idx="3">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500" dirty="0"/>
          </a:p>
        </p:txBody>
      </p:sp>
      <p:graphicFrame>
        <p:nvGraphicFramePr>
          <p:cNvPr id="71" name="对象 70">
            <a:extLst>
              <a:ext uri="{FF2B5EF4-FFF2-40B4-BE49-F238E27FC236}">
                <a16:creationId xmlns:a16="http://schemas.microsoft.com/office/drawing/2014/main" id="{83A6292E-68E1-4F06-8BA0-BBED10E957C3}"/>
              </a:ext>
            </a:extLst>
          </p:cNvPr>
          <p:cNvGraphicFramePr>
            <a:graphicFrameLocks noChangeAspect="1"/>
          </p:cNvGraphicFramePr>
          <p:nvPr>
            <p:extLst>
              <p:ext uri="{D42A27DB-BD31-4B8C-83A1-F6EECF244321}">
                <p14:modId xmlns:p14="http://schemas.microsoft.com/office/powerpoint/2010/main" val="3369291280"/>
              </p:ext>
            </p:extLst>
          </p:nvPr>
        </p:nvGraphicFramePr>
        <p:xfrm>
          <a:off x="4814974" y="3737551"/>
          <a:ext cx="266700" cy="444500"/>
        </p:xfrm>
        <a:graphic>
          <a:graphicData uri="http://schemas.openxmlformats.org/presentationml/2006/ole">
            <mc:AlternateContent xmlns:mc="http://schemas.openxmlformats.org/markup-compatibility/2006">
              <mc:Choice xmlns:v="urn:schemas-microsoft-com:vml" Requires="v">
                <p:oleObj name="Equation" r:id="rId34" imgW="266469" imgH="444114" progId="Equation.DSMT4">
                  <p:embed/>
                </p:oleObj>
              </mc:Choice>
              <mc:Fallback>
                <p:oleObj name="Equation" r:id="rId34" imgW="266469" imgH="444114" progId="Equation.DSMT4">
                  <p:embed/>
                  <p:pic>
                    <p:nvPicPr>
                      <p:cNvPr id="18" name="对象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14974" y="3737551"/>
                        <a:ext cx="2667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2" name="直接连接符 71">
            <a:extLst>
              <a:ext uri="{FF2B5EF4-FFF2-40B4-BE49-F238E27FC236}">
                <a16:creationId xmlns:a16="http://schemas.microsoft.com/office/drawing/2014/main" id="{596A19BE-D776-4BF9-9277-DE56BF3A3A58}"/>
              </a:ext>
            </a:extLst>
          </p:cNvPr>
          <p:cNvCxnSpPr>
            <a:cxnSpLocks/>
          </p:cNvCxnSpPr>
          <p:nvPr/>
        </p:nvCxnSpPr>
        <p:spPr>
          <a:xfrm flipH="1">
            <a:off x="9450996" y="4389156"/>
            <a:ext cx="1042340" cy="256868"/>
          </a:xfrm>
          <a:prstGeom prst="line">
            <a:avLst/>
          </a:prstGeom>
          <a:ln w="57150">
            <a:solidFill>
              <a:srgbClr val="FF0000"/>
            </a:solidFill>
          </a:ln>
        </p:spPr>
        <p:style>
          <a:lnRef idx="3">
            <a:schemeClr val="accent5"/>
          </a:lnRef>
          <a:fillRef idx="0">
            <a:schemeClr val="accent5"/>
          </a:fillRef>
          <a:effectRef idx="2">
            <a:schemeClr val="accent5"/>
          </a:effectRef>
          <a:fontRef idx="minor">
            <a:schemeClr val="tx1"/>
          </a:fontRef>
        </p:style>
      </p:cxnSp>
      <p:graphicFrame>
        <p:nvGraphicFramePr>
          <p:cNvPr id="73" name="对象 72">
            <a:extLst>
              <a:ext uri="{FF2B5EF4-FFF2-40B4-BE49-F238E27FC236}">
                <a16:creationId xmlns:a16="http://schemas.microsoft.com/office/drawing/2014/main" id="{0D68012A-955A-4328-8D71-2140D535D70D}"/>
              </a:ext>
            </a:extLst>
          </p:cNvPr>
          <p:cNvGraphicFramePr>
            <a:graphicFrameLocks noChangeAspect="1"/>
          </p:cNvGraphicFramePr>
          <p:nvPr>
            <p:extLst>
              <p:ext uri="{D42A27DB-BD31-4B8C-83A1-F6EECF244321}">
                <p14:modId xmlns:p14="http://schemas.microsoft.com/office/powerpoint/2010/main" val="2402710910"/>
              </p:ext>
            </p:extLst>
          </p:nvPr>
        </p:nvGraphicFramePr>
        <p:xfrm>
          <a:off x="3807947" y="4154974"/>
          <a:ext cx="304800" cy="444500"/>
        </p:xfrm>
        <a:graphic>
          <a:graphicData uri="http://schemas.openxmlformats.org/presentationml/2006/ole">
            <mc:AlternateContent xmlns:mc="http://schemas.openxmlformats.org/markup-compatibility/2006">
              <mc:Choice xmlns:v="urn:schemas-microsoft-com:vml" Requires="v">
                <p:oleObj name="Equation" r:id="rId35" imgW="304536" imgH="444114" progId="Equation.DSMT4">
                  <p:embed/>
                </p:oleObj>
              </mc:Choice>
              <mc:Fallback>
                <p:oleObj name="Equation" r:id="rId35" imgW="304536" imgH="444114" progId="Equation.DSMT4">
                  <p:embed/>
                  <p:pic>
                    <p:nvPicPr>
                      <p:cNvPr id="23" name="对象 2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807947" y="4154974"/>
                        <a:ext cx="3048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DDE6A128-9035-475F-88DF-12606F284A3E}"/>
                  </a:ext>
                </a:extLst>
              </p:cNvPr>
              <p:cNvSpPr txBox="1"/>
              <p:nvPr/>
            </p:nvSpPr>
            <p:spPr>
              <a:xfrm>
                <a:off x="8849962" y="3672665"/>
                <a:ext cx="61863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𝑒</m:t>
                          </m:r>
                        </m:e>
                        <m:sub>
                          <m:r>
                            <a:rPr lang="en-US" altLang="zh-CN" sz="2800" b="0" i="1" smtClean="0">
                              <a:latin typeface="Cambria Math" panose="02040503050406030204" pitchFamily="18" charset="0"/>
                            </a:rPr>
                            <m:t>4</m:t>
                          </m:r>
                        </m:sub>
                      </m:sSub>
                    </m:oMath>
                  </m:oMathPara>
                </a14:m>
                <a:endParaRPr lang="zh-CN" altLang="en-US" sz="2800" dirty="0"/>
              </a:p>
            </p:txBody>
          </p:sp>
        </mc:Choice>
        <mc:Fallback xmlns="">
          <p:sp>
            <p:nvSpPr>
              <p:cNvPr id="83" name="文本框 82">
                <a:extLst>
                  <a:ext uri="{FF2B5EF4-FFF2-40B4-BE49-F238E27FC236}">
                    <a16:creationId xmlns:a16="http://schemas.microsoft.com/office/drawing/2014/main" id="{DDE6A128-9035-475F-88DF-12606F284A3E}"/>
                  </a:ext>
                </a:extLst>
              </p:cNvPr>
              <p:cNvSpPr txBox="1">
                <a:spLocks noRot="1" noChangeAspect="1" noMove="1" noResize="1" noEditPoints="1" noAdjustHandles="1" noChangeArrowheads="1" noChangeShapeType="1" noTextEdit="1"/>
              </p:cNvSpPr>
              <p:nvPr/>
            </p:nvSpPr>
            <p:spPr>
              <a:xfrm>
                <a:off x="8849962" y="3672665"/>
                <a:ext cx="618631" cy="523220"/>
              </a:xfrm>
              <a:prstGeom prst="rect">
                <a:avLst/>
              </a:prstGeom>
              <a:blipFill>
                <a:blip r:embed="rId3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3B233495-380D-45E4-8195-92B086385AFF}"/>
                  </a:ext>
                </a:extLst>
              </p:cNvPr>
              <p:cNvSpPr txBox="1"/>
              <p:nvPr/>
            </p:nvSpPr>
            <p:spPr>
              <a:xfrm>
                <a:off x="3752080" y="3770095"/>
                <a:ext cx="45377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𝑢</m:t>
                      </m:r>
                    </m:oMath>
                  </m:oMathPara>
                </a14:m>
                <a:endParaRPr lang="zh-CN" altLang="en-US" sz="1600" dirty="0"/>
              </a:p>
            </p:txBody>
          </p:sp>
        </mc:Choice>
        <mc:Fallback xmlns="">
          <p:sp>
            <p:nvSpPr>
              <p:cNvPr id="84" name="文本框 83">
                <a:extLst>
                  <a:ext uri="{FF2B5EF4-FFF2-40B4-BE49-F238E27FC236}">
                    <a16:creationId xmlns:a16="http://schemas.microsoft.com/office/drawing/2014/main" id="{3B233495-380D-45E4-8195-92B086385AFF}"/>
                  </a:ext>
                </a:extLst>
              </p:cNvPr>
              <p:cNvSpPr txBox="1">
                <a:spLocks noRot="1" noChangeAspect="1" noMove="1" noResize="1" noEditPoints="1" noAdjustHandles="1" noChangeArrowheads="1" noChangeShapeType="1" noTextEdit="1"/>
              </p:cNvSpPr>
              <p:nvPr/>
            </p:nvSpPr>
            <p:spPr>
              <a:xfrm>
                <a:off x="3752080" y="3770095"/>
                <a:ext cx="453778" cy="461665"/>
              </a:xfrm>
              <a:prstGeom prst="rect">
                <a:avLst/>
              </a:prstGeom>
              <a:blipFill>
                <a:blip r:embed="rId3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3864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内部图</a:t>
            </a:r>
          </a:p>
        </p:txBody>
      </p:sp>
      <p:sp>
        <p:nvSpPr>
          <p:cNvPr id="3" name="内容占位符 2"/>
          <p:cNvSpPr>
            <a:spLocks noGrp="1"/>
          </p:cNvSpPr>
          <p:nvPr>
            <p:ph idx="1"/>
          </p:nvPr>
        </p:nvSpPr>
        <p:spPr/>
        <p:txBody>
          <a:bodyPr/>
          <a:lstStyle/>
          <a:p>
            <a:r>
              <a:rPr lang="zh-CN" altLang="en-US" dirty="0"/>
              <a:t>利用这个性质我们可以更加透彻地分析上述的 </a:t>
            </a:r>
            <a:r>
              <a:rPr lang="en-US" altLang="zh-CN" dirty="0"/>
              <a:t>DP</a:t>
            </a:r>
            <a:r>
              <a:rPr lang="zh-CN" altLang="en-US" dirty="0"/>
              <a:t>，并且能解决许多新的问题。</a:t>
            </a:r>
            <a:endParaRPr lang="en-US" altLang="zh-CN" dirty="0"/>
          </a:p>
          <a:p>
            <a:r>
              <a:rPr lang="zh-CN" altLang="en-US" dirty="0"/>
              <a:t>以下举几个例子：</a:t>
            </a:r>
          </a:p>
          <a:p>
            <a:endParaRPr lang="zh-CN" altLang="en-US" dirty="0"/>
          </a:p>
        </p:txBody>
      </p:sp>
    </p:spTree>
    <p:extLst>
      <p:ext uri="{BB962C8B-B14F-4D97-AF65-F5344CB8AC3E}">
        <p14:creationId xmlns:p14="http://schemas.microsoft.com/office/powerpoint/2010/main" val="3236865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85B13E-008D-4CE3-A78D-2483578E3336}"/>
              </a:ext>
            </a:extLst>
          </p:cNvPr>
          <p:cNvSpPr>
            <a:spLocks noGrp="1"/>
          </p:cNvSpPr>
          <p:nvPr>
            <p:ph type="title"/>
          </p:nvPr>
        </p:nvSpPr>
        <p:spPr/>
        <p:txBody>
          <a:bodyPr/>
          <a:lstStyle/>
          <a:p>
            <a:r>
              <a:rPr lang="zh-CN" altLang="en-US" dirty="0"/>
              <a:t>广义串并联图最长简单路径（较复杂</a:t>
            </a:r>
            <a:r>
              <a:rPr lang="en-US" altLang="zh-CN" dirty="0"/>
              <a:t>DP</a:t>
            </a:r>
            <a:r>
              <a:rPr lang="zh-CN" altLang="en-US" dirty="0"/>
              <a:t>）</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D7FF724E-ED73-4AA3-9CFE-DBB1B458FB6F}"/>
                  </a:ext>
                </a:extLst>
              </p:cNvPr>
              <p:cNvSpPr>
                <a:spLocks noGrp="1"/>
              </p:cNvSpPr>
              <p:nvPr>
                <p:ph idx="1"/>
              </p:nvPr>
            </p:nvSpPr>
            <p:spPr/>
            <p:txBody>
              <a:bodyPr/>
              <a:lstStyle/>
              <a:p>
                <a14:m>
                  <m:oMath xmlns:m="http://schemas.openxmlformats.org/officeDocument/2006/math">
                    <m:r>
                      <a:rPr lang="en-US" altLang="zh-CN" b="0" i="1" smtClean="0">
                        <a:latin typeface="Cambria Math" panose="02040503050406030204" pitchFamily="18" charset="0"/>
                      </a:rPr>
                      <m:t>𝑛</m:t>
                    </m:r>
                  </m:oMath>
                </a14:m>
                <a:r>
                  <a:rPr lang="zh-CN" altLang="en-US" dirty="0"/>
                  <a:t> 个点、</a:t>
                </a:r>
                <a14:m>
                  <m:oMath xmlns:m="http://schemas.openxmlformats.org/officeDocument/2006/math">
                    <m:r>
                      <a:rPr lang="en-US" altLang="zh-CN" b="0" i="1" smtClean="0">
                        <a:latin typeface="Cambria Math" panose="02040503050406030204" pitchFamily="18" charset="0"/>
                      </a:rPr>
                      <m:t>𝑚</m:t>
                    </m:r>
                  </m:oMath>
                </a14:m>
                <a:r>
                  <a:rPr lang="zh-CN" altLang="en-US" dirty="0"/>
                  <a:t> 条边的简单广义串并联图</a:t>
                </a:r>
                <a:endParaRPr lang="en-US" altLang="zh-CN" b="0" dirty="0"/>
              </a:p>
              <a:p>
                <a:r>
                  <a:rPr lang="zh-CN" altLang="en-US" dirty="0"/>
                  <a:t>边有长度，不超过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9</m:t>
                        </m:r>
                      </m:sup>
                    </m:sSup>
                    <m:r>
                      <a:rPr lang="en-US" altLang="zh-CN" i="1">
                        <a:latin typeface="Cambria Math"/>
                      </a:rPr>
                      <m:t> </m:t>
                    </m:r>
                  </m:oMath>
                </a14:m>
                <a:endParaRPr lang="en-US" altLang="zh-CN" dirty="0"/>
              </a:p>
              <a:p>
                <a:r>
                  <a:rPr lang="zh-CN" altLang="en-US" dirty="0"/>
                  <a:t>求图中最长的简单路径。</a:t>
                </a:r>
                <a:endParaRPr lang="en-US" altLang="zh-CN" i="1" dirty="0">
                  <a:latin typeface="Cambria Math"/>
                </a:endParaRPr>
              </a:p>
              <a:p>
                <a14:m>
                  <m:oMath xmlns:m="http://schemas.openxmlformats.org/officeDocument/2006/math">
                    <m:r>
                      <a:rPr lang="en-US" altLang="zh-CN" b="0" i="1" smtClean="0">
                        <a:latin typeface="Cambria Math"/>
                      </a:rPr>
                      <m:t>𝑛</m:t>
                    </m:r>
                    <m:r>
                      <a:rPr lang="en-US" altLang="zh-CN" b="0" i="1" smtClean="0">
                        <a:latin typeface="Cambria Math"/>
                      </a:rPr>
                      <m:t>,</m:t>
                    </m:r>
                    <m:r>
                      <a:rPr lang="en-US" altLang="zh-CN" b="0" i="1" smtClean="0">
                        <a:latin typeface="Cambria Math"/>
                      </a:rPr>
                      <m:t>𝑚</m:t>
                    </m:r>
                    <m:r>
                      <a:rPr lang="en-US" altLang="zh-CN" b="0" i="1" smtClean="0">
                        <a:latin typeface="Cambria Math"/>
                        <a:ea typeface="Cambria Math"/>
                      </a:rPr>
                      <m:t>≤</m:t>
                    </m:r>
                    <m:sSup>
                      <m:sSupPr>
                        <m:ctrlPr>
                          <a:rPr lang="en-US" altLang="zh-CN" b="0" i="1" smtClean="0">
                            <a:latin typeface="Cambria Math" panose="02040503050406030204" pitchFamily="18" charset="0"/>
                            <a:ea typeface="Cambria Math"/>
                          </a:rPr>
                        </m:ctrlPr>
                      </m:sSupPr>
                      <m:e>
                        <m:r>
                          <a:rPr lang="en-US" altLang="zh-CN" b="0" i="1" smtClean="0">
                            <a:latin typeface="Cambria Math"/>
                            <a:ea typeface="Cambria Math"/>
                          </a:rPr>
                          <m:t>10</m:t>
                        </m:r>
                      </m:e>
                      <m:sup>
                        <m:r>
                          <a:rPr lang="en-US" altLang="zh-CN" b="0" i="1" smtClean="0">
                            <a:latin typeface="Cambria Math"/>
                            <a:ea typeface="Cambria Math"/>
                          </a:rPr>
                          <m:t>5</m:t>
                        </m:r>
                      </m:sup>
                    </m:sSup>
                  </m:oMath>
                </a14:m>
                <a:endParaRPr lang="en-US" altLang="zh-CN" dirty="0"/>
              </a:p>
            </p:txBody>
          </p:sp>
        </mc:Choice>
        <mc:Fallback xmlns="">
          <p:sp>
            <p:nvSpPr>
              <p:cNvPr id="5" name="内容占位符 4">
                <a:extLst>
                  <a:ext uri="{FF2B5EF4-FFF2-40B4-BE49-F238E27FC236}">
                    <a16:creationId xmlns:a16="http://schemas.microsoft.com/office/drawing/2014/main" xmlns:a14="http://schemas.microsoft.com/office/drawing/2010/main" xmlns="" id="{D7FF724E-ED73-4AA3-9CFE-DBB1B458FB6F}"/>
                  </a:ext>
                </a:extLst>
              </p:cNvPr>
              <p:cNvSpPr>
                <a:spLocks noGrp="1" noRot="1" noChangeAspect="1" noMove="1" noResize="1" noEditPoints="1" noAdjustHandles="1" noChangeArrowheads="1" noChangeShapeType="1" noTextEdit="1"/>
              </p:cNvSpPr>
              <p:nvPr>
                <p:ph idx="1"/>
              </p:nvPr>
            </p:nvSpPr>
            <p:spPr>
              <a:blipFill rotWithShape="1">
                <a:blip r:embed="rId2"/>
                <a:stretch>
                  <a:fillRect l="-479" t="-11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5133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考虑对于串并联树上结点 </a:t>
                </a:r>
                <a14:m>
                  <m:oMath xmlns:m="http://schemas.openxmlformats.org/officeDocument/2006/math">
                    <m:r>
                      <a:rPr lang="en-US" altLang="zh-CN" b="0" i="1" smtClean="0">
                        <a:latin typeface="Cambria Math"/>
                      </a:rPr>
                      <m:t>𝑢</m:t>
                    </m:r>
                  </m:oMath>
                </a14:m>
                <a:r>
                  <a:rPr lang="zh-CN" altLang="en-US" dirty="0"/>
                  <a:t>，考虑计算仅保留其内部图后的信息</a:t>
                </a:r>
                <a:endParaRPr lang="en-US" altLang="zh-CN" dirty="0"/>
              </a:p>
              <a:p>
                <a:r>
                  <a:rPr lang="zh-CN" altLang="en-US" dirty="0"/>
                  <a:t>以下状态均为仅保留点 </a:t>
                </a:r>
                <a14:m>
                  <m:oMath xmlns:m="http://schemas.openxmlformats.org/officeDocument/2006/math">
                    <m:r>
                      <a:rPr lang="en-US" altLang="zh-CN" i="1">
                        <a:latin typeface="Cambria Math"/>
                      </a:rPr>
                      <m:t>𝑢</m:t>
                    </m:r>
                  </m:oMath>
                </a14:m>
                <a:r>
                  <a:rPr lang="zh-CN" altLang="en-US" dirty="0"/>
                  <a:t> 内部图后考虑的状态</a:t>
                </a:r>
                <a:endParaRPr lang="en-US" altLang="zh-CN" dirty="0"/>
              </a:p>
              <a:p>
                <a:r>
                  <a:rPr lang="zh-CN" altLang="en-US" dirty="0"/>
                  <a:t>对于点型单元，</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𝑢</m:t>
                        </m:r>
                      </m:sub>
                    </m:sSub>
                  </m:oMath>
                </a14:m>
                <a:r>
                  <a:rPr lang="en-US" altLang="zh-CN" dirty="0"/>
                  <a:t> </a:t>
                </a:r>
                <a:r>
                  <a:rPr lang="zh-CN" altLang="en-US" dirty="0"/>
                  <a:t>表示从端点出发的简单路径最大长度</a:t>
                </a:r>
                <a:endParaRPr lang="en-US" altLang="zh-CN" dirty="0"/>
              </a:p>
              <a:p>
                <a:r>
                  <a:rPr lang="zh-CN" altLang="en-US" dirty="0"/>
                  <a:t>对于边型单元：</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𝑓</m:t>
                        </m:r>
                      </m:e>
                      <m:sub>
                        <m:r>
                          <a:rPr lang="en-US" altLang="zh-CN" b="0" i="1" smtClean="0">
                            <a:latin typeface="Cambria Math"/>
                          </a:rPr>
                          <m:t>𝑢</m:t>
                        </m:r>
                        <m:r>
                          <a:rPr lang="en-US" altLang="zh-CN" b="0" i="1" smtClean="0">
                            <a:latin typeface="Cambria Math"/>
                          </a:rPr>
                          <m:t>,</m:t>
                        </m:r>
                        <m:r>
                          <a:rPr lang="en-US" altLang="zh-CN" b="0" i="1" smtClean="0">
                            <a:latin typeface="Cambria Math"/>
                          </a:rPr>
                          <m:t>𝑖</m:t>
                        </m:r>
                      </m:sub>
                    </m:sSub>
                  </m:oMath>
                </a14:m>
                <a:r>
                  <a:rPr lang="zh-CN" altLang="en-US" dirty="0"/>
                  <a:t>：从第 </a:t>
                </a:r>
                <a14:m>
                  <m:oMath xmlns:m="http://schemas.openxmlformats.org/officeDocument/2006/math">
                    <m:r>
                      <a:rPr lang="en-US" altLang="zh-CN" b="0" i="1" smtClean="0">
                        <a:latin typeface="Cambria Math"/>
                      </a:rPr>
                      <m:t>𝑖</m:t>
                    </m:r>
                  </m:oMath>
                </a14:m>
                <a:r>
                  <a:rPr lang="zh-CN" altLang="en-US" dirty="0"/>
                  <a:t> 个端点出发的简单路径最大长度</a:t>
                </a:r>
                <a:endParaRPr lang="en-US" altLang="zh-CN" dirty="0"/>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𝑔</m:t>
                        </m:r>
                      </m:e>
                      <m:sub>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𝑖</m:t>
                        </m:r>
                      </m:sub>
                    </m:sSub>
                  </m:oMath>
                </a14:m>
                <a:r>
                  <a:rPr lang="zh-CN" altLang="en-US" dirty="0"/>
                  <a:t>：从第</a:t>
                </a:r>
                <a:r>
                  <a:rPr lang="en-US" altLang="zh-CN" dirty="0"/>
                  <a:t> </a:t>
                </a:r>
                <a14:m>
                  <m:oMath xmlns:m="http://schemas.openxmlformats.org/officeDocument/2006/math">
                    <m:r>
                      <a:rPr lang="en-US" altLang="zh-CN" b="0" i="1" smtClean="0">
                        <a:latin typeface="Cambria Math" panose="02040503050406030204" pitchFamily="18" charset="0"/>
                      </a:rPr>
                      <m:t>𝑖</m:t>
                    </m:r>
                  </m:oMath>
                </a14:m>
                <a:r>
                  <a:rPr lang="zh-CN" altLang="en-US" dirty="0"/>
                  <a:t> 个端点出发且不经过另一个端点的简单路径最大长度</a:t>
                </a:r>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h</m:t>
                        </m:r>
                      </m:e>
                      <m:sub>
                        <m:r>
                          <a:rPr lang="en-US" altLang="zh-CN" i="1">
                            <a:latin typeface="Cambria Math"/>
                          </a:rPr>
                          <m:t>𝑢</m:t>
                        </m:r>
                      </m:sub>
                    </m:sSub>
                  </m:oMath>
                </a14:m>
                <a:r>
                  <a:rPr lang="zh-CN" altLang="en-US" dirty="0"/>
                  <a:t>：从其中一个端点出发，另一个端点结束的简单路径最大长度</a:t>
                </a:r>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i="1">
                            <a:latin typeface="Cambria Math"/>
                          </a:rPr>
                          <m:t>𝑢</m:t>
                        </m:r>
                      </m:sub>
                    </m:sSub>
                  </m:oMath>
                </a14:m>
                <a:r>
                  <a:rPr lang="zh-CN" altLang="en-US" dirty="0"/>
                  <a:t>：从两个端点分别出发，点不相交的简单路径对的最大长度和</a:t>
                </a:r>
                <a:endParaRPr lang="en-US" altLang="zh-CN" dirty="0"/>
              </a:p>
              <a:p>
                <a:r>
                  <a:rPr lang="zh-CN" altLang="en-US" dirty="0"/>
                  <a:t>利用上述状态即可进行转移并在转移过程中贡献出答案</a:t>
                </a:r>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5140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广义串并联图最短路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a:rPr lang="en-US" altLang="zh-CN" i="1" smtClean="0">
                        <a:latin typeface="Cambria Math" panose="02040503050406030204" pitchFamily="18" charset="0"/>
                      </a:rPr>
                      <m:t>𝑛</m:t>
                    </m:r>
                  </m:oMath>
                </a14:m>
                <a:r>
                  <a:rPr lang="zh-CN" altLang="en-US" dirty="0"/>
                  <a:t> 个点、</a:t>
                </a:r>
                <a14:m>
                  <m:oMath xmlns:m="http://schemas.openxmlformats.org/officeDocument/2006/math">
                    <m:r>
                      <a:rPr lang="en-US" altLang="zh-CN" i="1">
                        <a:latin typeface="Cambria Math" panose="02040503050406030204" pitchFamily="18" charset="0"/>
                      </a:rPr>
                      <m:t>𝑚</m:t>
                    </m:r>
                  </m:oMath>
                </a14:m>
                <a:r>
                  <a:rPr lang="zh-CN" altLang="en-US" dirty="0"/>
                  <a:t> 条边的简单广义串并联图</a:t>
                </a:r>
                <a:endParaRPr lang="en-US" altLang="zh-CN" dirty="0"/>
              </a:p>
              <a:p>
                <a:r>
                  <a:rPr lang="zh-CN" altLang="en-US" dirty="0"/>
                  <a:t>边有长度，不超过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9</m:t>
                        </m:r>
                      </m:sup>
                    </m:sSup>
                    <m:r>
                      <a:rPr lang="en-US" altLang="zh-CN" i="1">
                        <a:latin typeface="Cambria Math"/>
                      </a:rPr>
                      <m:t> </m:t>
                    </m:r>
                  </m:oMath>
                </a14:m>
                <a:endParaRPr lang="en-US" altLang="zh-CN" dirty="0"/>
              </a:p>
              <a:p>
                <a14:m>
                  <m:oMath xmlns:m="http://schemas.openxmlformats.org/officeDocument/2006/math">
                    <m:r>
                      <a:rPr lang="en-US" altLang="zh-CN" i="1">
                        <a:latin typeface="Cambria Math" panose="02040503050406030204" pitchFamily="18" charset="0"/>
                      </a:rPr>
                      <m:t>𝑞</m:t>
                    </m:r>
                  </m:oMath>
                </a14:m>
                <a:r>
                  <a:rPr lang="zh-CN" altLang="en-US" dirty="0"/>
                  <a:t> 组询问，每次询问两个点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𝑥</m:t>
                        </m:r>
                      </m:e>
                      <m:sub>
                        <m:r>
                          <a:rPr lang="en-US" altLang="zh-CN" i="1" dirty="0">
                            <a:latin typeface="Cambria Math"/>
                          </a:rPr>
                          <m:t>1</m:t>
                        </m:r>
                      </m:sub>
                    </m:sSub>
                    <m:r>
                      <a:rPr lang="en-US" altLang="zh-CN" i="1" dirty="0">
                        <a:latin typeface="Cambria Math"/>
                      </a:rPr>
                      <m:t>,</m:t>
                    </m:r>
                    <m:sSub>
                      <m:sSubPr>
                        <m:ctrlPr>
                          <a:rPr lang="en-US" altLang="zh-CN" i="1" dirty="0">
                            <a:latin typeface="Cambria Math" panose="02040503050406030204" pitchFamily="18" charset="0"/>
                          </a:rPr>
                        </m:ctrlPr>
                      </m:sSubPr>
                      <m:e>
                        <m:r>
                          <a:rPr lang="en-US" altLang="zh-CN" i="1" dirty="0">
                            <a:latin typeface="Cambria Math"/>
                          </a:rPr>
                          <m:t>𝑥</m:t>
                        </m:r>
                      </m:e>
                      <m:sub>
                        <m:r>
                          <a:rPr lang="en-US" altLang="zh-CN" i="1" dirty="0">
                            <a:latin typeface="Cambria Math"/>
                          </a:rPr>
                          <m:t>2</m:t>
                        </m:r>
                      </m:sub>
                    </m:sSub>
                  </m:oMath>
                </a14:m>
                <a:r>
                  <a:rPr lang="zh-CN" altLang="en-US" dirty="0"/>
                  <a:t> 之间的最短路长度。</a:t>
                </a:r>
                <a:endParaRPr lang="en-US" altLang="zh-CN" i="1" dirty="0">
                  <a:latin typeface="Cambria Math"/>
                </a:endParaRPr>
              </a:p>
              <a:p>
                <a14:m>
                  <m:oMath xmlns:m="http://schemas.openxmlformats.org/officeDocument/2006/math">
                    <m:r>
                      <a:rPr lang="en-US" altLang="zh-CN" i="1">
                        <a:latin typeface="Cambria Math"/>
                      </a:rPr>
                      <m:t>𝑛</m:t>
                    </m:r>
                    <m:r>
                      <a:rPr lang="en-US" altLang="zh-CN" i="1">
                        <a:latin typeface="Cambria Math"/>
                      </a:rPr>
                      <m:t>,</m:t>
                    </m:r>
                    <m:r>
                      <a:rPr lang="en-US" altLang="zh-CN" b="0" i="1" smtClean="0">
                        <a:latin typeface="Cambria Math"/>
                      </a:rPr>
                      <m:t>𝑞</m:t>
                    </m:r>
                    <m:r>
                      <a:rPr lang="en-US" altLang="zh-CN" b="0" i="1" smtClean="0">
                        <a:latin typeface="Cambria Math"/>
                      </a:rPr>
                      <m:t>,</m:t>
                    </m:r>
                    <m:r>
                      <a:rPr lang="en-US" altLang="zh-CN" i="1">
                        <a:latin typeface="Cambria Math"/>
                      </a:rPr>
                      <m:t>𝑚</m:t>
                    </m:r>
                    <m:r>
                      <a:rPr lang="en-US" altLang="zh-CN" i="1">
                        <a:latin typeface="Cambria Math"/>
                        <a:ea typeface="Cambria Math"/>
                      </a:rPr>
                      <m:t>≤</m:t>
                    </m:r>
                    <m:sSup>
                      <m:sSupPr>
                        <m:ctrlPr>
                          <a:rPr lang="en-US" altLang="zh-CN" i="1">
                            <a:latin typeface="Cambria Math" panose="02040503050406030204" pitchFamily="18" charset="0"/>
                            <a:ea typeface="Cambria Math"/>
                          </a:rPr>
                        </m:ctrlPr>
                      </m:sSupPr>
                      <m:e>
                        <m:r>
                          <a:rPr lang="en-US" altLang="zh-CN" i="1">
                            <a:latin typeface="Cambria Math"/>
                            <a:ea typeface="Cambria Math"/>
                          </a:rPr>
                          <m:t>10</m:t>
                        </m:r>
                      </m:e>
                      <m:sup>
                        <m:r>
                          <a:rPr lang="en-US" altLang="zh-CN" i="1">
                            <a:latin typeface="Cambria Math"/>
                            <a:ea typeface="Cambria Math"/>
                          </a:rPr>
                          <m:t>5</m:t>
                        </m:r>
                      </m:sup>
                    </m:sSup>
                  </m:oMath>
                </a14:m>
                <a:endParaRPr lang="en-US" altLang="zh-CN"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7689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先考虑对应每一对点 </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a:rPr>
                          <m:t>𝑥</m:t>
                        </m:r>
                      </m:e>
                      <m:sub>
                        <m:r>
                          <a:rPr lang="en-US" altLang="zh-CN" b="0" i="1" dirty="0" smtClean="0">
                            <a:latin typeface="Cambria Math"/>
                          </a:rPr>
                          <m:t>1</m:t>
                        </m:r>
                      </m:sub>
                    </m:sSub>
                    <m:r>
                      <a:rPr lang="en-US" altLang="zh-CN" b="0" i="1" dirty="0" smtClean="0">
                        <a:latin typeface="Cambria Math"/>
                      </a:rPr>
                      <m:t>,</m:t>
                    </m:r>
                    <m:sSub>
                      <m:sSubPr>
                        <m:ctrlPr>
                          <a:rPr lang="en-US" altLang="zh-CN" i="1" dirty="0">
                            <a:latin typeface="Cambria Math" panose="02040503050406030204" pitchFamily="18" charset="0"/>
                          </a:rPr>
                        </m:ctrlPr>
                      </m:sSubPr>
                      <m:e>
                        <m:r>
                          <a:rPr lang="en-US" altLang="zh-CN" i="1" dirty="0">
                            <a:latin typeface="Cambria Math"/>
                          </a:rPr>
                          <m:t>𝑥</m:t>
                        </m:r>
                      </m:e>
                      <m:sub>
                        <m:r>
                          <a:rPr lang="en-US" altLang="zh-CN" b="0" i="1" dirty="0" smtClean="0">
                            <a:latin typeface="Cambria Math"/>
                          </a:rPr>
                          <m:t>2</m:t>
                        </m:r>
                      </m:sub>
                    </m:sSub>
                  </m:oMath>
                </a14:m>
                <a:r>
                  <a:rPr lang="zh-CN" altLang="en-US" dirty="0"/>
                  <a:t>，进行一次 </a:t>
                </a:r>
                <a:r>
                  <a:rPr lang="en-US" altLang="zh-CN" dirty="0"/>
                  <a:t>DP </a:t>
                </a:r>
                <a:r>
                  <a:rPr lang="zh-CN" altLang="en-US" dirty="0"/>
                  <a:t>求出其最短路径长度</a:t>
                </a:r>
                <a:endParaRPr lang="en-US" altLang="zh-CN" dirty="0"/>
              </a:p>
              <a:p>
                <a:r>
                  <a:rPr lang="zh-CN" altLang="en-US" dirty="0"/>
                  <a:t>依旧是对应树上结点 </a:t>
                </a:r>
                <a14:m>
                  <m:oMath xmlns:m="http://schemas.openxmlformats.org/officeDocument/2006/math">
                    <m:r>
                      <a:rPr lang="en-US" altLang="zh-CN" b="0" i="1" smtClean="0">
                        <a:latin typeface="Cambria Math"/>
                      </a:rPr>
                      <m:t>𝑢</m:t>
                    </m:r>
                  </m:oMath>
                </a14:m>
                <a:r>
                  <a:rPr lang="zh-CN" altLang="en-US" dirty="0"/>
                  <a:t>，设计内部图对应状态：</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a:rPr>
                          <m:t>𝑓</m:t>
                        </m:r>
                      </m:e>
                      <m:sub>
                        <m:r>
                          <a:rPr lang="en-US" altLang="zh-CN" b="0" i="1" smtClean="0">
                            <a:latin typeface="Cambria Math"/>
                          </a:rPr>
                          <m:t>𝑢</m:t>
                        </m:r>
                        <m:r>
                          <a:rPr lang="en-US" altLang="zh-CN" b="0" i="1" smtClean="0">
                            <a:latin typeface="Cambria Math"/>
                          </a:rPr>
                          <m:t>,</m:t>
                        </m:r>
                        <m:r>
                          <a:rPr lang="en-US" altLang="zh-CN" b="0" i="1" smtClean="0">
                            <a:latin typeface="Cambria Math"/>
                          </a:rPr>
                          <m:t>𝑖</m:t>
                        </m:r>
                        <m:r>
                          <a:rPr lang="en-US" altLang="zh-CN" b="0" i="1" smtClean="0">
                            <a:latin typeface="Cambria Math"/>
                          </a:rPr>
                          <m:t>,</m:t>
                        </m:r>
                        <m:r>
                          <a:rPr lang="en-US" altLang="zh-CN" b="0" i="1" smtClean="0">
                            <a:latin typeface="Cambria Math"/>
                          </a:rPr>
                          <m:t>𝑗</m:t>
                        </m:r>
                      </m:sub>
                    </m:sSub>
                  </m:oMath>
                </a14:m>
                <a:r>
                  <a:rPr lang="zh-CN" altLang="en-US" dirty="0"/>
                  <a:t>：第 </a:t>
                </a:r>
                <a14:m>
                  <m:oMath xmlns:m="http://schemas.openxmlformats.org/officeDocument/2006/math">
                    <m:r>
                      <a:rPr lang="en-US" altLang="zh-CN" b="0" i="1" smtClean="0">
                        <a:latin typeface="Cambria Math"/>
                      </a:rPr>
                      <m:t>𝑖</m:t>
                    </m:r>
                  </m:oMath>
                </a14:m>
                <a:r>
                  <a:rPr lang="zh-CN" altLang="en-US" dirty="0"/>
                  <a:t> 个端点到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𝑥</m:t>
                        </m:r>
                      </m:e>
                      <m:sub>
                        <m:r>
                          <a:rPr lang="en-US" altLang="zh-CN" b="0" i="1" dirty="0" smtClean="0">
                            <a:latin typeface="Cambria Math"/>
                          </a:rPr>
                          <m:t>𝑗</m:t>
                        </m:r>
                      </m:sub>
                    </m:sSub>
                  </m:oMath>
                </a14:m>
                <a:r>
                  <a:rPr lang="zh-CN" altLang="en-US" dirty="0"/>
                  <a:t> 的最短路径长度（若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a:rPr>
                          <m:t>𝑥</m:t>
                        </m:r>
                      </m:e>
                      <m:sub>
                        <m:r>
                          <a:rPr lang="en-US" altLang="zh-CN" i="1" dirty="0">
                            <a:latin typeface="Cambria Math"/>
                          </a:rPr>
                          <m:t>𝑗</m:t>
                        </m:r>
                      </m:sub>
                    </m:sSub>
                  </m:oMath>
                </a14:m>
                <a:r>
                  <a:rPr lang="zh-CN" altLang="en-US" dirty="0"/>
                  <a:t> 不在内部图中则为 </a:t>
                </a:r>
                <a14:m>
                  <m:oMath xmlns:m="http://schemas.openxmlformats.org/officeDocument/2006/math">
                    <m:r>
                      <a:rPr lang="en-US" altLang="zh-CN" b="0" i="1" smtClean="0">
                        <a:latin typeface="Cambria Math"/>
                      </a:rPr>
                      <m:t>+</m:t>
                    </m:r>
                    <m:r>
                      <a:rPr lang="en-US" altLang="zh-CN" b="0" i="1" smtClean="0">
                        <a:latin typeface="Cambria Math"/>
                        <a:ea typeface="Cambria Math"/>
                      </a:rPr>
                      <m:t>∞</m:t>
                    </m:r>
                  </m:oMath>
                </a14:m>
                <a:r>
                  <a:rPr lang="zh-CN" altLang="en-US" dirty="0"/>
                  <a:t>）</a:t>
                </a:r>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a:rPr>
                          <m:t>𝑔</m:t>
                        </m:r>
                      </m:e>
                      <m:sub>
                        <m:r>
                          <a:rPr lang="en-US" altLang="zh-CN" i="1">
                            <a:latin typeface="Cambria Math"/>
                          </a:rPr>
                          <m:t>𝑢</m:t>
                        </m:r>
                      </m:sub>
                    </m:sSub>
                  </m:oMath>
                </a14:m>
                <a:r>
                  <a:rPr lang="zh-CN" altLang="en-US" dirty="0"/>
                  <a:t>：两个端点间的最短路径长度（若无第二个端点则不考虑该状态）</a:t>
                </a:r>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a:rPr>
                          <m:t>h</m:t>
                        </m:r>
                      </m:e>
                      <m:sub>
                        <m:r>
                          <a:rPr lang="en-US" altLang="zh-CN" i="1">
                            <a:latin typeface="Cambria Math"/>
                          </a:rPr>
                          <m:t>𝑢</m:t>
                        </m:r>
                      </m:sub>
                    </m:sSub>
                  </m:oMath>
                </a14:m>
                <a:r>
                  <a:rPr lang="zh-CN" altLang="en-US" dirty="0"/>
                  <a:t>：</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en-US" altLang="zh-CN" i="1" dirty="0">
                            <a:latin typeface="Cambria Math" panose="02040503050406030204" pitchFamily="18" charset="0"/>
                          </a:rPr>
                          <m:t>1</m:t>
                        </m:r>
                      </m:sub>
                    </m:sSub>
                  </m:oMath>
                </a14:m>
                <a:r>
                  <a:rPr lang="en-US" altLang="zh-CN" dirty="0"/>
                  <a:t> </a:t>
                </a:r>
                <a:r>
                  <a:rPr lang="zh-CN" altLang="en-US" dirty="0"/>
                  <a:t>到</a:t>
                </a: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en-US" altLang="zh-CN" i="1" dirty="0">
                            <a:latin typeface="Cambria Math" panose="02040503050406030204" pitchFamily="18" charset="0"/>
                          </a:rPr>
                          <m:t>2</m:t>
                        </m:r>
                      </m:sub>
                    </m:sSub>
                  </m:oMath>
                </a14:m>
                <a:r>
                  <a:rPr lang="en-US" altLang="zh-CN" dirty="0"/>
                  <a:t> </a:t>
                </a:r>
                <a:r>
                  <a:rPr lang="zh-CN" altLang="en-US" dirty="0"/>
                  <a:t>的最短路径长度（若</a:t>
                </a: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panose="02040503050406030204" pitchFamily="18" charset="0"/>
                          </a:rPr>
                          <m:t>𝑥</m:t>
                        </m:r>
                      </m:e>
                      <m:sub>
                        <m:r>
                          <a:rPr lang="en-US" altLang="zh-CN" i="1" dirty="0" smtClean="0">
                            <a:latin typeface="Cambria Math" panose="02040503050406030204" pitchFamily="18" charset="0"/>
                          </a:rPr>
                          <m:t>1</m:t>
                        </m:r>
                      </m:sub>
                    </m:sSub>
                  </m:oMath>
                </a14:m>
                <a:r>
                  <a:rPr lang="en-US" altLang="zh-CN" dirty="0"/>
                  <a:t> </a:t>
                </a:r>
                <a:r>
                  <a:rPr lang="zh-CN" altLang="en-US" dirty="0"/>
                  <a:t>或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a14:m>
                <a:r>
                  <a:rPr lang="zh-CN" altLang="en-US" dirty="0"/>
                  <a:t> 不在内部图中则为 </a:t>
                </a:r>
                <a14:m>
                  <m:oMath xmlns:m="http://schemas.openxmlformats.org/officeDocument/2006/math">
                    <m:r>
                      <a:rPr lang="en-US" altLang="zh-CN" i="1" dirty="0" smtClean="0">
                        <a:latin typeface="Cambria Math" panose="02040503050406030204" pitchFamily="18" charset="0"/>
                      </a:rPr>
                      <m:t>+∞</m:t>
                    </m:r>
                  </m:oMath>
                </a14:m>
                <a:r>
                  <a:rPr lang="zh-CN" altLang="en-US" dirty="0"/>
                  <a:t>）</a:t>
                </a:r>
                <a:endParaRPr lang="en-US" altLang="zh-CN" dirty="0"/>
              </a:p>
              <a:p>
                <a:r>
                  <a:rPr lang="zh-CN" altLang="en-US" dirty="0"/>
                  <a:t>直接转移，答案即为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a:rPr>
                          <m:t>h</m:t>
                        </m:r>
                      </m:e>
                      <m:sub>
                        <m:r>
                          <a:rPr lang="en-US" altLang="zh-CN" b="0" i="1" smtClean="0">
                            <a:latin typeface="Cambria Math"/>
                          </a:rPr>
                          <m:t>𝑟𝑜𝑜𝑡</m:t>
                        </m:r>
                      </m:sub>
                    </m:sSub>
                  </m:oMath>
                </a14:m>
                <a:endParaRPr lang="en-US" altLang="zh-CN" dirty="0"/>
              </a:p>
              <a:p>
                <a:r>
                  <a:rPr lang="zh-CN" altLang="en-US" dirty="0"/>
                  <a:t>我们需要快速回答多组询问，那么将转移写成矩阵形式，每次询问用树上倍增求出树链上矩阵乘积即可快速回答多组询问。</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968"/>
                </a:stretch>
              </a:blipFill>
            </p:spPr>
            <p:txBody>
              <a:bodyPr/>
              <a:lstStyle/>
              <a:p>
                <a:r>
                  <a:rPr lang="zh-CN" altLang="en-US">
                    <a:noFill/>
                  </a:rPr>
                  <a:t> </a:t>
                </a:r>
              </a:p>
            </p:txBody>
          </p:sp>
        </mc:Fallback>
      </mc:AlternateContent>
      <p:sp>
        <p:nvSpPr>
          <p:cNvPr id="4" name="TextBox 3"/>
          <p:cNvSpPr txBox="1"/>
          <p:nvPr/>
        </p:nvSpPr>
        <p:spPr>
          <a:xfrm>
            <a:off x="5638800" y="2974622"/>
            <a:ext cx="184731" cy="369332"/>
          </a:xfrm>
          <a:prstGeom prst="rect">
            <a:avLst/>
          </a:prstGeom>
          <a:noFill/>
        </p:spPr>
        <p:txBody>
          <a:bodyPr wrap="none" rtlCol="0">
            <a:spAutoFit/>
          </a:bodyPr>
          <a:lstStyle/>
          <a:p>
            <a:endParaRPr lang="zh-CN" altLang="en-US" dirty="0"/>
          </a:p>
        </p:txBody>
      </p:sp>
    </p:spTree>
    <p:extLst>
      <p:ext uri="{BB962C8B-B14F-4D97-AF65-F5344CB8AC3E}">
        <p14:creationId xmlns:p14="http://schemas.microsoft.com/office/powerpoint/2010/main" val="1331821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85B13E-008D-4CE3-A78D-2483578E3336}"/>
              </a:ext>
            </a:extLst>
          </p:cNvPr>
          <p:cNvSpPr>
            <a:spLocks noGrp="1"/>
          </p:cNvSpPr>
          <p:nvPr>
            <p:ph type="title"/>
          </p:nvPr>
        </p:nvSpPr>
        <p:spPr/>
        <p:txBody>
          <a:bodyPr/>
          <a:lstStyle/>
          <a:p>
            <a:r>
              <a:rPr lang="en-US" altLang="zh-CN" dirty="0"/>
              <a:t>[</a:t>
            </a:r>
            <a:r>
              <a:rPr lang="zh-CN" altLang="en-US" dirty="0"/>
              <a:t>集训队互测活动 </a:t>
            </a:r>
            <a:r>
              <a:rPr lang="en-US" altLang="zh-CN" dirty="0"/>
              <a:t>2021]</a:t>
            </a:r>
            <a:r>
              <a:rPr lang="zh-CN" altLang="en-US" dirty="0"/>
              <a:t>逛公园</a:t>
            </a: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D7FF724E-ED73-4AA3-9CFE-DBB1B458FB6F}"/>
                  </a:ext>
                </a:extLst>
              </p:cNvPr>
              <p:cNvSpPr>
                <a:spLocks noGrp="1"/>
              </p:cNvSpPr>
              <p:nvPr>
                <p:ph idx="1"/>
              </p:nvPr>
            </p:nvSpPr>
            <p:spPr/>
            <p:txBody>
              <a:bodyPr/>
              <a:lstStyle/>
              <a:p>
                <a14:m>
                  <m:oMath xmlns:m="http://schemas.openxmlformats.org/officeDocument/2006/math">
                    <m:r>
                      <a:rPr lang="en-US" altLang="zh-CN" b="0" i="1" smtClean="0">
                        <a:latin typeface="Cambria Math" panose="02040503050406030204" pitchFamily="18" charset="0"/>
                      </a:rPr>
                      <m:t>𝑛</m:t>
                    </m:r>
                  </m:oMath>
                </a14:m>
                <a:r>
                  <a:rPr lang="zh-CN" altLang="en-US" dirty="0"/>
                  <a:t> 个点、</a:t>
                </a:r>
                <a14:m>
                  <m:oMath xmlns:m="http://schemas.openxmlformats.org/officeDocument/2006/math">
                    <m:r>
                      <a:rPr lang="en-US" altLang="zh-CN" b="0" i="1" smtClean="0">
                        <a:latin typeface="Cambria Math" panose="02040503050406030204" pitchFamily="18" charset="0"/>
                      </a:rPr>
                      <m:t>𝑚</m:t>
                    </m:r>
                  </m:oMath>
                </a14:m>
                <a:r>
                  <a:rPr lang="zh-CN" altLang="en-US" dirty="0"/>
                  <a:t> 条边的简单广义串并联图</a:t>
                </a:r>
                <a:endParaRPr lang="en-US" altLang="zh-CN" dirty="0"/>
              </a:p>
              <a:p>
                <a:r>
                  <a:rPr lang="zh-CN" altLang="en-US" dirty="0"/>
                  <a:t>边有长度，不超过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9</m:t>
                        </m:r>
                      </m:sup>
                    </m:sSup>
                  </m:oMath>
                </a14:m>
                <a:endParaRPr lang="en-US" altLang="zh-CN" dirty="0"/>
              </a:p>
              <a:p>
                <a14:m>
                  <m:oMath xmlns:m="http://schemas.openxmlformats.org/officeDocument/2006/math">
                    <m:r>
                      <a:rPr lang="en-US" altLang="zh-CN" b="0" i="1" smtClean="0">
                        <a:latin typeface="Cambria Math" panose="02040503050406030204" pitchFamily="18" charset="0"/>
                      </a:rPr>
                      <m:t>𝑞</m:t>
                    </m:r>
                  </m:oMath>
                </a14:m>
                <a:r>
                  <a:rPr lang="zh-CN" altLang="en-US" dirty="0"/>
                  <a:t> 组询问，每次询问给出点集</a:t>
                </a:r>
                <a:r>
                  <a:rPr lang="en-US" altLang="zh-CN" dirty="0"/>
                  <a:t> </a:t>
                </a:r>
                <a14:m>
                  <m:oMath xmlns:m="http://schemas.openxmlformats.org/officeDocument/2006/math">
                    <m:r>
                      <a:rPr lang="en-US" altLang="zh-CN" b="0" i="1" smtClean="0">
                        <a:latin typeface="Cambria Math" panose="02040503050406030204" pitchFamily="18" charset="0"/>
                      </a:rPr>
                      <m:t>𝑆</m:t>
                    </m:r>
                  </m:oMath>
                </a14:m>
                <a:r>
                  <a:rPr lang="zh-CN" altLang="en-US" b="0" dirty="0"/>
                  <a:t>，求 </a:t>
                </a:r>
                <a14:m>
                  <m:oMath xmlns:m="http://schemas.openxmlformats.org/officeDocument/2006/math">
                    <m:r>
                      <a:rPr lang="en-US" altLang="zh-CN" b="0" i="1" smtClean="0">
                        <a:latin typeface="Cambria Math" panose="02040503050406030204" pitchFamily="18" charset="0"/>
                      </a:rPr>
                      <m:t>𝑆</m:t>
                    </m:r>
                  </m:oMath>
                </a14:m>
                <a:r>
                  <a:rPr lang="en-US" altLang="zh-CN" dirty="0"/>
                  <a:t> </a:t>
                </a:r>
                <a:r>
                  <a:rPr lang="zh-CN" altLang="en-US" dirty="0"/>
                  <a:t>中的点两两最短路长度之和，对 </a:t>
                </a:r>
                <a14:m>
                  <m:oMath xmlns:m="http://schemas.openxmlformats.org/officeDocument/2006/math">
                    <m:r>
                      <a:rPr lang="en-US" altLang="zh-CN" b="0" i="1" smtClean="0">
                        <a:latin typeface="Cambria Math" panose="02040503050406030204" pitchFamily="18" charset="0"/>
                      </a:rPr>
                      <m:t>2013265921</m:t>
                    </m:r>
                  </m:oMath>
                </a14:m>
                <a:r>
                  <a:rPr lang="en-US" altLang="zh-CN" dirty="0"/>
                  <a:t> </a:t>
                </a:r>
                <a:r>
                  <a:rPr lang="zh-CN" altLang="en-US" dirty="0"/>
                  <a:t>取模</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𝑞</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endParaRPr lang="en-US" altLang="zh-CN" dirty="0"/>
              </a:p>
              <a:p>
                <a14:m>
                  <m:oMath xmlns:m="http://schemas.openxmlformats.org/officeDocument/2006/math">
                    <m:r>
                      <a:rPr lang="en-US" altLang="zh-CN" i="1" dirty="0" smtClean="0">
                        <a:latin typeface="Cambria Math"/>
                      </a:rPr>
                      <m:t>8</m:t>
                    </m:r>
                    <m:r>
                      <m:rPr>
                        <m:sty m:val="p"/>
                      </m:rPr>
                      <a:rPr lang="en-US" altLang="zh-CN" dirty="0">
                        <a:latin typeface="Cambria Math" panose="02040503050406030204" pitchFamily="18" charset="0"/>
                      </a:rPr>
                      <m:t>s</m:t>
                    </m:r>
                    <m:r>
                      <a:rPr lang="en-US" altLang="zh-CN" i="1" dirty="0">
                        <a:latin typeface="Cambria Math" panose="02040503050406030204" pitchFamily="18" charset="0"/>
                      </a:rPr>
                      <m:t>, 1</m:t>
                    </m:r>
                    <m:r>
                      <m:rPr>
                        <m:sty m:val="p"/>
                      </m:rPr>
                      <a:rPr lang="en-US" altLang="zh-CN" dirty="0">
                        <a:latin typeface="Cambria Math" panose="02040503050406030204" pitchFamily="18" charset="0"/>
                      </a:rPr>
                      <m:t>GB</m:t>
                    </m:r>
                  </m:oMath>
                </a14:m>
                <a:endParaRPr lang="en-US" altLang="zh-CN" dirty="0"/>
              </a:p>
            </p:txBody>
          </p:sp>
        </mc:Choice>
        <mc:Fallback xmlns="">
          <p:sp>
            <p:nvSpPr>
              <p:cNvPr id="5" name="内容占位符 4">
                <a:extLst>
                  <a:ext uri="{FF2B5EF4-FFF2-40B4-BE49-F238E27FC236}">
                    <a16:creationId xmlns:a16="http://schemas.microsoft.com/office/drawing/2014/main" xmlns:a14="http://schemas.microsoft.com/office/drawing/2010/main" xmlns="" id="{D7FF724E-ED73-4AA3-9CFE-DBB1B458FB6F}"/>
                  </a:ext>
                </a:extLst>
              </p:cNvPr>
              <p:cNvSpPr>
                <a:spLocks noGrp="1" noRot="1" noChangeAspect="1" noMove="1" noResize="1" noEditPoints="1" noAdjustHandles="1" noChangeArrowheads="1" noChangeShapeType="1" noTextEdit="1"/>
              </p:cNvSpPr>
              <p:nvPr>
                <p:ph idx="1"/>
              </p:nvPr>
            </p:nvSpPr>
            <p:spPr>
              <a:blipFill rotWithShape="1">
                <a:blip r:embed="rId2"/>
                <a:stretch>
                  <a:fillRect l="-479" t="-11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0755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由于串并联树是天然的三叉树，考虑进行边分治</a:t>
                </a:r>
                <a:endParaRPr lang="en-US" altLang="zh-CN" dirty="0"/>
              </a:p>
              <a:p>
                <a:r>
                  <a:rPr lang="zh-CN" altLang="en-US" dirty="0"/>
                  <a:t>离线分别考虑每组询问</a:t>
                </a:r>
                <a:endParaRPr lang="en-US" altLang="zh-CN" dirty="0"/>
              </a:p>
              <a:p>
                <a:r>
                  <a:rPr lang="zh-CN" altLang="en-US" dirty="0"/>
                  <a:t>设分治边端点中深度较大者为点 </a:t>
                </a:r>
                <a14:m>
                  <m:oMath xmlns:m="http://schemas.openxmlformats.org/officeDocument/2006/math">
                    <m:r>
                      <a:rPr lang="en-US" altLang="zh-CN" i="1">
                        <a:latin typeface="Cambria Math"/>
                      </a:rPr>
                      <m:t>𝑢</m:t>
                    </m:r>
                  </m:oMath>
                </a14:m>
                <a:r>
                  <a:rPr lang="zh-CN" altLang="en-US" dirty="0"/>
                  <a:t>，那么就要统计所有从点 </a:t>
                </a:r>
                <a14:m>
                  <m:oMath xmlns:m="http://schemas.openxmlformats.org/officeDocument/2006/math">
                    <m:r>
                      <a:rPr lang="en-US" altLang="zh-CN" i="1">
                        <a:latin typeface="Cambria Math"/>
                      </a:rPr>
                      <m:t>𝑢</m:t>
                    </m:r>
                  </m:oMath>
                </a14:m>
                <a:r>
                  <a:rPr lang="zh-CN" altLang="en-US" dirty="0"/>
                  <a:t> 内部图到外面的点对 </a:t>
                </a:r>
                <a14:m>
                  <m:oMath xmlns:m="http://schemas.openxmlformats.org/officeDocument/2006/math">
                    <m:r>
                      <a:rPr lang="en-US" altLang="zh-CN" b="0" i="1" smtClean="0">
                        <a:latin typeface="Cambria Math"/>
                      </a:rPr>
                      <m:t>𝑎</m:t>
                    </m:r>
                    <m:r>
                      <a:rPr lang="en-US" altLang="zh-CN" b="0" i="1" smtClean="0">
                        <a:latin typeface="Cambria Math"/>
                      </a:rPr>
                      <m:t>,</m:t>
                    </m:r>
                    <m:r>
                      <a:rPr lang="en-US" altLang="zh-CN" b="0" i="1" smtClean="0">
                        <a:latin typeface="Cambria Math"/>
                      </a:rPr>
                      <m:t>𝑏</m:t>
                    </m:r>
                  </m:oMath>
                </a14:m>
                <a:r>
                  <a:rPr lang="zh-CN" altLang="en-US" dirty="0"/>
                  <a:t> 的贡献和</a:t>
                </a:r>
                <a:endParaRPr lang="en-US" altLang="zh-CN" dirty="0"/>
              </a:p>
              <a:p>
                <a:r>
                  <a:rPr lang="zh-CN" altLang="en-US" dirty="0"/>
                  <a:t>从内部图到外面的路径一定至少经过两个端点 </a:t>
                </a:r>
                <a14:m>
                  <m:oMath xmlns:m="http://schemas.openxmlformats.org/officeDocument/2006/math">
                    <m:r>
                      <a:rPr lang="en-US" altLang="zh-CN" b="0" i="1" smtClean="0">
                        <a:latin typeface="Cambria Math"/>
                      </a:rPr>
                      <m:t>𝑥</m:t>
                    </m:r>
                    <m:r>
                      <a:rPr lang="en-US" altLang="zh-CN" b="0" i="1" smtClean="0">
                        <a:latin typeface="Cambria Math"/>
                      </a:rPr>
                      <m:t>,</m:t>
                    </m:r>
                    <m:r>
                      <a:rPr lang="en-US" altLang="zh-CN" b="0" i="1" smtClean="0">
                        <a:latin typeface="Cambria Math"/>
                      </a:rPr>
                      <m:t>𝑦</m:t>
                    </m:r>
                  </m:oMath>
                </a14:m>
                <a:r>
                  <a:rPr lang="zh-CN" altLang="en-US" dirty="0"/>
                  <a:t> 之一，预处理出端点到图中每一个点的最短路径长度 </a:t>
                </a:r>
                <a14:m>
                  <m:oMath xmlns:m="http://schemas.openxmlformats.org/officeDocument/2006/math">
                    <m:r>
                      <m:rPr>
                        <m:sty m:val="p"/>
                      </m:rPr>
                      <a:rPr lang="en-US" altLang="zh-CN" b="0" i="0" smtClean="0">
                        <a:latin typeface="Cambria Math"/>
                      </a:rPr>
                      <m:t>dis</m:t>
                    </m:r>
                    <m:r>
                      <a:rPr lang="en-US" altLang="zh-CN" b="0" i="0" smtClean="0">
                        <a:latin typeface="Cambria Math"/>
                      </a:rPr>
                      <m:t>(</m:t>
                    </m:r>
                    <m:r>
                      <a:rPr lang="en-US" altLang="zh-CN" i="1">
                        <a:latin typeface="Cambria Math"/>
                      </a:rPr>
                      <m:t>𝑎</m:t>
                    </m:r>
                    <m:r>
                      <a:rPr lang="en-US" altLang="zh-CN" i="1">
                        <a:latin typeface="Cambria Math"/>
                      </a:rPr>
                      <m:t>,</m:t>
                    </m:r>
                    <m:r>
                      <a:rPr lang="en-US" altLang="zh-CN" b="0" i="1" smtClean="0">
                        <a:latin typeface="Cambria Math"/>
                      </a:rPr>
                      <m:t>𝑥</m:t>
                    </m:r>
                    <m:r>
                      <a:rPr lang="en-US" altLang="zh-CN" b="0" i="1" smtClean="0">
                        <a:latin typeface="Cambria Math"/>
                      </a:rPr>
                      <m:t>)</m:t>
                    </m:r>
                  </m:oMath>
                </a14:m>
                <a:endParaRPr lang="en-US" altLang="zh-CN" dirty="0"/>
              </a:p>
              <a:p>
                <a:r>
                  <a:rPr lang="zh-CN" altLang="en-US" dirty="0"/>
                  <a:t>然后分类讨论一下最短路径先经过哪一个端点，答案就是 </a:t>
                </a:r>
                <a14:m>
                  <m:oMath xmlns:m="http://schemas.openxmlformats.org/officeDocument/2006/math">
                    <m:r>
                      <m:rPr>
                        <m:sty m:val="p"/>
                      </m:rPr>
                      <a:rPr lang="en-US" altLang="zh-CN" b="0" i="0" smtClean="0">
                        <a:latin typeface="Cambria Math"/>
                      </a:rPr>
                      <m:t>min</m:t>
                    </m:r>
                    <m:d>
                      <m:dPr>
                        <m:begChr m:val="{"/>
                        <m:endChr m:val="}"/>
                        <m:ctrlPr>
                          <a:rPr lang="en-US" altLang="zh-CN" b="0" i="1" smtClean="0">
                            <a:latin typeface="Cambria Math" panose="02040503050406030204" pitchFamily="18" charset="0"/>
                          </a:rPr>
                        </m:ctrlPr>
                      </m:dPr>
                      <m:e>
                        <m:r>
                          <m:rPr>
                            <m:sty m:val="p"/>
                          </m:rPr>
                          <a:rPr lang="en-US" altLang="zh-CN" b="0" i="0" smtClean="0">
                            <a:latin typeface="Cambria Math"/>
                          </a:rPr>
                          <m:t>di</m:t>
                        </m:r>
                        <m:r>
                          <a:rPr lang="en-US" altLang="zh-CN" b="0" i="1" smtClean="0">
                            <a:latin typeface="Cambria Math"/>
                          </a:rPr>
                          <m:t>𝑠</m:t>
                        </m:r>
                        <m:d>
                          <m:dPr>
                            <m:ctrlPr>
                              <a:rPr lang="en-US" altLang="zh-CN" i="1">
                                <a:latin typeface="Cambria Math" panose="02040503050406030204" pitchFamily="18" charset="0"/>
                              </a:rPr>
                            </m:ctrlPr>
                          </m:dPr>
                          <m:e>
                            <m:r>
                              <a:rPr lang="en-US" altLang="zh-CN" i="1">
                                <a:latin typeface="Cambria Math"/>
                              </a:rPr>
                              <m:t>𝑎</m:t>
                            </m:r>
                            <m:r>
                              <a:rPr lang="en-US" altLang="zh-CN" i="1">
                                <a:latin typeface="Cambria Math"/>
                              </a:rPr>
                              <m:t>,</m:t>
                            </m:r>
                            <m:r>
                              <a:rPr lang="en-US" altLang="zh-CN" i="1">
                                <a:latin typeface="Cambria Math"/>
                              </a:rPr>
                              <m:t>𝑥</m:t>
                            </m:r>
                          </m:e>
                        </m:d>
                        <m:r>
                          <a:rPr lang="en-US" altLang="zh-CN" b="0" i="1" smtClean="0">
                            <a:latin typeface="Cambria Math"/>
                          </a:rPr>
                          <m:t>+</m:t>
                        </m:r>
                        <m:r>
                          <m:rPr>
                            <m:sty m:val="p"/>
                          </m:rPr>
                          <a:rPr lang="en-US" altLang="zh-CN">
                            <a:latin typeface="Cambria Math"/>
                          </a:rPr>
                          <m:t>di</m:t>
                        </m:r>
                        <m:r>
                          <a:rPr lang="en-US" altLang="zh-CN" i="1">
                            <a:latin typeface="Cambria Math"/>
                          </a:rPr>
                          <m:t>𝑠</m:t>
                        </m:r>
                        <m:d>
                          <m:dPr>
                            <m:ctrlPr>
                              <a:rPr lang="en-US" altLang="zh-CN" b="0" i="1" smtClean="0">
                                <a:latin typeface="Cambria Math" panose="02040503050406030204" pitchFamily="18" charset="0"/>
                              </a:rPr>
                            </m:ctrlPr>
                          </m:dPr>
                          <m:e>
                            <m:r>
                              <a:rPr lang="en-US" altLang="zh-CN" b="0" i="1" smtClean="0">
                                <a:latin typeface="Cambria Math"/>
                              </a:rPr>
                              <m:t>𝑏</m:t>
                            </m:r>
                            <m:r>
                              <a:rPr lang="en-US" altLang="zh-CN" b="0" i="1" smtClean="0">
                                <a:latin typeface="Cambria Math"/>
                              </a:rPr>
                              <m:t>,</m:t>
                            </m:r>
                            <m:r>
                              <a:rPr lang="en-US" altLang="zh-CN" b="0" i="1" smtClean="0">
                                <a:latin typeface="Cambria Math"/>
                              </a:rPr>
                              <m:t>𝑥</m:t>
                            </m:r>
                          </m:e>
                        </m:d>
                        <m:r>
                          <a:rPr lang="en-US" altLang="zh-CN" b="0" i="1" smtClean="0">
                            <a:latin typeface="Cambria Math"/>
                          </a:rPr>
                          <m:t>,</m:t>
                        </m:r>
                        <m:r>
                          <m:rPr>
                            <m:sty m:val="p"/>
                          </m:rPr>
                          <a:rPr lang="en-US" altLang="zh-CN">
                            <a:latin typeface="Cambria Math"/>
                          </a:rPr>
                          <m:t>di</m:t>
                        </m:r>
                        <m:r>
                          <a:rPr lang="en-US" altLang="zh-CN" i="1">
                            <a:latin typeface="Cambria Math"/>
                          </a:rPr>
                          <m:t>𝑠</m:t>
                        </m:r>
                        <m:d>
                          <m:dPr>
                            <m:ctrlPr>
                              <a:rPr lang="en-US" altLang="zh-CN" b="0" i="1" smtClean="0">
                                <a:latin typeface="Cambria Math" panose="02040503050406030204" pitchFamily="18" charset="0"/>
                              </a:rPr>
                            </m:ctrlPr>
                          </m:dPr>
                          <m:e>
                            <m:r>
                              <a:rPr lang="en-US" altLang="zh-CN" b="0" i="1" smtClean="0">
                                <a:latin typeface="Cambria Math"/>
                              </a:rPr>
                              <m:t>𝑎</m:t>
                            </m:r>
                            <m:r>
                              <a:rPr lang="en-US" altLang="zh-CN" b="0" i="1" smtClean="0">
                                <a:latin typeface="Cambria Math"/>
                              </a:rPr>
                              <m:t>,</m:t>
                            </m:r>
                            <m:r>
                              <a:rPr lang="en-US" altLang="zh-CN" b="0" i="1" smtClean="0">
                                <a:latin typeface="Cambria Math"/>
                              </a:rPr>
                              <m:t>𝑦</m:t>
                            </m:r>
                          </m:e>
                        </m:d>
                        <m:r>
                          <a:rPr lang="en-US" altLang="zh-CN" b="0" i="1" smtClean="0">
                            <a:latin typeface="Cambria Math"/>
                          </a:rPr>
                          <m:t>+</m:t>
                        </m:r>
                        <m:r>
                          <m:rPr>
                            <m:sty m:val="p"/>
                          </m:rPr>
                          <a:rPr lang="en-US" altLang="zh-CN">
                            <a:latin typeface="Cambria Math"/>
                          </a:rPr>
                          <m:t>di</m:t>
                        </m:r>
                        <m:r>
                          <a:rPr lang="en-US" altLang="zh-CN" i="1">
                            <a:latin typeface="Cambria Math"/>
                          </a:rPr>
                          <m:t>𝑠</m:t>
                        </m:r>
                        <m:d>
                          <m:dPr>
                            <m:ctrlPr>
                              <a:rPr lang="en-US" altLang="zh-CN" b="0" i="1" smtClean="0">
                                <a:latin typeface="Cambria Math" panose="02040503050406030204" pitchFamily="18" charset="0"/>
                              </a:rPr>
                            </m:ctrlPr>
                          </m:dPr>
                          <m:e>
                            <m:r>
                              <a:rPr lang="en-US" altLang="zh-CN" b="0" i="1" smtClean="0">
                                <a:latin typeface="Cambria Math"/>
                              </a:rPr>
                              <m:t>𝑏</m:t>
                            </m:r>
                            <m:r>
                              <a:rPr lang="en-US" altLang="zh-CN" b="0" i="1" smtClean="0">
                                <a:latin typeface="Cambria Math"/>
                              </a:rPr>
                              <m:t>,</m:t>
                            </m:r>
                            <m:r>
                              <a:rPr lang="en-US" altLang="zh-CN" b="0" i="1" smtClean="0">
                                <a:latin typeface="Cambria Math"/>
                              </a:rPr>
                              <m:t>𝑦</m:t>
                            </m:r>
                          </m:e>
                        </m:d>
                      </m:e>
                    </m:d>
                  </m:oMath>
                </a14:m>
                <a:endParaRPr lang="en-US" altLang="zh-CN" b="0" dirty="0"/>
              </a:p>
              <a:p>
                <a:r>
                  <a:rPr lang="zh-CN" altLang="en-US" dirty="0"/>
                  <a:t>将点按照 </a:t>
                </a:r>
                <a14:m>
                  <m:oMath xmlns:m="http://schemas.openxmlformats.org/officeDocument/2006/math">
                    <m:r>
                      <m:rPr>
                        <m:sty m:val="p"/>
                      </m:rPr>
                      <a:rPr lang="en-US" altLang="zh-CN">
                        <a:latin typeface="Cambria Math"/>
                      </a:rPr>
                      <m:t>di</m:t>
                    </m:r>
                    <m:r>
                      <a:rPr lang="en-US" altLang="zh-CN" i="1">
                        <a:latin typeface="Cambria Math"/>
                      </a:rPr>
                      <m:t>𝑠</m:t>
                    </m:r>
                    <m:d>
                      <m:dPr>
                        <m:ctrlPr>
                          <a:rPr lang="en-US" altLang="zh-CN" b="0" i="1" smtClean="0">
                            <a:latin typeface="Cambria Math" panose="02040503050406030204" pitchFamily="18" charset="0"/>
                          </a:rPr>
                        </m:ctrlPr>
                      </m:dPr>
                      <m:e>
                        <m:r>
                          <a:rPr lang="en-US" altLang="zh-CN" b="0" i="1" smtClean="0">
                            <a:latin typeface="Cambria Math"/>
                          </a:rPr>
                          <m:t>𝑎</m:t>
                        </m:r>
                        <m:r>
                          <a:rPr lang="en-US" altLang="zh-CN" b="0" i="1" smtClean="0">
                            <a:latin typeface="Cambria Math"/>
                          </a:rPr>
                          <m:t>,</m:t>
                        </m:r>
                        <m:r>
                          <a:rPr lang="en-US" altLang="zh-CN" b="0" i="1" smtClean="0">
                            <a:latin typeface="Cambria Math"/>
                          </a:rPr>
                          <m:t>𝑥</m:t>
                        </m:r>
                      </m:e>
                    </m:d>
                    <m:r>
                      <a:rPr lang="en-US" altLang="zh-CN" b="0" i="1" smtClean="0">
                        <a:latin typeface="Cambria Math"/>
                      </a:rPr>
                      <m:t>−</m:t>
                    </m:r>
                    <m:r>
                      <m:rPr>
                        <m:sty m:val="p"/>
                      </m:rPr>
                      <a:rPr lang="en-US" altLang="zh-CN" b="0" i="0" smtClean="0">
                        <a:latin typeface="Cambria Math"/>
                      </a:rPr>
                      <m:t>dis</m:t>
                    </m:r>
                    <m:r>
                      <a:rPr lang="en-US" altLang="zh-CN" b="0" i="1" smtClean="0">
                        <a:latin typeface="Cambria Math"/>
                      </a:rPr>
                      <m:t>(</m:t>
                    </m:r>
                    <m:r>
                      <a:rPr lang="en-US" altLang="zh-CN" b="0" i="1" smtClean="0">
                        <a:latin typeface="Cambria Math"/>
                      </a:rPr>
                      <m:t>𝑎</m:t>
                    </m:r>
                    <m:r>
                      <a:rPr lang="en-US" altLang="zh-CN" b="0" i="1" smtClean="0">
                        <a:latin typeface="Cambria Math"/>
                      </a:rPr>
                      <m:t>,</m:t>
                    </m:r>
                    <m:r>
                      <a:rPr lang="en-US" altLang="zh-CN" b="0" i="1" smtClean="0">
                        <a:latin typeface="Cambria Math"/>
                      </a:rPr>
                      <m:t>𝑦</m:t>
                    </m:r>
                    <m:r>
                      <a:rPr lang="en-US" altLang="zh-CN" b="0" i="1" smtClean="0">
                        <a:latin typeface="Cambria Math"/>
                      </a:rPr>
                      <m:t>)</m:t>
                    </m:r>
                  </m:oMath>
                </a14:m>
                <a:r>
                  <a:rPr lang="zh-CN" altLang="en-US" dirty="0"/>
                  <a:t> 排序，双指针扫描即可直接统计答案</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
        <p:nvSpPr>
          <p:cNvPr id="4" name="TextBox 3"/>
          <p:cNvSpPr txBox="1"/>
          <p:nvPr/>
        </p:nvSpPr>
        <p:spPr>
          <a:xfrm>
            <a:off x="5638800" y="2974622"/>
            <a:ext cx="184731" cy="369332"/>
          </a:xfrm>
          <a:prstGeom prst="rect">
            <a:avLst/>
          </a:prstGeom>
          <a:noFill/>
        </p:spPr>
        <p:txBody>
          <a:bodyPr wrap="none" rtlCol="0">
            <a:spAutoFit/>
          </a:bodyPr>
          <a:lstStyle/>
          <a:p>
            <a:endParaRPr lang="zh-CN" altLang="en-US" dirty="0"/>
          </a:p>
        </p:txBody>
      </p:sp>
    </p:spTree>
    <p:extLst>
      <p:ext uri="{BB962C8B-B14F-4D97-AF65-F5344CB8AC3E}">
        <p14:creationId xmlns:p14="http://schemas.microsoft.com/office/powerpoint/2010/main" val="3468898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468477-1D52-4F45-A04D-4D59F437AFD5}"/>
              </a:ext>
            </a:extLst>
          </p:cNvPr>
          <p:cNvSpPr>
            <a:spLocks noGrp="1"/>
          </p:cNvSpPr>
          <p:nvPr>
            <p:ph type="title"/>
          </p:nvPr>
        </p:nvSpPr>
        <p:spPr/>
        <p:txBody>
          <a:bodyPr/>
          <a:lstStyle/>
          <a:p>
            <a:r>
              <a:rPr lang="zh-CN" altLang="en-US" dirty="0"/>
              <a:t>总结</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B930C8C-6666-43E5-8779-2CC0133DF8F6}"/>
                  </a:ext>
                </a:extLst>
              </p:cNvPr>
              <p:cNvSpPr>
                <a:spLocks noGrp="1"/>
              </p:cNvSpPr>
              <p:nvPr>
                <p:ph idx="1"/>
              </p:nvPr>
            </p:nvSpPr>
            <p:spPr/>
            <p:txBody>
              <a:bodyPr/>
              <a:lstStyle/>
              <a:p>
                <a:r>
                  <a:rPr lang="zh-CN" altLang="en-US" dirty="0"/>
                  <a:t>广义串并联图是一类覆盖面较广的图，是针对 </a:t>
                </a:r>
                <a14:m>
                  <m:oMath xmlns:m="http://schemas.openxmlformats.org/officeDocument/2006/math">
                    <m:r>
                      <a:rPr lang="en-US" altLang="zh-CN" b="0" i="1" smtClean="0">
                        <a:latin typeface="Cambria Math" panose="02040503050406030204" pitchFamily="18" charset="0"/>
                      </a:rPr>
                      <m:t>≤2</m:t>
                    </m:r>
                  </m:oMath>
                </a14:m>
                <a:r>
                  <a:rPr lang="en-US" altLang="zh-CN" dirty="0"/>
                  <a:t> </a:t>
                </a:r>
                <a:r>
                  <a:rPr lang="zh-CN" altLang="en-US" dirty="0"/>
                  <a:t>度点的算法能够直接解决的最大范围</a:t>
                </a:r>
                <a:endParaRPr lang="en-US" altLang="zh-CN" dirty="0"/>
              </a:p>
              <a:p>
                <a:r>
                  <a:rPr lang="zh-CN" altLang="en-US" dirty="0"/>
                  <a:t>利用 </a:t>
                </a:r>
                <a14:m>
                  <m:oMath xmlns:m="http://schemas.openxmlformats.org/officeDocument/2006/math">
                    <m:r>
                      <a:rPr lang="en-US" altLang="zh-CN" b="0" i="1" smtClean="0">
                        <a:latin typeface="Cambria Math" panose="02040503050406030204" pitchFamily="18" charset="0"/>
                      </a:rPr>
                      <m:t>≤2</m:t>
                    </m:r>
                  </m:oMath>
                </a14:m>
                <a:r>
                  <a:rPr lang="en-US" altLang="zh-CN" dirty="0"/>
                  <a:t> </a:t>
                </a:r>
                <a:r>
                  <a:rPr lang="zh-CN" altLang="en-US" dirty="0"/>
                  <a:t>度点的特殊性质，可以用三种收缩操作不断规约问题，依此写出 </a:t>
                </a:r>
                <a:r>
                  <a:rPr lang="en-US" altLang="zh-CN" dirty="0"/>
                  <a:t>DP</a:t>
                </a:r>
              </a:p>
              <a:p>
                <a:r>
                  <a:rPr lang="zh-CN" altLang="en-US" dirty="0"/>
                  <a:t>除广义串并联图外，收缩操作对稀疏一般图有较好的效果</a:t>
                </a:r>
                <a:endParaRPr lang="en-US" altLang="zh-CN" dirty="0"/>
              </a:p>
              <a:p>
                <a:r>
                  <a:rPr lang="zh-CN" altLang="en-US" dirty="0"/>
                  <a:t>将收缩操作建立成串并联树，可以解决动态 </a:t>
                </a:r>
                <a:r>
                  <a:rPr lang="en-US" altLang="zh-CN" dirty="0"/>
                  <a:t>DP</a:t>
                </a:r>
                <a:r>
                  <a:rPr lang="zh-CN" altLang="en-US" dirty="0"/>
                  <a:t>、分治统计等题型</a:t>
                </a:r>
                <a:endParaRPr lang="en-US" altLang="zh-CN" dirty="0"/>
              </a:p>
            </p:txBody>
          </p:sp>
        </mc:Choice>
        <mc:Fallback xmlns="">
          <p:sp>
            <p:nvSpPr>
              <p:cNvPr id="3" name="内容占位符 2">
                <a:extLst>
                  <a:ext uri="{FF2B5EF4-FFF2-40B4-BE49-F238E27FC236}">
                    <a16:creationId xmlns:a16="http://schemas.microsoft.com/office/drawing/2014/main" id="{AB930C8C-6666-43E5-8779-2CC0133DF8F6}"/>
                  </a:ext>
                </a:extLst>
              </p:cNvPr>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3675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4CEF1-200B-4264-9982-9CECDF45E60D}"/>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DE3C17AE-FF13-4C32-A194-A3EDE93F4FE9}"/>
              </a:ext>
            </a:extLst>
          </p:cNvPr>
          <p:cNvSpPr>
            <a:spLocks noGrp="1"/>
          </p:cNvSpPr>
          <p:nvPr>
            <p:ph idx="1"/>
          </p:nvPr>
        </p:nvSpPr>
        <p:spPr/>
        <p:txBody>
          <a:bodyPr/>
          <a:lstStyle/>
          <a:p>
            <a:r>
              <a:rPr lang="en-US" altLang="zh-CN" dirty="0"/>
              <a:t>[1] </a:t>
            </a:r>
            <a:r>
              <a:rPr lang="zh-CN" altLang="en-US" dirty="0"/>
              <a:t>吴作同</a:t>
            </a:r>
            <a:r>
              <a:rPr lang="en-US" altLang="zh-CN" dirty="0"/>
              <a:t>. 《</a:t>
            </a:r>
            <a:r>
              <a:rPr lang="zh-CN" altLang="en-US" dirty="0"/>
              <a:t>公园</a:t>
            </a:r>
            <a:r>
              <a:rPr lang="en-US" altLang="zh-CN" dirty="0"/>
              <a:t>》</a:t>
            </a:r>
            <a:r>
              <a:rPr lang="zh-CN" altLang="en-US" dirty="0"/>
              <a:t>命题报告</a:t>
            </a:r>
            <a:r>
              <a:rPr lang="en-US" altLang="zh-CN" dirty="0"/>
              <a:t>, IOI2019 </a:t>
            </a:r>
            <a:r>
              <a:rPr lang="zh-CN" altLang="en-US" dirty="0"/>
              <a:t>中国国家候选队论文集</a:t>
            </a:r>
            <a:r>
              <a:rPr lang="en-US" altLang="zh-CN" dirty="0"/>
              <a:t>, 2019</a:t>
            </a:r>
          </a:p>
          <a:p>
            <a:r>
              <a:rPr lang="en-US" altLang="zh-CN" dirty="0"/>
              <a:t>[2] </a:t>
            </a:r>
            <a:r>
              <a:rPr lang="zh-CN" altLang="en-US" dirty="0"/>
              <a:t>左骏驰</a:t>
            </a:r>
            <a:r>
              <a:rPr lang="en-US" altLang="zh-CN" dirty="0"/>
              <a:t>. SNOI2020 </a:t>
            </a:r>
            <a:r>
              <a:rPr lang="zh-CN" altLang="en-US" dirty="0"/>
              <a:t>部分题解</a:t>
            </a:r>
            <a:r>
              <a:rPr lang="en-US" altLang="zh-CN" dirty="0"/>
              <a:t>, https://www.cnblogs.com/mathematician/p/13272327.html, 2020</a:t>
            </a:r>
          </a:p>
        </p:txBody>
      </p:sp>
    </p:spTree>
    <p:extLst>
      <p:ext uri="{BB962C8B-B14F-4D97-AF65-F5344CB8AC3E}">
        <p14:creationId xmlns:p14="http://schemas.microsoft.com/office/powerpoint/2010/main" val="346213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513C1B-020D-40A6-8A31-87B94F596E46}"/>
              </a:ext>
            </a:extLst>
          </p:cNvPr>
          <p:cNvSpPr>
            <a:spLocks noGrp="1"/>
          </p:cNvSpPr>
          <p:nvPr>
            <p:ph type="title"/>
          </p:nvPr>
        </p:nvSpPr>
        <p:spPr/>
        <p:txBody>
          <a:bodyPr/>
          <a:lstStyle/>
          <a:p>
            <a:r>
              <a:rPr lang="zh-CN" altLang="en-US" dirty="0"/>
              <a:t>致谢</a:t>
            </a:r>
          </a:p>
        </p:txBody>
      </p:sp>
      <p:sp>
        <p:nvSpPr>
          <p:cNvPr id="3" name="内容占位符 2">
            <a:extLst>
              <a:ext uri="{FF2B5EF4-FFF2-40B4-BE49-F238E27FC236}">
                <a16:creationId xmlns:a16="http://schemas.microsoft.com/office/drawing/2014/main" id="{A40A82C6-16E6-4B03-A9EA-8EA2BA52D5D3}"/>
              </a:ext>
            </a:extLst>
          </p:cNvPr>
          <p:cNvSpPr>
            <a:spLocks noGrp="1"/>
          </p:cNvSpPr>
          <p:nvPr>
            <p:ph idx="1"/>
          </p:nvPr>
        </p:nvSpPr>
        <p:spPr/>
        <p:txBody>
          <a:bodyPr/>
          <a:lstStyle/>
          <a:p>
            <a:r>
              <a:rPr lang="zh-CN" altLang="en-US" dirty="0"/>
              <a:t>感谢父母的养育之恩</a:t>
            </a:r>
            <a:endParaRPr lang="en-US" altLang="zh-CN" dirty="0"/>
          </a:p>
          <a:p>
            <a:r>
              <a:rPr lang="zh-CN" altLang="en-US" dirty="0"/>
              <a:t>感谢教练和学长的关心与教导</a:t>
            </a:r>
            <a:endParaRPr lang="en-US" altLang="zh-CN" dirty="0"/>
          </a:p>
          <a:p>
            <a:r>
              <a:rPr lang="zh-CN" altLang="en-US" dirty="0"/>
              <a:t>感谢</a:t>
            </a:r>
            <a:r>
              <a:rPr lang="en-US" altLang="zh-CN" dirty="0"/>
              <a:t>CCF</a:t>
            </a:r>
            <a:r>
              <a:rPr lang="zh-CN" altLang="en-US" dirty="0"/>
              <a:t>提供的交流机会</a:t>
            </a:r>
            <a:endParaRPr lang="en-US" altLang="zh-CN" dirty="0"/>
          </a:p>
          <a:p>
            <a:r>
              <a:rPr lang="zh-CN" altLang="en-US" dirty="0"/>
              <a:t>感谢各位的倾听</a:t>
            </a:r>
          </a:p>
        </p:txBody>
      </p:sp>
    </p:spTree>
    <p:extLst>
      <p:ext uri="{BB962C8B-B14F-4D97-AF65-F5344CB8AC3E}">
        <p14:creationId xmlns:p14="http://schemas.microsoft.com/office/powerpoint/2010/main" val="2137317587"/>
      </p:ext>
    </p:extLst>
  </p:cSld>
  <p:clrMapOvr>
    <a:masterClrMapping/>
  </p:clrMapOvr>
</p:sld>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1837</TotalTime>
  <Words>2453</Words>
  <Application>Microsoft Office PowerPoint</Application>
  <PresentationFormat>宽屏</PresentationFormat>
  <Paragraphs>167</Paragraphs>
  <Slides>28</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35" baseType="lpstr">
      <vt:lpstr>Open Sans</vt:lpstr>
      <vt:lpstr>Arial</vt:lpstr>
      <vt:lpstr>Cambria Math</vt:lpstr>
      <vt:lpstr>Century Gothic</vt:lpstr>
      <vt:lpstr>Wingdings 3</vt:lpstr>
      <vt:lpstr>丝状</vt:lpstr>
      <vt:lpstr>Equation</vt:lpstr>
      <vt:lpstr>广义串并联图</vt:lpstr>
      <vt:lpstr>定义</vt:lpstr>
      <vt:lpstr>收缩操作</vt:lpstr>
      <vt:lpstr>小试牛刀</vt:lpstr>
      <vt:lpstr>[SNOI2020]生成树</vt:lpstr>
      <vt:lpstr>[SNOI2020]生成树</vt:lpstr>
      <vt:lpstr>[THUPC2021预赛]独立</vt:lpstr>
      <vt:lpstr>能不能做到更多？</vt:lpstr>
      <vt:lpstr>单元</vt:lpstr>
      <vt:lpstr>串并联树</vt:lpstr>
      <vt:lpstr>似曾相识？</vt:lpstr>
      <vt:lpstr>似曾相识？</vt:lpstr>
      <vt:lpstr>有什么用？</vt:lpstr>
      <vt:lpstr>[2019 集训队互测]公园[1]</vt:lpstr>
      <vt:lpstr>解法</vt:lpstr>
      <vt:lpstr>更多性质</vt:lpstr>
      <vt:lpstr>内部图</vt:lpstr>
      <vt:lpstr>内部图</vt:lpstr>
      <vt:lpstr>内部图</vt:lpstr>
      <vt:lpstr>广义串并联图最长简单路径（较复杂DP）</vt:lpstr>
      <vt:lpstr>解法</vt:lpstr>
      <vt:lpstr>广义串并联图最短路</vt:lpstr>
      <vt:lpstr>解法</vt:lpstr>
      <vt:lpstr>[集训队互测活动 2021]逛公园</vt:lpstr>
      <vt:lpstr>解法</vt:lpstr>
      <vt:lpstr>总结</vt:lpstr>
      <vt:lpstr>参考文献</vt:lpstr>
      <vt:lpstr>致谢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广义串并联图</dc:title>
  <dc:creator>568826782@qq.com</dc:creator>
  <cp:lastModifiedBy>568826782@qq.com</cp:lastModifiedBy>
  <cp:revision>544</cp:revision>
  <dcterms:created xsi:type="dcterms:W3CDTF">2021-01-28T12:43:57Z</dcterms:created>
  <dcterms:modified xsi:type="dcterms:W3CDTF">2021-02-01T14:11:13Z</dcterms:modified>
</cp:coreProperties>
</file>