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80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32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725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74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0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89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27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52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31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44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3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7269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019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3709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020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845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7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FEE86-2C2C-42C6-AE66-E189E8D2591B}" type="datetimeFigureOut">
              <a:rPr lang="zh-CN" altLang="en-US" smtClean="0"/>
              <a:t>2023/2/16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27C467-693F-4897-8F15-FBA5A93347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浅谈一些概率期望问题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清华大学 交叉信息学院 钟皓曦</a:t>
            </a:r>
          </a:p>
        </p:txBody>
      </p:sp>
    </p:spTree>
    <p:extLst>
      <p:ext uri="{BB962C8B-B14F-4D97-AF65-F5344CB8AC3E}">
        <p14:creationId xmlns:p14="http://schemas.microsoft.com/office/powerpoint/2010/main" val="371916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概率期望的基本知识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/>
                  <a:t>表示事件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dirty="0"/>
                  <a:t>发生的概率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/>
                  <a:t>表示事件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dirty="0"/>
                  <a:t>的权重</a:t>
                </a:r>
                <a:endParaRPr lang="en-US" altLang="zh-CN" sz="2800" dirty="0"/>
              </a:p>
              <a:p>
                <a:r>
                  <a:rPr lang="zh-CN" altLang="en-US" sz="28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74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概率期望的基本知识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对于独立事件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sz="2800" dirty="0"/>
                  <a:t>事件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dirty="0"/>
                  <a:t>期望是可加的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27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概率期望的基本知识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条件概率</a:t>
                </a:r>
                <a:endParaRPr lang="en-US" altLang="zh-CN" sz="2800" dirty="0"/>
              </a:p>
              <a:p>
                <a:r>
                  <a:rPr lang="zh-CN" altLang="en-US" sz="2800" dirty="0"/>
                  <a:t>当事件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已经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发生</m:t>
                    </m:r>
                  </m:oMath>
                </a14:m>
                <a:r>
                  <a:rPr lang="zh-CN" altLang="en-US" sz="2800" dirty="0"/>
                  <a:t>时，事件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dirty="0"/>
                  <a:t>发生的概率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一个有趣的结论：</a:t>
                </a:r>
                <a:endParaRPr lang="en-US" altLang="zh-CN" sz="2800" dirty="0"/>
              </a:p>
              <a:p>
                <a:r>
                  <a:rPr lang="zh-CN" altLang="en-US" sz="2800" dirty="0"/>
                  <a:t>当太阳已经从东边升起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800" dirty="0"/>
                  <a:t>天后，第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800" dirty="0"/>
                  <a:t>天从东边升起的概率：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9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在小葱和小泽面前有三瓶药，其中有两瓶是毒药，每个人必须喝一瓶</a:t>
            </a:r>
            <a:endParaRPr lang="en-US" altLang="zh-CN" sz="2800" dirty="0"/>
          </a:p>
          <a:p>
            <a:r>
              <a:rPr lang="zh-CN" altLang="en-US" sz="2800" dirty="0"/>
              <a:t>小葱和小泽各自选了一瓶药，小泽手速比较快将药喝了下去，然后就挂掉了</a:t>
            </a:r>
            <a:endParaRPr lang="en-US" altLang="zh-CN" sz="2800" dirty="0"/>
          </a:p>
          <a:p>
            <a:r>
              <a:rPr lang="zh-CN" altLang="en-US" sz="2800" dirty="0"/>
              <a:t>小葱想活下去，他是应该喝掉手上的这瓶，还是另外剩下的一瓶呢？</a:t>
            </a:r>
          </a:p>
        </p:txBody>
      </p:sp>
    </p:spTree>
    <p:extLst>
      <p:ext uri="{BB962C8B-B14F-4D97-AF65-F5344CB8AC3E}">
        <p14:creationId xmlns:p14="http://schemas.microsoft.com/office/powerpoint/2010/main" val="233137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显然无所谓</a:t>
            </a:r>
          </a:p>
        </p:txBody>
      </p:sp>
    </p:spTree>
    <p:extLst>
      <p:ext uri="{BB962C8B-B14F-4D97-AF65-F5344CB8AC3E}">
        <p14:creationId xmlns:p14="http://schemas.microsoft.com/office/powerpoint/2010/main" val="373143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zh-CN" altLang="en-US" sz="2800" dirty="0"/>
                  <a:t>小胡站在原点，手里拿着两枚硬币。抛第一枚硬币正面向上的概率为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第二枚正面向上的概率为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r>
                  <a:rPr lang="zh-CN" altLang="en-US" sz="2800" dirty="0"/>
                  <a:t>小胡开始抛第一枚硬币，每次抛到反面小胡就向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/>
                  <a:t>轴正方向走一步，直到抛到正面。</a:t>
                </a:r>
                <a:endParaRPr lang="en-US" altLang="zh-CN" sz="2800" dirty="0"/>
              </a:p>
              <a:p>
                <a:r>
                  <a:rPr lang="zh-CN" altLang="en-US" sz="2800" dirty="0"/>
                  <a:t>接下来小胡继续抛第一枚硬币，每次抛到反面小胡就向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800" dirty="0"/>
                  <a:t>轴正方向走一步，直到抛到正面。</a:t>
                </a:r>
                <a:endParaRPr lang="en-US" altLang="zh-CN" sz="2800" dirty="0"/>
              </a:p>
              <a:p>
                <a:r>
                  <a:rPr lang="zh-CN" altLang="en-US" sz="2800" dirty="0"/>
                  <a:t>现在小胡想回来了，于是他开始抛第二枚硬币，如果小胡抛到正面小胡就向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/>
                  <a:t>轴的负方向走一步，否则小胡就向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800" dirty="0"/>
                  <a:t>轴的负方向走一步。</a:t>
                </a:r>
                <a:endParaRPr lang="en-US" altLang="zh-CN" sz="2800" dirty="0"/>
              </a:p>
              <a:p>
                <a:r>
                  <a:rPr lang="zh-CN" altLang="en-US" sz="2800" dirty="0"/>
                  <a:t>现在小胡想知道他在往回走的时候经过原点的概率是多少呢？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67" t="-2826" r="-2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22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我们可以枚举小胡在第一轮中走到的点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小胡走到点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的概率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小胡从点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走回原点的概率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!×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26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所以最终的概率为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!×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不好求？</a:t>
                </a:r>
                <a:endParaRPr lang="en-US" altLang="zh-CN" sz="2800" dirty="0"/>
              </a:p>
              <a:p>
                <a:r>
                  <a:rPr lang="zh-CN" altLang="en-US" sz="2800" dirty="0"/>
                  <a:t>改变枚举量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14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91" y="2160589"/>
            <a:ext cx="4876800" cy="3409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48" y="3791412"/>
            <a:ext cx="2466975" cy="61912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H="1" flipV="1">
            <a:off x="2947916" y="4763069"/>
            <a:ext cx="2797791" cy="655092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991619" y="5156551"/>
            <a:ext cx="2758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为什么？</a:t>
            </a:r>
          </a:p>
        </p:txBody>
      </p:sp>
    </p:spTree>
    <p:extLst>
      <p:ext uri="{BB962C8B-B14F-4D97-AF65-F5344CB8AC3E}">
        <p14:creationId xmlns:p14="http://schemas.microsoft.com/office/powerpoint/2010/main" val="408553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2.333333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小葱想要过河，过河有两条路</a:t>
                </a:r>
                <a:endParaRPr lang="en-US" altLang="zh-CN" sz="2800" dirty="0"/>
              </a:p>
              <a:p>
                <a:r>
                  <a:rPr lang="zh-CN" altLang="en-US" sz="2800" dirty="0"/>
                  <a:t>一条路有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zh-CN" altLang="en-US" sz="2800" dirty="0"/>
                  <a:t>个石头，每个石头有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zh-CN" altLang="en-US" sz="2800" dirty="0"/>
                  <a:t>的概率会挂掉</a:t>
                </a:r>
                <a:endParaRPr lang="en-US" altLang="zh-CN" sz="2800" dirty="0"/>
              </a:p>
              <a:p>
                <a:r>
                  <a:rPr lang="zh-CN" altLang="en-US" sz="2800" dirty="0"/>
                  <a:t>一条路有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zh-CN" altLang="en-US" sz="2800" dirty="0"/>
                  <a:t>个石头，每个石头有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zh-CN" altLang="en-US" sz="2800" dirty="0"/>
                  <a:t>的概率会挂掉</a:t>
                </a:r>
                <a:endParaRPr lang="en-US" altLang="zh-CN" sz="2800" dirty="0"/>
              </a:p>
              <a:p>
                <a:r>
                  <a:rPr lang="zh-CN" altLang="en-US" sz="2800" dirty="0"/>
                  <a:t>小葱应该走哪边呢？</a:t>
                </a:r>
                <a:endParaRPr lang="en-US" altLang="zh-CN" sz="2800" dirty="0"/>
              </a:p>
              <a:p>
                <a:r>
                  <a:rPr lang="zh-CN" altLang="en-US" sz="2800" dirty="0"/>
                  <a:t>请勿使用计算器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38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2.333333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999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1000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999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×…×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990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991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999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1000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p>
                    </m:sSup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89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小葱在平面上画了很多条平行等间距为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sz="2800" dirty="0"/>
                  <a:t>的直线</a:t>
                </a:r>
                <a:endParaRPr lang="en-US" altLang="zh-CN" sz="2800" dirty="0"/>
              </a:p>
              <a:p>
                <a:r>
                  <a:rPr lang="zh-CN" altLang="en-US" sz="2800" dirty="0"/>
                  <a:t>小葱将长度为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的针投到这个平面上</a:t>
                </a:r>
                <a:endParaRPr lang="en-US" altLang="zh-CN" sz="2800" dirty="0"/>
              </a:p>
              <a:p>
                <a:r>
                  <a:rPr lang="zh-CN" altLang="en-US" sz="2800" dirty="0"/>
                  <a:t>问针与直线相交的概率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94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经典的蒲丰投针问题</a:t>
                </a:r>
                <a:endParaRPr lang="en-US" altLang="zh-CN" sz="2800" dirty="0"/>
              </a:p>
              <a:p>
                <a:r>
                  <a:rPr lang="zh-CN" altLang="en-US" sz="2800" dirty="0"/>
                  <a:t>分情况讨论</a:t>
                </a:r>
                <a:endParaRPr lang="en-US" altLang="zh-CN" sz="2800" dirty="0"/>
              </a:p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399" y="3316407"/>
            <a:ext cx="5090968" cy="214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0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939" y="1930400"/>
            <a:ext cx="3228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小泽在数轴上的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800" dirty="0"/>
                  <a:t>点处</a:t>
                </a:r>
                <a:endParaRPr lang="en-US" altLang="zh-CN" sz="2800" dirty="0"/>
              </a:p>
              <a:p>
                <a:r>
                  <a:rPr lang="zh-CN" altLang="en-US" sz="2800" dirty="0"/>
                  <a:t>小泽每次有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800" dirty="0"/>
                  <a:t>的概率向右走，有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800" dirty="0"/>
                  <a:t>的概率向左走</a:t>
                </a:r>
                <a:endParaRPr lang="en-US" altLang="zh-CN" sz="2800" dirty="0"/>
              </a:p>
              <a:p>
                <a:r>
                  <a:rPr lang="zh-CN" altLang="en-US" sz="2800" dirty="0"/>
                  <a:t>问小泽走到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处</m:t>
                    </m:r>
                  </m:oMath>
                </a14:m>
                <a:r>
                  <a:rPr lang="zh-CN" altLang="en-US" sz="2800" dirty="0"/>
                  <a:t>的概率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16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sz="2800" dirty="0"/>
                  <a:t>如果直接列求和式计算</a:t>
                </a:r>
                <a:endParaRPr lang="en-US" altLang="zh-CN" sz="2800" dirty="0"/>
              </a:p>
              <a:p>
                <a:r>
                  <a:rPr lang="zh-CN" altLang="en-US" sz="2800" dirty="0"/>
                  <a:t>大量组合数求和，卡特兰数，级数</a:t>
                </a:r>
                <a:endParaRPr lang="en-US" altLang="zh-CN" sz="2800" dirty="0"/>
              </a:p>
              <a:p>
                <a:r>
                  <a:rPr lang="zh-CN" altLang="en-US" sz="2800" dirty="0"/>
                  <a:t>设答案为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/>
                  <a:t>则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𝑟𝑝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+1−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舍去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结束了？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2512"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49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800" dirty="0"/>
                  <a:t>时，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dirty="0"/>
                  <a:t>是多少？</a:t>
                </a:r>
                <a:endParaRPr lang="en-US" altLang="zh-CN" sz="2800" dirty="0"/>
              </a:p>
              <a:p>
                <a:r>
                  <a:rPr lang="zh-CN" altLang="en-US" sz="2800" dirty="0"/>
                  <a:t>此时应有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61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小胡有一棵一个点的树，小胡会给这个点浇水，于是这个点会有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dirty="0"/>
                  <a:t>的概率长出两个儿子节点。</a:t>
                </a:r>
                <a:endParaRPr lang="en-US" altLang="zh-CN" sz="2800" dirty="0"/>
              </a:p>
              <a:p>
                <a:r>
                  <a:rPr lang="zh-CN" altLang="en-US" sz="2800" dirty="0"/>
                  <a:t>每次长出新的节点之后，小胡又会给新的节点浇水，它们也都有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dirty="0"/>
                  <a:t>的概率长出两个新的儿子节点。</a:t>
                </a:r>
                <a:endParaRPr lang="en-US" altLang="zh-CN" sz="2800" dirty="0"/>
              </a:p>
              <a:p>
                <a:r>
                  <a:rPr lang="zh-CN" altLang="en-US" sz="2800" dirty="0"/>
                  <a:t>小胡不希望自己被累死，所以小胡希望知道这棵树的大小是有限的的概率。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 r="-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90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稍加观察分析便可知道</a:t>
            </a:r>
            <a:endParaRPr lang="en-US" altLang="zh-CN" sz="2800" dirty="0"/>
          </a:p>
          <a:p>
            <a:r>
              <a:rPr lang="zh-CN" altLang="en-US" sz="2800" dirty="0"/>
              <a:t>这个问题与</a:t>
            </a:r>
            <a:r>
              <a:rPr lang="en-US" altLang="zh-CN" sz="2800" dirty="0"/>
              <a:t>Problem 4</a:t>
            </a:r>
            <a:r>
              <a:rPr lang="zh-CN" altLang="en-US" sz="2800" dirty="0"/>
              <a:t>一模一样</a:t>
            </a:r>
            <a:endParaRPr lang="en-US" altLang="zh-CN" sz="2800" dirty="0"/>
          </a:p>
          <a:p>
            <a:r>
              <a:rPr lang="zh-CN" altLang="en-US" sz="2800" dirty="0"/>
              <a:t>如何证明等价？</a:t>
            </a:r>
          </a:p>
        </p:txBody>
      </p:sp>
    </p:spTree>
    <p:extLst>
      <p:ext uri="{BB962C8B-B14F-4D97-AF65-F5344CB8AC3E}">
        <p14:creationId xmlns:p14="http://schemas.microsoft.com/office/powerpoint/2010/main" val="219300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考虑</a:t>
                </a:r>
                <a:r>
                  <a:rPr lang="en-US" altLang="zh-CN" sz="2800" dirty="0"/>
                  <a:t>Problem 4</a:t>
                </a:r>
              </a:p>
              <a:p>
                <a:r>
                  <a:rPr lang="zh-CN" altLang="en-US" sz="2800" dirty="0"/>
                  <a:t>我们希望求出小泽在能够走到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dirty="0"/>
                  <a:t>情况下，走到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dirty="0"/>
                  <a:t>的期望步数</a:t>
                </a:r>
                <a:endParaRPr lang="en-US" altLang="zh-CN" sz="2800" dirty="0"/>
              </a:p>
              <a:p>
                <a:r>
                  <a:rPr lang="zh-CN" altLang="en-US" sz="2800" dirty="0"/>
                  <a:t>换句话说，我们需要排除掉所有走无穷步的情况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7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设答案为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/>
                  <a:t>，则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=1×(1−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800" b="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altLang="zh-CN" sz="2800" b="0" dirty="0"/>
              </a:p>
              <a:p>
                <a:endParaRPr lang="en-US" altLang="zh-CN" sz="2800" dirty="0"/>
              </a:p>
              <a:p>
                <a:endParaRPr lang="en-US" altLang="zh-CN" sz="2800" b="0" dirty="0"/>
              </a:p>
              <a:p>
                <a:r>
                  <a:rPr lang="zh-CN" altLang="en-US" sz="2800" dirty="0"/>
                  <a:t>结束了？</a:t>
                </a:r>
                <a:endParaRPr lang="en-US" altLang="zh-CN" sz="2800" b="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100975"/>
            <a:ext cx="20955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3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我们还需要删掉向右走到了无穷远的情况</a:t>
                </a:r>
                <a:endParaRPr lang="en-US" altLang="zh-CN" sz="2800" dirty="0"/>
              </a:p>
              <a:p>
                <a:r>
                  <a:rPr lang="zh-CN" altLang="en-US" sz="2800" dirty="0"/>
                  <a:t>假设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dirty="0"/>
                  <a:t>是我们在</a:t>
                </a:r>
                <a:r>
                  <a:rPr lang="en-US" altLang="zh-CN" sz="2800" dirty="0"/>
                  <a:t>Problem 4</a:t>
                </a:r>
                <a:r>
                  <a:rPr lang="zh-CN" altLang="en-US" sz="2800" dirty="0"/>
                  <a:t>算出来的那个东西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×(1+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51"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895585"/>
            <a:ext cx="2884732" cy="150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671248" y="5308979"/>
                <a:ext cx="3548418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800" dirty="0"/>
                  <a:t>很有趣的情况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248" y="5308979"/>
                <a:ext cx="3548418" cy="700705"/>
              </a:xfrm>
              <a:prstGeom prst="rect">
                <a:avLst/>
              </a:prstGeom>
              <a:blipFill rotWithShape="0"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86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7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思考题：</a:t>
            </a:r>
            <a:endParaRPr lang="en-US" altLang="zh-CN" sz="2800" dirty="0"/>
          </a:p>
          <a:p>
            <a:r>
              <a:rPr lang="zh-CN" altLang="en-US" sz="2800" dirty="0"/>
              <a:t>小葱有一个圆，小葱在这个圆内随机选三点，如果三点不在一条直线上那么它们可以唯一确定一个新的圆。</a:t>
            </a:r>
            <a:endParaRPr lang="en-US" altLang="zh-CN" sz="2800" dirty="0"/>
          </a:p>
          <a:p>
            <a:r>
              <a:rPr lang="zh-CN" altLang="en-US" sz="2800" dirty="0"/>
              <a:t>小葱想知道新的圆被原来的圆包含的概率。</a:t>
            </a:r>
          </a:p>
        </p:txBody>
      </p:sp>
    </p:spTree>
    <p:extLst>
      <p:ext uri="{BB962C8B-B14F-4D97-AF65-F5344CB8AC3E}">
        <p14:creationId xmlns:p14="http://schemas.microsoft.com/office/powerpoint/2010/main" val="256700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4657661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</TotalTime>
  <Words>929</Words>
  <Application>Microsoft Office PowerPoint</Application>
  <PresentationFormat>宽屏</PresentationFormat>
  <Paragraphs>105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Trebuchet MS</vt:lpstr>
      <vt:lpstr>Wingdings 3</vt:lpstr>
      <vt:lpstr>平面</vt:lpstr>
      <vt:lpstr>浅谈一些概率期望问题</vt:lpstr>
      <vt:lpstr>概率期望的基本知识</vt:lpstr>
      <vt:lpstr>概率期望的基本知识</vt:lpstr>
      <vt:lpstr>概率期望的基本知识</vt:lpstr>
      <vt:lpstr>Problem 1</vt:lpstr>
      <vt:lpstr>Problem 1</vt:lpstr>
      <vt:lpstr>Problem 2</vt:lpstr>
      <vt:lpstr>Problem 2</vt:lpstr>
      <vt:lpstr>Problem 2</vt:lpstr>
      <vt:lpstr>Problem 2</vt:lpstr>
      <vt:lpstr>Problem 2.333333</vt:lpstr>
      <vt:lpstr>Problem 2.333333</vt:lpstr>
      <vt:lpstr>Problem 3</vt:lpstr>
      <vt:lpstr>Problem 3</vt:lpstr>
      <vt:lpstr>Problem 3</vt:lpstr>
      <vt:lpstr>Problem 4</vt:lpstr>
      <vt:lpstr>Problem 4</vt:lpstr>
      <vt:lpstr>Problem 4</vt:lpstr>
      <vt:lpstr>Problem 5</vt:lpstr>
      <vt:lpstr>Problem 5</vt:lpstr>
      <vt:lpstr>Problem 6</vt:lpstr>
      <vt:lpstr>Problem 6</vt:lpstr>
      <vt:lpstr>Problem 6</vt:lpstr>
      <vt:lpstr>Problem 7</vt:lpstr>
      <vt:lpstr>Thanks</vt:lpstr>
    </vt:vector>
  </TitlesOfParts>
  <Company>THU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浅谈一些概率期望问题</dc:title>
  <dc:creator>Haoxi Zhong</dc:creator>
  <cp:lastModifiedBy>澪 懿</cp:lastModifiedBy>
  <cp:revision>18</cp:revision>
  <dcterms:created xsi:type="dcterms:W3CDTF">2015-05-06T13:43:27Z</dcterms:created>
  <dcterms:modified xsi:type="dcterms:W3CDTF">2023-02-16T02:47:39Z</dcterms:modified>
</cp:coreProperties>
</file>