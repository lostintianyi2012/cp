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34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6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736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44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83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15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58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316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617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00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917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12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5514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186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510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00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1593F-AE1A-4953-84B4-C4B368644B89}" type="datetimeFigureOut">
              <a:rPr lang="zh-CN" altLang="en-US" smtClean="0"/>
              <a:t>2020-08-19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262774-D068-4BDC-BBF3-CD3856380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06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命运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清华大学  交叉信息研究院  </a:t>
            </a:r>
            <a:r>
              <a:rPr lang="zh-CN" altLang="en-US" dirty="0" smtClean="0"/>
              <a:t>杨天祺</a:t>
            </a:r>
            <a:endParaRPr lang="en-US" altLang="zh-CN" dirty="0" smtClean="0"/>
          </a:p>
          <a:p>
            <a:r>
              <a:rPr lang="zh-CN" altLang="en-US" smtClean="0"/>
              <a:t>清华大学  交叉信息研究院  李嘉图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104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952869"/>
            <a:ext cx="8596668" cy="3880773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给定一棵有根树</a:t>
            </a:r>
            <a:endParaRPr lang="en-US" altLang="zh-CN" sz="2400" dirty="0" smtClean="0"/>
          </a:p>
          <a:p>
            <a:r>
              <a:rPr lang="zh-CN" altLang="en-US" sz="2400" dirty="0"/>
              <a:t>树</a:t>
            </a:r>
            <a:r>
              <a:rPr lang="zh-CN" altLang="en-US" sz="2400" dirty="0" smtClean="0"/>
              <a:t>上额外有一些返祖边</a:t>
            </a:r>
            <a:endParaRPr lang="en-US" altLang="zh-CN" sz="2400" dirty="0" smtClean="0"/>
          </a:p>
          <a:p>
            <a:r>
              <a:rPr lang="zh-CN" altLang="en-US" sz="2400" dirty="0" smtClean="0"/>
              <a:t>你需要将每条树边黑白染色</a:t>
            </a:r>
            <a:endParaRPr lang="en-US" altLang="zh-CN" sz="2400" dirty="0" smtClean="0"/>
          </a:p>
          <a:p>
            <a:r>
              <a:rPr lang="zh-CN" altLang="en-US" sz="2400" dirty="0" smtClean="0"/>
              <a:t>要求满足每条返祖边覆盖的链中至少有一条边被染成了黑色</a:t>
            </a:r>
            <a:endParaRPr lang="en-US" altLang="zh-CN" sz="2400" dirty="0" smtClean="0"/>
          </a:p>
          <a:p>
            <a:r>
              <a:rPr lang="zh-CN" altLang="en-US" sz="2400" dirty="0" smtClean="0"/>
              <a:t>求方案数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5929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分数分布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zh-CN" altLang="en-US" dirty="0" smtClean="0"/>
                  <a:t>：</a:t>
                </a:r>
                <a:r>
                  <a:rPr lang="en-US" altLang="zh-CN" dirty="0" smtClean="0"/>
                  <a:t>70</a:t>
                </a:r>
                <a:r>
                  <a:rPr lang="zh-CN" altLang="en-US" dirty="0" smtClean="0"/>
                  <a:t>人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≥72</m:t>
                    </m:r>
                  </m:oMath>
                </a14:m>
                <a:r>
                  <a:rPr lang="zh-CN" altLang="en-US" dirty="0" smtClean="0"/>
                  <a:t>：</a:t>
                </a:r>
                <a:r>
                  <a:rPr lang="en-US" altLang="zh-CN" dirty="0" smtClean="0"/>
                  <a:t>96</a:t>
                </a:r>
                <a:r>
                  <a:rPr lang="zh-CN" altLang="en-US" dirty="0" smtClean="0"/>
                  <a:t>人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≥48</m:t>
                    </m:r>
                  </m:oMath>
                </a14:m>
                <a:r>
                  <a:rPr lang="zh-CN" altLang="en-US" dirty="0" smtClean="0"/>
                  <a:t>：</a:t>
                </a:r>
                <a:r>
                  <a:rPr lang="en-US" altLang="zh-CN" dirty="0" smtClean="0"/>
                  <a:t>148</a:t>
                </a:r>
                <a:r>
                  <a:rPr lang="zh-CN" altLang="en-US" dirty="0" smtClean="0"/>
                  <a:t>人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≥40</m:t>
                    </m:r>
                  </m:oMath>
                </a14:m>
                <a:r>
                  <a:rPr lang="zh-CN" altLang="en-US" dirty="0" smtClean="0"/>
                  <a:t>：</a:t>
                </a:r>
                <a:r>
                  <a:rPr lang="en-US" altLang="zh-CN" dirty="0" smtClean="0"/>
                  <a:t>203</a:t>
                </a:r>
                <a:r>
                  <a:rPr lang="zh-CN" altLang="en-US" dirty="0" smtClean="0"/>
                  <a:t>人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&lt;16</m:t>
                    </m:r>
                  </m:oMath>
                </a14:m>
                <a:r>
                  <a:rPr lang="zh-CN" altLang="en-US" dirty="0" smtClean="0"/>
                  <a:t>：</a:t>
                </a:r>
                <a:r>
                  <a:rPr lang="en-US" altLang="zh-CN" dirty="0" smtClean="0"/>
                  <a:t>29</a:t>
                </a:r>
                <a:r>
                  <a:rPr lang="zh-CN" altLang="en-US" dirty="0" smtClean="0"/>
                  <a:t>人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1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自由吐槽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74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人口普查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930400"/>
                <a:ext cx="8596668" cy="388077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暴力枚举</a:t>
                </a:r>
                <a:r>
                  <a:rPr lang="en-US" altLang="zh-CN" sz="24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种染色方案</a:t>
                </a:r>
                <a:endParaRPr lang="en-US" altLang="zh-CN" sz="2400" dirty="0" smtClean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复杂</a:t>
                </a:r>
                <a:r>
                  <a:rPr lang="zh-CN" altLang="en-US" sz="2400" dirty="0" smtClean="0"/>
                  <a:t>度：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𝑛𝑚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或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得分：</a:t>
                </a:r>
                <a:r>
                  <a:rPr lang="en-US" altLang="zh-CN" sz="2400" dirty="0" smtClean="0"/>
                  <a:t>16</a:t>
                </a:r>
                <a:r>
                  <a:rPr lang="zh-CN" altLang="en-US" sz="2400" dirty="0" smtClean="0"/>
                  <a:t>分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930400"/>
                <a:ext cx="8596668" cy="3880773"/>
              </a:xfrm>
              <a:blipFill>
                <a:blip r:embed="rId2"/>
                <a:stretch>
                  <a:fillRect l="-567" t="-1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06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 smtClean="0"/>
                  <a:t>很小？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930400"/>
                <a:ext cx="8596668" cy="388077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容斥！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枚举有哪些返祖边的限制不满足</a:t>
                </a:r>
                <a:endParaRPr lang="en-US" altLang="zh-CN" sz="2400" dirty="0" smtClean="0"/>
              </a:p>
              <a:p>
                <a:endParaRPr lang="en-US" altLang="zh-CN" sz="2400" dirty="0"/>
              </a:p>
              <a:p>
                <a:r>
                  <a:rPr lang="zh-CN" altLang="en-US" sz="2400" dirty="0" smtClean="0"/>
                  <a:t>复杂度：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得分：</a:t>
                </a:r>
                <a:r>
                  <a:rPr lang="en-US" altLang="zh-CN" sz="2400" dirty="0" smtClean="0"/>
                  <a:t>24</a:t>
                </a:r>
                <a:r>
                  <a:rPr lang="zh-CN" altLang="en-US" sz="2400" dirty="0" smtClean="0"/>
                  <a:t>分</a:t>
                </a:r>
                <a:endParaRPr lang="en-US" altLang="zh-CN" sz="2400" dirty="0" smtClean="0"/>
              </a:p>
              <a:p>
                <a:endParaRPr lang="en-US" altLang="zh-CN" sz="24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930400"/>
                <a:ext cx="8596668" cy="3880773"/>
              </a:xfrm>
              <a:blipFill>
                <a:blip r:embed="rId3"/>
                <a:stretch>
                  <a:fillRect l="-567" t="-1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83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 smtClean="0"/>
                  <a:t>很小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17784"/>
                <a:ext cx="8596668" cy="4730262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dirty="0" smtClean="0"/>
                  <a:t>仔细写出容斥的式子</a:t>
                </a:r>
                <a:endParaRPr lang="en-US" altLang="zh-CN" sz="2000" dirty="0" smtClean="0"/>
              </a:p>
              <a:p>
                <a:r>
                  <a:rPr lang="zh-CN" altLang="en-US" sz="2000" dirty="0" smtClean="0"/>
                  <a:t>将每一条返祖边的限制看成树上的一条链，对于一个返祖边的集合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000" dirty="0" smtClean="0"/>
                  <a:t>，记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/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nary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000" dirty="0" smtClean="0"/>
                  <a:t> 中所有链的并上边的条数</a:t>
                </a:r>
                <a:endParaRPr lang="en-US" altLang="zh-CN" sz="2000" dirty="0" smtClean="0"/>
              </a:p>
              <a:p>
                <a:r>
                  <a:rPr lang="zh-CN" altLang="en-US" sz="2000" dirty="0" smtClean="0"/>
                  <a:t>则</a:t>
                </a:r>
                <a:endParaRPr lang="en-US" altLang="zh-CN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⋃"/>
                                      <m:supHide m:val="on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nary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 smtClean="0"/>
                  <a:t>发现我们只关心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/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nary>
                      </m:e>
                    </m:d>
                  </m:oMath>
                </a14:m>
                <a:endParaRPr lang="en-US" altLang="zh-CN" sz="2000" dirty="0" smtClean="0"/>
              </a:p>
              <a:p>
                <a:r>
                  <a:rPr lang="zh-CN" altLang="en-US" sz="2000" dirty="0" smtClean="0"/>
                  <a:t>动态维护树上链并</a:t>
                </a:r>
                <a:endParaRPr lang="en-US" altLang="zh-CN" sz="2000" dirty="0" smtClean="0"/>
              </a:p>
              <a:p>
                <a:endParaRPr lang="en-US" altLang="zh-CN" sz="2000" dirty="0" smtClean="0"/>
              </a:p>
              <a:p>
                <a:r>
                  <a:rPr lang="zh-CN" altLang="en-US" sz="2000" dirty="0"/>
                  <a:t>复杂</a:t>
                </a:r>
                <a:r>
                  <a:rPr lang="zh-CN" altLang="en-US" sz="2000" dirty="0" smtClean="0"/>
                  <a:t>度：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000" dirty="0" smtClean="0"/>
              </a:p>
              <a:p>
                <a:r>
                  <a:rPr lang="zh-CN" altLang="en-US" sz="2000" dirty="0" smtClean="0"/>
                  <a:t>得分：</a:t>
                </a:r>
                <a:r>
                  <a:rPr lang="en-US" altLang="zh-CN" sz="2000" dirty="0" smtClean="0"/>
                  <a:t>32</a:t>
                </a:r>
                <a:r>
                  <a:rPr lang="zh-CN" altLang="en-US" sz="2000" dirty="0" smtClean="0"/>
                  <a:t>分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17784"/>
                <a:ext cx="8596668" cy="4730262"/>
              </a:xfrm>
              <a:blipFill>
                <a:blip r:embed="rId3"/>
                <a:stretch>
                  <a:fillRect l="-284" t="-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48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 smtClean="0"/>
                  <a:t>很小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2037497"/>
                <a:ext cx="8596668" cy="388077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其实根本不用这么麻烦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只有返祖边的端点是关键点</a:t>
                </a:r>
                <a:r>
                  <a:rPr lang="en-US" altLang="zh-CN" sz="2400" dirty="0" smtClean="0"/>
                  <a:t>……</a:t>
                </a:r>
              </a:p>
              <a:p>
                <a:r>
                  <a:rPr lang="zh-CN" altLang="en-US" sz="2400" dirty="0"/>
                  <a:t>建</a:t>
                </a:r>
                <a:r>
                  <a:rPr lang="zh-CN" altLang="en-US" sz="2400" dirty="0" smtClean="0"/>
                  <a:t>个虚树跑就好了</a:t>
                </a:r>
                <a:endParaRPr lang="en-US" altLang="zh-CN" sz="2400" dirty="0" smtClean="0"/>
              </a:p>
              <a:p>
                <a:endParaRPr lang="en-US" altLang="zh-CN" sz="2400" dirty="0"/>
              </a:p>
              <a:p>
                <a:r>
                  <a:rPr lang="zh-CN" altLang="en-US" sz="2400" dirty="0" smtClean="0"/>
                  <a:t>复杂度：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得分：</a:t>
                </a:r>
                <a:r>
                  <a:rPr lang="en-US" altLang="zh-CN" sz="2400" dirty="0" smtClean="0"/>
                  <a:t>40</a:t>
                </a:r>
                <a:r>
                  <a:rPr lang="zh-CN" altLang="en-US" sz="2400" dirty="0" smtClean="0"/>
                  <a:t>分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037497"/>
                <a:ext cx="8596668" cy="3880773"/>
              </a:xfrm>
              <a:blipFill>
                <a:blip r:embed="rId3"/>
                <a:stretch>
                  <a:fillRect l="-567" t="-1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13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2195757"/>
                <a:ext cx="8596668" cy="388077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200" dirty="0" smtClean="0">
                    <a:solidFill>
                      <a:schemeClr val="tx1"/>
                    </a:solidFill>
                  </a:rPr>
                  <a:t>容斥的做法好像没有办法再扩展到</a:t>
                </a:r>
                <a:r>
                  <a:rPr lang="en-US" altLang="zh-CN" sz="3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200" dirty="0" smtClean="0">
                    <a:solidFill>
                      <a:schemeClr val="tx1"/>
                    </a:solidFill>
                  </a:rPr>
                  <a:t> 大的情形了</a:t>
                </a:r>
                <a:r>
                  <a:rPr lang="en-US" altLang="zh-CN" sz="3200" dirty="0" smtClean="0">
                    <a:solidFill>
                      <a:schemeClr val="tx1"/>
                    </a:solidFill>
                  </a:rPr>
                  <a:t>……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195757"/>
                <a:ext cx="8596668" cy="3880773"/>
              </a:xfrm>
              <a:blipFill>
                <a:blip r:embed="rId2"/>
                <a:stretch>
                  <a:fillRect l="-1064" t="-1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74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换种思路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树形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77108"/>
                <a:ext cx="8596668" cy="52138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000" dirty="0" smtClean="0"/>
                  <a:t>考虑以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zh-CN" altLang="en-US" sz="2000" dirty="0" smtClean="0"/>
                  <a:t>为根的子树还未确定染色方案，而其余边颜色全部确定的情况，可以注意到此时的染色方案数只与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zh-CN" altLang="en-US" sz="2000" dirty="0" smtClean="0"/>
                  <a:t>到根路径上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最近的黑边</a:t>
                </a:r>
                <a:r>
                  <a:rPr lang="zh-CN" altLang="en-US" sz="2000" dirty="0" smtClean="0"/>
                  <a:t>位置有关。</a:t>
                </a:r>
                <a:endParaRPr lang="en-US" altLang="zh-CN" sz="2000" dirty="0" smtClean="0"/>
              </a:p>
              <a:p>
                <a:r>
                  <a:rPr lang="zh-CN" altLang="en-US" sz="2000" dirty="0" smtClean="0"/>
                  <a:t>记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 smtClean="0"/>
                  <a:t> 表示以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 smtClean="0"/>
                  <a:t> 为根的子树还未确定染色方案，而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000" dirty="0" smtClean="0"/>
                  <a:t> 是最小的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满足</a:t>
                </a:r>
                <a:r>
                  <a:rPr lang="en-US" altLang="zh-CN" sz="20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 smtClean="0">
                    <a:solidFill>
                      <a:srgbClr val="FF0000"/>
                    </a:solidFill>
                  </a:rPr>
                  <a:t> 的第</a:t>
                </a:r>
                <a:r>
                  <a:rPr lang="en-US" altLang="zh-CN" sz="20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000" dirty="0" smtClean="0">
                    <a:solidFill>
                      <a:srgbClr val="FF0000"/>
                    </a:solidFill>
                  </a:rPr>
                  <a:t> 个祖先和第</a:t>
                </a:r>
                <a:r>
                  <a:rPr lang="en-US" altLang="zh-CN" sz="20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000" dirty="0" smtClean="0">
                    <a:solidFill>
                      <a:srgbClr val="FF0000"/>
                    </a:solidFill>
                  </a:rPr>
                  <a:t> 个祖先之间为黑边</a:t>
                </a:r>
                <a:r>
                  <a:rPr lang="zh-CN" altLang="en-US" sz="2000" dirty="0" smtClean="0"/>
                  <a:t>的数，的情况下的染色方案数。</a:t>
                </a:r>
                <a:endParaRPr lang="en-US" altLang="zh-CN" sz="2000" dirty="0" smtClean="0"/>
              </a:p>
              <a:p>
                <a:r>
                  <a:rPr lang="zh-CN" altLang="en-US" sz="2000" dirty="0" smtClean="0"/>
                  <a:t>转移方程</a:t>
                </a:r>
                <a:endParaRPr lang="en-US" altLang="zh-CN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𝑐h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 smtClean="0"/>
                  <a:t>需要把不满足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000" dirty="0" smtClean="0"/>
                  <a:t> </a:t>
                </a:r>
                <a:r>
                  <a:rPr lang="zh-CN" altLang="en-US" sz="2000" dirty="0" smtClean="0"/>
                  <a:t>为下端点的返祖边的限制的情况判掉</a:t>
                </a:r>
                <a:endParaRPr lang="en-US" altLang="zh-CN" sz="2000" dirty="0" smtClean="0"/>
              </a:p>
              <a:p>
                <a:endParaRPr lang="en-US" altLang="zh-CN" sz="2000" dirty="0"/>
              </a:p>
              <a:p>
                <a:r>
                  <a:rPr lang="zh-CN" altLang="en-US" sz="2000" dirty="0" smtClean="0"/>
                  <a:t>复杂度：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𝑑𝑒𝑝𝑡h</m:t>
                        </m:r>
                      </m:e>
                    </m:d>
                  </m:oMath>
                </a14:m>
                <a:endParaRPr lang="en-US" altLang="zh-CN" sz="2000" dirty="0" smtClean="0"/>
              </a:p>
              <a:p>
                <a:r>
                  <a:rPr lang="zh-CN" altLang="en-US" sz="2000" dirty="0" smtClean="0"/>
                  <a:t>得分：</a:t>
                </a:r>
                <a:r>
                  <a:rPr lang="en-US" altLang="zh-CN" sz="2000" dirty="0" smtClean="0"/>
                  <a:t>48</a:t>
                </a:r>
                <a:r>
                  <a:rPr lang="zh-CN" altLang="en-US" sz="2000" dirty="0" smtClean="0"/>
                  <a:t>分</a:t>
                </a:r>
                <a:endParaRPr lang="en-US" altLang="zh-CN" sz="2000" dirty="0" smtClean="0"/>
              </a:p>
              <a:p>
                <a:r>
                  <a:rPr lang="zh-CN" altLang="en-US" sz="2000" dirty="0" smtClean="0"/>
                  <a:t>结合虚树可以得到</a:t>
                </a:r>
                <a:r>
                  <a:rPr lang="en-US" altLang="zh-CN" sz="2000" dirty="0" smtClean="0"/>
                  <a:t>72</a:t>
                </a:r>
                <a:r>
                  <a:rPr lang="zh-CN" altLang="en-US" sz="2000" dirty="0" smtClean="0"/>
                  <a:t>分</a:t>
                </a:r>
                <a:endParaRPr lang="en-US" altLang="zh-CN" sz="20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77108"/>
                <a:ext cx="8596668" cy="5213838"/>
              </a:xfrm>
              <a:blipFill>
                <a:blip r:embed="rId2"/>
                <a:stretch>
                  <a:fillRect l="-284" t="-467" r="-3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71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优化？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把答案相同的区间合并起来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用平衡树维护区间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启发式合并</a:t>
                </a:r>
                <a:endParaRPr lang="en-US" altLang="zh-CN" sz="2400" dirty="0" smtClean="0"/>
              </a:p>
              <a:p>
                <a:endParaRPr lang="en-US" altLang="zh-CN" sz="2400" dirty="0"/>
              </a:p>
              <a:p>
                <a:r>
                  <a:rPr lang="zh-CN" altLang="en-US" sz="2400" dirty="0" smtClean="0"/>
                  <a:t>复杂度：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sz="2400" dirty="0" smtClean="0"/>
                  <a:t> 或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得分：</a:t>
                </a:r>
                <a:r>
                  <a:rPr lang="en-US" altLang="zh-CN" sz="2400" dirty="0" smtClean="0"/>
                  <a:t>72~100</a:t>
                </a:r>
                <a:r>
                  <a:rPr lang="zh-CN" altLang="en-US" sz="2400" dirty="0" smtClean="0"/>
                  <a:t>分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结合虚树可以得到</a:t>
                </a:r>
                <a:r>
                  <a:rPr lang="en-US" altLang="zh-CN" sz="2400" dirty="0" smtClean="0"/>
                  <a:t>88~100</a:t>
                </a:r>
                <a:r>
                  <a:rPr lang="zh-CN" altLang="en-US" sz="2400" dirty="0" smtClean="0"/>
                  <a:t>分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7" t="-1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16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优化！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发现只需要支持区间加（从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 转移）、区间赋零（判掉不合法的情况</a:t>
                </a:r>
                <a:r>
                  <a:rPr lang="zh-CN" altLang="en-US" sz="2400" dirty="0"/>
                  <a:t>）</a:t>
                </a:r>
                <a:r>
                  <a:rPr lang="zh-CN" altLang="en-US" sz="2400" dirty="0" smtClean="0"/>
                  <a:t>、单点查询</a:t>
                </a:r>
                <a:endParaRPr lang="en-US" altLang="zh-CN" sz="2400" dirty="0" smtClean="0"/>
              </a:p>
              <a:p>
                <a:r>
                  <a:rPr lang="zh-CN" altLang="en-US" sz="2400" dirty="0"/>
                  <a:t>线段</a:t>
                </a:r>
                <a:r>
                  <a:rPr lang="zh-CN" altLang="en-US" sz="2400" dirty="0" smtClean="0"/>
                  <a:t>树合并维护即可</a:t>
                </a:r>
                <a:endParaRPr lang="en-US" altLang="zh-CN" sz="2400" dirty="0" smtClean="0"/>
              </a:p>
              <a:p>
                <a:endParaRPr lang="en-US" altLang="zh-CN" sz="2400" dirty="0"/>
              </a:p>
              <a:p>
                <a:r>
                  <a:rPr lang="zh-CN" altLang="en-US" sz="2400" dirty="0" smtClean="0"/>
                  <a:t>复杂度：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得分：</a:t>
                </a:r>
                <a:r>
                  <a:rPr lang="en-US" altLang="zh-CN" sz="2400" dirty="0" smtClean="0"/>
                  <a:t>100</a:t>
                </a:r>
                <a:r>
                  <a:rPr lang="zh-CN" altLang="en-US" sz="2400" dirty="0" smtClean="0"/>
                  <a:t>分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7" t="-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24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欢迎提问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18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625</TotalTime>
  <Words>272</Words>
  <Application>Microsoft Office PowerPoint</Application>
  <PresentationFormat>宽屏</PresentationFormat>
  <Paragraphs>71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方正姚体</vt:lpstr>
      <vt:lpstr>华文新魏</vt:lpstr>
      <vt:lpstr>Arial</vt:lpstr>
      <vt:lpstr>Cambria Math</vt:lpstr>
      <vt:lpstr>Trebuchet MS</vt:lpstr>
      <vt:lpstr>Wingdings 3</vt:lpstr>
      <vt:lpstr>平面</vt:lpstr>
      <vt:lpstr>命运</vt:lpstr>
      <vt:lpstr>题意</vt:lpstr>
      <vt:lpstr>分数分布</vt:lpstr>
      <vt:lpstr>自由吐槽</vt:lpstr>
      <vt:lpstr>人口普查</vt:lpstr>
      <vt:lpstr>m很小？</vt:lpstr>
      <vt:lpstr>m很小</vt:lpstr>
      <vt:lpstr>m很小</vt:lpstr>
      <vt:lpstr>PowerPoint 演示文稿</vt:lpstr>
      <vt:lpstr>换种思路——树形DP</vt:lpstr>
      <vt:lpstr>优化？</vt:lpstr>
      <vt:lpstr>优化！</vt:lpstr>
      <vt:lpstr>欢迎提问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命运</dc:title>
  <dc:creator>Yang Tianqi</dc:creator>
  <cp:lastModifiedBy>Yang Tianqi</cp:lastModifiedBy>
  <cp:revision>24</cp:revision>
  <dcterms:created xsi:type="dcterms:W3CDTF">2020-08-18T00:20:12Z</dcterms:created>
  <dcterms:modified xsi:type="dcterms:W3CDTF">2020-08-19T15:14:09Z</dcterms:modified>
</cp:coreProperties>
</file>