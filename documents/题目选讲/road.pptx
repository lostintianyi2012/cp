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4" r:id="rId4"/>
    <p:sldId id="272" r:id="rId5"/>
    <p:sldId id="263" r:id="rId6"/>
    <p:sldId id="261" r:id="rId7"/>
    <p:sldId id="262" r:id="rId8"/>
    <p:sldId id="259" r:id="rId9"/>
    <p:sldId id="270" r:id="rId10"/>
    <p:sldId id="266" r:id="rId11"/>
    <p:sldId id="267" r:id="rId12"/>
    <p:sldId id="273" r:id="rId13"/>
    <p:sldId id="268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71671-8957-42E5-8158-1CF4308CA1ED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429B4-9556-4D00-82A9-A374A3CD5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5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429B4-9556-4D00-82A9-A374A3CD5E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4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1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1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0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2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7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6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2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9799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99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326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37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97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0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8754C-5B83-4411-A623-81C482FDE2D2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E1443F-B55A-404B-8C83-B069649C1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7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3AB7-6A82-47C5-9EE3-80B3976FC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翻修道路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AA45A-5929-431E-BBDB-3D9D93960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命题人：</a:t>
            </a:r>
            <a:r>
              <a:rPr lang="en-US" dirty="0"/>
              <a:t>matthew99</a:t>
            </a:r>
          </a:p>
          <a:p>
            <a:r>
              <a:rPr lang="zh-CN" altLang="en-US" dirty="0"/>
              <a:t>讲题人：</a:t>
            </a:r>
            <a:r>
              <a:rPr lang="en-US" altLang="zh-CN" dirty="0" err="1"/>
              <a:t>exfjoe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1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7554-7108-4519-BCBB-FAF502CD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BF3BB-DD3B-49DA-A3F2-14C2AF41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给定一张</a:t>
            </a:r>
            <a:r>
              <a:rPr lang="en-US" altLang="zh-CN" sz="2800" dirty="0"/>
              <a:t>n(&lt;=500,000)</a:t>
            </a:r>
            <a:r>
              <a:rPr lang="zh-CN" altLang="en-US" sz="2800" dirty="0"/>
              <a:t>个点</a:t>
            </a:r>
            <a:r>
              <a:rPr lang="en-US" altLang="zh-CN" sz="2800" dirty="0"/>
              <a:t>m(&lt;=1,000,000)</a:t>
            </a:r>
            <a:r>
              <a:rPr lang="zh-CN" altLang="en-US" sz="2800" dirty="0"/>
              <a:t>条边的连通弦图（无重边自环），边带正整数权，给定起点</a:t>
            </a:r>
            <a:r>
              <a:rPr lang="en-US" altLang="zh-CN" sz="2800" dirty="0"/>
              <a:t>S</a:t>
            </a:r>
            <a:r>
              <a:rPr lang="zh-CN" altLang="en-US" sz="2800" dirty="0"/>
              <a:t>和终点</a:t>
            </a:r>
            <a:r>
              <a:rPr lang="en-US" altLang="zh-CN" sz="2800" dirty="0"/>
              <a:t>T</a:t>
            </a:r>
            <a:r>
              <a:rPr lang="zh-CN" altLang="en-US" sz="2800" dirty="0"/>
              <a:t>，求一条起点到终点的最短路，使得删掉这条路之后，图仍然连通，如果无解输出</a:t>
            </a:r>
            <a:r>
              <a:rPr lang="en-US" altLang="zh-CN" sz="2800" dirty="0"/>
              <a:t>-1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525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2123-57F9-46BA-AE85-04D2698C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得分情况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89229-7150-492E-9464-E38C00110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31 </a:t>
            </a:r>
            <a:r>
              <a:rPr lang="zh-CN" altLang="en-US" sz="2400" dirty="0"/>
              <a:t>个 </a:t>
            </a:r>
            <a:r>
              <a:rPr lang="en-US" altLang="zh-CN" sz="2400" dirty="0"/>
              <a:t>45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en-US" altLang="zh-CN" sz="2400" dirty="0"/>
              <a:t>51 </a:t>
            </a:r>
            <a:r>
              <a:rPr lang="zh-CN" altLang="en-US" sz="2400" dirty="0"/>
              <a:t>个 </a:t>
            </a:r>
            <a:r>
              <a:rPr lang="en-US" altLang="zh-CN" sz="2400" dirty="0"/>
              <a:t>&gt;= 30 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en-US" altLang="zh-CN" sz="2400" dirty="0"/>
              <a:t>128 </a:t>
            </a:r>
            <a:r>
              <a:rPr lang="zh-CN" altLang="en-US" sz="2400" dirty="0"/>
              <a:t>个 </a:t>
            </a:r>
            <a:r>
              <a:rPr lang="en-US" altLang="zh-CN" sz="2400" dirty="0"/>
              <a:t>&gt;= 20 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en-US" altLang="zh-CN" sz="2400" dirty="0"/>
              <a:t>200 </a:t>
            </a:r>
            <a:r>
              <a:rPr lang="zh-CN" altLang="en-US" sz="2400" dirty="0"/>
              <a:t>多人 </a:t>
            </a:r>
            <a:r>
              <a:rPr lang="en-US" altLang="zh-CN" sz="2400" dirty="0"/>
              <a:t>5 </a:t>
            </a:r>
            <a:r>
              <a:rPr lang="zh-CN" altLang="en-US" sz="2400" dirty="0"/>
              <a:t>分或 </a:t>
            </a:r>
            <a:r>
              <a:rPr lang="en-US" altLang="zh-CN" sz="2400" dirty="0"/>
              <a:t>0 </a:t>
            </a:r>
            <a:r>
              <a:rPr lang="zh-CN" altLang="en-US" sz="2400" dirty="0"/>
              <a:t>分。</a:t>
            </a:r>
          </a:p>
        </p:txBody>
      </p:sp>
    </p:spTree>
    <p:extLst>
      <p:ext uri="{BB962C8B-B14F-4D97-AF65-F5344CB8AC3E}">
        <p14:creationId xmlns:p14="http://schemas.microsoft.com/office/powerpoint/2010/main" val="165315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F293-A167-4DE1-BE73-48D5D2D8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丢了密码条？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0974-A8C3-453D-9BBD-0A64EBF6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我丢了密码条，怎么办？</a:t>
            </a:r>
            <a:endParaRPr lang="en-US" altLang="zh-CN" sz="2800" dirty="0"/>
          </a:p>
          <a:p>
            <a:r>
              <a:rPr lang="zh-CN" altLang="en-US" sz="2800" dirty="0"/>
              <a:t>输出</a:t>
            </a:r>
            <a:r>
              <a:rPr lang="en-US" altLang="zh-CN" sz="2800" dirty="0"/>
              <a:t>-1</a:t>
            </a:r>
            <a:r>
              <a:rPr lang="zh-CN" altLang="en-US" sz="2800" dirty="0"/>
              <a:t>，这样</a:t>
            </a:r>
            <a:r>
              <a:rPr lang="en-US" altLang="zh-CN" sz="2800" dirty="0"/>
              <a:t>5</a:t>
            </a:r>
            <a:r>
              <a:rPr lang="zh-CN" altLang="en-US" sz="2800" dirty="0"/>
              <a:t>分就回来了。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967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7346-8B41-480F-8E8F-A38C86EC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显然的性质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82DDA-AB6B-4782-930E-2AC9E882B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最优路径一定是简单路（无环）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7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0E5C54-3E32-4635-80BA-777E0C424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787" y="1270000"/>
            <a:ext cx="6160134" cy="4707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2B9925-BFA8-458D-A1D1-3D2141C5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割集的性质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BC29B-5D7D-4537-BFEA-9AB912F2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0396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Pxv</a:t>
            </a:r>
            <a:r>
              <a:rPr lang="zh-CN" altLang="en-US" sz="2000" dirty="0"/>
              <a:t>和</a:t>
            </a:r>
            <a:r>
              <a:rPr lang="en-US" altLang="zh-CN" sz="2000" dirty="0"/>
              <a:t>Puy</a:t>
            </a:r>
            <a:r>
              <a:rPr lang="zh-CN" altLang="en-US" sz="2000" dirty="0"/>
              <a:t>分别是</a:t>
            </a:r>
            <a:r>
              <a:rPr lang="en-US" altLang="zh-CN" sz="2000" dirty="0"/>
              <a:t>x</a:t>
            </a:r>
            <a:r>
              <a:rPr lang="zh-CN" altLang="en-US" sz="2000" dirty="0"/>
              <a:t>到</a:t>
            </a:r>
            <a:r>
              <a:rPr lang="en-US" altLang="zh-CN" sz="2000" dirty="0"/>
              <a:t>v</a:t>
            </a:r>
            <a:r>
              <a:rPr lang="zh-CN" altLang="en-US" sz="2000" dirty="0"/>
              <a:t>和</a:t>
            </a:r>
            <a:r>
              <a:rPr lang="en-US" altLang="zh-CN" sz="2000" dirty="0"/>
              <a:t>u</a:t>
            </a:r>
            <a:r>
              <a:rPr lang="zh-CN" altLang="en-US" sz="2000" dirty="0"/>
              <a:t>到</a:t>
            </a:r>
            <a:r>
              <a:rPr lang="en-US" altLang="zh-CN" sz="2000" dirty="0"/>
              <a:t>y</a:t>
            </a:r>
            <a:r>
              <a:rPr lang="zh-CN" altLang="en-US" sz="2000" dirty="0"/>
              <a:t>的</a:t>
            </a:r>
            <a:r>
              <a:rPr lang="zh-CN" altLang="en-US" sz="2000" b="1" dirty="0"/>
              <a:t>经过的边数最少</a:t>
            </a:r>
            <a:r>
              <a:rPr lang="zh-CN" altLang="en-US" sz="2000" dirty="0"/>
              <a:t>的路径（不一定是最短路径）</a:t>
            </a:r>
            <a:endParaRPr lang="en-US" altLang="zh-CN" sz="2000" dirty="0"/>
          </a:p>
          <a:p>
            <a:r>
              <a:rPr lang="zh-CN" altLang="en-US" sz="2000" dirty="0"/>
              <a:t>环</a:t>
            </a:r>
            <a:r>
              <a:rPr lang="en-US" altLang="zh-CN" sz="2000" dirty="0" err="1"/>
              <a:t>Pxv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xu</a:t>
            </a:r>
            <a:r>
              <a:rPr lang="en-US" altLang="zh-CN" sz="2000" dirty="0"/>
              <a:t> + Puy + </a:t>
            </a:r>
            <a:r>
              <a:rPr lang="en-US" altLang="zh-CN" sz="2000" dirty="0" err="1"/>
              <a:t>yv</a:t>
            </a:r>
            <a:r>
              <a:rPr lang="zh-CN" altLang="en-US" sz="2000" dirty="0"/>
              <a:t>在</a:t>
            </a:r>
            <a:r>
              <a:rPr lang="en-US" altLang="zh-CN" sz="2000" dirty="0" err="1"/>
              <a:t>Pxy</a:t>
            </a:r>
            <a:r>
              <a:rPr lang="zh-CN" altLang="en-US" sz="2000" dirty="0"/>
              <a:t>和</a:t>
            </a:r>
            <a:r>
              <a:rPr lang="en-US" altLang="zh-CN" sz="2000" dirty="0"/>
              <a:t>Puy</a:t>
            </a:r>
            <a:r>
              <a:rPr lang="zh-CN" altLang="en-US" sz="2000" dirty="0"/>
              <a:t>部分不存在弦。</a:t>
            </a:r>
            <a:endParaRPr lang="en-US" altLang="zh-CN" sz="2000" dirty="0"/>
          </a:p>
          <a:p>
            <a:pPr lvl="1"/>
            <a:r>
              <a:rPr lang="zh-CN" altLang="en-US" sz="1800" dirty="0"/>
              <a:t>红边的存在会导致</a:t>
            </a:r>
            <a:r>
              <a:rPr lang="en-US" altLang="zh-CN" sz="1800" dirty="0"/>
              <a:t>Puy</a:t>
            </a:r>
            <a:r>
              <a:rPr lang="zh-CN" altLang="en-US" sz="1800" dirty="0"/>
              <a:t>不再是经过的边数最少的路径</a:t>
            </a:r>
            <a:endParaRPr lang="en-US" altLang="zh-CN" sz="1800" dirty="0"/>
          </a:p>
          <a:p>
            <a:r>
              <a:rPr lang="zh-CN" altLang="en-US" sz="2000" dirty="0"/>
              <a:t>因此，必然存在边</a:t>
            </a:r>
            <a:r>
              <a:rPr lang="en-US" altLang="zh-CN" sz="2000" dirty="0"/>
              <a:t>xy</a:t>
            </a:r>
            <a:r>
              <a:rPr lang="zh-CN" altLang="en-US" sz="2000" dirty="0"/>
              <a:t>或</a:t>
            </a:r>
            <a:r>
              <a:rPr lang="en-US" altLang="zh-CN" sz="2000" dirty="0"/>
              <a:t>vu</a:t>
            </a:r>
          </a:p>
          <a:p>
            <a:r>
              <a:rPr lang="zh-CN" altLang="en-US" sz="2000" dirty="0"/>
              <a:t>可以证明，极小的割集是连通图：</a:t>
            </a:r>
            <a:endParaRPr lang="en-US" altLang="zh-CN" sz="2000" dirty="0"/>
          </a:p>
          <a:p>
            <a:pPr lvl="1"/>
            <a:r>
              <a:rPr lang="zh-CN" altLang="en-US" sz="1800" dirty="0"/>
              <a:t>只用考虑是路径的割集</a:t>
            </a:r>
            <a:endParaRPr lang="en-US" altLang="zh-CN" sz="1800" dirty="0"/>
          </a:p>
          <a:p>
            <a:pPr lvl="1"/>
            <a:r>
              <a:rPr lang="zh-CN" altLang="en-US" sz="1800" dirty="0"/>
              <a:t>如果一个极小的割集被一条路径包含，这个割集一定是路径中连续的一段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45017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D5378-2CBD-4884-8036-33534F27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438" y="1494724"/>
            <a:ext cx="7753156" cy="4546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47E5B9-F1CB-46CF-BF34-D2CA0690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割集的性质 </a:t>
            </a:r>
            <a:r>
              <a:rPr lang="en-US" altLang="zh-CN" dirty="0" err="1"/>
              <a:t>ctd</a:t>
            </a:r>
            <a:r>
              <a:rPr lang="en-US" altLang="zh-CN" dirty="0"/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12506-CEB0-4857-B301-9E77786DC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573539" cy="388077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u v w</a:t>
            </a:r>
            <a:r>
              <a:rPr lang="zh-CN" altLang="en-US" sz="2400" dirty="0"/>
              <a:t>是路径中连续的三个点，</a:t>
            </a:r>
            <a:r>
              <a:rPr lang="en-US" altLang="zh-CN" sz="2400" dirty="0"/>
              <a:t>u</a:t>
            </a:r>
            <a:r>
              <a:rPr lang="zh-CN" altLang="en-US" sz="2400" dirty="0"/>
              <a:t>且</a:t>
            </a:r>
            <a:r>
              <a:rPr lang="en-US" altLang="zh-CN" sz="2400" dirty="0"/>
              <a:t>v</a:t>
            </a:r>
            <a:r>
              <a:rPr lang="zh-CN" altLang="en-US" sz="2400" dirty="0"/>
              <a:t>在割集不同侧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/>
              <a:t>w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zh-CN" altLang="en-US" sz="2400" dirty="0"/>
              <a:t>同侧，那么我们已经走完了当前的割集。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/>
              <a:t>w</a:t>
            </a:r>
            <a:r>
              <a:rPr lang="zh-CN" altLang="en-US" sz="2400" dirty="0"/>
              <a:t>和</a:t>
            </a:r>
            <a:r>
              <a:rPr lang="en-US" altLang="zh-CN" sz="2400" dirty="0"/>
              <a:t>u</a:t>
            </a:r>
            <a:r>
              <a:rPr lang="zh-CN" altLang="en-US" sz="2400" dirty="0"/>
              <a:t>同侧，</a:t>
            </a:r>
            <a:r>
              <a:rPr lang="en-US" altLang="zh-CN" sz="2400" dirty="0"/>
              <a:t>u</a:t>
            </a:r>
            <a:r>
              <a:rPr lang="zh-CN" altLang="en-US" sz="2400" dirty="0"/>
              <a:t>和</a:t>
            </a:r>
            <a:r>
              <a:rPr lang="en-US" altLang="zh-CN" sz="2400" dirty="0"/>
              <a:t>w</a:t>
            </a:r>
            <a:r>
              <a:rPr lang="zh-CN" altLang="en-US" sz="2400" dirty="0"/>
              <a:t>必然直接相连。</a:t>
            </a:r>
            <a:endParaRPr lang="en-US" altLang="zh-CN" sz="2400" dirty="0"/>
          </a:p>
          <a:p>
            <a:pPr lvl="1"/>
            <a:r>
              <a:rPr lang="zh-CN" altLang="en-US" sz="2000" dirty="0"/>
              <a:t>设</a:t>
            </a:r>
            <a:r>
              <a:rPr lang="en-US" altLang="zh-CN" sz="2000" dirty="0" err="1"/>
              <a:t>Puw</a:t>
            </a:r>
            <a:r>
              <a:rPr lang="zh-CN" altLang="en-US" sz="2000" dirty="0"/>
              <a:t>是</a:t>
            </a:r>
            <a:r>
              <a:rPr lang="en-US" altLang="zh-CN" sz="2000" dirty="0"/>
              <a:t>u</a:t>
            </a:r>
            <a:r>
              <a:rPr lang="zh-CN" altLang="en-US" sz="2000" dirty="0"/>
              <a:t>到</a:t>
            </a:r>
            <a:r>
              <a:rPr lang="en-US" altLang="zh-CN" sz="2000" dirty="0"/>
              <a:t>v</a:t>
            </a:r>
            <a:r>
              <a:rPr lang="zh-CN" altLang="en-US" sz="2000" dirty="0"/>
              <a:t>经过边最少的路，如果</a:t>
            </a:r>
            <a:r>
              <a:rPr lang="en-US" altLang="zh-CN" sz="2000" dirty="0" err="1"/>
              <a:t>Puw</a:t>
            </a:r>
            <a:r>
              <a:rPr lang="zh-CN" altLang="en-US" sz="2000" dirty="0"/>
              <a:t>不止一条边，那么环</a:t>
            </a:r>
            <a:r>
              <a:rPr lang="en-US" altLang="zh-CN" sz="2000" dirty="0" err="1"/>
              <a:t>Puv+uv+vw</a:t>
            </a:r>
            <a:r>
              <a:rPr lang="zh-CN" altLang="en-US" sz="2000" dirty="0"/>
              <a:t>没有弦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66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DD40-74AE-4FA3-AFE1-8158F851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E1F1-44D7-4789-8B7C-B6F61F49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如果边权全部为相同，那么直接求任意一条</a:t>
            </a:r>
            <a:r>
              <a:rPr lang="en-US" altLang="zh-CN" sz="2400" dirty="0"/>
              <a:t>BFS</a:t>
            </a:r>
            <a:r>
              <a:rPr lang="zh-CN" altLang="en-US" sz="2400" dirty="0"/>
              <a:t>最短路，如果不合法输出</a:t>
            </a:r>
            <a:r>
              <a:rPr lang="en-US" altLang="zh-CN" sz="2400" dirty="0"/>
              <a:t>-1</a:t>
            </a:r>
            <a:r>
              <a:rPr lang="zh-CN" altLang="en-US" sz="2400" dirty="0"/>
              <a:t>，否则输出最短路权值和。</a:t>
            </a:r>
            <a:endParaRPr lang="en-US" altLang="zh-CN" sz="2400" dirty="0"/>
          </a:p>
          <a:p>
            <a:pPr lvl="1"/>
            <a:r>
              <a:rPr lang="zh-CN" altLang="en-US" sz="2000" dirty="0"/>
              <a:t>如果穿过了大小为</a:t>
            </a:r>
            <a:r>
              <a:rPr lang="en-US" altLang="zh-CN" sz="2000" dirty="0"/>
              <a:t>1</a:t>
            </a:r>
            <a:r>
              <a:rPr lang="zh-CN" altLang="en-US" sz="2000" dirty="0"/>
              <a:t>的割集，那么经过了一条桥，必然无解。</a:t>
            </a:r>
            <a:endParaRPr lang="en-US" altLang="zh-CN" sz="2000" dirty="0"/>
          </a:p>
          <a:p>
            <a:pPr lvl="1"/>
            <a:r>
              <a:rPr lang="zh-CN" altLang="en-US" sz="2000" dirty="0"/>
              <a:t>否则，根据前面的理论，可以调整得到更优的路径</a:t>
            </a:r>
            <a:r>
              <a:rPr lang="en-US" altLang="zh-CN" sz="2000" dirty="0"/>
              <a:t>(u-&gt;w</a:t>
            </a:r>
            <a:r>
              <a:rPr lang="zh-CN" altLang="en-US" sz="2000" dirty="0"/>
              <a:t>而不是</a:t>
            </a:r>
            <a:r>
              <a:rPr lang="en-US" altLang="zh-CN" sz="2000" dirty="0"/>
              <a:t>u-&gt;v-&gt;w)</a:t>
            </a:r>
            <a:r>
              <a:rPr lang="zh-CN" altLang="en-US" sz="2000" dirty="0"/>
              <a:t>。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1279F-0EE8-4F01-901D-343FAA97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90" y="3959407"/>
            <a:ext cx="4668981" cy="2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5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5610A-EAF8-4242-8BD6-1D1BE55FA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904" y="1930400"/>
            <a:ext cx="4558720" cy="3083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385C66-992F-4067-B4F3-77EDD5F3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非特殊情况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B2CD-C610-4402-BBEA-F9A5630C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359570" cy="388077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如果最短路不合法，可能通过调整得到更优的答案。</a:t>
            </a:r>
            <a:endParaRPr lang="en-US" altLang="zh-CN" sz="2400" dirty="0"/>
          </a:p>
          <a:p>
            <a:pPr lvl="1"/>
            <a:r>
              <a:rPr lang="zh-CN" altLang="en-US" sz="2000" dirty="0"/>
              <a:t>黑色路径不合法，蓝色路径更长但是合法</a:t>
            </a:r>
            <a:endParaRPr lang="en-US" altLang="zh-CN" sz="2000" dirty="0"/>
          </a:p>
          <a:p>
            <a:r>
              <a:rPr lang="zh-CN" altLang="en-US" sz="2400" dirty="0"/>
              <a:t>直觉：一定是某些地方走最短路径，某些地方离开暂时最短路径然后回到最短路径。</a:t>
            </a:r>
            <a:endParaRPr lang="en-US" altLang="zh-CN" sz="2400" dirty="0"/>
          </a:p>
          <a:p>
            <a:r>
              <a:rPr lang="zh-CN" altLang="en-US" sz="2400" dirty="0"/>
              <a:t>可以证明：</a:t>
            </a:r>
            <a:endParaRPr lang="en-US" altLang="zh-CN" sz="2400" dirty="0"/>
          </a:p>
          <a:p>
            <a:pPr lvl="1"/>
            <a:r>
              <a:rPr lang="zh-CN" altLang="en-US" sz="2000" dirty="0"/>
              <a:t>如果从</a:t>
            </a:r>
            <a:r>
              <a:rPr lang="en-US" altLang="zh-CN" sz="2000" dirty="0"/>
              <a:t>u</a:t>
            </a:r>
            <a:r>
              <a:rPr lang="zh-CN" altLang="en-US" sz="2000" dirty="0"/>
              <a:t>离开最短路径，那么不会在</a:t>
            </a:r>
            <a:r>
              <a:rPr lang="en-US" altLang="zh-CN" sz="2000" dirty="0"/>
              <a:t>u</a:t>
            </a:r>
            <a:r>
              <a:rPr lang="zh-CN" altLang="en-US" sz="2000" dirty="0"/>
              <a:t>之前进入最短路径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74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86B4-A0BB-4C27-9A6D-77AAD300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重要性质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C1B4-5B99-45E6-B1EC-845EA918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189185" cy="388077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u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zh-CN" altLang="en-US" sz="2400" dirty="0"/>
              <a:t>是任意路径上两个不同点，那么你不可能离开这条路径后经过一个大于</a:t>
            </a:r>
            <a:r>
              <a:rPr lang="en-US" altLang="zh-CN" sz="2400" dirty="0"/>
              <a:t>2</a:t>
            </a:r>
            <a:r>
              <a:rPr lang="zh-CN" altLang="en-US" sz="2400" dirty="0"/>
              <a:t>的割集，再到达</a:t>
            </a:r>
            <a:r>
              <a:rPr lang="en-US" altLang="zh-CN" sz="2400" dirty="0"/>
              <a:t>v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两个点显然在割集同侧。</a:t>
            </a:r>
            <a:endParaRPr lang="en-US" altLang="zh-CN" sz="2400" dirty="0"/>
          </a:p>
          <a:p>
            <a:r>
              <a:rPr lang="zh-CN" altLang="en-US" sz="2400" dirty="0"/>
              <a:t>由于经过的割集边数</a:t>
            </a:r>
            <a:r>
              <a:rPr lang="en-US" altLang="zh-CN" sz="2400" dirty="0"/>
              <a:t>&gt;2</a:t>
            </a:r>
            <a:r>
              <a:rPr lang="zh-CN" altLang="en-US" sz="2400" dirty="0"/>
              <a:t>，所以一定存在</a:t>
            </a:r>
            <a:r>
              <a:rPr lang="en-US" altLang="zh-CN" sz="2400" dirty="0" err="1"/>
              <a:t>x,y</a:t>
            </a:r>
            <a:r>
              <a:rPr lang="zh-CN" altLang="en-US" sz="2400" dirty="0"/>
              <a:t>，使得</a:t>
            </a:r>
            <a:r>
              <a:rPr lang="en-US" altLang="zh-CN" sz="2400" dirty="0"/>
              <a:t>(</a:t>
            </a:r>
            <a:r>
              <a:rPr lang="en-US" altLang="zh-CN" sz="2400" dirty="0" err="1"/>
              <a:t>u,x</a:t>
            </a:r>
            <a:r>
              <a:rPr lang="en-US" altLang="zh-CN" sz="2400" dirty="0"/>
              <a:t>)</a:t>
            </a:r>
            <a:r>
              <a:rPr lang="zh-CN" altLang="en-US" sz="2400" dirty="0"/>
              <a:t>和</a:t>
            </a:r>
            <a:r>
              <a:rPr lang="en-US" altLang="zh-CN" sz="2400" dirty="0"/>
              <a:t>(</a:t>
            </a:r>
            <a:r>
              <a:rPr lang="en-US" altLang="zh-CN" sz="2400" dirty="0" err="1"/>
              <a:t>v,y</a:t>
            </a:r>
            <a:r>
              <a:rPr lang="en-US" altLang="zh-CN" sz="2400" dirty="0"/>
              <a:t>)</a:t>
            </a:r>
            <a:r>
              <a:rPr lang="zh-CN" altLang="en-US" sz="2400" dirty="0"/>
              <a:t>间有边。</a:t>
            </a:r>
            <a:endParaRPr lang="en-US" altLang="zh-CN" sz="2400" dirty="0"/>
          </a:p>
          <a:p>
            <a:r>
              <a:rPr lang="zh-CN" altLang="en-US" sz="2400" dirty="0"/>
              <a:t>不论怎么加弦，都一定会存在</a:t>
            </a:r>
            <a:r>
              <a:rPr lang="en-US" altLang="zh-CN" sz="2400" dirty="0"/>
              <a:t>(u-&gt;x-&gt;y-&gt;v-&gt;u)</a:t>
            </a:r>
            <a:r>
              <a:rPr lang="zh-CN" altLang="en-US" sz="2400" dirty="0"/>
              <a:t>这么个环，再有弦就与割集矛盾。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19750F-1DC5-4923-B439-F196EA1E6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064" y="2160589"/>
            <a:ext cx="3611917" cy="26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1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91DE-4F0A-49BD-82DC-1F165321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标算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1A64-F2BE-4A3A-B984-1C3C0E5BD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400" dirty="0"/>
              <a:t>删掉最短路后，每个连通块对应最短路上一个区间，可以用并查集求出这些区间。</a:t>
            </a:r>
            <a:endParaRPr lang="en-US" altLang="zh-CN" sz="2400" dirty="0"/>
          </a:p>
          <a:p>
            <a:r>
              <a:rPr lang="zh-CN" altLang="en-US" sz="2400" dirty="0"/>
              <a:t>对每个点</a:t>
            </a:r>
            <a:r>
              <a:rPr lang="en-US" altLang="zh-CN" sz="2400" dirty="0"/>
              <a:t>u</a:t>
            </a:r>
            <a:r>
              <a:rPr lang="zh-CN" altLang="en-US" sz="2400" dirty="0"/>
              <a:t>，可以求出</a:t>
            </a:r>
            <a:r>
              <a:rPr lang="en-US" altLang="zh-CN" sz="2400" dirty="0"/>
              <a:t>next[u]</a:t>
            </a:r>
            <a:r>
              <a:rPr lang="zh-CN" altLang="en-US" sz="2400" dirty="0"/>
              <a:t>表示如果在</a:t>
            </a:r>
            <a:r>
              <a:rPr lang="en-US" altLang="zh-CN" sz="2400" dirty="0"/>
              <a:t>u</a:t>
            </a:r>
            <a:r>
              <a:rPr lang="zh-CN" altLang="en-US" sz="2400" dirty="0"/>
              <a:t>点回到最短路，最早在什么时候必须再次离开。</a:t>
            </a:r>
            <a:endParaRPr lang="en-US" altLang="zh-CN" sz="2400" dirty="0"/>
          </a:p>
          <a:p>
            <a:r>
              <a:rPr lang="zh-CN" altLang="en-US" sz="2400" dirty="0"/>
              <a:t>如果你从点</a:t>
            </a:r>
            <a:r>
              <a:rPr lang="en-US" altLang="zh-CN" sz="2400" dirty="0"/>
              <a:t>u</a:t>
            </a:r>
            <a:r>
              <a:rPr lang="zh-CN" altLang="en-US" sz="2400" dirty="0"/>
              <a:t>离开最短路，那么你必须在</a:t>
            </a:r>
            <a:r>
              <a:rPr lang="en-US" altLang="zh-CN" sz="2400" dirty="0"/>
              <a:t>u</a:t>
            </a:r>
            <a:r>
              <a:rPr lang="zh-CN" altLang="en-US" sz="2400" dirty="0"/>
              <a:t>之后的点回到最短路，所以记录最近一次回到最短路的点即可。</a:t>
            </a:r>
            <a:endParaRPr lang="en-US" altLang="zh-CN" sz="2400" dirty="0"/>
          </a:p>
          <a:p>
            <a:pPr lvl="1"/>
            <a:r>
              <a:rPr lang="zh-CN" altLang="en-US" sz="2000" dirty="0"/>
              <a:t>在离开最短路之后不会经过一个大于</a:t>
            </a:r>
            <a:r>
              <a:rPr lang="en-US" altLang="zh-CN" sz="2000" dirty="0"/>
              <a:t>2</a:t>
            </a:r>
            <a:r>
              <a:rPr lang="zh-CN" altLang="en-US" sz="2000" dirty="0"/>
              <a:t>的割</a:t>
            </a:r>
            <a:endParaRPr lang="en-US" altLang="zh-CN" sz="2000" dirty="0"/>
          </a:p>
          <a:p>
            <a:pPr lvl="1"/>
            <a:r>
              <a:rPr lang="zh-CN" altLang="en-US" sz="2000" dirty="0"/>
              <a:t>因为一条边只会最多在两个割集上，前一次离开最短路的点只需要记录最多两个</a:t>
            </a:r>
            <a:r>
              <a:rPr lang="en-US" altLang="zh-CN" sz="2000" dirty="0"/>
              <a:t>next[]</a:t>
            </a:r>
            <a:r>
              <a:rPr lang="zh-CN" altLang="en-US" sz="2000" dirty="0"/>
              <a:t>不同的点即可</a:t>
            </a:r>
            <a:endParaRPr lang="en-US" altLang="zh-CN" sz="2000" dirty="0"/>
          </a:p>
          <a:p>
            <a:pPr lvl="1"/>
            <a:r>
              <a:rPr lang="zh-CN" altLang="en-US" sz="2000" dirty="0"/>
              <a:t>用</a:t>
            </a:r>
            <a:r>
              <a:rPr lang="en-US" altLang="zh-CN" sz="2000" dirty="0"/>
              <a:t>Dijkstra</a:t>
            </a:r>
            <a:r>
              <a:rPr lang="zh-CN" altLang="en-US" sz="2000" dirty="0"/>
              <a:t>算法，如果一个点</a:t>
            </a:r>
            <a:r>
              <a:rPr lang="en-US" altLang="zh-CN" sz="2000" dirty="0"/>
              <a:t>extend</a:t>
            </a:r>
            <a:r>
              <a:rPr lang="zh-CN" altLang="en-US" sz="2000" dirty="0"/>
              <a:t>了一次，那么如果这次的</a:t>
            </a:r>
            <a:r>
              <a:rPr lang="en-US" altLang="zh-CN" sz="2000" dirty="0"/>
              <a:t>next[]</a:t>
            </a:r>
            <a:r>
              <a:rPr lang="zh-CN" altLang="en-US" sz="2000" dirty="0"/>
              <a:t>和上次不同，可以再</a:t>
            </a:r>
            <a:r>
              <a:rPr lang="en-US" altLang="zh-CN" sz="2000" dirty="0"/>
              <a:t>extend</a:t>
            </a:r>
            <a:r>
              <a:rPr lang="zh-CN" altLang="en-US" sz="2000" dirty="0"/>
              <a:t>一次；如果一个点</a:t>
            </a:r>
            <a:r>
              <a:rPr lang="en-US" altLang="zh-CN" sz="2000" dirty="0"/>
              <a:t>extend</a:t>
            </a:r>
            <a:r>
              <a:rPr lang="zh-CN" altLang="en-US" sz="2000" dirty="0"/>
              <a:t>了</a:t>
            </a:r>
            <a:r>
              <a:rPr lang="en-US" altLang="zh-CN" sz="2000" dirty="0"/>
              <a:t>2</a:t>
            </a:r>
            <a:r>
              <a:rPr lang="zh-CN" altLang="en-US" sz="2000" dirty="0"/>
              <a:t>次，那么不会再</a:t>
            </a:r>
            <a:r>
              <a:rPr lang="en-US" altLang="zh-CN" sz="2000" dirty="0"/>
              <a:t>extend</a:t>
            </a:r>
            <a:r>
              <a:rPr lang="zh-CN" altLang="en-US" sz="2000" dirty="0"/>
              <a:t>第三次。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9790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FB679-278C-4DE9-92E4-0F8C505C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CE0EA2-037D-45B4-AE7C-53B22DA16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1521872"/>
            <a:ext cx="8596312" cy="190712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745905-C71E-4F55-9B22-2CC924ACFB0D}"/>
              </a:ext>
            </a:extLst>
          </p:cNvPr>
          <p:cNvSpPr txBox="1">
            <a:spLocks/>
          </p:cNvSpPr>
          <p:nvPr/>
        </p:nvSpPr>
        <p:spPr>
          <a:xfrm>
            <a:off x="677334" y="3506680"/>
            <a:ext cx="8596668" cy="2534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连通块一定是隔一个跳的，所以每条边至多在两个割集中。</a:t>
            </a:r>
            <a:endParaRPr lang="en-US" altLang="zh-CN" sz="2400" dirty="0"/>
          </a:p>
          <a:p>
            <a:r>
              <a:rPr lang="zh-CN" altLang="en-US" sz="2400" dirty="0"/>
              <a:t>例如上图，上面的对应绿色的割集，下面的对应红色的割集。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44232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2C166E-8166-4F72-ABE9-A74162C7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06" y="3960212"/>
            <a:ext cx="6434259" cy="2635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4C91DE-4F0A-49BD-82DC-1F165321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标算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1A64-F2BE-4A3A-B984-1C3C0E5BD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回忆一下：你不可能在离开一个割集，然后完全不经过割集上的点，到达割集上距离超过</a:t>
            </a:r>
            <a:r>
              <a:rPr lang="en-US" altLang="zh-CN" sz="2000" dirty="0"/>
              <a:t>2</a:t>
            </a:r>
            <a:r>
              <a:rPr lang="zh-CN" altLang="en-US" sz="2000" dirty="0"/>
              <a:t>的点</a:t>
            </a:r>
            <a:endParaRPr lang="en-US" altLang="zh-CN" sz="2000" dirty="0"/>
          </a:p>
          <a:p>
            <a:pPr lvl="1"/>
            <a:r>
              <a:rPr lang="zh-CN" altLang="en-US" sz="1800" dirty="0"/>
              <a:t>前一次离开的点只有</a:t>
            </a:r>
            <a:r>
              <a:rPr lang="en-US" altLang="zh-CN" sz="1800" dirty="0"/>
              <a:t>O(1)</a:t>
            </a:r>
            <a:r>
              <a:rPr lang="zh-CN" altLang="en-US" sz="1800" dirty="0"/>
              <a:t>种可能，因此复杂度可以接受。</a:t>
            </a:r>
            <a:endParaRPr lang="en-US" altLang="zh-CN" sz="1800" dirty="0"/>
          </a:p>
          <a:p>
            <a:r>
              <a:rPr lang="zh-CN" altLang="en-US" sz="2000" dirty="0"/>
              <a:t>对于长度等于</a:t>
            </a:r>
            <a:r>
              <a:rPr lang="en-US" altLang="zh-CN" sz="2000" dirty="0"/>
              <a:t>2</a:t>
            </a:r>
            <a:r>
              <a:rPr lang="zh-CN" altLang="en-US" sz="2000" dirty="0"/>
              <a:t>的割集，你会发现只有两种情况：</a:t>
            </a:r>
            <a:endParaRPr lang="en-US" altLang="zh-CN" sz="2000" dirty="0"/>
          </a:p>
          <a:p>
            <a:pPr lvl="1"/>
            <a:r>
              <a:rPr lang="zh-CN" altLang="en-US" sz="1800" dirty="0"/>
              <a:t>该割集的中点永远无法被经过</a:t>
            </a:r>
            <a:endParaRPr lang="en-US" altLang="zh-CN" sz="1800" dirty="0"/>
          </a:p>
          <a:p>
            <a:pPr lvl="1"/>
            <a:r>
              <a:rPr lang="zh-CN" altLang="en-US" sz="1800" dirty="0"/>
              <a:t>该割集的中点可以被经过且可以无视该割集的存在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261939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45AC8-19DE-4CDF-B54A-AE231540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DBCAA-9D28-4B00-9FE8-E1EFE807C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用类似</a:t>
            </a:r>
            <a:r>
              <a:rPr lang="en-US" altLang="zh-CN" sz="2000" dirty="0" err="1"/>
              <a:t>Tarjan</a:t>
            </a:r>
            <a:r>
              <a:rPr lang="zh-CN" altLang="en-US" sz="2000" dirty="0"/>
              <a:t>求双联通分量的过程，容易求出哪些点不能经过。</a:t>
            </a:r>
            <a:endParaRPr lang="en-US" altLang="zh-CN" sz="2000" dirty="0"/>
          </a:p>
          <a:p>
            <a:r>
              <a:rPr lang="zh-CN" altLang="en-US" sz="2000" dirty="0"/>
              <a:t>两次类 </a:t>
            </a:r>
            <a:r>
              <a:rPr lang="en-US" altLang="zh-CN" sz="2000" dirty="0"/>
              <a:t>Dijkstra </a:t>
            </a:r>
            <a:r>
              <a:rPr lang="zh-CN" altLang="en-US" sz="2000" dirty="0"/>
              <a:t>过程解决本题。</a:t>
            </a:r>
            <a:endParaRPr lang="en-US" altLang="zh-CN" sz="2000" dirty="0"/>
          </a:p>
          <a:p>
            <a:r>
              <a:rPr lang="zh-CN" altLang="en-US" sz="2000" dirty="0"/>
              <a:t>总时间复杂度</a:t>
            </a:r>
            <a:r>
              <a:rPr lang="en-US" altLang="zh-CN" sz="2000" dirty="0"/>
              <a:t>O((n + m)</a:t>
            </a:r>
            <a:r>
              <a:rPr lang="en-US" altLang="zh-CN" sz="2000" dirty="0" err="1"/>
              <a:t>logn</a:t>
            </a:r>
            <a:r>
              <a:rPr lang="en-US" altLang="zh-CN" sz="2000" dirty="0"/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42238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601</TotalTime>
  <Words>940</Words>
  <Application>Microsoft Office PowerPoint</Application>
  <PresentationFormat>宽屏</PresentationFormat>
  <Paragraphs>64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</vt:lpstr>
      <vt:lpstr>翻修道路</vt:lpstr>
      <vt:lpstr>题面</vt:lpstr>
      <vt:lpstr>得分情况</vt:lpstr>
      <vt:lpstr>丢了密码条？</vt:lpstr>
      <vt:lpstr>显然的性质</vt:lpstr>
      <vt:lpstr>割集的性质</vt:lpstr>
      <vt:lpstr>割集的性质 ctd.</vt:lpstr>
      <vt:lpstr>特殊情况</vt:lpstr>
      <vt:lpstr>非特殊情况</vt:lpstr>
      <vt:lpstr>重要性质</vt:lpstr>
      <vt:lpstr>标算</vt:lpstr>
      <vt:lpstr>标算</vt:lpstr>
      <vt:lpstr>标算</vt:lpstr>
      <vt:lpstr>标算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弦图非割集最短路</dc:title>
  <dc:creator>Xiao Mao</dc:creator>
  <cp:lastModifiedBy> </cp:lastModifiedBy>
  <cp:revision>106</cp:revision>
  <dcterms:created xsi:type="dcterms:W3CDTF">2020-07-24T22:50:03Z</dcterms:created>
  <dcterms:modified xsi:type="dcterms:W3CDTF">2020-08-19T10:42:53Z</dcterms:modified>
</cp:coreProperties>
</file>