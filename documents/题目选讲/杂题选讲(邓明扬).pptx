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5" r:id="rId4"/>
    <p:sldId id="259" r:id="rId5"/>
    <p:sldId id="281" r:id="rId6"/>
    <p:sldId id="282" r:id="rId7"/>
    <p:sldId id="283" r:id="rId8"/>
    <p:sldId id="257" r:id="rId9"/>
    <p:sldId id="284" r:id="rId10"/>
    <p:sldId id="285" r:id="rId11"/>
    <p:sldId id="268" r:id="rId12"/>
    <p:sldId id="260" r:id="rId13"/>
    <p:sldId id="286" r:id="rId14"/>
    <p:sldId id="287" r:id="rId15"/>
    <p:sldId id="271" r:id="rId16"/>
    <p:sldId id="288" r:id="rId17"/>
    <p:sldId id="270" r:id="rId18"/>
    <p:sldId id="290" r:id="rId19"/>
    <p:sldId id="266" r:id="rId20"/>
    <p:sldId id="272" r:id="rId21"/>
    <p:sldId id="292" r:id="rId22"/>
    <p:sldId id="273" r:id="rId23"/>
    <p:sldId id="291" r:id="rId24"/>
    <p:sldId id="274" r:id="rId25"/>
    <p:sldId id="293" r:id="rId26"/>
    <p:sldId id="269" r:id="rId27"/>
    <p:sldId id="276" r:id="rId28"/>
    <p:sldId id="294" r:id="rId29"/>
    <p:sldId id="275" r:id="rId30"/>
    <p:sldId id="295" r:id="rId31"/>
    <p:sldId id="277" r:id="rId32"/>
    <p:sldId id="29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53"/>
    <p:restoredTop sz="95903"/>
  </p:normalViewPr>
  <p:slideViewPr>
    <p:cSldViewPr snapToGrid="0" snapToObjects="1">
      <p:cViewPr varScale="1">
        <p:scale>
          <a:sx n="90" d="100"/>
          <a:sy n="90" d="100"/>
        </p:scale>
        <p:origin x="232" y="71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261A45-02D7-C44A-B61A-2BEB25480E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565157"/>
            <a:ext cx="10515600" cy="1325563"/>
          </a:xfrm>
        </p:spPr>
        <p:txBody>
          <a:bodyPr/>
          <a:lstStyle/>
          <a:p>
            <a:r>
              <a:rPr lang="en-US" dirty="0"/>
              <a:t>Click to edit Master title style</a:t>
            </a:r>
            <a:endParaRPr lang="en-US" dirty="0"/>
          </a:p>
        </p:txBody>
      </p:sp>
      <p:sp>
        <p:nvSpPr>
          <p:cNvPr id="3" name="Content Placeholder 2"/>
          <p:cNvSpPr>
            <a:spLocks noGrp="1"/>
          </p:cNvSpPr>
          <p:nvPr>
            <p:ph idx="1"/>
          </p:nvPr>
        </p:nvSpPr>
        <p:spPr>
          <a:xfrm>
            <a:off x="838200" y="1868489"/>
            <a:ext cx="10515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261A45-02D7-C44A-B61A-2BEB25480E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261A45-02D7-C44A-B61A-2BEB25480E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261A45-02D7-C44A-B61A-2BEB25480E4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261A45-02D7-C44A-B61A-2BEB25480E4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261A45-02D7-C44A-B61A-2BEB25480E4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61A45-02D7-C44A-B61A-2BEB25480E4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261A45-02D7-C44A-B61A-2BEB25480E4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261A45-02D7-C44A-B61A-2BEB25480E4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261A45-02D7-C44A-B61A-2BEB25480E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261A45-02D7-C44A-B61A-2BEB25480E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56230-C489-5142-A11D-2ACE18EE856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alphaModFix amt="25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261A45-02D7-C44A-B61A-2BEB25480E4B}"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556230-C489-5142-A11D-2ACE18EE856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杂题选讲</a:t>
            </a:r>
            <a:endParaRPr lang="en-US" dirty="0"/>
          </a:p>
        </p:txBody>
      </p:sp>
      <p:sp>
        <p:nvSpPr>
          <p:cNvPr id="3" name="Subtitle 2"/>
          <p:cNvSpPr>
            <a:spLocks noGrp="1"/>
          </p:cNvSpPr>
          <p:nvPr>
            <p:ph type="subTitle" idx="1"/>
          </p:nvPr>
        </p:nvSpPr>
        <p:spPr/>
        <p:txBody>
          <a:bodyPr/>
          <a:lstStyle/>
          <a:p>
            <a:pPr algn="ctr"/>
            <a:r>
              <a:rPr lang="en-US" dirty="0"/>
              <a:t>麻省理工学院</a:t>
            </a:r>
            <a:endParaRPr lang="en-US" dirty="0"/>
          </a:p>
          <a:p>
            <a:pPr algn="ctr"/>
            <a:r>
              <a:rPr lang="en-US" dirty="0"/>
              <a:t>邓明扬</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Section 1</a:t>
            </a:r>
            <a:endParaRPr lang="en-US" dirty="0"/>
          </a:p>
        </p:txBody>
      </p:sp>
      <p:sp>
        <p:nvSpPr>
          <p:cNvPr id="3" name="Subtitle 2"/>
          <p:cNvSpPr>
            <a:spLocks noGrp="1"/>
          </p:cNvSpPr>
          <p:nvPr>
            <p:ph type="subTitle" idx="1"/>
          </p:nvPr>
        </p:nvSpPr>
        <p:spPr/>
        <p:txBody>
          <a:bodyPr/>
          <a:lstStyle/>
          <a:p>
            <a:pPr algn="ctr"/>
            <a:r>
              <a:rPr lang="en-US" dirty="0"/>
              <a:t>怎样设计</a:t>
            </a:r>
            <a:r>
              <a:rPr lang="zh-CN" altLang="en-US" dirty="0"/>
              <a:t> </a:t>
            </a:r>
            <a:r>
              <a:rPr lang="en-US" altLang="zh-CN" dirty="0"/>
              <a:t>DP</a:t>
            </a:r>
            <a:r>
              <a:rPr lang="zh-CN" altLang="en-US" dirty="0"/>
              <a:t> 状态</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stars</a:t>
            </a:r>
            <a:endParaRPr lang="en-US" dirty="0"/>
          </a:p>
        </p:txBody>
      </p:sp>
      <p:sp>
        <p:nvSpPr>
          <p:cNvPr id="3" name="Content Placeholder 2"/>
          <p:cNvSpPr>
            <a:spLocks noGrp="1"/>
          </p:cNvSpPr>
          <p:nvPr>
            <p:ph idx="1"/>
          </p:nvPr>
        </p:nvSpPr>
        <p:spPr/>
        <p:txBody>
          <a:bodyPr/>
          <a:lstStyle/>
          <a:p>
            <a:pPr latinLnBrk="1"/>
            <a:r>
              <a:rPr lang="zh-CN" altLang="en-US" dirty="0"/>
              <a:t>一颗星星可以抽象成</a:t>
            </a:r>
            <a:r>
              <a:rPr lang="en-US" altLang="zh-CN" dirty="0"/>
              <a:t> </a:t>
            </a:r>
            <a:r>
              <a:rPr lang="en-US" dirty="0"/>
              <a:t>K </a:t>
            </a:r>
            <a:r>
              <a:rPr lang="zh-CN" altLang="en-US" dirty="0"/>
              <a:t>维空间中的一个整点。称若干星星构成的集合</a:t>
            </a:r>
            <a:r>
              <a:rPr lang="en-US" dirty="0"/>
              <a:t>S </a:t>
            </a:r>
            <a:r>
              <a:rPr lang="zh-CN" altLang="en-US" dirty="0"/>
              <a:t>是奇妙的，当且仅当存在 </a:t>
            </a:r>
            <a:r>
              <a:rPr lang="en-US" dirty="0"/>
              <a:t>K</a:t>
            </a:r>
            <a:r>
              <a:rPr lang="zh-CN" altLang="en-US" dirty="0"/>
              <a:t> 维空间中的整点 </a:t>
            </a:r>
            <a:r>
              <a:rPr lang="en-US" dirty="0"/>
              <a:t>P（P</a:t>
            </a:r>
            <a:r>
              <a:rPr lang="zh-CN" altLang="en-US" dirty="0"/>
              <a:t> 处可以有星星也可以没有），</a:t>
            </a:r>
            <a:r>
              <a:rPr lang="en-US" dirty="0"/>
              <a:t>P </a:t>
            </a:r>
            <a:r>
              <a:rPr lang="zh-CN" altLang="en-US" dirty="0"/>
              <a:t>与</a:t>
            </a:r>
            <a:r>
              <a:rPr lang="en-US" altLang="zh-CN" dirty="0"/>
              <a:t> </a:t>
            </a:r>
            <a:r>
              <a:rPr lang="en-US" dirty="0"/>
              <a:t>S </a:t>
            </a:r>
            <a:r>
              <a:rPr lang="zh-CN" altLang="en-US" dirty="0"/>
              <a:t>中的每颗星星至少有一维坐标相同。</a:t>
            </a:r>
            <a:endParaRPr lang="zh-CN" altLang="en-US" dirty="0"/>
          </a:p>
          <a:p>
            <a:pPr latinLnBrk="1"/>
            <a:r>
              <a:rPr lang="zh-CN" altLang="en-US" dirty="0"/>
              <a:t>有一个长度为 </a:t>
            </a:r>
            <a:r>
              <a:rPr lang="en-US" dirty="0"/>
              <a:t>N</a:t>
            </a:r>
            <a:r>
              <a:rPr lang="zh-CN" altLang="en-US" dirty="0"/>
              <a:t> 的星星序列 </a:t>
            </a:r>
            <a:r>
              <a:rPr lang="en-US" dirty="0"/>
              <a:t>A</a:t>
            </a:r>
            <a:r>
              <a:rPr lang="zh-CN" altLang="en-US" dirty="0"/>
              <a:t>，请你求出所有奇妙子段的长度之和。</a:t>
            </a:r>
            <a:endParaRPr lang="en-US" altLang="zh-CN" dirty="0"/>
          </a:p>
          <a:p>
            <a:pPr latinLnBrk="1"/>
            <a:r>
              <a:rPr lang="en-US" dirty="0"/>
              <a:t>N &lt;= 100000，K &lt;= 5。</a:t>
            </a:r>
            <a:endParaRPr lang="zh-CN" altLang="en-US" dirty="0"/>
          </a:p>
          <a:p>
            <a:endParaRPr lang="en-US" dirty="0">
              <a:latin typeface="+mj-ea"/>
              <a:ea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怎么判断</a:t>
            </a:r>
            <a:endParaRPr lang="zh-CN" altLang="en-US"/>
          </a:p>
        </p:txBody>
      </p:sp>
      <p:sp>
        <p:nvSpPr>
          <p:cNvPr id="3" name="Content Placeholder 2"/>
          <p:cNvSpPr>
            <a:spLocks noGrp="1"/>
          </p:cNvSpPr>
          <p:nvPr>
            <p:ph idx="1"/>
          </p:nvPr>
        </p:nvSpPr>
        <p:spPr/>
        <p:txBody>
          <a:bodyPr>
            <a:normAutofit lnSpcReduction="20000"/>
          </a:bodyPr>
          <a:p>
            <a:r>
              <a:rPr lang="zh-CN" altLang="en-US"/>
              <a:t>先找一个 </a:t>
            </a:r>
            <a:r>
              <a:rPr lang="en-US" altLang="zh-CN"/>
              <a:t>k </a:t>
            </a:r>
            <a:r>
              <a:rPr lang="zh-CN" altLang="en-US"/>
              <a:t>个坐标的排列</a:t>
            </a:r>
            <a:endParaRPr lang="zh-CN" altLang="en-US"/>
          </a:p>
          <a:p>
            <a:r>
              <a:rPr lang="zh-CN" altLang="en-US"/>
              <a:t>从左往右看</a:t>
            </a:r>
            <a:endParaRPr lang="zh-CN" altLang="en-US"/>
          </a:p>
          <a:p>
            <a:r>
              <a:rPr lang="zh-CN" altLang="en-US"/>
              <a:t>看到一个和当前无法匹配的点的时候，会从排列里找出一个元素解决这维坐标</a:t>
            </a:r>
            <a:endParaRPr lang="zh-CN" altLang="en-US"/>
          </a:p>
          <a:p>
            <a:r>
              <a:rPr lang="en-US" altLang="zh-CN"/>
              <a:t>[(1,3,3),(2,3,4),(1,3,4),(1,2,1)]</a:t>
            </a:r>
            <a:endParaRPr lang="en-US" altLang="zh-CN"/>
          </a:p>
          <a:p>
            <a:r>
              <a:rPr lang="en-US" altLang="zh-CN"/>
              <a:t>(2,1,3)</a:t>
            </a:r>
            <a:endParaRPr lang="en-US" altLang="zh-CN"/>
          </a:p>
          <a:p>
            <a:r>
              <a:rPr lang="zh-CN" altLang="en-US"/>
              <a:t>初始 </a:t>
            </a:r>
            <a:r>
              <a:rPr lang="en-US" altLang="zh-CN"/>
              <a:t>P = [(1,3,)]</a:t>
            </a:r>
            <a:endParaRPr lang="en-US" altLang="zh-CN"/>
          </a:p>
          <a:p>
            <a:r>
              <a:rPr lang="zh-CN" altLang="en-US"/>
              <a:t>有解等价于存在一个锦囊序列是好的</a:t>
            </a:r>
            <a:endParaRPr lang="zh-CN" altLang="en-US"/>
          </a:p>
          <a:p>
            <a:r>
              <a:rPr lang="zh-CN" altLang="en-US"/>
              <a:t>现在只需要求出：对一个起始点 </a:t>
            </a:r>
            <a:r>
              <a:rPr lang="en-US" altLang="zh-CN"/>
              <a:t>i, </a:t>
            </a:r>
            <a:r>
              <a:rPr lang="zh-CN" altLang="en-US"/>
              <a:t>一个锦囊序列 </a:t>
            </a:r>
            <a:r>
              <a:rPr lang="en-US" altLang="zh-CN"/>
              <a:t>j, dp[i][j] </a:t>
            </a:r>
            <a:r>
              <a:rPr lang="zh-CN" altLang="en-US"/>
              <a:t>表示从</a:t>
            </a:r>
            <a:r>
              <a:rPr lang="en-US" altLang="zh-CN"/>
              <a:t>i</a:t>
            </a:r>
            <a:r>
              <a:rPr lang="zh-CN" altLang="en-US"/>
              <a:t>开始按照 </a:t>
            </a:r>
            <a:r>
              <a:rPr lang="en-US" altLang="zh-CN"/>
              <a:t>j </a:t>
            </a:r>
            <a:r>
              <a:rPr lang="zh-CN" altLang="en-US"/>
              <a:t>往后看能解决到哪里</a:t>
            </a:r>
            <a:endParaRPr lang="en-US" altLang="zh-CN"/>
          </a:p>
          <a:p>
            <a:endParaRPr lang="zh-CN" altLang="en-US"/>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zh-CN" altLang="en-US" baseline="-25000"/>
              <a:t>从 </a:t>
            </a:r>
            <a:r>
              <a:rPr lang="en-US" altLang="zh-CN" baseline="-25000"/>
              <a:t>i </a:t>
            </a:r>
            <a:r>
              <a:rPr lang="zh-CN" altLang="en-US" baseline="-25000"/>
              <a:t>开始看和从 </a:t>
            </a:r>
            <a:r>
              <a:rPr lang="en-US" altLang="zh-CN" baseline="-25000"/>
              <a:t>i + 1 </a:t>
            </a:r>
            <a:r>
              <a:rPr lang="zh-CN" altLang="en-US" baseline="-25000"/>
              <a:t>开始看</a:t>
            </a:r>
            <a:endParaRPr lang="zh-CN" altLang="en-US" baseline="-25000"/>
          </a:p>
          <a:p>
            <a:r>
              <a:rPr lang="zh-CN" altLang="en-US" baseline="-25000"/>
              <a:t>从 </a:t>
            </a:r>
            <a:r>
              <a:rPr lang="en-US" altLang="zh-CN" baseline="-25000"/>
              <a:t>i </a:t>
            </a:r>
            <a:r>
              <a:rPr lang="zh-CN" altLang="en-US" baseline="-25000"/>
              <a:t>开始，</a:t>
            </a:r>
            <a:r>
              <a:rPr lang="en-US" altLang="zh-CN" baseline="-25000"/>
              <a:t>S = (2,1,3)</a:t>
            </a:r>
            <a:endParaRPr lang="en-US" altLang="zh-CN" baseline="-25000"/>
          </a:p>
          <a:p>
            <a:r>
              <a:rPr lang="en-US" altLang="zh-CN" baseline="-25000"/>
              <a:t>dp[i][S] </a:t>
            </a:r>
            <a:r>
              <a:rPr lang="zh-CN" altLang="en-US" baseline="-25000"/>
              <a:t>和 </a:t>
            </a:r>
            <a:r>
              <a:rPr lang="en-US" altLang="zh-CN" baseline="-25000"/>
              <a:t>dp[i+1][(1,3)]</a:t>
            </a:r>
            <a:endParaRPr lang="en-US" altLang="zh-CN" baseline="-25000"/>
          </a:p>
          <a:p>
            <a:r>
              <a:rPr lang="en-US" altLang="zh-CN">
                <a:sym typeface="+mn-ea"/>
              </a:rPr>
              <a:t>dp[i][j]: </a:t>
            </a:r>
            <a:r>
              <a:rPr lang="zh-CN" altLang="en-US">
                <a:sym typeface="+mn-ea"/>
              </a:rPr>
              <a:t>表示对一个起始点 </a:t>
            </a:r>
            <a:r>
              <a:rPr lang="en-US" altLang="zh-CN">
                <a:sym typeface="+mn-ea"/>
              </a:rPr>
              <a:t>i, </a:t>
            </a:r>
            <a:r>
              <a:rPr lang="zh-CN" altLang="en-US">
                <a:sym typeface="+mn-ea"/>
              </a:rPr>
              <a:t>一个锦囊序列 </a:t>
            </a:r>
            <a:r>
              <a:rPr lang="en-US" altLang="zh-CN">
                <a:sym typeface="+mn-ea"/>
              </a:rPr>
              <a:t>j, dp[i][j] </a:t>
            </a:r>
            <a:r>
              <a:rPr lang="zh-CN" altLang="en-US">
                <a:sym typeface="+mn-ea"/>
              </a:rPr>
              <a:t>表示从</a:t>
            </a:r>
            <a:r>
              <a:rPr lang="en-US" altLang="zh-CN">
                <a:sym typeface="+mn-ea"/>
              </a:rPr>
              <a:t>i</a:t>
            </a:r>
            <a:r>
              <a:rPr lang="zh-CN" altLang="en-US">
                <a:sym typeface="+mn-ea"/>
              </a:rPr>
              <a:t>开始按照 </a:t>
            </a:r>
            <a:r>
              <a:rPr lang="en-US" altLang="zh-CN">
                <a:sym typeface="+mn-ea"/>
              </a:rPr>
              <a:t>j </a:t>
            </a:r>
            <a:r>
              <a:rPr lang="zh-CN" altLang="en-US">
                <a:sym typeface="+mn-ea"/>
              </a:rPr>
              <a:t>往后看能解决到哪里</a:t>
            </a:r>
            <a:endParaRPr lang="zh-CN" altLang="en-US">
              <a:sym typeface="+mn-ea"/>
            </a:endParaRPr>
          </a:p>
          <a:p>
            <a:r>
              <a:rPr lang="en-US" altLang="zh-CN"/>
              <a:t>dp[i+1][1] = k</a:t>
            </a:r>
            <a:endParaRPr lang="en-US" altLang="zh-CN"/>
          </a:p>
          <a:p>
            <a:r>
              <a:rPr lang="en-US" altLang="zh-CN"/>
              <a:t>a[k+1][2]=dp[i][2]</a:t>
            </a:r>
            <a:endParaRPr lang="en-US" altLang="zh-CN"/>
          </a:p>
          <a:p>
            <a:r>
              <a:rPr lang="zh-CN" altLang="en-US"/>
              <a:t>这个过程和 </a:t>
            </a:r>
            <a:r>
              <a:rPr lang="en-US" altLang="zh-CN"/>
              <a:t>dp[i+1][(1,2,3)] </a:t>
            </a:r>
            <a:r>
              <a:rPr lang="zh-CN" altLang="en-US"/>
              <a:t>完全相同</a:t>
            </a:r>
            <a:endParaRPr lang="zh-CN" altLang="en-US"/>
          </a:p>
          <a:p>
            <a:r>
              <a:rPr lang="zh-CN" altLang="en-US"/>
              <a:t>对于一般的 </a:t>
            </a:r>
            <a:r>
              <a:rPr lang="en-US" altLang="zh-CN"/>
              <a:t>dp[i][S], </a:t>
            </a:r>
            <a:r>
              <a:rPr lang="zh-CN" altLang="en-US"/>
              <a:t>考虑 </a:t>
            </a:r>
            <a:r>
              <a:rPr lang="en-US" altLang="zh-CN"/>
              <a:t>dp[i+1][S[1:]] </a:t>
            </a:r>
            <a:r>
              <a:rPr lang="zh-CN" altLang="en-US"/>
              <a:t>失配的位置，找到第一个</a:t>
            </a:r>
            <a:endParaRPr lang="zh-CN" altLang="en-US"/>
          </a:p>
          <a:p>
            <a:r>
              <a:rPr lang="zh-CN" altLang="en-US"/>
              <a:t>和</a:t>
            </a:r>
            <a:r>
              <a:rPr lang="en-US" altLang="zh-CN"/>
              <a:t>a[i]</a:t>
            </a:r>
            <a:r>
              <a:rPr lang="zh-CN" altLang="en-US"/>
              <a:t>在 </a:t>
            </a:r>
            <a:r>
              <a:rPr lang="en-US" altLang="zh-CN"/>
              <a:t>S[0] </a:t>
            </a:r>
            <a:r>
              <a:rPr lang="zh-CN" altLang="en-US"/>
              <a:t>位置相同的点，</a:t>
            </a:r>
            <a:r>
              <a:rPr lang="en-US" altLang="zh-CN"/>
              <a:t>done</a:t>
            </a:r>
            <a:r>
              <a:rPr lang="zh-CN" altLang="en-US"/>
              <a:t>！</a:t>
            </a:r>
            <a:endParaRPr lang="zh-CN" altLang="en-US"/>
          </a:p>
          <a:p>
            <a:endParaRPr lang="en-US" altLang="zh-CN"/>
          </a:p>
          <a:p>
            <a:endParaRPr lang="zh-CN" altLang="en-US" baseline="-25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60000"/>
          </a:bodyPr>
          <a:p>
            <a:r>
              <a:rPr lang="en-US"/>
              <a:t>dp[i][S] </a:t>
            </a:r>
            <a:r>
              <a:rPr lang="zh-CN" altLang="en-US"/>
              <a:t>是 </a:t>
            </a:r>
            <a:r>
              <a:rPr lang="en-US" altLang="zh-CN"/>
              <a:t>i </a:t>
            </a:r>
            <a:r>
              <a:rPr lang="zh-CN" altLang="en-US"/>
              <a:t>开始，按照锦囊序列 </a:t>
            </a:r>
            <a:r>
              <a:rPr lang="en-US" altLang="zh-CN"/>
              <a:t>S </a:t>
            </a:r>
            <a:r>
              <a:rPr lang="zh-CN" altLang="en-US"/>
              <a:t>匹配</a:t>
            </a:r>
            <a:endParaRPr lang="zh-CN" altLang="en-US"/>
          </a:p>
          <a:p>
            <a:r>
              <a:rPr lang="zh-CN" altLang="en-US"/>
              <a:t>称需要动用锦囊的位置为“失配点”</a:t>
            </a:r>
            <a:endParaRPr lang="zh-CN" altLang="en-US"/>
          </a:p>
          <a:p>
            <a:r>
              <a:rPr lang="en-US" altLang="zh-CN"/>
              <a:t>S[1:] = (S[1], S[2], ...)</a:t>
            </a:r>
            <a:endParaRPr lang="zh-CN" altLang="en-US"/>
          </a:p>
          <a:p>
            <a:r>
              <a:rPr lang="zh-CN" altLang="en-US"/>
              <a:t>考虑 </a:t>
            </a:r>
            <a:r>
              <a:rPr lang="en-US" altLang="zh-CN"/>
              <a:t>dp[i+1][S[1:]] </a:t>
            </a:r>
            <a:r>
              <a:rPr lang="zh-CN" altLang="en-US"/>
              <a:t>的过程</a:t>
            </a:r>
            <a:endParaRPr lang="zh-CN" altLang="en-US"/>
          </a:p>
          <a:p>
            <a:pPr lvl="1"/>
            <a:r>
              <a:rPr lang="zh-CN" altLang="en-US"/>
              <a:t>会先用 </a:t>
            </a:r>
            <a:r>
              <a:rPr lang="en-US" altLang="zh-CN"/>
              <a:t>S[1] </a:t>
            </a:r>
            <a:r>
              <a:rPr lang="zh-CN" altLang="en-US"/>
              <a:t>解决，解决不了会用 </a:t>
            </a:r>
            <a:r>
              <a:rPr lang="en-US" altLang="zh-CN"/>
              <a:t>S[2] </a:t>
            </a:r>
            <a:r>
              <a:rPr lang="zh-CN" altLang="en-US"/>
              <a:t>解决，以此类推</a:t>
            </a:r>
            <a:endParaRPr lang="zh-CN" altLang="en-US"/>
          </a:p>
          <a:p>
            <a:pPr lvl="1"/>
            <a:r>
              <a:rPr lang="zh-CN" altLang="en-US"/>
              <a:t>这个和 </a:t>
            </a:r>
            <a:r>
              <a:rPr lang="en-US" altLang="zh-CN"/>
              <a:t>dp[i][S] </a:t>
            </a:r>
            <a:r>
              <a:rPr lang="zh-CN" altLang="en-US"/>
              <a:t>很类似！</a:t>
            </a:r>
            <a:endParaRPr lang="zh-CN" altLang="en-US"/>
          </a:p>
          <a:p>
            <a:pPr lvl="1"/>
            <a:r>
              <a:rPr lang="zh-CN" altLang="en-US"/>
              <a:t>但这两个过程有一些区别</a:t>
            </a:r>
            <a:endParaRPr lang="zh-CN" altLang="en-US"/>
          </a:p>
          <a:p>
            <a:pPr lvl="1"/>
            <a:r>
              <a:rPr lang="zh-CN" altLang="en-US"/>
              <a:t>区别在于： </a:t>
            </a:r>
            <a:r>
              <a:rPr lang="en-US" altLang="zh-CN"/>
              <a:t>dp[i+1][S[1:]] </a:t>
            </a:r>
            <a:r>
              <a:rPr lang="zh-CN" altLang="en-US"/>
              <a:t>过程中有些无法解决的点，可能在</a:t>
            </a:r>
            <a:r>
              <a:rPr lang="en-US" altLang="zh-CN"/>
              <a:t>dp[i][S]</a:t>
            </a:r>
            <a:r>
              <a:rPr lang="zh-CN" altLang="en-US"/>
              <a:t>可能能理解</a:t>
            </a:r>
            <a:endParaRPr lang="zh-CN" altLang="en-US"/>
          </a:p>
          <a:p>
            <a:pPr lvl="1"/>
            <a:r>
              <a:rPr lang="en-US" altLang="zh-CN"/>
              <a:t>[(1,2),(1,3),(2,3)]</a:t>
            </a:r>
            <a:endParaRPr lang="en-US" altLang="zh-CN"/>
          </a:p>
          <a:p>
            <a:pPr lvl="1"/>
            <a:r>
              <a:rPr lang="en-US" altLang="zh-CN"/>
              <a:t>dp[1][(0, 1)] -&gt; (1,3) </a:t>
            </a:r>
            <a:r>
              <a:rPr lang="zh-CN" altLang="en-US"/>
              <a:t>是能解决的</a:t>
            </a:r>
            <a:endParaRPr lang="zh-CN" altLang="en-US"/>
          </a:p>
          <a:p>
            <a:pPr lvl="1"/>
            <a:r>
              <a:rPr lang="en-US" altLang="zh-CN"/>
              <a:t>dp[2][(1)] -&gt; (1,3) </a:t>
            </a:r>
            <a:r>
              <a:rPr lang="zh-CN" altLang="en-US"/>
              <a:t>就是不能解决的了</a:t>
            </a:r>
            <a:endParaRPr lang="en-US" altLang="zh-CN"/>
          </a:p>
          <a:p>
            <a:pPr lvl="1"/>
            <a:r>
              <a:rPr lang="en-US" altLang="zh-CN">
                <a:sym typeface="+mn-ea"/>
              </a:rPr>
              <a:t>dp[i+1][S[1:]] </a:t>
            </a:r>
            <a:r>
              <a:rPr lang="zh-CN" altLang="en-US">
                <a:sym typeface="+mn-ea"/>
              </a:rPr>
              <a:t>所有无法解决的点 如果不能用 </a:t>
            </a:r>
            <a:r>
              <a:rPr lang="en-US" altLang="zh-CN">
                <a:sym typeface="+mn-ea"/>
              </a:rPr>
              <a:t>i,S[0] </a:t>
            </a:r>
            <a:r>
              <a:rPr lang="zh-CN" altLang="en-US">
                <a:sym typeface="+mn-ea"/>
              </a:rPr>
              <a:t>解决，过程会是一样的</a:t>
            </a:r>
            <a:endParaRPr lang="zh-CN" altLang="en-US">
              <a:sym typeface="+mn-ea"/>
            </a:endParaRPr>
          </a:p>
          <a:p>
            <a:pPr lvl="1"/>
            <a:r>
              <a:rPr lang="zh-CN" altLang="en-US">
                <a:sym typeface="+mn-ea"/>
              </a:rPr>
              <a:t>如果能用 </a:t>
            </a:r>
            <a:r>
              <a:rPr lang="en-US" altLang="zh-CN">
                <a:sym typeface="+mn-ea"/>
              </a:rPr>
              <a:t>i, S[0] </a:t>
            </a:r>
            <a:r>
              <a:rPr lang="zh-CN" altLang="en-US">
                <a:sym typeface="+mn-ea"/>
              </a:rPr>
              <a:t>解决：</a:t>
            </a:r>
            <a:r>
              <a:rPr lang="en-US" altLang="zh-CN">
                <a:sym typeface="+mn-ea"/>
              </a:rPr>
              <a:t>S=(2,1,3)</a:t>
            </a:r>
            <a:endParaRPr lang="en-US" altLang="zh-CN">
              <a:sym typeface="+mn-ea"/>
            </a:endParaRPr>
          </a:p>
          <a:p>
            <a:pPr lvl="1"/>
            <a:r>
              <a:rPr lang="en-US" altLang="zh-CN">
                <a:sym typeface="+mn-ea"/>
              </a:rPr>
              <a:t>dp[2][(1,3)] -&gt; </a:t>
            </a:r>
            <a:r>
              <a:rPr lang="zh-CN" altLang="en-US">
                <a:sym typeface="+mn-ea"/>
              </a:rPr>
              <a:t>第一个失配点</a:t>
            </a:r>
            <a:r>
              <a:rPr lang="en-US" altLang="zh-CN">
                <a:sym typeface="+mn-ea"/>
              </a:rPr>
              <a:t>2</a:t>
            </a:r>
            <a:r>
              <a:rPr lang="zh-CN" altLang="en-US">
                <a:sym typeface="+mn-ea"/>
              </a:rPr>
              <a:t>解决不了 第二个可以</a:t>
            </a:r>
            <a:endParaRPr lang="zh-CN" altLang="en-US">
              <a:sym typeface="+mn-ea"/>
            </a:endParaRPr>
          </a:p>
          <a:p>
            <a:pPr lvl="1"/>
            <a:r>
              <a:rPr lang="en-US" altLang="zh-CN">
                <a:sym typeface="+mn-ea"/>
              </a:rPr>
              <a:t>dp[2][(1,2,3)] </a:t>
            </a:r>
            <a:r>
              <a:rPr lang="zh-CN" altLang="en-US">
                <a:sym typeface="+mn-ea"/>
              </a:rPr>
              <a:t>会和 </a:t>
            </a:r>
            <a:r>
              <a:rPr lang="en-US" altLang="zh-CN">
                <a:sym typeface="+mn-ea"/>
              </a:rPr>
              <a:t>dp[1][(2,1,3)] </a:t>
            </a:r>
            <a:r>
              <a:rPr lang="zh-CN" altLang="en-US">
                <a:sym typeface="+mn-ea"/>
              </a:rPr>
              <a:t>一样</a:t>
            </a:r>
            <a:endParaRPr lang="zh-CN" altLang="en-US">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a:t>
            </a:r>
            <a:r>
              <a:rPr lang="zh-CN" altLang="en-US" dirty="0"/>
              <a:t> </a:t>
            </a:r>
            <a:r>
              <a:rPr lang="en-US" altLang="zh-CN" dirty="0"/>
              <a:t>2021 Round1 A</a:t>
            </a:r>
            <a:endParaRPr lang="en-US" dirty="0"/>
          </a:p>
        </p:txBody>
      </p:sp>
      <p:sp>
        <p:nvSpPr>
          <p:cNvPr id="3" name="Content Placeholder 2"/>
          <p:cNvSpPr>
            <a:spLocks noGrp="1"/>
          </p:cNvSpPr>
          <p:nvPr>
            <p:ph idx="1"/>
          </p:nvPr>
        </p:nvSpPr>
        <p:spPr/>
        <p:txBody>
          <a:bodyPr/>
          <a:lstStyle/>
          <a:p>
            <a:pPr latinLnBrk="1"/>
            <a:r>
              <a:rPr lang="zh-CN" altLang="en-US" dirty="0"/>
              <a:t>有 </a:t>
            </a:r>
            <a:r>
              <a:rPr lang="en-US" altLang="zh-CN" dirty="0"/>
              <a:t>n</a:t>
            </a:r>
            <a:r>
              <a:rPr lang="zh-CN" altLang="en-US" dirty="0"/>
              <a:t> 棵树，每棵树有可能是 </a:t>
            </a:r>
            <a:r>
              <a:rPr lang="en-US" altLang="zh-CN" dirty="0"/>
              <a:t>m</a:t>
            </a:r>
            <a:r>
              <a:rPr lang="zh-CN" altLang="en-US" dirty="0"/>
              <a:t> 种之一。</a:t>
            </a:r>
            <a:endParaRPr lang="en-US" altLang="zh-CN" dirty="0"/>
          </a:p>
          <a:p>
            <a:pPr latinLnBrk="1"/>
            <a:r>
              <a:rPr lang="zh-CN" altLang="en-US" dirty="0"/>
              <a:t>小 </a:t>
            </a:r>
            <a:r>
              <a:rPr lang="en-US" altLang="zh-CN" dirty="0"/>
              <a:t>C</a:t>
            </a:r>
            <a:r>
              <a:rPr lang="zh-CN" altLang="en-US" dirty="0"/>
              <a:t> 每天可以选择连续的一段树砍掉：要求这一段的长度至少是 </a:t>
            </a:r>
            <a:r>
              <a:rPr lang="en-US" altLang="zh-CN" dirty="0"/>
              <a:t>2</a:t>
            </a:r>
            <a:r>
              <a:rPr lang="zh-CN" altLang="en-US" dirty="0"/>
              <a:t>，并且第一棵与最后一棵种类相同。</a:t>
            </a:r>
            <a:endParaRPr lang="en-US" altLang="zh-CN" dirty="0"/>
          </a:p>
          <a:p>
            <a:pPr latinLnBrk="1"/>
            <a:r>
              <a:rPr lang="zh-CN" altLang="en-US" dirty="0"/>
              <a:t>问有多少种初始局面，使得存在一种方法通过若干天将树砍光。对</a:t>
            </a:r>
            <a:r>
              <a:rPr lang="en-US" altLang="zh-CN" dirty="0"/>
              <a:t> 1e9</a:t>
            </a:r>
            <a:r>
              <a:rPr lang="zh-CN" altLang="en-US" dirty="0"/>
              <a:t> </a:t>
            </a:r>
            <a:r>
              <a:rPr lang="en-US" altLang="zh-CN" dirty="0"/>
              <a:t>+</a:t>
            </a:r>
            <a:r>
              <a:rPr lang="zh-CN" altLang="en-US" dirty="0"/>
              <a:t> </a:t>
            </a:r>
            <a:r>
              <a:rPr lang="en-US" altLang="zh-CN" dirty="0"/>
              <a:t>7</a:t>
            </a:r>
            <a:r>
              <a:rPr lang="zh-CN" altLang="en-US" dirty="0"/>
              <a:t> 取模。</a:t>
            </a:r>
            <a:endParaRPr lang="en-US" altLang="zh-CN" dirty="0"/>
          </a:p>
          <a:p>
            <a:pPr latinLnBrk="1"/>
            <a:r>
              <a:rPr lang="en-US" altLang="zh-CN" dirty="0"/>
              <a:t>n &lt;= 3000, m &lt;= 1e9</a:t>
            </a:r>
            <a:endParaRPr lang="en-US" altLang="zh-CN" dirty="0"/>
          </a:p>
          <a:p>
            <a:pPr latinLnBrk="1"/>
            <a:endParaRPr lang="en-US" altLang="zh-CN" dirty="0"/>
          </a:p>
          <a:p>
            <a:endParaRPr lang="en-US" dirty="0">
              <a:latin typeface="+mj-ea"/>
              <a:ea typeface="+mj-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zh-CN" altLang="en-US"/>
              <a:t>首先想怎么判定</a:t>
            </a:r>
            <a:endParaRPr lang="zh-CN" altLang="en-US"/>
          </a:p>
          <a:p>
            <a:r>
              <a:rPr lang="zh-CN" altLang="en-US"/>
              <a:t>判定相当于是：判断能不能分成若干个首尾相同的区间</a:t>
            </a:r>
            <a:endParaRPr lang="zh-CN" altLang="en-US"/>
          </a:p>
          <a:p>
            <a:r>
              <a:rPr lang="zh-CN" altLang="en-US"/>
              <a:t>可以</a:t>
            </a:r>
            <a:r>
              <a:rPr lang="en-US" altLang="zh-CN"/>
              <a:t>dp: dp[i] </a:t>
            </a:r>
            <a:r>
              <a:rPr lang="zh-CN" altLang="en-US"/>
              <a:t>表示 </a:t>
            </a:r>
            <a:r>
              <a:rPr lang="en-US" altLang="zh-CN"/>
              <a:t>1~i </a:t>
            </a:r>
            <a:r>
              <a:rPr lang="zh-CN" altLang="en-US"/>
              <a:t>能不能分，那么 </a:t>
            </a:r>
            <a:r>
              <a:rPr lang="en-US" altLang="zh-CN"/>
              <a:t>dp[i] = Or_{j&lt;i}(dp[j-1] &amp;&amp; a[j]==a[i])</a:t>
            </a:r>
            <a:endParaRPr lang="en-US" altLang="zh-CN"/>
          </a:p>
          <a:p>
            <a:r>
              <a:rPr lang="zh-CN" altLang="en-US"/>
              <a:t>这个过程中 </a:t>
            </a:r>
            <a:r>
              <a:rPr lang="en-US" altLang="zh-CN"/>
              <a:t>i </a:t>
            </a:r>
            <a:r>
              <a:rPr lang="zh-CN" altLang="en-US"/>
              <a:t>能选哪些颜色使得 </a:t>
            </a:r>
            <a:r>
              <a:rPr lang="en-US" altLang="zh-CN"/>
              <a:t>dp[i] = 1?</a:t>
            </a:r>
            <a:endParaRPr lang="en-US" altLang="zh-CN"/>
          </a:p>
          <a:p>
            <a:r>
              <a:rPr lang="zh-CN" altLang="en-US"/>
              <a:t>是那些 </a:t>
            </a:r>
            <a:r>
              <a:rPr lang="en-US" altLang="zh-CN"/>
              <a:t>dp[j-1]=1 </a:t>
            </a:r>
            <a:r>
              <a:rPr lang="zh-CN" altLang="en-US"/>
              <a:t>的 </a:t>
            </a:r>
            <a:r>
              <a:rPr lang="en-US" altLang="zh-CN"/>
              <a:t>a[j] </a:t>
            </a:r>
            <a:r>
              <a:rPr lang="zh-CN" altLang="en-US"/>
              <a:t>构成的颜色集合</a:t>
            </a:r>
            <a:endParaRPr lang="zh-CN" altLang="en-US"/>
          </a:p>
          <a:p>
            <a:r>
              <a:rPr lang="zh-CN" altLang="en-US"/>
              <a:t>可以记一下这个集合的大小，知道 </a:t>
            </a:r>
            <a:r>
              <a:rPr lang="en-US" altLang="zh-CN"/>
              <a:t>a[i] </a:t>
            </a:r>
            <a:r>
              <a:rPr lang="zh-CN" altLang="en-US"/>
              <a:t>的选法种数</a:t>
            </a:r>
            <a:endParaRPr lang="zh-CN" altLang="en-US"/>
          </a:p>
          <a:p>
            <a:r>
              <a:rPr lang="zh-CN" altLang="en-US"/>
              <a:t>因此有效状态只有集合大小和上个位置的 </a:t>
            </a:r>
            <a:r>
              <a:rPr lang="en-US" altLang="zh-CN"/>
              <a:t>dp </a:t>
            </a:r>
            <a:r>
              <a:rPr lang="zh-CN" altLang="en-US"/>
              <a:t>值，可以 </a:t>
            </a:r>
            <a:r>
              <a:rPr lang="en-US" altLang="zh-CN"/>
              <a:t>O(n^2) dp </a:t>
            </a:r>
            <a:r>
              <a:rPr lang="zh-CN" altLang="en-US"/>
              <a:t>解决</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25000"/>
          </a:bodyPr>
          <a:p>
            <a:pPr marL="0" indent="0">
              <a:buNone/>
            </a:pPr>
            <a:endParaRPr lang="en-US"/>
          </a:p>
          <a:p>
            <a:r>
              <a:rPr lang="en-US"/>
              <a:t>int main() {    </a:t>
            </a:r>
            <a:endParaRPr lang="en-US"/>
          </a:p>
          <a:p>
            <a:r>
              <a:rPr lang="en-US"/>
              <a:t>    cin &gt;&gt; n &gt;&gt; m;</a:t>
            </a:r>
            <a:endParaRPr lang="en-US"/>
          </a:p>
          <a:p>
            <a:r>
              <a:rPr lang="en-US"/>
              <a:t>    dp[0][0][1] = 1;</a:t>
            </a:r>
            <a:endParaRPr lang="en-US"/>
          </a:p>
          <a:p>
            <a:r>
              <a:rPr lang="en-US"/>
              <a:t>    </a:t>
            </a:r>
            <a:r>
              <a:rPr lang="en-US" sz="8000"/>
              <a:t>for (int i = 0; i &lt; n; i++) {</a:t>
            </a:r>
            <a:endParaRPr lang="en-US" sz="8000"/>
          </a:p>
          <a:p>
            <a:r>
              <a:rPr lang="en-US" sz="8000"/>
              <a:t>        for (int j = 0; j &lt;= i; j++)</a:t>
            </a:r>
            <a:endParaRPr lang="en-US" sz="8000"/>
          </a:p>
          <a:p>
            <a:r>
              <a:rPr lang="en-US" sz="8000"/>
              <a:t>            for (int k = 0; k &lt; 2; k++) {</a:t>
            </a:r>
            <a:endParaRPr lang="en-US" sz="8000"/>
          </a:p>
          <a:p>
            <a:r>
              <a:rPr lang="en-US" sz="8000"/>
              <a:t>                dp[i + 1][j][1] = (dp[i + 1][j][1] + dp[i][j][k] * j) % mod;</a:t>
            </a:r>
            <a:endParaRPr lang="en-US" sz="8000"/>
          </a:p>
          <a:p>
            <a:r>
              <a:rPr lang="en-US" sz="8000"/>
              <a:t>                dp[i + 1][j + k][0] = (dp[i + 1][j + k][0] + (m - j) * dp[i][j][k]) % mod;</a:t>
            </a:r>
            <a:endParaRPr lang="en-US" sz="8000"/>
          </a:p>
          <a:p>
            <a:r>
              <a:rPr lang="en-US" sz="8000"/>
              <a:t>            }</a:t>
            </a:r>
            <a:endParaRPr lang="en-US" sz="8000"/>
          </a:p>
          <a:p>
            <a:r>
              <a:rPr lang="en-US" sz="8000"/>
              <a:t>    }</a:t>
            </a:r>
            <a:endParaRPr lang="en-US"/>
          </a:p>
          <a:p>
            <a:r>
              <a:rPr lang="en-US"/>
              <a:t>    ll ans = 0;</a:t>
            </a:r>
            <a:endParaRPr lang="en-US"/>
          </a:p>
          <a:p>
            <a:r>
              <a:rPr lang="en-US"/>
              <a:t>    for (int j = 0; j &lt;= n; j++)</a:t>
            </a:r>
            <a:endParaRPr lang="en-US"/>
          </a:p>
          <a:p>
            <a:r>
              <a:rPr lang="en-US"/>
              <a:t>        ans += dp[n][j][1];</a:t>
            </a:r>
            <a:endParaRPr lang="en-US"/>
          </a:p>
          <a:p>
            <a:r>
              <a:rPr lang="en-US"/>
              <a:t>    ans %= mod;</a:t>
            </a:r>
            <a:endParaRPr lang="en-US"/>
          </a:p>
          <a:p>
            <a:r>
              <a:rPr lang="en-US"/>
              <a:t>    if (ans &lt; 0) ans += mod;</a:t>
            </a:r>
            <a:endParaRPr lang="en-US"/>
          </a:p>
          <a:p>
            <a:r>
              <a:rPr lang="en-US"/>
              <a:t>    cout &lt;&lt; ans &lt;&lt; endl;</a:t>
            </a:r>
            <a:endParaRPr lang="en-US"/>
          </a:p>
          <a:p>
            <a:r>
              <a:rPr lang="en-US"/>
              <a:t>    return (0-0); // &lt;3 </a:t>
            </a:r>
            <a:endParaRPr lang="en-US"/>
          </a:p>
          <a:p>
            <a:r>
              <a:rPr lang="en-US"/>
              <a: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Section </a:t>
            </a:r>
            <a:r>
              <a:rPr lang="en-US" altLang="zh-CN" dirty="0"/>
              <a:t>2</a:t>
            </a:r>
            <a:endParaRPr lang="en-US" dirty="0"/>
          </a:p>
        </p:txBody>
      </p:sp>
      <p:sp>
        <p:nvSpPr>
          <p:cNvPr id="3" name="Subtitle 2"/>
          <p:cNvSpPr>
            <a:spLocks noGrp="1"/>
          </p:cNvSpPr>
          <p:nvPr>
            <p:ph type="subTitle" idx="1"/>
          </p:nvPr>
        </p:nvSpPr>
        <p:spPr/>
        <p:txBody>
          <a:bodyPr/>
          <a:lstStyle/>
          <a:p>
            <a:pPr algn="ctr"/>
            <a:r>
              <a:rPr lang="en-US" dirty="0"/>
              <a:t>DP</a:t>
            </a:r>
            <a:r>
              <a:rPr lang="zh-CN" altLang="en-US" dirty="0"/>
              <a:t> </a:t>
            </a:r>
            <a:r>
              <a:rPr lang="en-US" dirty="0"/>
              <a:t>优化小技巧</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Guess</a:t>
            </a:r>
            <a:endParaRPr lang="en-US" dirty="0"/>
          </a:p>
        </p:txBody>
      </p:sp>
      <p:sp>
        <p:nvSpPr>
          <p:cNvPr id="3" name="Content Placeholder 2"/>
          <p:cNvSpPr>
            <a:spLocks noGrp="1"/>
          </p:cNvSpPr>
          <p:nvPr>
            <p:ph idx="1"/>
          </p:nvPr>
        </p:nvSpPr>
        <p:spPr/>
        <p:txBody>
          <a:bodyPr>
            <a:normAutofit lnSpcReduction="10000"/>
          </a:bodyPr>
          <a:lstStyle/>
          <a:p>
            <a:pPr latinLnBrk="1"/>
            <a:r>
              <a:rPr lang="en-US" dirty="0"/>
              <a:t>Alice </a:t>
            </a:r>
            <a:r>
              <a:rPr lang="zh-CN" altLang="en-US" dirty="0"/>
              <a:t>和 </a:t>
            </a:r>
            <a:r>
              <a:rPr lang="en-US" dirty="0"/>
              <a:t>Bob </a:t>
            </a:r>
            <a:r>
              <a:rPr lang="zh-CN" altLang="en-US" dirty="0"/>
              <a:t>玩游戏。</a:t>
            </a:r>
            <a:endParaRPr lang="zh-CN" altLang="en-US" dirty="0"/>
          </a:p>
          <a:p>
            <a:pPr latinLnBrk="1"/>
            <a:r>
              <a:rPr lang="en-US" dirty="0"/>
              <a:t>Alice </a:t>
            </a:r>
            <a:r>
              <a:rPr lang="zh-CN" altLang="en-US" dirty="0"/>
              <a:t>有一个 </a:t>
            </a:r>
            <a:r>
              <a:rPr lang="en-US" altLang="zh-CN" dirty="0"/>
              <a:t>1 ~ </a:t>
            </a:r>
            <a:r>
              <a:rPr lang="en-US" dirty="0"/>
              <a:t>n </a:t>
            </a:r>
            <a:r>
              <a:rPr lang="zh-CN" altLang="en-US" dirty="0"/>
              <a:t>中的正整数 </a:t>
            </a:r>
            <a:r>
              <a:rPr lang="en-US" dirty="0" err="1"/>
              <a:t>y。Bob</a:t>
            </a:r>
            <a:r>
              <a:rPr lang="en-US" dirty="0"/>
              <a:t> </a:t>
            </a:r>
            <a:r>
              <a:rPr lang="zh-CN" altLang="en-US" dirty="0"/>
              <a:t>不知道这个数。</a:t>
            </a:r>
            <a:endParaRPr lang="zh-CN" altLang="en-US" dirty="0"/>
          </a:p>
          <a:p>
            <a:pPr latinLnBrk="1"/>
            <a:r>
              <a:rPr lang="zh-CN" altLang="en-US" dirty="0"/>
              <a:t>游戏中的每一轮，</a:t>
            </a:r>
            <a:r>
              <a:rPr lang="en-US" dirty="0"/>
              <a:t>Bob </a:t>
            </a:r>
            <a:r>
              <a:rPr lang="zh-CN" altLang="en-US" dirty="0"/>
              <a:t>选一个正整数 </a:t>
            </a:r>
            <a:r>
              <a:rPr lang="en-US" dirty="0"/>
              <a:t>x， </a:t>
            </a:r>
            <a:r>
              <a:rPr lang="zh-CN" altLang="en-US" dirty="0"/>
              <a:t>并提问</a:t>
            </a:r>
            <a:r>
              <a:rPr lang="en-US" dirty="0"/>
              <a:t>Alice ： y </a:t>
            </a:r>
            <a:r>
              <a:rPr lang="zh-CN" altLang="en-US" dirty="0"/>
              <a:t>是否大于等于 </a:t>
            </a:r>
            <a:r>
              <a:rPr lang="en-US" dirty="0"/>
              <a:t>x？ </a:t>
            </a:r>
            <a:r>
              <a:rPr lang="zh-CN" altLang="en-US" dirty="0"/>
              <a:t>然后</a:t>
            </a:r>
            <a:r>
              <a:rPr lang="en-US" dirty="0"/>
              <a:t>Alice</a:t>
            </a:r>
            <a:r>
              <a:rPr lang="zh-CN" altLang="en-US" dirty="0"/>
              <a:t>需要回答是或否。</a:t>
            </a:r>
            <a:endParaRPr lang="zh-CN" altLang="en-US" dirty="0"/>
          </a:p>
          <a:p>
            <a:pPr latinLnBrk="1"/>
            <a:r>
              <a:rPr lang="en-US" dirty="0"/>
              <a:t>Alice</a:t>
            </a:r>
            <a:r>
              <a:rPr lang="zh-CN" altLang="en-US" dirty="0"/>
              <a:t>可以说至多一次谎。</a:t>
            </a:r>
            <a:r>
              <a:rPr lang="en-US" dirty="0"/>
              <a:t>Bob</a:t>
            </a:r>
            <a:r>
              <a:rPr lang="zh-CN" altLang="en-US" dirty="0"/>
              <a:t>想要用尽量少的轮数确定 </a:t>
            </a:r>
            <a:r>
              <a:rPr lang="en-US" dirty="0" err="1"/>
              <a:t>y，Alice</a:t>
            </a:r>
            <a:r>
              <a:rPr lang="en-US" dirty="0"/>
              <a:t> </a:t>
            </a:r>
            <a:r>
              <a:rPr lang="zh-CN" altLang="en-US" dirty="0"/>
              <a:t>则希望 </a:t>
            </a:r>
            <a:r>
              <a:rPr lang="en-US" dirty="0"/>
              <a:t>Bob </a:t>
            </a:r>
            <a:r>
              <a:rPr lang="zh-CN" altLang="en-US" dirty="0"/>
              <a:t>用的次数尽量多。</a:t>
            </a:r>
            <a:endParaRPr lang="zh-CN" altLang="en-US" dirty="0"/>
          </a:p>
          <a:p>
            <a:pPr latinLnBrk="1"/>
            <a:r>
              <a:rPr lang="zh-CN" altLang="en-US" dirty="0"/>
              <a:t>假设双方除第一轮外均采用最优策略。你需要求出，对每个 </a:t>
            </a:r>
            <a:r>
              <a:rPr lang="en-US" dirty="0"/>
              <a:t>x = 1, 2, ..., n，</a:t>
            </a:r>
            <a:r>
              <a:rPr lang="zh-CN" altLang="en-US" dirty="0"/>
              <a:t>当 </a:t>
            </a:r>
            <a:r>
              <a:rPr lang="en-US" dirty="0"/>
              <a:t>Bob </a:t>
            </a:r>
            <a:r>
              <a:rPr lang="zh-CN" altLang="en-US" dirty="0"/>
              <a:t>第一轮问 </a:t>
            </a:r>
            <a:r>
              <a:rPr lang="en-US" dirty="0"/>
              <a:t>y </a:t>
            </a:r>
            <a:r>
              <a:rPr lang="zh-CN" altLang="en-US" dirty="0"/>
              <a:t>是否大于等于 </a:t>
            </a:r>
            <a:r>
              <a:rPr lang="en-US" dirty="0"/>
              <a:t>x </a:t>
            </a:r>
            <a:r>
              <a:rPr lang="zh-CN" altLang="en-US" dirty="0"/>
              <a:t>且 </a:t>
            </a:r>
            <a:r>
              <a:rPr lang="en-US" dirty="0"/>
              <a:t>Alice </a:t>
            </a:r>
            <a:r>
              <a:rPr lang="zh-CN" altLang="en-US" dirty="0"/>
              <a:t>第一轮回答了是 的情形下，</a:t>
            </a:r>
            <a:r>
              <a:rPr lang="en-US" dirty="0"/>
              <a:t>Bob</a:t>
            </a:r>
            <a:r>
              <a:rPr lang="zh-CN" altLang="en-US" dirty="0"/>
              <a:t>还需要多少轮能确定 </a:t>
            </a:r>
            <a:r>
              <a:rPr lang="en-US" dirty="0"/>
              <a:t>y</a:t>
            </a:r>
            <a:r>
              <a:rPr lang="zh-CN" altLang="en-US" dirty="0"/>
              <a:t>。</a:t>
            </a:r>
            <a:endParaRPr lang="en-US" dirty="0"/>
          </a:p>
          <a:p>
            <a:pPr latinLnBrk="1"/>
            <a:r>
              <a:rPr lang="en-US" altLang="zh-CN" dirty="0"/>
              <a:t>2 &lt;= n &lt;= 2000</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1473200" y="1825944"/>
            <a:ext cx="10515600" cy="4351338"/>
          </a:xfrm>
        </p:spPr>
        <p:txBody>
          <a:bodyPr>
            <a:normAutofit fontScale="50000"/>
          </a:bodyPr>
          <a:p>
            <a:pPr marL="0" indent="0">
              <a:buNone/>
            </a:pPr>
            <a:r>
              <a:rPr lang="zh-CN" altLang="en-US"/>
              <a:t>考虑每个位置被覆盖的次数</a:t>
            </a:r>
            <a:endParaRPr lang="zh-CN" altLang="en-US"/>
          </a:p>
          <a:p>
            <a:pPr marL="0" indent="0">
              <a:buNone/>
            </a:pPr>
            <a:r>
              <a:rPr lang="zh-CN" altLang="en-US"/>
              <a:t>如果 </a:t>
            </a:r>
            <a:r>
              <a:rPr lang="en-US" altLang="zh-CN"/>
              <a:t>Bob </a:t>
            </a:r>
            <a:r>
              <a:rPr lang="zh-CN" altLang="en-US"/>
              <a:t>问 是不是大于 </a:t>
            </a:r>
            <a:r>
              <a:rPr lang="en-US" altLang="zh-CN"/>
              <a:t>x? Alice </a:t>
            </a:r>
            <a:r>
              <a:rPr lang="zh-CN" altLang="en-US"/>
              <a:t>回答是，我们就把 </a:t>
            </a:r>
            <a:r>
              <a:rPr lang="en-US" altLang="zh-CN"/>
              <a:t>&lt;= x </a:t>
            </a:r>
            <a:r>
              <a:rPr lang="zh-CN" altLang="en-US"/>
              <a:t>覆盖一遍，否则把 </a:t>
            </a:r>
            <a:r>
              <a:rPr lang="en-US" altLang="zh-CN"/>
              <a:t>&gt; x</a:t>
            </a:r>
            <a:r>
              <a:rPr lang="zh-CN" altLang="en-US"/>
              <a:t>的覆盖一遍</a:t>
            </a:r>
            <a:endParaRPr lang="zh-CN" altLang="en-US"/>
          </a:p>
          <a:p>
            <a:pPr marL="0" indent="0">
              <a:buNone/>
            </a:pPr>
            <a:r>
              <a:rPr lang="zh-CN" altLang="en-US"/>
              <a:t>如果一个数被覆盖了 </a:t>
            </a:r>
            <a:r>
              <a:rPr lang="en-US" altLang="zh-CN"/>
              <a:t>&gt;= 2 </a:t>
            </a:r>
            <a:r>
              <a:rPr lang="zh-CN" altLang="en-US"/>
              <a:t>次，就不可能是这个数</a:t>
            </a:r>
            <a:endParaRPr lang="zh-CN" altLang="en-US"/>
          </a:p>
          <a:p>
            <a:pPr marL="0" indent="0">
              <a:buNone/>
            </a:pPr>
            <a:r>
              <a:rPr lang="en-US" altLang="zh-CN"/>
              <a:t>Bob</a:t>
            </a:r>
            <a:r>
              <a:rPr lang="zh-CN" altLang="en-US"/>
              <a:t>赢：如果只有一个数覆盖次数 </a:t>
            </a:r>
            <a:r>
              <a:rPr lang="en-US" altLang="zh-CN"/>
              <a:t>&lt;= 1</a:t>
            </a:r>
            <a:endParaRPr lang="en-US" altLang="zh-CN"/>
          </a:p>
          <a:p>
            <a:pPr marL="0" indent="0">
              <a:buNone/>
            </a:pPr>
            <a:r>
              <a:rPr lang="zh-CN" altLang="en-US"/>
              <a:t>转化问题为覆盖</a:t>
            </a:r>
            <a:endParaRPr lang="zh-CN" altLang="en-US"/>
          </a:p>
          <a:p>
            <a:pPr marL="0" indent="0">
              <a:buNone/>
            </a:pPr>
            <a:r>
              <a:rPr lang="en-US" altLang="zh-CN"/>
              <a:t>[1, 1, 1, 1, 2, 2, 1, 1]</a:t>
            </a:r>
            <a:endParaRPr lang="en-US" altLang="zh-CN"/>
          </a:p>
          <a:p>
            <a:pPr marL="0" indent="0">
              <a:buNone/>
            </a:pPr>
            <a:r>
              <a:rPr lang="zh-CN" altLang="en-US"/>
              <a:t>和 </a:t>
            </a:r>
            <a:r>
              <a:rPr lang="en-US" altLang="zh-CN">
                <a:sym typeface="+mn-ea"/>
              </a:rPr>
              <a:t>[1, 1, 1, 1, 1, 1]</a:t>
            </a:r>
            <a:endParaRPr lang="en-US" altLang="zh-CN">
              <a:sym typeface="+mn-ea"/>
            </a:endParaRPr>
          </a:p>
          <a:p>
            <a:pPr marL="0" indent="0">
              <a:buNone/>
            </a:pPr>
            <a:r>
              <a:rPr lang="zh-CN" altLang="en-US">
                <a:sym typeface="+mn-ea"/>
              </a:rPr>
              <a:t>注意到有效状态只有 </a:t>
            </a:r>
            <a:r>
              <a:rPr lang="en-US" altLang="zh-CN">
                <a:sym typeface="+mn-ea"/>
              </a:rPr>
              <a:t>[1,1,1,1,0,0,0,0,1,1,1,1,1]</a:t>
            </a:r>
            <a:endParaRPr lang="en-US" altLang="zh-CN">
              <a:sym typeface="+mn-ea"/>
            </a:endParaRPr>
          </a:p>
          <a:p>
            <a:pPr marL="0" indent="0">
              <a:buNone/>
            </a:pPr>
            <a:r>
              <a:rPr lang="zh-CN" altLang="en-US"/>
              <a:t>可以定义状态为 </a:t>
            </a:r>
            <a:r>
              <a:rPr lang="en-US" altLang="zh-CN"/>
              <a:t>dp[a][b][c]</a:t>
            </a:r>
            <a:r>
              <a:rPr lang="zh-CN" altLang="en-US"/>
              <a:t>表示依次有 </a:t>
            </a:r>
            <a:r>
              <a:rPr lang="en-US" altLang="zh-CN"/>
              <a:t>a </a:t>
            </a:r>
            <a:r>
              <a:rPr lang="zh-CN" altLang="en-US"/>
              <a:t>个 </a:t>
            </a:r>
            <a:r>
              <a:rPr lang="en-US" altLang="zh-CN"/>
              <a:t>1 b </a:t>
            </a:r>
            <a:r>
              <a:rPr lang="zh-CN" altLang="en-US"/>
              <a:t>个 </a:t>
            </a:r>
            <a:r>
              <a:rPr lang="en-US" altLang="zh-CN"/>
              <a:t>0 c </a:t>
            </a:r>
            <a:r>
              <a:rPr lang="zh-CN" altLang="en-US"/>
              <a:t>个 </a:t>
            </a:r>
            <a:r>
              <a:rPr lang="en-US" altLang="zh-CN"/>
              <a:t>1</a:t>
            </a:r>
            <a:r>
              <a:rPr lang="zh-CN" altLang="en-US"/>
              <a:t>，还要问多少次</a:t>
            </a:r>
            <a:endParaRPr lang="zh-CN" altLang="en-US"/>
          </a:p>
          <a:p>
            <a:pPr marL="0" indent="0">
              <a:buNone/>
            </a:pPr>
            <a:r>
              <a:rPr lang="en-US" altLang="zh-CN"/>
              <a:t>[1,1,1,1,1,1,0,0,0,0,0,0,0,1,1,1,1]</a:t>
            </a:r>
            <a:endParaRPr lang="en-US" altLang="zh-CN"/>
          </a:p>
          <a:p>
            <a:pPr marL="0" indent="0">
              <a:buNone/>
            </a:pPr>
            <a:r>
              <a:rPr lang="zh-CN" altLang="en-US"/>
              <a:t>二分决策位置 </a:t>
            </a:r>
            <a:r>
              <a:rPr lang="en-US" altLang="zh-CN"/>
              <a:t>O(n^3\log n)</a:t>
            </a:r>
            <a:endParaRPr lang="en-US" altLang="zh-CN"/>
          </a:p>
          <a:p>
            <a:pPr marL="0" indent="0">
              <a:buNone/>
            </a:pPr>
            <a:r>
              <a:rPr lang="zh-CN" altLang="en-US"/>
              <a:t>由于单调性：可以优化到 </a:t>
            </a:r>
            <a:r>
              <a:rPr lang="en-US" altLang="zh-CN"/>
              <a:t>O(n^3) </a:t>
            </a:r>
            <a:endParaRPr lang="en-US" altLang="zh-CN"/>
          </a:p>
          <a:p>
            <a:pPr marL="0" indent="0">
              <a:buNone/>
            </a:pPr>
            <a:r>
              <a:rPr lang="zh-CN" altLang="en-US"/>
              <a:t>进一步优化：注意到，答案是</a:t>
            </a:r>
            <a:r>
              <a:rPr lang="en-US" altLang="zh-CN"/>
              <a:t>log</a:t>
            </a:r>
            <a:r>
              <a:rPr lang="zh-CN" altLang="en-US"/>
              <a:t>级别的，并且关于第三维是单调的。可以把值域和第三维互换，优化到 </a:t>
            </a:r>
            <a:r>
              <a:rPr lang="en-US" altLang="zh-CN"/>
              <a:t>O(n^2\log n)</a:t>
            </a:r>
            <a:endParaRPr lang="en-US" altLang="zh-CN"/>
          </a:p>
          <a:p>
            <a:pPr marL="0" indent="0">
              <a:buNone/>
            </a:pP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dp[a][b][c] = x (dp[a][b][c+1]&gt;=dp[a][b][c], </a:t>
            </a:r>
            <a:r>
              <a:rPr lang="zh-CN" altLang="en-US"/>
              <a:t>且 </a:t>
            </a:r>
            <a:r>
              <a:rPr lang="en-US" altLang="zh-CN"/>
              <a:t>x&lt;= log n</a:t>
            </a:r>
            <a:r>
              <a:rPr lang="en-US"/>
              <a:t>)</a:t>
            </a:r>
            <a:endParaRPr lang="en-US"/>
          </a:p>
          <a:p>
            <a:r>
              <a:rPr lang="zh-CN" altLang="en-US"/>
              <a:t>可以互换成 </a:t>
            </a:r>
            <a:r>
              <a:rPr lang="en-US" altLang="zh-CN"/>
              <a:t>f[a][b][x]=c</a:t>
            </a:r>
            <a:r>
              <a:rPr lang="zh-CN" altLang="en-US"/>
              <a:t>，其中 </a:t>
            </a:r>
            <a:r>
              <a:rPr lang="en-US" altLang="zh-CN"/>
              <a:t>c= \max(t|dp[a][b][t] &lt;= x</a:t>
            </a:r>
            <a:r>
              <a:rPr lang="en-US"/>
              <a:t>)</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PA2021 Round2 A</a:t>
            </a:r>
            <a:endParaRPr lang="en-US" dirty="0"/>
          </a:p>
        </p:txBody>
      </p:sp>
      <p:sp>
        <p:nvSpPr>
          <p:cNvPr id="3" name="Content Placeholder 2"/>
          <p:cNvSpPr>
            <a:spLocks noGrp="1"/>
          </p:cNvSpPr>
          <p:nvPr>
            <p:ph idx="1"/>
          </p:nvPr>
        </p:nvSpPr>
        <p:spPr/>
        <p:txBody>
          <a:bodyPr/>
          <a:lstStyle/>
          <a:p>
            <a:r>
              <a:rPr lang="zh-CN" altLang="en-US" dirty="0"/>
              <a:t>有一棵 </a:t>
            </a:r>
            <a:r>
              <a:rPr lang="en-US" altLang="zh-CN" dirty="0"/>
              <a:t>n </a:t>
            </a:r>
            <a:r>
              <a:rPr lang="zh-CN" altLang="en-US" dirty="0"/>
              <a:t>个点的树，边有边权（可能为负数）。</a:t>
            </a:r>
            <a:endParaRPr lang="en-US" altLang="zh-CN" dirty="0"/>
          </a:p>
          <a:p>
            <a:r>
              <a:rPr lang="zh-CN" altLang="en-US" dirty="0"/>
              <a:t>请你找出一些边不交的长为</a:t>
            </a:r>
            <a:r>
              <a:rPr lang="en-US" altLang="zh-CN" dirty="0"/>
              <a:t>4</a:t>
            </a:r>
            <a:r>
              <a:rPr lang="zh-CN" altLang="en-US" dirty="0"/>
              <a:t>的路径，使得权值之和最大。输出最大值。</a:t>
            </a:r>
            <a:endParaRPr lang="en-US" altLang="zh-CN" dirty="0"/>
          </a:p>
          <a:p>
            <a:r>
              <a:rPr lang="en-US" dirty="0"/>
              <a:t>n &lt;= 5e5, -1e9 &lt;= w[</a:t>
            </a:r>
            <a:r>
              <a:rPr lang="en-US" dirty="0" err="1"/>
              <a:t>i</a:t>
            </a:r>
            <a:r>
              <a:rPr lang="en-US" dirty="0"/>
              <a:t>] &lt;= 1e9</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zh-CN" altLang="en-US"/>
              <a:t>暴力：</a:t>
            </a:r>
            <a:r>
              <a:rPr lang="en-US" altLang="zh-CN"/>
              <a:t>dp[i][j]</a:t>
            </a:r>
            <a:r>
              <a:rPr lang="zh-CN" altLang="en-US"/>
              <a:t>表示</a:t>
            </a:r>
            <a:r>
              <a:rPr lang="en-US" altLang="zh-CN"/>
              <a:t>i</a:t>
            </a:r>
            <a:r>
              <a:rPr lang="zh-CN" altLang="en-US"/>
              <a:t>为根的子树，选择一些链长度都是</a:t>
            </a:r>
            <a:r>
              <a:rPr lang="en-US" altLang="zh-CN"/>
              <a:t>4</a:t>
            </a:r>
            <a:r>
              <a:rPr lang="zh-CN" altLang="en-US"/>
              <a:t>，然后以 </a:t>
            </a:r>
            <a:r>
              <a:rPr lang="en-US" altLang="zh-CN"/>
              <a:t>i </a:t>
            </a:r>
            <a:r>
              <a:rPr lang="zh-CN" altLang="en-US"/>
              <a:t>为根有一条长度为 </a:t>
            </a:r>
            <a:r>
              <a:rPr lang="en-US" altLang="zh-CN"/>
              <a:t>j </a:t>
            </a:r>
            <a:r>
              <a:rPr lang="zh-CN" altLang="en-US"/>
              <a:t>的链 这种情况下的最大权值和</a:t>
            </a:r>
            <a:endParaRPr lang="zh-CN" altLang="en-US"/>
          </a:p>
          <a:p>
            <a:r>
              <a:rPr lang="zh-CN" altLang="en-US"/>
              <a:t>转移：需要选一些子树 </a:t>
            </a:r>
            <a:r>
              <a:rPr lang="en-US" altLang="zh-CN"/>
              <a:t>dp[v][j]</a:t>
            </a:r>
            <a:r>
              <a:rPr lang="zh-CN" altLang="en-US"/>
              <a:t>，满足：</a:t>
            </a:r>
            <a:endParaRPr lang="zh-CN" altLang="en-US"/>
          </a:p>
          <a:p>
            <a:pPr lvl="1"/>
            <a:r>
              <a:rPr lang="en-US" altLang="zh-CN"/>
              <a:t>j=1 </a:t>
            </a:r>
            <a:r>
              <a:rPr lang="zh-CN" altLang="en-US"/>
              <a:t>和 </a:t>
            </a:r>
            <a:r>
              <a:rPr lang="en-US" altLang="zh-CN"/>
              <a:t>j=3 </a:t>
            </a:r>
            <a:r>
              <a:rPr lang="zh-CN" altLang="en-US"/>
              <a:t>需要一样多</a:t>
            </a:r>
            <a:endParaRPr lang="zh-CN" altLang="en-US"/>
          </a:p>
          <a:p>
            <a:pPr lvl="1"/>
            <a:r>
              <a:rPr lang="en-US" altLang="zh-CN"/>
              <a:t>j = 2 </a:t>
            </a:r>
            <a:r>
              <a:rPr lang="zh-CN" altLang="en-US"/>
              <a:t>的个数需要是偶数</a:t>
            </a:r>
            <a:endParaRPr lang="zh-CN" altLang="en-US"/>
          </a:p>
          <a:p>
            <a:pPr lvl="1"/>
            <a:r>
              <a:rPr lang="zh-CN" altLang="en-US"/>
              <a:t>求最大权值之和：只需要记录当前的 </a:t>
            </a:r>
            <a:r>
              <a:rPr lang="en-US" altLang="zh-CN"/>
              <a:t>1 </a:t>
            </a:r>
            <a:r>
              <a:rPr lang="zh-CN" altLang="en-US"/>
              <a:t>的个数 减 </a:t>
            </a:r>
            <a:r>
              <a:rPr lang="en-US" altLang="zh-CN"/>
              <a:t>3 </a:t>
            </a:r>
            <a:r>
              <a:rPr lang="zh-CN" altLang="en-US"/>
              <a:t>的个数，以及选择 </a:t>
            </a:r>
            <a:r>
              <a:rPr lang="en-US" altLang="zh-CN"/>
              <a:t>2 </a:t>
            </a:r>
            <a:r>
              <a:rPr lang="zh-CN" altLang="en-US"/>
              <a:t>的个数的奇偶性</a:t>
            </a:r>
            <a:endParaRPr lang="zh-CN" altLang="en-US"/>
          </a:p>
          <a:p>
            <a:pPr lvl="1"/>
            <a:r>
              <a:rPr lang="zh-CN" altLang="en-US"/>
              <a:t>复杂度：</a:t>
            </a:r>
            <a:r>
              <a:rPr lang="en-US" altLang="zh-CN"/>
              <a:t>n * (</a:t>
            </a:r>
            <a:r>
              <a:rPr lang="zh-CN" altLang="en-US"/>
              <a:t>最大的</a:t>
            </a:r>
            <a:r>
              <a:rPr lang="zh-CN" altLang="en-US">
                <a:sym typeface="+mn-ea"/>
              </a:rPr>
              <a:t>的 </a:t>
            </a:r>
            <a:r>
              <a:rPr lang="en-US" altLang="zh-CN">
                <a:sym typeface="+mn-ea"/>
              </a:rPr>
              <a:t>1 </a:t>
            </a:r>
            <a:r>
              <a:rPr lang="zh-CN" altLang="en-US">
                <a:sym typeface="+mn-ea"/>
              </a:rPr>
              <a:t>的个数 减 </a:t>
            </a:r>
            <a:r>
              <a:rPr lang="en-US" altLang="zh-CN">
                <a:sym typeface="+mn-ea"/>
              </a:rPr>
              <a:t>3 </a:t>
            </a:r>
            <a:r>
              <a:rPr lang="zh-CN" altLang="en-US">
                <a:sym typeface="+mn-ea"/>
              </a:rPr>
              <a:t>的个数</a:t>
            </a:r>
            <a:r>
              <a:rPr lang="en-US" altLang="zh-CN">
                <a:sym typeface="+mn-ea"/>
              </a:rPr>
              <a:t>) * 2</a:t>
            </a:r>
            <a:endParaRPr lang="en-US" altLang="zh-CN">
              <a:sym typeface="+mn-ea"/>
            </a:endParaRPr>
          </a:p>
          <a:p>
            <a:pPr lvl="1"/>
            <a:r>
              <a:rPr lang="zh-CN" altLang="en-US"/>
              <a:t>如何处理要求根上面多一个 长度为 </a:t>
            </a:r>
            <a:r>
              <a:rPr lang="en-US" altLang="zh-CN"/>
              <a:t>j </a:t>
            </a:r>
            <a:r>
              <a:rPr lang="zh-CN" altLang="en-US"/>
              <a:t>的链</a:t>
            </a:r>
            <a:endParaRPr lang="zh-CN" altLang="en-US"/>
          </a:p>
          <a:p>
            <a:pPr lvl="2"/>
            <a:r>
              <a:rPr lang="zh-CN" altLang="en-US"/>
              <a:t>简单小技巧：可以新建一个儿子 </a:t>
            </a:r>
            <a:r>
              <a:rPr lang="en-US" altLang="zh-CN"/>
              <a:t>v, dp[v][4-j]=0, dp[v][</a:t>
            </a:r>
            <a:r>
              <a:rPr lang="zh-CN" altLang="en-US"/>
              <a:t>别的</a:t>
            </a:r>
            <a:r>
              <a:rPr lang="en-US" altLang="zh-CN"/>
              <a:t>] = -inf</a:t>
            </a:r>
            <a:endParaRPr lang="en-US" altLang="zh-CN"/>
          </a:p>
          <a:p>
            <a:pPr lvl="2"/>
            <a:endParaRPr lang="en-US" altLang="zh-CN"/>
          </a:p>
          <a:p>
            <a:pPr marL="914400" lvl="2" indent="0">
              <a:buNone/>
            </a:pP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(Snackdown 2021 Final) Bakery</a:t>
            </a:r>
            <a:endParaRPr lang="en-US" dirty="0"/>
          </a:p>
        </p:txBody>
      </p:sp>
      <p:sp>
        <p:nvSpPr>
          <p:cNvPr id="3" name="Content Placeholder 2"/>
          <p:cNvSpPr>
            <a:spLocks noGrp="1"/>
          </p:cNvSpPr>
          <p:nvPr>
            <p:ph idx="1"/>
          </p:nvPr>
        </p:nvSpPr>
        <p:spPr/>
        <p:txBody>
          <a:bodyPr/>
          <a:lstStyle/>
          <a:p>
            <a:r>
              <a:rPr lang="zh-CN" altLang="en-US" dirty="0"/>
              <a:t>你是一家面包店的老板，你有 </a:t>
            </a:r>
            <a:r>
              <a:rPr lang="en-US" altLang="zh-CN" dirty="0"/>
              <a:t>m</a:t>
            </a:r>
            <a:r>
              <a:rPr lang="zh-CN" altLang="en-US" dirty="0"/>
              <a:t> 个员工为顾客服务。 当一个顾客进入面包店时，他会排在其他正在等待的顾客后面。 只要有一个员工没有在为任何人服务，而至少有一个顾客在排队等候，就有一个员工立即开始为排队的第一个人服务（之后第一个人离开队伍）。服务一个顾客正好需要</a:t>
            </a:r>
            <a:r>
              <a:rPr lang="en-US" altLang="zh-CN" dirty="0"/>
              <a:t> d</a:t>
            </a:r>
            <a:r>
              <a:rPr lang="zh-CN" altLang="en-US" dirty="0"/>
              <a:t> 秒。 顾客的等待时间是从他进入面包店到有人开始为他服务之间所经过的秒数。 对于每个 </a:t>
            </a:r>
            <a:r>
              <a:rPr lang="en-US" altLang="zh-CN" dirty="0" err="1"/>
              <a:t>i</a:t>
            </a:r>
            <a:r>
              <a:rPr lang="en-US" altLang="zh-CN" dirty="0"/>
              <a:t> = 0, 1, …, n - 1</a:t>
            </a:r>
            <a:r>
              <a:rPr lang="zh-CN" altLang="en-US" dirty="0"/>
              <a:t>，有</a:t>
            </a:r>
            <a:r>
              <a:rPr lang="en-US" altLang="zh-CN" dirty="0"/>
              <a:t> p</a:t>
            </a:r>
            <a:r>
              <a:rPr lang="zh-CN" altLang="en-US" dirty="0"/>
              <a:t> 的概率会有一个顾客在开店后刚好</a:t>
            </a:r>
            <a:r>
              <a:rPr lang="en-US" altLang="zh-CN" dirty="0"/>
              <a:t> </a:t>
            </a:r>
            <a:r>
              <a:rPr lang="en-US" altLang="zh-CN" dirty="0" err="1"/>
              <a:t>i</a:t>
            </a:r>
            <a:r>
              <a:rPr lang="zh-CN" altLang="en-US" dirty="0"/>
              <a:t> 秒进入面包店（这些事件独立）。 求所有顾客的总等待时间的期望值，输出实数，绝对或相对误差在</a:t>
            </a:r>
            <a:r>
              <a:rPr lang="en-US" altLang="zh-CN" dirty="0"/>
              <a:t> 1e-6</a:t>
            </a:r>
            <a:r>
              <a:rPr lang="zh-CN" altLang="en-US" dirty="0"/>
              <a:t> 以内即算正确。</a:t>
            </a:r>
            <a:endParaRPr lang="en-US" altLang="zh-CN" dirty="0"/>
          </a:p>
          <a:p>
            <a:r>
              <a:rPr lang="en-US" dirty="0"/>
              <a:t>n &lt;= 5e4, m &lt;= 10, d &lt;= 1e3, 0.4 &lt;= p &lt;= 0.6</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124710" y="1585595"/>
            <a:ext cx="6495415" cy="43510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Section </a:t>
            </a:r>
            <a:r>
              <a:rPr lang="en-US" altLang="zh-CN" dirty="0"/>
              <a:t>3</a:t>
            </a:r>
            <a:endParaRPr lang="en-US" dirty="0"/>
          </a:p>
        </p:txBody>
      </p:sp>
      <p:sp>
        <p:nvSpPr>
          <p:cNvPr id="3" name="Subtitle 2"/>
          <p:cNvSpPr>
            <a:spLocks noGrp="1"/>
          </p:cNvSpPr>
          <p:nvPr>
            <p:ph type="subTitle" idx="1"/>
          </p:nvPr>
        </p:nvSpPr>
        <p:spPr/>
        <p:txBody>
          <a:bodyPr/>
          <a:lstStyle/>
          <a:p>
            <a:pPr algn="ctr"/>
            <a:r>
              <a:rPr lang="en-US" dirty="0"/>
              <a:t>观察性质与简化</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(Snackdown 2021 Final) Robbery</a:t>
            </a:r>
            <a:endParaRPr lang="en-US" dirty="0"/>
          </a:p>
        </p:txBody>
      </p:sp>
      <p:sp>
        <p:nvSpPr>
          <p:cNvPr id="3" name="Content Placeholder 2"/>
          <p:cNvSpPr>
            <a:spLocks noGrp="1"/>
          </p:cNvSpPr>
          <p:nvPr>
            <p:ph idx="1"/>
          </p:nvPr>
        </p:nvSpPr>
        <p:spPr/>
        <p:txBody>
          <a:bodyPr/>
          <a:lstStyle/>
          <a:p>
            <a:r>
              <a:rPr lang="zh-CN" altLang="en-US" dirty="0"/>
              <a:t>有 </a:t>
            </a:r>
            <a:r>
              <a:rPr lang="en-US" altLang="zh-CN" dirty="0"/>
              <a:t>n</a:t>
            </a:r>
            <a:r>
              <a:rPr lang="zh-CN" altLang="en-US" dirty="0"/>
              <a:t> 种物品，第 </a:t>
            </a:r>
            <a:r>
              <a:rPr lang="en-US" altLang="zh-CN" dirty="0" err="1"/>
              <a:t>i</a:t>
            </a:r>
            <a:r>
              <a:rPr lang="zh-CN" altLang="en-US" dirty="0"/>
              <a:t> 种质量为 </a:t>
            </a:r>
            <a:r>
              <a:rPr lang="en-US" altLang="zh-CN" dirty="0" err="1"/>
              <a:t>i</a:t>
            </a:r>
            <a:r>
              <a:rPr lang="zh-CN" altLang="en-US" dirty="0"/>
              <a:t>，价格为 </a:t>
            </a:r>
            <a:r>
              <a:rPr lang="en-US" altLang="zh-CN" dirty="0"/>
              <a:t>a[</a:t>
            </a:r>
            <a:r>
              <a:rPr lang="en-US" altLang="zh-CN" dirty="0" err="1"/>
              <a:t>i</a:t>
            </a:r>
            <a:r>
              <a:rPr lang="en-US" altLang="zh-CN" dirty="0"/>
              <a:t>]</a:t>
            </a:r>
            <a:r>
              <a:rPr lang="zh-CN" altLang="en-US" dirty="0"/>
              <a:t>，每种物品的数量无限。给定</a:t>
            </a:r>
            <a:r>
              <a:rPr lang="en-US" altLang="zh-CN" dirty="0"/>
              <a:t> k, w</a:t>
            </a:r>
            <a:r>
              <a:rPr lang="zh-CN" altLang="en-US" dirty="0"/>
              <a:t>，请你选择</a:t>
            </a:r>
            <a:r>
              <a:rPr lang="en-US" altLang="zh-CN" dirty="0"/>
              <a:t> k</a:t>
            </a:r>
            <a:r>
              <a:rPr lang="zh-CN" altLang="en-US" dirty="0"/>
              <a:t> 个物品，满足质量总和为 </a:t>
            </a:r>
            <a:r>
              <a:rPr lang="en-US" altLang="zh-CN" dirty="0"/>
              <a:t>w</a:t>
            </a:r>
            <a:r>
              <a:rPr lang="zh-CN" altLang="en-US" dirty="0"/>
              <a:t>，价格之和最大。输出价格。</a:t>
            </a:r>
            <a:endParaRPr lang="en-US" altLang="zh-CN" dirty="0"/>
          </a:p>
          <a:p>
            <a:r>
              <a:rPr lang="en-US" dirty="0"/>
              <a:t>n &lt;= 1000, k &lt;= 1e6, k &lt;= w &lt;= </a:t>
            </a:r>
            <a:r>
              <a:rPr lang="en-US" dirty="0" err="1"/>
              <a:t>kn</a:t>
            </a:r>
            <a:r>
              <a:rPr lang="en-US" dirty="0"/>
              <a:t>, 1 &lt;= a[</a:t>
            </a:r>
            <a:r>
              <a:rPr lang="en-US" dirty="0" err="1"/>
              <a:t>i</a:t>
            </a:r>
            <a:r>
              <a:rPr lang="en-US" dirty="0"/>
              <a:t>] &lt;= 1e9</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838200" y="2670175"/>
            <a:ext cx="10515600" cy="27476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AGC</a:t>
            </a:r>
            <a:r>
              <a:rPr lang="zh-CN" altLang="en-US" dirty="0"/>
              <a:t> </a:t>
            </a:r>
            <a:r>
              <a:rPr lang="en-US" altLang="zh-CN" dirty="0"/>
              <a:t>044</a:t>
            </a:r>
            <a:r>
              <a:rPr lang="zh-CN" altLang="en-US" dirty="0"/>
              <a:t> </a:t>
            </a:r>
            <a:r>
              <a:rPr lang="en-US" altLang="zh-CN" dirty="0"/>
              <a:t>E</a:t>
            </a:r>
            <a:endParaRPr lang="en-US" dirty="0"/>
          </a:p>
        </p:txBody>
      </p:sp>
      <p:sp>
        <p:nvSpPr>
          <p:cNvPr id="3" name="Content Placeholder 2"/>
          <p:cNvSpPr>
            <a:spLocks noGrp="1"/>
          </p:cNvSpPr>
          <p:nvPr>
            <p:ph idx="1"/>
          </p:nvPr>
        </p:nvSpPr>
        <p:spPr/>
        <p:txBody>
          <a:bodyPr/>
          <a:lstStyle/>
          <a:p>
            <a:r>
              <a:rPr lang="zh-CN" altLang="en-US" dirty="0"/>
              <a:t>圆上有 </a:t>
            </a:r>
            <a:r>
              <a:rPr lang="en-US" altLang="zh-CN" dirty="0"/>
              <a:t>N</a:t>
            </a:r>
            <a:r>
              <a:rPr lang="zh-CN" altLang="en-US" dirty="0"/>
              <a:t> 个点，你初始随机出生在一个点。</a:t>
            </a:r>
            <a:endParaRPr lang="en-US" altLang="zh-CN" dirty="0"/>
          </a:p>
          <a:p>
            <a:r>
              <a:rPr lang="zh-CN" altLang="en-US" dirty="0"/>
              <a:t>第 </a:t>
            </a:r>
            <a:r>
              <a:rPr lang="en-US" altLang="zh-CN" dirty="0" err="1"/>
              <a:t>i</a:t>
            </a:r>
            <a:r>
              <a:rPr lang="zh-CN" altLang="en-US" dirty="0"/>
              <a:t> 号点有属性</a:t>
            </a:r>
            <a:r>
              <a:rPr lang="en-US" altLang="zh-CN" dirty="0"/>
              <a:t> A[</a:t>
            </a:r>
            <a:r>
              <a:rPr lang="en-US" altLang="zh-CN" dirty="0" err="1"/>
              <a:t>i</a:t>
            </a:r>
            <a:r>
              <a:rPr lang="en-US" altLang="zh-CN" dirty="0"/>
              <a:t>], B[</a:t>
            </a:r>
            <a:r>
              <a:rPr lang="en-US" altLang="zh-CN" dirty="0" err="1"/>
              <a:t>i</a:t>
            </a:r>
            <a:r>
              <a:rPr lang="en-US" altLang="zh-CN" dirty="0"/>
              <a:t>]</a:t>
            </a:r>
            <a:r>
              <a:rPr lang="zh-CN" altLang="en-US" dirty="0"/>
              <a:t>。如果你当前处在</a:t>
            </a:r>
            <a:r>
              <a:rPr lang="en-US" altLang="zh-CN" dirty="0"/>
              <a:t> </a:t>
            </a:r>
            <a:r>
              <a:rPr lang="en-US" altLang="zh-CN" dirty="0" err="1"/>
              <a:t>i</a:t>
            </a:r>
            <a:r>
              <a:rPr lang="zh-CN" altLang="en-US" dirty="0"/>
              <a:t> 号点，你可以选择结束游戏并获得</a:t>
            </a:r>
            <a:r>
              <a:rPr lang="en-US" altLang="zh-CN" dirty="0"/>
              <a:t> A[</a:t>
            </a:r>
            <a:r>
              <a:rPr lang="en-US" altLang="zh-CN" dirty="0" err="1"/>
              <a:t>i</a:t>
            </a:r>
            <a:r>
              <a:rPr lang="en-US" altLang="zh-CN" dirty="0"/>
              <a:t>] </a:t>
            </a:r>
            <a:r>
              <a:rPr lang="zh-CN" altLang="en-US" dirty="0"/>
              <a:t>元，或者花费</a:t>
            </a:r>
            <a:r>
              <a:rPr lang="en-US" altLang="zh-CN" dirty="0"/>
              <a:t> B[</a:t>
            </a:r>
            <a:r>
              <a:rPr lang="en-US" altLang="zh-CN" dirty="0" err="1"/>
              <a:t>i</a:t>
            </a:r>
            <a:r>
              <a:rPr lang="en-US" altLang="zh-CN" dirty="0"/>
              <a:t>]</a:t>
            </a:r>
            <a:r>
              <a:rPr lang="zh-CN" altLang="en-US" dirty="0"/>
              <a:t> 元将自己随机移动到左右两点中的一个。</a:t>
            </a:r>
            <a:endParaRPr lang="en-US" altLang="zh-CN" dirty="0"/>
          </a:p>
          <a:p>
            <a:r>
              <a:rPr lang="zh-CN" altLang="en-US" dirty="0"/>
              <a:t>求最优策略的期望收益。收益为得到的钱减付出的钱。</a:t>
            </a:r>
            <a:endParaRPr lang="en-US" altLang="zh-CN" dirty="0"/>
          </a:p>
          <a:p>
            <a:r>
              <a:rPr lang="zh-CN" altLang="en-US" dirty="0"/>
              <a:t>输出实数，绝对或相对误差在</a:t>
            </a:r>
            <a:r>
              <a:rPr lang="en-US" altLang="zh-CN" dirty="0"/>
              <a:t> 1e-10 </a:t>
            </a:r>
            <a:r>
              <a:rPr lang="zh-CN" altLang="en-US" dirty="0"/>
              <a:t>以内即算正确。</a:t>
            </a:r>
            <a:endParaRPr lang="en-US" altLang="zh-CN" dirty="0"/>
          </a:p>
          <a:p>
            <a:r>
              <a:rPr lang="en-US" dirty="0"/>
              <a:t>N &lt;= 2e5, 1 &lt;= A[</a:t>
            </a:r>
            <a:r>
              <a:rPr lang="en-US" dirty="0" err="1"/>
              <a:t>i</a:t>
            </a:r>
            <a:r>
              <a:rPr lang="en-US" dirty="0"/>
              <a:t>] &lt;= 1e12, 1 &lt;= B[</a:t>
            </a:r>
            <a:r>
              <a:rPr lang="en-US" dirty="0" err="1"/>
              <a:t>i</a:t>
            </a:r>
            <a:r>
              <a:rPr lang="en-US" dirty="0"/>
              <a:t>] &lt;= 100</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838200" y="1572895"/>
            <a:ext cx="10515600" cy="42964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AGC</a:t>
            </a:r>
            <a:r>
              <a:rPr lang="zh-CN" altLang="en-US" dirty="0"/>
              <a:t> </a:t>
            </a:r>
            <a:r>
              <a:rPr lang="en-US" altLang="zh-CN" dirty="0"/>
              <a:t>056 E</a:t>
            </a:r>
            <a:endParaRPr lang="en-US" dirty="0"/>
          </a:p>
        </p:txBody>
      </p:sp>
      <p:sp>
        <p:nvSpPr>
          <p:cNvPr id="3" name="Content Placeholder 2"/>
          <p:cNvSpPr>
            <a:spLocks noGrp="1"/>
          </p:cNvSpPr>
          <p:nvPr>
            <p:ph idx="1"/>
          </p:nvPr>
        </p:nvSpPr>
        <p:spPr/>
        <p:txBody>
          <a:bodyPr/>
          <a:lstStyle/>
          <a:p>
            <a:r>
              <a:rPr lang="zh-CN" altLang="en-US" dirty="0"/>
              <a:t>圆上有 </a:t>
            </a:r>
            <a:r>
              <a:rPr lang="en-US" altLang="zh-CN" dirty="0"/>
              <a:t>N</a:t>
            </a:r>
            <a:r>
              <a:rPr lang="zh-CN" altLang="en-US" dirty="0"/>
              <a:t> 只老鼠。每段连接老鼠的弧有一个权值</a:t>
            </a:r>
            <a:r>
              <a:rPr lang="en-US" altLang="zh-CN" dirty="0"/>
              <a:t> A[</a:t>
            </a:r>
            <a:r>
              <a:rPr lang="en-US" altLang="zh-CN" dirty="0" err="1"/>
              <a:t>i</a:t>
            </a:r>
            <a:r>
              <a:rPr lang="en-US" altLang="zh-CN" dirty="0"/>
              <a:t>] </a:t>
            </a:r>
            <a:r>
              <a:rPr lang="zh-CN" altLang="en-US" dirty="0"/>
              <a:t>。</a:t>
            </a:r>
            <a:endParaRPr lang="en-US" altLang="zh-CN" dirty="0"/>
          </a:p>
          <a:p>
            <a:r>
              <a:rPr lang="zh-CN" altLang="en-US" dirty="0"/>
              <a:t>小 </a:t>
            </a:r>
            <a:r>
              <a:rPr lang="en-US" altLang="zh-CN" dirty="0"/>
              <a:t>C</a:t>
            </a:r>
            <a:r>
              <a:rPr lang="zh-CN" altLang="en-US" dirty="0"/>
              <a:t> 会扔 </a:t>
            </a:r>
            <a:r>
              <a:rPr lang="en-US" altLang="zh-CN" dirty="0"/>
              <a:t>N</a:t>
            </a:r>
            <a:r>
              <a:rPr lang="zh-CN" altLang="en-US" dirty="0"/>
              <a:t> </a:t>
            </a:r>
            <a:r>
              <a:rPr lang="en-US" altLang="zh-CN" dirty="0"/>
              <a:t>–</a:t>
            </a:r>
            <a:r>
              <a:rPr lang="zh-CN" altLang="en-US" dirty="0"/>
              <a:t> </a:t>
            </a:r>
            <a:r>
              <a:rPr lang="en-US" altLang="zh-CN" dirty="0"/>
              <a:t>1</a:t>
            </a:r>
            <a:r>
              <a:rPr lang="zh-CN" altLang="en-US" dirty="0"/>
              <a:t> 次奶酪。每次小 </a:t>
            </a:r>
            <a:r>
              <a:rPr lang="en-US" altLang="zh-CN" dirty="0"/>
              <a:t>C</a:t>
            </a:r>
            <a:r>
              <a:rPr lang="zh-CN" altLang="en-US" dirty="0"/>
              <a:t> 会将一块奶酪随机扔到一段弧上，扔到每段弧的概率正比于其权值。奶酪很有年代，因此长出了腿，会沿着圆周顺时针移动。每当奶酪遇到一只没吃过奶酪的老鼠，会有一半的概率被老鼠吃掉，一半的概率继续移动。奶酪会一直移动直到被吃，而后小 </a:t>
            </a:r>
            <a:r>
              <a:rPr lang="en-US" altLang="zh-CN" dirty="0"/>
              <a:t>C</a:t>
            </a:r>
            <a:r>
              <a:rPr lang="zh-CN" altLang="en-US" dirty="0"/>
              <a:t> 会扔下一块。</a:t>
            </a:r>
            <a:endParaRPr lang="en-US" altLang="zh-CN" dirty="0"/>
          </a:p>
          <a:p>
            <a:r>
              <a:rPr lang="zh-CN" altLang="en-US" dirty="0"/>
              <a:t>容易发现，恰有一只老鼠没吃到奶酪。对每个</a:t>
            </a:r>
            <a:r>
              <a:rPr lang="en-US" altLang="zh-CN" dirty="0"/>
              <a:t> 1 &lt;= </a:t>
            </a:r>
            <a:r>
              <a:rPr lang="en-US" altLang="zh-CN" dirty="0" err="1"/>
              <a:t>i</a:t>
            </a:r>
            <a:r>
              <a:rPr lang="en-US" altLang="zh-CN" dirty="0"/>
              <a:t> &lt;= n</a:t>
            </a:r>
            <a:r>
              <a:rPr lang="zh-CN" altLang="en-US" dirty="0"/>
              <a:t>，求出第 </a:t>
            </a:r>
            <a:r>
              <a:rPr lang="en-US" altLang="zh-CN" dirty="0" err="1"/>
              <a:t>i</a:t>
            </a:r>
            <a:r>
              <a:rPr lang="zh-CN" altLang="en-US" dirty="0"/>
              <a:t> 只老鼠没吃到奶酪的概率，对 </a:t>
            </a:r>
            <a:r>
              <a:rPr lang="en-US" altLang="zh-CN" dirty="0"/>
              <a:t>998244353</a:t>
            </a:r>
            <a:r>
              <a:rPr lang="zh-CN" altLang="en-US" dirty="0"/>
              <a:t> 取模。</a:t>
            </a:r>
            <a:endParaRPr lang="en-US" altLang="zh-CN" dirty="0"/>
          </a:p>
          <a:p>
            <a:r>
              <a:rPr lang="en-US" altLang="zh-CN" dirty="0"/>
              <a:t>1 &lt;= N &lt;= 40, 0 &lt;= A[</a:t>
            </a:r>
            <a:r>
              <a:rPr lang="en-US" altLang="zh-CN" dirty="0" err="1"/>
              <a:t>i</a:t>
            </a:r>
            <a:r>
              <a:rPr lang="en-US" altLang="zh-CN" dirty="0"/>
              <a:t>], A[1] + A[2] + … + A[n] = 100</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294890" y="1868805"/>
            <a:ext cx="7600950" cy="43510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Section </a:t>
            </a:r>
            <a:r>
              <a:rPr lang="en-US" altLang="zh-CN" dirty="0"/>
              <a:t>4</a:t>
            </a:r>
            <a:endParaRPr lang="en-US" dirty="0"/>
          </a:p>
        </p:txBody>
      </p:sp>
      <p:sp>
        <p:nvSpPr>
          <p:cNvPr id="3" name="Subtitle 2"/>
          <p:cNvSpPr>
            <a:spLocks noGrp="1"/>
          </p:cNvSpPr>
          <p:nvPr>
            <p:ph type="subTitle" idx="1"/>
          </p:nvPr>
        </p:nvSpPr>
        <p:spPr/>
        <p:txBody>
          <a:bodyPr/>
          <a:lstStyle/>
          <a:p>
            <a:pPr algn="ctr"/>
            <a:r>
              <a:rPr lang="en-US" dirty="0"/>
              <a:t>构造</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南京的构造</a:t>
            </a:r>
            <a:endParaRPr lang="en-US" dirty="0"/>
          </a:p>
        </p:txBody>
      </p:sp>
      <p:sp>
        <p:nvSpPr>
          <p:cNvPr id="3" name="Content Placeholder 2"/>
          <p:cNvSpPr>
            <a:spLocks noGrp="1"/>
          </p:cNvSpPr>
          <p:nvPr>
            <p:ph idx="1"/>
          </p:nvPr>
        </p:nvSpPr>
        <p:spPr/>
        <p:txBody>
          <a:bodyPr/>
          <a:lstStyle/>
          <a:p>
            <a:r>
              <a:rPr lang="zh-CN" altLang="en-US" dirty="0"/>
              <a:t>有 </a:t>
            </a:r>
            <a:r>
              <a:rPr lang="en-US" altLang="zh-CN" dirty="0"/>
              <a:t>n</a:t>
            </a:r>
            <a:r>
              <a:rPr lang="zh-CN" altLang="en-US" dirty="0"/>
              <a:t> 盏灯排在圆周上。一开始状态给定。每次你可以选一盏没亮的灯，反转它和相邻两盏的状态。你需要在</a:t>
            </a:r>
            <a:r>
              <a:rPr lang="en-US" altLang="zh-CN" dirty="0"/>
              <a:t> 2n </a:t>
            </a:r>
            <a:r>
              <a:rPr lang="zh-CN" altLang="en-US" dirty="0"/>
              <a:t>步之内点亮所有灯或者输出无解。</a:t>
            </a:r>
            <a:endParaRPr lang="en-US" altLang="zh-CN" dirty="0"/>
          </a:p>
          <a:p>
            <a:r>
              <a:rPr lang="en-US" dirty="0"/>
              <a:t>3 &lt;= n &lt;= 1e5</a:t>
            </a:r>
            <a:endParaRPr lang="en-US"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665605" y="1868805"/>
            <a:ext cx="8860155" cy="43510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a:t>
            </a:r>
            <a:r>
              <a:rPr lang="zh-CN" altLang="en-US" dirty="0"/>
              <a:t> 宝的构造</a:t>
            </a:r>
            <a:endParaRPr lang="en-US" dirty="0"/>
          </a:p>
        </p:txBody>
      </p:sp>
      <p:sp>
        <p:nvSpPr>
          <p:cNvPr id="3" name="Content Placeholder 2"/>
          <p:cNvSpPr>
            <a:spLocks noGrp="1"/>
          </p:cNvSpPr>
          <p:nvPr>
            <p:ph idx="1"/>
          </p:nvPr>
        </p:nvSpPr>
        <p:spPr/>
        <p:txBody>
          <a:bodyPr>
            <a:normAutofit/>
          </a:bodyPr>
          <a:lstStyle/>
          <a:p>
            <a:r>
              <a:rPr lang="zh-CN" altLang="en-US" dirty="0"/>
              <a:t>有 </a:t>
            </a:r>
            <a:r>
              <a:rPr lang="en-US" dirty="0"/>
              <a:t>n </a:t>
            </a:r>
            <a:r>
              <a:rPr lang="zh-CN" altLang="en-US" dirty="0"/>
              <a:t>盏灯，最开始都是灭的，</a:t>
            </a:r>
            <a:r>
              <a:rPr lang="en-US" altLang="zh-CN" dirty="0"/>
              <a:t>t</a:t>
            </a:r>
            <a:r>
              <a:rPr lang="zh-CN" altLang="en-US" dirty="0"/>
              <a:t> 宝将它们依次点亮。给定排列 </a:t>
            </a:r>
            <a:r>
              <a:rPr lang="en-US" dirty="0"/>
              <a:t>p，</a:t>
            </a:r>
            <a:r>
              <a:rPr lang="zh-CN" altLang="en-US" dirty="0"/>
              <a:t>表示灯点亮的顺序。请你将每盏灯染 </a:t>
            </a:r>
            <a:r>
              <a:rPr lang="en-US" dirty="0"/>
              <a:t>k </a:t>
            </a:r>
            <a:r>
              <a:rPr lang="zh-CN" altLang="en-US" dirty="0"/>
              <a:t>种颜色之一，使得在任何时刻：将所有已点亮灯的颜色排成一排，任意非空子段中都存在一种颜色恰出现一次。</a:t>
            </a:r>
            <a:endParaRPr lang="en-US" altLang="zh-CN" dirty="0"/>
          </a:p>
          <a:p>
            <a:r>
              <a:rPr lang="en-US" dirty="0"/>
              <a:t>n = 12100, k = 23</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485265" y="2576830"/>
            <a:ext cx="9220200" cy="29337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Anton</a:t>
            </a:r>
            <a:r>
              <a:rPr lang="zh-CN" altLang="en-US" dirty="0"/>
              <a:t> 的构造</a:t>
            </a:r>
            <a:endParaRPr lang="en-US" dirty="0"/>
          </a:p>
        </p:txBody>
      </p:sp>
      <p:sp>
        <p:nvSpPr>
          <p:cNvPr id="3" name="Content Placeholder 2"/>
          <p:cNvSpPr>
            <a:spLocks noGrp="1"/>
          </p:cNvSpPr>
          <p:nvPr>
            <p:ph idx="1"/>
          </p:nvPr>
        </p:nvSpPr>
        <p:spPr/>
        <p:txBody>
          <a:bodyPr/>
          <a:lstStyle/>
          <a:p>
            <a:r>
              <a:rPr lang="zh-CN" altLang="en-US" dirty="0"/>
              <a:t>有一个 </a:t>
            </a:r>
            <a:r>
              <a:rPr lang="en-US" altLang="zh-CN" dirty="0"/>
              <a:t>1</a:t>
            </a:r>
            <a:r>
              <a:rPr lang="zh-CN" altLang="en-US" dirty="0"/>
              <a:t> 到 </a:t>
            </a:r>
            <a:r>
              <a:rPr lang="en-US" altLang="zh-CN" dirty="0"/>
              <a:t>N</a:t>
            </a:r>
            <a:r>
              <a:rPr lang="zh-CN" altLang="en-US" dirty="0"/>
              <a:t> 的排列 </a:t>
            </a:r>
            <a:r>
              <a:rPr lang="en-US" altLang="zh-CN" dirty="0"/>
              <a:t>p</a:t>
            </a:r>
            <a:r>
              <a:rPr lang="zh-CN" altLang="en-US" dirty="0"/>
              <a:t>，每次你可以选择一段，将其中的最大值与最小值交换。</a:t>
            </a:r>
            <a:endParaRPr lang="en-US" altLang="zh-CN" dirty="0"/>
          </a:p>
          <a:p>
            <a:r>
              <a:rPr lang="zh-CN" altLang="en-US" dirty="0"/>
              <a:t>请你在</a:t>
            </a:r>
            <a:r>
              <a:rPr lang="en-US" altLang="zh-CN" dirty="0"/>
              <a:t> 3e6</a:t>
            </a:r>
            <a:r>
              <a:rPr lang="zh-CN" altLang="en-US" dirty="0"/>
              <a:t> 次操作内将 </a:t>
            </a:r>
            <a:r>
              <a:rPr lang="en-US" altLang="zh-CN" dirty="0"/>
              <a:t>p</a:t>
            </a:r>
            <a:r>
              <a:rPr lang="zh-CN" altLang="en-US" dirty="0"/>
              <a:t> 排序。</a:t>
            </a:r>
            <a:endParaRPr lang="en-US" altLang="zh-CN" dirty="0"/>
          </a:p>
          <a:p>
            <a:r>
              <a:rPr lang="en-US" dirty="0"/>
              <a:t>N &lt;= 30000</a:t>
            </a:r>
            <a:endParaRPr lang="en-US" dirty="0"/>
          </a:p>
        </p:txBody>
      </p:sp>
      <p:pic>
        <p:nvPicPr>
          <p:cNvPr id="4" name="Picture 3" descr="32535770AB5C698C261B6FFAF5D78201"/>
          <p:cNvPicPr>
            <a:picLocks noChangeAspect="1"/>
          </p:cNvPicPr>
          <p:nvPr/>
        </p:nvPicPr>
        <p:blipFill>
          <a:blip r:embed="rId1"/>
          <a:stretch>
            <a:fillRect/>
          </a:stretch>
        </p:blipFill>
        <p:spPr>
          <a:xfrm>
            <a:off x="6320790" y="2389505"/>
            <a:ext cx="3972560" cy="39217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hint</a:t>
            </a:r>
            <a:endParaRPr lang="en-US"/>
          </a:p>
        </p:txBody>
      </p:sp>
      <p:sp>
        <p:nvSpPr>
          <p:cNvPr id="3" name="Content Placeholder 2"/>
          <p:cNvSpPr>
            <a:spLocks noGrp="1"/>
          </p:cNvSpPr>
          <p:nvPr>
            <p:ph idx="1"/>
          </p:nvPr>
        </p:nvSpPr>
        <p:spPr/>
        <p:txBody>
          <a:bodyPr/>
          <a:p>
            <a:r>
              <a:rPr lang="zh-CN" altLang="en-US"/>
              <a:t>分治！</a:t>
            </a:r>
            <a:endParaRPr lang="zh-CN" altLang="en-US"/>
          </a:p>
          <a:p>
            <a:r>
              <a:rPr lang="zh-CN" altLang="en-US"/>
              <a:t>合并的时候递归调用合并</a:t>
            </a:r>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4405</Words>
  <Application>WPS Presentation</Application>
  <PresentationFormat>Widescreen</PresentationFormat>
  <Paragraphs>196</Paragraphs>
  <Slides>31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31</vt:i4>
      </vt:variant>
    </vt:vector>
  </HeadingPairs>
  <TitlesOfParts>
    <vt:vector size="46" baseType="lpstr">
      <vt:lpstr>Arial</vt:lpstr>
      <vt:lpstr>SimSun</vt:lpstr>
      <vt:lpstr>Wingdings</vt:lpstr>
      <vt:lpstr>Calibri Light</vt:lpstr>
      <vt:lpstr>Helvetica Neue</vt:lpstr>
      <vt:lpstr>SimSun</vt:lpstr>
      <vt:lpstr>汉仪书宋二KW</vt:lpstr>
      <vt:lpstr>Calibri</vt:lpstr>
      <vt:lpstr>微软雅黑</vt:lpstr>
      <vt:lpstr>汉仪旗黑</vt:lpstr>
      <vt:lpstr>Arial Unicode MS</vt:lpstr>
      <vt:lpstr>等线</vt:lpstr>
      <vt:lpstr>汉仪中等线KW</vt:lpstr>
      <vt:lpstr>等线 Light</vt:lpstr>
      <vt:lpstr>Office Theme</vt:lpstr>
      <vt:lpstr>杂题选讲</vt:lpstr>
      <vt:lpstr>Section 1</vt:lpstr>
      <vt:lpstr>stars</vt:lpstr>
      <vt:lpstr>PowerPoint 演示文稿</vt:lpstr>
      <vt:lpstr>PowerPoint 演示文稿</vt:lpstr>
      <vt:lpstr>PowerPoint 演示文稿</vt:lpstr>
      <vt:lpstr>PA 2021 Round1 A</vt:lpstr>
      <vt:lpstr>PowerPoint 演示文稿</vt:lpstr>
      <vt:lpstr>PowerPoint 演示文稿</vt:lpstr>
      <vt:lpstr>Section 2</vt:lpstr>
      <vt:lpstr>Guess</vt:lpstr>
      <vt:lpstr>PowerPoint 演示文稿</vt:lpstr>
      <vt:lpstr>PowerPoint 演示文稿</vt:lpstr>
      <vt:lpstr>PA2021 Round2 A</vt:lpstr>
      <vt:lpstr>PowerPoint 演示文稿</vt:lpstr>
      <vt:lpstr>(Snackdown 2021 Final) Bakery</vt:lpstr>
      <vt:lpstr>PowerPoint 演示文稿</vt:lpstr>
      <vt:lpstr>Section 3</vt:lpstr>
      <vt:lpstr>(Snackdown 2021 Final) Robbery</vt:lpstr>
      <vt:lpstr>PowerPoint 演示文稿</vt:lpstr>
      <vt:lpstr>AGC 044 E</vt:lpstr>
      <vt:lpstr>PowerPoint 演示文稿</vt:lpstr>
      <vt:lpstr>AGC 056 E</vt:lpstr>
      <vt:lpstr>PowerPoint 演示文稿</vt:lpstr>
      <vt:lpstr>Section 4</vt:lpstr>
      <vt:lpstr>南京的构造</vt:lpstr>
      <vt:lpstr>PowerPoint 演示文稿</vt:lpstr>
      <vt:lpstr>T 宝的构造</vt:lpstr>
      <vt:lpstr>PowerPoint 演示文稿</vt:lpstr>
      <vt:lpstr>Anton 的构造</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杂题选讲</dc:title>
  <dc:creator>邓 明扬</dc:creator>
  <cp:lastModifiedBy>dengmingyang</cp:lastModifiedBy>
  <cp:revision>63</cp:revision>
  <dcterms:created xsi:type="dcterms:W3CDTF">2022-01-25T05:40:28Z</dcterms:created>
  <dcterms:modified xsi:type="dcterms:W3CDTF">2022-01-25T05:40:28Z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1033-3.9.1.6204</vt:lpwstr>
  </property>
</Properties>
</file>