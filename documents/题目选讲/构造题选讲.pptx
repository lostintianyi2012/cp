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4" r:id="rId1"/>
  </p:sldMasterIdLst>
  <p:sldIdLst>
    <p:sldId id="256" r:id="rId2"/>
    <p:sldId id="280" r:id="rId3"/>
    <p:sldId id="281" r:id="rId4"/>
    <p:sldId id="282" r:id="rId5"/>
    <p:sldId id="283" r:id="rId6"/>
    <p:sldId id="284" r:id="rId7"/>
    <p:sldId id="285" r:id="rId8"/>
    <p:sldId id="286" r:id="rId9"/>
    <p:sldId id="289" r:id="rId10"/>
    <p:sldId id="290" r:id="rId11"/>
    <p:sldId id="287" r:id="rId12"/>
    <p:sldId id="288"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9" r:id="rId27"/>
    <p:sldId id="310" r:id="rId28"/>
    <p:sldId id="304" r:id="rId29"/>
    <p:sldId id="305" r:id="rId30"/>
    <p:sldId id="306" r:id="rId31"/>
    <p:sldId id="307" r:id="rId32"/>
    <p:sldId id="308" r:id="rId33"/>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宋体" charset="-122"/>
        <a:cs typeface="+mn-cs"/>
      </a:defRPr>
    </a:lvl1pPr>
    <a:lvl2pPr marL="457200" algn="l" defTabSz="457200" rtl="0" fontAlgn="base">
      <a:spcBef>
        <a:spcPct val="0"/>
      </a:spcBef>
      <a:spcAft>
        <a:spcPct val="0"/>
      </a:spcAft>
      <a:defRPr kern="1200">
        <a:solidFill>
          <a:schemeClr val="tx1"/>
        </a:solidFill>
        <a:latin typeface="Arial" charset="0"/>
        <a:ea typeface="宋体" charset="-122"/>
        <a:cs typeface="+mn-cs"/>
      </a:defRPr>
    </a:lvl2pPr>
    <a:lvl3pPr marL="914400" algn="l" defTabSz="457200" rtl="0" fontAlgn="base">
      <a:spcBef>
        <a:spcPct val="0"/>
      </a:spcBef>
      <a:spcAft>
        <a:spcPct val="0"/>
      </a:spcAft>
      <a:defRPr kern="1200">
        <a:solidFill>
          <a:schemeClr val="tx1"/>
        </a:solidFill>
        <a:latin typeface="Arial" charset="0"/>
        <a:ea typeface="宋体" charset="-122"/>
        <a:cs typeface="+mn-cs"/>
      </a:defRPr>
    </a:lvl3pPr>
    <a:lvl4pPr marL="1371600" algn="l" defTabSz="457200" rtl="0" fontAlgn="base">
      <a:spcBef>
        <a:spcPct val="0"/>
      </a:spcBef>
      <a:spcAft>
        <a:spcPct val="0"/>
      </a:spcAft>
      <a:defRPr kern="1200">
        <a:solidFill>
          <a:schemeClr val="tx1"/>
        </a:solidFill>
        <a:latin typeface="Arial" charset="0"/>
        <a:ea typeface="宋体" charset="-122"/>
        <a:cs typeface="+mn-cs"/>
      </a:defRPr>
    </a:lvl4pPr>
    <a:lvl5pPr marL="1828800" algn="l" defTabSz="457200"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786" autoAdjust="0"/>
    <p:restoredTop sz="94660"/>
  </p:normalViewPr>
  <p:slideViewPr>
    <p:cSldViewPr snapToGrid="0">
      <p:cViewPr varScale="1">
        <p:scale>
          <a:sx n="78" d="100"/>
          <a:sy n="78" d="100"/>
        </p:scale>
        <p:origin x="-420" y="-8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4" name="Rectangle 7"/>
          <p:cNvSpPr/>
          <p:nvPr/>
        </p:nvSpPr>
        <p:spPr>
          <a:xfrm>
            <a:off x="-6350" y="3887788"/>
            <a:ext cx="12195175"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6"/>
          <p:cNvSpPr/>
          <p:nvPr/>
        </p:nvSpPr>
        <p:spPr>
          <a:xfrm>
            <a:off x="-6350" y="2058988"/>
            <a:ext cx="12195175"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75488" y="2166364"/>
            <a:ext cx="11247120" cy="1739347"/>
          </a:xfrm>
        </p:spPr>
        <p:txBody>
          <a:bodyPr/>
          <a:lstStyle>
            <a:lvl1pPr algn="ctr">
              <a:lnSpc>
                <a:spcPct val="80000"/>
              </a:lnSpc>
              <a:defRPr sz="6000" spc="150" baseline="0">
                <a:solidFill>
                  <a:schemeClr val="bg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347472" y="3913632"/>
            <a:ext cx="11506200" cy="457200"/>
          </a:xfrm>
        </p:spPr>
        <p:txBody>
          <a:bodyPr>
            <a:normAutofit/>
          </a:bodyPr>
          <a:lstStyle>
            <a:lvl1pPr marL="0" indent="0" algn="ctr">
              <a:spcBef>
                <a:spcPts val="0"/>
              </a:spcBef>
              <a:spcAft>
                <a:spcPts val="0"/>
              </a:spcAft>
              <a:buNone/>
              <a:defRPr sz="2000">
                <a:solidFill>
                  <a:srgbClr val="FFFFFF"/>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单击以编辑母版副标题样式</a:t>
            </a:r>
            <a:endParaRPr lang="en-US" dirty="0"/>
          </a:p>
        </p:txBody>
      </p:sp>
      <p:sp>
        <p:nvSpPr>
          <p:cNvPr id="6" name="Date Placeholder 3"/>
          <p:cNvSpPr>
            <a:spLocks noGrp="1"/>
          </p:cNvSpPr>
          <p:nvPr>
            <p:ph type="dt" sz="half" idx="10"/>
          </p:nvPr>
        </p:nvSpPr>
        <p:spPr/>
        <p:txBody>
          <a:bodyPr/>
          <a:lstStyle>
            <a:lvl1pPr>
              <a:defRPr/>
            </a:lvl1pPr>
          </a:lstStyle>
          <a:p>
            <a:pPr>
              <a:defRPr/>
            </a:pPr>
            <a:fld id="{5DA91F6D-36BD-452E-8445-FBD2C0E14E49}" type="datetimeFigureOut">
              <a:rPr lang="en-US"/>
              <a:pPr>
                <a:defRPr/>
              </a:pPr>
              <a:t>7/12/2018</a:t>
            </a:fld>
            <a:endParaRPr lang="en-US" dirty="0"/>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567A04E4-C03A-486C-8D61-B1BA71985CE6}"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0934BFA4-0AC9-4935-A578-E67EA38798D9}" type="datetimeFigureOut">
              <a:rPr lang="en-US"/>
              <a:pPr>
                <a:defRPr/>
              </a:pPr>
              <a:t>7/12/2018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40EC9C-48A4-42D8-B202-159C56BEDFC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4" name="Rectangle 6"/>
          <p:cNvSpPr/>
          <p:nvPr/>
        </p:nvSpPr>
        <p:spPr>
          <a:xfrm>
            <a:off x="-6350" y="2058988"/>
            <a:ext cx="12195175"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6350" y="3887788"/>
            <a:ext cx="12195175"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75488" y="2167128"/>
            <a:ext cx="11247120" cy="1737360"/>
          </a:xfrm>
        </p:spPr>
        <p:txBody>
          <a:bodyPr>
            <a:noAutofit/>
          </a:bodyPr>
          <a:lstStyle>
            <a:lvl1pPr algn="ctr">
              <a:lnSpc>
                <a:spcPct val="80000"/>
              </a:lnSpc>
              <a:defRPr sz="6000" b="0" spc="150" baseline="0">
                <a:solidFill>
                  <a:schemeClr val="bg1"/>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347472" y="3913212"/>
            <a:ext cx="11503152" cy="457200"/>
          </a:xfrm>
        </p:spPr>
        <p:txBody>
          <a:bodyPr>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6" name="Date Placeholder 3"/>
          <p:cNvSpPr>
            <a:spLocks noGrp="1"/>
          </p:cNvSpPr>
          <p:nvPr>
            <p:ph type="dt" sz="half" idx="10"/>
          </p:nvPr>
        </p:nvSpPr>
        <p:spPr/>
        <p:txBody>
          <a:bodyPr/>
          <a:lstStyle>
            <a:lvl1pPr>
              <a:defRPr>
                <a:solidFill>
                  <a:schemeClr val="tx2"/>
                </a:solidFill>
              </a:defRPr>
            </a:lvl1pPr>
          </a:lstStyle>
          <a:p>
            <a:pPr>
              <a:defRPr/>
            </a:pPr>
            <a:fld id="{894BA062-D48D-4FDA-810C-035A0CDF8442}" type="datetimeFigureOut">
              <a:rPr lang="en-US"/>
              <a:pPr>
                <a:defRPr/>
              </a:pPr>
              <a:t>7/12/2018</a:t>
            </a:fld>
            <a:endParaRPr lang="en-US" dirty="0"/>
          </a:p>
        </p:txBody>
      </p:sp>
      <p:sp>
        <p:nvSpPr>
          <p:cNvPr id="7" name="Footer Placeholder 4"/>
          <p:cNvSpPr>
            <a:spLocks noGrp="1"/>
          </p:cNvSpPr>
          <p:nvPr>
            <p:ph type="ftr" sz="quarter" idx="11"/>
          </p:nvPr>
        </p:nvSpPr>
        <p:spPr/>
        <p:txBody>
          <a:bodyPr/>
          <a:lstStyle>
            <a:lvl1pPr>
              <a:defRPr>
                <a:solidFill>
                  <a:schemeClr val="tx2"/>
                </a:solidFill>
              </a:defRPr>
            </a:lvl1pPr>
          </a:lstStyle>
          <a:p>
            <a:pPr>
              <a:defRPr/>
            </a:pPr>
            <a:endParaRPr lang="en-US"/>
          </a:p>
        </p:txBody>
      </p:sp>
      <p:sp>
        <p:nvSpPr>
          <p:cNvPr id="8" name="Slide Number Placeholder 5"/>
          <p:cNvSpPr>
            <a:spLocks noGrp="1"/>
          </p:cNvSpPr>
          <p:nvPr>
            <p:ph type="sldNum" sz="quarter" idx="12"/>
          </p:nvPr>
        </p:nvSpPr>
        <p:spPr/>
        <p:txBody>
          <a:bodyPr/>
          <a:lstStyle>
            <a:lvl1pPr>
              <a:defRPr>
                <a:solidFill>
                  <a:schemeClr val="tx2"/>
                </a:solidFill>
              </a:defRPr>
            </a:lvl1pPr>
          </a:lstStyle>
          <a:p>
            <a:pPr>
              <a:defRPr/>
            </a:pPr>
            <a:fld id="{E3DA2C6E-6DCF-4FAA-AE5A-665881BD0A5B}"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0F581A04-0DE0-42D1-91E7-3A2B24EBECEC}" type="datetimeFigureOut">
              <a:rPr lang="en-US"/>
              <a:pPr>
                <a:defRPr/>
              </a:pPr>
              <a:t>7/12/2018</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819B60C-8AB4-49D4-8BE1-1C417AE81F2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A1AF5F6C-7000-4781-AFA3-B303FB545FE3}" type="datetimeFigureOut">
              <a:rPr lang="en-US"/>
              <a:pPr>
                <a:defRPr/>
              </a:pPr>
              <a:t>7/12/2018</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630C49C-4CA7-41F4-AA5F-447FC367F81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3B9C0061-3876-40C7-B6BF-8FCE2ED4EDE0}" type="datetimeFigureOut">
              <a:rPr lang="en-US"/>
              <a:pPr>
                <a:defRPr/>
              </a:pPr>
              <a:t>7/12/2018</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F05E3-64E5-4F2E-8B09-3BF21F868B97}"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0751F16D-79AD-4903-ADB8-5C951CED3B9F}" type="datetimeFigureOut">
              <a:rPr lang="en-US"/>
              <a:pPr>
                <a:defRPr/>
              </a:pPr>
              <a:t>7/12/2018</a:t>
            </a:fld>
            <a:endParaRPr lang="en-US" dirty="0"/>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E795BFAF-0720-4154-805A-A87A2311E4B9}"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3"/>
          <p:cNvSpPr>
            <a:spLocks noGrp="1"/>
          </p:cNvSpPr>
          <p:nvPr>
            <p:ph type="dt" sz="half" idx="10"/>
          </p:nvPr>
        </p:nvSpPr>
        <p:spPr/>
        <p:txBody>
          <a:bodyPr/>
          <a:lstStyle>
            <a:lvl1pPr>
              <a:defRPr/>
            </a:lvl1pPr>
          </a:lstStyle>
          <a:p>
            <a:pPr>
              <a:defRPr/>
            </a:pPr>
            <a:fld id="{23B7E170-B74A-4BE7-8212-6C751EAE8FC1}" type="datetimeFigureOut">
              <a:rPr lang="en-US"/>
              <a:pPr>
                <a:defRPr/>
              </a:pPr>
              <a:t>7/12/2018</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895CDE-6220-477F-8F97-B1439E98AF62}"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rtlCol="0">
            <a:normAutofit/>
          </a:bodyPr>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3"/>
          <p:cNvSpPr>
            <a:spLocks noGrp="1"/>
          </p:cNvSpPr>
          <p:nvPr>
            <p:ph type="dt" sz="half" idx="10"/>
          </p:nvPr>
        </p:nvSpPr>
        <p:spPr/>
        <p:txBody>
          <a:bodyPr/>
          <a:lstStyle>
            <a:lvl1pPr>
              <a:defRPr/>
            </a:lvl1pPr>
          </a:lstStyle>
          <a:p>
            <a:pPr>
              <a:defRPr/>
            </a:pPr>
            <a:fld id="{C613AB54-0257-43E7-951A-E34D5D840FCF}" type="datetimeFigureOut">
              <a:rPr lang="en-US"/>
              <a:pPr>
                <a:defRPr/>
              </a:pPr>
              <a:t>7/12/2018</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DE58B54-83C8-47AA-A3B4-74AE5BF69CE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4BDC2249-9757-4268-ADD1-51D7E4E525A7}" type="datetimeFigureOut">
              <a:rPr lang="en-US"/>
              <a:pPr>
                <a:defRPr/>
              </a:pPr>
              <a:t>7/12/2018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ABA9AA9-8D7E-4508-879B-F4E55E85469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4" name="Rectangle 6"/>
          <p:cNvSpPr/>
          <p:nvPr/>
        </p:nvSpPr>
        <p:spPr>
          <a:xfrm>
            <a:off x="9018588"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3"/>
          <p:cNvSpPr>
            <a:spLocks noGrp="1"/>
          </p:cNvSpPr>
          <p:nvPr>
            <p:ph type="dt" sz="half" idx="10"/>
          </p:nvPr>
        </p:nvSpPr>
        <p:spPr>
          <a:xfrm>
            <a:off x="838200" y="6423025"/>
            <a:ext cx="2743200" cy="365125"/>
          </a:xfrm>
        </p:spPr>
        <p:txBody>
          <a:bodyPr/>
          <a:lstStyle>
            <a:lvl1pPr>
              <a:defRPr/>
            </a:lvl1pPr>
          </a:lstStyle>
          <a:p>
            <a:pPr>
              <a:defRPr/>
            </a:pPr>
            <a:fld id="{69496B40-7390-4BF5-A3E8-B7A58A912FD6}" type="datetimeFigureOut">
              <a:rPr lang="en-US"/>
              <a:pPr>
                <a:defRPr/>
              </a:pPr>
              <a:t>7/12/2018</a:t>
            </a:fld>
            <a:endParaRPr lang="en-US" dirty="0"/>
          </a:p>
        </p:txBody>
      </p:sp>
      <p:sp>
        <p:nvSpPr>
          <p:cNvPr id="6" name="Footer Placeholder 4"/>
          <p:cNvSpPr>
            <a:spLocks noGrp="1"/>
          </p:cNvSpPr>
          <p:nvPr>
            <p:ph type="ftr" sz="quarter" idx="11"/>
          </p:nvPr>
        </p:nvSpPr>
        <p:spPr>
          <a:xfrm>
            <a:off x="3776663" y="6423025"/>
            <a:ext cx="4279900" cy="365125"/>
          </a:xfr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8072438" y="6423025"/>
            <a:ext cx="881062" cy="365125"/>
          </a:xfrm>
        </p:spPr>
        <p:txBody>
          <a:bodyPr/>
          <a:lstStyle>
            <a:lvl1pPr>
              <a:defRPr/>
            </a:lvl1pPr>
          </a:lstStyle>
          <a:p>
            <a:pPr>
              <a:defRPr/>
            </a:pPr>
            <a:fld id="{A35DF859-434E-4B26-BB4E-5F9872F0593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38AF42E-3CD4-471A-9094-10808FE89CFB}" type="datetimeFigureOut">
              <a:rPr lang="en-US"/>
              <a:pPr>
                <a:defRPr/>
              </a:pPr>
              <a:t>7/12/2018</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99F6DAE-589A-46F5-AE23-5215564099CC}"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p:cNvSpPr/>
          <p:nvPr/>
        </p:nvSpPr>
        <p:spPr>
          <a:xfrm>
            <a:off x="0" y="176213"/>
            <a:ext cx="12188825" cy="16462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3325" y="284163"/>
            <a:ext cx="9783763" cy="1508125"/>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1028" name="Text Placeholder 2"/>
          <p:cNvSpPr>
            <a:spLocks noGrp="1"/>
          </p:cNvSpPr>
          <p:nvPr>
            <p:ph type="body" idx="1"/>
          </p:nvPr>
        </p:nvSpPr>
        <p:spPr bwMode="auto">
          <a:xfrm>
            <a:off x="1203325" y="2011363"/>
            <a:ext cx="9783763" cy="4206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Date Placeholder 3"/>
          <p:cNvSpPr>
            <a:spLocks noGrp="1"/>
          </p:cNvSpPr>
          <p:nvPr>
            <p:ph type="dt" sz="half" idx="2"/>
          </p:nvPr>
        </p:nvSpPr>
        <p:spPr>
          <a:xfrm>
            <a:off x="1201738" y="6423025"/>
            <a:ext cx="3001962" cy="365125"/>
          </a:xfrm>
          <a:prstGeom prst="rect">
            <a:avLst/>
          </a:prstGeom>
        </p:spPr>
        <p:txBody>
          <a:bodyPr vert="horz" lIns="91440" tIns="45720" rIns="45720" bIns="45720" rtlCol="0" anchor="ctr"/>
          <a:lstStyle>
            <a:lvl1pPr algn="l" fontAlgn="auto">
              <a:spcBef>
                <a:spcPts val="0"/>
              </a:spcBef>
              <a:spcAft>
                <a:spcPts val="0"/>
              </a:spcAft>
              <a:defRPr sz="1050">
                <a:solidFill>
                  <a:schemeClr val="tx1"/>
                </a:solidFill>
                <a:latin typeface="+mn-lt"/>
                <a:ea typeface="+mn-ea"/>
              </a:defRPr>
            </a:lvl1pPr>
          </a:lstStyle>
          <a:p>
            <a:pPr>
              <a:defRPr/>
            </a:pPr>
            <a:fld id="{4F19E8DE-7635-4937-8AB5-53C3E38BC7E7}" type="datetimeFigureOut">
              <a:rPr lang="en-US"/>
              <a:pPr>
                <a:defRPr/>
              </a:pPr>
              <a:t>7/12/2018</a:t>
            </a:fld>
            <a:endParaRPr lang="en-US" dirty="0"/>
          </a:p>
        </p:txBody>
      </p:sp>
      <p:sp>
        <p:nvSpPr>
          <p:cNvPr id="5" name="Footer Placeholder 4"/>
          <p:cNvSpPr>
            <a:spLocks noGrp="1"/>
          </p:cNvSpPr>
          <p:nvPr>
            <p:ph type="ftr" sz="quarter" idx="3"/>
          </p:nvPr>
        </p:nvSpPr>
        <p:spPr>
          <a:xfrm>
            <a:off x="5595938" y="6423025"/>
            <a:ext cx="5045075" cy="365125"/>
          </a:xfrm>
          <a:prstGeom prst="rect">
            <a:avLst/>
          </a:prstGeom>
        </p:spPr>
        <p:txBody>
          <a:bodyPr vert="horz" lIns="91440" tIns="45720" rIns="91440" bIns="45720" rtlCol="0" anchor="ctr"/>
          <a:lstStyle>
            <a:lvl1pPr algn="r" fontAlgn="auto">
              <a:spcBef>
                <a:spcPts val="0"/>
              </a:spcBef>
              <a:spcAft>
                <a:spcPts val="0"/>
              </a:spcAft>
              <a:defRPr sz="1050">
                <a:solidFill>
                  <a:schemeClr val="tx1"/>
                </a:solidFill>
                <a:latin typeface="+mn-lt"/>
                <a:ea typeface="+mn-ea"/>
              </a:defRPr>
            </a:lvl1pPr>
          </a:lstStyle>
          <a:p>
            <a:pPr>
              <a:defRPr/>
            </a:pPr>
            <a:endParaRPr lang="en-US"/>
          </a:p>
        </p:txBody>
      </p:sp>
      <p:sp>
        <p:nvSpPr>
          <p:cNvPr id="6" name="Slide Number Placeholder 5"/>
          <p:cNvSpPr>
            <a:spLocks noGrp="1"/>
          </p:cNvSpPr>
          <p:nvPr>
            <p:ph type="sldNum" sz="quarter" idx="4"/>
          </p:nvPr>
        </p:nvSpPr>
        <p:spPr>
          <a:xfrm>
            <a:off x="10658475" y="6423025"/>
            <a:ext cx="946150" cy="365125"/>
          </a:xfrm>
          <a:prstGeom prst="rect">
            <a:avLst/>
          </a:prstGeom>
        </p:spPr>
        <p:txBody>
          <a:bodyPr vert="horz" lIns="45720" tIns="45720" rIns="91440" bIns="45720" rtlCol="0" anchor="ctr"/>
          <a:lstStyle>
            <a:lvl1pPr algn="l" fontAlgn="auto">
              <a:spcBef>
                <a:spcPts val="0"/>
              </a:spcBef>
              <a:spcAft>
                <a:spcPts val="0"/>
              </a:spcAft>
              <a:defRPr sz="1200" b="0">
                <a:solidFill>
                  <a:schemeClr val="tx1"/>
                </a:solidFill>
                <a:latin typeface="+mn-lt"/>
                <a:ea typeface="+mn-ea"/>
              </a:defRPr>
            </a:lvl1pPr>
          </a:lstStyle>
          <a:p>
            <a:pPr>
              <a:defRPr/>
            </a:pPr>
            <a:fld id="{D5676A24-F24F-4E59-90C7-185E66ED2C86}" type="slidenum">
              <a:rPr lang="en-US"/>
              <a:pPr>
                <a:defRPr/>
              </a:pPr>
              <a:t>‹#›</a:t>
            </a:fld>
            <a:endParaRPr lang="en-US" dirty="0"/>
          </a:p>
        </p:txBody>
      </p:sp>
    </p:spTree>
  </p:cSld>
  <p:clrMap bg1="dk1" tx1="lt1" bg2="dk2" tx2="lt2" accent1="accent1" accent2="accent2" accent3="accent3" accent4="accent4" accent5="accent5" accent6="accent6" hlink="hlink" folHlink="folHlink"/>
  <p:sldLayoutIdLst>
    <p:sldLayoutId id="2147483877" r:id="rId1"/>
    <p:sldLayoutId id="2147483876" r:id="rId2"/>
    <p:sldLayoutId id="2147483878" r:id="rId3"/>
    <p:sldLayoutId id="2147483875" r:id="rId4"/>
    <p:sldLayoutId id="2147483874" r:id="rId5"/>
    <p:sldLayoutId id="2147483873" r:id="rId6"/>
    <p:sldLayoutId id="2147483879" r:id="rId7"/>
    <p:sldLayoutId id="2147483872" r:id="rId8"/>
    <p:sldLayoutId id="2147483871" r:id="rId9"/>
    <p:sldLayoutId id="2147483870" r:id="rId10"/>
    <p:sldLayoutId id="2147483880" r:id="rId11"/>
    <p:sldLayoutId id="2147483869" r:id="rId12"/>
  </p:sldLayoutIdLst>
  <p:hf sldNum="0" hdr="0" ftr="0" dt="0"/>
  <p:txStyles>
    <p:titleStyle>
      <a:lvl1pPr algn="l" rtl="0" eaLnBrk="0" fontAlgn="base" hangingPunct="0">
        <a:lnSpc>
          <a:spcPct val="85000"/>
        </a:lnSpc>
        <a:spcBef>
          <a:spcPct val="0"/>
        </a:spcBef>
        <a:spcAft>
          <a:spcPct val="0"/>
        </a:spcAft>
        <a:defRPr sz="4000" kern="1200" cap="all">
          <a:solidFill>
            <a:schemeClr val="bg2"/>
          </a:solidFill>
          <a:latin typeface="+mj-lt"/>
          <a:ea typeface="+mj-ea"/>
          <a:cs typeface="+mj-cs"/>
        </a:defRPr>
      </a:lvl1pPr>
      <a:lvl2pPr algn="l" rtl="0" eaLnBrk="0" fontAlgn="base" hangingPunct="0">
        <a:lnSpc>
          <a:spcPct val="85000"/>
        </a:lnSpc>
        <a:spcBef>
          <a:spcPct val="0"/>
        </a:spcBef>
        <a:spcAft>
          <a:spcPct val="0"/>
        </a:spcAft>
        <a:defRPr sz="4000">
          <a:solidFill>
            <a:schemeClr val="bg2"/>
          </a:solidFill>
          <a:latin typeface="Arial" charset="0"/>
        </a:defRPr>
      </a:lvl2pPr>
      <a:lvl3pPr algn="l" rtl="0" eaLnBrk="0" fontAlgn="base" hangingPunct="0">
        <a:lnSpc>
          <a:spcPct val="85000"/>
        </a:lnSpc>
        <a:spcBef>
          <a:spcPct val="0"/>
        </a:spcBef>
        <a:spcAft>
          <a:spcPct val="0"/>
        </a:spcAft>
        <a:defRPr sz="4000">
          <a:solidFill>
            <a:schemeClr val="bg2"/>
          </a:solidFill>
          <a:latin typeface="Arial" charset="0"/>
        </a:defRPr>
      </a:lvl3pPr>
      <a:lvl4pPr algn="l" rtl="0" eaLnBrk="0" fontAlgn="base" hangingPunct="0">
        <a:lnSpc>
          <a:spcPct val="85000"/>
        </a:lnSpc>
        <a:spcBef>
          <a:spcPct val="0"/>
        </a:spcBef>
        <a:spcAft>
          <a:spcPct val="0"/>
        </a:spcAft>
        <a:defRPr sz="4000">
          <a:solidFill>
            <a:schemeClr val="bg2"/>
          </a:solidFill>
          <a:latin typeface="Arial" charset="0"/>
        </a:defRPr>
      </a:lvl4pPr>
      <a:lvl5pPr algn="l" rtl="0" eaLnBrk="0" fontAlgn="base" hangingPunct="0">
        <a:lnSpc>
          <a:spcPct val="85000"/>
        </a:lnSpc>
        <a:spcBef>
          <a:spcPct val="0"/>
        </a:spcBef>
        <a:spcAft>
          <a:spcPct val="0"/>
        </a:spcAft>
        <a:defRPr sz="4000">
          <a:solidFill>
            <a:schemeClr val="bg2"/>
          </a:solidFill>
          <a:latin typeface="Arial" charset="0"/>
        </a:defRPr>
      </a:lvl5pPr>
      <a:lvl6pPr marL="457200" algn="l" rtl="0" fontAlgn="base">
        <a:lnSpc>
          <a:spcPct val="85000"/>
        </a:lnSpc>
        <a:spcBef>
          <a:spcPct val="0"/>
        </a:spcBef>
        <a:spcAft>
          <a:spcPct val="0"/>
        </a:spcAft>
        <a:defRPr sz="4000">
          <a:solidFill>
            <a:schemeClr val="bg2"/>
          </a:solidFill>
          <a:latin typeface="Arial" charset="0"/>
        </a:defRPr>
      </a:lvl6pPr>
      <a:lvl7pPr marL="914400" algn="l" rtl="0" fontAlgn="base">
        <a:lnSpc>
          <a:spcPct val="85000"/>
        </a:lnSpc>
        <a:spcBef>
          <a:spcPct val="0"/>
        </a:spcBef>
        <a:spcAft>
          <a:spcPct val="0"/>
        </a:spcAft>
        <a:defRPr sz="4000">
          <a:solidFill>
            <a:schemeClr val="bg2"/>
          </a:solidFill>
          <a:latin typeface="Arial" charset="0"/>
        </a:defRPr>
      </a:lvl7pPr>
      <a:lvl8pPr marL="1371600" algn="l" rtl="0" fontAlgn="base">
        <a:lnSpc>
          <a:spcPct val="85000"/>
        </a:lnSpc>
        <a:spcBef>
          <a:spcPct val="0"/>
        </a:spcBef>
        <a:spcAft>
          <a:spcPct val="0"/>
        </a:spcAft>
        <a:defRPr sz="4000">
          <a:solidFill>
            <a:schemeClr val="bg2"/>
          </a:solidFill>
          <a:latin typeface="Arial" charset="0"/>
        </a:defRPr>
      </a:lvl8pPr>
      <a:lvl9pPr marL="1828800" algn="l" rtl="0" fontAlgn="base">
        <a:lnSpc>
          <a:spcPct val="85000"/>
        </a:lnSpc>
        <a:spcBef>
          <a:spcPct val="0"/>
        </a:spcBef>
        <a:spcAft>
          <a:spcPct val="0"/>
        </a:spcAft>
        <a:defRPr sz="4000">
          <a:solidFill>
            <a:schemeClr val="bg2"/>
          </a:solidFill>
          <a:latin typeface="Arial" charset="0"/>
        </a:defRPr>
      </a:lvl9pPr>
    </p:titleStyle>
    <p:bodyStyle>
      <a:lvl1pPr marL="182563" indent="-182563" algn="l" rtl="0" eaLnBrk="0" fontAlgn="base" hangingPunct="0">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163" indent="-182563" algn="l" rtl="0" eaLnBrk="0" fontAlgn="base" hangingPunct="0">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39763" indent="-182563" algn="l" rtl="0" eaLnBrk="0" fontAlgn="base" hangingPunct="0">
        <a:lnSpc>
          <a:spcPct val="90000"/>
        </a:lnSpc>
        <a:spcBef>
          <a:spcPts val="200"/>
        </a:spcBef>
        <a:spcAft>
          <a:spcPts val="400"/>
        </a:spcAft>
        <a:buClr>
          <a:schemeClr val="tx1"/>
        </a:buClr>
        <a:buFont typeface="Wingdings" pitchFamily="2" charset="2"/>
        <a:buChar char=""/>
        <a:defRPr sz="2400" kern="1200">
          <a:solidFill>
            <a:schemeClr val="tx1"/>
          </a:solidFill>
          <a:latin typeface="+mn-lt"/>
          <a:ea typeface="+mn-ea"/>
          <a:cs typeface="+mn-cs"/>
        </a:defRPr>
      </a:lvl3pPr>
      <a:lvl4pPr marL="868363" indent="-182563" algn="l" rtl="0" eaLnBrk="0" fontAlgn="base" hangingPunct="0">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6963" indent="-182563" algn="l" rtl="0" eaLnBrk="0" fontAlgn="base" hangingPunct="0">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ctrTitle"/>
          </p:nvPr>
        </p:nvSpPr>
        <p:spPr bwMode="auto">
          <a:xfrm>
            <a:off x="476250" y="2166938"/>
            <a:ext cx="11245850" cy="1738312"/>
          </a:xfrm>
        </p:spPr>
        <p:txBody>
          <a:bodyPr wrap="square" numCol="1" anchorCtr="0" compatLnSpc="1">
            <a:prstTxWarp prst="textNoShape">
              <a:avLst/>
            </a:prstTxWarp>
          </a:bodyPr>
          <a:lstStyle/>
          <a:p>
            <a:pPr eaLnBrk="1" hangingPunct="1"/>
            <a:r>
              <a:rPr lang="zh-CN" altLang="en-US" sz="4800" cap="none" smtClean="0">
                <a:latin typeface="宋体" charset="-122"/>
              </a:rPr>
              <a:t>构造题选讲</a:t>
            </a:r>
          </a:p>
        </p:txBody>
      </p:sp>
      <p:sp>
        <p:nvSpPr>
          <p:cNvPr id="14338" name="副标题 2"/>
          <p:cNvSpPr>
            <a:spLocks noGrp="1"/>
          </p:cNvSpPr>
          <p:nvPr>
            <p:ph type="subTitle" idx="1"/>
          </p:nvPr>
        </p:nvSpPr>
        <p:spPr>
          <a:xfrm>
            <a:off x="347663" y="3913188"/>
            <a:ext cx="11506200" cy="457200"/>
          </a:xfrm>
        </p:spPr>
        <p:txBody>
          <a:bodyPr/>
          <a:lstStyle/>
          <a:p>
            <a:pPr eaLnBrk="1" hangingPunct="1">
              <a:spcBef>
                <a:spcPct val="0"/>
              </a:spcBef>
              <a:spcAft>
                <a:spcPct val="0"/>
              </a:spcAft>
            </a:pPr>
            <a:r>
              <a:rPr lang="zh-CN" altLang="en-US" smtClean="0">
                <a:solidFill>
                  <a:schemeClr val="tx1"/>
                </a:solidFill>
              </a:rPr>
              <a:t>卢政荣</a:t>
            </a:r>
            <a:endParaRPr lang="en-US" altLang="zh-CN" smtClean="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题目分类</a:t>
            </a:r>
            <a:endParaRPr lang="zh-CN" altLang="en-US" b="1" cap="none" smtClean="0">
              <a:ea typeface="宋体" charset="-122"/>
            </a:endParaRPr>
          </a:p>
        </p:txBody>
      </p:sp>
      <p:sp>
        <p:nvSpPr>
          <p:cNvPr id="15362" name="Rectangle 3"/>
          <p:cNvSpPr>
            <a:spLocks noGrp="1"/>
          </p:cNvSpPr>
          <p:nvPr>
            <p:ph type="body" idx="1"/>
          </p:nvPr>
        </p:nvSpPr>
        <p:spPr/>
        <p:txBody>
          <a:bodyPr/>
          <a:lstStyle/>
          <a:p>
            <a:r>
              <a:rPr lang="zh-CN" altLang="en-US" smtClean="0">
                <a:ea typeface="宋体" charset="-122"/>
              </a:rPr>
              <a:t>题目有多种分类方式：</a:t>
            </a:r>
          </a:p>
          <a:p>
            <a:endParaRPr lang="zh-CN" altLang="en-US" smtClean="0">
              <a:ea typeface="宋体" charset="-122"/>
            </a:endParaRPr>
          </a:p>
          <a:p>
            <a:r>
              <a:rPr lang="zh-CN" altLang="en-US" smtClean="0">
                <a:ea typeface="宋体" charset="-122"/>
              </a:rPr>
              <a:t>按照提交方式分，可以分为传统题，交互题，提答题等。</a:t>
            </a:r>
          </a:p>
          <a:p>
            <a:endParaRPr lang="zh-CN" altLang="en-US" smtClean="0">
              <a:ea typeface="宋体" charset="-122"/>
            </a:endParaRPr>
          </a:p>
          <a:p>
            <a:r>
              <a:rPr lang="zh-CN" altLang="en-US" smtClean="0">
                <a:ea typeface="宋体" charset="-122"/>
              </a:rPr>
              <a:t>按照算法或数据结构分，可以分为图论、贪心、动态规划等。</a:t>
            </a:r>
          </a:p>
          <a:p>
            <a:endParaRPr lang="zh-CN" altLang="en-US" smtClean="0">
              <a:ea typeface="宋体" charset="-122"/>
            </a:endParaRPr>
          </a:p>
          <a:p>
            <a:r>
              <a:rPr lang="zh-CN" altLang="en-US" smtClean="0">
                <a:ea typeface="宋体" charset="-122"/>
              </a:rPr>
              <a:t>按照答案要求分，可以分为判断题、计数题、最值题、构造题等。</a:t>
            </a:r>
          </a:p>
          <a:p>
            <a:endParaRPr lang="zh-CN" altLang="en-US" smtClean="0">
              <a:ea typeface="宋体"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构造题的特点</a:t>
            </a:r>
          </a:p>
        </p:txBody>
      </p:sp>
      <p:sp>
        <p:nvSpPr>
          <p:cNvPr id="16386" name="AutoShape 3"/>
          <p:cNvSpPr>
            <a:spLocks noGrp="1" noChangeAspect="1" noChangeArrowheads="1"/>
          </p:cNvSpPr>
          <p:nvPr>
            <p:ph type="body" idx="1"/>
          </p:nvPr>
        </p:nvSpPr>
        <p:spPr/>
        <p:txBody>
          <a:bodyPr/>
          <a:lstStyle/>
          <a:p>
            <a:r>
              <a:rPr lang="zh-CN" altLang="en-US" sz="2000" smtClean="0">
                <a:ea typeface="宋体" charset="-122"/>
              </a:rPr>
              <a:t>通常的构造题指要求给出任一合法方案的题目，常见的特征就是题目描述中有类似“如果有多种方案，输出任意一种方案。</a:t>
            </a:r>
            <a:r>
              <a:rPr lang="en-US" altLang="zh-CN" sz="2000" smtClean="0">
                <a:ea typeface="宋体" charset="-122"/>
              </a:rPr>
              <a:t>”</a:t>
            </a:r>
            <a:r>
              <a:rPr lang="zh-CN" altLang="en-US" sz="2000" smtClean="0">
                <a:ea typeface="宋体" charset="-122"/>
              </a:rPr>
              <a:t>或“</a:t>
            </a:r>
            <a:r>
              <a:rPr lang="en-US" altLang="zh-CN" sz="2000" smtClean="0">
                <a:ea typeface="宋体" charset="-122"/>
              </a:rPr>
              <a:t>If there are multiple valid answers, you may print any of them. ”</a:t>
            </a:r>
            <a:r>
              <a:rPr lang="zh-CN" altLang="en-US" sz="2000" smtClean="0">
                <a:ea typeface="宋体" charset="-122"/>
              </a:rPr>
              <a:t>等。有些题要求输出方案中字典序最小等，一般也被认为是构造题。</a:t>
            </a:r>
          </a:p>
          <a:p>
            <a:endParaRPr lang="zh-CN" altLang="en-US" sz="2000" smtClean="0">
              <a:ea typeface="宋体" charset="-122"/>
            </a:endParaRPr>
          </a:p>
          <a:p>
            <a:r>
              <a:rPr lang="zh-CN" altLang="en-US" sz="2000" smtClean="0">
                <a:ea typeface="宋体" charset="-122"/>
              </a:rPr>
              <a:t>一些其他类型的题，如判断题或极值题也有时需要使用构造思想，如通过构造方案达到极值或判断可不可行等。</a:t>
            </a:r>
          </a:p>
          <a:p>
            <a:endParaRPr lang="zh-CN" altLang="en-US" sz="2000" smtClean="0">
              <a:ea typeface="宋体" charset="-122"/>
            </a:endParaRPr>
          </a:p>
          <a:p>
            <a:r>
              <a:rPr lang="zh-CN" altLang="en-US" sz="2000" smtClean="0">
                <a:ea typeface="宋体" charset="-122"/>
              </a:rPr>
              <a:t>有些构造题做法不唯一，各种稀奇古怪的做法都能通过，可以使得选手充分发挥想象力和创造力。</a:t>
            </a:r>
          </a:p>
          <a:p>
            <a:endParaRPr lang="zh-CN" altLang="en-US" sz="2000" smtClean="0">
              <a:ea typeface="宋体" charset="-122"/>
            </a:endParaRPr>
          </a:p>
          <a:p>
            <a:pPr>
              <a:buFont typeface="Wingdings" pitchFamily="2" charset="2"/>
              <a:buNone/>
            </a:pPr>
            <a:endParaRPr lang="zh-CN" altLang="en-US" sz="2000" smtClean="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构造题的做法分类</a:t>
            </a:r>
          </a:p>
        </p:txBody>
      </p:sp>
      <p:sp>
        <p:nvSpPr>
          <p:cNvPr id="17410" name="Rectangle 3"/>
          <p:cNvSpPr>
            <a:spLocks noGrp="1"/>
          </p:cNvSpPr>
          <p:nvPr>
            <p:ph type="body" idx="1"/>
          </p:nvPr>
        </p:nvSpPr>
        <p:spPr/>
        <p:txBody>
          <a:bodyPr/>
          <a:lstStyle/>
          <a:p>
            <a:pPr>
              <a:lnSpc>
                <a:spcPct val="80000"/>
              </a:lnSpc>
            </a:pPr>
            <a:r>
              <a:rPr lang="zh-CN" altLang="en-US" smtClean="0">
                <a:ea typeface="宋体" charset="-122"/>
              </a:rPr>
              <a:t>传统法</a:t>
            </a:r>
          </a:p>
          <a:p>
            <a:pPr>
              <a:lnSpc>
                <a:spcPct val="80000"/>
              </a:lnSpc>
            </a:pPr>
            <a:endParaRPr lang="zh-CN" altLang="en-US" smtClean="0">
              <a:ea typeface="宋体" charset="-122"/>
            </a:endParaRPr>
          </a:p>
          <a:p>
            <a:pPr>
              <a:lnSpc>
                <a:spcPct val="80000"/>
              </a:lnSpc>
            </a:pPr>
            <a:r>
              <a:rPr lang="zh-CN" altLang="en-US" smtClean="0">
                <a:ea typeface="宋体" charset="-122"/>
              </a:rPr>
              <a:t>公式法</a:t>
            </a:r>
          </a:p>
          <a:p>
            <a:pPr>
              <a:lnSpc>
                <a:spcPct val="80000"/>
              </a:lnSpc>
            </a:pPr>
            <a:endParaRPr lang="zh-CN" altLang="en-US" smtClean="0">
              <a:ea typeface="宋体" charset="-122"/>
            </a:endParaRPr>
          </a:p>
          <a:p>
            <a:pPr>
              <a:lnSpc>
                <a:spcPct val="80000"/>
              </a:lnSpc>
            </a:pPr>
            <a:r>
              <a:rPr lang="zh-CN" altLang="en-US" smtClean="0">
                <a:ea typeface="宋体" charset="-122"/>
              </a:rPr>
              <a:t>增量法</a:t>
            </a:r>
          </a:p>
          <a:p>
            <a:pPr>
              <a:lnSpc>
                <a:spcPct val="80000"/>
              </a:lnSpc>
            </a:pPr>
            <a:endParaRPr lang="zh-CN" altLang="en-US" smtClean="0">
              <a:ea typeface="宋体" charset="-122"/>
            </a:endParaRPr>
          </a:p>
          <a:p>
            <a:pPr>
              <a:lnSpc>
                <a:spcPct val="80000"/>
              </a:lnSpc>
            </a:pPr>
            <a:r>
              <a:rPr lang="zh-CN" altLang="en-US" smtClean="0">
                <a:ea typeface="宋体" charset="-122"/>
              </a:rPr>
              <a:t>特殊情况法</a:t>
            </a:r>
          </a:p>
          <a:p>
            <a:pPr>
              <a:lnSpc>
                <a:spcPct val="80000"/>
              </a:lnSpc>
            </a:pPr>
            <a:endParaRPr lang="zh-CN" altLang="en-US" smtClean="0">
              <a:ea typeface="宋体" charset="-122"/>
            </a:endParaRPr>
          </a:p>
          <a:p>
            <a:pPr>
              <a:lnSpc>
                <a:spcPct val="80000"/>
              </a:lnSpc>
            </a:pPr>
            <a:r>
              <a:rPr lang="zh-CN" altLang="en-US" smtClean="0">
                <a:ea typeface="宋体" charset="-122"/>
              </a:rPr>
              <a:t>随机法</a:t>
            </a:r>
          </a:p>
          <a:p>
            <a:pPr>
              <a:lnSpc>
                <a:spcPct val="80000"/>
              </a:lnSpc>
            </a:pPr>
            <a:endParaRPr lang="zh-CN" altLang="en-US" smtClean="0">
              <a:ea typeface="宋体" charset="-122"/>
            </a:endParaRPr>
          </a:p>
          <a:p>
            <a:pPr>
              <a:lnSpc>
                <a:spcPct val="80000"/>
              </a:lnSpc>
            </a:pPr>
            <a:endParaRPr lang="zh-CN" altLang="en-US" smtClean="0">
              <a:ea typeface="宋体"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传统法</a:t>
            </a:r>
          </a:p>
        </p:txBody>
      </p:sp>
      <p:sp>
        <p:nvSpPr>
          <p:cNvPr id="18434" name="Rectangle 3"/>
          <p:cNvSpPr>
            <a:spLocks noGrp="1"/>
          </p:cNvSpPr>
          <p:nvPr>
            <p:ph type="body" idx="1"/>
          </p:nvPr>
        </p:nvSpPr>
        <p:spPr/>
        <p:txBody>
          <a:bodyPr/>
          <a:lstStyle/>
          <a:p>
            <a:r>
              <a:rPr lang="zh-CN" altLang="en-US" smtClean="0">
                <a:ea typeface="宋体" charset="-122"/>
              </a:rPr>
              <a:t>直接套用经典算法构造方案</a:t>
            </a:r>
          </a:p>
          <a:p>
            <a:endParaRPr lang="zh-CN" altLang="en-US" smtClean="0">
              <a:ea typeface="宋体" charset="-122"/>
            </a:endParaRPr>
          </a:p>
          <a:p>
            <a:r>
              <a:rPr lang="zh-CN" altLang="en-US" smtClean="0">
                <a:ea typeface="宋体" charset="-122"/>
              </a:rPr>
              <a:t>如</a:t>
            </a:r>
            <a:r>
              <a:rPr lang="en-US" altLang="zh-CN" smtClean="0">
                <a:ea typeface="宋体" charset="-122"/>
              </a:rPr>
              <a:t>2-sat</a:t>
            </a:r>
            <a:r>
              <a:rPr lang="zh-CN" altLang="en-US" smtClean="0">
                <a:ea typeface="宋体" charset="-122"/>
              </a:rPr>
              <a:t>，网络流，拓补排序，最短路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bwMode="auto"/>
        <p:txBody>
          <a:bodyPr wrap="square" numCol="1" anchorCtr="0" compatLnSpc="1">
            <a:prstTxWarp prst="textNoShape">
              <a:avLst/>
            </a:prstTxWarp>
          </a:bodyPr>
          <a:lstStyle/>
          <a:p>
            <a:r>
              <a:rPr lang="en-US" altLang="zh-CN" b="1" cap="none" smtClean="0">
                <a:ea typeface="宋体" charset="-122"/>
              </a:rPr>
              <a:t>LOJ #</a:t>
            </a:r>
            <a:r>
              <a:rPr lang="en-US" altLang="zh-CN" cap="none" smtClean="0">
                <a:ea typeface="宋体" charset="-122"/>
              </a:rPr>
              <a:t>2305</a:t>
            </a:r>
            <a:r>
              <a:rPr lang="en-US" altLang="zh-CN" b="1" cap="none" smtClean="0">
                <a:ea typeface="宋体" charset="-122"/>
              </a:rPr>
              <a:t>. </a:t>
            </a:r>
            <a:r>
              <a:rPr lang="zh-CN" altLang="en-US" b="1" cap="none" smtClean="0">
                <a:ea typeface="宋体" charset="-122"/>
              </a:rPr>
              <a:t>「</a:t>
            </a:r>
            <a:r>
              <a:rPr lang="en-US" altLang="zh-CN" b="1" cap="none" smtClean="0">
                <a:ea typeface="宋体" charset="-122"/>
              </a:rPr>
              <a:t>NOI2017</a:t>
            </a:r>
            <a:r>
              <a:rPr lang="zh-CN" altLang="en-US" b="1" cap="none" smtClean="0">
                <a:ea typeface="宋体" charset="-122"/>
              </a:rPr>
              <a:t>」游戏</a:t>
            </a:r>
          </a:p>
        </p:txBody>
      </p:sp>
      <p:sp>
        <p:nvSpPr>
          <p:cNvPr id="19458" name="Rectangle 3"/>
          <p:cNvSpPr>
            <a:spLocks noGrp="1"/>
          </p:cNvSpPr>
          <p:nvPr>
            <p:ph type="body" idx="1"/>
          </p:nvPr>
        </p:nvSpPr>
        <p:spPr/>
        <p:txBody>
          <a:bodyPr/>
          <a:lstStyle/>
          <a:p>
            <a:pPr>
              <a:lnSpc>
                <a:spcPct val="70000"/>
              </a:lnSpc>
            </a:pPr>
            <a:r>
              <a:rPr lang="zh-CN" altLang="en-US" sz="1500" smtClean="0">
                <a:ea typeface="宋体" charset="-122"/>
              </a:rPr>
              <a:t>小 </a:t>
            </a:r>
            <a:r>
              <a:rPr lang="en-US" altLang="zh-CN" sz="1500" smtClean="0">
                <a:ea typeface="宋体" charset="-122"/>
              </a:rPr>
              <a:t>L </a:t>
            </a:r>
            <a:r>
              <a:rPr lang="zh-CN" altLang="en-US" sz="1500" smtClean="0">
                <a:ea typeface="宋体" charset="-122"/>
              </a:rPr>
              <a:t>计划进行 </a:t>
            </a:r>
            <a:r>
              <a:rPr lang="en-US" altLang="zh-CN" sz="1500" smtClean="0">
                <a:ea typeface="宋体" charset="-122"/>
              </a:rPr>
              <a:t>nn</a:t>
            </a:r>
            <a:r>
              <a:rPr lang="en-US" altLang="zh-CN" sz="1500" i="1" smtClean="0">
                <a:ea typeface="宋体" charset="-122"/>
              </a:rPr>
              <a:t>n</a:t>
            </a:r>
            <a:r>
              <a:rPr lang="en-US" altLang="zh-CN" sz="1500" smtClean="0">
                <a:ea typeface="宋体" charset="-122"/>
              </a:rPr>
              <a:t> </a:t>
            </a:r>
            <a:r>
              <a:rPr lang="zh-CN" altLang="en-US" sz="1500" smtClean="0">
                <a:ea typeface="宋体" charset="-122"/>
              </a:rPr>
              <a:t>场游戏，每场游戏使用一张地图，小 </a:t>
            </a:r>
            <a:r>
              <a:rPr lang="en-US" altLang="zh-CN" sz="1500" smtClean="0">
                <a:ea typeface="宋体" charset="-122"/>
              </a:rPr>
              <a:t>L </a:t>
            </a:r>
            <a:r>
              <a:rPr lang="zh-CN" altLang="en-US" sz="1500" smtClean="0">
                <a:ea typeface="宋体" charset="-122"/>
              </a:rPr>
              <a:t>会选择一辆车在该地图上完成游戏。</a:t>
            </a:r>
          </a:p>
          <a:p>
            <a:pPr>
              <a:lnSpc>
                <a:spcPct val="70000"/>
              </a:lnSpc>
            </a:pPr>
            <a:r>
              <a:rPr lang="zh-CN" altLang="en-US" sz="1500" smtClean="0">
                <a:ea typeface="宋体" charset="-122"/>
              </a:rPr>
              <a:t>小 </a:t>
            </a:r>
            <a:r>
              <a:rPr lang="en-US" altLang="zh-CN" sz="1500" smtClean="0">
                <a:ea typeface="宋体" charset="-122"/>
              </a:rPr>
              <a:t>L </a:t>
            </a:r>
            <a:r>
              <a:rPr lang="zh-CN" altLang="en-US" sz="1500" smtClean="0">
                <a:ea typeface="宋体" charset="-122"/>
              </a:rPr>
              <a:t>的赛车有三辆，分别用大写字母 </a:t>
            </a:r>
            <a:r>
              <a:rPr lang="en-US" altLang="zh-CN" sz="1500" smtClean="0">
                <a:ea typeface="宋体" charset="-122"/>
              </a:rPr>
              <a:t>AA</a:t>
            </a:r>
            <a:r>
              <a:rPr lang="en-US" altLang="zh-CN" sz="1500" i="1" smtClean="0">
                <a:ea typeface="宋体" charset="-122"/>
              </a:rPr>
              <a:t>A</a:t>
            </a:r>
            <a:r>
              <a:rPr lang="zh-CN" altLang="en-US" sz="1500" smtClean="0">
                <a:ea typeface="宋体" charset="-122"/>
              </a:rPr>
              <a:t>、</a:t>
            </a:r>
            <a:r>
              <a:rPr lang="en-US" altLang="zh-CN" sz="1500" smtClean="0">
                <a:ea typeface="宋体" charset="-122"/>
              </a:rPr>
              <a:t>BB</a:t>
            </a:r>
            <a:r>
              <a:rPr lang="en-US" altLang="zh-CN" sz="1500" i="1" smtClean="0">
                <a:ea typeface="宋体" charset="-122"/>
              </a:rPr>
              <a:t>B</a:t>
            </a:r>
            <a:r>
              <a:rPr lang="zh-CN" altLang="en-US" sz="1500" smtClean="0">
                <a:ea typeface="宋体" charset="-122"/>
              </a:rPr>
              <a:t>、</a:t>
            </a:r>
            <a:r>
              <a:rPr lang="en-US" altLang="zh-CN" sz="1500" smtClean="0">
                <a:ea typeface="宋体" charset="-122"/>
              </a:rPr>
              <a:t>CC</a:t>
            </a:r>
            <a:r>
              <a:rPr lang="en-US" altLang="zh-CN" sz="1500" i="1" smtClean="0">
                <a:ea typeface="宋体" charset="-122"/>
              </a:rPr>
              <a:t>C</a:t>
            </a:r>
            <a:r>
              <a:rPr lang="en-US" altLang="zh-CN" sz="1500" smtClean="0">
                <a:ea typeface="宋体" charset="-122"/>
              </a:rPr>
              <a:t> </a:t>
            </a:r>
            <a:r>
              <a:rPr lang="zh-CN" altLang="en-US" sz="1500" smtClean="0">
                <a:ea typeface="宋体" charset="-122"/>
              </a:rPr>
              <a:t>表示。地图一共有四种，分别用小写字母 </a:t>
            </a:r>
            <a:r>
              <a:rPr lang="en-US" altLang="zh-CN" sz="1500" smtClean="0">
                <a:ea typeface="宋体" charset="-122"/>
              </a:rPr>
              <a:t>xx</a:t>
            </a:r>
            <a:r>
              <a:rPr lang="en-US" altLang="zh-CN" sz="1500" i="1" smtClean="0">
                <a:ea typeface="宋体" charset="-122"/>
              </a:rPr>
              <a:t>x</a:t>
            </a:r>
            <a:r>
              <a:rPr lang="zh-CN" altLang="en-US" sz="1500" smtClean="0">
                <a:ea typeface="宋体" charset="-122"/>
              </a:rPr>
              <a:t>、</a:t>
            </a:r>
            <a:r>
              <a:rPr lang="en-US" altLang="zh-CN" sz="1500" smtClean="0">
                <a:ea typeface="宋体" charset="-122"/>
              </a:rPr>
              <a:t>aa</a:t>
            </a:r>
            <a:r>
              <a:rPr lang="en-US" altLang="zh-CN" sz="1500" i="1" smtClean="0">
                <a:ea typeface="宋体" charset="-122"/>
              </a:rPr>
              <a:t>a</a:t>
            </a:r>
            <a:r>
              <a:rPr lang="zh-CN" altLang="en-US" sz="1500" smtClean="0">
                <a:ea typeface="宋体" charset="-122"/>
              </a:rPr>
              <a:t>、</a:t>
            </a:r>
            <a:r>
              <a:rPr lang="en-US" altLang="zh-CN" sz="1500" smtClean="0">
                <a:ea typeface="宋体" charset="-122"/>
              </a:rPr>
              <a:t>bb</a:t>
            </a:r>
            <a:r>
              <a:rPr lang="en-US" altLang="zh-CN" sz="1500" i="1" smtClean="0">
                <a:ea typeface="宋体" charset="-122"/>
              </a:rPr>
              <a:t>b</a:t>
            </a:r>
            <a:r>
              <a:rPr lang="zh-CN" altLang="en-US" sz="1500" smtClean="0">
                <a:ea typeface="宋体" charset="-122"/>
              </a:rPr>
              <a:t>、</a:t>
            </a:r>
            <a:r>
              <a:rPr lang="en-US" altLang="zh-CN" sz="1500" smtClean="0">
                <a:ea typeface="宋体" charset="-122"/>
              </a:rPr>
              <a:t>cc</a:t>
            </a:r>
            <a:r>
              <a:rPr lang="en-US" altLang="zh-CN" sz="1500" i="1" smtClean="0">
                <a:ea typeface="宋体" charset="-122"/>
              </a:rPr>
              <a:t>c</a:t>
            </a:r>
            <a:r>
              <a:rPr lang="en-US" altLang="zh-CN" sz="1500" smtClean="0">
                <a:ea typeface="宋体" charset="-122"/>
              </a:rPr>
              <a:t> </a:t>
            </a:r>
            <a:r>
              <a:rPr lang="zh-CN" altLang="en-US" sz="1500" smtClean="0">
                <a:ea typeface="宋体" charset="-122"/>
              </a:rPr>
              <a:t>表示。</a:t>
            </a:r>
          </a:p>
          <a:p>
            <a:pPr>
              <a:lnSpc>
                <a:spcPct val="70000"/>
              </a:lnSpc>
            </a:pPr>
            <a:r>
              <a:rPr lang="zh-CN" altLang="en-US" sz="1500" smtClean="0">
                <a:ea typeface="宋体" charset="-122"/>
              </a:rPr>
              <a:t>其中，赛车 </a:t>
            </a:r>
            <a:r>
              <a:rPr lang="en-US" altLang="zh-CN" sz="1500" smtClean="0">
                <a:ea typeface="宋体" charset="-122"/>
              </a:rPr>
              <a:t>AA</a:t>
            </a:r>
            <a:r>
              <a:rPr lang="en-US" altLang="zh-CN" sz="1500" i="1" smtClean="0">
                <a:ea typeface="宋体" charset="-122"/>
              </a:rPr>
              <a:t>A</a:t>
            </a:r>
            <a:r>
              <a:rPr lang="en-US" altLang="zh-CN" sz="1500" smtClean="0">
                <a:ea typeface="宋体" charset="-122"/>
              </a:rPr>
              <a:t> </a:t>
            </a:r>
            <a:r>
              <a:rPr lang="zh-CN" altLang="en-US" sz="1500" smtClean="0">
                <a:ea typeface="宋体" charset="-122"/>
              </a:rPr>
              <a:t>不适合在地图 </a:t>
            </a:r>
            <a:r>
              <a:rPr lang="en-US" altLang="zh-CN" sz="1500" smtClean="0">
                <a:ea typeface="宋体" charset="-122"/>
              </a:rPr>
              <a:t>aa</a:t>
            </a:r>
            <a:r>
              <a:rPr lang="en-US" altLang="zh-CN" sz="1500" i="1" smtClean="0">
                <a:ea typeface="宋体" charset="-122"/>
              </a:rPr>
              <a:t>a</a:t>
            </a:r>
            <a:r>
              <a:rPr lang="en-US" altLang="zh-CN" sz="1500" smtClean="0">
                <a:ea typeface="宋体" charset="-122"/>
              </a:rPr>
              <a:t> </a:t>
            </a:r>
            <a:r>
              <a:rPr lang="zh-CN" altLang="en-US" sz="1500" smtClean="0">
                <a:ea typeface="宋体" charset="-122"/>
              </a:rPr>
              <a:t>上使用，赛车 </a:t>
            </a:r>
            <a:r>
              <a:rPr lang="en-US" altLang="zh-CN" sz="1500" smtClean="0">
                <a:ea typeface="宋体" charset="-122"/>
              </a:rPr>
              <a:t>BB</a:t>
            </a:r>
            <a:r>
              <a:rPr lang="en-US" altLang="zh-CN" sz="1500" i="1" smtClean="0">
                <a:ea typeface="宋体" charset="-122"/>
              </a:rPr>
              <a:t>B</a:t>
            </a:r>
            <a:r>
              <a:rPr lang="en-US" altLang="zh-CN" sz="1500" smtClean="0">
                <a:ea typeface="宋体" charset="-122"/>
              </a:rPr>
              <a:t> </a:t>
            </a:r>
            <a:r>
              <a:rPr lang="zh-CN" altLang="en-US" sz="1500" smtClean="0">
                <a:ea typeface="宋体" charset="-122"/>
              </a:rPr>
              <a:t>不适合在地图 </a:t>
            </a:r>
            <a:r>
              <a:rPr lang="en-US" altLang="zh-CN" sz="1500" smtClean="0">
                <a:ea typeface="宋体" charset="-122"/>
              </a:rPr>
              <a:t>bb</a:t>
            </a:r>
            <a:r>
              <a:rPr lang="en-US" altLang="zh-CN" sz="1500" i="1" smtClean="0">
                <a:ea typeface="宋体" charset="-122"/>
              </a:rPr>
              <a:t>b</a:t>
            </a:r>
            <a:r>
              <a:rPr lang="en-US" altLang="zh-CN" sz="1500" smtClean="0">
                <a:ea typeface="宋体" charset="-122"/>
              </a:rPr>
              <a:t> </a:t>
            </a:r>
            <a:r>
              <a:rPr lang="zh-CN" altLang="en-US" sz="1500" smtClean="0">
                <a:ea typeface="宋体" charset="-122"/>
              </a:rPr>
              <a:t>上使用，赛车 </a:t>
            </a:r>
            <a:r>
              <a:rPr lang="en-US" altLang="zh-CN" sz="1500" smtClean="0">
                <a:ea typeface="宋体" charset="-122"/>
              </a:rPr>
              <a:t>CC</a:t>
            </a:r>
            <a:r>
              <a:rPr lang="en-US" altLang="zh-CN" sz="1500" i="1" smtClean="0">
                <a:ea typeface="宋体" charset="-122"/>
              </a:rPr>
              <a:t>C</a:t>
            </a:r>
            <a:r>
              <a:rPr lang="en-US" altLang="zh-CN" sz="1500" smtClean="0">
                <a:ea typeface="宋体" charset="-122"/>
              </a:rPr>
              <a:t> </a:t>
            </a:r>
            <a:r>
              <a:rPr lang="zh-CN" altLang="en-US" sz="1500" smtClean="0">
                <a:ea typeface="宋体" charset="-122"/>
              </a:rPr>
              <a:t>不适合在地图 </a:t>
            </a:r>
            <a:r>
              <a:rPr lang="en-US" altLang="zh-CN" sz="1500" smtClean="0">
                <a:ea typeface="宋体" charset="-122"/>
              </a:rPr>
              <a:t>cc</a:t>
            </a:r>
            <a:r>
              <a:rPr lang="en-US" altLang="zh-CN" sz="1500" i="1" smtClean="0">
                <a:ea typeface="宋体" charset="-122"/>
              </a:rPr>
              <a:t>c</a:t>
            </a:r>
            <a:r>
              <a:rPr lang="en-US" altLang="zh-CN" sz="1500" smtClean="0">
                <a:ea typeface="宋体" charset="-122"/>
              </a:rPr>
              <a:t> </a:t>
            </a:r>
            <a:r>
              <a:rPr lang="zh-CN" altLang="en-US" sz="1500" smtClean="0">
                <a:ea typeface="宋体" charset="-122"/>
              </a:rPr>
              <a:t>上使用，而地图 </a:t>
            </a:r>
            <a:r>
              <a:rPr lang="en-US" altLang="zh-CN" sz="1500" smtClean="0">
                <a:ea typeface="宋体" charset="-122"/>
              </a:rPr>
              <a:t>xx</a:t>
            </a:r>
            <a:r>
              <a:rPr lang="en-US" altLang="zh-CN" sz="1500" i="1" smtClean="0">
                <a:ea typeface="宋体" charset="-122"/>
              </a:rPr>
              <a:t>x</a:t>
            </a:r>
            <a:r>
              <a:rPr lang="en-US" altLang="zh-CN" sz="1500" smtClean="0">
                <a:ea typeface="宋体" charset="-122"/>
              </a:rPr>
              <a:t> </a:t>
            </a:r>
            <a:r>
              <a:rPr lang="zh-CN" altLang="en-US" sz="1500" smtClean="0">
                <a:ea typeface="宋体" charset="-122"/>
              </a:rPr>
              <a:t>则适合所有赛车参加。</a:t>
            </a:r>
          </a:p>
          <a:p>
            <a:pPr>
              <a:lnSpc>
                <a:spcPct val="70000"/>
              </a:lnSpc>
            </a:pPr>
            <a:r>
              <a:rPr lang="zh-CN" altLang="en-US" sz="1500" smtClean="0">
                <a:ea typeface="宋体" charset="-122"/>
              </a:rPr>
              <a:t>适合所有赛车参加的地图并不多见，最多只会有 </a:t>
            </a:r>
            <a:r>
              <a:rPr lang="en-US" altLang="zh-CN" sz="1500" smtClean="0">
                <a:ea typeface="宋体" charset="-122"/>
              </a:rPr>
              <a:t>dd</a:t>
            </a:r>
            <a:r>
              <a:rPr lang="en-US" altLang="zh-CN" sz="1500" i="1" smtClean="0">
                <a:ea typeface="宋体" charset="-122"/>
              </a:rPr>
              <a:t>d</a:t>
            </a:r>
            <a:r>
              <a:rPr lang="en-US" altLang="zh-CN" sz="1500" smtClean="0">
                <a:ea typeface="宋体" charset="-122"/>
              </a:rPr>
              <a:t> </a:t>
            </a:r>
            <a:r>
              <a:rPr lang="zh-CN" altLang="en-US" sz="1500" smtClean="0">
                <a:ea typeface="宋体" charset="-122"/>
              </a:rPr>
              <a:t>张。</a:t>
            </a:r>
          </a:p>
          <a:p>
            <a:pPr>
              <a:lnSpc>
                <a:spcPct val="70000"/>
              </a:lnSpc>
            </a:pPr>
            <a:r>
              <a:rPr lang="en-US" altLang="zh-CN" sz="1500" smtClean="0">
                <a:ea typeface="宋体" charset="-122"/>
              </a:rPr>
              <a:t>nn</a:t>
            </a:r>
            <a:r>
              <a:rPr lang="en-US" altLang="zh-CN" sz="1500" i="1" smtClean="0">
                <a:ea typeface="宋体" charset="-122"/>
              </a:rPr>
              <a:t>n</a:t>
            </a:r>
            <a:r>
              <a:rPr lang="en-US" altLang="zh-CN" sz="1500" smtClean="0">
                <a:ea typeface="宋体" charset="-122"/>
              </a:rPr>
              <a:t> </a:t>
            </a:r>
            <a:r>
              <a:rPr lang="zh-CN" altLang="en-US" sz="1500" smtClean="0">
                <a:ea typeface="宋体" charset="-122"/>
              </a:rPr>
              <a:t>场游戏的地图可以用一个小写字母组成的字符串描述。例如：</a:t>
            </a:r>
            <a:r>
              <a:rPr lang="en-US" altLang="zh-CN" sz="1500" smtClean="0">
                <a:ea typeface="宋体" charset="-122"/>
              </a:rPr>
              <a:t>S=xaabxcbc </a:t>
            </a:r>
            <a:r>
              <a:rPr lang="zh-CN" altLang="en-US" sz="1500" smtClean="0">
                <a:ea typeface="宋体" charset="-122"/>
              </a:rPr>
              <a:t>表示小</a:t>
            </a:r>
            <a:r>
              <a:rPr lang="en-US" altLang="zh-CN" sz="1500" smtClean="0">
                <a:ea typeface="宋体" charset="-122"/>
              </a:rPr>
              <a:t>L</a:t>
            </a:r>
            <a:r>
              <a:rPr lang="zh-CN" altLang="en-US" sz="1500" smtClean="0">
                <a:ea typeface="宋体" charset="-122"/>
              </a:rPr>
              <a:t>计划进行 </a:t>
            </a:r>
            <a:r>
              <a:rPr lang="en-US" altLang="zh-CN" sz="1500" smtClean="0">
                <a:ea typeface="宋体" charset="-122"/>
              </a:rPr>
              <a:t>888 </a:t>
            </a:r>
            <a:r>
              <a:rPr lang="zh-CN" altLang="en-US" sz="1500" smtClean="0">
                <a:ea typeface="宋体" charset="-122"/>
              </a:rPr>
              <a:t>场游戏，其中第 </a:t>
            </a:r>
            <a:r>
              <a:rPr lang="en-US" altLang="zh-CN" sz="1500" smtClean="0">
                <a:ea typeface="宋体" charset="-122"/>
              </a:rPr>
              <a:t>111 </a:t>
            </a:r>
            <a:r>
              <a:rPr lang="zh-CN" altLang="en-US" sz="1500" smtClean="0">
                <a:ea typeface="宋体" charset="-122"/>
              </a:rPr>
              <a:t>场和第 </a:t>
            </a:r>
            <a:r>
              <a:rPr lang="en-US" altLang="zh-CN" sz="1500" smtClean="0">
                <a:ea typeface="宋体" charset="-122"/>
              </a:rPr>
              <a:t>555 </a:t>
            </a:r>
            <a:r>
              <a:rPr lang="zh-CN" altLang="en-US" sz="1500" smtClean="0">
                <a:ea typeface="宋体" charset="-122"/>
              </a:rPr>
              <a:t>场的地图类型是 </a:t>
            </a:r>
            <a:r>
              <a:rPr lang="en-US" altLang="zh-CN" sz="1500" smtClean="0">
                <a:ea typeface="宋体" charset="-122"/>
              </a:rPr>
              <a:t>xx</a:t>
            </a:r>
            <a:r>
              <a:rPr lang="en-US" altLang="zh-CN" sz="1500" i="1" smtClean="0">
                <a:ea typeface="宋体" charset="-122"/>
              </a:rPr>
              <a:t>x</a:t>
            </a:r>
            <a:r>
              <a:rPr lang="zh-CN" altLang="en-US" sz="1500" smtClean="0">
                <a:ea typeface="宋体" charset="-122"/>
              </a:rPr>
              <a:t>，适合所有赛车，第 </a:t>
            </a:r>
            <a:r>
              <a:rPr lang="en-US" altLang="zh-CN" sz="1500" smtClean="0">
                <a:ea typeface="宋体" charset="-122"/>
              </a:rPr>
              <a:t>222</a:t>
            </a:r>
            <a:r>
              <a:rPr lang="zh-CN" altLang="en-US" sz="1500" smtClean="0">
                <a:ea typeface="宋体" charset="-122"/>
              </a:rPr>
              <a:t>场和第 </a:t>
            </a:r>
            <a:r>
              <a:rPr lang="en-US" altLang="zh-CN" sz="1500" smtClean="0">
                <a:ea typeface="宋体" charset="-122"/>
              </a:rPr>
              <a:t>333</a:t>
            </a:r>
            <a:r>
              <a:rPr lang="zh-CN" altLang="en-US" sz="1500" smtClean="0">
                <a:ea typeface="宋体" charset="-122"/>
              </a:rPr>
              <a:t>场的地图是 </a:t>
            </a:r>
            <a:r>
              <a:rPr lang="en-US" altLang="zh-CN" sz="1500" smtClean="0">
                <a:ea typeface="宋体" charset="-122"/>
              </a:rPr>
              <a:t>aa</a:t>
            </a:r>
            <a:r>
              <a:rPr lang="en-US" altLang="zh-CN" sz="1500" i="1" smtClean="0">
                <a:ea typeface="宋体" charset="-122"/>
              </a:rPr>
              <a:t>a</a:t>
            </a:r>
            <a:r>
              <a:rPr lang="zh-CN" altLang="en-US" sz="1500" smtClean="0">
                <a:ea typeface="宋体" charset="-122"/>
              </a:rPr>
              <a:t>，不适合赛车 </a:t>
            </a:r>
            <a:r>
              <a:rPr lang="en-US" altLang="zh-CN" sz="1500" smtClean="0">
                <a:ea typeface="宋体" charset="-122"/>
              </a:rPr>
              <a:t>AA</a:t>
            </a:r>
            <a:r>
              <a:rPr lang="en-US" altLang="zh-CN" sz="1500" i="1" smtClean="0">
                <a:ea typeface="宋体" charset="-122"/>
              </a:rPr>
              <a:t>A</a:t>
            </a:r>
            <a:r>
              <a:rPr lang="zh-CN" altLang="en-US" sz="1500" smtClean="0">
                <a:ea typeface="宋体" charset="-122"/>
              </a:rPr>
              <a:t>，第 </a:t>
            </a:r>
            <a:r>
              <a:rPr lang="en-US" altLang="zh-CN" sz="1500" smtClean="0">
                <a:ea typeface="宋体" charset="-122"/>
              </a:rPr>
              <a:t>444 </a:t>
            </a:r>
            <a:r>
              <a:rPr lang="zh-CN" altLang="en-US" sz="1500" smtClean="0">
                <a:ea typeface="宋体" charset="-122"/>
              </a:rPr>
              <a:t>场和第 </a:t>
            </a:r>
            <a:r>
              <a:rPr lang="en-US" altLang="zh-CN" sz="1500" smtClean="0">
                <a:ea typeface="宋体" charset="-122"/>
              </a:rPr>
              <a:t>777 </a:t>
            </a:r>
            <a:r>
              <a:rPr lang="zh-CN" altLang="en-US" sz="1500" smtClean="0">
                <a:ea typeface="宋体" charset="-122"/>
              </a:rPr>
              <a:t>场的地图是 </a:t>
            </a:r>
            <a:r>
              <a:rPr lang="en-US" altLang="zh-CN" sz="1500" smtClean="0">
                <a:ea typeface="宋体" charset="-122"/>
              </a:rPr>
              <a:t>bb</a:t>
            </a:r>
            <a:r>
              <a:rPr lang="en-US" altLang="zh-CN" sz="1500" i="1" smtClean="0">
                <a:ea typeface="宋体" charset="-122"/>
              </a:rPr>
              <a:t>b</a:t>
            </a:r>
            <a:r>
              <a:rPr lang="zh-CN" altLang="en-US" sz="1500" smtClean="0">
                <a:ea typeface="宋体" charset="-122"/>
              </a:rPr>
              <a:t>，不适合赛车 </a:t>
            </a:r>
            <a:r>
              <a:rPr lang="en-US" altLang="zh-CN" sz="1500" smtClean="0">
                <a:ea typeface="宋体" charset="-122"/>
              </a:rPr>
              <a:t>BB</a:t>
            </a:r>
            <a:r>
              <a:rPr lang="en-US" altLang="zh-CN" sz="1500" i="1" smtClean="0">
                <a:ea typeface="宋体" charset="-122"/>
              </a:rPr>
              <a:t>B</a:t>
            </a:r>
            <a:r>
              <a:rPr lang="zh-CN" altLang="en-US" sz="1500" smtClean="0">
                <a:ea typeface="宋体" charset="-122"/>
              </a:rPr>
              <a:t>，第 </a:t>
            </a:r>
            <a:r>
              <a:rPr lang="en-US" altLang="zh-CN" sz="1500" smtClean="0">
                <a:ea typeface="宋体" charset="-122"/>
              </a:rPr>
              <a:t>666 </a:t>
            </a:r>
            <a:r>
              <a:rPr lang="zh-CN" altLang="en-US" sz="1500" smtClean="0">
                <a:ea typeface="宋体" charset="-122"/>
              </a:rPr>
              <a:t>场和第 </a:t>
            </a:r>
            <a:r>
              <a:rPr lang="en-US" altLang="zh-CN" sz="1500" smtClean="0">
                <a:ea typeface="宋体" charset="-122"/>
              </a:rPr>
              <a:t>888 </a:t>
            </a:r>
            <a:r>
              <a:rPr lang="zh-CN" altLang="en-US" sz="1500" smtClean="0">
                <a:ea typeface="宋体" charset="-122"/>
              </a:rPr>
              <a:t>场的地图是 </a:t>
            </a:r>
            <a:r>
              <a:rPr lang="en-US" altLang="zh-CN" sz="1500" smtClean="0">
                <a:ea typeface="宋体" charset="-122"/>
              </a:rPr>
              <a:t>cc</a:t>
            </a:r>
            <a:r>
              <a:rPr lang="en-US" altLang="zh-CN" sz="1500" i="1" smtClean="0">
                <a:ea typeface="宋体" charset="-122"/>
              </a:rPr>
              <a:t>c</a:t>
            </a:r>
            <a:r>
              <a:rPr lang="zh-CN" altLang="en-US" sz="1500" smtClean="0">
                <a:ea typeface="宋体" charset="-122"/>
              </a:rPr>
              <a:t>，不适合赛车 </a:t>
            </a:r>
            <a:r>
              <a:rPr lang="en-US" altLang="zh-CN" sz="1500" smtClean="0">
                <a:ea typeface="宋体" charset="-122"/>
              </a:rPr>
              <a:t>CC</a:t>
            </a:r>
            <a:r>
              <a:rPr lang="en-US" altLang="zh-CN" sz="1500" i="1" smtClean="0">
                <a:ea typeface="宋体" charset="-122"/>
              </a:rPr>
              <a:t>C</a:t>
            </a:r>
            <a:r>
              <a:rPr lang="zh-CN" altLang="en-US" sz="1500" smtClean="0">
                <a:ea typeface="宋体" charset="-122"/>
              </a:rPr>
              <a:t>。</a:t>
            </a:r>
          </a:p>
          <a:p>
            <a:pPr>
              <a:lnSpc>
                <a:spcPct val="70000"/>
              </a:lnSpc>
            </a:pPr>
            <a:r>
              <a:rPr lang="zh-CN" altLang="en-US" sz="1500" smtClean="0">
                <a:ea typeface="宋体" charset="-122"/>
              </a:rPr>
              <a:t>小 </a:t>
            </a:r>
            <a:r>
              <a:rPr lang="en-US" altLang="zh-CN" sz="1500" smtClean="0">
                <a:ea typeface="宋体" charset="-122"/>
              </a:rPr>
              <a:t>L </a:t>
            </a:r>
            <a:r>
              <a:rPr lang="zh-CN" altLang="en-US" sz="1500" smtClean="0">
                <a:ea typeface="宋体" charset="-122"/>
              </a:rPr>
              <a:t>对游戏有一些特殊的要求，这些要求可以用四元组 </a:t>
            </a:r>
            <a:r>
              <a:rPr lang="en-US" altLang="zh-CN" sz="1500" smtClean="0">
                <a:ea typeface="宋体" charset="-122"/>
              </a:rPr>
              <a:t>(i,hi,j,hj) (i, h_i, j, h_j)(</a:t>
            </a:r>
            <a:r>
              <a:rPr lang="en-US" altLang="zh-CN" sz="1500" i="1" smtClean="0">
                <a:ea typeface="宋体" charset="-122"/>
              </a:rPr>
              <a:t>i</a:t>
            </a:r>
            <a:r>
              <a:rPr lang="en-US" altLang="zh-CN" sz="1500" smtClean="0">
                <a:ea typeface="宋体" charset="-122"/>
              </a:rPr>
              <a:t>,</a:t>
            </a:r>
            <a:r>
              <a:rPr lang="en-US" altLang="zh-CN" sz="1500" i="1" smtClean="0">
                <a:ea typeface="宋体" charset="-122"/>
              </a:rPr>
              <a:t>h</a:t>
            </a:r>
            <a:r>
              <a:rPr lang="en-US" altLang="zh-CN" sz="1500" smtClean="0">
                <a:ea typeface="宋体" charset="-122"/>
              </a:rPr>
              <a:t>​</a:t>
            </a:r>
            <a:r>
              <a:rPr lang="en-US" altLang="zh-CN" sz="1500" i="1" smtClean="0">
                <a:ea typeface="宋体" charset="-122"/>
              </a:rPr>
              <a:t>i</a:t>
            </a:r>
            <a:r>
              <a:rPr lang="en-US" altLang="zh-CN" sz="1500" smtClean="0">
                <a:ea typeface="宋体" charset="-122"/>
              </a:rPr>
              <a:t>​​,</a:t>
            </a:r>
            <a:r>
              <a:rPr lang="en-US" altLang="zh-CN" sz="1500" i="1" smtClean="0">
                <a:ea typeface="宋体" charset="-122"/>
              </a:rPr>
              <a:t>j</a:t>
            </a:r>
            <a:r>
              <a:rPr lang="en-US" altLang="zh-CN" sz="1500" smtClean="0">
                <a:ea typeface="宋体" charset="-122"/>
              </a:rPr>
              <a:t>,</a:t>
            </a:r>
            <a:r>
              <a:rPr lang="en-US" altLang="zh-CN" sz="1500" i="1" smtClean="0">
                <a:ea typeface="宋体" charset="-122"/>
              </a:rPr>
              <a:t>h</a:t>
            </a:r>
            <a:r>
              <a:rPr lang="en-US" altLang="zh-CN" sz="1500" smtClean="0">
                <a:ea typeface="宋体" charset="-122"/>
              </a:rPr>
              <a:t>​</a:t>
            </a:r>
            <a:r>
              <a:rPr lang="en-US" altLang="zh-CN" sz="1500" i="1" smtClean="0">
                <a:ea typeface="宋体" charset="-122"/>
              </a:rPr>
              <a:t>j</a:t>
            </a:r>
            <a:r>
              <a:rPr lang="en-US" altLang="zh-CN" sz="1500" smtClean="0">
                <a:ea typeface="宋体" charset="-122"/>
              </a:rPr>
              <a:t>​​) </a:t>
            </a:r>
            <a:r>
              <a:rPr lang="zh-CN" altLang="en-US" sz="1500" smtClean="0">
                <a:ea typeface="宋体" charset="-122"/>
              </a:rPr>
              <a:t>来描述，表示若在第 </a:t>
            </a:r>
            <a:r>
              <a:rPr lang="en-US" altLang="zh-CN" sz="1500" smtClean="0">
                <a:ea typeface="宋体" charset="-122"/>
              </a:rPr>
              <a:t>ii</a:t>
            </a:r>
            <a:r>
              <a:rPr lang="en-US" altLang="zh-CN" sz="1500" i="1" smtClean="0">
                <a:ea typeface="宋体" charset="-122"/>
              </a:rPr>
              <a:t>i</a:t>
            </a:r>
            <a:r>
              <a:rPr lang="en-US" altLang="zh-CN" sz="1500" smtClean="0">
                <a:ea typeface="宋体" charset="-122"/>
              </a:rPr>
              <a:t> </a:t>
            </a:r>
            <a:r>
              <a:rPr lang="zh-CN" altLang="en-US" sz="1500" smtClean="0">
                <a:ea typeface="宋体" charset="-122"/>
              </a:rPr>
              <a:t>场使用型号为 </a:t>
            </a:r>
            <a:r>
              <a:rPr lang="en-US" altLang="zh-CN" sz="1500" smtClean="0">
                <a:ea typeface="宋体" charset="-122"/>
              </a:rPr>
              <a:t>hih_i</a:t>
            </a:r>
            <a:r>
              <a:rPr lang="en-US" altLang="zh-CN" sz="1500" i="1" smtClean="0">
                <a:ea typeface="宋体" charset="-122"/>
              </a:rPr>
              <a:t>h</a:t>
            </a:r>
            <a:r>
              <a:rPr lang="en-US" altLang="zh-CN" sz="1500" smtClean="0">
                <a:ea typeface="宋体" charset="-122"/>
              </a:rPr>
              <a:t>​</a:t>
            </a:r>
            <a:r>
              <a:rPr lang="en-US" altLang="zh-CN" sz="1500" i="1" smtClean="0">
                <a:ea typeface="宋体" charset="-122"/>
              </a:rPr>
              <a:t>i</a:t>
            </a:r>
            <a:r>
              <a:rPr lang="en-US" altLang="zh-CN" sz="1500" smtClean="0">
                <a:ea typeface="宋体" charset="-122"/>
              </a:rPr>
              <a:t>​​ </a:t>
            </a:r>
            <a:r>
              <a:rPr lang="zh-CN" altLang="en-US" sz="1500" smtClean="0">
                <a:ea typeface="宋体" charset="-122"/>
              </a:rPr>
              <a:t>的车子，则第 </a:t>
            </a:r>
            <a:r>
              <a:rPr lang="en-US" altLang="zh-CN" sz="1500" smtClean="0">
                <a:ea typeface="宋体" charset="-122"/>
              </a:rPr>
              <a:t>jj</a:t>
            </a:r>
            <a:r>
              <a:rPr lang="en-US" altLang="zh-CN" sz="1500" i="1" smtClean="0">
                <a:ea typeface="宋体" charset="-122"/>
              </a:rPr>
              <a:t>j</a:t>
            </a:r>
            <a:r>
              <a:rPr lang="en-US" altLang="zh-CN" sz="1500" smtClean="0">
                <a:ea typeface="宋体" charset="-122"/>
              </a:rPr>
              <a:t> </a:t>
            </a:r>
            <a:r>
              <a:rPr lang="zh-CN" altLang="en-US" sz="1500" smtClean="0">
                <a:ea typeface="宋体" charset="-122"/>
              </a:rPr>
              <a:t>场游戏要使用型号为 </a:t>
            </a:r>
            <a:r>
              <a:rPr lang="en-US" altLang="zh-CN" sz="1500" smtClean="0">
                <a:ea typeface="宋体" charset="-122"/>
              </a:rPr>
              <a:t>hjh_j</a:t>
            </a:r>
            <a:r>
              <a:rPr lang="en-US" altLang="zh-CN" sz="1500" i="1" smtClean="0">
                <a:ea typeface="宋体" charset="-122"/>
              </a:rPr>
              <a:t>h</a:t>
            </a:r>
            <a:r>
              <a:rPr lang="en-US" altLang="zh-CN" sz="1500" smtClean="0">
                <a:ea typeface="宋体" charset="-122"/>
              </a:rPr>
              <a:t>​</a:t>
            </a:r>
            <a:r>
              <a:rPr lang="en-US" altLang="zh-CN" sz="1500" i="1" smtClean="0">
                <a:ea typeface="宋体" charset="-122"/>
              </a:rPr>
              <a:t>j</a:t>
            </a:r>
            <a:r>
              <a:rPr lang="en-US" altLang="zh-CN" sz="1500" smtClean="0">
                <a:ea typeface="宋体" charset="-122"/>
              </a:rPr>
              <a:t>​​ </a:t>
            </a:r>
            <a:r>
              <a:rPr lang="zh-CN" altLang="en-US" sz="1500" smtClean="0">
                <a:ea typeface="宋体" charset="-122"/>
              </a:rPr>
              <a:t>的车子。</a:t>
            </a:r>
          </a:p>
          <a:p>
            <a:pPr>
              <a:lnSpc>
                <a:spcPct val="70000"/>
              </a:lnSpc>
            </a:pPr>
            <a:r>
              <a:rPr lang="zh-CN" altLang="en-US" sz="1500" smtClean="0">
                <a:ea typeface="宋体" charset="-122"/>
              </a:rPr>
              <a:t>你能帮小 </a:t>
            </a:r>
            <a:r>
              <a:rPr lang="en-US" altLang="zh-CN" sz="1500" smtClean="0">
                <a:ea typeface="宋体" charset="-122"/>
              </a:rPr>
              <a:t>L </a:t>
            </a:r>
            <a:r>
              <a:rPr lang="zh-CN" altLang="en-US" sz="1500" smtClean="0">
                <a:ea typeface="宋体" charset="-122"/>
              </a:rPr>
              <a:t>选择每场游戏使用的赛车吗？如果有多种方案，输出任意一种方案。</a:t>
            </a:r>
          </a:p>
          <a:p>
            <a:pPr>
              <a:lnSpc>
                <a:spcPct val="70000"/>
              </a:lnSpc>
            </a:pPr>
            <a:r>
              <a:rPr lang="zh-CN" altLang="en-US" sz="1500" smtClean="0">
                <a:ea typeface="宋体" charset="-122"/>
              </a:rPr>
              <a:t>如果无解，输出 </a:t>
            </a:r>
            <a:r>
              <a:rPr lang="en-US" altLang="zh-CN" sz="1500" b="1" smtClean="0">
                <a:ea typeface="宋体" charset="-122"/>
              </a:rPr>
              <a:t>-1</a:t>
            </a:r>
            <a:r>
              <a:rPr lang="zh-CN" altLang="en-US" sz="1500" smtClean="0">
                <a:ea typeface="宋体"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[BZOJ4383][POI2015]Pustynia</a:t>
            </a:r>
            <a:endParaRPr lang="zh-CN" altLang="en-US" cap="none" smtClean="0">
              <a:ea typeface="宋体" charset="-122"/>
            </a:endParaRPr>
          </a:p>
        </p:txBody>
      </p:sp>
      <p:sp>
        <p:nvSpPr>
          <p:cNvPr id="20482" name="Rectangle 3"/>
          <p:cNvSpPr>
            <a:spLocks noGrp="1"/>
          </p:cNvSpPr>
          <p:nvPr>
            <p:ph type="body" idx="1"/>
          </p:nvPr>
        </p:nvSpPr>
        <p:spPr/>
        <p:txBody>
          <a:bodyPr/>
          <a:lstStyle/>
          <a:p>
            <a:r>
              <a:rPr lang="zh-CN" altLang="en-US" smtClean="0">
                <a:ea typeface="宋体" charset="-122"/>
              </a:rPr>
              <a:t>给定一个长度为</a:t>
            </a:r>
            <a:r>
              <a:rPr lang="en-US" altLang="zh-CN" smtClean="0">
                <a:ea typeface="宋体" charset="-122"/>
              </a:rPr>
              <a:t>n</a:t>
            </a:r>
            <a:r>
              <a:rPr lang="zh-CN" altLang="en-US" smtClean="0">
                <a:ea typeface="宋体" charset="-122"/>
              </a:rPr>
              <a:t>的正整数序列</a:t>
            </a:r>
            <a:r>
              <a:rPr lang="en-US" altLang="zh-CN" smtClean="0">
                <a:ea typeface="宋体" charset="-122"/>
              </a:rPr>
              <a:t>a</a:t>
            </a:r>
            <a:r>
              <a:rPr lang="zh-CN" altLang="en-US" smtClean="0">
                <a:ea typeface="宋体" charset="-122"/>
              </a:rPr>
              <a:t>，每个数都在</a:t>
            </a:r>
            <a:r>
              <a:rPr lang="en-US" altLang="zh-CN" smtClean="0">
                <a:ea typeface="宋体" charset="-122"/>
              </a:rPr>
              <a:t>1</a:t>
            </a:r>
            <a:r>
              <a:rPr lang="zh-CN" altLang="en-US" smtClean="0">
                <a:ea typeface="宋体" charset="-122"/>
              </a:rPr>
              <a:t>到</a:t>
            </a:r>
            <a:r>
              <a:rPr lang="en-US" altLang="zh-CN" smtClean="0">
                <a:ea typeface="宋体" charset="-122"/>
              </a:rPr>
              <a:t>10^9</a:t>
            </a:r>
            <a:r>
              <a:rPr lang="zh-CN" altLang="en-US" smtClean="0">
                <a:ea typeface="宋体" charset="-122"/>
              </a:rPr>
              <a:t>范围内，告诉你其中</a:t>
            </a:r>
            <a:r>
              <a:rPr lang="en-US" altLang="zh-CN" smtClean="0">
                <a:ea typeface="宋体" charset="-122"/>
              </a:rPr>
              <a:t>s</a:t>
            </a:r>
            <a:r>
              <a:rPr lang="zh-CN" altLang="en-US" smtClean="0">
                <a:ea typeface="宋体" charset="-122"/>
              </a:rPr>
              <a:t>个数，并给出</a:t>
            </a:r>
            <a:r>
              <a:rPr lang="en-US" altLang="zh-CN" smtClean="0">
                <a:ea typeface="宋体" charset="-122"/>
              </a:rPr>
              <a:t>m</a:t>
            </a:r>
            <a:r>
              <a:rPr lang="zh-CN" altLang="en-US" smtClean="0">
                <a:ea typeface="宋体" charset="-122"/>
              </a:rPr>
              <a:t>条信息，每条信息包含三个数</a:t>
            </a:r>
            <a:r>
              <a:rPr lang="en-US" altLang="zh-CN" smtClean="0">
                <a:ea typeface="宋体" charset="-122"/>
              </a:rPr>
              <a:t>l,r,k</a:t>
            </a:r>
            <a:r>
              <a:rPr lang="zh-CN" altLang="en-US" smtClean="0">
                <a:ea typeface="宋体" charset="-122"/>
              </a:rPr>
              <a:t>以及接下来</a:t>
            </a:r>
            <a:r>
              <a:rPr lang="en-US" altLang="zh-CN" smtClean="0">
                <a:ea typeface="宋体" charset="-122"/>
              </a:rPr>
              <a:t>k</a:t>
            </a:r>
            <a:r>
              <a:rPr lang="zh-CN" altLang="en-US" smtClean="0">
                <a:ea typeface="宋体" charset="-122"/>
              </a:rPr>
              <a:t>个正整数，表示</a:t>
            </a:r>
            <a:r>
              <a:rPr lang="en-US" altLang="zh-CN" smtClean="0">
                <a:ea typeface="宋体" charset="-122"/>
              </a:rPr>
              <a:t>a[l],a[l+1],...,a[r-1],a[r]</a:t>
            </a:r>
            <a:r>
              <a:rPr lang="zh-CN" altLang="en-US" smtClean="0">
                <a:ea typeface="宋体" charset="-122"/>
              </a:rPr>
              <a:t>里这</a:t>
            </a:r>
            <a:r>
              <a:rPr lang="en-US" altLang="zh-CN" smtClean="0">
                <a:ea typeface="宋体" charset="-122"/>
              </a:rPr>
              <a:t>k</a:t>
            </a:r>
            <a:r>
              <a:rPr lang="zh-CN" altLang="en-US" smtClean="0">
                <a:ea typeface="宋体" charset="-122"/>
              </a:rPr>
              <a:t>个数中的任意一个都比任意一个剩下的</a:t>
            </a:r>
            <a:r>
              <a:rPr lang="en-US" altLang="zh-CN" smtClean="0">
                <a:ea typeface="宋体" charset="-122"/>
              </a:rPr>
              <a:t>r-l+1-k</a:t>
            </a:r>
            <a:r>
              <a:rPr lang="zh-CN" altLang="en-US" smtClean="0">
                <a:ea typeface="宋体" charset="-122"/>
              </a:rPr>
              <a:t>个数大（严格大于，即没有等号）。</a:t>
            </a:r>
            <a:br>
              <a:rPr lang="zh-CN" altLang="en-US" smtClean="0">
                <a:ea typeface="宋体" charset="-122"/>
              </a:rPr>
            </a:br>
            <a:r>
              <a:rPr lang="zh-CN" altLang="en-US" smtClean="0">
                <a:ea typeface="宋体" charset="-122"/>
              </a:rPr>
              <a:t>请任意构造出一组满足条件的方案，或者判断无解。 </a:t>
            </a:r>
          </a:p>
          <a:p>
            <a:pPr>
              <a:buFont typeface="Wingdings" pitchFamily="2" charset="2"/>
              <a:buNone/>
            </a:pPr>
            <a:endParaRPr lang="zh-CN" altLang="en-US" smtClean="0">
              <a:ea typeface="宋体"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[BZOJ4383][POI2015]Pustynia</a:t>
            </a:r>
            <a:endParaRPr lang="zh-CN" altLang="en-US" cap="none" smtClean="0">
              <a:ea typeface="宋体" charset="-122"/>
            </a:endParaRPr>
          </a:p>
        </p:txBody>
      </p:sp>
      <p:sp>
        <p:nvSpPr>
          <p:cNvPr id="21506" name="Rectangle 3"/>
          <p:cNvSpPr>
            <a:spLocks noGrp="1"/>
          </p:cNvSpPr>
          <p:nvPr>
            <p:ph type="body" idx="1"/>
          </p:nvPr>
        </p:nvSpPr>
        <p:spPr/>
        <p:txBody>
          <a:bodyPr/>
          <a:lstStyle/>
          <a:p>
            <a:r>
              <a:rPr lang="zh-CN" altLang="en-US" smtClean="0">
                <a:ea typeface="宋体" charset="-122"/>
              </a:rPr>
              <a:t>经典的区间</a:t>
            </a:r>
            <a:r>
              <a:rPr lang="en-US" altLang="zh-CN" smtClean="0">
                <a:ea typeface="宋体" charset="-122"/>
              </a:rPr>
              <a:t>k</a:t>
            </a:r>
            <a:r>
              <a:rPr lang="zh-CN" altLang="en-US" smtClean="0">
                <a:ea typeface="宋体" charset="-122"/>
              </a:rPr>
              <a:t>大值的反转版本。</a:t>
            </a:r>
          </a:p>
          <a:p>
            <a:endParaRPr lang="zh-CN" altLang="en-US" smtClean="0">
              <a:ea typeface="宋体" charset="-122"/>
            </a:endParaRPr>
          </a:p>
          <a:p>
            <a:r>
              <a:rPr lang="zh-CN" altLang="en-US" smtClean="0">
                <a:ea typeface="宋体" charset="-122"/>
              </a:rPr>
              <a:t>将其中所有约数条件写出，均可表示成</a:t>
            </a:r>
            <a:r>
              <a:rPr lang="en-US" altLang="zh-CN" smtClean="0">
                <a:ea typeface="宋体" charset="-122"/>
              </a:rPr>
              <a:t>a[i]&gt;a[j]</a:t>
            </a:r>
            <a:r>
              <a:rPr lang="zh-CN" altLang="en-US" smtClean="0">
                <a:ea typeface="宋体" charset="-122"/>
              </a:rPr>
              <a:t>的形式，可以构造图进行拓补排序。如果有环则无解，无环则按照拓补序输出即可。</a:t>
            </a:r>
          </a:p>
          <a:p>
            <a:endParaRPr lang="zh-CN" altLang="en-US" smtClean="0">
              <a:ea typeface="宋体" charset="-122"/>
            </a:endParaRPr>
          </a:p>
          <a:p>
            <a:r>
              <a:rPr lang="zh-CN" altLang="en-US" smtClean="0">
                <a:ea typeface="宋体" charset="-122"/>
              </a:rPr>
              <a:t>由于</a:t>
            </a:r>
            <a:r>
              <a:rPr lang="en-US" altLang="zh-CN" smtClean="0">
                <a:ea typeface="宋体" charset="-122"/>
              </a:rPr>
              <a:t>k</a:t>
            </a:r>
            <a:r>
              <a:rPr lang="zh-CN" altLang="en-US" smtClean="0">
                <a:ea typeface="宋体" charset="-122"/>
              </a:rPr>
              <a:t>可能很大，但</a:t>
            </a:r>
            <a:r>
              <a:rPr lang="en-US" altLang="zh-CN" smtClean="0">
                <a:ea typeface="宋体" charset="-122"/>
              </a:rPr>
              <a:t>k</a:t>
            </a:r>
            <a:r>
              <a:rPr lang="zh-CN" altLang="en-US" smtClean="0">
                <a:ea typeface="宋体" charset="-122"/>
              </a:rPr>
              <a:t>个点连向的位置是相同的，需要建立一个额外节点减少边数。</a:t>
            </a:r>
          </a:p>
          <a:p>
            <a:r>
              <a:rPr lang="zh-CN" altLang="en-US" smtClean="0">
                <a:ea typeface="宋体" charset="-122"/>
              </a:rPr>
              <a:t>由于总区间长度可能很长，需要使用数据结构优化建图。</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 </a:t>
            </a:r>
            <a:r>
              <a:rPr lang="en-US" altLang="zh-CN" cap="none" smtClean="0">
                <a:ea typeface="宋体" charset="-122"/>
              </a:rPr>
              <a:t>Codeforces Round #268 (Div. 1) B. Two Sets </a:t>
            </a:r>
            <a:endParaRPr lang="zh-CN" altLang="en-US" cap="none" smtClean="0">
              <a:ea typeface="宋体" charset="-122"/>
            </a:endParaRPr>
          </a:p>
        </p:txBody>
      </p:sp>
      <p:sp>
        <p:nvSpPr>
          <p:cNvPr id="22530" name="Rectangle 3"/>
          <p:cNvSpPr>
            <a:spLocks noGrp="1"/>
          </p:cNvSpPr>
          <p:nvPr>
            <p:ph type="body" idx="1"/>
          </p:nvPr>
        </p:nvSpPr>
        <p:spPr/>
        <p:txBody>
          <a:bodyPr/>
          <a:lstStyle/>
          <a:p>
            <a:r>
              <a:rPr lang="zh-CN" altLang="en-US" smtClean="0">
                <a:ea typeface="宋体" charset="-122"/>
              </a:rPr>
              <a:t>有</a:t>
            </a:r>
            <a:r>
              <a:rPr lang="en-US" altLang="zh-CN" smtClean="0">
                <a:ea typeface="宋体" charset="-122"/>
              </a:rPr>
              <a:t>n</a:t>
            </a:r>
            <a:r>
              <a:rPr lang="zh-CN" altLang="en-US" smtClean="0">
                <a:ea typeface="宋体" charset="-122"/>
              </a:rPr>
              <a:t>个不重复的正整数，你需要将他们不重不漏地分入两个集合</a:t>
            </a:r>
            <a:r>
              <a:rPr lang="en-US" altLang="zh-CN" smtClean="0">
                <a:ea typeface="宋体" charset="-122"/>
              </a:rPr>
              <a:t>A</a:t>
            </a:r>
            <a:r>
              <a:rPr lang="zh-CN" altLang="en-US" smtClean="0">
                <a:ea typeface="宋体" charset="-122"/>
              </a:rPr>
              <a:t>和</a:t>
            </a:r>
            <a:r>
              <a:rPr lang="en-US" altLang="zh-CN" smtClean="0">
                <a:ea typeface="宋体" charset="-122"/>
              </a:rPr>
              <a:t>B</a:t>
            </a:r>
            <a:r>
              <a:rPr lang="zh-CN" altLang="en-US" smtClean="0">
                <a:ea typeface="宋体" charset="-122"/>
              </a:rPr>
              <a:t>，满足若</a:t>
            </a:r>
            <a:r>
              <a:rPr lang="en-US" altLang="zh-CN" smtClean="0">
                <a:ea typeface="宋体" charset="-122"/>
              </a:rPr>
              <a:t>x</a:t>
            </a:r>
            <a:r>
              <a:rPr lang="zh-CN" altLang="en-US" smtClean="0">
                <a:ea typeface="宋体" charset="-122"/>
              </a:rPr>
              <a:t>属于</a:t>
            </a:r>
            <a:r>
              <a:rPr lang="en-US" altLang="zh-CN" smtClean="0">
                <a:ea typeface="宋体" charset="-122"/>
              </a:rPr>
              <a:t>A</a:t>
            </a:r>
            <a:r>
              <a:rPr lang="zh-CN" altLang="en-US" smtClean="0">
                <a:ea typeface="宋体" charset="-122"/>
              </a:rPr>
              <a:t>，</a:t>
            </a:r>
            <a:r>
              <a:rPr lang="en-US" altLang="zh-CN" smtClean="0">
                <a:ea typeface="宋体" charset="-122"/>
              </a:rPr>
              <a:t>a-x</a:t>
            </a:r>
            <a:r>
              <a:rPr lang="zh-CN" altLang="en-US" smtClean="0">
                <a:ea typeface="宋体" charset="-122"/>
              </a:rPr>
              <a:t>也属于</a:t>
            </a:r>
            <a:r>
              <a:rPr lang="en-US" altLang="zh-CN" smtClean="0">
                <a:ea typeface="宋体" charset="-122"/>
              </a:rPr>
              <a:t>A</a:t>
            </a:r>
            <a:r>
              <a:rPr lang="zh-CN" altLang="en-US" smtClean="0">
                <a:ea typeface="宋体" charset="-122"/>
              </a:rPr>
              <a:t>，若</a:t>
            </a:r>
            <a:r>
              <a:rPr lang="en-US" altLang="zh-CN" smtClean="0">
                <a:ea typeface="宋体" charset="-122"/>
              </a:rPr>
              <a:t>y</a:t>
            </a:r>
            <a:r>
              <a:rPr lang="zh-CN" altLang="en-US" smtClean="0">
                <a:ea typeface="宋体" charset="-122"/>
              </a:rPr>
              <a:t>属于</a:t>
            </a:r>
            <a:r>
              <a:rPr lang="en-US" altLang="zh-CN" smtClean="0">
                <a:ea typeface="宋体" charset="-122"/>
              </a:rPr>
              <a:t>B</a:t>
            </a:r>
            <a:r>
              <a:rPr lang="zh-CN" altLang="en-US" smtClean="0">
                <a:ea typeface="宋体" charset="-122"/>
              </a:rPr>
              <a:t>，</a:t>
            </a:r>
            <a:r>
              <a:rPr lang="en-US" altLang="zh-CN" smtClean="0">
                <a:ea typeface="宋体" charset="-122"/>
              </a:rPr>
              <a:t>b-y</a:t>
            </a:r>
            <a:r>
              <a:rPr lang="zh-CN" altLang="en-US" smtClean="0">
                <a:ea typeface="宋体" charset="-122"/>
              </a:rPr>
              <a:t>也属于</a:t>
            </a:r>
            <a:r>
              <a:rPr lang="en-US" altLang="zh-CN" smtClean="0">
                <a:ea typeface="宋体" charset="-122"/>
              </a:rPr>
              <a:t>B</a:t>
            </a:r>
            <a:r>
              <a:rPr lang="zh-CN" altLang="en-US" smtClean="0">
                <a:ea typeface="宋体"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 </a:t>
            </a:r>
            <a:r>
              <a:rPr lang="en-US" altLang="zh-CN" cap="none" smtClean="0">
                <a:ea typeface="宋体" charset="-122"/>
              </a:rPr>
              <a:t>Codeforces Round #268 (Div. 1) B. Two Sets </a:t>
            </a:r>
            <a:endParaRPr lang="zh-CN" altLang="en-US" cap="none" smtClean="0">
              <a:ea typeface="宋体" charset="-122"/>
            </a:endParaRPr>
          </a:p>
        </p:txBody>
      </p:sp>
      <p:sp>
        <p:nvSpPr>
          <p:cNvPr id="23554" name="Rectangle 3"/>
          <p:cNvSpPr>
            <a:spLocks noGrp="1"/>
          </p:cNvSpPr>
          <p:nvPr>
            <p:ph type="body" idx="1"/>
          </p:nvPr>
        </p:nvSpPr>
        <p:spPr/>
        <p:txBody>
          <a:bodyPr/>
          <a:lstStyle/>
          <a:p>
            <a:r>
              <a:rPr lang="zh-CN" altLang="en-US" smtClean="0">
                <a:ea typeface="宋体" charset="-122"/>
              </a:rPr>
              <a:t>观察到由于元素不重复，若</a:t>
            </a:r>
            <a:r>
              <a:rPr lang="en-US" altLang="zh-CN" smtClean="0">
                <a:ea typeface="宋体" charset="-122"/>
              </a:rPr>
              <a:t>x</a:t>
            </a:r>
            <a:r>
              <a:rPr lang="zh-CN" altLang="en-US" smtClean="0">
                <a:ea typeface="宋体" charset="-122"/>
              </a:rPr>
              <a:t>和</a:t>
            </a:r>
            <a:r>
              <a:rPr lang="en-US" altLang="zh-CN" smtClean="0">
                <a:ea typeface="宋体" charset="-122"/>
              </a:rPr>
              <a:t>a-x</a:t>
            </a:r>
            <a:r>
              <a:rPr lang="zh-CN" altLang="en-US" smtClean="0">
                <a:ea typeface="宋体" charset="-122"/>
              </a:rPr>
              <a:t>均存在，则他们必须要么同时在</a:t>
            </a:r>
            <a:r>
              <a:rPr lang="en-US" altLang="zh-CN" smtClean="0">
                <a:ea typeface="宋体" charset="-122"/>
              </a:rPr>
              <a:t>A</a:t>
            </a:r>
            <a:r>
              <a:rPr lang="zh-CN" altLang="en-US" smtClean="0">
                <a:ea typeface="宋体" charset="-122"/>
              </a:rPr>
              <a:t>集合，要么同时在</a:t>
            </a:r>
            <a:r>
              <a:rPr lang="en-US" altLang="zh-CN" smtClean="0">
                <a:ea typeface="宋体" charset="-122"/>
              </a:rPr>
              <a:t>B</a:t>
            </a:r>
            <a:r>
              <a:rPr lang="zh-CN" altLang="en-US" smtClean="0">
                <a:ea typeface="宋体" charset="-122"/>
              </a:rPr>
              <a:t>集合；</a:t>
            </a:r>
            <a:r>
              <a:rPr lang="en-US" altLang="zh-CN" smtClean="0">
                <a:ea typeface="宋体" charset="-122"/>
              </a:rPr>
              <a:t>y</a:t>
            </a:r>
            <a:r>
              <a:rPr lang="zh-CN" altLang="en-US" smtClean="0">
                <a:ea typeface="宋体" charset="-122"/>
              </a:rPr>
              <a:t>和</a:t>
            </a:r>
            <a:r>
              <a:rPr lang="en-US" altLang="zh-CN" smtClean="0">
                <a:ea typeface="宋体" charset="-122"/>
              </a:rPr>
              <a:t>b-y</a:t>
            </a:r>
            <a:r>
              <a:rPr lang="zh-CN" altLang="en-US" smtClean="0">
                <a:ea typeface="宋体" charset="-122"/>
              </a:rPr>
              <a:t>同理。</a:t>
            </a:r>
          </a:p>
          <a:p>
            <a:r>
              <a:rPr lang="zh-CN" altLang="en-US" smtClean="0">
                <a:ea typeface="宋体" charset="-122"/>
              </a:rPr>
              <a:t>使用并查集将满足条件的数对合并，对每个并查集的集合，看他们是否能都在</a:t>
            </a:r>
            <a:r>
              <a:rPr lang="en-US" altLang="zh-CN" smtClean="0">
                <a:ea typeface="宋体" charset="-122"/>
              </a:rPr>
              <a:t>A</a:t>
            </a:r>
            <a:r>
              <a:rPr lang="zh-CN" altLang="en-US" smtClean="0">
                <a:ea typeface="宋体" charset="-122"/>
              </a:rPr>
              <a:t>中或都在</a:t>
            </a:r>
            <a:r>
              <a:rPr lang="en-US" altLang="zh-CN" smtClean="0">
                <a:ea typeface="宋体" charset="-122"/>
              </a:rPr>
              <a:t>B</a:t>
            </a:r>
            <a:r>
              <a:rPr lang="zh-CN" altLang="en-US" smtClean="0">
                <a:ea typeface="宋体" charset="-122"/>
              </a:rPr>
              <a:t>中即可。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公式法</a:t>
            </a:r>
          </a:p>
        </p:txBody>
      </p:sp>
      <p:sp>
        <p:nvSpPr>
          <p:cNvPr id="24578" name="Rectangle 3"/>
          <p:cNvSpPr>
            <a:spLocks noGrp="1"/>
          </p:cNvSpPr>
          <p:nvPr>
            <p:ph type="body" idx="1"/>
          </p:nvPr>
        </p:nvSpPr>
        <p:spPr/>
        <p:txBody>
          <a:bodyPr/>
          <a:lstStyle/>
          <a:p>
            <a:r>
              <a:rPr lang="zh-CN" altLang="en-US" smtClean="0">
                <a:ea typeface="宋体" charset="-122"/>
              </a:rPr>
              <a:t>直接根据公式推导得出构造的普遍形式</a:t>
            </a:r>
          </a:p>
          <a:p>
            <a:endParaRPr lang="zh-CN" altLang="en-US" smtClean="0">
              <a:ea typeface="宋体" charset="-122"/>
            </a:endParaRPr>
          </a:p>
          <a:p>
            <a:endParaRPr lang="zh-CN" altLang="en-US" smtClean="0">
              <a:ea typeface="宋体" charset="-122"/>
            </a:endParaRPr>
          </a:p>
          <a:p>
            <a:endParaRPr lang="zh-CN" altLang="en-US" smtClean="0">
              <a:ea typeface="宋体"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LOJ #525. </a:t>
            </a:r>
            <a:r>
              <a:rPr lang="zh-CN" altLang="en-US" cap="none" smtClean="0">
                <a:ea typeface="宋体" charset="-122"/>
              </a:rPr>
              <a:t>「</a:t>
            </a:r>
            <a:r>
              <a:rPr lang="en-US" altLang="zh-CN" cap="none" smtClean="0">
                <a:ea typeface="宋体" charset="-122"/>
              </a:rPr>
              <a:t>LibreOJ β Round #4</a:t>
            </a:r>
            <a:r>
              <a:rPr lang="zh-CN" altLang="en-US" cap="none" smtClean="0">
                <a:ea typeface="宋体" charset="-122"/>
              </a:rPr>
              <a:t>」多项式</a:t>
            </a:r>
          </a:p>
        </p:txBody>
      </p:sp>
      <p:sp>
        <p:nvSpPr>
          <p:cNvPr id="25602" name="Rectangle 3"/>
          <p:cNvSpPr>
            <a:spLocks noGrp="1"/>
          </p:cNvSpPr>
          <p:nvPr>
            <p:ph type="body" idx="1"/>
          </p:nvPr>
        </p:nvSpPr>
        <p:spPr/>
        <p:txBody>
          <a:bodyPr/>
          <a:lstStyle/>
          <a:p>
            <a:r>
              <a:rPr lang="zh-CN" altLang="en-US" smtClean="0">
                <a:ea typeface="宋体" charset="-122"/>
              </a:rPr>
              <a:t>给定一个正整数 </a:t>
            </a:r>
            <a:r>
              <a:rPr lang="en-US" altLang="zh-CN" smtClean="0">
                <a:ea typeface="宋体" charset="-122"/>
              </a:rPr>
              <a:t>k</a:t>
            </a:r>
            <a:r>
              <a:rPr lang="zh-CN" altLang="en-US" smtClean="0">
                <a:ea typeface="宋体" charset="-122"/>
              </a:rPr>
              <a:t>，你需要寻找一个系数均为 </a:t>
            </a:r>
            <a:r>
              <a:rPr lang="en-US" altLang="zh-CN" smtClean="0">
                <a:ea typeface="宋体" charset="-122"/>
              </a:rPr>
              <a:t>0 </a:t>
            </a:r>
            <a:r>
              <a:rPr lang="zh-CN" altLang="en-US" smtClean="0">
                <a:ea typeface="宋体" charset="-122"/>
              </a:rPr>
              <a:t>到 </a:t>
            </a:r>
            <a:r>
              <a:rPr lang="en-US" altLang="zh-CN" smtClean="0">
                <a:ea typeface="宋体" charset="-122"/>
              </a:rPr>
              <a:t>k−1 </a:t>
            </a:r>
            <a:r>
              <a:rPr lang="zh-CN" altLang="en-US" smtClean="0">
                <a:ea typeface="宋体" charset="-122"/>
              </a:rPr>
              <a:t>之间的非零多项式 </a:t>
            </a:r>
            <a:r>
              <a:rPr lang="en-US" altLang="zh-CN" smtClean="0">
                <a:ea typeface="宋体" charset="-122"/>
              </a:rPr>
              <a:t>f(x)</a:t>
            </a:r>
            <a:r>
              <a:rPr lang="zh-CN" altLang="en-US" smtClean="0">
                <a:ea typeface="宋体" charset="-122"/>
              </a:rPr>
              <a:t>，满足对于任意整数 </a:t>
            </a:r>
            <a:r>
              <a:rPr lang="en-US" altLang="zh-CN" smtClean="0">
                <a:ea typeface="宋体" charset="-122"/>
              </a:rPr>
              <a:t>x </a:t>
            </a:r>
            <a:r>
              <a:rPr lang="zh-CN" altLang="en-US" smtClean="0">
                <a:ea typeface="宋体" charset="-122"/>
              </a:rPr>
              <a:t>均有 </a:t>
            </a:r>
            <a:r>
              <a:rPr lang="en-US" altLang="zh-CN" smtClean="0">
                <a:ea typeface="宋体" charset="-122"/>
              </a:rPr>
              <a:t>f(x)modk=0</a:t>
            </a:r>
            <a:r>
              <a:rPr lang="zh-CN" altLang="en-US" smtClean="0">
                <a:ea typeface="宋体" charset="-122"/>
              </a:rPr>
              <a:t>。你给出的多项式次数不能超过 </a:t>
            </a:r>
            <a:r>
              <a:rPr lang="en-US" altLang="zh-CN" smtClean="0">
                <a:ea typeface="宋体" charset="-122"/>
              </a:rPr>
              <a:t>60000</a:t>
            </a:r>
            <a:r>
              <a:rPr lang="zh-CN" altLang="en-US" smtClean="0">
                <a:ea typeface="宋体" charset="-122"/>
              </a:rPr>
              <a:t>，且最高次系数必须非 </a:t>
            </a:r>
            <a:r>
              <a:rPr lang="en-US" altLang="zh-CN" smtClean="0">
                <a:ea typeface="宋体" charset="-122"/>
              </a:rPr>
              <a:t>0</a:t>
            </a:r>
            <a:r>
              <a:rPr lang="zh-CN" altLang="en-US" smtClean="0">
                <a:ea typeface="宋体" charset="-122"/>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LOJ #525. </a:t>
            </a:r>
            <a:r>
              <a:rPr lang="zh-CN" altLang="en-US" cap="none" smtClean="0">
                <a:ea typeface="宋体" charset="-122"/>
              </a:rPr>
              <a:t>「</a:t>
            </a:r>
            <a:r>
              <a:rPr lang="en-US" altLang="zh-CN" cap="none" smtClean="0">
                <a:ea typeface="宋体" charset="-122"/>
              </a:rPr>
              <a:t>LibreOJ β Round #4</a:t>
            </a:r>
            <a:r>
              <a:rPr lang="zh-CN" altLang="en-US" cap="none" smtClean="0">
                <a:ea typeface="宋体" charset="-122"/>
              </a:rPr>
              <a:t>」多项式</a:t>
            </a:r>
          </a:p>
        </p:txBody>
      </p:sp>
      <p:sp>
        <p:nvSpPr>
          <p:cNvPr id="26626" name="Rectangle 3"/>
          <p:cNvSpPr>
            <a:spLocks noGrp="1"/>
          </p:cNvSpPr>
          <p:nvPr>
            <p:ph type="body" idx="1"/>
          </p:nvPr>
        </p:nvSpPr>
        <p:spPr/>
        <p:txBody>
          <a:bodyPr/>
          <a:lstStyle/>
          <a:p>
            <a:r>
              <a:rPr lang="en-US" altLang="zh-CN" smtClean="0">
                <a:ea typeface="宋体" charset="-122"/>
              </a:rPr>
              <a:t>1.</a:t>
            </a:r>
            <a:r>
              <a:rPr lang="zh-CN" altLang="en-US" smtClean="0">
                <a:ea typeface="宋体" charset="-122"/>
              </a:rPr>
              <a:t>观察到只要对于</a:t>
            </a:r>
            <a:r>
              <a:rPr lang="en-US" altLang="zh-CN" smtClean="0">
                <a:ea typeface="宋体" charset="-122"/>
              </a:rPr>
              <a:t>0~k-1</a:t>
            </a:r>
            <a:r>
              <a:rPr lang="zh-CN" altLang="en-US" smtClean="0">
                <a:ea typeface="宋体" charset="-122"/>
              </a:rPr>
              <a:t>均成立，即可满足对所有整数均成立。</a:t>
            </a:r>
          </a:p>
          <a:p>
            <a:r>
              <a:rPr lang="zh-CN" altLang="en-US" smtClean="0">
                <a:ea typeface="宋体" charset="-122"/>
              </a:rPr>
              <a:t>直接构造多项式</a:t>
            </a:r>
            <a:r>
              <a:rPr lang="en-US" altLang="zh-CN" smtClean="0">
                <a:ea typeface="宋体" charset="-122"/>
              </a:rPr>
              <a:t>x(x-1)(x-2)……(x-(k-1))</a:t>
            </a:r>
            <a:r>
              <a:rPr lang="zh-CN" altLang="en-US" smtClean="0">
                <a:ea typeface="宋体" charset="-122"/>
              </a:rPr>
              <a:t>即可。</a:t>
            </a:r>
          </a:p>
          <a:p>
            <a:r>
              <a:rPr lang="zh-CN" altLang="en-US" smtClean="0">
                <a:ea typeface="宋体" charset="-122"/>
              </a:rPr>
              <a:t>由于时限只有</a:t>
            </a:r>
            <a:r>
              <a:rPr lang="en-US" altLang="zh-CN" smtClean="0">
                <a:ea typeface="宋体" charset="-122"/>
              </a:rPr>
              <a:t>0.1s</a:t>
            </a:r>
            <a:r>
              <a:rPr lang="zh-CN" altLang="en-US" smtClean="0">
                <a:ea typeface="宋体" charset="-122"/>
              </a:rPr>
              <a:t>，而</a:t>
            </a:r>
            <a:r>
              <a:rPr lang="en-US" altLang="zh-CN" smtClean="0">
                <a:ea typeface="宋体" charset="-122"/>
              </a:rPr>
              <a:t>fft</a:t>
            </a:r>
            <a:r>
              <a:rPr lang="zh-CN" altLang="en-US" smtClean="0">
                <a:ea typeface="宋体" charset="-122"/>
              </a:rPr>
              <a:t>常数较大，可能无法通过</a:t>
            </a:r>
          </a:p>
          <a:p>
            <a:endParaRPr lang="zh-CN" altLang="en-US" smtClean="0">
              <a:ea typeface="宋体" charset="-122"/>
            </a:endParaRPr>
          </a:p>
          <a:p>
            <a:r>
              <a:rPr lang="zh-CN" altLang="en-US" smtClean="0">
                <a:ea typeface="宋体" charset="-122"/>
              </a:rPr>
              <a:t>根据广义欧拉定理，任何一个整数的</a:t>
            </a:r>
            <a:r>
              <a:rPr lang="en-US" altLang="zh-CN" smtClean="0">
                <a:ea typeface="宋体" charset="-122"/>
              </a:rPr>
              <a:t>phi(k)+k</a:t>
            </a:r>
            <a:r>
              <a:rPr lang="zh-CN" altLang="en-US" smtClean="0">
                <a:ea typeface="宋体" charset="-122"/>
              </a:rPr>
              <a:t>次方和其</a:t>
            </a:r>
            <a:r>
              <a:rPr lang="en-US" altLang="zh-CN" smtClean="0">
                <a:ea typeface="宋体" charset="-122"/>
              </a:rPr>
              <a:t>k</a:t>
            </a:r>
            <a:r>
              <a:rPr lang="zh-CN" altLang="en-US" smtClean="0">
                <a:ea typeface="宋体" charset="-122"/>
              </a:rPr>
              <a:t>次方对</a:t>
            </a:r>
            <a:r>
              <a:rPr lang="en-US" altLang="zh-CN" smtClean="0">
                <a:ea typeface="宋体" charset="-122"/>
              </a:rPr>
              <a:t>k</a:t>
            </a:r>
            <a:r>
              <a:rPr lang="zh-CN" altLang="en-US" smtClean="0">
                <a:ea typeface="宋体" charset="-122"/>
              </a:rPr>
              <a:t>取模的结果相同。当</a:t>
            </a:r>
            <a:r>
              <a:rPr lang="en-US" altLang="zh-CN" smtClean="0">
                <a:ea typeface="宋体" charset="-122"/>
              </a:rPr>
              <a:t>k</a:t>
            </a:r>
            <a:r>
              <a:rPr lang="zh-CN" altLang="en-US" smtClean="0">
                <a:ea typeface="宋体" charset="-122"/>
              </a:rPr>
              <a:t>确定时，是这个整数的常数次幂相减，即是这个整数的一个多项式，因此只要</a:t>
            </a:r>
            <a:r>
              <a:rPr lang="en-US" altLang="zh-CN" smtClean="0">
                <a:ea typeface="宋体" charset="-122"/>
              </a:rPr>
              <a:t>O(nlogn)</a:t>
            </a:r>
            <a:r>
              <a:rPr lang="zh-CN" altLang="en-US" smtClean="0">
                <a:ea typeface="宋体" charset="-122"/>
              </a:rPr>
              <a:t>或</a:t>
            </a:r>
            <a:r>
              <a:rPr lang="en-US" altLang="zh-CN" smtClean="0">
                <a:ea typeface="宋体" charset="-122"/>
              </a:rPr>
              <a:t>O(n)</a:t>
            </a:r>
            <a:r>
              <a:rPr lang="zh-CN" altLang="en-US" smtClean="0">
                <a:ea typeface="宋体" charset="-122"/>
              </a:rPr>
              <a:t>或</a:t>
            </a:r>
            <a:r>
              <a:rPr lang="en-US" altLang="zh-CN" smtClean="0">
                <a:ea typeface="宋体" charset="-122"/>
              </a:rPr>
              <a:t>O(sqrt(n))</a:t>
            </a:r>
            <a:r>
              <a:rPr lang="zh-CN" altLang="en-US" smtClean="0">
                <a:ea typeface="宋体" charset="-122"/>
              </a:rPr>
              <a:t>计算</a:t>
            </a:r>
            <a:r>
              <a:rPr lang="en-US" altLang="zh-CN" smtClean="0">
                <a:ea typeface="宋体" charset="-122"/>
              </a:rPr>
              <a:t>phi(k)+</a:t>
            </a:r>
            <a:endParaRPr lang="zh-CN" altLang="en-US" smtClean="0">
              <a:ea typeface="宋体"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增量法</a:t>
            </a:r>
          </a:p>
        </p:txBody>
      </p:sp>
      <p:sp>
        <p:nvSpPr>
          <p:cNvPr id="27650" name="Rectangle 3"/>
          <p:cNvSpPr>
            <a:spLocks noGrp="1"/>
          </p:cNvSpPr>
          <p:nvPr>
            <p:ph type="body" idx="1"/>
          </p:nvPr>
        </p:nvSpPr>
        <p:spPr/>
        <p:txBody>
          <a:bodyPr/>
          <a:lstStyle/>
          <a:p>
            <a:r>
              <a:rPr lang="zh-CN" altLang="en-US" smtClean="0">
                <a:ea typeface="宋体" charset="-122"/>
              </a:rPr>
              <a:t>在较小或较简单的情况的构造的基础上进行修改或添加，得到较大或较复杂的解</a:t>
            </a:r>
          </a:p>
          <a:p>
            <a:endParaRPr lang="zh-CN" altLang="en-US" smtClean="0">
              <a:ea typeface="宋体" charset="-122"/>
            </a:endParaRPr>
          </a:p>
          <a:p>
            <a:endParaRPr lang="zh-CN" altLang="en-US" smtClean="0">
              <a:ea typeface="宋体"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Codeforces Round #268 (Div. 1) A. 24 Game </a:t>
            </a:r>
            <a:endParaRPr lang="zh-CN" altLang="en-US" cap="none" smtClean="0">
              <a:ea typeface="宋体" charset="-122"/>
            </a:endParaRPr>
          </a:p>
        </p:txBody>
      </p:sp>
      <p:sp>
        <p:nvSpPr>
          <p:cNvPr id="28674" name="Rectangle 3"/>
          <p:cNvSpPr>
            <a:spLocks noGrp="1"/>
          </p:cNvSpPr>
          <p:nvPr>
            <p:ph type="body" idx="1"/>
          </p:nvPr>
        </p:nvSpPr>
        <p:spPr/>
        <p:txBody>
          <a:bodyPr/>
          <a:lstStyle/>
          <a:p>
            <a:r>
              <a:rPr lang="zh-CN" altLang="en-US" smtClean="0">
                <a:ea typeface="宋体" charset="-122"/>
              </a:rPr>
              <a:t>用</a:t>
            </a:r>
            <a:r>
              <a:rPr lang="en-US" altLang="zh-CN" smtClean="0">
                <a:ea typeface="宋体" charset="-122"/>
              </a:rPr>
              <a:t>1</a:t>
            </a:r>
            <a:r>
              <a:rPr lang="zh-CN" altLang="en-US" smtClean="0">
                <a:ea typeface="宋体" charset="-122"/>
              </a:rPr>
              <a:t>到</a:t>
            </a:r>
            <a:r>
              <a:rPr lang="en-US" altLang="zh-CN" smtClean="0">
                <a:ea typeface="宋体" charset="-122"/>
              </a:rPr>
              <a:t>n</a:t>
            </a:r>
            <a:r>
              <a:rPr lang="zh-CN" altLang="en-US" smtClean="0">
                <a:ea typeface="宋体" charset="-122"/>
              </a:rPr>
              <a:t>的每个整数恰好一次，使用四则运算得出</a:t>
            </a:r>
            <a:r>
              <a:rPr lang="en-US" altLang="zh-CN" smtClean="0">
                <a:ea typeface="宋体" charset="-122"/>
              </a:rPr>
              <a:t>24</a:t>
            </a:r>
            <a:endParaRPr lang="zh-CN" altLang="en-US" smtClean="0">
              <a:ea typeface="宋体"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Codeforces Round #268 (Div. 1) A. 24 Game</a:t>
            </a:r>
            <a:endParaRPr lang="zh-CN" altLang="en-US" cap="none" smtClean="0">
              <a:ea typeface="宋体" charset="-122"/>
            </a:endParaRPr>
          </a:p>
        </p:txBody>
      </p:sp>
      <p:sp>
        <p:nvSpPr>
          <p:cNvPr id="29698" name="Rectangle 3"/>
          <p:cNvSpPr>
            <a:spLocks noGrp="1"/>
          </p:cNvSpPr>
          <p:nvPr>
            <p:ph type="body" idx="1"/>
          </p:nvPr>
        </p:nvSpPr>
        <p:spPr/>
        <p:txBody>
          <a:bodyPr/>
          <a:lstStyle/>
          <a:p>
            <a:r>
              <a:rPr lang="zh-CN" altLang="en-US" smtClean="0">
                <a:ea typeface="宋体" charset="-122"/>
              </a:rPr>
              <a:t>对于</a:t>
            </a:r>
            <a:r>
              <a:rPr lang="en-US" altLang="zh-CN" smtClean="0">
                <a:ea typeface="宋体" charset="-122"/>
              </a:rPr>
              <a:t>1,2,3</a:t>
            </a:r>
            <a:r>
              <a:rPr lang="zh-CN" altLang="en-US" smtClean="0">
                <a:ea typeface="宋体" charset="-122"/>
              </a:rPr>
              <a:t>明显无解</a:t>
            </a:r>
          </a:p>
          <a:p>
            <a:r>
              <a:rPr lang="zh-CN" altLang="en-US" smtClean="0">
                <a:ea typeface="宋体" charset="-122"/>
              </a:rPr>
              <a:t>对于</a:t>
            </a:r>
            <a:r>
              <a:rPr lang="en-US" altLang="zh-CN" smtClean="0">
                <a:ea typeface="宋体" charset="-122"/>
              </a:rPr>
              <a:t>4</a:t>
            </a:r>
            <a:r>
              <a:rPr lang="zh-CN" altLang="en-US" smtClean="0">
                <a:ea typeface="宋体" charset="-122"/>
              </a:rPr>
              <a:t>，只要将所有数相乘既得</a:t>
            </a:r>
            <a:r>
              <a:rPr lang="en-US" altLang="zh-CN" smtClean="0">
                <a:ea typeface="宋体" charset="-122"/>
              </a:rPr>
              <a:t>24.</a:t>
            </a:r>
          </a:p>
          <a:p>
            <a:r>
              <a:rPr lang="zh-CN" altLang="en-US" smtClean="0">
                <a:ea typeface="宋体" charset="-122"/>
              </a:rPr>
              <a:t>对于</a:t>
            </a:r>
            <a:r>
              <a:rPr lang="en-US" altLang="zh-CN" smtClean="0">
                <a:ea typeface="宋体" charset="-122"/>
              </a:rPr>
              <a:t>5</a:t>
            </a:r>
            <a:r>
              <a:rPr lang="zh-CN" altLang="en-US" smtClean="0">
                <a:ea typeface="宋体" charset="-122"/>
              </a:rPr>
              <a:t>，可以使用公式</a:t>
            </a:r>
            <a:r>
              <a:rPr lang="en-US" altLang="zh-CN" smtClean="0">
                <a:ea typeface="宋体" charset="-122"/>
              </a:rPr>
              <a:t>5*3+4*2+1=24</a:t>
            </a:r>
            <a:r>
              <a:rPr lang="zh-CN" altLang="en-US" smtClean="0">
                <a:ea typeface="宋体" charset="-122"/>
              </a:rPr>
              <a:t>得到</a:t>
            </a:r>
          </a:p>
          <a:p>
            <a:r>
              <a:rPr lang="zh-CN" altLang="en-US" smtClean="0">
                <a:ea typeface="宋体" charset="-122"/>
              </a:rPr>
              <a:t>如果已经得到了</a:t>
            </a:r>
            <a:r>
              <a:rPr lang="en-US" altLang="zh-CN" smtClean="0">
                <a:ea typeface="宋体" charset="-122"/>
              </a:rPr>
              <a:t>n</a:t>
            </a:r>
            <a:r>
              <a:rPr lang="zh-CN" altLang="en-US" smtClean="0">
                <a:ea typeface="宋体" charset="-122"/>
              </a:rPr>
              <a:t>的解，则可以很容易得到</a:t>
            </a:r>
            <a:r>
              <a:rPr lang="en-US" altLang="zh-CN" smtClean="0">
                <a:ea typeface="宋体" charset="-122"/>
              </a:rPr>
              <a:t>n+2</a:t>
            </a:r>
            <a:r>
              <a:rPr lang="zh-CN" altLang="en-US" smtClean="0">
                <a:ea typeface="宋体" charset="-122"/>
              </a:rPr>
              <a:t>的解：最后乘</a:t>
            </a:r>
            <a:r>
              <a:rPr lang="en-US" altLang="zh-CN" smtClean="0">
                <a:ea typeface="宋体" charset="-122"/>
              </a:rPr>
              <a:t>((n+2)-(n+1))</a:t>
            </a:r>
            <a:r>
              <a:rPr lang="zh-CN" altLang="en-US" smtClean="0">
                <a:ea typeface="宋体" charset="-122"/>
              </a:rPr>
              <a:t>即可。</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[BZOJ4072][Wf2014]baggage</a:t>
            </a:r>
            <a:endParaRPr lang="zh-CN" altLang="en-US" cap="none" smtClean="0">
              <a:ea typeface="宋体" charset="-122"/>
            </a:endParaRPr>
          </a:p>
        </p:txBody>
      </p:sp>
      <p:sp>
        <p:nvSpPr>
          <p:cNvPr id="30722" name="Rectangle 3"/>
          <p:cNvSpPr>
            <a:spLocks noGrp="1"/>
          </p:cNvSpPr>
          <p:nvPr>
            <p:ph type="body" idx="1"/>
          </p:nvPr>
        </p:nvSpPr>
        <p:spPr/>
        <p:txBody>
          <a:bodyPr/>
          <a:lstStyle/>
          <a:p>
            <a:r>
              <a:rPr lang="zh-CN" altLang="en-US" smtClean="0">
                <a:ea typeface="宋体" charset="-122"/>
              </a:rPr>
              <a:t>给定一排长度为</a:t>
            </a:r>
            <a:r>
              <a:rPr lang="en-US" altLang="zh-CN" smtClean="0">
                <a:ea typeface="宋体" charset="-122"/>
              </a:rPr>
              <a:t>4n</a:t>
            </a:r>
            <a:r>
              <a:rPr lang="zh-CN" altLang="en-US" smtClean="0">
                <a:ea typeface="宋体" charset="-122"/>
              </a:rPr>
              <a:t>的格子，编号从</a:t>
            </a:r>
            <a:r>
              <a:rPr lang="en-US" altLang="zh-CN" smtClean="0">
                <a:ea typeface="宋体" charset="-122"/>
              </a:rPr>
              <a:t>-2n+1</a:t>
            </a:r>
            <a:r>
              <a:rPr lang="zh-CN" altLang="en-US" smtClean="0">
                <a:ea typeface="宋体" charset="-122"/>
              </a:rPr>
              <a:t>到</a:t>
            </a:r>
            <a:r>
              <a:rPr lang="en-US" altLang="zh-CN" smtClean="0">
                <a:ea typeface="宋体" charset="-122"/>
              </a:rPr>
              <a:t>2n </a:t>
            </a:r>
            <a:br>
              <a:rPr lang="en-US" altLang="zh-CN" smtClean="0">
                <a:ea typeface="宋体" charset="-122"/>
              </a:rPr>
            </a:br>
            <a:r>
              <a:rPr lang="zh-CN" altLang="en-US" smtClean="0">
                <a:ea typeface="宋体" charset="-122"/>
              </a:rPr>
              <a:t>每个编号为正的格子中有一个物品，其中每个编号为奇数的格子中有一个</a:t>
            </a:r>
            <a:r>
              <a:rPr lang="en-US" altLang="zh-CN" smtClean="0">
                <a:ea typeface="宋体" charset="-122"/>
              </a:rPr>
              <a:t>B</a:t>
            </a:r>
            <a:r>
              <a:rPr lang="zh-CN" altLang="en-US" smtClean="0">
                <a:ea typeface="宋体" charset="-122"/>
              </a:rPr>
              <a:t>类物品，编号为偶数的格子中有一个</a:t>
            </a:r>
            <a:r>
              <a:rPr lang="en-US" altLang="zh-CN" smtClean="0">
                <a:ea typeface="宋体" charset="-122"/>
              </a:rPr>
              <a:t>A</a:t>
            </a:r>
            <a:r>
              <a:rPr lang="zh-CN" altLang="en-US" smtClean="0">
                <a:ea typeface="宋体" charset="-122"/>
              </a:rPr>
              <a:t>类物品，你只能进行一种操作：选择某两个相邻的格子，要求这两个格子中都有物品，然后移动到另外两个相邻的空格子中，不能改变两个格子的相对位置，要求进行最少的操作使得所有物品以</a:t>
            </a:r>
            <a:r>
              <a:rPr lang="en-US" altLang="zh-CN" smtClean="0">
                <a:ea typeface="宋体" charset="-122"/>
              </a:rPr>
              <a:t>AAA…ABBB…B(n</a:t>
            </a:r>
            <a:r>
              <a:rPr lang="zh-CN" altLang="en-US" smtClean="0">
                <a:ea typeface="宋体" charset="-122"/>
              </a:rPr>
              <a:t>个</a:t>
            </a:r>
            <a:r>
              <a:rPr lang="en-US" altLang="zh-CN" smtClean="0">
                <a:ea typeface="宋体" charset="-122"/>
              </a:rPr>
              <a:t>A</a:t>
            </a:r>
            <a:r>
              <a:rPr lang="zh-CN" altLang="en-US" smtClean="0">
                <a:ea typeface="宋体" charset="-122"/>
              </a:rPr>
              <a:t>和</a:t>
            </a:r>
            <a:r>
              <a:rPr lang="en-US" altLang="zh-CN" smtClean="0">
                <a:ea typeface="宋体" charset="-122"/>
              </a:rPr>
              <a:t>n</a:t>
            </a:r>
            <a:r>
              <a:rPr lang="zh-CN" altLang="en-US" smtClean="0">
                <a:ea typeface="宋体" charset="-122"/>
              </a:rPr>
              <a:t>个</a:t>
            </a:r>
            <a:r>
              <a:rPr lang="en-US" altLang="zh-CN" smtClean="0">
                <a:ea typeface="宋体" charset="-122"/>
              </a:rPr>
              <a:t>B)</a:t>
            </a:r>
            <a:r>
              <a:rPr lang="zh-CN" altLang="en-US" smtClean="0">
                <a:ea typeface="宋体" charset="-122"/>
              </a:rPr>
              <a:t>的形式排列在一起 </a:t>
            </a:r>
            <a:br>
              <a:rPr lang="zh-CN" altLang="en-US" smtClean="0">
                <a:ea typeface="宋体" charset="-122"/>
              </a:rPr>
            </a:br>
            <a:r>
              <a:rPr lang="zh-CN" altLang="en-US" smtClean="0">
                <a:ea typeface="宋体" charset="-122"/>
              </a:rPr>
              <a:t>输出一种可行方案 </a:t>
            </a:r>
          </a:p>
          <a:p>
            <a:r>
              <a:rPr lang="en-US" altLang="zh-CN" smtClean="0">
                <a:ea typeface="宋体" charset="-122"/>
              </a:rPr>
              <a:t>n&gt;=3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[BZOJ4072][Wf2014]baggage</a:t>
            </a:r>
            <a:endParaRPr lang="zh-CN" altLang="en-US" cap="none" smtClean="0">
              <a:ea typeface="宋体" charset="-122"/>
            </a:endParaRPr>
          </a:p>
        </p:txBody>
      </p:sp>
      <p:sp>
        <p:nvSpPr>
          <p:cNvPr id="31746" name="Rectangle 3"/>
          <p:cNvSpPr>
            <a:spLocks noGrp="1"/>
          </p:cNvSpPr>
          <p:nvPr>
            <p:ph type="body" idx="1"/>
          </p:nvPr>
        </p:nvSpPr>
        <p:spPr/>
        <p:txBody>
          <a:bodyPr/>
          <a:lstStyle/>
          <a:p>
            <a:pPr>
              <a:lnSpc>
                <a:spcPct val="70000"/>
              </a:lnSpc>
            </a:pPr>
            <a:r>
              <a:rPr lang="zh-CN" altLang="en-US" sz="1800" smtClean="0">
                <a:ea typeface="宋体" charset="-122"/>
              </a:rPr>
              <a:t>对于</a:t>
            </a:r>
            <a:r>
              <a:rPr lang="en-US" altLang="zh-CN" sz="1800" smtClean="0">
                <a:ea typeface="宋体" charset="-122"/>
              </a:rPr>
              <a:t>n=3,4,5,6,7</a:t>
            </a:r>
            <a:r>
              <a:rPr lang="zh-CN" altLang="en-US" sz="1800" smtClean="0">
                <a:ea typeface="宋体" charset="-122"/>
              </a:rPr>
              <a:t>可以写个爆搜或者直接人类智慧构造</a:t>
            </a:r>
          </a:p>
          <a:p>
            <a:pPr>
              <a:lnSpc>
                <a:spcPct val="70000"/>
              </a:lnSpc>
            </a:pPr>
            <a:r>
              <a:rPr lang="en-US" altLang="zh-CN" sz="1800" smtClean="0">
                <a:ea typeface="宋体" charset="-122"/>
              </a:rPr>
              <a:t>n=4</a:t>
            </a:r>
            <a:r>
              <a:rPr lang="zh-CN" altLang="en-US" sz="1800" smtClean="0">
                <a:ea typeface="宋体" charset="-122"/>
              </a:rPr>
              <a:t>的步骤：</a:t>
            </a:r>
          </a:p>
          <a:p>
            <a:pPr>
              <a:lnSpc>
                <a:spcPct val="70000"/>
              </a:lnSpc>
            </a:pPr>
            <a:r>
              <a:rPr lang="en-US" altLang="zh-CN" sz="1800" smtClean="0">
                <a:ea typeface="宋体" charset="-122"/>
              </a:rPr>
              <a:t>__babababa</a:t>
            </a:r>
          </a:p>
          <a:p>
            <a:pPr>
              <a:lnSpc>
                <a:spcPct val="70000"/>
              </a:lnSpc>
            </a:pPr>
            <a:r>
              <a:rPr lang="en-US" altLang="zh-CN" sz="1800" smtClean="0">
                <a:ea typeface="宋体" charset="-122"/>
              </a:rPr>
              <a:t>abbabab__a</a:t>
            </a:r>
          </a:p>
          <a:p>
            <a:pPr>
              <a:lnSpc>
                <a:spcPct val="70000"/>
              </a:lnSpc>
            </a:pPr>
            <a:r>
              <a:rPr lang="en-US" altLang="zh-CN" sz="1800" smtClean="0">
                <a:ea typeface="宋体" charset="-122"/>
              </a:rPr>
              <a:t>abba__bbaa</a:t>
            </a:r>
          </a:p>
          <a:p>
            <a:pPr>
              <a:lnSpc>
                <a:spcPct val="70000"/>
              </a:lnSpc>
            </a:pPr>
            <a:r>
              <a:rPr lang="en-US" altLang="zh-CN" sz="1800" smtClean="0">
                <a:ea typeface="宋体" charset="-122"/>
              </a:rPr>
              <a:t>a__abbbbaa</a:t>
            </a:r>
          </a:p>
          <a:p>
            <a:pPr>
              <a:lnSpc>
                <a:spcPct val="70000"/>
              </a:lnSpc>
            </a:pPr>
            <a:r>
              <a:rPr lang="en-US" altLang="zh-CN" sz="1800" smtClean="0">
                <a:ea typeface="宋体" charset="-122"/>
              </a:rPr>
              <a:t>aaaabbbb__</a:t>
            </a:r>
          </a:p>
          <a:p>
            <a:pPr>
              <a:lnSpc>
                <a:spcPct val="70000"/>
              </a:lnSpc>
            </a:pPr>
            <a:r>
              <a:rPr lang="zh-CN" altLang="en-US" sz="1800" smtClean="0">
                <a:ea typeface="宋体" charset="-122"/>
              </a:rPr>
              <a:t>从没有移动跨越中间线的字符</a:t>
            </a:r>
          </a:p>
          <a:p>
            <a:pPr>
              <a:lnSpc>
                <a:spcPct val="70000"/>
              </a:lnSpc>
            </a:pPr>
            <a:r>
              <a:rPr lang="zh-CN" altLang="en-US" sz="1800" smtClean="0">
                <a:ea typeface="宋体" charset="-122"/>
              </a:rPr>
              <a:t>观察到</a:t>
            </a:r>
            <a:r>
              <a:rPr lang="en-US" altLang="zh-CN" sz="1800" smtClean="0">
                <a:ea typeface="宋体" charset="-122"/>
              </a:rPr>
              <a:t>n=4,5,6,7</a:t>
            </a:r>
            <a:r>
              <a:rPr lang="zh-CN" altLang="en-US" sz="1800" smtClean="0">
                <a:ea typeface="宋体" charset="-122"/>
              </a:rPr>
              <a:t>最终的方案都可以左移两格，即最后的结果是</a:t>
            </a:r>
            <a:r>
              <a:rPr lang="en-US" altLang="zh-CN" sz="1800" smtClean="0">
                <a:ea typeface="宋体" charset="-122"/>
              </a:rPr>
              <a:t>aa……bb……__</a:t>
            </a:r>
            <a:r>
              <a:rPr lang="zh-CN" altLang="en-US" sz="1800" smtClean="0">
                <a:ea typeface="宋体" charset="-122"/>
              </a:rPr>
              <a:t>的形式</a:t>
            </a:r>
          </a:p>
          <a:p>
            <a:pPr>
              <a:lnSpc>
                <a:spcPct val="70000"/>
              </a:lnSpc>
            </a:pPr>
            <a:r>
              <a:rPr lang="zh-CN" altLang="en-US" sz="1800" smtClean="0">
                <a:ea typeface="宋体" charset="-122"/>
              </a:rPr>
              <a:t>现在考虑我们已经有了</a:t>
            </a:r>
            <a:r>
              <a:rPr lang="en-US" altLang="zh-CN" sz="1800" smtClean="0">
                <a:ea typeface="宋体" charset="-122"/>
              </a:rPr>
              <a:t>n</a:t>
            </a:r>
            <a:r>
              <a:rPr lang="zh-CN" altLang="en-US" sz="1800" smtClean="0">
                <a:ea typeface="宋体" charset="-122"/>
              </a:rPr>
              <a:t>的方案，如何构造</a:t>
            </a:r>
            <a:r>
              <a:rPr lang="en-US" altLang="zh-CN" sz="1800" smtClean="0">
                <a:ea typeface="宋体" charset="-122"/>
              </a:rPr>
              <a:t>n+4</a:t>
            </a:r>
            <a:r>
              <a:rPr lang="zh-CN" altLang="en-US" sz="1800" smtClean="0">
                <a:ea typeface="宋体" charset="-122"/>
              </a:rPr>
              <a:t>的方案</a:t>
            </a:r>
          </a:p>
          <a:p>
            <a:pPr>
              <a:lnSpc>
                <a:spcPct val="70000"/>
              </a:lnSpc>
            </a:pPr>
            <a:r>
              <a:rPr lang="en-US" altLang="zh-CN" sz="1800" smtClean="0">
                <a:ea typeface="宋体" charset="-122"/>
              </a:rPr>
              <a:t>__baba……baba</a:t>
            </a:r>
            <a:r>
              <a:rPr lang="zh-CN" altLang="en-US" sz="1800" smtClean="0">
                <a:ea typeface="宋体" charset="-122"/>
              </a:rPr>
              <a:t>，我们仿照</a:t>
            </a:r>
            <a:r>
              <a:rPr lang="en-US" altLang="zh-CN" sz="1800" smtClean="0">
                <a:ea typeface="宋体" charset="-122"/>
              </a:rPr>
              <a:t>n=4</a:t>
            </a:r>
            <a:r>
              <a:rPr lang="zh-CN" altLang="en-US" sz="1800" smtClean="0">
                <a:ea typeface="宋体" charset="-122"/>
              </a:rPr>
              <a:t>的步骤的前两步</a:t>
            </a:r>
            <a:endParaRPr lang="en-US" altLang="zh-CN" sz="1800" smtClean="0">
              <a:ea typeface="宋体"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[BZOJ4072][Wf2014]baggage</a:t>
            </a:r>
            <a:endParaRPr lang="zh-CN" altLang="en-US" cap="none" smtClean="0">
              <a:ea typeface="宋体" charset="-122"/>
            </a:endParaRPr>
          </a:p>
        </p:txBody>
      </p:sp>
      <p:sp>
        <p:nvSpPr>
          <p:cNvPr id="32770" name="Rectangle 3"/>
          <p:cNvSpPr>
            <a:spLocks noGrp="1"/>
          </p:cNvSpPr>
          <p:nvPr>
            <p:ph type="body" idx="1"/>
          </p:nvPr>
        </p:nvSpPr>
        <p:spPr/>
        <p:txBody>
          <a:bodyPr/>
          <a:lstStyle/>
          <a:p>
            <a:r>
              <a:rPr lang="en-US" altLang="zh-CN" smtClean="0">
                <a:ea typeface="宋体" charset="-122"/>
              </a:rPr>
              <a:t>abbaba……b__a</a:t>
            </a:r>
          </a:p>
          <a:p>
            <a:r>
              <a:rPr lang="en-US" altLang="zh-CN" smtClean="0">
                <a:ea typeface="宋体" charset="-122"/>
              </a:rPr>
              <a:t>abba__……bbaa</a:t>
            </a:r>
          </a:p>
          <a:p>
            <a:r>
              <a:rPr lang="zh-CN" altLang="en-US" smtClean="0">
                <a:ea typeface="宋体" charset="-122"/>
              </a:rPr>
              <a:t>此时即可对中间部分递归操作，然后此时</a:t>
            </a:r>
            <a:r>
              <a:rPr lang="en-US" altLang="zh-CN" smtClean="0">
                <a:ea typeface="宋体" charset="-122"/>
              </a:rPr>
              <a:t>__</a:t>
            </a:r>
            <a:r>
              <a:rPr lang="zh-CN" altLang="en-US" smtClean="0">
                <a:ea typeface="宋体" charset="-122"/>
              </a:rPr>
              <a:t>跑到了</a:t>
            </a:r>
            <a:r>
              <a:rPr lang="en-US" altLang="zh-CN" smtClean="0">
                <a:ea typeface="宋体" charset="-122"/>
              </a:rPr>
              <a:t>bbaa</a:t>
            </a:r>
            <a:r>
              <a:rPr lang="zh-CN" altLang="en-US" smtClean="0">
                <a:ea typeface="宋体" charset="-122"/>
              </a:rPr>
              <a:t>的前边，仿照后两步即可。</a:t>
            </a:r>
          </a:p>
          <a:p>
            <a:endParaRPr lang="zh-CN" altLang="en-US" smtClean="0">
              <a:ea typeface="宋体"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【AMPPZ2014】【BZOJ4148】Pillars</a:t>
            </a:r>
            <a:endParaRPr lang="zh-CN" altLang="en-US" cap="none" smtClean="0">
              <a:ea typeface="宋体" charset="-122"/>
            </a:endParaRPr>
          </a:p>
        </p:txBody>
      </p:sp>
      <p:sp>
        <p:nvSpPr>
          <p:cNvPr id="33794" name="Rectangle 3"/>
          <p:cNvSpPr>
            <a:spLocks noGrp="1"/>
          </p:cNvSpPr>
          <p:nvPr>
            <p:ph type="body" idx="1"/>
          </p:nvPr>
        </p:nvSpPr>
        <p:spPr/>
        <p:txBody>
          <a:bodyPr/>
          <a:lstStyle/>
          <a:p>
            <a:r>
              <a:rPr lang="zh-CN" altLang="en-US" smtClean="0">
                <a:ea typeface="宋体" charset="-122"/>
              </a:rPr>
              <a:t>给定一个</a:t>
            </a:r>
            <a:r>
              <a:rPr lang="en-US" altLang="zh-CN" smtClean="0">
                <a:ea typeface="宋体" charset="-122"/>
              </a:rPr>
              <a:t>n*m</a:t>
            </a:r>
            <a:r>
              <a:rPr lang="zh-CN" altLang="en-US" smtClean="0">
                <a:ea typeface="宋体" charset="-122"/>
              </a:rPr>
              <a:t>的矩形，其中有</a:t>
            </a:r>
            <a:r>
              <a:rPr lang="en-US" altLang="zh-CN" smtClean="0">
                <a:ea typeface="宋体" charset="-122"/>
              </a:rPr>
              <a:t>f</a:t>
            </a:r>
            <a:r>
              <a:rPr lang="zh-CN" altLang="en-US" smtClean="0">
                <a:ea typeface="宋体" charset="-122"/>
              </a:rPr>
              <a:t>个</a:t>
            </a:r>
            <a:r>
              <a:rPr lang="en-US" altLang="zh-CN" smtClean="0">
                <a:ea typeface="宋体" charset="-122"/>
              </a:rPr>
              <a:t>2*2</a:t>
            </a:r>
            <a:r>
              <a:rPr lang="zh-CN" altLang="en-US" smtClean="0">
                <a:ea typeface="宋体" charset="-122"/>
              </a:rPr>
              <a:t>的障碍物，其中任意两个障碍物中心之间的欧几里得距离至少为</a:t>
            </a:r>
            <a:r>
              <a:rPr lang="en-US" altLang="zh-CN" smtClean="0">
                <a:ea typeface="宋体" charset="-122"/>
              </a:rPr>
              <a:t>6</a:t>
            </a:r>
            <a:r>
              <a:rPr lang="zh-CN" altLang="en-US" smtClean="0">
                <a:ea typeface="宋体" charset="-122"/>
              </a:rPr>
              <a:t>，且每个障碍物的中心到边缘的距离至少为</a:t>
            </a:r>
            <a:r>
              <a:rPr lang="en-US" altLang="zh-CN" smtClean="0">
                <a:ea typeface="宋体" charset="-122"/>
              </a:rPr>
              <a:t>3</a:t>
            </a:r>
            <a:r>
              <a:rPr lang="zh-CN" altLang="en-US" smtClean="0">
                <a:ea typeface="宋体" charset="-122"/>
              </a:rPr>
              <a:t>。请找到一条从左下角</a:t>
            </a:r>
            <a:r>
              <a:rPr lang="en-US" altLang="zh-CN" smtClean="0">
                <a:ea typeface="宋体" charset="-122"/>
              </a:rPr>
              <a:t>(1,1)</a:t>
            </a:r>
            <a:r>
              <a:rPr lang="zh-CN" altLang="en-US" smtClean="0">
                <a:ea typeface="宋体" charset="-122"/>
              </a:rPr>
              <a:t>出发经过所有没有障碍物的点各一次的且最后回到左下角的回路。</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【AMPPZ2014】【BZOJ4148】Pillars</a:t>
            </a:r>
            <a:endParaRPr lang="zh-CN" altLang="en-US" cap="none" smtClean="0">
              <a:ea typeface="宋体" charset="-122"/>
            </a:endParaRPr>
          </a:p>
        </p:txBody>
      </p:sp>
      <p:sp>
        <p:nvSpPr>
          <p:cNvPr id="34818" name="Rectangle 3"/>
          <p:cNvSpPr>
            <a:spLocks noGrp="1"/>
          </p:cNvSpPr>
          <p:nvPr>
            <p:ph type="body" idx="1"/>
          </p:nvPr>
        </p:nvSpPr>
        <p:spPr/>
        <p:txBody>
          <a:bodyPr/>
          <a:lstStyle/>
          <a:p>
            <a:r>
              <a:rPr lang="zh-CN" altLang="en-US" smtClean="0">
                <a:ea typeface="宋体" charset="-122"/>
              </a:rPr>
              <a:t>如果没有障碍，很容易构造出方案</a:t>
            </a:r>
            <a:r>
              <a:rPr lang="en-US" altLang="zh-CN" smtClean="0">
                <a:ea typeface="宋体" charset="-122"/>
              </a:rPr>
              <a:t>——</a:t>
            </a:r>
            <a:r>
              <a:rPr lang="zh-CN" altLang="en-US" smtClean="0">
                <a:ea typeface="宋体" charset="-122"/>
              </a:rPr>
              <a:t>从左下开始，沿最左边到左上，然后</a:t>
            </a:r>
            <a:r>
              <a:rPr lang="en-US" altLang="zh-CN" smtClean="0">
                <a:ea typeface="宋体" charset="-122"/>
              </a:rPr>
              <a:t>s</a:t>
            </a:r>
            <a:r>
              <a:rPr lang="zh-CN" altLang="en-US" smtClean="0">
                <a:ea typeface="宋体" charset="-122"/>
              </a:rPr>
              <a:t>形走完右边所有点回到左下。</a:t>
            </a:r>
          </a:p>
          <a:p>
            <a:endParaRPr lang="zh-CN" altLang="en-US" smtClean="0">
              <a:ea typeface="宋体" charset="-122"/>
            </a:endParaRPr>
          </a:p>
          <a:p>
            <a:r>
              <a:rPr lang="zh-CN" altLang="en-US" smtClean="0">
                <a:ea typeface="宋体" charset="-122"/>
              </a:rPr>
              <a:t>考虑如何处理加入一个障碍。</a:t>
            </a:r>
          </a:p>
          <a:p>
            <a:endParaRPr lang="zh-CN" altLang="en-US" smtClean="0">
              <a:ea typeface="宋体" charset="-122"/>
            </a:endParaRPr>
          </a:p>
          <a:p>
            <a:r>
              <a:rPr lang="zh-CN" altLang="en-US" smtClean="0">
                <a:ea typeface="宋体" charset="-122"/>
              </a:rPr>
              <a:t>由于障碍满足的限制，每个障碍都至少在一个</a:t>
            </a:r>
            <a:r>
              <a:rPr lang="en-US" altLang="zh-CN" smtClean="0">
                <a:ea typeface="宋体" charset="-122"/>
              </a:rPr>
              <a:t>6*6</a:t>
            </a:r>
            <a:r>
              <a:rPr lang="zh-CN" altLang="en-US" smtClean="0">
                <a:ea typeface="宋体" charset="-122"/>
              </a:rPr>
              <a:t>的区域内。</a:t>
            </a:r>
          </a:p>
          <a:p>
            <a:endParaRPr lang="zh-CN" altLang="en-US" smtClean="0">
              <a:ea typeface="宋体" charset="-122"/>
            </a:endParaRPr>
          </a:p>
          <a:p>
            <a:r>
              <a:rPr lang="zh-CN" altLang="en-US" smtClean="0">
                <a:ea typeface="宋体" charset="-122"/>
              </a:rPr>
              <a:t>不妨从上到下将这个</a:t>
            </a:r>
            <a:r>
              <a:rPr lang="en-US" altLang="zh-CN" smtClean="0">
                <a:ea typeface="宋体" charset="-122"/>
              </a:rPr>
              <a:t>6*6</a:t>
            </a:r>
            <a:r>
              <a:rPr lang="zh-CN" altLang="en-US" smtClean="0">
                <a:ea typeface="宋体" charset="-122"/>
              </a:rPr>
              <a:t>区域的最左和最右方格编号为</a:t>
            </a:r>
            <a:r>
              <a:rPr lang="en-US" altLang="zh-CN" smtClean="0">
                <a:ea typeface="宋体" charset="-122"/>
              </a:rPr>
              <a:t>l1~l6</a:t>
            </a:r>
            <a:r>
              <a:rPr lang="zh-CN" altLang="en-US" smtClean="0">
                <a:ea typeface="宋体" charset="-122"/>
              </a:rPr>
              <a:t>，</a:t>
            </a:r>
            <a:r>
              <a:rPr lang="en-US" altLang="zh-CN" smtClean="0">
                <a:ea typeface="宋体" charset="-122"/>
              </a:rPr>
              <a:t>r1~r6.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【AMPPZ2014】【BZOJ4148】Pillars</a:t>
            </a:r>
            <a:endParaRPr lang="zh-CN" altLang="en-US" cap="none" smtClean="0">
              <a:ea typeface="宋体" charset="-122"/>
            </a:endParaRPr>
          </a:p>
        </p:txBody>
      </p:sp>
      <p:sp>
        <p:nvSpPr>
          <p:cNvPr id="35842" name="Rectangle 3"/>
          <p:cNvSpPr>
            <a:spLocks noGrp="1"/>
          </p:cNvSpPr>
          <p:nvPr>
            <p:ph type="body" idx="1"/>
          </p:nvPr>
        </p:nvSpPr>
        <p:spPr/>
        <p:txBody>
          <a:bodyPr/>
          <a:lstStyle/>
          <a:p>
            <a:r>
              <a:rPr lang="zh-CN" altLang="en-US" smtClean="0">
                <a:ea typeface="宋体" charset="-122"/>
              </a:rPr>
              <a:t>没有障碍时，不妨假设是从区域内</a:t>
            </a:r>
            <a:r>
              <a:rPr lang="en-US" altLang="zh-CN" smtClean="0">
                <a:ea typeface="宋体" charset="-122"/>
              </a:rPr>
              <a:t>l1-&gt;r1,</a:t>
            </a:r>
            <a:r>
              <a:rPr lang="zh-CN" altLang="en-US" smtClean="0">
                <a:ea typeface="宋体" charset="-122"/>
              </a:rPr>
              <a:t>区域外</a:t>
            </a:r>
            <a:r>
              <a:rPr lang="en-US" altLang="zh-CN" smtClean="0">
                <a:ea typeface="宋体" charset="-122"/>
              </a:rPr>
              <a:t>r1-&gt;r2...</a:t>
            </a:r>
            <a:r>
              <a:rPr lang="zh-CN" altLang="en-US" smtClean="0">
                <a:ea typeface="宋体" charset="-122"/>
              </a:rPr>
              <a:t>这样穿过这片区域。</a:t>
            </a:r>
          </a:p>
          <a:p>
            <a:endParaRPr lang="en-US" altLang="zh-CN" smtClean="0">
              <a:ea typeface="宋体" charset="-122"/>
            </a:endParaRPr>
          </a:p>
          <a:p>
            <a:r>
              <a:rPr lang="zh-CN" altLang="en-US" smtClean="0">
                <a:ea typeface="宋体" charset="-122"/>
              </a:rPr>
              <a:t>增加障碍后，</a:t>
            </a:r>
            <a:r>
              <a:rPr lang="en-US" altLang="zh-CN" smtClean="0">
                <a:ea typeface="宋体" charset="-122"/>
              </a:rPr>
              <a:t>l3-&gt;r3</a:t>
            </a:r>
            <a:r>
              <a:rPr lang="zh-CN" altLang="en-US" smtClean="0">
                <a:ea typeface="宋体" charset="-122"/>
              </a:rPr>
              <a:t>，</a:t>
            </a:r>
            <a:r>
              <a:rPr lang="en-US" altLang="zh-CN" smtClean="0">
                <a:ea typeface="宋体" charset="-122"/>
              </a:rPr>
              <a:t>r4-&gt;l4</a:t>
            </a:r>
            <a:r>
              <a:rPr lang="zh-CN" altLang="en-US" smtClean="0">
                <a:ea typeface="宋体" charset="-122"/>
              </a:rPr>
              <a:t>不可行了。</a:t>
            </a:r>
          </a:p>
          <a:p>
            <a:endParaRPr lang="zh-CN" altLang="en-US" smtClean="0">
              <a:ea typeface="宋体" charset="-122"/>
            </a:endParaRPr>
          </a:p>
          <a:p>
            <a:r>
              <a:rPr lang="zh-CN" altLang="en-US" smtClean="0">
                <a:ea typeface="宋体" charset="-122"/>
              </a:rPr>
              <a:t>可以修改为：区域内</a:t>
            </a:r>
            <a:r>
              <a:rPr lang="en-US" altLang="zh-CN" smtClean="0">
                <a:ea typeface="宋体" charset="-122"/>
              </a:rPr>
              <a:t>l3-&gt;l4,</a:t>
            </a:r>
            <a:r>
              <a:rPr lang="zh-CN" altLang="en-US" smtClean="0">
                <a:ea typeface="宋体" charset="-122"/>
              </a:rPr>
              <a:t>区域外</a:t>
            </a:r>
            <a:r>
              <a:rPr lang="en-US" altLang="zh-CN" smtClean="0">
                <a:ea typeface="宋体" charset="-122"/>
              </a:rPr>
              <a:t>l4-&gt;l5</a:t>
            </a:r>
            <a:r>
              <a:rPr lang="zh-CN" altLang="en-US" smtClean="0">
                <a:ea typeface="宋体" charset="-122"/>
              </a:rPr>
              <a:t>（不变）</a:t>
            </a:r>
            <a:r>
              <a:rPr lang="en-US" altLang="zh-CN" smtClean="0">
                <a:ea typeface="宋体" charset="-122"/>
              </a:rPr>
              <a:t>,</a:t>
            </a:r>
            <a:r>
              <a:rPr lang="zh-CN" altLang="en-US" smtClean="0">
                <a:ea typeface="宋体" charset="-122"/>
              </a:rPr>
              <a:t>区域内</a:t>
            </a:r>
            <a:r>
              <a:rPr lang="en-US" altLang="zh-CN" smtClean="0">
                <a:ea typeface="宋体" charset="-122"/>
              </a:rPr>
              <a:t>l5-&gt;r3,</a:t>
            </a:r>
            <a:r>
              <a:rPr lang="zh-CN" altLang="en-US" smtClean="0">
                <a:ea typeface="宋体" charset="-122"/>
              </a:rPr>
              <a:t>区域外</a:t>
            </a:r>
            <a:r>
              <a:rPr lang="en-US" altLang="zh-CN" smtClean="0">
                <a:ea typeface="宋体" charset="-122"/>
              </a:rPr>
              <a:t>r3-&gt;r4</a:t>
            </a:r>
            <a:r>
              <a:rPr lang="zh-CN" altLang="en-US" smtClean="0">
                <a:ea typeface="宋体" charset="-122"/>
              </a:rPr>
              <a:t>（不变），区域内</a:t>
            </a:r>
            <a:r>
              <a:rPr lang="en-US" altLang="zh-CN" smtClean="0">
                <a:ea typeface="宋体" charset="-122"/>
              </a:rPr>
              <a:t>r4-&gt;r5</a:t>
            </a:r>
            <a:r>
              <a:rPr lang="zh-CN" altLang="en-US" smtClean="0">
                <a:ea typeface="宋体" charset="-122"/>
              </a:rPr>
              <a:t>，回归正常。</a:t>
            </a:r>
          </a:p>
          <a:p>
            <a:endParaRPr lang="zh-CN" altLang="en-US" smtClean="0">
              <a:ea typeface="宋体" charset="-122"/>
            </a:endParaRPr>
          </a:p>
          <a:p>
            <a:r>
              <a:rPr lang="zh-CN" altLang="en-US" smtClean="0">
                <a:ea typeface="宋体" charset="-122"/>
              </a:rPr>
              <a:t>如果区域在最左边或者区域最开始相反，可以类似处理。</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特殊情况法</a:t>
            </a:r>
          </a:p>
        </p:txBody>
      </p:sp>
      <p:sp>
        <p:nvSpPr>
          <p:cNvPr id="36866" name="Rectangle 3"/>
          <p:cNvSpPr>
            <a:spLocks noGrp="1"/>
          </p:cNvSpPr>
          <p:nvPr>
            <p:ph type="body" idx="1"/>
          </p:nvPr>
        </p:nvSpPr>
        <p:spPr/>
        <p:txBody>
          <a:bodyPr/>
          <a:lstStyle/>
          <a:p>
            <a:r>
              <a:rPr lang="zh-CN" altLang="en-US" smtClean="0">
                <a:ea typeface="宋体" charset="-122"/>
              </a:rPr>
              <a:t>如果直接考虑所有的解是否合法比较难以判断和求解，可以只考虑其中一部分容易计算的特殊解。</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Codeforces Round #268 (Div. 1) C. Hack it! </a:t>
            </a:r>
            <a:endParaRPr lang="zh-CN" altLang="en-US" cap="none" smtClean="0">
              <a:ea typeface="宋体" charset="-122"/>
            </a:endParaRPr>
          </a:p>
        </p:txBody>
      </p:sp>
      <p:sp>
        <p:nvSpPr>
          <p:cNvPr id="37890" name="Rectangle 3"/>
          <p:cNvSpPr>
            <a:spLocks noGrp="1"/>
          </p:cNvSpPr>
          <p:nvPr>
            <p:ph type="body" idx="1"/>
          </p:nvPr>
        </p:nvSpPr>
        <p:spPr/>
        <p:txBody>
          <a:bodyPr/>
          <a:lstStyle/>
          <a:p>
            <a:r>
              <a:rPr lang="zh-CN" altLang="en-US" smtClean="0">
                <a:ea typeface="宋体" charset="-122"/>
              </a:rPr>
              <a:t>定义</a:t>
            </a:r>
            <a:r>
              <a:rPr lang="en-US" altLang="zh-CN" smtClean="0">
                <a:ea typeface="宋体" charset="-122"/>
              </a:rPr>
              <a:t>f(i)</a:t>
            </a:r>
            <a:r>
              <a:rPr lang="zh-CN" altLang="en-US" smtClean="0">
                <a:ea typeface="宋体" charset="-122"/>
              </a:rPr>
              <a:t>为</a:t>
            </a:r>
            <a:r>
              <a:rPr lang="en-US" altLang="zh-CN" smtClean="0">
                <a:ea typeface="宋体" charset="-122"/>
              </a:rPr>
              <a:t>i</a:t>
            </a:r>
            <a:r>
              <a:rPr lang="zh-CN" altLang="en-US" smtClean="0">
                <a:ea typeface="宋体" charset="-122"/>
              </a:rPr>
              <a:t>的十进制表示的各个数位之和，如</a:t>
            </a:r>
            <a:r>
              <a:rPr lang="en-US" altLang="zh-CN" smtClean="0">
                <a:ea typeface="宋体" charset="-122"/>
              </a:rPr>
              <a:t>f(11)=1+1=2,f(608)=6+0+8=14.</a:t>
            </a:r>
          </a:p>
          <a:p>
            <a:endParaRPr lang="en-US" altLang="zh-CN" smtClean="0">
              <a:ea typeface="宋体" charset="-122"/>
            </a:endParaRPr>
          </a:p>
          <a:p>
            <a:r>
              <a:rPr lang="zh-CN" altLang="en-US" smtClean="0">
                <a:ea typeface="宋体" charset="-122"/>
              </a:rPr>
              <a:t>你需要给出两个正整数</a:t>
            </a:r>
            <a:r>
              <a:rPr lang="en-US" altLang="zh-CN" smtClean="0">
                <a:ea typeface="宋体" charset="-122"/>
              </a:rPr>
              <a:t>l</a:t>
            </a:r>
            <a:r>
              <a:rPr lang="zh-CN" altLang="en-US" smtClean="0">
                <a:ea typeface="宋体" charset="-122"/>
              </a:rPr>
              <a:t>，</a:t>
            </a:r>
            <a:r>
              <a:rPr lang="en-US" altLang="zh-CN" smtClean="0">
                <a:ea typeface="宋体" charset="-122"/>
              </a:rPr>
              <a:t>r</a:t>
            </a:r>
            <a:r>
              <a:rPr lang="zh-CN" altLang="en-US" smtClean="0">
                <a:ea typeface="宋体" charset="-122"/>
              </a:rPr>
              <a:t>，满足</a:t>
            </a:r>
            <a:r>
              <a:rPr lang="en-US" altLang="zh-CN" smtClean="0">
                <a:ea typeface="宋体" charset="-122"/>
              </a:rPr>
              <a:t>l</a:t>
            </a:r>
            <a:r>
              <a:rPr lang="zh-CN" altLang="en-US" smtClean="0">
                <a:ea typeface="宋体" charset="-122"/>
              </a:rPr>
              <a:t>与</a:t>
            </a:r>
            <a:r>
              <a:rPr lang="en-US" altLang="zh-CN" smtClean="0">
                <a:ea typeface="宋体" charset="-122"/>
              </a:rPr>
              <a:t>r</a:t>
            </a:r>
            <a:r>
              <a:rPr lang="zh-CN" altLang="en-US" smtClean="0">
                <a:ea typeface="宋体" charset="-122"/>
              </a:rPr>
              <a:t>之间的正整数的</a:t>
            </a:r>
            <a:r>
              <a:rPr lang="en-US" altLang="zh-CN" smtClean="0">
                <a:ea typeface="宋体" charset="-122"/>
              </a:rPr>
              <a:t>f</a:t>
            </a:r>
            <a:r>
              <a:rPr lang="zh-CN" altLang="en-US" smtClean="0">
                <a:ea typeface="宋体" charset="-122"/>
              </a:rPr>
              <a:t>之和是</a:t>
            </a:r>
            <a:r>
              <a:rPr lang="en-US" altLang="zh-CN" smtClean="0">
                <a:ea typeface="宋体" charset="-122"/>
              </a:rPr>
              <a:t>n</a:t>
            </a:r>
            <a:r>
              <a:rPr lang="zh-CN" altLang="en-US" smtClean="0">
                <a:ea typeface="宋体" charset="-122"/>
              </a:rPr>
              <a:t>的倍数。</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Codeforces Round #268 (Div. 1) C. Hack it!</a:t>
            </a:r>
            <a:endParaRPr lang="zh-CN" altLang="en-US" cap="none" smtClean="0">
              <a:ea typeface="宋体" charset="-122"/>
            </a:endParaRPr>
          </a:p>
        </p:txBody>
      </p:sp>
      <p:sp>
        <p:nvSpPr>
          <p:cNvPr id="38914" name="Rectangle 3"/>
          <p:cNvSpPr>
            <a:spLocks noGrp="1"/>
          </p:cNvSpPr>
          <p:nvPr>
            <p:ph type="body" idx="1"/>
          </p:nvPr>
        </p:nvSpPr>
        <p:spPr/>
        <p:txBody>
          <a:bodyPr/>
          <a:lstStyle/>
          <a:p>
            <a:r>
              <a:rPr lang="zh-CN" altLang="en-US" smtClean="0">
                <a:ea typeface="宋体" charset="-122"/>
              </a:rPr>
              <a:t>考虑</a:t>
            </a:r>
            <a:r>
              <a:rPr lang="en-US" altLang="zh-CN" smtClean="0">
                <a:ea typeface="宋体" charset="-122"/>
              </a:rPr>
              <a:t>l=1</a:t>
            </a:r>
            <a:r>
              <a:rPr lang="zh-CN" altLang="en-US" smtClean="0">
                <a:ea typeface="宋体" charset="-122"/>
              </a:rPr>
              <a:t>，</a:t>
            </a:r>
            <a:r>
              <a:rPr lang="en-US" altLang="zh-CN" smtClean="0">
                <a:ea typeface="宋体" charset="-122"/>
              </a:rPr>
              <a:t>r=10^100</a:t>
            </a:r>
            <a:r>
              <a:rPr lang="zh-CN" altLang="en-US" smtClean="0">
                <a:ea typeface="宋体" charset="-122"/>
              </a:rPr>
              <a:t>，通过</a:t>
            </a:r>
            <a:r>
              <a:rPr lang="en-US" altLang="zh-CN" smtClean="0">
                <a:ea typeface="宋体" charset="-122"/>
              </a:rPr>
              <a:t>dp</a:t>
            </a:r>
            <a:r>
              <a:rPr lang="zh-CN" altLang="en-US" smtClean="0">
                <a:ea typeface="宋体" charset="-122"/>
              </a:rPr>
              <a:t>求出结果对</a:t>
            </a:r>
            <a:r>
              <a:rPr lang="en-US" altLang="zh-CN" smtClean="0">
                <a:ea typeface="宋体" charset="-122"/>
              </a:rPr>
              <a:t>n</a:t>
            </a:r>
            <a:r>
              <a:rPr lang="zh-CN" altLang="en-US" smtClean="0">
                <a:ea typeface="宋体" charset="-122"/>
              </a:rPr>
              <a:t>取模的结果</a:t>
            </a:r>
          </a:p>
          <a:p>
            <a:endParaRPr lang="zh-CN" altLang="en-US" smtClean="0">
              <a:ea typeface="宋体" charset="-122"/>
            </a:endParaRPr>
          </a:p>
          <a:p>
            <a:r>
              <a:rPr lang="zh-CN" altLang="en-US" smtClean="0">
                <a:ea typeface="宋体" charset="-122"/>
              </a:rPr>
              <a:t>如果此时</a:t>
            </a:r>
            <a:r>
              <a:rPr lang="en-US" altLang="zh-CN" smtClean="0">
                <a:ea typeface="宋体" charset="-122"/>
              </a:rPr>
              <a:t>l</a:t>
            </a:r>
            <a:r>
              <a:rPr lang="zh-CN" altLang="en-US" smtClean="0">
                <a:ea typeface="宋体" charset="-122"/>
              </a:rPr>
              <a:t>和</a:t>
            </a:r>
            <a:r>
              <a:rPr lang="en-US" altLang="zh-CN" smtClean="0">
                <a:ea typeface="宋体" charset="-122"/>
              </a:rPr>
              <a:t>r</a:t>
            </a:r>
            <a:r>
              <a:rPr lang="zh-CN" altLang="en-US" smtClean="0">
                <a:ea typeface="宋体" charset="-122"/>
              </a:rPr>
              <a:t>均加</a:t>
            </a:r>
            <a:r>
              <a:rPr lang="en-US" altLang="zh-CN" smtClean="0">
                <a:ea typeface="宋体" charset="-122"/>
              </a:rPr>
              <a:t>1</a:t>
            </a:r>
            <a:r>
              <a:rPr lang="zh-CN" altLang="en-US" smtClean="0">
                <a:ea typeface="宋体" charset="-122"/>
              </a:rPr>
              <a:t>，即</a:t>
            </a:r>
            <a:r>
              <a:rPr lang="en-US" altLang="zh-CN" smtClean="0">
                <a:ea typeface="宋体" charset="-122"/>
              </a:rPr>
              <a:t>2</a:t>
            </a:r>
            <a:r>
              <a:rPr lang="zh-CN" altLang="en-US" smtClean="0">
                <a:ea typeface="宋体" charset="-122"/>
              </a:rPr>
              <a:t>到</a:t>
            </a:r>
            <a:r>
              <a:rPr lang="en-US" altLang="zh-CN" smtClean="0">
                <a:ea typeface="宋体" charset="-122"/>
              </a:rPr>
              <a:t>10^100+1</a:t>
            </a:r>
            <a:r>
              <a:rPr lang="zh-CN" altLang="en-US" smtClean="0">
                <a:ea typeface="宋体" charset="-122"/>
              </a:rPr>
              <a:t>，你会发现此时后边位的结果全部不变，只有最高位多了一个</a:t>
            </a:r>
            <a:r>
              <a:rPr lang="en-US" altLang="zh-CN" smtClean="0">
                <a:ea typeface="宋体" charset="-122"/>
              </a:rPr>
              <a:t>1</a:t>
            </a:r>
            <a:r>
              <a:rPr lang="zh-CN" altLang="en-US" smtClean="0">
                <a:ea typeface="宋体" charset="-122"/>
              </a:rPr>
              <a:t>，即结果是上一个结果</a:t>
            </a:r>
            <a:r>
              <a:rPr lang="en-US" altLang="zh-CN" smtClean="0">
                <a:ea typeface="宋体" charset="-122"/>
              </a:rPr>
              <a:t>+1.</a:t>
            </a:r>
            <a:r>
              <a:rPr lang="zh-CN" altLang="en-US" smtClean="0">
                <a:ea typeface="宋体" charset="-122"/>
              </a:rPr>
              <a:t>如果改为</a:t>
            </a:r>
            <a:r>
              <a:rPr lang="en-US" altLang="zh-CN" smtClean="0">
                <a:ea typeface="宋体" charset="-122"/>
              </a:rPr>
              <a:t>+2</a:t>
            </a:r>
            <a:r>
              <a:rPr lang="zh-CN" altLang="en-US" smtClean="0">
                <a:ea typeface="宋体" charset="-122"/>
              </a:rPr>
              <a:t>，则多出两个最高位，结果</a:t>
            </a:r>
            <a:r>
              <a:rPr lang="en-US" altLang="zh-CN" smtClean="0">
                <a:ea typeface="宋体" charset="-122"/>
              </a:rPr>
              <a:t>+2.</a:t>
            </a:r>
            <a:r>
              <a:rPr lang="zh-CN" altLang="en-US" smtClean="0">
                <a:ea typeface="宋体" charset="-122"/>
              </a:rPr>
              <a:t>因此只要加到正好取模为</a:t>
            </a:r>
            <a:r>
              <a:rPr lang="en-US" altLang="zh-CN" smtClean="0">
                <a:ea typeface="宋体" charset="-122"/>
              </a:rPr>
              <a:t>0</a:t>
            </a:r>
            <a:r>
              <a:rPr lang="zh-CN" altLang="en-US" smtClean="0">
                <a:ea typeface="宋体" charset="-122"/>
              </a:rPr>
              <a:t>即可。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UOJ #216. 【UNR #1】Jakarta Skyscrapers</a:t>
            </a:r>
          </a:p>
        </p:txBody>
      </p:sp>
      <p:sp>
        <p:nvSpPr>
          <p:cNvPr id="39938" name="Rectangle 3"/>
          <p:cNvSpPr>
            <a:spLocks noGrp="1"/>
          </p:cNvSpPr>
          <p:nvPr>
            <p:ph type="body" idx="1"/>
          </p:nvPr>
        </p:nvSpPr>
        <p:spPr/>
        <p:txBody>
          <a:bodyPr/>
          <a:lstStyle/>
          <a:p>
            <a:r>
              <a:rPr lang="zh-CN" altLang="en-US" smtClean="0">
                <a:ea typeface="宋体" charset="-122"/>
              </a:rPr>
              <a:t>有一个数集，最初其中只有</a:t>
            </a:r>
            <a:r>
              <a:rPr lang="en-US" altLang="zh-CN" smtClean="0">
                <a:ea typeface="宋体" charset="-122"/>
              </a:rPr>
              <a:t>a</a:t>
            </a:r>
            <a:r>
              <a:rPr lang="zh-CN" altLang="en-US" smtClean="0">
                <a:ea typeface="宋体" charset="-122"/>
              </a:rPr>
              <a:t>和</a:t>
            </a:r>
            <a:r>
              <a:rPr lang="en-US" altLang="zh-CN" smtClean="0">
                <a:ea typeface="宋体" charset="-122"/>
              </a:rPr>
              <a:t>b</a:t>
            </a:r>
            <a:r>
              <a:rPr lang="zh-CN" altLang="en-US" smtClean="0">
                <a:ea typeface="宋体" charset="-122"/>
              </a:rPr>
              <a:t>，你可以进行最多</a:t>
            </a:r>
            <a:r>
              <a:rPr lang="en-US" altLang="zh-CN" smtClean="0">
                <a:ea typeface="宋体" charset="-122"/>
              </a:rPr>
              <a:t>400</a:t>
            </a:r>
            <a:r>
              <a:rPr lang="zh-CN" altLang="en-US" smtClean="0">
                <a:ea typeface="宋体" charset="-122"/>
              </a:rPr>
              <a:t>次操作，每次选择集合中满足</a:t>
            </a:r>
            <a:r>
              <a:rPr lang="en-US" altLang="zh-CN" smtClean="0">
                <a:ea typeface="宋体" charset="-122"/>
              </a:rPr>
              <a:t>i&gt;j</a:t>
            </a:r>
            <a:r>
              <a:rPr lang="zh-CN" altLang="en-US" smtClean="0">
                <a:ea typeface="宋体" charset="-122"/>
              </a:rPr>
              <a:t>的</a:t>
            </a:r>
            <a:r>
              <a:rPr lang="en-US" altLang="zh-CN" smtClean="0">
                <a:ea typeface="宋体" charset="-122"/>
              </a:rPr>
              <a:t>i</a:t>
            </a:r>
            <a:r>
              <a:rPr lang="zh-CN" altLang="en-US" smtClean="0">
                <a:ea typeface="宋体" charset="-122"/>
              </a:rPr>
              <a:t>和</a:t>
            </a:r>
            <a:r>
              <a:rPr lang="en-US" altLang="zh-CN" smtClean="0">
                <a:ea typeface="宋体" charset="-122"/>
              </a:rPr>
              <a:t>j</a:t>
            </a:r>
            <a:r>
              <a:rPr lang="zh-CN" altLang="en-US" smtClean="0">
                <a:ea typeface="宋体" charset="-122"/>
              </a:rPr>
              <a:t>，把</a:t>
            </a:r>
            <a:r>
              <a:rPr lang="en-US" altLang="zh-CN" smtClean="0">
                <a:ea typeface="宋体" charset="-122"/>
              </a:rPr>
              <a:t>i-j</a:t>
            </a:r>
            <a:r>
              <a:rPr lang="zh-CN" altLang="en-US" smtClean="0">
                <a:ea typeface="宋体" charset="-122"/>
              </a:rPr>
              <a:t>加入集合中，使得</a:t>
            </a:r>
            <a:r>
              <a:rPr lang="en-US" altLang="zh-CN" smtClean="0">
                <a:ea typeface="宋体" charset="-122"/>
              </a:rPr>
              <a:t>c</a:t>
            </a:r>
            <a:r>
              <a:rPr lang="zh-CN" altLang="en-US" smtClean="0">
                <a:ea typeface="宋体" charset="-122"/>
              </a:rPr>
              <a:t>在这个集合中。</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UOJ #216. 【UNR #1】Jakarta Skyscrapers</a:t>
            </a:r>
            <a:endParaRPr lang="zh-CN" altLang="en-US" cap="none" smtClean="0">
              <a:ea typeface="宋体" charset="-122"/>
            </a:endParaRPr>
          </a:p>
        </p:txBody>
      </p:sp>
      <p:sp>
        <p:nvSpPr>
          <p:cNvPr id="40962" name="Rectangle 3"/>
          <p:cNvSpPr>
            <a:spLocks noGrp="1"/>
          </p:cNvSpPr>
          <p:nvPr>
            <p:ph type="body" idx="1"/>
          </p:nvPr>
        </p:nvSpPr>
        <p:spPr/>
        <p:txBody>
          <a:bodyPr/>
          <a:lstStyle/>
          <a:p>
            <a:r>
              <a:rPr lang="zh-CN" altLang="en-US" smtClean="0">
                <a:ea typeface="宋体" charset="-122"/>
              </a:rPr>
              <a:t>可行的操作数非常多，考虑一种特殊的步骤</a:t>
            </a:r>
          </a:p>
          <a:p>
            <a:r>
              <a:rPr lang="zh-CN" altLang="en-US" smtClean="0">
                <a:ea typeface="宋体" charset="-122"/>
              </a:rPr>
              <a:t>考虑使用减法实现其他运算</a:t>
            </a:r>
          </a:p>
          <a:p>
            <a:r>
              <a:rPr lang="en-US" altLang="zh-CN" smtClean="0">
                <a:ea typeface="宋体" charset="-122"/>
              </a:rPr>
              <a:t>a-(a-b-c)=b+c</a:t>
            </a:r>
          </a:p>
          <a:p>
            <a:r>
              <a:rPr lang="zh-CN" altLang="en-US" smtClean="0">
                <a:ea typeface="宋体" charset="-122"/>
              </a:rPr>
              <a:t>实现了加法</a:t>
            </a:r>
            <a:endParaRPr lang="en-US" altLang="zh-CN" smtClean="0">
              <a:ea typeface="宋体" charset="-122"/>
            </a:endParaRPr>
          </a:p>
          <a:p>
            <a:r>
              <a:rPr lang="en-US" altLang="zh-CN" smtClean="0">
                <a:ea typeface="宋体" charset="-122"/>
              </a:rPr>
              <a:t>a-(a-b-b)=2b</a:t>
            </a:r>
          </a:p>
          <a:p>
            <a:r>
              <a:rPr lang="zh-CN" altLang="en-US" smtClean="0">
                <a:ea typeface="宋体" charset="-122"/>
              </a:rPr>
              <a:t>实现了*</a:t>
            </a:r>
            <a:r>
              <a:rPr lang="en-US" altLang="zh-CN" smtClean="0">
                <a:ea typeface="宋体" charset="-122"/>
              </a:rPr>
              <a:t>2</a:t>
            </a:r>
          </a:p>
          <a:p>
            <a:r>
              <a:rPr lang="zh-CN" altLang="en-US" smtClean="0">
                <a:ea typeface="宋体" charset="-122"/>
              </a:rPr>
              <a:t>如此即可类似倍增方法实现任意倍数，进而实现除法取模</a:t>
            </a:r>
          </a:p>
          <a:p>
            <a:r>
              <a:rPr lang="zh-CN" altLang="en-US" smtClean="0">
                <a:ea typeface="宋体" charset="-122"/>
              </a:rPr>
              <a:t>类似</a:t>
            </a:r>
            <a:r>
              <a:rPr lang="en-US" altLang="zh-CN" smtClean="0">
                <a:ea typeface="宋体" charset="-122"/>
              </a:rPr>
              <a:t>gcd</a:t>
            </a:r>
            <a:r>
              <a:rPr lang="zh-CN" altLang="en-US" smtClean="0">
                <a:ea typeface="宋体" charset="-122"/>
              </a:rPr>
              <a:t>得到</a:t>
            </a:r>
            <a:r>
              <a:rPr lang="en-US" altLang="zh-CN" smtClean="0">
                <a:ea typeface="宋体" charset="-122"/>
              </a:rPr>
              <a:t>1</a:t>
            </a:r>
            <a:r>
              <a:rPr lang="zh-CN" altLang="en-US" smtClean="0">
                <a:ea typeface="宋体" charset="-122"/>
              </a:rPr>
              <a:t>，再使用倍增得到</a:t>
            </a:r>
            <a:r>
              <a:rPr lang="en-US" altLang="zh-CN" smtClean="0">
                <a:ea typeface="宋体" charset="-122"/>
              </a:rPr>
              <a:t>c</a:t>
            </a:r>
            <a:r>
              <a:rPr lang="zh-CN" altLang="en-US" smtClean="0">
                <a:ea typeface="宋体" charset="-122"/>
              </a:rPr>
              <a:t>即可</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p:nvPr>
        </p:nvSpPr>
        <p:spPr bwMode="auto"/>
        <p:txBody>
          <a:bodyPr wrap="square" numCol="1" anchorCtr="0" compatLnSpc="1">
            <a:prstTxWarp prst="textNoShape">
              <a:avLst/>
            </a:prstTxWarp>
          </a:bodyPr>
          <a:lstStyle/>
          <a:p>
            <a:r>
              <a:rPr lang="zh-CN" altLang="en-US" cap="none" smtClean="0">
                <a:ea typeface="宋体" charset="-122"/>
              </a:rPr>
              <a:t>随机法</a:t>
            </a:r>
          </a:p>
        </p:txBody>
      </p:sp>
      <p:sp>
        <p:nvSpPr>
          <p:cNvPr id="41986" name="Rectangle 3"/>
          <p:cNvSpPr>
            <a:spLocks noGrp="1"/>
          </p:cNvSpPr>
          <p:nvPr>
            <p:ph type="body" idx="1"/>
          </p:nvPr>
        </p:nvSpPr>
        <p:spPr/>
        <p:txBody>
          <a:bodyPr/>
          <a:lstStyle/>
          <a:p>
            <a:r>
              <a:rPr lang="zh-CN" altLang="en-US" smtClean="0">
                <a:ea typeface="宋体" charset="-122"/>
              </a:rPr>
              <a:t>如果结果可以通过一些比较小的情况进行合并，可以通过随机大量较小的解并使用</a:t>
            </a:r>
            <a:r>
              <a:rPr lang="en-US" altLang="zh-CN" smtClean="0">
                <a:ea typeface="宋体" charset="-122"/>
              </a:rPr>
              <a:t>mitm</a:t>
            </a:r>
            <a:r>
              <a:rPr lang="zh-CN" altLang="en-US" smtClean="0">
                <a:ea typeface="宋体" charset="-122"/>
              </a:rPr>
              <a:t>进行求解。</a:t>
            </a:r>
          </a:p>
          <a:p>
            <a:endParaRPr lang="zh-CN" altLang="en-US" smtClean="0">
              <a:ea typeface="宋体" charset="-122"/>
            </a:endParaRPr>
          </a:p>
          <a:p>
            <a:r>
              <a:rPr lang="zh-CN" altLang="en-US" smtClean="0">
                <a:ea typeface="宋体" charset="-122"/>
              </a:rPr>
              <a:t>有些题目解数量很多，可以通过随机解并进行判断，或随机解中的一部分，其余部分再枚举或计算的方法降低复杂度。</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UOJ #121. 【NOI2013】</a:t>
            </a:r>
            <a:r>
              <a:rPr lang="zh-CN" altLang="en-US" cap="none" smtClean="0">
                <a:ea typeface="宋体" charset="-122"/>
              </a:rPr>
              <a:t>向量内积</a:t>
            </a:r>
            <a:endParaRPr lang="en-US" altLang="zh-CN" cap="none" smtClean="0">
              <a:ea typeface="宋体" charset="-122"/>
            </a:endParaRPr>
          </a:p>
        </p:txBody>
      </p:sp>
      <p:sp>
        <p:nvSpPr>
          <p:cNvPr id="43010" name="Rectangle 3"/>
          <p:cNvSpPr>
            <a:spLocks noGrp="1"/>
          </p:cNvSpPr>
          <p:nvPr>
            <p:ph type="body" idx="1"/>
          </p:nvPr>
        </p:nvSpPr>
        <p:spPr/>
        <p:txBody>
          <a:bodyPr/>
          <a:lstStyle/>
          <a:p>
            <a:r>
              <a:rPr lang="zh-CN" altLang="en-US" smtClean="0">
                <a:ea typeface="宋体" charset="-122"/>
              </a:rPr>
              <a:t>判断一组</a:t>
            </a:r>
            <a:r>
              <a:rPr lang="en-US" altLang="zh-CN" smtClean="0">
                <a:ea typeface="宋体" charset="-122"/>
              </a:rPr>
              <a:t>d</a:t>
            </a:r>
            <a:r>
              <a:rPr lang="zh-CN" altLang="en-US" smtClean="0">
                <a:ea typeface="宋体" charset="-122"/>
              </a:rPr>
              <a:t>维向量中是否有两个向量的内积是</a:t>
            </a:r>
            <a:r>
              <a:rPr lang="en-US" altLang="zh-CN" smtClean="0">
                <a:ea typeface="宋体" charset="-122"/>
              </a:rPr>
              <a:t>2</a:t>
            </a:r>
            <a:r>
              <a:rPr lang="zh-CN" altLang="en-US" smtClean="0">
                <a:ea typeface="宋体" charset="-122"/>
              </a:rPr>
              <a:t>或</a:t>
            </a:r>
            <a:r>
              <a:rPr lang="en-US" altLang="zh-CN" smtClean="0">
                <a:ea typeface="宋体" charset="-122"/>
              </a:rPr>
              <a:t>3</a:t>
            </a:r>
            <a:r>
              <a:rPr lang="zh-CN" altLang="en-US" smtClean="0">
                <a:ea typeface="宋体" charset="-122"/>
              </a:rPr>
              <a:t>的倍数。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UOJ #121. 【NOI2013】</a:t>
            </a:r>
            <a:r>
              <a:rPr lang="zh-CN" altLang="en-US" cap="none" smtClean="0">
                <a:ea typeface="宋体" charset="-122"/>
              </a:rPr>
              <a:t>向量内积</a:t>
            </a:r>
          </a:p>
        </p:txBody>
      </p:sp>
      <p:sp>
        <p:nvSpPr>
          <p:cNvPr id="44034" name="Rectangle 3"/>
          <p:cNvSpPr>
            <a:spLocks noGrp="1"/>
          </p:cNvSpPr>
          <p:nvPr>
            <p:ph type="body" idx="1"/>
          </p:nvPr>
        </p:nvSpPr>
        <p:spPr/>
        <p:txBody>
          <a:bodyPr/>
          <a:lstStyle/>
          <a:p>
            <a:r>
              <a:rPr lang="en-US" altLang="zh-CN" smtClean="0">
                <a:ea typeface="宋体" charset="-122"/>
              </a:rPr>
              <a:t>n</a:t>
            </a:r>
            <a:r>
              <a:rPr lang="zh-CN" altLang="en-US" smtClean="0">
                <a:ea typeface="宋体" charset="-122"/>
              </a:rPr>
              <a:t>个向量两两内积，即是</a:t>
            </a:r>
            <a:r>
              <a:rPr lang="en-US" altLang="zh-CN" smtClean="0">
                <a:ea typeface="宋体" charset="-122"/>
              </a:rPr>
              <a:t>n*d</a:t>
            </a:r>
            <a:r>
              <a:rPr lang="zh-CN" altLang="en-US" smtClean="0">
                <a:ea typeface="宋体" charset="-122"/>
              </a:rPr>
              <a:t>的矩阵与</a:t>
            </a:r>
            <a:r>
              <a:rPr lang="en-US" altLang="zh-CN" smtClean="0">
                <a:ea typeface="宋体" charset="-122"/>
              </a:rPr>
              <a:t>d*n</a:t>
            </a:r>
            <a:r>
              <a:rPr lang="zh-CN" altLang="en-US" smtClean="0">
                <a:ea typeface="宋体" charset="-122"/>
              </a:rPr>
              <a:t>的矩阵相乘后得到的结果的每个元素。对于模</a:t>
            </a:r>
            <a:r>
              <a:rPr lang="en-US" altLang="zh-CN" smtClean="0">
                <a:ea typeface="宋体" charset="-122"/>
              </a:rPr>
              <a:t>2</a:t>
            </a:r>
            <a:r>
              <a:rPr lang="zh-CN" altLang="en-US" smtClean="0">
                <a:ea typeface="宋体" charset="-122"/>
              </a:rPr>
              <a:t>的情况，如果结果全是</a:t>
            </a:r>
            <a:r>
              <a:rPr lang="en-US" altLang="zh-CN" smtClean="0">
                <a:ea typeface="宋体" charset="-122"/>
              </a:rPr>
              <a:t>1</a:t>
            </a:r>
            <a:r>
              <a:rPr lang="zh-CN" altLang="en-US" smtClean="0">
                <a:ea typeface="宋体" charset="-122"/>
              </a:rPr>
              <a:t>则不存在；结果存在</a:t>
            </a:r>
            <a:r>
              <a:rPr lang="en-US" altLang="zh-CN" smtClean="0">
                <a:ea typeface="宋体" charset="-122"/>
              </a:rPr>
              <a:t>0</a:t>
            </a:r>
            <a:r>
              <a:rPr lang="zh-CN" altLang="en-US" smtClean="0">
                <a:ea typeface="宋体" charset="-122"/>
              </a:rPr>
              <a:t>则存在。</a:t>
            </a:r>
          </a:p>
          <a:p>
            <a:endParaRPr lang="zh-CN" altLang="en-US" smtClean="0">
              <a:ea typeface="宋体" charset="-122"/>
            </a:endParaRPr>
          </a:p>
          <a:p>
            <a:r>
              <a:rPr lang="zh-CN" altLang="en-US" smtClean="0">
                <a:ea typeface="宋体" charset="-122"/>
              </a:rPr>
              <a:t>降低判断两个矩阵乘法是否等于另一个矩阵的复杂度是一个经典问题：多次左乘一个随机向量，如果结果不同，矩乘结果肯定不同；如果多次均相同则认为矩乘结果相同。</a:t>
            </a:r>
          </a:p>
          <a:p>
            <a:endParaRPr lang="zh-CN" altLang="en-US" smtClean="0">
              <a:ea typeface="宋体" charset="-122"/>
            </a:endParaRPr>
          </a:p>
          <a:p>
            <a:r>
              <a:rPr lang="zh-CN" altLang="en-US" smtClean="0">
                <a:ea typeface="宋体" charset="-122"/>
              </a:rPr>
              <a:t>对于模</a:t>
            </a:r>
            <a:r>
              <a:rPr lang="en-US" altLang="zh-CN" smtClean="0">
                <a:ea typeface="宋体" charset="-122"/>
              </a:rPr>
              <a:t>3</a:t>
            </a:r>
            <a:r>
              <a:rPr lang="zh-CN" altLang="en-US" smtClean="0">
                <a:ea typeface="宋体" charset="-122"/>
              </a:rPr>
              <a:t>的情况，考虑使用平方将</a:t>
            </a:r>
            <a:r>
              <a:rPr lang="en-US" altLang="zh-CN" smtClean="0">
                <a:ea typeface="宋体" charset="-122"/>
              </a:rPr>
              <a:t>2</a:t>
            </a:r>
            <a:r>
              <a:rPr lang="zh-CN" altLang="en-US" smtClean="0">
                <a:ea typeface="宋体" charset="-122"/>
              </a:rPr>
              <a:t>或</a:t>
            </a:r>
            <a:r>
              <a:rPr lang="en-US" altLang="zh-CN" smtClean="0">
                <a:ea typeface="宋体" charset="-122"/>
              </a:rPr>
              <a:t>1</a:t>
            </a:r>
            <a:r>
              <a:rPr lang="zh-CN" altLang="en-US" smtClean="0">
                <a:ea typeface="宋体" charset="-122"/>
              </a:rPr>
              <a:t>均转化为</a:t>
            </a:r>
            <a:r>
              <a:rPr lang="en-US" altLang="zh-CN" smtClean="0">
                <a:ea typeface="宋体" charset="-122"/>
              </a:rPr>
              <a:t>1</a:t>
            </a:r>
            <a:r>
              <a:rPr lang="zh-CN" altLang="en-US" smtClean="0">
                <a:ea typeface="宋体" charset="-122"/>
              </a:rPr>
              <a:t>即可</a:t>
            </a:r>
            <a:r>
              <a:rPr lang="en-US" altLang="zh-CN" smtClean="0">
                <a:ea typeface="宋体"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UOJ #75. 【UR #6】</a:t>
            </a:r>
            <a:r>
              <a:rPr lang="zh-CN" altLang="en-US" cap="none" smtClean="0">
                <a:ea typeface="宋体" charset="-122"/>
              </a:rPr>
              <a:t>智商锁</a:t>
            </a:r>
          </a:p>
        </p:txBody>
      </p:sp>
      <p:sp>
        <p:nvSpPr>
          <p:cNvPr id="45058" name="Rectangle 3"/>
          <p:cNvSpPr>
            <a:spLocks noGrp="1"/>
          </p:cNvSpPr>
          <p:nvPr>
            <p:ph type="body" idx="1"/>
          </p:nvPr>
        </p:nvSpPr>
        <p:spPr/>
        <p:txBody>
          <a:bodyPr/>
          <a:lstStyle/>
          <a:p>
            <a:r>
              <a:rPr lang="zh-CN" altLang="en-US" smtClean="0">
                <a:ea typeface="宋体" charset="-122"/>
              </a:rPr>
              <a:t>构造一个节点数不超过</a:t>
            </a:r>
            <a:r>
              <a:rPr lang="en-US" altLang="zh-CN" smtClean="0">
                <a:ea typeface="宋体" charset="-122"/>
              </a:rPr>
              <a:t>100</a:t>
            </a:r>
            <a:r>
              <a:rPr lang="zh-CN" altLang="en-US" smtClean="0">
                <a:ea typeface="宋体" charset="-122"/>
              </a:rPr>
              <a:t>的无向图，使其生成树个数对</a:t>
            </a:r>
            <a:r>
              <a:rPr lang="en-US" altLang="zh-CN" smtClean="0">
                <a:ea typeface="宋体" charset="-122"/>
              </a:rPr>
              <a:t>998244353</a:t>
            </a:r>
            <a:r>
              <a:rPr lang="zh-CN" altLang="en-US" smtClean="0">
                <a:ea typeface="宋体" charset="-122"/>
              </a:rPr>
              <a:t>取模的结果为</a:t>
            </a:r>
            <a:r>
              <a:rPr lang="en-US" altLang="zh-CN" smtClean="0">
                <a:ea typeface="宋体" charset="-122"/>
              </a:rPr>
              <a:t>k</a:t>
            </a:r>
            <a:r>
              <a:rPr lang="zh-CN" altLang="en-US" smtClean="0">
                <a:ea typeface="宋体" charset="-122"/>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p:nvPr>
        </p:nvSpPr>
        <p:spPr bwMode="auto"/>
        <p:txBody>
          <a:bodyPr wrap="square" numCol="1" anchorCtr="0" compatLnSpc="1">
            <a:prstTxWarp prst="textNoShape">
              <a:avLst/>
            </a:prstTxWarp>
          </a:bodyPr>
          <a:lstStyle/>
          <a:p>
            <a:r>
              <a:rPr lang="en-US" altLang="zh-CN" cap="none" smtClean="0">
                <a:ea typeface="宋体" charset="-122"/>
              </a:rPr>
              <a:t>UOJ #75. 【UR #6】</a:t>
            </a:r>
            <a:r>
              <a:rPr lang="zh-CN" altLang="en-US" cap="none" smtClean="0">
                <a:ea typeface="宋体" charset="-122"/>
              </a:rPr>
              <a:t>智商锁</a:t>
            </a:r>
          </a:p>
        </p:txBody>
      </p:sp>
      <p:sp>
        <p:nvSpPr>
          <p:cNvPr id="46082" name="Rectangle 3"/>
          <p:cNvSpPr>
            <a:spLocks noGrp="1"/>
          </p:cNvSpPr>
          <p:nvPr>
            <p:ph type="body" idx="1"/>
          </p:nvPr>
        </p:nvSpPr>
        <p:spPr/>
        <p:txBody>
          <a:bodyPr/>
          <a:lstStyle/>
          <a:p>
            <a:r>
              <a:rPr lang="en-US" altLang="zh-CN" smtClean="0">
                <a:ea typeface="宋体" charset="-122"/>
              </a:rPr>
              <a:t>k=0</a:t>
            </a:r>
            <a:r>
              <a:rPr lang="zh-CN" altLang="en-US" smtClean="0">
                <a:ea typeface="宋体" charset="-122"/>
              </a:rPr>
              <a:t>直接不连通图即可。</a:t>
            </a:r>
          </a:p>
          <a:p>
            <a:r>
              <a:rPr lang="zh-CN" altLang="en-US" smtClean="0">
                <a:ea typeface="宋体" charset="-122"/>
              </a:rPr>
              <a:t>如果两个图只用一个公共点相连形成，则其生成树个数为原来两图相乘。</a:t>
            </a:r>
          </a:p>
          <a:p>
            <a:r>
              <a:rPr lang="zh-CN" altLang="en-US" smtClean="0">
                <a:ea typeface="宋体" charset="-122"/>
              </a:rPr>
              <a:t>对于其他情况，随机生成</a:t>
            </a:r>
            <a:r>
              <a:rPr lang="en-US" altLang="zh-CN" smtClean="0">
                <a:ea typeface="宋体" charset="-122"/>
              </a:rPr>
              <a:t>1000</a:t>
            </a:r>
            <a:r>
              <a:rPr lang="zh-CN" altLang="en-US" smtClean="0">
                <a:ea typeface="宋体" charset="-122"/>
              </a:rPr>
              <a:t>个连通图并计算其生成树个数，然后拼凑成</a:t>
            </a:r>
            <a:r>
              <a:rPr lang="en-US" altLang="zh-CN" smtClean="0">
                <a:ea typeface="宋体" charset="-122"/>
              </a:rPr>
              <a:t>10^6</a:t>
            </a:r>
            <a:r>
              <a:rPr lang="zh-CN" altLang="en-US" smtClean="0">
                <a:ea typeface="宋体" charset="-122"/>
              </a:rPr>
              <a:t>个图，枚举这其中每个图，寻找其逆元乘</a:t>
            </a:r>
            <a:r>
              <a:rPr lang="en-US" altLang="zh-CN" smtClean="0">
                <a:ea typeface="宋体" charset="-122"/>
              </a:rPr>
              <a:t>k</a:t>
            </a:r>
            <a:r>
              <a:rPr lang="zh-CN" altLang="en-US" smtClean="0">
                <a:ea typeface="宋体" charset="-122"/>
              </a:rPr>
              <a:t>是否存在即可。</a:t>
            </a:r>
          </a:p>
          <a:p>
            <a:r>
              <a:rPr lang="zh-CN" altLang="en-US" smtClean="0">
                <a:ea typeface="宋体" charset="-122"/>
              </a:rPr>
              <a:t>这样等同于枚举了</a:t>
            </a:r>
            <a:r>
              <a:rPr lang="en-US" altLang="zh-CN" smtClean="0">
                <a:ea typeface="宋体" charset="-122"/>
              </a:rPr>
              <a:t>10^12</a:t>
            </a:r>
            <a:r>
              <a:rPr lang="zh-CN" altLang="en-US" smtClean="0">
                <a:ea typeface="宋体" charset="-122"/>
              </a:rPr>
              <a:t>种情况</a:t>
            </a:r>
            <a:r>
              <a:rPr lang="en-US" altLang="zh-CN" smtClean="0">
                <a:ea typeface="宋体" charset="-122"/>
              </a:rPr>
              <a:t>,</a:t>
            </a:r>
            <a:r>
              <a:rPr lang="zh-CN" altLang="en-US" smtClean="0">
                <a:ea typeface="宋体" charset="-122"/>
              </a:rPr>
              <a:t>基本不可能遗漏不到</a:t>
            </a:r>
            <a:r>
              <a:rPr lang="en-US" altLang="zh-CN" smtClean="0">
                <a:ea typeface="宋体" charset="-122"/>
              </a:rPr>
              <a:t>10^9</a:t>
            </a:r>
            <a:r>
              <a:rPr lang="zh-CN" altLang="en-US" smtClean="0">
                <a:ea typeface="宋体" charset="-122"/>
              </a:rPr>
              <a:t>个</a:t>
            </a:r>
            <a:r>
              <a:rPr lang="en-US" altLang="zh-CN" smtClean="0">
                <a:ea typeface="宋体" charset="-122"/>
              </a:rPr>
              <a:t>k</a:t>
            </a:r>
            <a:r>
              <a:rPr lang="zh-CN" altLang="en-US" smtClean="0">
                <a:ea typeface="宋体" charset="-122"/>
              </a:rPr>
              <a: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带状">
  <a:themeElements>
    <a:clrScheme name="带状">
      <a:dk1>
        <a:srgbClr val="2C2C2C"/>
      </a:dk1>
      <a:lt1>
        <a:srgbClr val="FFFFFF"/>
      </a:lt1>
      <a:dk2>
        <a:srgbClr val="F56617"/>
      </a:dk2>
      <a:lt2>
        <a:srgbClr val="DDDDDD"/>
      </a:lt2>
      <a:accent1>
        <a:srgbClr val="FFC000"/>
      </a:accent1>
      <a:accent2>
        <a:srgbClr val="BD582C"/>
      </a:accent2>
      <a:accent3>
        <a:srgbClr val="865640"/>
      </a:accent3>
      <a:accent4>
        <a:srgbClr val="9B8357"/>
      </a:accent4>
      <a:accent5>
        <a:srgbClr val="C2BC80"/>
      </a:accent5>
      <a:accent6>
        <a:srgbClr val="94A080"/>
      </a:accent6>
      <a:hlink>
        <a:srgbClr val="FF9933"/>
      </a:hlink>
      <a:folHlink>
        <a:srgbClr val="6C606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带状">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 xmlns:thm15="http://schemas.microsoft.com/office/thememl/2012/main" name="Banded" id="{98DFF888-2449-4D28-977C-6306C017633E}" vid="{B7CF026C-957E-4F4E-893C-D02C23AB6317}"/>
    </a:ext>
  </a:extLst>
</a:theme>
</file>

<file path=ppt/theme/themeOverride1.xml><?xml version="1.0" encoding="utf-8"?>
<a:themeOverride xmlns:a="http://schemas.openxmlformats.org/drawingml/2006/main">
  <a:clrScheme name="带状">
    <a:dk1>
      <a:srgbClr val="2C2C2C"/>
    </a:dk1>
    <a:lt1>
      <a:srgbClr val="FFFFFF"/>
    </a:lt1>
    <a:dk2>
      <a:srgbClr val="F56617"/>
    </a:dk2>
    <a:lt2>
      <a:srgbClr val="DDDDDD"/>
    </a:lt2>
    <a:accent1>
      <a:srgbClr val="FFC000"/>
    </a:accent1>
    <a:accent2>
      <a:srgbClr val="BD582C"/>
    </a:accent2>
    <a:accent3>
      <a:srgbClr val="865640"/>
    </a:accent3>
    <a:accent4>
      <a:srgbClr val="9B8357"/>
    </a:accent4>
    <a:accent5>
      <a:srgbClr val="C2BC80"/>
    </a:accent5>
    <a:accent6>
      <a:srgbClr val="94A080"/>
    </a:accent6>
    <a:hlink>
      <a:srgbClr val="FF9933"/>
    </a:hlink>
    <a:folHlink>
      <a:srgbClr val="6C606A"/>
    </a:folHlink>
  </a:clrScheme>
</a:themeOverride>
</file>

<file path=ppt/theme/themeOverride2.xml><?xml version="1.0" encoding="utf-8"?>
<a:themeOverride xmlns:a="http://schemas.openxmlformats.org/drawingml/2006/main">
  <a:clrScheme name="带状">
    <a:dk1>
      <a:srgbClr val="2C2C2C"/>
    </a:dk1>
    <a:lt1>
      <a:srgbClr val="FFFFFF"/>
    </a:lt1>
    <a:dk2>
      <a:srgbClr val="F56617"/>
    </a:dk2>
    <a:lt2>
      <a:srgbClr val="DDDDDD"/>
    </a:lt2>
    <a:accent1>
      <a:srgbClr val="FFC000"/>
    </a:accent1>
    <a:accent2>
      <a:srgbClr val="BD582C"/>
    </a:accent2>
    <a:accent3>
      <a:srgbClr val="865640"/>
    </a:accent3>
    <a:accent4>
      <a:srgbClr val="9B8357"/>
    </a:accent4>
    <a:accent5>
      <a:srgbClr val="C2BC80"/>
    </a:accent5>
    <a:accent6>
      <a:srgbClr val="94A080"/>
    </a:accent6>
    <a:hlink>
      <a:srgbClr val="FF9933"/>
    </a:hlink>
    <a:folHlink>
      <a:srgbClr val="6C606A"/>
    </a:folHlink>
  </a:clrScheme>
</a:themeOverride>
</file>

<file path=docProps/app.xml><?xml version="1.0" encoding="utf-8"?>
<Properties xmlns="http://schemas.openxmlformats.org/officeDocument/2006/extended-properties" xmlns:vt="http://schemas.openxmlformats.org/officeDocument/2006/docPropsVTypes">
  <Template>镶边</Template>
  <TotalTime>4151</TotalTime>
  <Words>2922</Words>
  <Application>Microsoft Office PowerPoint</Application>
  <PresentationFormat>自定义</PresentationFormat>
  <Paragraphs>150</Paragraphs>
  <Slides>32</Slides>
  <Notes>0</Notes>
  <HiddenSlides>0</HiddenSlides>
  <MMClips>0</MMClips>
  <ScaleCrop>false</ScaleCrop>
  <HeadingPairs>
    <vt:vector size="6" baseType="variant">
      <vt:variant>
        <vt:lpstr>已用的字体</vt:lpstr>
      </vt:variant>
      <vt:variant>
        <vt:i4>5</vt:i4>
      </vt:variant>
      <vt:variant>
        <vt:lpstr>演示文稿设计模板</vt:lpstr>
      </vt:variant>
      <vt:variant>
        <vt:i4>5</vt:i4>
      </vt:variant>
      <vt:variant>
        <vt:lpstr>幻灯片标题</vt:lpstr>
      </vt:variant>
      <vt:variant>
        <vt:i4>32</vt:i4>
      </vt:variant>
    </vt:vector>
  </HeadingPairs>
  <TitlesOfParts>
    <vt:vector size="42" baseType="lpstr">
      <vt:lpstr>Arial</vt:lpstr>
      <vt:lpstr>宋体</vt:lpstr>
      <vt:lpstr>Wingdings</vt:lpstr>
      <vt:lpstr>Calibri</vt:lpstr>
      <vt:lpstr>黑体</vt:lpstr>
      <vt:lpstr>带状</vt:lpstr>
      <vt:lpstr>带状</vt:lpstr>
      <vt:lpstr>带状</vt:lpstr>
      <vt:lpstr>带状</vt:lpstr>
      <vt:lpstr>带状</vt:lpstr>
      <vt:lpstr>构造题选讲</vt:lpstr>
      <vt:lpstr>题目分类</vt:lpstr>
      <vt:lpstr>构造题的特点</vt:lpstr>
      <vt:lpstr>构造题的做法分类</vt:lpstr>
      <vt:lpstr>传统法</vt:lpstr>
      <vt:lpstr>LOJ #2305. 「NOI2017」游戏</vt:lpstr>
      <vt:lpstr>[BZOJ4383][POI2015]Pustynia</vt:lpstr>
      <vt:lpstr>[BZOJ4383][POI2015]Pustynia</vt:lpstr>
      <vt:lpstr> Codeforces Round #268 (Div. 1) B. Two Sets </vt:lpstr>
      <vt:lpstr> Codeforces Round #268 (Div. 1) B. Two Sets </vt:lpstr>
      <vt:lpstr>公式法</vt:lpstr>
      <vt:lpstr>LOJ #525. 「LibreOJ β Round #4」多项式</vt:lpstr>
      <vt:lpstr>LOJ #525. 「LibreOJ β Round #4」多项式</vt:lpstr>
      <vt:lpstr>增量法</vt:lpstr>
      <vt:lpstr>Codeforces Round #268 (Div. 1) A. 24 Game </vt:lpstr>
      <vt:lpstr>Codeforces Round #268 (Div. 1) A. 24 Game</vt:lpstr>
      <vt:lpstr>[BZOJ4072][Wf2014]baggage</vt:lpstr>
      <vt:lpstr>[BZOJ4072][Wf2014]baggage</vt:lpstr>
      <vt:lpstr>[BZOJ4072][Wf2014]baggage</vt:lpstr>
      <vt:lpstr>【AMPPZ2014】【BZOJ4148】Pillars</vt:lpstr>
      <vt:lpstr>【AMPPZ2014】【BZOJ4148】Pillars</vt:lpstr>
      <vt:lpstr>【AMPPZ2014】【BZOJ4148】Pillars</vt:lpstr>
      <vt:lpstr>特殊情况法</vt:lpstr>
      <vt:lpstr>Codeforces Round #268 (Div. 1) C. Hack it! </vt:lpstr>
      <vt:lpstr>Codeforces Round #268 (Div. 1) C. Hack it!</vt:lpstr>
      <vt:lpstr>UOJ #216. 【UNR #1】Jakarta Skyscrapers</vt:lpstr>
      <vt:lpstr>UOJ #216. 【UNR #1】Jakarta Skyscrapers</vt:lpstr>
      <vt:lpstr>随机法</vt:lpstr>
      <vt:lpstr>UOJ #121. 【NOI2013】向量内积</vt:lpstr>
      <vt:lpstr>UOJ #121. 【NOI2013】向量内积</vt:lpstr>
      <vt:lpstr>UOJ #75. 【UR #6】智商锁</vt:lpstr>
      <vt:lpstr>UOJ #75. 【UR #6】智商锁</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论战捆竹竿解题报告</dc:title>
  <dc:creator>Xumin Chen</dc:creator>
  <cp:lastModifiedBy>admin</cp:lastModifiedBy>
  <cp:revision>148</cp:revision>
  <dcterms:created xsi:type="dcterms:W3CDTF">2016-01-30T06:41:23Z</dcterms:created>
  <dcterms:modified xsi:type="dcterms:W3CDTF">2018-07-12T03:57:06Z</dcterms:modified>
</cp:coreProperties>
</file>