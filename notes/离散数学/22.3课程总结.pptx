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8" r:id="rId1"/>
  </p:sldMasterIdLst>
  <p:notesMasterIdLst>
    <p:notesMasterId r:id="rId37"/>
  </p:notesMasterIdLst>
  <p:sldIdLst>
    <p:sldId id="404" r:id="rId2"/>
    <p:sldId id="380" r:id="rId3"/>
    <p:sldId id="383" r:id="rId4"/>
    <p:sldId id="382" r:id="rId5"/>
    <p:sldId id="406" r:id="rId6"/>
    <p:sldId id="407" r:id="rId7"/>
    <p:sldId id="408" r:id="rId8"/>
    <p:sldId id="411" r:id="rId9"/>
    <p:sldId id="381" r:id="rId10"/>
    <p:sldId id="403" r:id="rId11"/>
    <p:sldId id="386" r:id="rId12"/>
    <p:sldId id="388" r:id="rId13"/>
    <p:sldId id="389" r:id="rId14"/>
    <p:sldId id="390" r:id="rId15"/>
    <p:sldId id="391" r:id="rId16"/>
    <p:sldId id="392" r:id="rId17"/>
    <p:sldId id="393" r:id="rId18"/>
    <p:sldId id="394" r:id="rId19"/>
    <p:sldId id="395" r:id="rId20"/>
    <p:sldId id="396" r:id="rId21"/>
    <p:sldId id="397" r:id="rId22"/>
    <p:sldId id="400" r:id="rId23"/>
    <p:sldId id="401" r:id="rId24"/>
    <p:sldId id="343" r:id="rId25"/>
    <p:sldId id="344" r:id="rId26"/>
    <p:sldId id="345" r:id="rId27"/>
    <p:sldId id="346" r:id="rId28"/>
    <p:sldId id="354" r:id="rId29"/>
    <p:sldId id="355" r:id="rId30"/>
    <p:sldId id="360" r:id="rId31"/>
    <p:sldId id="361" r:id="rId32"/>
    <p:sldId id="362" r:id="rId33"/>
    <p:sldId id="363" r:id="rId34"/>
    <p:sldId id="364" r:id="rId35"/>
    <p:sldId id="365" r:id="rId36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  <a:srgbClr val="008000"/>
    <a:srgbClr val="669900"/>
    <a:srgbClr val="99CC00"/>
    <a:srgbClr val="CC0000"/>
    <a:srgbClr val="FFD54F"/>
    <a:srgbClr val="4D4D4D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32" autoAdjust="0"/>
    <p:restoredTop sz="91822" autoAdjust="0"/>
  </p:normalViewPr>
  <p:slideViewPr>
    <p:cSldViewPr>
      <p:cViewPr>
        <p:scale>
          <a:sx n="70" d="100"/>
          <a:sy n="70" d="100"/>
        </p:scale>
        <p:origin x="1589" y="2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7" Type="http://schemas.openxmlformats.org/officeDocument/2006/relationships/image" Target="../media/image15.wmf"/><Relationship Id="rId2" Type="http://schemas.openxmlformats.org/officeDocument/2006/relationships/image" Target="../media/image10.wmf"/><Relationship Id="rId1" Type="http://schemas.openxmlformats.org/officeDocument/2006/relationships/image" Target="../media/image9.wmf"/><Relationship Id="rId6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12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Relationship Id="rId6" Type="http://schemas.openxmlformats.org/officeDocument/2006/relationships/image" Target="../media/image33.wmf"/><Relationship Id="rId5" Type="http://schemas.openxmlformats.org/officeDocument/2006/relationships/image" Target="../media/image32.wmf"/><Relationship Id="rId4" Type="http://schemas.openxmlformats.org/officeDocument/2006/relationships/image" Target="../media/image31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3.wmf"/><Relationship Id="rId1" Type="http://schemas.openxmlformats.org/officeDocument/2006/relationships/image" Target="../media/image34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1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15CDDDD2-CE05-48DD-96DF-B5A324B097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EE93283-1718-4090-8148-2D07C0469A1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29262E74-8CE6-4570-8C5A-14EC29F729A7}" type="datetimeFigureOut">
              <a:rPr lang="zh-CN" altLang="en-US"/>
              <a:pPr>
                <a:defRPr/>
              </a:pPr>
              <a:t>2020/8/21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BB21FE51-B3B9-43F0-ABA0-9746CC5F66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5855C842-51E7-452F-9896-43A7BD5577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9048" tIns="49524" rIns="99048" bIns="49524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83B9706-7EEE-43B7-8B41-2F81CBC4C74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D32085-33C9-4CC1-B3CB-67F9ABCA5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F9885CE4-E914-4861-808C-E721BDA7AD74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>
            <a:extLst>
              <a:ext uri="{FF2B5EF4-FFF2-40B4-BE49-F238E27FC236}">
                <a16:creationId xmlns:a16="http://schemas.microsoft.com/office/drawing/2014/main" id="{5B232DB9-D86B-4795-A099-43005F5CD17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8915" name="备注占位符 2">
            <a:extLst>
              <a:ext uri="{FF2B5EF4-FFF2-40B4-BE49-F238E27FC236}">
                <a16:creationId xmlns:a16="http://schemas.microsoft.com/office/drawing/2014/main" id="{F6D01EFA-FC94-4881-B7B6-AAF19267EAA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916" name="灯片编号占位符 3">
            <a:extLst>
              <a:ext uri="{FF2B5EF4-FFF2-40B4-BE49-F238E27FC236}">
                <a16:creationId xmlns:a16="http://schemas.microsoft.com/office/drawing/2014/main" id="{D82B1E71-FD4C-4044-BC9E-183ED982AF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726390F-C0D0-4B33-B958-5409750AD40E}" type="slidenum">
              <a:rPr lang="zh-CN" altLang="en-US"/>
              <a:pPr eaLnBrk="1" hangingPunct="1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748CF7FC-CB79-4208-828C-EFBAE3C7B4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DF4290A-B226-4E18-8615-4374C5470C5C}" type="slidenum">
              <a:rPr lang="en-US" altLang="zh-CN"/>
              <a:pPr eaLnBrk="1" hangingPunct="1"/>
              <a:t>2</a:t>
            </a:fld>
            <a:endParaRPr lang="en-US" altLang="zh-CN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E1AA536C-25D8-429F-A5D7-E5DF9E206B0F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E69591BF-5B3F-4566-B98C-16280D1AE8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>
            <a:extLst>
              <a:ext uri="{FF2B5EF4-FFF2-40B4-BE49-F238E27FC236}">
                <a16:creationId xmlns:a16="http://schemas.microsoft.com/office/drawing/2014/main" id="{1C4D9458-4DED-48C0-8531-B7606D00994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63" name="备注占位符 2">
            <a:extLst>
              <a:ext uri="{FF2B5EF4-FFF2-40B4-BE49-F238E27FC236}">
                <a16:creationId xmlns:a16="http://schemas.microsoft.com/office/drawing/2014/main" id="{8C93BB31-E6F1-44B7-8E65-964F495C78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964" name="灯片编号占位符 3">
            <a:extLst>
              <a:ext uri="{FF2B5EF4-FFF2-40B4-BE49-F238E27FC236}">
                <a16:creationId xmlns:a16="http://schemas.microsoft.com/office/drawing/2014/main" id="{B309B8D1-7126-4DB5-A526-B566A9F00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5DE8A88-CD77-4193-8A68-02B6B032556D}" type="slidenum">
              <a:rPr lang="zh-CN" altLang="en-US"/>
              <a:pPr eaLnBrk="1" hangingPunct="1"/>
              <a:t>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FE445BC2-A7F6-4275-A3E6-61C8FE400A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BC93CDC-1F21-4044-B443-A241C1BDF303}" type="slidenum">
              <a:rPr lang="en-US" altLang="zh-CN"/>
              <a:pPr eaLnBrk="1" hangingPunct="1"/>
              <a:t>4</a:t>
            </a:fld>
            <a:endParaRPr lang="en-US" altLang="zh-CN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16B7CA23-91FD-476D-9CB4-7AD23D68FB68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527D3EAE-59BA-484D-80CB-CFF73A7348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DFFD042A-35FA-445E-B298-FA22643773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7017ACC-EC19-49FD-B016-3AFA9BC48D4C}" type="slidenum">
              <a:rPr lang="en-US" altLang="zh-CN"/>
              <a:pPr eaLnBrk="1" hangingPunct="1"/>
              <a:t>5</a:t>
            </a:fld>
            <a:endParaRPr lang="en-US" altLang="zh-CN"/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2A8D609A-BFBC-4AF9-86E0-FB39581C040E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0FDAE771-BFEF-438F-BFC2-BA201A75D6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4CE579B6-AFCE-4006-8F40-A57002F93B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C2D0647A-4363-4462-A679-EFB72028CD44}" type="slidenum">
              <a:rPr lang="en-US" altLang="zh-CN"/>
              <a:pPr eaLnBrk="1" hangingPunct="1"/>
              <a:t>6</a:t>
            </a:fld>
            <a:endParaRPr lang="en-US" altLang="zh-CN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12B2F9B-9A48-4489-B56E-1EFFE74D4460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76336836-AFE7-4A30-B1EC-2D22702D1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6283C7FE-9288-4E4A-BBF7-A936080D55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78E48AE-5FEF-4460-B497-FBDF3C9F315A}" type="slidenum">
              <a:rPr lang="en-US" altLang="zh-CN"/>
              <a:pPr eaLnBrk="1" hangingPunct="1"/>
              <a:t>7</a:t>
            </a:fld>
            <a:endParaRPr lang="en-US" altLang="zh-CN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5E23BF83-576D-45FE-8C6A-991D54275931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0F5BDB38-AC0D-44BE-A020-D86ECEF53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284D4924-F930-4892-91F5-696861DB88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3593B78-D04A-4B19-AEA7-7EB3CD0FCFD5}" type="slidenum">
              <a:rPr lang="en-US" altLang="zh-CN"/>
              <a:pPr eaLnBrk="1" hangingPunct="1"/>
              <a:t>8</a:t>
            </a:fld>
            <a:endParaRPr lang="en-US" altLang="zh-CN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622FBF57-84E0-41BB-8781-626565F0CF33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B6B69C7-1A4E-48DC-BECD-0BB29B5C74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幻灯片图像占位符 1">
            <a:extLst>
              <a:ext uri="{FF2B5EF4-FFF2-40B4-BE49-F238E27FC236}">
                <a16:creationId xmlns:a16="http://schemas.microsoft.com/office/drawing/2014/main" id="{F7A51F97-D982-42F7-BC4B-4E6C3D64125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7" name="备注占位符 2">
            <a:extLst>
              <a:ext uri="{FF2B5EF4-FFF2-40B4-BE49-F238E27FC236}">
                <a16:creationId xmlns:a16="http://schemas.microsoft.com/office/drawing/2014/main" id="{2F47AD4F-0863-4C6B-852C-170357DCC07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108" name="灯片编号占位符 3">
            <a:extLst>
              <a:ext uri="{FF2B5EF4-FFF2-40B4-BE49-F238E27FC236}">
                <a16:creationId xmlns:a16="http://schemas.microsoft.com/office/drawing/2014/main" id="{AB53B3F8-9926-4909-BACD-C475F845C0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A648F5-6DB7-4B3B-B5D7-67186B18EA98}" type="slidenum">
              <a:rPr lang="en-US" altLang="zh-CN"/>
              <a:pPr eaLnBrk="1" hangingPunct="1"/>
              <a:t>29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>
            <a:extLst>
              <a:ext uri="{FF2B5EF4-FFF2-40B4-BE49-F238E27FC236}">
                <a16:creationId xmlns:a16="http://schemas.microsoft.com/office/drawing/2014/main" id="{E8AA7AB9-9B8F-40E5-95C2-6F04DF4A881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备注占位符 2">
            <a:extLst>
              <a:ext uri="{FF2B5EF4-FFF2-40B4-BE49-F238E27FC236}">
                <a16:creationId xmlns:a16="http://schemas.microsoft.com/office/drawing/2014/main" id="{AE2E2CA8-73E5-4D55-B7F7-E20E7E18F8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132" name="灯片编号占位符 3">
            <a:extLst>
              <a:ext uri="{FF2B5EF4-FFF2-40B4-BE49-F238E27FC236}">
                <a16:creationId xmlns:a16="http://schemas.microsoft.com/office/drawing/2014/main" id="{28A73D1F-1B87-43A5-A131-328A1BA29D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CC6EB6C-FF6C-459F-BE25-1CE0E68A0C03}" type="slidenum">
              <a:rPr lang="zh-CN" altLang="en-US"/>
              <a:pPr eaLnBrk="1" hangingPunct="1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4530"/>
            <a:ext cx="6858000" cy="2387600"/>
          </a:xfrm>
        </p:spPr>
        <p:txBody>
          <a:bodyPr anchor="b">
            <a:normAutofit/>
          </a:bodyPr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zh-CN" altLang="en-US" noProof="1"/>
              <a:t>单击此处编辑母版副标题样式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302FB-ECBB-4181-BEAC-75E5AD4D8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044936-3FE8-4186-AAFA-A6A52493B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A8976-C2FE-4A99-BF8D-52F451515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8D8A17-199D-443C-A3F1-524506F58405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88077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78ECD6-6DE1-442B-B5A0-C847BC381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12DB9-2F7E-4D22-8307-61F0B7736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BEB7D0-3C40-4C38-B8F0-1CA91BE9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B1EC9-B24A-4D62-BB02-AC9A30FD942D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85635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12423"/>
            <a:ext cx="7886700" cy="2851208"/>
          </a:xfrm>
        </p:spPr>
        <p:txBody>
          <a:bodyPr anchor="b">
            <a:normAutofit/>
          </a:bodyPr>
          <a:lstStyle>
            <a:lvl1pPr>
              <a:defRPr sz="45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5263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7BDF6-4F17-4692-AA70-0696F7822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8B359-034A-4589-9748-9B077717F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4759B-2BFD-4394-9510-E4EFA530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9DC67-3DCB-4D1A-B373-AD726B393A5E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12549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33845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8801"/>
            <a:ext cx="3886200" cy="435133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C3B0C42-1B67-4DF6-BB0A-476FB12BD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9F5DBE-72F9-4365-85FA-41EC1CB2B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C6DA02B-39B3-4BC0-81C3-BF13A68F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1C380B-7E54-4EB3-8960-7B38517A2AD8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26834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845" y="1681851"/>
            <a:ext cx="3867150" cy="825699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45" y="2507551"/>
            <a:ext cx="3867150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851"/>
            <a:ext cx="38862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7551"/>
            <a:ext cx="3886201" cy="36805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5CFAED1-575A-4879-9D8C-4794E13E4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6FF9D973-1A10-4A91-8EF1-468D9342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ADF493-71C3-43F0-B09E-26C2A41E5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88F5A3-FB63-4FC5-9755-1BD15E4F8CDC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7483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6492A12-AAED-4B63-BBC2-66BC9FD75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033C87E-CC8D-444B-8D0A-2A8C6EDB7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0900BF-CDF2-45B9-9106-6AEACC82F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FF95E8-AD0B-4DF7-9EE1-78A1E88DAAC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73671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2FBF27B-9518-48EF-992A-F6E90B2E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16399A0-9354-4706-93F0-C3D62C401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FF6D78E-0DD8-4BD2-AD64-DA29B3CB6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C106EA-D160-4A7A-961A-7A80742E9D31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379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948940" cy="1600197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990600"/>
            <a:ext cx="4629150" cy="48768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399"/>
            <a:ext cx="2948940" cy="381000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33AD2E-6DEB-4AF4-A79C-128340565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F46D1DB-23D2-45A0-B12B-31DB83381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417D2F3-2191-4AE0-8322-90EAED316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2BB690-7AB1-477D-8881-BF762FAC3A4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4393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0"/>
            <a:ext cx="2948940" cy="1600200"/>
          </a:xfrm>
        </p:spPr>
        <p:txBody>
          <a:bodyPr anchor="b">
            <a:normAutofit/>
          </a:bodyPr>
          <a:lstStyle>
            <a:lvl1pPr>
              <a:defRPr sz="2400" b="0"/>
            </a:lvl1pPr>
          </a:lstStyle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6200" y="990600"/>
            <a:ext cx="4629150" cy="48768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zh-CN" altLang="en-US" noProof="0"/>
              <a:t>单击图标添加图片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57400"/>
            <a:ext cx="2948940" cy="381000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FE11BA2-2645-4C86-BF7B-DA6370188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CF70980-D09A-4988-A0F8-4D86BA3742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3B8F944-89CC-4976-B04A-25BDBFAF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0F75ED-30EB-401A-B2C5-B0BA269C4403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513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EA7E6-CC2A-44FB-9827-7901DE7DB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0B0C6C-4F52-4307-B118-8EA1B2599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21E3C-95E3-4173-A314-9B6B9C42A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E916B63-03C9-4E31-B258-9C136D714097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1767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0362"/>
            <a:ext cx="1971675" cy="5811838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0363"/>
            <a:ext cx="5800725" cy="581183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二级</a:t>
            </a:r>
          </a:p>
          <a:p>
            <a:pPr lvl="2"/>
            <a:r>
              <a:rPr lang="zh-CN" altLang="en-US" noProof="1"/>
              <a:t>三级</a:t>
            </a:r>
          </a:p>
          <a:p>
            <a:pPr lvl="3"/>
            <a:r>
              <a:rPr lang="zh-CN" altLang="en-US" noProof="1"/>
              <a:t>四级</a:t>
            </a:r>
          </a:p>
          <a:p>
            <a:pPr lvl="4"/>
            <a:r>
              <a:rPr lang="zh-CN" altLang="en-US" noProof="1"/>
              <a:t>五级</a:t>
            </a:r>
            <a:endParaRPr lang="en-US" noProof="1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7E3772-D4C0-460C-AE3A-DA07F0D0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17A07-0398-4508-A4EB-5F91716CE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656AB-A5D4-4116-9083-0DFD3809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DB37E7-1AB0-43C4-9F0C-037DEE3707A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4340721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 rtlCol="0">
            <a:normAutofit/>
          </a:bodyPr>
          <a:lstStyle/>
          <a:p>
            <a:pPr lvl="0"/>
            <a:r>
              <a:rPr lang="zh-CN" altLang="en-US" noProof="0"/>
              <a:t>单击图标添加表格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C9AE-DCDD-4E04-A04F-F233CFAEC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15395-8C76-4F42-B5A2-248312DCA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E1F831-1DA4-4961-BA8E-42854D1E8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FDB37E7-1AB0-43C4-9F0C-037DEE3707A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84145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E1B553-E368-40D3-9D3E-3BD6D64E1BC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33413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D4F9B0E-3BF4-4FE4-8C05-05BA84AA6F3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33413" y="1828800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zh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03578-8626-4448-B336-3FEB4105EF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14521-3337-49DA-BA1B-81BE548869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825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37BF5-319D-4483-810E-894D2B2F1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62713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800" smtClean="0">
                <a:solidFill>
                  <a:srgbClr val="898989"/>
                </a:solidFill>
              </a:defRPr>
            </a:lvl1pPr>
          </a:lstStyle>
          <a:p>
            <a:fld id="{9FDB37E7-1AB0-43C4-9F0C-037DEE3707A4}" type="slidenum">
              <a:rPr lang="en-US" altLang="zh-CN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647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</p:sldLayoutIdLst>
  <p:hf hdr="0" ftr="0" dt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90000"/>
        </a:lnSpc>
        <a:spcBef>
          <a:spcPts val="750"/>
        </a:spcBef>
        <a:spcAft>
          <a:spcPct val="0"/>
        </a:spcAft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90000"/>
        </a:lnSpc>
        <a:spcBef>
          <a:spcPts val="375"/>
        </a:spcBef>
        <a:spcAft>
          <a:spcPct val="0"/>
        </a:spcAft>
        <a:buFont typeface="Wingdings 2" panose="05020102010507070707" pitchFamily="18" charset="2"/>
        <a:buChar char="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Wingdings 2" panose="05020102010507070707" pitchFamily="18" charset="2"/>
        <a:buChar char="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3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4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13.bin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10.wmf"/><Relationship Id="rId11" Type="http://schemas.openxmlformats.org/officeDocument/2006/relationships/oleObject" Target="../embeddings/oleObject12.bin"/><Relationship Id="rId5" Type="http://schemas.openxmlformats.org/officeDocument/2006/relationships/oleObject" Target="../embeddings/oleObject9.bin"/><Relationship Id="rId15" Type="http://schemas.openxmlformats.org/officeDocument/2006/relationships/oleObject" Target="../embeddings/oleObject14.bin"/><Relationship Id="rId10" Type="http://schemas.openxmlformats.org/officeDocument/2006/relationships/image" Target="../media/image12.wmf"/><Relationship Id="rId4" Type="http://schemas.openxmlformats.org/officeDocument/2006/relationships/image" Target="../media/image9.wmf"/><Relationship Id="rId9" Type="http://schemas.openxmlformats.org/officeDocument/2006/relationships/oleObject" Target="../embeddings/oleObject11.bin"/><Relationship Id="rId14" Type="http://schemas.openxmlformats.org/officeDocument/2006/relationships/image" Target="../media/image14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16.bin"/><Relationship Id="rId4" Type="http://schemas.openxmlformats.org/officeDocument/2006/relationships/image" Target="../media/image1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22.bin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12" Type="http://schemas.openxmlformats.org/officeDocument/2006/relationships/image" Target="../media/image22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4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21.bin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23.bin"/><Relationship Id="rId10" Type="http://schemas.openxmlformats.org/officeDocument/2006/relationships/image" Target="../media/image21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0.bin"/><Relationship Id="rId14" Type="http://schemas.openxmlformats.org/officeDocument/2006/relationships/image" Target="../media/image23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5.bin"/><Relationship Id="rId4" Type="http://schemas.openxmlformats.org/officeDocument/2006/relationships/image" Target="../media/image2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7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wmf"/><Relationship Id="rId13" Type="http://schemas.openxmlformats.org/officeDocument/2006/relationships/oleObject" Target="../embeddings/oleObject32.bin"/><Relationship Id="rId3" Type="http://schemas.openxmlformats.org/officeDocument/2006/relationships/oleObject" Target="../embeddings/oleObject27.bin"/><Relationship Id="rId7" Type="http://schemas.openxmlformats.org/officeDocument/2006/relationships/oleObject" Target="../embeddings/oleObject29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1.bin"/><Relationship Id="rId5" Type="http://schemas.openxmlformats.org/officeDocument/2006/relationships/oleObject" Target="../embeddings/oleObject28.bin"/><Relationship Id="rId10" Type="http://schemas.openxmlformats.org/officeDocument/2006/relationships/image" Target="../media/image31.wmf"/><Relationship Id="rId4" Type="http://schemas.openxmlformats.org/officeDocument/2006/relationships/image" Target="../media/image28.wmf"/><Relationship Id="rId9" Type="http://schemas.openxmlformats.org/officeDocument/2006/relationships/oleObject" Target="../embeddings/oleObject30.bin"/><Relationship Id="rId14" Type="http://schemas.openxmlformats.org/officeDocument/2006/relationships/image" Target="../media/image33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34.w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36.wmf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7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8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40.bin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42.bin"/><Relationship Id="rId4" Type="http://schemas.openxmlformats.org/officeDocument/2006/relationships/image" Target="../media/image41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内容占位符 2">
            <a:extLst>
              <a:ext uri="{FF2B5EF4-FFF2-40B4-BE49-F238E27FC236}">
                <a16:creationId xmlns:a16="http://schemas.microsoft.com/office/drawing/2014/main" id="{F14D4CBD-855E-4C89-BB57-33ECCC0E85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2349500"/>
            <a:ext cx="8229600" cy="4032250"/>
          </a:xfrm>
        </p:spPr>
        <p:txBody>
          <a:bodyPr/>
          <a:lstStyle/>
          <a:p>
            <a:pPr algn="ctr" eaLnBrk="1" hangingPunct="1">
              <a:spcBef>
                <a:spcPts val="600"/>
              </a:spcBef>
              <a:buFont typeface="Arial" charset="0"/>
              <a:buNone/>
              <a:defRPr/>
            </a:pPr>
            <a:r>
              <a:rPr lang="zh-CN" altLang="en-US" sz="5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课程小结</a:t>
            </a:r>
            <a:endParaRPr lang="en-US" altLang="zh-CN" sz="5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algn="ctr" eaLnBrk="1" hangingPunct="1">
              <a:spcBef>
                <a:spcPts val="600"/>
              </a:spcBef>
              <a:buFont typeface="Arial" charset="0"/>
              <a:buNone/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代数结构与组合数学</a:t>
            </a:r>
            <a:endParaRPr lang="en-US" altLang="zh-CN" dirty="0">
              <a:latin typeface="Arial" charset="0"/>
            </a:endParaRPr>
          </a:p>
          <a:p>
            <a:pPr eaLnBrk="1" hangingPunct="1">
              <a:spcBef>
                <a:spcPts val="600"/>
              </a:spcBef>
              <a:buFont typeface="Arial" charset="0"/>
              <a:buNone/>
              <a:defRPr/>
            </a:pPr>
            <a:r>
              <a:rPr lang="en-US" altLang="zh-CN" sz="4400" b="1" dirty="0">
                <a:solidFill>
                  <a:srgbClr val="C00000"/>
                </a:solidFill>
                <a:latin typeface="Arial" charset="0"/>
              </a:rPr>
              <a:t>                 </a:t>
            </a:r>
            <a:endParaRPr lang="en-US" altLang="zh-CN" sz="4400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15">
            <a:extLst>
              <a:ext uri="{FF2B5EF4-FFF2-40B4-BE49-F238E27FC236}">
                <a16:creationId xmlns:a16="http://schemas.microsoft.com/office/drawing/2014/main" id="{EFC120C3-0981-4328-8F34-69B580AFB63E}"/>
              </a:ext>
            </a:extLst>
          </p:cNvPr>
          <p:cNvGrpSpPr>
            <a:grpSpLocks/>
          </p:cNvGrpSpPr>
          <p:nvPr/>
        </p:nvGrpSpPr>
        <p:grpSpPr bwMode="auto">
          <a:xfrm>
            <a:off x="6661150" y="2205038"/>
            <a:ext cx="1873250" cy="2847975"/>
            <a:chOff x="4422" y="1616"/>
            <a:chExt cx="1180" cy="1794"/>
          </a:xfrm>
        </p:grpSpPr>
        <p:sp>
          <p:nvSpPr>
            <p:cNvPr id="18476" name="Text Box 16">
              <a:extLst>
                <a:ext uri="{FF2B5EF4-FFF2-40B4-BE49-F238E27FC236}">
                  <a16:creationId xmlns:a16="http://schemas.microsoft.com/office/drawing/2014/main" id="{7E15BD70-CCF3-4AA0-A839-266C2EB157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2" y="1616"/>
              <a:ext cx="1134" cy="1794"/>
            </a:xfrm>
            <a:prstGeom prst="rect">
              <a:avLst/>
            </a:prstGeom>
            <a:solidFill>
              <a:srgbClr val="FFFF00">
                <a:alpha val="21960"/>
              </a:srgbClr>
            </a:solidFill>
            <a:ln w="9525">
              <a:solidFill>
                <a:srgbClr val="339966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en-US" altLang="zh-CN" b="1"/>
            </a:p>
            <a:p>
              <a:pPr eaLnBrk="1" hangingPunct="1"/>
              <a:endParaRPr lang="en-US" altLang="zh-CN" b="1"/>
            </a:p>
            <a:p>
              <a:pPr eaLnBrk="1" hangingPunct="1"/>
              <a:endParaRPr lang="en-US" altLang="zh-CN" b="1"/>
            </a:p>
            <a:p>
              <a:pPr eaLnBrk="1" hangingPunct="1"/>
              <a:endParaRPr lang="en-US" altLang="zh-CN" b="1"/>
            </a:p>
            <a:p>
              <a:pPr eaLnBrk="1" hangingPunct="1"/>
              <a:endParaRPr lang="en-US" altLang="zh-CN" b="1"/>
            </a:p>
            <a:p>
              <a:pPr eaLnBrk="1" hangingPunct="1"/>
              <a:endParaRPr lang="en-US" altLang="zh-CN" b="1"/>
            </a:p>
            <a:p>
              <a:pPr eaLnBrk="1" hangingPunct="1"/>
              <a:endParaRPr lang="en-US" altLang="zh-CN" b="1"/>
            </a:p>
            <a:p>
              <a:pPr eaLnBrk="1" hangingPunct="1"/>
              <a:r>
                <a:rPr lang="en-US" altLang="zh-CN" b="1"/>
                <a:t>  </a:t>
              </a:r>
            </a:p>
            <a:p>
              <a:pPr eaLnBrk="1" hangingPunct="1"/>
              <a:endParaRPr lang="en-US" altLang="zh-CN" b="1"/>
            </a:p>
            <a:p>
              <a:pPr eaLnBrk="1" hangingPunct="1"/>
              <a:r>
                <a:rPr lang="en-US" altLang="zh-CN" b="1"/>
                <a:t> </a:t>
              </a:r>
              <a:r>
                <a:rPr lang="zh-CN" altLang="en-US" b="1"/>
                <a:t>新代数系统</a:t>
              </a:r>
            </a:p>
          </p:txBody>
        </p:sp>
        <p:sp>
          <p:nvSpPr>
            <p:cNvPr id="18477" name="Text Box 17">
              <a:extLst>
                <a:ext uri="{FF2B5EF4-FFF2-40B4-BE49-F238E27FC236}">
                  <a16:creationId xmlns:a16="http://schemas.microsoft.com/office/drawing/2014/main" id="{D9059897-E664-4E2A-B0F4-C02E94716C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05" y="2350"/>
              <a:ext cx="289" cy="6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同类型的</a:t>
              </a:r>
            </a:p>
          </p:txBody>
        </p:sp>
        <p:sp>
          <p:nvSpPr>
            <p:cNvPr id="18478" name="Text Box 18">
              <a:extLst>
                <a:ext uri="{FF2B5EF4-FFF2-40B4-BE49-F238E27FC236}">
                  <a16:creationId xmlns:a16="http://schemas.microsoft.com/office/drawing/2014/main" id="{FAC368FD-0D41-484F-9645-7C1E525E7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13" y="1676"/>
              <a:ext cx="289" cy="4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同种的</a:t>
              </a:r>
            </a:p>
          </p:txBody>
        </p:sp>
      </p:grpSp>
      <p:sp>
        <p:nvSpPr>
          <p:cNvPr id="9219" name="Rectangle 2">
            <a:extLst>
              <a:ext uri="{FF2B5EF4-FFF2-40B4-BE49-F238E27FC236}">
                <a16:creationId xmlns:a16="http://schemas.microsoft.com/office/drawing/2014/main" id="{D0B9CB5E-DFC4-46FF-A079-E6EC77BE9F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7388" y="115888"/>
            <a:ext cx="7772400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代数系统的知识点</a:t>
            </a:r>
          </a:p>
        </p:txBody>
      </p:sp>
      <p:sp>
        <p:nvSpPr>
          <p:cNvPr id="9235" name="灯片编号占位符 50">
            <a:extLst>
              <a:ext uri="{FF2B5EF4-FFF2-40B4-BE49-F238E27FC236}">
                <a16:creationId xmlns:a16="http://schemas.microsoft.com/office/drawing/2014/main" id="{5C22E900-930F-41AD-BAE3-04D69AB2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1400" y="5995988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3E17734-0457-414F-B1E9-87118D03481C}" type="slidenum">
              <a:rPr lang="en-US" altLang="zh-CN">
                <a:solidFill>
                  <a:srgbClr val="898989"/>
                </a:solidFill>
              </a:rPr>
              <a:pPr eaLnBrk="1" hangingPunct="1"/>
              <a:t>2</a:t>
            </a:fld>
            <a:endParaRPr lang="en-US" altLang="zh-CN">
              <a:solidFill>
                <a:srgbClr val="898989"/>
              </a:solidFill>
            </a:endParaRPr>
          </a:p>
        </p:txBody>
      </p:sp>
      <p:grpSp>
        <p:nvGrpSpPr>
          <p:cNvPr id="18436" name="Group 3">
            <a:extLst>
              <a:ext uri="{FF2B5EF4-FFF2-40B4-BE49-F238E27FC236}">
                <a16:creationId xmlns:a16="http://schemas.microsoft.com/office/drawing/2014/main" id="{A25F31B6-B958-4045-94EC-B2AE63708B46}"/>
              </a:ext>
            </a:extLst>
          </p:cNvPr>
          <p:cNvGrpSpPr>
            <a:grpSpLocks/>
          </p:cNvGrpSpPr>
          <p:nvPr/>
        </p:nvGrpSpPr>
        <p:grpSpPr bwMode="auto">
          <a:xfrm>
            <a:off x="2084388" y="3140075"/>
            <a:ext cx="2663825" cy="1368425"/>
            <a:chOff x="1585" y="2205"/>
            <a:chExt cx="1653" cy="862"/>
          </a:xfrm>
        </p:grpSpPr>
        <p:sp>
          <p:nvSpPr>
            <p:cNvPr id="18474" name="Rectangle 4">
              <a:extLst>
                <a:ext uri="{FF2B5EF4-FFF2-40B4-BE49-F238E27FC236}">
                  <a16:creationId xmlns:a16="http://schemas.microsoft.com/office/drawing/2014/main" id="{3EB0491D-5ECC-4F57-8D3F-ADD869B6F3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12" y="2836"/>
              <a:ext cx="1315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代数系统的构成</a:t>
              </a:r>
            </a:p>
          </p:txBody>
        </p:sp>
        <p:sp>
          <p:nvSpPr>
            <p:cNvPr id="18475" name="Rectangle 5">
              <a:extLst>
                <a:ext uri="{FF2B5EF4-FFF2-40B4-BE49-F238E27FC236}">
                  <a16:creationId xmlns:a16="http://schemas.microsoft.com/office/drawing/2014/main" id="{94DD44F2-29BC-444B-B112-65C805920B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5" y="2205"/>
              <a:ext cx="1653" cy="582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zh-CN" altLang="en-US" sz="2400" b="1"/>
                <a:t>成分：载体及运算</a:t>
              </a:r>
            </a:p>
            <a:p>
              <a:pPr eaLnBrk="1" hangingPunct="1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" panose="05000000000000000000" pitchFamily="2" charset="2"/>
                <a:buNone/>
              </a:pPr>
              <a:r>
                <a:rPr lang="zh-CN" altLang="en-US" sz="2400" b="1"/>
                <a:t>公理：运算性质</a:t>
              </a:r>
            </a:p>
          </p:txBody>
        </p:sp>
      </p:grpSp>
      <p:sp>
        <p:nvSpPr>
          <p:cNvPr id="18437" name="Text Box 6">
            <a:extLst>
              <a:ext uri="{FF2B5EF4-FFF2-40B4-BE49-F238E27FC236}">
                <a16:creationId xmlns:a16="http://schemas.microsoft.com/office/drawing/2014/main" id="{FD89DB8A-A234-47BE-AD07-FC6BF03E2D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3303265"/>
            <a:ext cx="1192212" cy="48577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积代数</a:t>
            </a:r>
          </a:p>
        </p:txBody>
      </p:sp>
      <p:sp>
        <p:nvSpPr>
          <p:cNvPr id="18438" name="Text Box 7">
            <a:extLst>
              <a:ext uri="{FF2B5EF4-FFF2-40B4-BE49-F238E27FC236}">
                <a16:creationId xmlns:a16="http://schemas.microsoft.com/office/drawing/2014/main" id="{CE9B03E2-E230-4C3A-848A-29DC3C013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4167361"/>
            <a:ext cx="1192212" cy="48577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商代数</a:t>
            </a:r>
          </a:p>
        </p:txBody>
      </p:sp>
      <p:grpSp>
        <p:nvGrpSpPr>
          <p:cNvPr id="18439" name="Group 8">
            <a:extLst>
              <a:ext uri="{FF2B5EF4-FFF2-40B4-BE49-F238E27FC236}">
                <a16:creationId xmlns:a16="http://schemas.microsoft.com/office/drawing/2014/main" id="{6D1E256A-7B23-4664-BA68-D7667E9DFAB9}"/>
              </a:ext>
            </a:extLst>
          </p:cNvPr>
          <p:cNvGrpSpPr>
            <a:grpSpLocks/>
          </p:cNvGrpSpPr>
          <p:nvPr/>
        </p:nvGrpSpPr>
        <p:grpSpPr bwMode="auto">
          <a:xfrm>
            <a:off x="5181598" y="2341563"/>
            <a:ext cx="1479322" cy="368300"/>
            <a:chOff x="3536" y="1702"/>
            <a:chExt cx="827" cy="232"/>
          </a:xfrm>
        </p:grpSpPr>
        <p:sp>
          <p:nvSpPr>
            <p:cNvPr id="18472" name="Text Box 9">
              <a:extLst>
                <a:ext uri="{FF2B5EF4-FFF2-40B4-BE49-F238E27FC236}">
                  <a16:creationId xmlns:a16="http://schemas.microsoft.com/office/drawing/2014/main" id="{79B39BB2-C1BC-42FF-8D29-36EDF798B1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36" y="1702"/>
              <a:ext cx="44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 </a:t>
              </a:r>
              <a:r>
                <a:rPr lang="zh-CN" altLang="en-US" b="1"/>
                <a:t>子集</a:t>
              </a:r>
            </a:p>
          </p:txBody>
        </p:sp>
        <p:sp>
          <p:nvSpPr>
            <p:cNvPr id="18473" name="Line 10">
              <a:extLst>
                <a:ext uri="{FF2B5EF4-FFF2-40B4-BE49-F238E27FC236}">
                  <a16:creationId xmlns:a16="http://schemas.microsoft.com/office/drawing/2014/main" id="{3341A80B-294F-4165-A3E5-03610E114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6" y="1934"/>
              <a:ext cx="82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40" name="Group 11">
            <a:extLst>
              <a:ext uri="{FF2B5EF4-FFF2-40B4-BE49-F238E27FC236}">
                <a16:creationId xmlns:a16="http://schemas.microsoft.com/office/drawing/2014/main" id="{E4170F1D-6A14-43F9-868F-5508A862FEA7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4070350"/>
            <a:ext cx="1479550" cy="438150"/>
            <a:chOff x="3536" y="2655"/>
            <a:chExt cx="907" cy="276"/>
          </a:xfrm>
        </p:grpSpPr>
        <p:sp>
          <p:nvSpPr>
            <p:cNvPr id="18470" name="Text Box 12">
              <a:extLst>
                <a:ext uri="{FF2B5EF4-FFF2-40B4-BE49-F238E27FC236}">
                  <a16:creationId xmlns:a16="http://schemas.microsoft.com/office/drawing/2014/main" id="{CD277D1F-4859-4E6F-BB29-882295BC0B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" y="2655"/>
              <a:ext cx="6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等价关系</a:t>
              </a:r>
            </a:p>
          </p:txBody>
        </p:sp>
        <p:sp>
          <p:nvSpPr>
            <p:cNvPr id="18471" name="Line 13">
              <a:extLst>
                <a:ext uri="{FF2B5EF4-FFF2-40B4-BE49-F238E27FC236}">
                  <a16:creationId xmlns:a16="http://schemas.microsoft.com/office/drawing/2014/main" id="{2B4FAA19-1084-4FAA-B0BC-F010EC20E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6" y="2931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41" name="Text Box 14">
            <a:extLst>
              <a:ext uri="{FF2B5EF4-FFF2-40B4-BE49-F238E27FC236}">
                <a16:creationId xmlns:a16="http://schemas.microsoft.com/office/drawing/2014/main" id="{04A6836C-BCE8-490A-9208-C9016FFAC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4338" y="2438400"/>
            <a:ext cx="1192212" cy="48577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子代数</a:t>
            </a:r>
          </a:p>
        </p:txBody>
      </p:sp>
      <p:grpSp>
        <p:nvGrpSpPr>
          <p:cNvPr id="18442" name="Group 19">
            <a:extLst>
              <a:ext uri="{FF2B5EF4-FFF2-40B4-BE49-F238E27FC236}">
                <a16:creationId xmlns:a16="http://schemas.microsoft.com/office/drawing/2014/main" id="{BBEA9A65-862A-4C4E-9CB7-B0F1B6E45F77}"/>
              </a:ext>
            </a:extLst>
          </p:cNvPr>
          <p:cNvGrpSpPr>
            <a:grpSpLocks/>
          </p:cNvGrpSpPr>
          <p:nvPr/>
        </p:nvGrpSpPr>
        <p:grpSpPr bwMode="auto">
          <a:xfrm>
            <a:off x="2555875" y="5013325"/>
            <a:ext cx="1795463" cy="1223963"/>
            <a:chOff x="1857" y="3385"/>
            <a:chExt cx="1131" cy="771"/>
          </a:xfrm>
        </p:grpSpPr>
        <p:sp>
          <p:nvSpPr>
            <p:cNvPr id="18468" name="Text Box 20">
              <a:extLst>
                <a:ext uri="{FF2B5EF4-FFF2-40B4-BE49-F238E27FC236}">
                  <a16:creationId xmlns:a16="http://schemas.microsoft.com/office/drawing/2014/main" id="{37E82F66-30C2-4BB4-8DF9-0ED38F5472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" y="3385"/>
              <a:ext cx="1099" cy="53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代数系统的</a:t>
              </a:r>
            </a:p>
            <a:p>
              <a:pPr eaLnBrk="1" hangingPunct="1"/>
              <a:r>
                <a:rPr lang="zh-CN" altLang="en-US" sz="2400" b="1"/>
                <a:t>同态与同构</a:t>
              </a:r>
            </a:p>
          </p:txBody>
        </p:sp>
        <p:sp>
          <p:nvSpPr>
            <p:cNvPr id="18469" name="Text Box 21">
              <a:extLst>
                <a:ext uri="{FF2B5EF4-FFF2-40B4-BE49-F238E27FC236}">
                  <a16:creationId xmlns:a16="http://schemas.microsoft.com/office/drawing/2014/main" id="{ED444A09-2FF4-48CF-8333-1A727B4F7B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57" y="3925"/>
              <a:ext cx="1131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代数系统间关系</a:t>
              </a:r>
            </a:p>
          </p:txBody>
        </p:sp>
      </p:grpSp>
      <p:grpSp>
        <p:nvGrpSpPr>
          <p:cNvPr id="18443" name="Group 27">
            <a:extLst>
              <a:ext uri="{FF2B5EF4-FFF2-40B4-BE49-F238E27FC236}">
                <a16:creationId xmlns:a16="http://schemas.microsoft.com/office/drawing/2014/main" id="{27B4CB24-EB40-4BC6-AE02-CF86A5E7C8D6}"/>
              </a:ext>
            </a:extLst>
          </p:cNvPr>
          <p:cNvGrpSpPr>
            <a:grpSpLocks/>
          </p:cNvGrpSpPr>
          <p:nvPr/>
        </p:nvGrpSpPr>
        <p:grpSpPr bwMode="auto">
          <a:xfrm>
            <a:off x="2052638" y="2557466"/>
            <a:ext cx="2592387" cy="582613"/>
            <a:chOff x="1610" y="1842"/>
            <a:chExt cx="1542" cy="367"/>
          </a:xfrm>
        </p:grpSpPr>
        <p:sp>
          <p:nvSpPr>
            <p:cNvPr id="18465" name="Line 28">
              <a:extLst>
                <a:ext uri="{FF2B5EF4-FFF2-40B4-BE49-F238E27FC236}">
                  <a16:creationId xmlns:a16="http://schemas.microsoft.com/office/drawing/2014/main" id="{4DB5FB19-B4F7-4B10-8A65-C9D2F671D8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1" y="1843"/>
              <a:ext cx="0" cy="36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6" name="Line 29">
              <a:extLst>
                <a:ext uri="{FF2B5EF4-FFF2-40B4-BE49-F238E27FC236}">
                  <a16:creationId xmlns:a16="http://schemas.microsoft.com/office/drawing/2014/main" id="{91876ACA-9FA7-4696-9DC7-9186B87E1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0" y="1842"/>
              <a:ext cx="154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Text Box 30">
              <a:extLst>
                <a:ext uri="{FF2B5EF4-FFF2-40B4-BE49-F238E27FC236}">
                  <a16:creationId xmlns:a16="http://schemas.microsoft.com/office/drawing/2014/main" id="{B4451093-B027-4A69-B856-F0FF86527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14" y="1842"/>
              <a:ext cx="4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分类</a:t>
              </a:r>
            </a:p>
          </p:txBody>
        </p:sp>
      </p:grpSp>
      <p:grpSp>
        <p:nvGrpSpPr>
          <p:cNvPr id="18444" name="Group 31">
            <a:extLst>
              <a:ext uri="{FF2B5EF4-FFF2-40B4-BE49-F238E27FC236}">
                <a16:creationId xmlns:a16="http://schemas.microsoft.com/office/drawing/2014/main" id="{309F3233-0597-40D6-94ED-CB3F12CEAF3A}"/>
              </a:ext>
            </a:extLst>
          </p:cNvPr>
          <p:cNvGrpSpPr>
            <a:grpSpLocks/>
          </p:cNvGrpSpPr>
          <p:nvPr/>
        </p:nvGrpSpPr>
        <p:grpSpPr bwMode="auto">
          <a:xfrm>
            <a:off x="1117601" y="1574800"/>
            <a:ext cx="1438275" cy="969963"/>
            <a:chOff x="1022" y="1231"/>
            <a:chExt cx="906" cy="611"/>
          </a:xfrm>
        </p:grpSpPr>
        <p:sp>
          <p:nvSpPr>
            <p:cNvPr id="18463" name="Line 32">
              <a:extLst>
                <a:ext uri="{FF2B5EF4-FFF2-40B4-BE49-F238E27FC236}">
                  <a16:creationId xmlns:a16="http://schemas.microsoft.com/office/drawing/2014/main" id="{01B6992F-1A79-426F-A6F6-FF98930B49B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10" y="1536"/>
              <a:ext cx="0" cy="30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4" name="Text Box 33">
              <a:extLst>
                <a:ext uri="{FF2B5EF4-FFF2-40B4-BE49-F238E27FC236}">
                  <a16:creationId xmlns:a16="http://schemas.microsoft.com/office/drawing/2014/main" id="{D925AB7C-F2F5-4279-A211-7A44240FE1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22" y="1231"/>
              <a:ext cx="906" cy="30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 dirty="0"/>
                <a:t>半群与群</a:t>
              </a:r>
            </a:p>
          </p:txBody>
        </p:sp>
      </p:grpSp>
      <p:grpSp>
        <p:nvGrpSpPr>
          <p:cNvPr id="18445" name="Group 34">
            <a:extLst>
              <a:ext uri="{FF2B5EF4-FFF2-40B4-BE49-F238E27FC236}">
                <a16:creationId xmlns:a16="http://schemas.microsoft.com/office/drawing/2014/main" id="{0F5EEDD5-54F7-4CFE-9953-6320C9759873}"/>
              </a:ext>
            </a:extLst>
          </p:cNvPr>
          <p:cNvGrpSpPr>
            <a:grpSpLocks/>
          </p:cNvGrpSpPr>
          <p:nvPr/>
        </p:nvGrpSpPr>
        <p:grpSpPr bwMode="auto">
          <a:xfrm>
            <a:off x="2916238" y="1574800"/>
            <a:ext cx="825500" cy="989013"/>
            <a:chOff x="2109" y="1219"/>
            <a:chExt cx="520" cy="623"/>
          </a:xfrm>
        </p:grpSpPr>
        <p:sp>
          <p:nvSpPr>
            <p:cNvPr id="18461" name="Text Box 35">
              <a:extLst>
                <a:ext uri="{FF2B5EF4-FFF2-40B4-BE49-F238E27FC236}">
                  <a16:creationId xmlns:a16="http://schemas.microsoft.com/office/drawing/2014/main" id="{F1E20D5F-7569-496D-B9D2-637587E785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" y="1219"/>
              <a:ext cx="520" cy="30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环域</a:t>
              </a:r>
            </a:p>
          </p:txBody>
        </p:sp>
        <p:sp>
          <p:nvSpPr>
            <p:cNvPr id="18462" name="Line 36">
              <a:extLst>
                <a:ext uri="{FF2B5EF4-FFF2-40B4-BE49-F238E27FC236}">
                  <a16:creationId xmlns:a16="http://schemas.microsoft.com/office/drawing/2014/main" id="{5722FF25-B195-4AE5-8837-7C2792E705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1" y="1525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46" name="Group 37">
            <a:extLst>
              <a:ext uri="{FF2B5EF4-FFF2-40B4-BE49-F238E27FC236}">
                <a16:creationId xmlns:a16="http://schemas.microsoft.com/office/drawing/2014/main" id="{7A137E85-7163-4957-8DCC-4D0FEC1523D9}"/>
              </a:ext>
            </a:extLst>
          </p:cNvPr>
          <p:cNvGrpSpPr>
            <a:grpSpLocks/>
          </p:cNvGrpSpPr>
          <p:nvPr/>
        </p:nvGrpSpPr>
        <p:grpSpPr bwMode="auto">
          <a:xfrm>
            <a:off x="3976688" y="1574800"/>
            <a:ext cx="2051050" cy="989013"/>
            <a:chOff x="2777" y="1219"/>
            <a:chExt cx="1257" cy="623"/>
          </a:xfrm>
        </p:grpSpPr>
        <p:sp>
          <p:nvSpPr>
            <p:cNvPr id="18459" name="Text Box 38">
              <a:extLst>
                <a:ext uri="{FF2B5EF4-FFF2-40B4-BE49-F238E27FC236}">
                  <a16:creationId xmlns:a16="http://schemas.microsoft.com/office/drawing/2014/main" id="{B7CFDABF-EB3F-412A-A87A-7ED62C90AC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7" y="1219"/>
              <a:ext cx="1257" cy="306"/>
            </a:xfrm>
            <a:prstGeom prst="rect">
              <a:avLst/>
            </a:prstGeom>
            <a:solidFill>
              <a:srgbClr val="FFFFCC"/>
            </a:solidFill>
            <a:ln w="28575">
              <a:solidFill>
                <a:srgbClr val="800000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400" b="1"/>
                <a:t>格与布尔代数</a:t>
              </a:r>
            </a:p>
          </p:txBody>
        </p:sp>
        <p:sp>
          <p:nvSpPr>
            <p:cNvPr id="18460" name="Line 39">
              <a:extLst>
                <a:ext uri="{FF2B5EF4-FFF2-40B4-BE49-F238E27FC236}">
                  <a16:creationId xmlns:a16="http://schemas.microsoft.com/office/drawing/2014/main" id="{89C37B03-4D6B-4EC0-A86C-BD63F36B9F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86" y="1525"/>
              <a:ext cx="0" cy="31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47" name="Group 40">
            <a:extLst>
              <a:ext uri="{FF2B5EF4-FFF2-40B4-BE49-F238E27FC236}">
                <a16:creationId xmlns:a16="http://schemas.microsoft.com/office/drawing/2014/main" id="{F4CF3231-1736-4F4A-955D-BCED7535670A}"/>
              </a:ext>
            </a:extLst>
          </p:cNvPr>
          <p:cNvGrpSpPr>
            <a:grpSpLocks/>
          </p:cNvGrpSpPr>
          <p:nvPr/>
        </p:nvGrpSpPr>
        <p:grpSpPr bwMode="auto">
          <a:xfrm>
            <a:off x="3371850" y="4508500"/>
            <a:ext cx="839788" cy="431800"/>
            <a:chOff x="2336" y="3067"/>
            <a:chExt cx="529" cy="272"/>
          </a:xfrm>
        </p:grpSpPr>
        <p:sp>
          <p:nvSpPr>
            <p:cNvPr id="18457" name="Text Box 41">
              <a:extLst>
                <a:ext uri="{FF2B5EF4-FFF2-40B4-BE49-F238E27FC236}">
                  <a16:creationId xmlns:a16="http://schemas.microsoft.com/office/drawing/2014/main" id="{962910A4-8D8A-4054-9B8F-4F85BD683C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59" y="3108"/>
              <a:ext cx="40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映射</a:t>
              </a:r>
            </a:p>
          </p:txBody>
        </p:sp>
        <p:sp>
          <p:nvSpPr>
            <p:cNvPr id="18458" name="Line 42">
              <a:extLst>
                <a:ext uri="{FF2B5EF4-FFF2-40B4-BE49-F238E27FC236}">
                  <a16:creationId xmlns:a16="http://schemas.microsoft.com/office/drawing/2014/main" id="{675DF680-F4D5-477F-9CB4-5699ECA613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6" y="3067"/>
              <a:ext cx="0" cy="2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48" name="Group 43">
            <a:extLst>
              <a:ext uri="{FF2B5EF4-FFF2-40B4-BE49-F238E27FC236}">
                <a16:creationId xmlns:a16="http://schemas.microsoft.com/office/drawing/2014/main" id="{76B7A2C2-18B1-40ED-8CA3-0FAFF3361E0B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3133725"/>
            <a:ext cx="1512887" cy="439738"/>
            <a:chOff x="3515" y="2201"/>
            <a:chExt cx="907" cy="277"/>
          </a:xfrm>
        </p:grpSpPr>
        <p:sp>
          <p:nvSpPr>
            <p:cNvPr id="18455" name="Text Box 44">
              <a:extLst>
                <a:ext uri="{FF2B5EF4-FFF2-40B4-BE49-F238E27FC236}">
                  <a16:creationId xmlns:a16="http://schemas.microsoft.com/office/drawing/2014/main" id="{56584E05-8E3F-45AA-B024-BD65B3F63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1" y="2201"/>
              <a:ext cx="65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笛卡儿积</a:t>
              </a:r>
            </a:p>
          </p:txBody>
        </p:sp>
        <p:sp>
          <p:nvSpPr>
            <p:cNvPr id="18456" name="Line 45">
              <a:extLst>
                <a:ext uri="{FF2B5EF4-FFF2-40B4-BE49-F238E27FC236}">
                  <a16:creationId xmlns:a16="http://schemas.microsoft.com/office/drawing/2014/main" id="{85E80FB2-0109-4E25-B91E-851FF6880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15" y="2478"/>
              <a:ext cx="90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8449" name="Group 46">
            <a:extLst>
              <a:ext uri="{FF2B5EF4-FFF2-40B4-BE49-F238E27FC236}">
                <a16:creationId xmlns:a16="http://schemas.microsoft.com/office/drawing/2014/main" id="{04C6D020-519B-4160-8011-A294E9610E7B}"/>
              </a:ext>
            </a:extLst>
          </p:cNvPr>
          <p:cNvGrpSpPr>
            <a:grpSpLocks/>
          </p:cNvGrpSpPr>
          <p:nvPr/>
        </p:nvGrpSpPr>
        <p:grpSpPr bwMode="auto">
          <a:xfrm>
            <a:off x="4760913" y="2708275"/>
            <a:ext cx="458787" cy="1800225"/>
            <a:chOff x="3198" y="1933"/>
            <a:chExt cx="289" cy="1134"/>
          </a:xfrm>
        </p:grpSpPr>
        <p:grpSp>
          <p:nvGrpSpPr>
            <p:cNvPr id="18451" name="Group 47">
              <a:extLst>
                <a:ext uri="{FF2B5EF4-FFF2-40B4-BE49-F238E27FC236}">
                  <a16:creationId xmlns:a16="http://schemas.microsoft.com/office/drawing/2014/main" id="{9A3BD758-BD02-4418-9729-20C3603AC1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8" y="2478"/>
              <a:ext cx="289" cy="432"/>
              <a:chOff x="3243" y="2478"/>
              <a:chExt cx="289" cy="432"/>
            </a:xfrm>
          </p:grpSpPr>
          <p:sp>
            <p:nvSpPr>
              <p:cNvPr id="18453" name="Line 48">
                <a:extLst>
                  <a:ext uri="{FF2B5EF4-FFF2-40B4-BE49-F238E27FC236}">
                    <a16:creationId xmlns:a16="http://schemas.microsoft.com/office/drawing/2014/main" id="{45243AFD-5FB3-4971-B6D0-0D031F52B2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8" y="2478"/>
                <a:ext cx="227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54" name="Text Box 49">
                <a:extLst>
                  <a:ext uri="{FF2B5EF4-FFF2-40B4-BE49-F238E27FC236}">
                    <a16:creationId xmlns:a16="http://schemas.microsoft.com/office/drawing/2014/main" id="{3E2DE846-C1DA-4294-BD87-28CD4EF048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3" y="2568"/>
                <a:ext cx="289" cy="3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zh-CN" altLang="en-US" b="1"/>
                  <a:t>产生</a:t>
                </a:r>
              </a:p>
            </p:txBody>
          </p:sp>
        </p:grpSp>
        <p:sp>
          <p:nvSpPr>
            <p:cNvPr id="18452" name="Line 50">
              <a:extLst>
                <a:ext uri="{FF2B5EF4-FFF2-40B4-BE49-F238E27FC236}">
                  <a16:creationId xmlns:a16="http://schemas.microsoft.com/office/drawing/2014/main" id="{8EB0FB45-20FA-4C7E-9C98-E2C4367562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0" y="1933"/>
              <a:ext cx="0" cy="113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B671C4-545F-4325-A0A6-EDAC644E7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9F53CF-E6DE-44CB-ACCB-9E804758D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52563"/>
            <a:ext cx="8229600" cy="5145087"/>
          </a:xfrm>
        </p:spPr>
        <p:txBody>
          <a:bodyPr/>
          <a:lstStyle/>
          <a:p>
            <a:pPr marL="457200" indent="-457200">
              <a:buFont typeface="Arial" charset="0"/>
              <a:buNone/>
              <a:defRPr/>
            </a:pPr>
            <a:r>
              <a:rPr lang="en-US" altLang="zh-CN" sz="2400" b="1" dirty="0"/>
              <a:t>1</a:t>
            </a:r>
            <a:r>
              <a:rPr lang="en-US" altLang="zh-CN" sz="2800" b="1" dirty="0"/>
              <a:t>.   </a:t>
            </a:r>
            <a:r>
              <a:rPr lang="zh-CN" altLang="en-US" sz="2800" b="1" dirty="0"/>
              <a:t>给定集合和运算，判断代数系统的构成</a:t>
            </a:r>
            <a:endParaRPr lang="en-US" altLang="zh-CN" sz="2800" b="1" dirty="0"/>
          </a:p>
          <a:p>
            <a:pPr>
              <a:buFont typeface="Arial" charset="0"/>
              <a:buNone/>
              <a:defRPr/>
            </a:pPr>
            <a:r>
              <a:rPr lang="en-US" altLang="zh-CN" sz="2800" b="1" dirty="0"/>
              <a:t>2.  </a:t>
            </a:r>
            <a:r>
              <a:rPr lang="zh-CN" altLang="en-US" sz="2800" b="1" dirty="0"/>
              <a:t>判断运算的性质</a:t>
            </a:r>
            <a:r>
              <a:rPr lang="en-US" altLang="zh-CN" sz="2800" b="1" dirty="0"/>
              <a:t>——</a:t>
            </a:r>
            <a:r>
              <a:rPr lang="zh-CN" altLang="en-US" sz="2800" b="1" dirty="0"/>
              <a:t>算律及特异元素</a:t>
            </a:r>
            <a:endParaRPr lang="zh-CN" altLang="zh-CN" sz="2800" dirty="0"/>
          </a:p>
          <a:p>
            <a:pPr marL="457200" indent="-457200">
              <a:buFont typeface="Arial" charset="0"/>
              <a:buAutoNum type="arabicPeriod" startAt="3"/>
              <a:defRPr/>
            </a:pPr>
            <a:r>
              <a:rPr lang="zh-CN" altLang="en-US" sz="2800" b="1" dirty="0"/>
              <a:t>求子代数、积代数、商代数</a:t>
            </a:r>
            <a:endParaRPr lang="en-US" altLang="zh-CN" sz="2800" b="1" dirty="0"/>
          </a:p>
          <a:p>
            <a:pPr marL="457200" indent="-457200">
              <a:buFont typeface="Arial" charset="0"/>
              <a:buAutoNum type="arabicPeriod" startAt="3"/>
              <a:defRPr/>
            </a:pPr>
            <a:r>
              <a:rPr lang="zh-CN" altLang="en-US" sz="2800" b="1" dirty="0"/>
              <a:t>同态与同构映射的概念、性质及构造、几种典型的同态或同构的定义、同态基本定理</a:t>
            </a:r>
            <a:endParaRPr lang="en-US" altLang="zh-CN" sz="2800" b="1" dirty="0"/>
          </a:p>
          <a:p>
            <a:pPr marL="457200" indent="-457200">
              <a:buFont typeface="Arial" charset="0"/>
              <a:buAutoNum type="arabicPeriod" startAt="3"/>
              <a:defRPr/>
            </a:pPr>
            <a:endParaRPr lang="zh-CN" altLang="en-US" sz="28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9D04DC-C84D-4D38-BAB9-024DD1FD4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BBF18CD-7A6A-4B9C-9371-83A2C1A22D02}" type="slidenum">
              <a:rPr lang="en-US" altLang="zh-CN">
                <a:solidFill>
                  <a:srgbClr val="898989"/>
                </a:solidFill>
              </a:rPr>
              <a:pPr eaLnBrk="1" hangingPunct="1"/>
              <a:t>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>
            <a:extLst>
              <a:ext uri="{FF2B5EF4-FFF2-40B4-BE49-F238E27FC236}">
                <a16:creationId xmlns:a16="http://schemas.microsoft.com/office/drawing/2014/main" id="{FDFE16C8-FE96-46B6-9A53-8441BE2284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15940"/>
            <a:ext cx="7772400" cy="7921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群的知识点</a:t>
            </a:r>
          </a:p>
        </p:txBody>
      </p:sp>
      <p:sp>
        <p:nvSpPr>
          <p:cNvPr id="9235" name="灯片编号占位符 50">
            <a:extLst>
              <a:ext uri="{FF2B5EF4-FFF2-40B4-BE49-F238E27FC236}">
                <a16:creationId xmlns:a16="http://schemas.microsoft.com/office/drawing/2014/main" id="{1EB0EB51-EF0A-4648-B77C-AF19AC8C4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492875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A353CD-041F-4EE4-A315-DBED1A57A22B}" type="slidenum">
              <a:rPr lang="en-US" altLang="zh-CN">
                <a:solidFill>
                  <a:srgbClr val="898989"/>
                </a:solidFill>
              </a:rPr>
              <a:pPr eaLnBrk="1" hangingPunct="1"/>
              <a:t>4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483" name="Text Box 14">
            <a:extLst>
              <a:ext uri="{FF2B5EF4-FFF2-40B4-BE49-F238E27FC236}">
                <a16:creationId xmlns:a16="http://schemas.microsoft.com/office/drawing/2014/main" id="{6B9DA0FF-E50E-4F5D-B386-8E65F3DAA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1638" y="3567113"/>
            <a:ext cx="1439862" cy="1014412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子群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判定定理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重要子群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Text Box 41">
            <a:extLst>
              <a:ext uri="{FF2B5EF4-FFF2-40B4-BE49-F238E27FC236}">
                <a16:creationId xmlns:a16="http://schemas.microsoft.com/office/drawing/2014/main" id="{866B4F1E-778E-49FC-9E74-B4EEE4969C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7538" y="5862638"/>
            <a:ext cx="1841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grpSp>
        <p:nvGrpSpPr>
          <p:cNvPr id="20486" name="组合 42">
            <a:extLst>
              <a:ext uri="{FF2B5EF4-FFF2-40B4-BE49-F238E27FC236}">
                <a16:creationId xmlns:a16="http://schemas.microsoft.com/office/drawing/2014/main" id="{C2FAF38D-6543-416F-85BF-7E03C7031B45}"/>
              </a:ext>
            </a:extLst>
          </p:cNvPr>
          <p:cNvGrpSpPr>
            <a:grpSpLocks/>
          </p:cNvGrpSpPr>
          <p:nvPr/>
        </p:nvGrpSpPr>
        <p:grpSpPr bwMode="auto">
          <a:xfrm>
            <a:off x="1187450" y="1341438"/>
            <a:ext cx="2879725" cy="1323975"/>
            <a:chOff x="1187450" y="1340768"/>
            <a:chExt cx="2880494" cy="1323976"/>
          </a:xfrm>
        </p:grpSpPr>
        <p:sp>
          <p:nvSpPr>
            <p:cNvPr id="20527" name="Text Box 33">
              <a:extLst>
                <a:ext uri="{FF2B5EF4-FFF2-40B4-BE49-F238E27FC236}">
                  <a16:creationId xmlns:a16="http://schemas.microsoft.com/office/drawing/2014/main" id="{C6211407-20B1-44F2-95E9-9E2C58F7E4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1680" y="1340768"/>
              <a:ext cx="2376264" cy="1323976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群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&lt;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,∘,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000" b="1" baseline="30000">
                  <a:latin typeface="Times New Roman" panose="02020603050405020304" pitchFamily="18" charset="0"/>
                  <a:cs typeface="Times New Roman" panose="02020603050405020304" pitchFamily="18" charset="0"/>
                </a:rPr>
                <a:t>-1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</a:p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∘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封闭性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结合律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单位元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 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endPara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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,  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x </a:t>
              </a:r>
              <a:r>
                <a:rPr lang="en-US" altLang="zh-CN" sz="2000" b="1" baseline="30000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-1</a:t>
              </a:r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zh-CN" sz="2000" b="1" i="1"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G</a:t>
              </a:r>
              <a:endParaRPr lang="zh-CN" altLang="en-US" sz="2000" b="1"/>
            </a:p>
          </p:txBody>
        </p:sp>
        <p:sp>
          <p:nvSpPr>
            <p:cNvPr id="20528" name="TextBox 51">
              <a:extLst>
                <a:ext uri="{FF2B5EF4-FFF2-40B4-BE49-F238E27FC236}">
                  <a16:creationId xmlns:a16="http://schemas.microsoft.com/office/drawing/2014/main" id="{7915E958-BB6C-4EE7-8023-438378BAA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87450" y="1700213"/>
              <a:ext cx="360363" cy="647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定</a:t>
              </a:r>
              <a:endParaRPr lang="en-US" altLang="zh-CN" b="1"/>
            </a:p>
            <a:p>
              <a:pPr eaLnBrk="1" hangingPunct="1"/>
              <a:r>
                <a:rPr lang="zh-CN" altLang="en-US" b="1"/>
                <a:t>义</a:t>
              </a:r>
            </a:p>
          </p:txBody>
        </p:sp>
      </p:grpSp>
      <p:grpSp>
        <p:nvGrpSpPr>
          <p:cNvPr id="20487" name="组合 46">
            <a:extLst>
              <a:ext uri="{FF2B5EF4-FFF2-40B4-BE49-F238E27FC236}">
                <a16:creationId xmlns:a16="http://schemas.microsoft.com/office/drawing/2014/main" id="{47337FEB-C643-4694-AA7C-1FD1FDE33174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3567113"/>
            <a:ext cx="1152525" cy="2454275"/>
            <a:chOff x="323850" y="3567113"/>
            <a:chExt cx="1152525" cy="2454275"/>
          </a:xfrm>
        </p:grpSpPr>
        <p:sp>
          <p:nvSpPr>
            <p:cNvPr id="20525" name="Text Box 6">
              <a:extLst>
                <a:ext uri="{FF2B5EF4-FFF2-40B4-BE49-F238E27FC236}">
                  <a16:creationId xmlns:a16="http://schemas.microsoft.com/office/drawing/2014/main" id="{1CE5283E-A14F-4198-8865-E53A21A25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850" y="3567113"/>
              <a:ext cx="1152525" cy="1938337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有限群</a:t>
              </a:r>
              <a:endParaRPr lang="en-US" altLang="zh-CN" sz="2000" b="1"/>
            </a:p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Abel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群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/>
              <a:r>
                <a:rPr lang="en-US" altLang="zh-CN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Klein</a:t>
              </a:r>
              <a:r>
                <a:rPr lang="zh-CN" alt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四元群</a:t>
              </a:r>
              <a:endParaRPr lang="en-US" altLang="zh-CN" sz="2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eaLnBrk="1" hangingPunct="1"/>
              <a:r>
                <a:rPr lang="zh-CN" altLang="en-US" sz="2000" b="1"/>
                <a:t>循环群</a:t>
              </a:r>
              <a:endParaRPr lang="en-US" altLang="zh-CN" sz="2000" b="1"/>
            </a:p>
            <a:p>
              <a:pPr eaLnBrk="1" hangingPunct="1"/>
              <a:r>
                <a:rPr lang="zh-CN" altLang="en-US" sz="2000" b="1"/>
                <a:t>置换群</a:t>
              </a:r>
            </a:p>
          </p:txBody>
        </p:sp>
        <p:sp>
          <p:nvSpPr>
            <p:cNvPr id="20526" name="Text Box 21">
              <a:extLst>
                <a:ext uri="{FF2B5EF4-FFF2-40B4-BE49-F238E27FC236}">
                  <a16:creationId xmlns:a16="http://schemas.microsoft.com/office/drawing/2014/main" id="{9FE96FB6-AC9B-49C4-88D9-54FE814916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850" y="5651500"/>
              <a:ext cx="1152525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特殊的群</a:t>
              </a:r>
            </a:p>
          </p:txBody>
        </p:sp>
      </p:grpSp>
      <p:sp>
        <p:nvSpPr>
          <p:cNvPr id="20488" name="Text Box 14">
            <a:extLst>
              <a:ext uri="{FF2B5EF4-FFF2-40B4-BE49-F238E27FC236}">
                <a16:creationId xmlns:a16="http://schemas.microsoft.com/office/drawing/2014/main" id="{257C4FAE-414A-43DC-995B-F4B0D6ED1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1050" y="3575050"/>
            <a:ext cx="1584325" cy="400050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群的分解</a:t>
            </a:r>
            <a:endParaRPr lang="en-US" altLang="zh-CN" sz="2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9" name="Text Box 14">
            <a:extLst>
              <a:ext uri="{FF2B5EF4-FFF2-40B4-BE49-F238E27FC236}">
                <a16:creationId xmlns:a16="http://schemas.microsoft.com/office/drawing/2014/main" id="{6CB9B323-C459-406A-A79E-B1AF13CF7E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6238" y="3998913"/>
            <a:ext cx="719137" cy="646112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陪集分解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 Box 14">
            <a:extLst>
              <a:ext uri="{FF2B5EF4-FFF2-40B4-BE49-F238E27FC236}">
                <a16:creationId xmlns:a16="http://schemas.microsoft.com/office/drawing/2014/main" id="{0F77D7A9-6087-4A79-97A0-BD26233BF0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52638" y="3995738"/>
            <a:ext cx="865187" cy="65722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b="1" spc="-100" dirty="0">
                <a:latin typeface="Times New Roman" pitchFamily="18" charset="0"/>
                <a:cs typeface="Times New Roman" pitchFamily="18" charset="0"/>
              </a:rPr>
              <a:t>共轭类</a:t>
            </a:r>
            <a:endParaRPr lang="en-US" altLang="zh-CN" b="1" spc="-10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zh-CN" altLang="en-US" b="1" dirty="0">
                <a:latin typeface="Times New Roman" pitchFamily="18" charset="0"/>
                <a:cs typeface="Times New Roman" pitchFamily="18" charset="0"/>
              </a:rPr>
              <a:t>分解</a:t>
            </a:r>
          </a:p>
        </p:txBody>
      </p:sp>
      <p:grpSp>
        <p:nvGrpSpPr>
          <p:cNvPr id="20491" name="组合 48">
            <a:extLst>
              <a:ext uri="{FF2B5EF4-FFF2-40B4-BE49-F238E27FC236}">
                <a16:creationId xmlns:a16="http://schemas.microsoft.com/office/drawing/2014/main" id="{EEEC930A-F2AF-4981-9DEF-7D23F470CE5C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4724400"/>
            <a:ext cx="1439862" cy="1882775"/>
            <a:chOff x="2195513" y="4724400"/>
            <a:chExt cx="1439862" cy="1882775"/>
          </a:xfrm>
        </p:grpSpPr>
        <p:sp>
          <p:nvSpPr>
            <p:cNvPr id="20520" name="Text Box 14">
              <a:extLst>
                <a:ext uri="{FF2B5EF4-FFF2-40B4-BE49-F238E27FC236}">
                  <a16:creationId xmlns:a16="http://schemas.microsoft.com/office/drawing/2014/main" id="{7941ABDF-5D3B-4BB5-A921-22FAAAF3B6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6238" y="5241925"/>
              <a:ext cx="719137" cy="92392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拉格朗日定理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21" name="Text Box 14">
              <a:extLst>
                <a:ext uri="{FF2B5EF4-FFF2-40B4-BE49-F238E27FC236}">
                  <a16:creationId xmlns:a16="http://schemas.microsoft.com/office/drawing/2014/main" id="{5E0870A4-3119-4103-92F1-513788B82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5513" y="5241925"/>
              <a:ext cx="720725" cy="92392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群的分类方程</a:t>
              </a:r>
              <a:endPara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22" name="Line 42">
              <a:extLst>
                <a:ext uri="{FF2B5EF4-FFF2-40B4-BE49-F238E27FC236}">
                  <a16:creationId xmlns:a16="http://schemas.microsoft.com/office/drawing/2014/main" id="{207CB33B-71B2-430F-B359-B2A626B5840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8038" y="4724400"/>
              <a:ext cx="0" cy="504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3" name="Line 42">
              <a:extLst>
                <a:ext uri="{FF2B5EF4-FFF2-40B4-BE49-F238E27FC236}">
                  <a16:creationId xmlns:a16="http://schemas.microsoft.com/office/drawing/2014/main" id="{67B4F323-62D7-49C9-8261-07BF521724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84438" y="4724400"/>
              <a:ext cx="0" cy="5048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24" name="矩形 66">
              <a:extLst>
                <a:ext uri="{FF2B5EF4-FFF2-40B4-BE49-F238E27FC236}">
                  <a16:creationId xmlns:a16="http://schemas.microsoft.com/office/drawing/2014/main" id="{7DA66D3B-F5F0-4AA7-8DDD-F6EEA039A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95513" y="6237288"/>
              <a:ext cx="1439862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有限群计数</a:t>
              </a:r>
            </a:p>
          </p:txBody>
        </p:sp>
      </p:grpSp>
      <p:sp>
        <p:nvSpPr>
          <p:cNvPr id="20492" name="Text Box 7">
            <a:extLst>
              <a:ext uri="{FF2B5EF4-FFF2-40B4-BE49-F238E27FC236}">
                <a16:creationId xmlns:a16="http://schemas.microsoft.com/office/drawing/2014/main" id="{585293E8-2ECB-4FEE-9040-34DE0A35FE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3800475"/>
            <a:ext cx="792162" cy="70802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/>
              <a:t>商群</a:t>
            </a:r>
            <a:endParaRPr lang="en-US" altLang="zh-CN" sz="2000" b="1"/>
          </a:p>
          <a:p>
            <a:pPr eaLnBrk="1" hangingPunct="1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G/H</a:t>
            </a:r>
          </a:p>
        </p:txBody>
      </p:sp>
      <p:grpSp>
        <p:nvGrpSpPr>
          <p:cNvPr id="20493" name="组合 49">
            <a:extLst>
              <a:ext uri="{FF2B5EF4-FFF2-40B4-BE49-F238E27FC236}">
                <a16:creationId xmlns:a16="http://schemas.microsoft.com/office/drawing/2014/main" id="{1099F77B-5663-4F2D-A858-973452026585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4646613"/>
            <a:ext cx="792162" cy="1290637"/>
            <a:chOff x="4427538" y="4646613"/>
            <a:chExt cx="792162" cy="1290637"/>
          </a:xfrm>
        </p:grpSpPr>
        <p:sp>
          <p:nvSpPr>
            <p:cNvPr id="20518" name="Text Box 7">
              <a:extLst>
                <a:ext uri="{FF2B5EF4-FFF2-40B4-BE49-F238E27FC236}">
                  <a16:creationId xmlns:a16="http://schemas.microsoft.com/office/drawing/2014/main" id="{E57FE8BD-CE78-4B9C-A07F-00D5A3AFA9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7538" y="5229225"/>
              <a:ext cx="792162" cy="70802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正规</a:t>
              </a:r>
              <a:endParaRPr lang="en-US" altLang="zh-CN" sz="2000" b="1"/>
            </a:p>
            <a:p>
              <a:pPr eaLnBrk="1" hangingPunct="1"/>
              <a:r>
                <a:rPr lang="zh-CN" altLang="en-US" sz="2000" b="1"/>
                <a:t>子群</a:t>
              </a:r>
              <a:endParaRPr lang="en-US" altLang="zh-CN" sz="2000" b="1"/>
            </a:p>
          </p:txBody>
        </p:sp>
        <p:sp>
          <p:nvSpPr>
            <p:cNvPr id="20519" name="Line 42">
              <a:extLst>
                <a:ext uri="{FF2B5EF4-FFF2-40B4-BE49-F238E27FC236}">
                  <a16:creationId xmlns:a16="http://schemas.microsoft.com/office/drawing/2014/main" id="{585EF7AC-4575-4CA6-9341-5E0AF2E4E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900" y="4646613"/>
              <a:ext cx="0" cy="50323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0494" name="组合 43">
            <a:extLst>
              <a:ext uri="{FF2B5EF4-FFF2-40B4-BE49-F238E27FC236}">
                <a16:creationId xmlns:a16="http://schemas.microsoft.com/office/drawing/2014/main" id="{99C0B459-4F5F-4DF1-BC3D-CB31E4332D6F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1268413"/>
            <a:ext cx="3384550" cy="1477962"/>
            <a:chOff x="4211638" y="1268413"/>
            <a:chExt cx="3384550" cy="1477962"/>
          </a:xfrm>
        </p:grpSpPr>
        <p:sp>
          <p:nvSpPr>
            <p:cNvPr id="20515" name="Line 10">
              <a:extLst>
                <a:ext uri="{FF2B5EF4-FFF2-40B4-BE49-F238E27FC236}">
                  <a16:creationId xmlns:a16="http://schemas.microsoft.com/office/drawing/2014/main" id="{244B2FD2-CABF-41F9-9FDB-1632758461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1638" y="2125663"/>
              <a:ext cx="903287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16" name="Text Box 20">
              <a:extLst>
                <a:ext uri="{FF2B5EF4-FFF2-40B4-BE49-F238E27FC236}">
                  <a16:creationId xmlns:a16="http://schemas.microsoft.com/office/drawing/2014/main" id="{72A7DBD2-9575-4B36-8395-EE22B249D1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19700" y="1268413"/>
              <a:ext cx="2376488" cy="1477962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marL="342900" indent="-3429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lvl="1" eaLnBrk="1" hangingPunct="1">
                <a:lnSpc>
                  <a:spcPct val="90000"/>
                </a:lnSpc>
              </a:pPr>
              <a:r>
                <a:rPr lang="zh-CN" altLang="en-US" sz="2000" b="1"/>
                <a:t>幂运算规则</a:t>
              </a:r>
            </a:p>
            <a:p>
              <a:pPr marL="0" lvl="1" eaLnBrk="1" hangingPunct="1">
                <a:lnSpc>
                  <a:spcPct val="90000"/>
                </a:lnSpc>
              </a:pPr>
              <a:r>
                <a:rPr lang="zh-CN" altLang="en-US" sz="2000" b="1"/>
                <a:t>方程唯一解</a:t>
              </a:r>
            </a:p>
            <a:p>
              <a:pPr marL="0" lvl="1" eaLnBrk="1" hangingPunct="1">
                <a:lnSpc>
                  <a:spcPct val="90000"/>
                </a:lnSpc>
              </a:pPr>
              <a:r>
                <a:rPr lang="zh-CN" altLang="en-US" sz="2000" b="1"/>
                <a:t>消去律</a:t>
              </a:r>
            </a:p>
            <a:p>
              <a:pPr marL="0" lvl="1" eaLnBrk="1" hangingPunct="1">
                <a:lnSpc>
                  <a:spcPct val="90000"/>
                </a:lnSpc>
              </a:pPr>
              <a:r>
                <a:rPr lang="zh-CN" altLang="en-US" sz="2000" b="1"/>
                <a:t>运算表的置换</a:t>
              </a:r>
            </a:p>
            <a:p>
              <a:pPr marL="0" lvl="1" eaLnBrk="1" hangingPunct="1">
                <a:lnSpc>
                  <a:spcPct val="90000"/>
                </a:lnSpc>
              </a:pPr>
              <a:r>
                <a:rPr lang="zh-CN" altLang="en-US" sz="2000" b="1"/>
                <a:t>元素阶的性质</a:t>
              </a:r>
            </a:p>
          </p:txBody>
        </p:sp>
        <p:sp>
          <p:nvSpPr>
            <p:cNvPr id="20517" name="矩形 70">
              <a:extLst>
                <a:ext uri="{FF2B5EF4-FFF2-40B4-BE49-F238E27FC236}">
                  <a16:creationId xmlns:a16="http://schemas.microsoft.com/office/drawing/2014/main" id="{5E079802-74A8-4A07-83B2-2AC8D50ABB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84663" y="1693863"/>
              <a:ext cx="64928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性质</a:t>
              </a:r>
            </a:p>
          </p:txBody>
        </p:sp>
      </p:grpSp>
      <p:sp>
        <p:nvSpPr>
          <p:cNvPr id="20495" name="Line 10">
            <a:extLst>
              <a:ext uri="{FF2B5EF4-FFF2-40B4-BE49-F238E27FC236}">
                <a16:creationId xmlns:a16="http://schemas.microsoft.com/office/drawing/2014/main" id="{FC9BFD8E-747F-49F5-82DC-EF6185D936D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64163" y="5583238"/>
            <a:ext cx="6477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0496" name="组合 51">
            <a:extLst>
              <a:ext uri="{FF2B5EF4-FFF2-40B4-BE49-F238E27FC236}">
                <a16:creationId xmlns:a16="http://schemas.microsoft.com/office/drawing/2014/main" id="{A2247B89-9697-4C5D-96D7-2D91B14C9B18}"/>
              </a:ext>
            </a:extLst>
          </p:cNvPr>
          <p:cNvGrpSpPr>
            <a:grpSpLocks/>
          </p:cNvGrpSpPr>
          <p:nvPr/>
        </p:nvGrpSpPr>
        <p:grpSpPr bwMode="auto">
          <a:xfrm>
            <a:off x="6084888" y="4581525"/>
            <a:ext cx="1223962" cy="1355725"/>
            <a:chOff x="6084888" y="4581525"/>
            <a:chExt cx="1223962" cy="1355725"/>
          </a:xfrm>
        </p:grpSpPr>
        <p:sp>
          <p:nvSpPr>
            <p:cNvPr id="20513" name="Text Box 7">
              <a:extLst>
                <a:ext uri="{FF2B5EF4-FFF2-40B4-BE49-F238E27FC236}">
                  <a16:creationId xmlns:a16="http://schemas.microsoft.com/office/drawing/2014/main" id="{B617DB9B-9403-4CC8-9592-84410A6EE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84888" y="5229225"/>
              <a:ext cx="1223962" cy="708025"/>
            </a:xfrm>
            <a:prstGeom prst="rect">
              <a:avLst/>
            </a:prstGeom>
            <a:noFill/>
            <a:ln w="28575">
              <a:solidFill>
                <a:srgbClr val="8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sz="2000" b="1"/>
                <a:t>同余关系</a:t>
              </a:r>
              <a:endParaRPr lang="en-US" altLang="zh-CN" sz="2000" b="1"/>
            </a:p>
            <a:p>
              <a:pPr eaLnBrk="1" hangingPunct="1"/>
              <a:r>
                <a:rPr lang="zh-CN" altLang="en-US" sz="2000" b="1"/>
                <a:t>同态映射</a:t>
              </a:r>
            </a:p>
          </p:txBody>
        </p:sp>
        <p:sp>
          <p:nvSpPr>
            <p:cNvPr id="20514" name="Line 10">
              <a:extLst>
                <a:ext uri="{FF2B5EF4-FFF2-40B4-BE49-F238E27FC236}">
                  <a16:creationId xmlns:a16="http://schemas.microsoft.com/office/drawing/2014/main" id="{84010F78-E697-4FAC-A1B3-ECD4EE4BD21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59563" y="4581525"/>
              <a:ext cx="0" cy="64770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0497" name="Line 42">
            <a:extLst>
              <a:ext uri="{FF2B5EF4-FFF2-40B4-BE49-F238E27FC236}">
                <a16:creationId xmlns:a16="http://schemas.microsoft.com/office/drawing/2014/main" id="{01D5A346-816E-4DA1-95A7-490B69D1AE6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08400" y="4292600"/>
            <a:ext cx="423863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8" name="Text Box 7">
            <a:extLst>
              <a:ext uri="{FF2B5EF4-FFF2-40B4-BE49-F238E27FC236}">
                <a16:creationId xmlns:a16="http://schemas.microsoft.com/office/drawing/2014/main" id="{3B3B2966-EB68-4419-B824-D3CBB1289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24750" y="3789363"/>
            <a:ext cx="792163" cy="70802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/>
              <a:t>群的直积</a:t>
            </a:r>
          </a:p>
        </p:txBody>
      </p:sp>
      <p:grpSp>
        <p:nvGrpSpPr>
          <p:cNvPr id="20499" name="组合 45">
            <a:extLst>
              <a:ext uri="{FF2B5EF4-FFF2-40B4-BE49-F238E27FC236}">
                <a16:creationId xmlns:a16="http://schemas.microsoft.com/office/drawing/2014/main" id="{C24BB64F-816C-41CD-8B03-FED7B71FE52A}"/>
              </a:ext>
            </a:extLst>
          </p:cNvPr>
          <p:cNvGrpSpPr>
            <a:grpSpLocks/>
          </p:cNvGrpSpPr>
          <p:nvPr/>
        </p:nvGrpSpPr>
        <p:grpSpPr bwMode="auto">
          <a:xfrm>
            <a:off x="900113" y="2708275"/>
            <a:ext cx="7775575" cy="1008063"/>
            <a:chOff x="900113" y="2707952"/>
            <a:chExt cx="7775575" cy="1009155"/>
          </a:xfrm>
        </p:grpSpPr>
        <p:sp>
          <p:nvSpPr>
            <p:cNvPr id="20500" name="Line 42">
              <a:extLst>
                <a:ext uri="{FF2B5EF4-FFF2-40B4-BE49-F238E27FC236}">
                  <a16:creationId xmlns:a16="http://schemas.microsoft.com/office/drawing/2014/main" id="{2A10B205-F5E5-4199-B71C-D376FFCB29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87900" y="2924944"/>
              <a:ext cx="0" cy="50323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501" name="矩形 56">
              <a:extLst>
                <a:ext uri="{FF2B5EF4-FFF2-40B4-BE49-F238E27FC236}">
                  <a16:creationId xmlns:a16="http://schemas.microsoft.com/office/drawing/2014/main" id="{977A0A68-BEFE-4B44-BA0F-8F92AB5831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0113" y="3059113"/>
              <a:ext cx="649287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 b="1"/>
                <a:t>实例</a:t>
              </a:r>
            </a:p>
          </p:txBody>
        </p:sp>
        <p:grpSp>
          <p:nvGrpSpPr>
            <p:cNvPr id="20502" name="组合 44">
              <a:extLst>
                <a:ext uri="{FF2B5EF4-FFF2-40B4-BE49-F238E27FC236}">
                  <a16:creationId xmlns:a16="http://schemas.microsoft.com/office/drawing/2014/main" id="{8BEACBBE-54F1-43C4-A15A-4A812A5B45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00113" y="2707952"/>
              <a:ext cx="7775575" cy="1009155"/>
              <a:chOff x="900113" y="2707952"/>
              <a:chExt cx="7775575" cy="1009155"/>
            </a:xfrm>
          </p:grpSpPr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82F969DE-F70E-4033-8BEF-B372EBB92F3B}"/>
                  </a:ext>
                </a:extLst>
              </p:cNvPr>
              <p:cNvCxnSpPr/>
              <p:nvPr/>
            </p:nvCxnSpPr>
            <p:spPr>
              <a:xfrm>
                <a:off x="900113" y="2925676"/>
                <a:ext cx="6911975" cy="0"/>
              </a:xfrm>
              <a:prstGeom prst="line">
                <a:avLst/>
              </a:prstGeom>
              <a:ln w="317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0504" name="组合 41">
                <a:extLst>
                  <a:ext uri="{FF2B5EF4-FFF2-40B4-BE49-F238E27FC236}">
                    <a16:creationId xmlns:a16="http://schemas.microsoft.com/office/drawing/2014/main" id="{100463C6-112D-4544-BD0C-D3109B34784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0113" y="2707952"/>
                <a:ext cx="7775575" cy="1009155"/>
                <a:chOff x="900113" y="2636912"/>
                <a:chExt cx="7775575" cy="1009155"/>
              </a:xfrm>
            </p:grpSpPr>
            <p:sp>
              <p:nvSpPr>
                <p:cNvPr id="20505" name="Text Box 21">
                  <a:extLst>
                    <a:ext uri="{FF2B5EF4-FFF2-40B4-BE49-F238E27FC236}">
                      <a16:creationId xmlns:a16="http://schemas.microsoft.com/office/drawing/2014/main" id="{6453153E-AE2D-4C7B-899F-E668CE4ABD3C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700338" y="3060775"/>
                  <a:ext cx="792162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b="1"/>
                    <a:t>结构</a:t>
                  </a:r>
                </a:p>
              </p:txBody>
            </p:sp>
            <p:sp>
              <p:nvSpPr>
                <p:cNvPr id="20506" name="矩形 53">
                  <a:extLst>
                    <a:ext uri="{FF2B5EF4-FFF2-40B4-BE49-F238E27FC236}">
                      <a16:creationId xmlns:a16="http://schemas.microsoft.com/office/drawing/2014/main" id="{841E29C6-DAF1-4732-B410-61609E79B1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787900" y="3060775"/>
                  <a:ext cx="882650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b="1"/>
                    <a:t>子代数</a:t>
                  </a:r>
                </a:p>
              </p:txBody>
            </p:sp>
            <p:sp>
              <p:nvSpPr>
                <p:cNvPr id="20507" name="Line 42">
                  <a:extLst>
                    <a:ext uri="{FF2B5EF4-FFF2-40B4-BE49-F238E27FC236}">
                      <a16:creationId xmlns:a16="http://schemas.microsoft.com/office/drawing/2014/main" id="{2785DB08-B296-4CA6-8628-D6714C9844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6588125" y="2853904"/>
                  <a:ext cx="0" cy="79216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08" name="矩形 57">
                  <a:extLst>
                    <a:ext uri="{FF2B5EF4-FFF2-40B4-BE49-F238E27FC236}">
                      <a16:creationId xmlns:a16="http://schemas.microsoft.com/office/drawing/2014/main" id="{884591D1-53DA-47C3-9419-EBF1E2056E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16688" y="3070300"/>
                  <a:ext cx="881062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b="1"/>
                    <a:t>商代数</a:t>
                  </a:r>
                </a:p>
              </p:txBody>
            </p:sp>
            <p:sp>
              <p:nvSpPr>
                <p:cNvPr id="20509" name="Line 42">
                  <a:extLst>
                    <a:ext uri="{FF2B5EF4-FFF2-40B4-BE49-F238E27FC236}">
                      <a16:creationId xmlns:a16="http://schemas.microsoft.com/office/drawing/2014/main" id="{C6F571D6-26B7-44C2-86EE-7F28B10EB3D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700338" y="2636912"/>
                  <a:ext cx="0" cy="792163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10" name="Line 42">
                  <a:extLst>
                    <a:ext uri="{FF2B5EF4-FFF2-40B4-BE49-F238E27FC236}">
                      <a16:creationId xmlns:a16="http://schemas.microsoft.com/office/drawing/2014/main" id="{4654471D-4B17-4E19-977C-FB11459112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7812088" y="2853904"/>
                  <a:ext cx="0" cy="7191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11" name="Line 42">
                  <a:extLst>
                    <a:ext uri="{FF2B5EF4-FFF2-40B4-BE49-F238E27FC236}">
                      <a16:creationId xmlns:a16="http://schemas.microsoft.com/office/drawing/2014/main" id="{28328EEE-CB46-4298-AD9B-352F5D132F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00113" y="2853904"/>
                  <a:ext cx="0" cy="503238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0512" name="矩形 83">
                  <a:extLst>
                    <a:ext uri="{FF2B5EF4-FFF2-40B4-BE49-F238E27FC236}">
                      <a16:creationId xmlns:a16="http://schemas.microsoft.com/office/drawing/2014/main" id="{DE3F4409-0450-4872-A3D1-7397E2E877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794625" y="3070300"/>
                  <a:ext cx="881063" cy="36830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zh-CN" altLang="en-US" b="1"/>
                    <a:t>积代数</a:t>
                  </a:r>
                </a:p>
              </p:txBody>
            </p:sp>
          </p:grp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56DA2AD-7241-4DB5-97A1-9FB1F63002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证明群或者子群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C17C917-5EB0-44B4-BDF6-A8DA6EFA8E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1341438"/>
            <a:ext cx="8358187" cy="1938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证明群</a:t>
            </a:r>
            <a:r>
              <a:rPr lang="en-US" altLang="zh-CN" sz="2400" b="1">
                <a:solidFill>
                  <a:srgbClr val="A50021"/>
                </a:solidFill>
                <a:latin typeface="Times New Roman" panose="02020603050405020304" pitchFamily="18" charset="0"/>
              </a:rPr>
              <a:t>: </a:t>
            </a:r>
            <a:r>
              <a:rPr lang="zh-CN" altLang="en-US" sz="2400" b="1">
                <a:latin typeface="Times New Roman" panose="02020603050405020304" pitchFamily="18" charset="0"/>
              </a:rPr>
              <a:t>验证下述条件之一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(1) </a:t>
            </a:r>
            <a:r>
              <a:rPr lang="zh-CN" altLang="en-US" sz="2400" b="1">
                <a:latin typeface="Times New Roman" panose="02020603050405020304" pitchFamily="18" charset="0"/>
              </a:rPr>
              <a:t>封闭性、结合律、单位元、每个元素有逆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(2) </a:t>
            </a:r>
            <a:r>
              <a:rPr lang="zh-CN" altLang="en-US" sz="2400" b="1">
                <a:latin typeface="Times New Roman" panose="02020603050405020304" pitchFamily="18" charset="0"/>
              </a:rPr>
              <a:t>封闭性、结合律、右单位元、每个元素有右逆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(3) </a:t>
            </a:r>
            <a:r>
              <a:rPr lang="zh-CN" altLang="en-US" sz="2400" b="1">
                <a:latin typeface="Times New Roman" panose="02020603050405020304" pitchFamily="18" charset="0"/>
              </a:rPr>
              <a:t>封闭性、结合律、方程有解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</a:t>
            </a:r>
            <a:r>
              <a:rPr lang="en-US" altLang="zh-CN" sz="2400" b="1">
                <a:latin typeface="Times New Roman" panose="02020603050405020304" pitchFamily="18" charset="0"/>
              </a:rPr>
              <a:t>(4) </a:t>
            </a:r>
            <a:r>
              <a:rPr lang="zh-CN" altLang="en-US" sz="2400" b="1">
                <a:latin typeface="Times New Roman" panose="02020603050405020304" pitchFamily="18" charset="0"/>
              </a:rPr>
              <a:t>封闭性、结合律、有限、无零元、消去律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21508" name="Rectangle 4">
            <a:extLst>
              <a:ext uri="{FF2B5EF4-FFF2-40B4-BE49-F238E27FC236}">
                <a16:creationId xmlns:a16="http://schemas.microsoft.com/office/drawing/2014/main" id="{4E052A90-BF21-4BE5-A1B4-4913E350E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063" y="3500438"/>
            <a:ext cx="8215312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证明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H 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是 </a:t>
            </a:r>
            <a:r>
              <a:rPr lang="en-US" altLang="zh-CN" sz="2400" b="1" i="1">
                <a:solidFill>
                  <a:srgbClr val="A50021"/>
                </a:solidFill>
                <a:latin typeface="Times New Roman" panose="02020603050405020304" pitchFamily="18" charset="0"/>
              </a:rPr>
              <a:t>G  </a:t>
            </a:r>
            <a:r>
              <a:rPr lang="zh-CN" altLang="en-US" sz="2400" b="1">
                <a:solidFill>
                  <a:srgbClr val="A50021"/>
                </a:solidFill>
                <a:latin typeface="Times New Roman" panose="02020603050405020304" pitchFamily="18" charset="0"/>
              </a:rPr>
              <a:t>的子群：</a:t>
            </a:r>
            <a:r>
              <a:rPr lang="zh-CN" altLang="en-US" sz="2400" b="1">
                <a:latin typeface="Times New Roman" panose="02020603050405020304" pitchFamily="18" charset="0"/>
              </a:rPr>
              <a:t>判定定理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</a:rPr>
              <a:t>   前提：</a:t>
            </a:r>
            <a:r>
              <a:rPr lang="en-US" altLang="zh-CN" sz="2400" b="1" i="1">
                <a:latin typeface="Times New Roman" panose="02020603050405020304" pitchFamily="18" charset="0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</a:rPr>
              <a:t>是 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的非空子集 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</a:rPr>
              <a:t>进行验证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en-US" altLang="zh-CN" sz="2400" b="1">
                <a:latin typeface="Times New Roman" panose="02020603050405020304" pitchFamily="18" charset="0"/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</a:rPr>
              <a:t>验证下述条件之一 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eaLnBrk="1" hangingPunct="1"/>
            <a:r>
              <a:rPr lang="zh-CN" altLang="fr-FR" sz="2400" b="1">
                <a:latin typeface="Times New Roman" panose="02020603050405020304" pitchFamily="18" charset="0"/>
              </a:rPr>
              <a:t>   </a:t>
            </a:r>
            <a:r>
              <a:rPr lang="fr-FR" altLang="zh-CN" sz="2400" b="1">
                <a:latin typeface="Times New Roman" panose="02020603050405020304" pitchFamily="18" charset="0"/>
              </a:rPr>
              <a:t>(1)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sz="2400" b="1" i="1">
                <a:latin typeface="Times New Roman" panose="02020603050405020304" pitchFamily="18" charset="0"/>
              </a:rPr>
              <a:t>x, 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H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H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fr-FR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H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(2)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fr-FR" altLang="zh-CN" sz="2400" b="1" i="1">
                <a:latin typeface="Times New Roman" panose="02020603050405020304" pitchFamily="18" charset="0"/>
              </a:rPr>
              <a:t>x, 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H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fr-FR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y</a:t>
            </a:r>
            <a:r>
              <a:rPr lang="fr-FR" altLang="zh-CN" sz="2400" b="1" baseline="30000">
                <a:latin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fr-FR" altLang="zh-CN" sz="2400" b="1" baseline="30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fr-FR" altLang="zh-CN" sz="2400" b="1" i="1">
                <a:latin typeface="Times New Roman" panose="02020603050405020304" pitchFamily="18" charset="0"/>
              </a:rPr>
              <a:t>H</a:t>
            </a:r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endParaRPr lang="en-US" altLang="zh-CN" sz="240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/>
            <a:r>
              <a:rPr lang="fr-FR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  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H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有限，</a:t>
            </a:r>
            <a:r>
              <a:rPr lang="en-US" altLang="zh-CN" sz="2400" b="1" i="1">
                <a:latin typeface="Times New Roman" panose="02020603050405020304" pitchFamily="18" charset="0"/>
              </a:rPr>
              <a:t>x, 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x y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</a:rPr>
              <a:t>H</a:t>
            </a:r>
            <a:r>
              <a:rPr lang="en-US" altLang="zh-CN" sz="2400">
                <a:latin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3">
            <a:extLst>
              <a:ext uri="{FF2B5EF4-FFF2-40B4-BE49-F238E27FC236}">
                <a16:creationId xmlns:a16="http://schemas.microsoft.com/office/drawing/2014/main" id="{2E44D7AA-7CD9-4A52-81C9-0F302B329E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证明正规性或者同态</a:t>
            </a:r>
          </a:p>
        </p:txBody>
      </p:sp>
      <p:sp>
        <p:nvSpPr>
          <p:cNvPr id="22531" name="内容占位符 3">
            <a:extLst>
              <a:ext uri="{FF2B5EF4-FFF2-40B4-BE49-F238E27FC236}">
                <a16:creationId xmlns:a16="http://schemas.microsoft.com/office/drawing/2014/main" id="{1D745F23-18A6-44D9-A208-8C87BEF11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268413"/>
            <a:ext cx="8229600" cy="26860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证明子群 </a:t>
            </a:r>
            <a:r>
              <a:rPr lang="en-US" altLang="zh-CN" sz="2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的正规性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验证下述条件之一：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(1)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gng</a:t>
            </a:r>
            <a:r>
              <a:rPr lang="fr-FR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(2)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gNg</a:t>
            </a:r>
            <a:r>
              <a:rPr lang="fr-FR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altLang="zh-CN" sz="2400" b="1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(3) |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| =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的唯一的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阶子群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(4) [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] = 2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1E27E77-EDE9-446E-BAEB-AA1049A3CBA6}"/>
              </a:ext>
            </a:extLst>
          </p:cNvPr>
          <p:cNvSpPr txBox="1">
            <a:spLocks/>
          </p:cNvSpPr>
          <p:nvPr/>
        </p:nvSpPr>
        <p:spPr bwMode="auto">
          <a:xfrm>
            <a:off x="468313" y="4149725"/>
            <a:ext cx="8229600" cy="157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400" b="1" kern="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证明  </a:t>
            </a:r>
            <a:r>
              <a:rPr lang="en-US" altLang="zh-CN" sz="2400" b="1" i="1" kern="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f  </a:t>
            </a:r>
            <a:r>
              <a:rPr lang="zh-CN" altLang="en-US" sz="2400" b="1" kern="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是 </a:t>
            </a:r>
            <a:r>
              <a:rPr lang="en-US" altLang="zh-CN" sz="2400" b="1" i="1" kern="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altLang="zh-CN" sz="2400" b="1" kern="0" baseline="-2500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 </a:t>
            </a:r>
            <a:r>
              <a:rPr lang="zh-CN" altLang="en-US" sz="2400" b="1" kern="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到 </a:t>
            </a:r>
            <a:r>
              <a:rPr lang="en-US" altLang="zh-CN" sz="2400" b="1" i="1" kern="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altLang="zh-CN" sz="2400" b="1" kern="0" baseline="-2500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 </a:t>
            </a:r>
            <a:r>
              <a:rPr lang="zh-CN" altLang="en-US" sz="2400" b="1" kern="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的同态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 (1)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验证  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 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: 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altLang="zh-CN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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altLang="zh-CN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（注意良定义性的验证）</a:t>
            </a: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 (2)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验证 </a:t>
            </a:r>
            <a:r>
              <a:rPr lang="en-US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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x, y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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altLang="zh-CN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,  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x y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) = 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x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) 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(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y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)</a:t>
            </a:r>
            <a:endParaRPr lang="zh-CN" altLang="en-US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itchFamily="2" charset="2"/>
              <a:buChar char="p"/>
              <a:defRPr/>
            </a:pPr>
            <a:endParaRPr lang="zh-CN" altLang="en-US" sz="2800" b="1" kern="0" dirty="0">
              <a:solidFill>
                <a:schemeClr val="tx2"/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>
            <a:extLst>
              <a:ext uri="{FF2B5EF4-FFF2-40B4-BE49-F238E27FC236}">
                <a16:creationId xmlns:a16="http://schemas.microsoft.com/office/drawing/2014/main" id="{D451AB78-6162-45B1-8E81-D7B1093296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11188" y="188913"/>
            <a:ext cx="8229600" cy="706437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证明同构或不同构</a:t>
            </a:r>
          </a:p>
        </p:txBody>
      </p:sp>
      <p:sp>
        <p:nvSpPr>
          <p:cNvPr id="6" name="内容占位符 3">
            <a:extLst>
              <a:ext uri="{FF2B5EF4-FFF2-40B4-BE49-F238E27FC236}">
                <a16:creationId xmlns:a16="http://schemas.microsoft.com/office/drawing/2014/main" id="{C3B4C85D-0A69-41A8-BC48-F385F7A9241F}"/>
              </a:ext>
            </a:extLst>
          </p:cNvPr>
          <p:cNvSpPr txBox="1">
            <a:spLocks/>
          </p:cNvSpPr>
          <p:nvPr/>
        </p:nvSpPr>
        <p:spPr bwMode="auto">
          <a:xfrm>
            <a:off x="684213" y="1341438"/>
            <a:ext cx="7848600" cy="3357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ts val="3800"/>
              </a:lnSpc>
              <a:spcBef>
                <a:spcPts val="3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800" b="1" kern="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证明同构的方法</a:t>
            </a:r>
            <a:endParaRPr lang="en-US" altLang="zh-CN" sz="2800" b="1" kern="0" dirty="0">
              <a:solidFill>
                <a:srgbClr val="C0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ts val="3800"/>
              </a:lnSpc>
              <a:spcBef>
                <a:spcPts val="300"/>
              </a:spcBef>
              <a:buClr>
                <a:schemeClr val="bg2"/>
              </a:buClr>
              <a:buSzPct val="75000"/>
              <a:defRPr/>
            </a:pP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1. 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定义：证明  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 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: 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altLang="zh-CN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1 </a:t>
            </a: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  <a:sym typeface="Symbol" pitchFamily="18" charset="2"/>
              </a:rPr>
              <a:t> 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G</a:t>
            </a:r>
            <a:r>
              <a:rPr lang="en-US" altLang="zh-CN" sz="2400" b="1" kern="0" baseline="-250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是同态，证明  </a:t>
            </a:r>
            <a:r>
              <a:rPr lang="en-US" altLang="zh-CN" sz="2400" b="1" i="1" kern="0" dirty="0">
                <a:latin typeface="Times New Roman" pitchFamily="18" charset="0"/>
                <a:ea typeface="+mn-ea"/>
                <a:cs typeface="Times New Roman" pitchFamily="18" charset="0"/>
              </a:rPr>
              <a:t>f 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为双射</a:t>
            </a:r>
          </a:p>
          <a:p>
            <a:pPr marL="342900" indent="-342900" eaLnBrk="0" hangingPunct="0">
              <a:lnSpc>
                <a:spcPts val="3800"/>
              </a:lnSpc>
              <a:spcBef>
                <a:spcPts val="3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2. 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同态基本定理，其中一个群是商群</a:t>
            </a:r>
            <a:endParaRPr lang="en-US" altLang="zh-CN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ts val="3800"/>
              </a:lnSpc>
              <a:spcBef>
                <a:spcPts val="3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endParaRPr lang="en-US" altLang="zh-CN" sz="2400" b="1" kern="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ts val="3800"/>
              </a:lnSpc>
              <a:spcBef>
                <a:spcPts val="3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zh-CN" altLang="en-US" sz="2800" b="1" kern="0" dirty="0">
                <a:solidFill>
                  <a:srgbClr val="C00000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证明不存在同构的方法</a:t>
            </a:r>
            <a:endParaRPr lang="en-US" altLang="zh-CN" sz="2800" b="1" kern="0" dirty="0">
              <a:solidFill>
                <a:srgbClr val="C00000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342900" indent="-342900" eaLnBrk="0" hangingPunct="0">
              <a:lnSpc>
                <a:spcPts val="3800"/>
              </a:lnSpc>
              <a:spcBef>
                <a:spcPts val="300"/>
              </a:spcBef>
              <a:buClr>
                <a:schemeClr val="bg2"/>
              </a:buClr>
              <a:buSzPct val="75000"/>
              <a:buFont typeface="Wingdings" pitchFamily="2" charset="2"/>
              <a:buNone/>
              <a:defRPr/>
            </a:pPr>
            <a:r>
              <a:rPr lang="en-US" altLang="zh-CN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   1.  </a:t>
            </a:r>
            <a:r>
              <a:rPr lang="zh-CN" altLang="en-US" sz="2400" b="1" kern="0" dirty="0">
                <a:latin typeface="Times New Roman" pitchFamily="18" charset="0"/>
                <a:ea typeface="+mn-ea"/>
                <a:cs typeface="Times New Roman" pitchFamily="18" charset="0"/>
              </a:rPr>
              <a:t>通常用反证法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>
            <a:extLst>
              <a:ext uri="{FF2B5EF4-FFF2-40B4-BE49-F238E27FC236}">
                <a16:creationId xmlns:a16="http://schemas.microsoft.com/office/drawing/2014/main" id="{C4AD59D2-3BDA-40F3-B81B-7BDC77C166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63575" y="188913"/>
            <a:ext cx="8229600" cy="7778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与有限群相关的数量结果</a:t>
            </a:r>
          </a:p>
        </p:txBody>
      </p:sp>
      <p:graphicFrame>
        <p:nvGraphicFramePr>
          <p:cNvPr id="3074" name="Object 3">
            <a:extLst>
              <a:ext uri="{FF2B5EF4-FFF2-40B4-BE49-F238E27FC236}">
                <a16:creationId xmlns:a16="http://schemas.microsoft.com/office/drawing/2014/main" id="{15CE0397-1379-4F31-AFCB-DAD7942DECF2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642938" y="4437063"/>
          <a:ext cx="2898775" cy="534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2" name="公式" r:id="rId4" imgW="1307880" imgH="241200" progId="Equation.3">
                  <p:embed/>
                </p:oleObj>
              </mc:Choice>
              <mc:Fallback>
                <p:oleObj name="公式" r:id="rId4" imgW="130788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2938" y="4437063"/>
                        <a:ext cx="2898775" cy="534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7">
            <a:extLst>
              <a:ext uri="{FF2B5EF4-FFF2-40B4-BE49-F238E27FC236}">
                <a16:creationId xmlns:a16="http://schemas.microsoft.com/office/drawing/2014/main" id="{C05055E8-02F4-4E89-9803-6D6366487FF7}"/>
              </a:ext>
            </a:extLst>
          </p:cNvPr>
          <p:cNvGraphicFramePr>
            <a:graphicFrameLocks noGrp="1" noChangeAspect="1"/>
          </p:cNvGraphicFramePr>
          <p:nvPr>
            <p:ph sz="half" idx="2"/>
          </p:nvPr>
        </p:nvGraphicFramePr>
        <p:xfrm>
          <a:off x="6102350" y="3808413"/>
          <a:ext cx="9398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公式" r:id="rId6" imgW="939600" imgH="393480" progId="Equation.3">
                  <p:embed/>
                </p:oleObj>
              </mc:Choice>
              <mc:Fallback>
                <p:oleObj name="公式" r:id="rId6" imgW="939600" imgH="39348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02350" y="3808413"/>
                        <a:ext cx="9398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>
            <a:extLst>
              <a:ext uri="{FF2B5EF4-FFF2-40B4-BE49-F238E27FC236}">
                <a16:creationId xmlns:a16="http://schemas.microsoft.com/office/drawing/2014/main" id="{A8351F55-F438-4BBE-8FFE-C5193AEDB7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908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027" name="Object 5">
            <a:extLst>
              <a:ext uri="{FF2B5EF4-FFF2-40B4-BE49-F238E27FC236}">
                <a16:creationId xmlns:a16="http://schemas.microsoft.com/office/drawing/2014/main" id="{A622C0A1-33BB-4B67-AABC-D4AEC0089A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1188" y="1125538"/>
          <a:ext cx="3132137" cy="1346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4" name="公式" r:id="rId8" imgW="1473120" imgH="660240" progId="Equation.3">
                  <p:embed/>
                </p:oleObj>
              </mc:Choice>
              <mc:Fallback>
                <p:oleObj name="公式" r:id="rId8" imgW="1473120" imgH="66024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1125538"/>
                        <a:ext cx="3132137" cy="13462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1" name="Text Box 6">
            <a:extLst>
              <a:ext uri="{FF2B5EF4-FFF2-40B4-BE49-F238E27FC236}">
                <a16:creationId xmlns:a16="http://schemas.microsoft.com/office/drawing/2014/main" id="{E9132E48-75AB-4A58-885B-1DDA142721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2708275"/>
            <a:ext cx="8286750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Times New Roman" panose="02020603050405020304" pitchFamily="18" charset="0"/>
              </a:rPr>
              <a:t>(2)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  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f </a:t>
            </a:r>
            <a:r>
              <a:rPr lang="en-US" altLang="zh-CN" sz="2400" b="1" dirty="0">
                <a:latin typeface="Times New Roman" panose="02020603050405020304" pitchFamily="18" charset="0"/>
              </a:rPr>
              <a:t>:</a:t>
            </a:r>
            <a:r>
              <a:rPr lang="en-US" altLang="zh-CN" sz="2400" b="1" i="1" dirty="0">
                <a:latin typeface="Times New Roman" panose="02020603050405020304" pitchFamily="18" charset="0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dirty="0">
                <a:sym typeface="Symbol" panose="05050102010706020507" pitchFamily="18" charset="2"/>
              </a:rPr>
              <a:t>’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是满同态  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dirty="0">
                <a:sym typeface="Symbol" panose="05050102010706020507" pitchFamily="18" charset="2"/>
              </a:rPr>
              <a:t>’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| |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且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dirty="0">
                <a:sym typeface="Symbol" panose="05050102010706020507" pitchFamily="18" charset="2"/>
              </a:rPr>
              <a:t>’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= |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/ker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f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|</a:t>
            </a:r>
            <a:r>
              <a:rPr lang="en-US" altLang="zh-CN" sz="2400" dirty="0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(3)   |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=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为素数，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|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为 </a:t>
            </a: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Abel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群 </a:t>
            </a:r>
            <a:endParaRPr lang="en-US" altLang="zh-CN" sz="2400" b="1" dirty="0">
              <a:latin typeface="Times New Roman" panose="02020603050405020304" pitchFamily="18" charset="0"/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       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G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中含 </a:t>
            </a:r>
            <a:r>
              <a:rPr lang="en-US" altLang="zh-CN" sz="2400" b="1" i="1" dirty="0">
                <a:latin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阶元</a:t>
            </a:r>
          </a:p>
        </p:txBody>
      </p:sp>
      <p:sp>
        <p:nvSpPr>
          <p:cNvPr id="1032" name="Text Box 8">
            <a:extLst>
              <a:ext uri="{FF2B5EF4-FFF2-40B4-BE49-F238E27FC236}">
                <a16:creationId xmlns:a16="http://schemas.microsoft.com/office/drawing/2014/main" id="{19D7FB3C-4167-4519-B370-B8A6B9C637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5157788"/>
            <a:ext cx="49196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>
                <a:latin typeface="Times New Roman" panose="02020603050405020304" pitchFamily="18" charset="0"/>
              </a:rPr>
              <a:t>(5)  </a:t>
            </a:r>
            <a:r>
              <a:rPr lang="en-US" altLang="zh-CN" sz="2400" b="1" i="1">
                <a:latin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</a:rPr>
              <a:t>B</a:t>
            </a:r>
            <a:r>
              <a:rPr lang="zh-CN" altLang="en-US" sz="2400" b="1">
                <a:latin typeface="Times New Roman" panose="02020603050405020304" pitchFamily="18" charset="0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</a:rPr>
              <a:t>G </a:t>
            </a:r>
            <a:r>
              <a:rPr lang="zh-CN" altLang="en-US" sz="2400" b="1">
                <a:latin typeface="Times New Roman" panose="02020603050405020304" pitchFamily="18" charset="0"/>
              </a:rPr>
              <a:t>的子群，</a:t>
            </a:r>
            <a:r>
              <a:rPr lang="en-US" altLang="zh-CN" sz="2400" b="1" i="1">
                <a:latin typeface="Times New Roman" panose="02020603050405020304" pitchFamily="18" charset="0"/>
              </a:rPr>
              <a:t>A,B</a:t>
            </a:r>
            <a:r>
              <a:rPr lang="zh-CN" altLang="en-US" sz="2400" b="1">
                <a:latin typeface="Times New Roman" panose="02020603050405020304" pitchFamily="18" charset="0"/>
              </a:rPr>
              <a:t>有限，则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>
            <a:extLst>
              <a:ext uri="{FF2B5EF4-FFF2-40B4-BE49-F238E27FC236}">
                <a16:creationId xmlns:a16="http://schemas.microsoft.com/office/drawing/2014/main" id="{271E2646-661C-4CFE-81E2-1F2CC4904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537"/>
          </a:xfrm>
        </p:spPr>
        <p:txBody>
          <a:bodyPr/>
          <a:lstStyle/>
          <a:p>
            <a:pPr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E15CD7-4003-460A-B145-0750B6FDFF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268413"/>
            <a:ext cx="8229600" cy="5256212"/>
          </a:xfrm>
        </p:spPr>
        <p:txBody>
          <a:bodyPr/>
          <a:lstStyle/>
          <a:p>
            <a:pPr indent="-576000">
              <a:buFont typeface="Arial" charset="0"/>
              <a:buNone/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1.  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群的定义、实例与术语（有限群、无限群、平凡群、交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indent="-576000">
              <a:buFont typeface="Arial" charset="0"/>
              <a:buNone/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换群或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Abel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群、群的阶、元素的幂、元素的阶）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charset="0"/>
              <a:buAutoNum type="arabicPeriod" startAt="2"/>
              <a:defRPr/>
            </a:pP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群的基本性质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：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幂运算规则、消去律、群方程有解、元</a:t>
            </a:r>
            <a:endParaRPr lang="en-US" altLang="zh-CN" sz="2400" b="1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charset="0"/>
              <a:buNone/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     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素阶的性质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3.   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子群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及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正规子群的判别定理和方法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4.   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陪集的定义及其性质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5.   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拉格朗日定理及其应用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6.   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商群的定义和实例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None/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7.   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群同态映射的定义及其性质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charset="0"/>
              <a:buAutoNum type="arabicPeriod" startAt="8"/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循环群的生成元和子群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Arial" charset="0"/>
              <a:buAutoNum type="arabicPeriod" startAt="8"/>
              <a:defRPr/>
            </a:pP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zh-CN" sz="2400" b="1" dirty="0">
                <a:latin typeface="Times New Roman" pitchFamily="18" charset="0"/>
                <a:cs typeface="Times New Roman" pitchFamily="18" charset="0"/>
              </a:rPr>
              <a:t>置换群</a:t>
            </a:r>
            <a:endParaRPr lang="zh-CN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Char char="•"/>
              <a:defRPr/>
            </a:pPr>
            <a:endParaRPr lang="zh-CN" altLang="en-US" sz="2800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BAE0D01-CEF5-4E86-9BE5-EEA1FB46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50EE8A4-C7CE-4CA5-86AA-2C0215C9C8D4}" type="slidenum">
              <a:rPr lang="en-US" altLang="zh-CN">
                <a:solidFill>
                  <a:srgbClr val="898989"/>
                </a:solidFill>
              </a:rPr>
              <a:pPr eaLnBrk="1" hangingPunct="1"/>
              <a:t>9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1CB7A02-B56E-40C3-9FF4-8F5E09C60574}"/>
              </a:ext>
            </a:extLst>
          </p:cNvPr>
          <p:cNvSpPr/>
          <p:nvPr/>
        </p:nvSpPr>
        <p:spPr>
          <a:xfrm>
            <a:off x="6732588" y="3427413"/>
            <a:ext cx="1295400" cy="433387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120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计数模型</a:t>
            </a:r>
          </a:p>
        </p:txBody>
      </p:sp>
      <p:sp>
        <p:nvSpPr>
          <p:cNvPr id="36" name="Rectangle 2">
            <a:extLst>
              <a:ext uri="{FF2B5EF4-FFF2-40B4-BE49-F238E27FC236}">
                <a16:creationId xmlns:a16="http://schemas.microsoft.com/office/drawing/2014/main" id="{61B018A1-91DB-4563-B1C2-62B1BD1E05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188913"/>
            <a:ext cx="7402512" cy="9810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组合数学知识点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F7359D-E1BE-44F6-8B1B-CB7FB59FC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48375" y="5176838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42B48CD-3ADC-40E4-BC61-5520A24FE485}" type="slidenum">
              <a:rPr lang="en-US" altLang="zh-CN">
                <a:solidFill>
                  <a:srgbClr val="898989"/>
                </a:solidFill>
              </a:rPr>
              <a:pPr eaLnBrk="1" hangingPunct="1"/>
              <a:t>10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E1419C-452F-4F00-99A3-6C80B8AB80F2}"/>
              </a:ext>
            </a:extLst>
          </p:cNvPr>
          <p:cNvSpPr/>
          <p:nvPr/>
        </p:nvSpPr>
        <p:spPr>
          <a:xfrm>
            <a:off x="1763713" y="4911725"/>
            <a:ext cx="2160587" cy="604838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1200"/>
              </a:spcBef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鸽巢原理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1DF7453-C797-4635-B5D3-428B13BFA02C}"/>
              </a:ext>
            </a:extLst>
          </p:cNvPr>
          <p:cNvSpPr/>
          <p:nvPr/>
        </p:nvSpPr>
        <p:spPr>
          <a:xfrm>
            <a:off x="4067175" y="4911725"/>
            <a:ext cx="2520950" cy="57626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sz="2400" b="1" dirty="0">
                <a:solidFill>
                  <a:schemeClr val="tx1"/>
                </a:solidFill>
              </a:rPr>
              <a:t>Ramsey</a:t>
            </a:r>
            <a:r>
              <a:rPr lang="zh-CN" altLang="en-US" sz="2400" b="1" dirty="0">
                <a:solidFill>
                  <a:schemeClr val="tx1"/>
                </a:solidFill>
              </a:rPr>
              <a:t>定理</a:t>
            </a:r>
            <a:endParaRPr lang="en-US" altLang="zh-CN" sz="2400" b="1" dirty="0">
              <a:solidFill>
                <a:schemeClr val="tx1"/>
              </a:solidFill>
            </a:endParaRPr>
          </a:p>
        </p:txBody>
      </p:sp>
      <p:sp>
        <p:nvSpPr>
          <p:cNvPr id="25606" name="TextBox 6">
            <a:extLst>
              <a:ext uri="{FF2B5EF4-FFF2-40B4-BE49-F238E27FC236}">
                <a16:creationId xmlns:a16="http://schemas.microsoft.com/office/drawing/2014/main" id="{23CF5EA0-0D4D-4207-8522-03CCEC38BC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808538"/>
            <a:ext cx="7000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/>
              <a:t>组合</a:t>
            </a:r>
            <a:endParaRPr lang="en-US" altLang="zh-CN" sz="2000" b="1"/>
          </a:p>
          <a:p>
            <a:pPr eaLnBrk="1" hangingPunct="1"/>
            <a:r>
              <a:rPr lang="zh-CN" altLang="en-US" sz="2000" b="1"/>
              <a:t>存在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4039F36-15FB-4BB8-9DB5-11B86883032C}"/>
              </a:ext>
            </a:extLst>
          </p:cNvPr>
          <p:cNvSpPr/>
          <p:nvPr/>
        </p:nvSpPr>
        <p:spPr>
          <a:xfrm>
            <a:off x="1763713" y="3384550"/>
            <a:ext cx="936625" cy="90805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选取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方案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462DEF-BB02-4605-BD10-D5714847C1AE}"/>
              </a:ext>
            </a:extLst>
          </p:cNvPr>
          <p:cNvSpPr/>
          <p:nvPr/>
        </p:nvSpPr>
        <p:spPr>
          <a:xfrm>
            <a:off x="6732588" y="2609850"/>
            <a:ext cx="1295400" cy="4318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120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计数方法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78EF009-3A03-40DC-B0A6-3C783FFBAB2B}"/>
              </a:ext>
            </a:extLst>
          </p:cNvPr>
          <p:cNvSpPr/>
          <p:nvPr/>
        </p:nvSpPr>
        <p:spPr>
          <a:xfrm>
            <a:off x="6659563" y="1773238"/>
            <a:ext cx="1441450" cy="431800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spcBef>
                <a:spcPts val="1200"/>
              </a:spcBef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计数定理</a:t>
            </a:r>
          </a:p>
        </p:txBody>
      </p:sp>
      <p:sp>
        <p:nvSpPr>
          <p:cNvPr id="25610" name="TextBox 24">
            <a:extLst>
              <a:ext uri="{FF2B5EF4-FFF2-40B4-BE49-F238E27FC236}">
                <a16:creationId xmlns:a16="http://schemas.microsoft.com/office/drawing/2014/main" id="{8038F0FC-B8DF-4801-9A5E-AE34C06904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3" y="2465388"/>
            <a:ext cx="8445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000" b="1"/>
              <a:t>组合</a:t>
            </a:r>
            <a:endParaRPr lang="en-US" altLang="zh-CN" sz="2000" b="1"/>
          </a:p>
          <a:p>
            <a:pPr eaLnBrk="1" hangingPunct="1"/>
            <a:r>
              <a:rPr lang="zh-CN" altLang="en-US" sz="2000" b="1"/>
              <a:t>计数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DD54F20-7C94-451D-8C3B-79F021F8F61E}"/>
              </a:ext>
            </a:extLst>
          </p:cNvPr>
          <p:cNvSpPr/>
          <p:nvPr/>
        </p:nvSpPr>
        <p:spPr>
          <a:xfrm>
            <a:off x="1619250" y="1557338"/>
            <a:ext cx="5113338" cy="2879725"/>
          </a:xfrm>
          <a:prstGeom prst="rect">
            <a:avLst/>
          </a:prstGeom>
          <a:noFill/>
          <a:ln w="381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2DFD7D-5AD6-4E31-8A7D-051A9A3C3AFA}"/>
              </a:ext>
            </a:extLst>
          </p:cNvPr>
          <p:cNvSpPr/>
          <p:nvPr/>
        </p:nvSpPr>
        <p:spPr bwMode="auto">
          <a:xfrm>
            <a:off x="2771775" y="3384550"/>
            <a:ext cx="936625" cy="90805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不定方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程解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31FC2DD-587D-428D-A034-E9BF24A21D25}"/>
              </a:ext>
            </a:extLst>
          </p:cNvPr>
          <p:cNvSpPr/>
          <p:nvPr/>
        </p:nvSpPr>
        <p:spPr bwMode="auto">
          <a:xfrm>
            <a:off x="4787900" y="3384550"/>
            <a:ext cx="863600" cy="90805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拆分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方案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03174AC-0A61-425E-BCEB-675AFC340912}"/>
              </a:ext>
            </a:extLst>
          </p:cNvPr>
          <p:cNvSpPr/>
          <p:nvPr/>
        </p:nvSpPr>
        <p:spPr bwMode="auto">
          <a:xfrm>
            <a:off x="5724525" y="3384550"/>
            <a:ext cx="863600" cy="90805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放球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方案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CC6C65-5CBA-4B5F-9B17-3D54DD02FF45}"/>
              </a:ext>
            </a:extLst>
          </p:cNvPr>
          <p:cNvSpPr/>
          <p:nvPr/>
        </p:nvSpPr>
        <p:spPr bwMode="auto">
          <a:xfrm>
            <a:off x="1763713" y="2592388"/>
            <a:ext cx="1439862" cy="54927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递推方程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4FD59C4-58F1-4774-A963-338CF03CD9F2}"/>
              </a:ext>
            </a:extLst>
          </p:cNvPr>
          <p:cNvSpPr/>
          <p:nvPr/>
        </p:nvSpPr>
        <p:spPr bwMode="auto">
          <a:xfrm>
            <a:off x="3348038" y="2592388"/>
            <a:ext cx="1368425" cy="54927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生成函数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732BCD-AD26-4A96-A79C-DCA1E41DCC95}"/>
              </a:ext>
            </a:extLst>
          </p:cNvPr>
          <p:cNvSpPr/>
          <p:nvPr/>
        </p:nvSpPr>
        <p:spPr bwMode="auto">
          <a:xfrm>
            <a:off x="4787900" y="2592388"/>
            <a:ext cx="1800225" cy="549275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指数生成函数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3E1E025-C667-4E4E-9CB4-CA09491757BC}"/>
              </a:ext>
            </a:extLst>
          </p:cNvPr>
          <p:cNvSpPr/>
          <p:nvPr/>
        </p:nvSpPr>
        <p:spPr bwMode="auto">
          <a:xfrm>
            <a:off x="1763713" y="1700213"/>
            <a:ext cx="2376487" cy="57626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400" b="1" dirty="0">
                <a:solidFill>
                  <a:schemeClr val="tx1"/>
                </a:solidFill>
              </a:rPr>
              <a:t>容斥原理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B7A5224-3487-4398-B1BF-03ABE4879FFC}"/>
              </a:ext>
            </a:extLst>
          </p:cNvPr>
          <p:cNvSpPr/>
          <p:nvPr/>
        </p:nvSpPr>
        <p:spPr bwMode="auto">
          <a:xfrm>
            <a:off x="4284663" y="1700213"/>
            <a:ext cx="2303462" cy="576262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anchor="ctr"/>
          <a:lstStyle/>
          <a:p>
            <a:pPr algn="ctr">
              <a:defRPr/>
            </a:pPr>
            <a:r>
              <a:rPr lang="en-US" altLang="zh-CN" sz="2400" b="1" dirty="0" err="1">
                <a:solidFill>
                  <a:schemeClr val="tx1"/>
                </a:solidFill>
              </a:rPr>
              <a:t>Polya</a:t>
            </a:r>
            <a:r>
              <a:rPr lang="zh-CN" altLang="en-US" sz="2400" b="1" dirty="0">
                <a:solidFill>
                  <a:schemeClr val="tx1"/>
                </a:solidFill>
              </a:rPr>
              <a:t>定理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322EE4-6A43-43EF-8FF4-2FFD3A9CCB0B}"/>
              </a:ext>
            </a:extLst>
          </p:cNvPr>
          <p:cNvSpPr/>
          <p:nvPr/>
        </p:nvSpPr>
        <p:spPr bwMode="auto">
          <a:xfrm>
            <a:off x="3779838" y="3384550"/>
            <a:ext cx="936625" cy="90805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非降</a:t>
            </a:r>
            <a:endParaRPr lang="en-US" altLang="zh-CN" sz="2000" b="1" dirty="0">
              <a:solidFill>
                <a:schemeClr val="tx1"/>
              </a:solidFill>
            </a:endParaRPr>
          </a:p>
          <a:p>
            <a:pPr algn="ctr">
              <a:defRPr/>
            </a:pPr>
            <a:r>
              <a:rPr lang="zh-CN" altLang="en-US" sz="2000" b="1" dirty="0">
                <a:solidFill>
                  <a:schemeClr val="tx1"/>
                </a:solidFill>
              </a:rPr>
              <a:t>路径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1" name="Rectangle 2">
            <a:extLst>
              <a:ext uri="{FF2B5EF4-FFF2-40B4-BE49-F238E27FC236}">
                <a16:creationId xmlns:a16="http://schemas.microsoft.com/office/drawing/2014/main" id="{EA30DFE6-8558-42EB-B877-BDF51C112C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260648"/>
            <a:ext cx="7772400" cy="647700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组合存在性定理</a:t>
            </a:r>
          </a:p>
        </p:txBody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4F27DF99-AC98-4ED3-A47E-8E76AF1E4BD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r>
              <a:rPr lang="zh-CN" altLang="en-US" sz="2800" b="1">
                <a:solidFill>
                  <a:srgbClr val="C00000"/>
                </a:solidFill>
              </a:rPr>
              <a:t>鸽巢原理的简单形式</a:t>
            </a:r>
            <a:endParaRPr lang="en-US" altLang="zh-CN" sz="2800" b="1">
              <a:solidFill>
                <a:srgbClr val="C00000"/>
              </a:solidFill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 i="1">
                <a:latin typeface="Times New Roman" panose="02020603050405020304" pitchFamily="18" charset="0"/>
              </a:rPr>
              <a:t>   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</a:rPr>
              <a:t>+1</a:t>
            </a:r>
            <a:r>
              <a:rPr lang="zh-CN" altLang="en-US" sz="2400" b="1">
                <a:latin typeface="Times New Roman" panose="02020603050405020304" pitchFamily="18" charset="0"/>
              </a:rPr>
              <a:t>个物体放到 </a:t>
            </a:r>
            <a:r>
              <a:rPr lang="en-US" altLang="zh-CN" sz="2400" b="1" i="1">
                <a:latin typeface="Times New Roman" panose="02020603050405020304" pitchFamily="18" charset="0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</a:rPr>
              <a:t>个盒子里，则存在一个盒子至少含有</a:t>
            </a: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个或者</a:t>
            </a:r>
            <a:r>
              <a:rPr lang="en-US" altLang="zh-CN" sz="2400" b="1">
                <a:latin typeface="Times New Roman" panose="02020603050405020304" pitchFamily="18" charset="0"/>
              </a:rPr>
              <a:t>2</a:t>
            </a:r>
            <a:r>
              <a:rPr lang="zh-CN" altLang="en-US" sz="2400" b="1">
                <a:latin typeface="Times New Roman" panose="02020603050405020304" pitchFamily="18" charset="0"/>
              </a:rPr>
              <a:t>个以上的物体</a:t>
            </a:r>
            <a:r>
              <a:rPr lang="en-US" altLang="zh-CN" sz="2400" b="1">
                <a:latin typeface="Times New Roman" panose="02020603050405020304" pitchFamily="18" charset="0"/>
              </a:rPr>
              <a:t>. </a:t>
            </a:r>
            <a:endParaRPr lang="zh-CN" altLang="en-US" sz="2400" b="1"/>
          </a:p>
          <a:p>
            <a:pPr>
              <a:spcBef>
                <a:spcPts val="2400"/>
              </a:spcBef>
            </a:pPr>
            <a:r>
              <a:rPr lang="zh-CN" altLang="en-US" sz="2800" b="1">
                <a:solidFill>
                  <a:srgbClr val="C00000"/>
                </a:solidFill>
              </a:rPr>
              <a:t>应用关键</a:t>
            </a:r>
          </a:p>
          <a:p>
            <a:pPr lvl="1"/>
            <a:r>
              <a:rPr lang="zh-CN" altLang="en-US" sz="2400" b="1"/>
              <a:t>选择鸽子</a:t>
            </a:r>
            <a:r>
              <a:rPr lang="en-US" altLang="zh-CN" sz="2400" b="1"/>
              <a:t>——</a:t>
            </a:r>
            <a:r>
              <a:rPr lang="zh-CN" altLang="en-US" sz="2400" b="1"/>
              <a:t>所有的配置</a:t>
            </a:r>
          </a:p>
          <a:p>
            <a:pPr lvl="1"/>
            <a:r>
              <a:rPr lang="zh-CN" altLang="en-US" sz="2400" b="1"/>
              <a:t>构造鸽巢</a:t>
            </a:r>
            <a:r>
              <a:rPr lang="en-US" altLang="zh-CN" sz="2400" b="1"/>
              <a:t>——</a:t>
            </a:r>
            <a:r>
              <a:rPr lang="zh-CN" altLang="en-US" sz="2400" b="1"/>
              <a:t>配置的所有可能的模式</a:t>
            </a:r>
            <a:endParaRPr lang="en-US" altLang="zh-CN" sz="2400" b="1"/>
          </a:p>
          <a:p>
            <a:pPr lvl="1"/>
            <a:r>
              <a:rPr lang="zh-CN" altLang="en-US" sz="2400" b="1"/>
              <a:t>模式数比配置数至少小</a:t>
            </a:r>
            <a:r>
              <a:rPr lang="en-US" altLang="zh-CN" sz="2400" b="1"/>
              <a:t>1</a:t>
            </a:r>
          </a:p>
          <a:p>
            <a:endParaRPr lang="zh-CN" altLang="en-US" b="1"/>
          </a:p>
        </p:txBody>
      </p:sp>
      <p:sp>
        <p:nvSpPr>
          <p:cNvPr id="37890" name="灯片编号占位符 5">
            <a:extLst>
              <a:ext uri="{FF2B5EF4-FFF2-40B4-BE49-F238E27FC236}">
                <a16:creationId xmlns:a16="http://schemas.microsoft.com/office/drawing/2014/main" id="{769667A4-24CF-4E7E-B622-45EFE15DA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7C6857-5909-485D-A9B6-C83CDB60C379}" type="slidenum">
              <a:rPr lang="zh-CN" altLang="en-US">
                <a:solidFill>
                  <a:srgbClr val="898989"/>
                </a:solidFill>
              </a:rPr>
              <a:pPr eaLnBrk="1" hangingPunct="1"/>
              <a:t>11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标题 1">
            <a:extLst>
              <a:ext uri="{FF2B5EF4-FFF2-40B4-BE49-F238E27FC236}">
                <a16:creationId xmlns:a16="http://schemas.microsoft.com/office/drawing/2014/main" id="{3D11E94C-6785-4541-9B78-3619451D2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选取问题的公式</a:t>
            </a:r>
          </a:p>
        </p:txBody>
      </p:sp>
      <p:sp>
        <p:nvSpPr>
          <p:cNvPr id="3076" name="灯片编号占位符 3">
            <a:extLst>
              <a:ext uri="{FF2B5EF4-FFF2-40B4-BE49-F238E27FC236}">
                <a16:creationId xmlns:a16="http://schemas.microsoft.com/office/drawing/2014/main" id="{46257FE3-DB40-4F13-899F-B4C1651CB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F1E52249-D553-4635-BC10-62FFCF55A76C}" type="slidenum">
              <a:rPr lang="en-US" altLang="zh-CN">
                <a:solidFill>
                  <a:srgbClr val="898989"/>
                </a:solidFill>
              </a:rPr>
              <a:pPr eaLnBrk="1" hangingPunct="1"/>
              <a:t>12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2053" name="Rectangle 2">
            <a:extLst>
              <a:ext uri="{FF2B5EF4-FFF2-40B4-BE49-F238E27FC236}">
                <a16:creationId xmlns:a16="http://schemas.microsoft.com/office/drawing/2014/main" id="{1C7174B9-6D8D-4F46-9B30-3C58D1601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0" name="Object 1">
            <a:extLst>
              <a:ext uri="{FF2B5EF4-FFF2-40B4-BE49-F238E27FC236}">
                <a16:creationId xmlns:a16="http://schemas.microsoft.com/office/drawing/2014/main" id="{E5CECC8B-AE47-4D88-8B58-B0E93632B4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052513"/>
          <a:ext cx="6581775" cy="489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公式" r:id="rId3" imgW="3263760" imgH="2425680" progId="Equation.3">
                  <p:embed/>
                </p:oleObj>
              </mc:Choice>
              <mc:Fallback>
                <p:oleObj name="公式" r:id="rId3" imgW="3263760" imgH="242568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052513"/>
                        <a:ext cx="6581775" cy="48958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BE76FA-2568-4282-B48C-BB02BCB0A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260350"/>
            <a:ext cx="8229600" cy="777875"/>
          </a:xfrm>
        </p:spPr>
        <p:txBody>
          <a:bodyPr/>
          <a:lstStyle/>
          <a:p>
            <a:pPr algn="ctr">
              <a:defRPr/>
            </a:pPr>
            <a:r>
              <a:rPr 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非降路径问题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 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8" name="内容占位符 2">
            <a:extLst>
              <a:ext uri="{FF2B5EF4-FFF2-40B4-BE49-F238E27FC236}">
                <a16:creationId xmlns:a16="http://schemas.microsoft.com/office/drawing/2014/main" id="{84914620-8244-4CAD-9019-3D3F43661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1706563"/>
            <a:ext cx="7772400" cy="4530725"/>
          </a:xfrm>
        </p:spPr>
        <p:txBody>
          <a:bodyPr/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zh-CN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(0,0)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点的非降路径数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spcBef>
                <a:spcPts val="2400"/>
              </a:spcBef>
            </a:pP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点的非降路径数</a:t>
            </a:r>
          </a:p>
          <a:p>
            <a:pPr>
              <a:spcBef>
                <a:spcPts val="3000"/>
              </a:spcBef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(0,0)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经过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点到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点的非降路径数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0"/>
              </a:spcBef>
            </a:pP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(0,0)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到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m,n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点的有约束条件的非降路径数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一一对应方法</a:t>
            </a:r>
            <a:endParaRPr lang="zh-CN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CN" altLang="en-US"/>
          </a:p>
        </p:txBody>
      </p:sp>
      <p:sp>
        <p:nvSpPr>
          <p:cNvPr id="4103" name="灯片编号占位符 3">
            <a:extLst>
              <a:ext uri="{FF2B5EF4-FFF2-40B4-BE49-F238E27FC236}">
                <a16:creationId xmlns:a16="http://schemas.microsoft.com/office/drawing/2014/main" id="{E463BFEB-913B-44E6-93C7-9AFC003BE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B4F4117-42B5-4648-9B74-21278882825C}" type="slidenum">
              <a:rPr lang="en-US" altLang="zh-CN">
                <a:solidFill>
                  <a:srgbClr val="898989"/>
                </a:solidFill>
              </a:rPr>
              <a:pPr eaLnBrk="1" hangingPunct="1"/>
              <a:t>13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080" name="Rectangle 2">
            <a:extLst>
              <a:ext uri="{FF2B5EF4-FFF2-40B4-BE49-F238E27FC236}">
                <a16:creationId xmlns:a16="http://schemas.microsoft.com/office/drawing/2014/main" id="{8F8595BA-0A0E-4DB8-84AF-FEA097E5D5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074" name="Object 1">
            <a:extLst>
              <a:ext uri="{FF2B5EF4-FFF2-40B4-BE49-F238E27FC236}">
                <a16:creationId xmlns:a16="http://schemas.microsoft.com/office/drawing/2014/main" id="{B3EB2584-E898-4E1B-9901-11B698B50ED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490663"/>
          <a:ext cx="94932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公式" r:id="rId3" imgW="545760" imgH="469800" progId="Equation.3">
                  <p:embed/>
                </p:oleObj>
              </mc:Choice>
              <mc:Fallback>
                <p:oleObj name="公式" r:id="rId3" imgW="545760" imgH="469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490663"/>
                        <a:ext cx="949325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4">
            <a:extLst>
              <a:ext uri="{FF2B5EF4-FFF2-40B4-BE49-F238E27FC236}">
                <a16:creationId xmlns:a16="http://schemas.microsoft.com/office/drawing/2014/main" id="{934068BD-D260-468C-BBEF-165BBB3A7E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08625" y="2355850"/>
          <a:ext cx="1697038" cy="809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公式" r:id="rId5" imgW="977760" imgH="469800" progId="Equation.3">
                  <p:embed/>
                </p:oleObj>
              </mc:Choice>
              <mc:Fallback>
                <p:oleObj name="公式" r:id="rId5" imgW="977760" imgH="46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2355850"/>
                        <a:ext cx="1697038" cy="809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6">
            <a:extLst>
              <a:ext uri="{FF2B5EF4-FFF2-40B4-BE49-F238E27FC236}">
                <a16:creationId xmlns:a16="http://schemas.microsoft.com/office/drawing/2014/main" id="{7422C791-4117-4279-85BF-3AD9A2B948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84438" y="3722688"/>
          <a:ext cx="29321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公式" r:id="rId7" imgW="1460160" imgH="469800" progId="Equation.3">
                  <p:embed/>
                </p:oleObj>
              </mc:Choice>
              <mc:Fallback>
                <p:oleObj name="公式" r:id="rId7" imgW="1460160" imgH="469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722688"/>
                        <a:ext cx="2932112" cy="936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9" name="标题 1">
            <a:extLst>
              <a:ext uri="{FF2B5EF4-FFF2-40B4-BE49-F238E27FC236}">
                <a16:creationId xmlns:a16="http://schemas.microsoft.com/office/drawing/2014/main" id="{BE7574BF-244A-471D-A83E-7225CB837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0175"/>
            <a:ext cx="8229600" cy="635000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不定方程的解</a:t>
            </a:r>
          </a:p>
        </p:txBody>
      </p:sp>
      <p:sp>
        <p:nvSpPr>
          <p:cNvPr id="5130" name="灯片编号占位符 3">
            <a:extLst>
              <a:ext uri="{FF2B5EF4-FFF2-40B4-BE49-F238E27FC236}">
                <a16:creationId xmlns:a16="http://schemas.microsoft.com/office/drawing/2014/main" id="{9F8DEEE8-7671-4493-BD0F-28C47BF3D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753100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460F51C-FA08-4CB1-B3C6-7322DA737A43}" type="slidenum">
              <a:rPr lang="en-US" altLang="zh-CN">
                <a:solidFill>
                  <a:srgbClr val="898989"/>
                </a:solidFill>
              </a:rPr>
              <a:pPr eaLnBrk="1" hangingPunct="1"/>
              <a:t>14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4098" name="Object 2">
            <a:extLst>
              <a:ext uri="{FF2B5EF4-FFF2-40B4-BE49-F238E27FC236}">
                <a16:creationId xmlns:a16="http://schemas.microsoft.com/office/drawing/2014/main" id="{485A0615-4B63-48E0-AF3D-C6FAA100A1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416050"/>
          <a:ext cx="2774950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5" name="公式" r:id="rId3" imgW="1371600" imgH="495000" progId="Equation.3">
                  <p:embed/>
                </p:oleObj>
              </mc:Choice>
              <mc:Fallback>
                <p:oleObj name="公式" r:id="rId3" imgW="1371600" imgH="495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416050"/>
                        <a:ext cx="2774950" cy="10128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1">
            <a:extLst>
              <a:ext uri="{FF2B5EF4-FFF2-40B4-BE49-F238E27FC236}">
                <a16:creationId xmlns:a16="http://schemas.microsoft.com/office/drawing/2014/main" id="{FAEBCCD2-294E-455B-8B7E-94B2451B56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00563" y="1241425"/>
          <a:ext cx="3384550" cy="854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6" name="公式" r:id="rId5" imgW="1726920" imgH="431640" progId="Equation.3">
                  <p:embed/>
                </p:oleObj>
              </mc:Choice>
              <mc:Fallback>
                <p:oleObj name="公式" r:id="rId5" imgW="1726920" imgH="4316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0563" y="1241425"/>
                        <a:ext cx="3384550" cy="854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" name="Rectangle 3">
            <a:extLst>
              <a:ext uri="{FF2B5EF4-FFF2-40B4-BE49-F238E27FC236}">
                <a16:creationId xmlns:a16="http://schemas.microsoft.com/office/drawing/2014/main" id="{C41B4EE2-802A-4D2B-A2DD-132F072D0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325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8" name="Rectangle 4">
            <a:extLst>
              <a:ext uri="{FF2B5EF4-FFF2-40B4-BE49-F238E27FC236}">
                <a16:creationId xmlns:a16="http://schemas.microsoft.com/office/drawing/2014/main" id="{4694CEAE-95F6-4900-BF7E-5640236D15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11150"/>
            <a:ext cx="914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109" name="Rectangle 6">
            <a:extLst>
              <a:ext uri="{FF2B5EF4-FFF2-40B4-BE49-F238E27FC236}">
                <a16:creationId xmlns:a16="http://schemas.microsoft.com/office/drawing/2014/main" id="{C72D1AC7-0215-4851-A96A-A755E16DF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100" name="Object 5">
            <a:extLst>
              <a:ext uri="{FF2B5EF4-FFF2-40B4-BE49-F238E27FC236}">
                <a16:creationId xmlns:a16="http://schemas.microsoft.com/office/drawing/2014/main" id="{70AC4FA1-94DF-4C15-9C00-8551BDDF4B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9625" y="2770188"/>
          <a:ext cx="2447925" cy="1336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7" name="公式" r:id="rId7" imgW="1371600" imgH="749160" progId="Equation.3">
                  <p:embed/>
                </p:oleObj>
              </mc:Choice>
              <mc:Fallback>
                <p:oleObj name="公式" r:id="rId7" imgW="1371600" imgH="7491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625" y="2770188"/>
                        <a:ext cx="2447925" cy="1336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0" name="Rectangle 8">
            <a:extLst>
              <a:ext uri="{FF2B5EF4-FFF2-40B4-BE49-F238E27FC236}">
                <a16:creationId xmlns:a16="http://schemas.microsoft.com/office/drawing/2014/main" id="{25B9B8EE-CB7D-4A8F-957F-6FED1B9DA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101" name="Object 7">
            <a:extLst>
              <a:ext uri="{FF2B5EF4-FFF2-40B4-BE49-F238E27FC236}">
                <a16:creationId xmlns:a16="http://schemas.microsoft.com/office/drawing/2014/main" id="{BBA2A806-E735-4278-A038-C426BB415A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4850" y="2681288"/>
          <a:ext cx="3009900" cy="1512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8" name="公式" r:id="rId9" imgW="1473120" imgH="736560" progId="Equation.3">
                  <p:embed/>
                </p:oleObj>
              </mc:Choice>
              <mc:Fallback>
                <p:oleObj name="公式" r:id="rId9" imgW="1473120" imgH="73656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4850" y="2681288"/>
                        <a:ext cx="3009900" cy="1512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1" name="Rectangle 10">
            <a:extLst>
              <a:ext uri="{FF2B5EF4-FFF2-40B4-BE49-F238E27FC236}">
                <a16:creationId xmlns:a16="http://schemas.microsoft.com/office/drawing/2014/main" id="{96F4FE97-0BC4-4090-8F81-4A5E5AA7A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0325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4102" name="Object 9">
            <a:extLst>
              <a:ext uri="{FF2B5EF4-FFF2-40B4-BE49-F238E27FC236}">
                <a16:creationId xmlns:a16="http://schemas.microsoft.com/office/drawing/2014/main" id="{B0660FD4-99CA-451D-A444-6A0C62C7A6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4435475"/>
          <a:ext cx="3340100" cy="138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39" name="公式" r:id="rId11" imgW="1841400" imgH="761760" progId="Equation.3">
                  <p:embed/>
                </p:oleObj>
              </mc:Choice>
              <mc:Fallback>
                <p:oleObj name="公式" r:id="rId11" imgW="1841400" imgH="7617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4435475"/>
                        <a:ext cx="3340100" cy="1389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3" name="Object 11">
            <a:extLst>
              <a:ext uri="{FF2B5EF4-FFF2-40B4-BE49-F238E27FC236}">
                <a16:creationId xmlns:a16="http://schemas.microsoft.com/office/drawing/2014/main" id="{3BBBEB42-44DF-4340-94B4-290B08901A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7538" y="4481513"/>
          <a:ext cx="3940175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0" name="公式" r:id="rId13" imgW="1841400" imgH="736560" progId="Equation.3">
                  <p:embed/>
                </p:oleObj>
              </mc:Choice>
              <mc:Fallback>
                <p:oleObj name="公式" r:id="rId13" imgW="1841400" imgH="7365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481513"/>
                        <a:ext cx="3940175" cy="1584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12" name="TextBox 15">
            <a:extLst>
              <a:ext uri="{FF2B5EF4-FFF2-40B4-BE49-F238E27FC236}">
                <a16:creationId xmlns:a16="http://schemas.microsoft.com/office/drawing/2014/main" id="{CE801B92-E69D-46C0-ACC9-66DC9C30E3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0" y="954088"/>
            <a:ext cx="936625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方程</a:t>
            </a:r>
          </a:p>
        </p:txBody>
      </p:sp>
      <p:sp>
        <p:nvSpPr>
          <p:cNvPr id="4113" name="TextBox 16">
            <a:extLst>
              <a:ext uri="{FF2B5EF4-FFF2-40B4-BE49-F238E27FC236}">
                <a16:creationId xmlns:a16="http://schemas.microsoft.com/office/drawing/2014/main" id="{197981A0-2E3B-4254-990E-A3B4A6CFA4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438" y="995363"/>
            <a:ext cx="396081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/>
              <a:t>对应的生成函数</a:t>
            </a:r>
          </a:p>
        </p:txBody>
      </p:sp>
      <p:graphicFrame>
        <p:nvGraphicFramePr>
          <p:cNvPr id="4104" name="Object 17">
            <a:extLst>
              <a:ext uri="{FF2B5EF4-FFF2-40B4-BE49-F238E27FC236}">
                <a16:creationId xmlns:a16="http://schemas.microsoft.com/office/drawing/2014/main" id="{BE248A6C-E978-40E8-9CB6-DFC39F5C6EF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64163" y="1962150"/>
          <a:ext cx="1366837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公式" r:id="rId15" imgW="990360" imgH="469800" progId="Equation.3">
                  <p:embed/>
                </p:oleObj>
              </mc:Choice>
              <mc:Fallback>
                <p:oleObj name="公式" r:id="rId15" imgW="990360" imgH="4698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962150"/>
                        <a:ext cx="1366837" cy="64770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80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2C3F0D-CD79-4A79-906B-6E449E4E6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正整数的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拆</a:t>
            </a:r>
            <a:r>
              <a:rPr 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rPr>
              <a:t>分问题</a:t>
            </a:r>
            <a:endParaRPr lang="zh-CN" altLang="en-US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DEDCC6-9707-4656-9E9D-6BB20C20D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088" y="1125538"/>
            <a:ext cx="7921625" cy="4822825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zh-CN" sz="2800" b="1" dirty="0"/>
              <a:t>无序</a:t>
            </a:r>
            <a:r>
              <a:rPr lang="zh-CN" altLang="en-US" sz="2800" b="1" dirty="0"/>
              <a:t>拆</a:t>
            </a:r>
            <a:r>
              <a:rPr lang="zh-CN" sz="2800" b="1" dirty="0"/>
              <a:t>分基本模型</a:t>
            </a:r>
          </a:p>
          <a:p>
            <a:pPr lvl="1">
              <a:buFont typeface="Arial" charset="0"/>
              <a:buChar char="–"/>
              <a:defRPr/>
            </a:pPr>
            <a:r>
              <a:rPr lang="zh-CN" sz="2400" b="1" dirty="0"/>
              <a:t>将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sz="2400" b="1" dirty="0"/>
              <a:t>无序</a:t>
            </a:r>
            <a:r>
              <a:rPr lang="zh-CN" altLang="en-US" sz="2400" b="1" dirty="0"/>
              <a:t>拆</a:t>
            </a:r>
            <a:r>
              <a:rPr lang="zh-CN" sz="2400" b="1" dirty="0"/>
              <a:t>分成正整数</a:t>
            </a:r>
            <a:r>
              <a:rPr lang="en-US" sz="2400" b="1" dirty="0">
                <a:sym typeface="Symbol"/>
              </a:rPr>
              <a:t></a:t>
            </a:r>
            <a:r>
              <a:rPr lang="en-US" sz="2400" b="1" baseline="-25000" dirty="0"/>
              <a:t>1</a:t>
            </a:r>
            <a:r>
              <a:rPr lang="en-US" sz="2400" b="1" dirty="0"/>
              <a:t>, </a:t>
            </a:r>
            <a:r>
              <a:rPr lang="en-US" sz="2400" b="1" dirty="0">
                <a:sym typeface="Symbol"/>
              </a:rPr>
              <a:t></a:t>
            </a:r>
            <a:r>
              <a:rPr lang="en-US" sz="2400" b="1" baseline="-25000" dirty="0"/>
              <a:t>2</a:t>
            </a:r>
            <a:r>
              <a:rPr lang="en-US" sz="2400" b="1" dirty="0"/>
              <a:t>, …,</a:t>
            </a:r>
            <a:r>
              <a:rPr lang="en-US" sz="2400" b="1" dirty="0">
                <a:sym typeface="Symbol"/>
              </a:rPr>
              <a:t></a:t>
            </a:r>
            <a:r>
              <a:rPr lang="en-US" sz="2400" b="1" i="1" baseline="-25000" dirty="0">
                <a:latin typeface="+mj-lt"/>
              </a:rPr>
              <a:t>n</a:t>
            </a:r>
            <a:r>
              <a:rPr lang="en-US" sz="2400" b="1" dirty="0"/>
              <a:t>,</a:t>
            </a:r>
            <a:r>
              <a:rPr lang="zh-CN" sz="2400" b="1" dirty="0"/>
              <a:t>不允重复</a:t>
            </a:r>
            <a:endParaRPr lang="en-US" altLang="zh-CN" sz="2400" b="1" dirty="0"/>
          </a:p>
          <a:p>
            <a:pPr lvl="1">
              <a:buFont typeface="Arial" charset="0"/>
              <a:buChar char="–"/>
              <a:defRPr/>
            </a:pPr>
            <a:endParaRPr lang="en-US" altLang="zh-CN" dirty="0"/>
          </a:p>
          <a:p>
            <a:pPr lvl="1">
              <a:buFont typeface="Arial" charset="0"/>
              <a:buChar char="–"/>
              <a:defRPr/>
            </a:pPr>
            <a:endParaRPr lang="zh-CN" dirty="0"/>
          </a:p>
          <a:p>
            <a:pPr lvl="1">
              <a:buFont typeface="Arial" charset="0"/>
              <a:buChar char="–"/>
              <a:defRPr/>
            </a:pPr>
            <a:r>
              <a:rPr lang="zh-CN" sz="2400" b="1" dirty="0"/>
              <a:t>将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sz="2400" b="1" dirty="0"/>
              <a:t>无序</a:t>
            </a:r>
            <a:r>
              <a:rPr lang="zh-CN" altLang="en-US" sz="2400" b="1" dirty="0"/>
              <a:t>拆</a:t>
            </a:r>
            <a:r>
              <a:rPr lang="zh-CN" sz="2400" b="1" dirty="0"/>
              <a:t>分成正整数</a:t>
            </a:r>
            <a:r>
              <a:rPr lang="en-US" sz="2400" b="1" dirty="0">
                <a:sym typeface="Symbol"/>
              </a:rPr>
              <a:t></a:t>
            </a:r>
            <a:r>
              <a:rPr lang="en-US" sz="2400" b="1" baseline="-25000" dirty="0"/>
              <a:t>1</a:t>
            </a:r>
            <a:r>
              <a:rPr lang="en-US" sz="2400" b="1" dirty="0"/>
              <a:t>, </a:t>
            </a:r>
            <a:r>
              <a:rPr lang="en-US" sz="2400" b="1" dirty="0">
                <a:sym typeface="Symbol"/>
              </a:rPr>
              <a:t></a:t>
            </a:r>
            <a:r>
              <a:rPr lang="en-US" sz="2400" b="1" baseline="-25000" dirty="0"/>
              <a:t>2</a:t>
            </a:r>
            <a:r>
              <a:rPr lang="en-US" sz="2400" b="1" dirty="0"/>
              <a:t>, …,</a:t>
            </a:r>
            <a:r>
              <a:rPr lang="en-US" sz="2400" b="1" dirty="0">
                <a:sym typeface="Symbol"/>
              </a:rPr>
              <a:t></a:t>
            </a:r>
            <a:r>
              <a:rPr lang="en-US" sz="2400" b="1" i="1" baseline="-25000" dirty="0">
                <a:latin typeface="+mj-lt"/>
              </a:rPr>
              <a:t>n</a:t>
            </a:r>
            <a:r>
              <a:rPr lang="en-US" sz="2400" b="1" dirty="0"/>
              <a:t>,</a:t>
            </a:r>
            <a:r>
              <a:rPr lang="zh-CN" sz="2400" b="1" dirty="0"/>
              <a:t>允许重复</a:t>
            </a:r>
          </a:p>
          <a:p>
            <a:pPr>
              <a:spcBef>
                <a:spcPts val="1800"/>
              </a:spcBef>
              <a:buFont typeface="Arial" charset="0"/>
              <a:buChar char="•"/>
              <a:defRPr/>
            </a:pPr>
            <a:endParaRPr lang="en-US" altLang="zh-CN" sz="2800" dirty="0"/>
          </a:p>
          <a:p>
            <a:pPr>
              <a:spcBef>
                <a:spcPts val="2400"/>
              </a:spcBef>
              <a:buFont typeface="Arial" charset="0"/>
              <a:buChar char="•"/>
              <a:defRPr/>
            </a:pPr>
            <a:r>
              <a:rPr lang="zh-CN" sz="2800" b="1" dirty="0"/>
              <a:t>有序</a:t>
            </a:r>
            <a:r>
              <a:rPr lang="zh-CN" altLang="en-US" sz="2800" b="1" dirty="0"/>
              <a:t>拆</a:t>
            </a:r>
            <a:r>
              <a:rPr lang="zh-CN" sz="2800" b="1" dirty="0"/>
              <a:t>分</a:t>
            </a:r>
          </a:p>
          <a:p>
            <a:pPr lvl="1">
              <a:buFont typeface="Arial" charset="0"/>
              <a:buChar char="–"/>
              <a:defRPr/>
            </a:pPr>
            <a:r>
              <a:rPr lang="zh-CN" sz="2400" b="1" dirty="0">
                <a:latin typeface="+mj-lt"/>
              </a:rPr>
              <a:t>把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sz="2400" b="1" dirty="0">
                <a:latin typeface="Times New Roman" pitchFamily="18" charset="0"/>
                <a:cs typeface="Times New Roman" pitchFamily="18" charset="0"/>
              </a:rPr>
              <a:t>有</a:t>
            </a:r>
            <a:r>
              <a:rPr lang="zh-CN" sz="2400" b="1" dirty="0">
                <a:latin typeface="+mj-lt"/>
              </a:rPr>
              <a:t>序</a:t>
            </a:r>
            <a:r>
              <a:rPr lang="zh-CN" altLang="en-US" sz="2400" b="1" dirty="0">
                <a:latin typeface="+mj-lt"/>
              </a:rPr>
              <a:t>拆</a:t>
            </a:r>
            <a:r>
              <a:rPr lang="zh-CN" sz="2400" b="1" dirty="0">
                <a:latin typeface="+mj-lt"/>
              </a:rPr>
              <a:t>分成</a:t>
            </a:r>
            <a:r>
              <a:rPr lang="en-US" sz="2400" b="1" i="1" dirty="0">
                <a:latin typeface="+mj-lt"/>
              </a:rPr>
              <a:t>r</a:t>
            </a:r>
            <a:r>
              <a:rPr lang="zh-CN" sz="2400" b="1" dirty="0">
                <a:latin typeface="+mj-lt"/>
              </a:rPr>
              <a:t>个部分</a:t>
            </a:r>
            <a:r>
              <a:rPr lang="zh-CN" altLang="en-US" sz="2400" b="1" dirty="0">
                <a:latin typeface="+mj-lt"/>
              </a:rPr>
              <a:t>且</a:t>
            </a:r>
            <a:r>
              <a:rPr lang="zh-CN" sz="2400" b="1" dirty="0">
                <a:latin typeface="+mj-lt"/>
              </a:rPr>
              <a:t>允许重复的方案数</a:t>
            </a:r>
            <a:r>
              <a:rPr lang="zh-CN" altLang="en-US" sz="2400" b="1" dirty="0">
                <a:latin typeface="+mj-lt"/>
              </a:rPr>
              <a:t>，</a:t>
            </a:r>
            <a:endParaRPr lang="en-US" altLang="zh-CN" sz="2400" b="1" dirty="0">
              <a:latin typeface="+mj-lt"/>
            </a:endParaRPr>
          </a:p>
          <a:p>
            <a:pPr lvl="1">
              <a:buFont typeface="Wingdings" pitchFamily="2" charset="2"/>
              <a:buNone/>
              <a:defRPr/>
            </a:pPr>
            <a:r>
              <a:rPr lang="zh-CN" altLang="en-US" sz="2400" b="1" dirty="0">
                <a:latin typeface="+mj-lt"/>
              </a:rPr>
              <a:t>   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不定方程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+…</a:t>
            </a:r>
            <a:r>
              <a:rPr lang="en-US" altLang="zh-CN" sz="2400" b="1" i="1" dirty="0" err="1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zh-CN" sz="2400" b="1" i="1" baseline="-25000" dirty="0" err="1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24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400" b="1" dirty="0">
                <a:latin typeface="Times New Roman" pitchFamily="18" charset="0"/>
                <a:cs typeface="Times New Roman" pitchFamily="18" charset="0"/>
              </a:rPr>
              <a:t>的正整数解：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-1,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-1) </a:t>
            </a:r>
            <a:endParaRPr lang="zh-CN" sz="24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Char char="•"/>
              <a:defRPr/>
            </a:pPr>
            <a:endParaRPr lang="zh-CN" altLang="en-US" dirty="0"/>
          </a:p>
        </p:txBody>
      </p:sp>
      <p:sp>
        <p:nvSpPr>
          <p:cNvPr id="6150" name="灯片编号占位符 3">
            <a:extLst>
              <a:ext uri="{FF2B5EF4-FFF2-40B4-BE49-F238E27FC236}">
                <a16:creationId xmlns:a16="http://schemas.microsoft.com/office/drawing/2014/main" id="{72CDD500-53A2-4C3C-82DD-EC0055B36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10F52BA-A1B5-4178-8755-AF1479CB0966}" type="slidenum">
              <a:rPr lang="en-US" altLang="zh-CN">
                <a:solidFill>
                  <a:srgbClr val="898989"/>
                </a:solidFill>
              </a:rPr>
              <a:pPr eaLnBrk="1" hangingPunct="1"/>
              <a:t>15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5127" name="Rectangle 2">
            <a:extLst>
              <a:ext uri="{FF2B5EF4-FFF2-40B4-BE49-F238E27FC236}">
                <a16:creationId xmlns:a16="http://schemas.microsoft.com/office/drawing/2014/main" id="{102E572B-6AC4-49EA-9398-EAB56CCBF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22" name="Object 1">
            <a:extLst>
              <a:ext uri="{FF2B5EF4-FFF2-40B4-BE49-F238E27FC236}">
                <a16:creationId xmlns:a16="http://schemas.microsoft.com/office/drawing/2014/main" id="{2480251A-24B8-4E54-815B-8E3D395F00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0367768"/>
              </p:ext>
            </p:extLst>
          </p:nvPr>
        </p:nvGraphicFramePr>
        <p:xfrm>
          <a:off x="2700337" y="1843088"/>
          <a:ext cx="3108325" cy="792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公式" r:id="rId3" imgW="1777680" imgH="457200" progId="Equation.3">
                  <p:embed/>
                </p:oleObj>
              </mc:Choice>
              <mc:Fallback>
                <p:oleObj name="公式" r:id="rId3" imgW="177768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7" y="1843088"/>
                        <a:ext cx="3108325" cy="792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8" name="Rectangle 4">
            <a:extLst>
              <a:ext uri="{FF2B5EF4-FFF2-40B4-BE49-F238E27FC236}">
                <a16:creationId xmlns:a16="http://schemas.microsoft.com/office/drawing/2014/main" id="{A79AD461-113C-41D8-98EC-7495E6446D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23" name="Object 3">
            <a:extLst>
              <a:ext uri="{FF2B5EF4-FFF2-40B4-BE49-F238E27FC236}">
                <a16:creationId xmlns:a16="http://schemas.microsoft.com/office/drawing/2014/main" id="{4EE546EE-499B-4328-B0A2-C7BC3A3A2A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00338" y="3500438"/>
          <a:ext cx="3108325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6" name="公式" r:id="rId5" imgW="1777680" imgH="457200" progId="Equation.3">
                  <p:embed/>
                </p:oleObj>
              </mc:Choice>
              <mc:Fallback>
                <p:oleObj name="公式" r:id="rId5" imgW="1777680" imgH="457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500438"/>
                        <a:ext cx="3108325" cy="790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7" name="标题 1">
            <a:extLst>
              <a:ext uri="{FF2B5EF4-FFF2-40B4-BE49-F238E27FC236}">
                <a16:creationId xmlns:a16="http://schemas.microsoft.com/office/drawing/2014/main" id="{2F581F7F-74F0-45A6-A6F3-CD6FACFE7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放球：</a:t>
            </a: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个球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个盒子</a:t>
            </a:r>
          </a:p>
        </p:txBody>
      </p:sp>
      <p:sp>
        <p:nvSpPr>
          <p:cNvPr id="7178" name="灯片编号占位符 3">
            <a:extLst>
              <a:ext uri="{FF2B5EF4-FFF2-40B4-BE49-F238E27FC236}">
                <a16:creationId xmlns:a16="http://schemas.microsoft.com/office/drawing/2014/main" id="{0E8F16C4-C61C-4C71-A449-4249CB66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113463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2A5E76E-CFEF-4537-8E1B-CBC7F20407F2}" type="slidenum">
              <a:rPr lang="en-US" altLang="zh-CN">
                <a:solidFill>
                  <a:srgbClr val="898989"/>
                </a:solidFill>
              </a:rPr>
              <a:pPr eaLnBrk="1" hangingPunct="1"/>
              <a:t>16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4920D53-E0E1-49A3-A310-8273808F21E2}"/>
              </a:ext>
            </a:extLst>
          </p:cNvPr>
          <p:cNvGraphicFramePr>
            <a:graphicFrameLocks noGrp="1"/>
          </p:cNvGraphicFramePr>
          <p:nvPr/>
        </p:nvGraphicFramePr>
        <p:xfrm>
          <a:off x="1042988" y="1096963"/>
          <a:ext cx="7561263" cy="4875212"/>
        </p:xfrm>
        <a:graphic>
          <a:graphicData uri="http://schemas.openxmlformats.org/drawingml/2006/table">
            <a:tbl>
              <a:tblPr/>
              <a:tblGrid>
                <a:gridCol w="655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65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7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1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88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2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球号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盒号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空否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方法数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组合问题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+mj-lt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 dirty="0">
                        <a:latin typeface="+mj-lt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n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恰好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拆</a:t>
                      </a:r>
                      <a:r>
                        <a:rPr lang="zh-CN" altLang="zh-CN" sz="2000" b="1" kern="100" dirty="0">
                          <a:latin typeface="Times New Roman"/>
                          <a:ea typeface="+mn-ea"/>
                          <a:cs typeface="Times New Roman"/>
                        </a:rPr>
                        <a:t>分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成</a:t>
                      </a:r>
                      <a:r>
                        <a:rPr lang="en-US" alt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m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个部分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36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n </a:t>
                      </a:r>
                      <a:r>
                        <a:rPr lang="zh-CN" alt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拆</a:t>
                      </a:r>
                      <a:r>
                        <a:rPr lang="zh-CN" altLang="zh-CN" sz="2000" b="1" kern="100" dirty="0">
                          <a:latin typeface="Times New Roman"/>
                          <a:ea typeface="+mn-ea"/>
                          <a:cs typeface="Times New Roman"/>
                        </a:rPr>
                        <a:t>分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成</a:t>
                      </a:r>
                      <a:r>
                        <a:rPr lang="en-US" alt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t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个部分</a:t>
                      </a:r>
                      <a:r>
                        <a:rPr 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(</a:t>
                      </a:r>
                      <a:r>
                        <a:rPr lang="en-US" sz="2000" b="1" i="1" kern="100" dirty="0" err="1">
                          <a:latin typeface="Times New Roman"/>
                          <a:ea typeface="宋体"/>
                          <a:cs typeface="Times New Roman"/>
                        </a:rPr>
                        <a:t>t</a:t>
                      </a:r>
                      <a:r>
                        <a:rPr lang="en-US" sz="2000" b="1" i="0" kern="100" dirty="0" err="1">
                          <a:latin typeface="Times New Roman"/>
                          <a:ea typeface="宋体"/>
                          <a:cs typeface="Times New Roman"/>
                          <a:sym typeface="Symbol"/>
                        </a:rPr>
                        <a:t></a:t>
                      </a:r>
                      <a:r>
                        <a:rPr lang="en-US" sz="2000" b="1" i="1" kern="100" dirty="0" err="1">
                          <a:latin typeface="Times New Roman"/>
                          <a:ea typeface="宋体"/>
                          <a:cs typeface="Times New Roman"/>
                        </a:rPr>
                        <a:t>m</a:t>
                      </a:r>
                      <a:r>
                        <a:rPr lang="en-US" sz="2000" b="1" i="0" kern="100" dirty="0">
                          <a:latin typeface="Times New Roman"/>
                          <a:ea typeface="宋体"/>
                          <a:cs typeface="Times New Roman"/>
                        </a:rPr>
                        <a:t>)</a:t>
                      </a:r>
                      <a:endParaRPr lang="zh-CN" sz="2000" b="1" i="0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28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47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个不同的球恰好放到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m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个相同盒子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647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n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个不同的球放到</a:t>
                      </a:r>
                      <a:r>
                        <a:rPr lang="en-US" alt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m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个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相同盒子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647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altLang="zh-CN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个不同的球恰好放到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m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个不同盒子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6471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kern="100" dirty="0">
                          <a:latin typeface="Times New Roman"/>
                          <a:ea typeface="宋体"/>
                          <a:cs typeface="Times New Roman"/>
                        </a:rPr>
                        <a:t>Y</a:t>
                      </a:r>
                      <a:endParaRPr lang="zh-CN" sz="2000" b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i="1" kern="100" dirty="0" err="1">
                          <a:latin typeface="Times New Roman"/>
                          <a:ea typeface="宋体"/>
                          <a:cs typeface="Times New Roman"/>
                        </a:rPr>
                        <a:t>m</a:t>
                      </a:r>
                      <a:r>
                        <a:rPr lang="en-US" sz="2000" b="1" i="1" kern="100" baseline="30000" dirty="0" err="1">
                          <a:latin typeface="Times New Roman"/>
                          <a:ea typeface="宋体"/>
                          <a:cs typeface="Times New Roman"/>
                        </a:rPr>
                        <a:t>n</a:t>
                      </a:r>
                      <a:r>
                        <a:rPr lang="en-US" sz="2000" b="1" i="1" kern="100" baseline="30000" dirty="0">
                          <a:latin typeface="Times New Roman"/>
                          <a:ea typeface="宋体"/>
                          <a:cs typeface="Times New Roman"/>
                        </a:rPr>
                        <a:t>  </a:t>
                      </a:r>
                      <a:endParaRPr lang="zh-CN" sz="2000" b="1" i="1" kern="100" dirty="0">
                        <a:latin typeface="Times New Roman"/>
                        <a:ea typeface="宋体"/>
                        <a:cs typeface="Times New Roman"/>
                      </a:endParaRPr>
                    </a:p>
                  </a:txBody>
                  <a:tcPr marL="68584" marR="6858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n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个不同的球放到</a:t>
                      </a:r>
                      <a:r>
                        <a:rPr lang="en-US" alt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 </a:t>
                      </a:r>
                      <a:r>
                        <a:rPr lang="en-US" sz="2000" b="1" i="1" kern="100" dirty="0">
                          <a:latin typeface="Times New Roman"/>
                          <a:ea typeface="宋体"/>
                          <a:cs typeface="Times New Roman"/>
                        </a:rPr>
                        <a:t>m </a:t>
                      </a: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个</a:t>
                      </a: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2000" b="1" kern="100" dirty="0">
                          <a:latin typeface="Times New Roman"/>
                          <a:ea typeface="宋体"/>
                          <a:cs typeface="Times New Roman"/>
                        </a:rPr>
                        <a:t>不同盒子</a:t>
                      </a:r>
                    </a:p>
                  </a:txBody>
                  <a:tcPr marL="68584" marR="6858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6146" name="Object 2">
            <a:extLst>
              <a:ext uri="{FF2B5EF4-FFF2-40B4-BE49-F238E27FC236}">
                <a16:creationId xmlns:a16="http://schemas.microsoft.com/office/drawing/2014/main" id="{281A4E55-A3DD-4FEC-9184-CC7F4E2BE4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76825" y="2249488"/>
          <a:ext cx="3436938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1" name="公式" r:id="rId3" imgW="1930320" imgH="228600" progId="Equation.3">
                  <p:embed/>
                </p:oleObj>
              </mc:Choice>
              <mc:Fallback>
                <p:oleObj name="公式" r:id="rId3" imgW="193032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825" y="2249488"/>
                        <a:ext cx="3436938" cy="373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7" name="Rectangle 9">
            <a:extLst>
              <a:ext uri="{FF2B5EF4-FFF2-40B4-BE49-F238E27FC236}">
                <a16:creationId xmlns:a16="http://schemas.microsoft.com/office/drawing/2014/main" id="{3A6D78DB-5CB4-4698-B01D-08336E49E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2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47" name="Object 8">
            <a:extLst>
              <a:ext uri="{FF2B5EF4-FFF2-40B4-BE49-F238E27FC236}">
                <a16:creationId xmlns:a16="http://schemas.microsoft.com/office/drawing/2014/main" id="{B0657216-75D8-4BE9-BD3A-1E75F2DC3F9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2722"/>
              </p:ext>
            </p:extLst>
          </p:nvPr>
        </p:nvGraphicFramePr>
        <p:xfrm>
          <a:off x="3563888" y="4005064"/>
          <a:ext cx="647700" cy="623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2" name="公式" r:id="rId5" imgW="482400" imgH="469800" progId="Equation.3">
                  <p:embed/>
                </p:oleObj>
              </mc:Choice>
              <mc:Fallback>
                <p:oleObj name="公式" r:id="rId5" imgW="482400" imgH="46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4005064"/>
                        <a:ext cx="647700" cy="6238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10">
            <a:extLst>
              <a:ext uri="{FF2B5EF4-FFF2-40B4-BE49-F238E27FC236}">
                <a16:creationId xmlns:a16="http://schemas.microsoft.com/office/drawing/2014/main" id="{FA6E68CE-E85E-44E1-BB75-BF80A6B36E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1071898"/>
              </p:ext>
            </p:extLst>
          </p:nvPr>
        </p:nvGraphicFramePr>
        <p:xfrm>
          <a:off x="3708400" y="3356992"/>
          <a:ext cx="442913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3" name="公式" r:id="rId7" imgW="330120" imgH="469800" progId="Equation.3">
                  <p:embed/>
                </p:oleObj>
              </mc:Choice>
              <mc:Fallback>
                <p:oleObj name="公式" r:id="rId7" imgW="330120" imgH="4698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356992"/>
                        <a:ext cx="442913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11">
            <a:extLst>
              <a:ext uri="{FF2B5EF4-FFF2-40B4-BE49-F238E27FC236}">
                <a16:creationId xmlns:a16="http://schemas.microsoft.com/office/drawing/2014/main" id="{3574E52E-3F8F-403C-BFD6-FCF0938E10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7979049"/>
              </p:ext>
            </p:extLst>
          </p:nvPr>
        </p:nvGraphicFramePr>
        <p:xfrm>
          <a:off x="3563938" y="4653136"/>
          <a:ext cx="698500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4" name="公式" r:id="rId9" imgW="520560" imgH="469800" progId="Equation.3">
                  <p:embed/>
                </p:oleObj>
              </mc:Choice>
              <mc:Fallback>
                <p:oleObj name="公式" r:id="rId9" imgW="520560" imgH="4698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4653136"/>
                        <a:ext cx="698500" cy="625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8" name="Rectangle 13">
            <a:extLst>
              <a:ext uri="{FF2B5EF4-FFF2-40B4-BE49-F238E27FC236}">
                <a16:creationId xmlns:a16="http://schemas.microsoft.com/office/drawing/2014/main" id="{29CAEBE0-3C7F-460C-80E7-A0EF1B1A0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2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50" name="Object 14">
            <a:extLst>
              <a:ext uri="{FF2B5EF4-FFF2-40B4-BE49-F238E27FC236}">
                <a16:creationId xmlns:a16="http://schemas.microsoft.com/office/drawing/2014/main" id="{EFDEAD82-4430-4BB0-8B3B-BE4E21E7483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36684137"/>
              </p:ext>
            </p:extLst>
          </p:nvPr>
        </p:nvGraphicFramePr>
        <p:xfrm>
          <a:off x="3563938" y="2053282"/>
          <a:ext cx="652462" cy="65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5" name="公式" r:id="rId11" imgW="520560" imgH="469800" progId="Equation.3">
                  <p:embed/>
                </p:oleObj>
              </mc:Choice>
              <mc:Fallback>
                <p:oleObj name="公式" r:id="rId11" imgW="520560" imgH="4698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053282"/>
                        <a:ext cx="652462" cy="655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19" name="Rectangle 16">
            <a:extLst>
              <a:ext uri="{FF2B5EF4-FFF2-40B4-BE49-F238E27FC236}">
                <a16:creationId xmlns:a16="http://schemas.microsoft.com/office/drawing/2014/main" id="{9F72ADF9-14F8-43C9-92CA-6E40DFF91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42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6151" name="Object 15">
            <a:extLst>
              <a:ext uri="{FF2B5EF4-FFF2-40B4-BE49-F238E27FC236}">
                <a16:creationId xmlns:a16="http://schemas.microsoft.com/office/drawing/2014/main" id="{5B86A30F-70A7-421A-AA9A-283B4E689EB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822783"/>
              </p:ext>
            </p:extLst>
          </p:nvPr>
        </p:nvGraphicFramePr>
        <p:xfrm>
          <a:off x="3492500" y="2708920"/>
          <a:ext cx="923925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" name="公式" r:id="rId13" imgW="749160" imgH="469800" progId="Equation.3">
                  <p:embed/>
                </p:oleObj>
              </mc:Choice>
              <mc:Fallback>
                <p:oleObj name="公式" r:id="rId13" imgW="749160" imgH="4698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708920"/>
                        <a:ext cx="923925" cy="576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2" name="Object 17">
            <a:extLst>
              <a:ext uri="{FF2B5EF4-FFF2-40B4-BE49-F238E27FC236}">
                <a16:creationId xmlns:a16="http://schemas.microsoft.com/office/drawing/2014/main" id="{6D89E631-D3ED-4478-A067-4F69C427F4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2897188"/>
          <a:ext cx="3730625" cy="373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7" name="公式" r:id="rId15" imgW="2095200" imgH="228600" progId="Equation.3">
                  <p:embed/>
                </p:oleObj>
              </mc:Choice>
              <mc:Fallback>
                <p:oleObj name="公式" r:id="rId15" imgW="2095200" imgH="2286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2897188"/>
                        <a:ext cx="3730625" cy="3730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DAB640A7-8DC5-4A6D-A186-0DEBE0DE18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组合计数方法</a:t>
            </a: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008FF907-60CE-4741-B35B-2D3C6E24723B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50825" y="1196975"/>
            <a:ext cx="8281988" cy="4525963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sz="2800" b="1"/>
              <a:t>递推方程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/>
              <a:t>通过依赖关系导出递推方程、确定初值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/>
              <a:t>求解方法：公式法、换元法、迭代归纳法、递归树法、尝试法、生成函数法</a:t>
            </a:r>
          </a:p>
          <a:p>
            <a:pPr>
              <a:lnSpc>
                <a:spcPct val="120000"/>
              </a:lnSpc>
            </a:pPr>
            <a:r>
              <a:rPr lang="zh-CN" altLang="en-US" sz="2800" b="1"/>
              <a:t>生成函数与指数生成函数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/>
              <a:t>分别对应于无序与有序计数问题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/>
              <a:t>如何根据问题得到生成函数和指数生成函数</a:t>
            </a:r>
          </a:p>
          <a:p>
            <a:pPr lvl="1">
              <a:lnSpc>
                <a:spcPct val="120000"/>
              </a:lnSpc>
            </a:pPr>
            <a:r>
              <a:rPr lang="zh-CN" altLang="en-US" sz="2400" b="1"/>
              <a:t>如何展开生成函数与指数生成函数得到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zh-CN" altLang="en-US" sz="24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8" name="灯片编号占位符 5">
            <a:extLst>
              <a:ext uri="{FF2B5EF4-FFF2-40B4-BE49-F238E27FC236}">
                <a16:creationId xmlns:a16="http://schemas.microsoft.com/office/drawing/2014/main" id="{DC5A278E-66C8-4B84-972F-AAF3CBE4E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D8EB3BD-5165-45D8-BAEF-EC16DF4647D6}" type="slidenum">
              <a:rPr lang="zh-CN" altLang="en-US">
                <a:solidFill>
                  <a:srgbClr val="898989"/>
                </a:solidFill>
              </a:rPr>
              <a:pPr eaLnBrk="1" hangingPunct="1"/>
              <a:t>17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>
            <a:extLst>
              <a:ext uri="{FF2B5EF4-FFF2-40B4-BE49-F238E27FC236}">
                <a16:creationId xmlns:a16="http://schemas.microsoft.com/office/drawing/2014/main" id="{2693BBE6-A6C2-4CDA-A52C-C123618A20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组合计数定理</a:t>
            </a:r>
          </a:p>
        </p:txBody>
      </p:sp>
      <p:sp>
        <p:nvSpPr>
          <p:cNvPr id="7174" name="Rectangle 3">
            <a:extLst>
              <a:ext uri="{FF2B5EF4-FFF2-40B4-BE49-F238E27FC236}">
                <a16:creationId xmlns:a16="http://schemas.microsoft.com/office/drawing/2014/main" id="{79FD8FF6-C520-4E98-A174-22EF1DA106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11188" y="1196975"/>
            <a:ext cx="7772400" cy="4708525"/>
          </a:xfrm>
        </p:spPr>
        <p:txBody>
          <a:bodyPr/>
          <a:lstStyle/>
          <a:p>
            <a:r>
              <a:rPr lang="zh-CN" altLang="en-US" sz="2800" b="1" dirty="0"/>
              <a:t>容斥原理</a:t>
            </a:r>
            <a:endParaRPr lang="en-US" altLang="zh-CN" sz="2800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pPr>
              <a:spcBef>
                <a:spcPts val="2400"/>
              </a:spcBef>
            </a:pPr>
            <a:r>
              <a:rPr lang="zh-CN" altLang="en-US" sz="2800" b="1" dirty="0"/>
              <a:t>应用</a:t>
            </a:r>
            <a:endParaRPr lang="en-US" altLang="zh-CN" sz="2800" b="1" dirty="0"/>
          </a:p>
          <a:p>
            <a:pPr lvl="1">
              <a:spcBef>
                <a:spcPts val="2400"/>
              </a:spcBef>
            </a:pPr>
            <a:r>
              <a:rPr lang="zh-CN" altLang="en-US" sz="2400" b="1" dirty="0"/>
              <a:t>欧拉函数</a:t>
            </a:r>
            <a:endParaRPr lang="en-US" altLang="zh-CN" sz="2400" b="1" dirty="0"/>
          </a:p>
          <a:p>
            <a:pPr lvl="1">
              <a:spcBef>
                <a:spcPts val="2400"/>
              </a:spcBef>
            </a:pPr>
            <a:r>
              <a:rPr lang="zh-CN" altLang="en-US" sz="2400" b="1" dirty="0"/>
              <a:t>错位排列</a:t>
            </a:r>
            <a:endParaRPr lang="en-US" altLang="zh-CN" sz="2400" b="1" dirty="0"/>
          </a:p>
        </p:txBody>
      </p:sp>
      <p:sp>
        <p:nvSpPr>
          <p:cNvPr id="8196" name="灯片编号占位符 5">
            <a:extLst>
              <a:ext uri="{FF2B5EF4-FFF2-40B4-BE49-F238E27FC236}">
                <a16:creationId xmlns:a16="http://schemas.microsoft.com/office/drawing/2014/main" id="{347C7E85-FD22-45E2-B2D1-E2CE3742D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C389AF3-FD28-48F8-BA78-C0252F5C23DD}" type="slidenum">
              <a:rPr lang="zh-CN" altLang="en-US">
                <a:solidFill>
                  <a:srgbClr val="898989"/>
                </a:solidFill>
              </a:rPr>
              <a:pPr eaLnBrk="1" hangingPunct="1"/>
              <a:t>18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7175" name="Rectangle 2">
            <a:extLst>
              <a:ext uri="{FF2B5EF4-FFF2-40B4-BE49-F238E27FC236}">
                <a16:creationId xmlns:a16="http://schemas.microsoft.com/office/drawing/2014/main" id="{30177B8A-9E02-4CF6-B5B0-6512C540D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7170" name="Object 1">
            <a:extLst>
              <a:ext uri="{FF2B5EF4-FFF2-40B4-BE49-F238E27FC236}">
                <a16:creationId xmlns:a16="http://schemas.microsoft.com/office/drawing/2014/main" id="{303CEB05-7EFE-489F-A706-3251158963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1742276"/>
              </p:ext>
            </p:extLst>
          </p:nvPr>
        </p:nvGraphicFramePr>
        <p:xfrm>
          <a:off x="1331913" y="1444948"/>
          <a:ext cx="6924675" cy="162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2" name="公式" r:id="rId3" imgW="3581280" imgH="850680" progId="Equation.3">
                  <p:embed/>
                </p:oleObj>
              </mc:Choice>
              <mc:Fallback>
                <p:oleObj name="公式" r:id="rId3" imgW="3581280" imgH="85068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444948"/>
                        <a:ext cx="6924675" cy="1624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7">
            <a:extLst>
              <a:ext uri="{FF2B5EF4-FFF2-40B4-BE49-F238E27FC236}">
                <a16:creationId xmlns:a16="http://schemas.microsoft.com/office/drawing/2014/main" id="{1E04BAC7-18ED-4C2D-91EA-AEB070E88F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76600" y="4076700"/>
          <a:ext cx="4232275" cy="165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83" name="公式" r:id="rId5" imgW="2336760" imgH="914400" progId="Equation.3">
                  <p:embed/>
                </p:oleObj>
              </mc:Choice>
              <mc:Fallback>
                <p:oleObj name="公式" r:id="rId5" imgW="2336760" imgH="9144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076700"/>
                        <a:ext cx="4232275" cy="1655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标题 1">
            <a:extLst>
              <a:ext uri="{FF2B5EF4-FFF2-40B4-BE49-F238E27FC236}">
                <a16:creationId xmlns:a16="http://schemas.microsoft.com/office/drawing/2014/main" id="{44501A34-F43F-40D5-B288-B34C200F2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Polya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定理</a:t>
            </a:r>
          </a:p>
        </p:txBody>
      </p:sp>
      <p:sp>
        <p:nvSpPr>
          <p:cNvPr id="9220" name="灯片编号占位符 3">
            <a:extLst>
              <a:ext uri="{FF2B5EF4-FFF2-40B4-BE49-F238E27FC236}">
                <a16:creationId xmlns:a16="http://schemas.microsoft.com/office/drawing/2014/main" id="{E2B45B8A-C6F3-455F-9542-1432148B1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69BE061E-280A-4075-A66C-9E2751A0F7A5}" type="slidenum">
              <a:rPr lang="en-US" altLang="zh-CN">
                <a:solidFill>
                  <a:srgbClr val="898989"/>
                </a:solidFill>
              </a:rPr>
              <a:pPr eaLnBrk="1" hangingPunct="1"/>
              <a:t>19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8194" name="Object 1">
            <a:extLst>
              <a:ext uri="{FF2B5EF4-FFF2-40B4-BE49-F238E27FC236}">
                <a16:creationId xmlns:a16="http://schemas.microsoft.com/office/drawing/2014/main" id="{A3E94322-F37F-4EEC-9E93-518D0A4B26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781300"/>
          <a:ext cx="2708275" cy="1008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3" name="公式" r:id="rId3" imgW="1218960" imgH="444240" progId="Equation.3">
                  <p:embed/>
                </p:oleObj>
              </mc:Choice>
              <mc:Fallback>
                <p:oleObj name="公式" r:id="rId3" imgW="1218960" imgH="44424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781300"/>
                        <a:ext cx="2708275" cy="1008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Rectangle 5">
            <a:extLst>
              <a:ext uri="{FF2B5EF4-FFF2-40B4-BE49-F238E27FC236}">
                <a16:creationId xmlns:a16="http://schemas.microsoft.com/office/drawing/2014/main" id="{FC9D3199-C7E3-42AF-97FB-804619E49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78117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indent="676275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US" altLang="zh-CN"/>
          </a:p>
        </p:txBody>
      </p:sp>
      <p:sp>
        <p:nvSpPr>
          <p:cNvPr id="8198" name="矩形 9">
            <a:extLst>
              <a:ext uri="{FF2B5EF4-FFF2-40B4-BE49-F238E27FC236}">
                <a16:creationId xmlns:a16="http://schemas.microsoft.com/office/drawing/2014/main" id="{2DCCA835-13C6-4D87-91B0-2641033BF5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1268413"/>
            <a:ext cx="7632700" cy="1395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设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= {1, 2, </a:t>
            </a:r>
            <a:r>
              <a:rPr lang="en-US" altLang="zh-CN" sz="2400" b="1">
                <a:cs typeface="Times New Roman" panose="02020603050405020304" pitchFamily="18" charset="0"/>
              </a:rPr>
              <a:t>…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,…, 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}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上置换群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用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m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中颜色涂色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中元素，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是</a:t>
            </a:r>
            <a:r>
              <a:rPr lang="en-US" altLang="zh-CN" sz="2400" b="1" baseline="-3000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中的轮换（含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1—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轮换在内）个数，则在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的作用下不同的涂色方案数是</a:t>
            </a:r>
            <a:endParaRPr lang="zh-CN" altLang="en-US" sz="2400" b="1">
              <a:sym typeface="Symbol" panose="05050102010706020507" pitchFamily="18" charset="2"/>
            </a:endParaRPr>
          </a:p>
        </p:txBody>
      </p:sp>
      <p:sp>
        <p:nvSpPr>
          <p:cNvPr id="8199" name="矩形 10">
            <a:extLst>
              <a:ext uri="{FF2B5EF4-FFF2-40B4-BE49-F238E27FC236}">
                <a16:creationId xmlns:a16="http://schemas.microsoft.com/office/drawing/2014/main" id="{8B0EE97E-3529-45EC-A2CD-021CBAE47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149725"/>
            <a:ext cx="763270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ts val="32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各种对称图形的旋转、翻转，每个动作看做一个置换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lnSpc>
                <a:spcPts val="3500"/>
              </a:lnSpc>
            </a:pP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注意置换的复合运算必须封闭</a:t>
            </a:r>
            <a:endParaRPr lang="zh-CN" altLang="en-US" sz="240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9" name="Rectangle 2">
            <a:extLst>
              <a:ext uri="{FF2B5EF4-FFF2-40B4-BE49-F238E27FC236}">
                <a16:creationId xmlns:a16="http://schemas.microsoft.com/office/drawing/2014/main" id="{EFC9A130-0A82-4F55-9C4F-629A621428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组合计数符号</a:t>
            </a:r>
          </a:p>
        </p:txBody>
      </p:sp>
      <p:sp>
        <p:nvSpPr>
          <p:cNvPr id="10250" name="Rectangle 3">
            <a:extLst>
              <a:ext uri="{FF2B5EF4-FFF2-40B4-BE49-F238E27FC236}">
                <a16:creationId xmlns:a16="http://schemas.microsoft.com/office/drawing/2014/main" id="{3C4AA882-FC30-44DB-A098-C4A515AB75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4400" y="1196975"/>
            <a:ext cx="7772400" cy="4997450"/>
          </a:xfrm>
        </p:spPr>
        <p:txBody>
          <a:bodyPr/>
          <a:lstStyle/>
          <a:p>
            <a:pPr>
              <a:lnSpc>
                <a:spcPct val="140000"/>
              </a:lnSpc>
              <a:buFont typeface="Arial" charset="0"/>
              <a:buChar char="•"/>
              <a:defRPr/>
            </a:pPr>
            <a:r>
              <a:rPr lang="zh-CN" altLang="en-US" sz="2400" b="1" dirty="0"/>
              <a:t>排列数 </a:t>
            </a:r>
            <a:r>
              <a:rPr lang="en-US" altLang="zh-CN" sz="2400" b="1" i="1" dirty="0">
                <a:latin typeface="Times New Roman" pitchFamily="18" charset="0"/>
              </a:rPr>
              <a:t>P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 err="1">
                <a:latin typeface="Times New Roman" pitchFamily="18" charset="0"/>
              </a:rPr>
              <a:t>n,m</a:t>
            </a:r>
            <a:r>
              <a:rPr lang="en-US" altLang="zh-CN" sz="2400" b="1" dirty="0">
                <a:latin typeface="Times New Roman" pitchFamily="18" charset="0"/>
              </a:rPr>
              <a:t>)= </a:t>
            </a:r>
            <a:r>
              <a:rPr lang="en-US" altLang="zh-CN" sz="2400" b="1" i="1" dirty="0">
                <a:latin typeface="Times New Roman" pitchFamily="18" charset="0"/>
              </a:rPr>
              <a:t>m</a:t>
            </a:r>
            <a:r>
              <a:rPr lang="en-US" altLang="zh-CN" sz="2400" b="1" dirty="0">
                <a:latin typeface="Times New Roman" pitchFamily="18" charset="0"/>
              </a:rPr>
              <a:t>! </a:t>
            </a:r>
            <a:r>
              <a:rPr lang="en-US" altLang="zh-CN" sz="2400" b="1" i="1" dirty="0">
                <a:latin typeface="Times New Roman" pitchFamily="18" charset="0"/>
              </a:rPr>
              <a:t>C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 err="1">
                <a:latin typeface="Times New Roman" pitchFamily="18" charset="0"/>
              </a:rPr>
              <a:t>n,m</a:t>
            </a:r>
            <a:r>
              <a:rPr lang="en-US" altLang="zh-CN" sz="2400" b="1" dirty="0">
                <a:latin typeface="Times New Roman" pitchFamily="18" charset="0"/>
              </a:rPr>
              <a:t>)</a:t>
            </a:r>
          </a:p>
          <a:p>
            <a:pPr>
              <a:lnSpc>
                <a:spcPct val="140000"/>
              </a:lnSpc>
              <a:buFont typeface="Arial" charset="0"/>
              <a:buChar char="•"/>
              <a:defRPr/>
            </a:pPr>
            <a:r>
              <a:rPr lang="zh-CN" altLang="en-US" sz="2400" b="1" dirty="0"/>
              <a:t>组合数（二项式系数）</a:t>
            </a:r>
            <a:r>
              <a:rPr lang="en-US" altLang="zh-CN" sz="2400" b="1" i="1" dirty="0">
                <a:latin typeface="Times New Roman" pitchFamily="18" charset="0"/>
              </a:rPr>
              <a:t>C</a:t>
            </a:r>
            <a:r>
              <a:rPr lang="en-US" altLang="zh-CN" sz="2400" b="1" dirty="0">
                <a:latin typeface="Times New Roman" pitchFamily="18" charset="0"/>
              </a:rPr>
              <a:t>(</a:t>
            </a:r>
            <a:r>
              <a:rPr lang="en-US" altLang="zh-CN" sz="2400" b="1" i="1" dirty="0">
                <a:latin typeface="Times New Roman" pitchFamily="18" charset="0"/>
              </a:rPr>
              <a:t>n, m</a:t>
            </a:r>
            <a:r>
              <a:rPr lang="en-US" altLang="zh-CN" sz="2400" b="1" dirty="0">
                <a:latin typeface="Times New Roman" pitchFamily="18" charset="0"/>
              </a:rPr>
              <a:t>),</a:t>
            </a:r>
          </a:p>
          <a:p>
            <a:pPr>
              <a:lnSpc>
                <a:spcPct val="140000"/>
              </a:lnSpc>
              <a:spcBef>
                <a:spcPts val="1200"/>
              </a:spcBef>
              <a:buFont typeface="Arial" charset="0"/>
              <a:buChar char="•"/>
              <a:defRPr/>
            </a:pPr>
            <a:r>
              <a:rPr lang="zh-CN" altLang="en-US" sz="2400" b="1" dirty="0"/>
              <a:t>多项式系数 </a:t>
            </a:r>
          </a:p>
          <a:p>
            <a:pPr>
              <a:lnSpc>
                <a:spcPct val="140000"/>
              </a:lnSpc>
              <a:spcBef>
                <a:spcPts val="1800"/>
              </a:spcBef>
              <a:buFont typeface="Arial" charset="0"/>
              <a:buChar char="•"/>
              <a:defRPr/>
            </a:pPr>
            <a:r>
              <a:rPr lang="zh-CN" altLang="en-US" sz="2400" b="1" dirty="0"/>
              <a:t>错位排列数</a:t>
            </a:r>
            <a:endParaRPr lang="en-US" altLang="zh-CN" sz="2400" b="1" i="1" baseline="-25000" dirty="0">
              <a:latin typeface="Times New Roman" pitchFamily="18" charset="0"/>
            </a:endParaRPr>
          </a:p>
          <a:p>
            <a:pPr>
              <a:lnSpc>
                <a:spcPct val="140000"/>
              </a:lnSpc>
              <a:buFont typeface="Arial" charset="0"/>
              <a:buChar char="•"/>
              <a:defRPr/>
            </a:pPr>
            <a:r>
              <a:rPr lang="en-US" altLang="zh-CN" sz="2400" b="1" dirty="0">
                <a:latin typeface="+mj-lt"/>
              </a:rPr>
              <a:t>Fibonacci</a:t>
            </a:r>
            <a:r>
              <a:rPr lang="zh-CN" altLang="en-US" sz="2400" b="1" dirty="0"/>
              <a:t>数  </a:t>
            </a:r>
            <a:r>
              <a:rPr lang="en-US" altLang="zh-CN" sz="2400" b="1" i="1" dirty="0">
                <a:latin typeface="Times New Roman" pitchFamily="18" charset="0"/>
              </a:rPr>
              <a:t>f</a:t>
            </a:r>
            <a:r>
              <a:rPr lang="en-US" altLang="zh-CN" sz="2400" b="1" i="1" baseline="-25000" dirty="0">
                <a:latin typeface="Times New Roman" pitchFamily="18" charset="0"/>
              </a:rPr>
              <a:t>n</a:t>
            </a:r>
            <a:r>
              <a:rPr lang="en-US" altLang="zh-CN" sz="2400" b="1" i="1" dirty="0">
                <a:latin typeface="Times New Roman" pitchFamily="18" charset="0"/>
              </a:rPr>
              <a:t>=f</a:t>
            </a:r>
            <a:r>
              <a:rPr lang="en-US" altLang="zh-CN" sz="2400" b="1" i="1" baseline="-25000" dirty="0">
                <a:latin typeface="Times New Roman" pitchFamily="18" charset="0"/>
              </a:rPr>
              <a:t>n</a:t>
            </a:r>
            <a:r>
              <a:rPr lang="en-US" altLang="zh-CN" sz="2400" b="1" baseline="-25000" dirty="0">
                <a:latin typeface="Times New Roman" pitchFamily="18" charset="0"/>
              </a:rPr>
              <a:t>-1</a:t>
            </a:r>
            <a:r>
              <a:rPr lang="en-US" altLang="zh-CN" sz="2400" b="1" i="1" dirty="0">
                <a:latin typeface="Times New Roman" pitchFamily="18" charset="0"/>
              </a:rPr>
              <a:t>+f</a:t>
            </a:r>
            <a:r>
              <a:rPr lang="en-US" altLang="zh-CN" sz="2400" b="1" i="1" baseline="-25000" dirty="0">
                <a:latin typeface="Times New Roman" pitchFamily="18" charset="0"/>
              </a:rPr>
              <a:t>n</a:t>
            </a:r>
            <a:r>
              <a:rPr lang="en-US" altLang="zh-CN" sz="2400" b="1" baseline="-25000" dirty="0">
                <a:latin typeface="Times New Roman" pitchFamily="18" charset="0"/>
              </a:rPr>
              <a:t>-2           </a:t>
            </a:r>
            <a:r>
              <a:rPr lang="en-US" altLang="zh-CN" sz="2400" b="1" dirty="0">
                <a:latin typeface="Times New Roman" pitchFamily="18" charset="0"/>
              </a:rPr>
              <a:t>1, 1, 2, 3, 5, 8, 11, …</a:t>
            </a:r>
            <a:endParaRPr lang="en-US" altLang="zh-CN" sz="2400" b="1" baseline="-25000" dirty="0">
              <a:latin typeface="Times New Roman" pitchFamily="18" charset="0"/>
            </a:endParaRPr>
          </a:p>
          <a:p>
            <a:pPr>
              <a:lnSpc>
                <a:spcPct val="140000"/>
              </a:lnSpc>
              <a:buFont typeface="Arial" charset="0"/>
              <a:buChar char="•"/>
              <a:defRPr/>
            </a:pPr>
            <a:r>
              <a:rPr lang="en-US" altLang="zh-CN" sz="2400" b="1" dirty="0">
                <a:latin typeface="+mj-lt"/>
              </a:rPr>
              <a:t>Catalan</a:t>
            </a:r>
            <a:r>
              <a:rPr lang="zh-CN" altLang="en-US" sz="2400" b="1" dirty="0"/>
              <a:t>数（多边形三角划分）</a:t>
            </a:r>
            <a:r>
              <a:rPr lang="en-US" altLang="zh-CN" sz="2400" b="1" dirty="0"/>
              <a:t> </a:t>
            </a:r>
          </a:p>
          <a:p>
            <a:pPr>
              <a:lnSpc>
                <a:spcPct val="140000"/>
              </a:lnSpc>
              <a:buFont typeface="Arial" charset="0"/>
              <a:buChar char="•"/>
              <a:defRPr/>
            </a:pPr>
            <a:r>
              <a:rPr lang="zh-CN" altLang="en-US" sz="2400" b="1" dirty="0"/>
              <a:t>第一类</a:t>
            </a:r>
            <a:r>
              <a:rPr lang="en-US" altLang="zh-CN" sz="2400" b="1" dirty="0" err="1">
                <a:latin typeface="+mj-lt"/>
              </a:rPr>
              <a:t>Stirling</a:t>
            </a:r>
            <a:r>
              <a:rPr lang="zh-CN" altLang="en-US" sz="2400" b="1" dirty="0"/>
              <a:t>数 （多项式系数）</a:t>
            </a:r>
          </a:p>
          <a:p>
            <a:pPr>
              <a:lnSpc>
                <a:spcPct val="140000"/>
              </a:lnSpc>
              <a:buFont typeface="Arial" charset="0"/>
              <a:buChar char="•"/>
              <a:defRPr/>
            </a:pPr>
            <a:r>
              <a:rPr lang="zh-CN" altLang="en-US" sz="2400" b="1" dirty="0"/>
              <a:t>第二类</a:t>
            </a:r>
            <a:r>
              <a:rPr lang="en-US" altLang="zh-CN" sz="2400" b="1" dirty="0" err="1">
                <a:latin typeface="+mj-lt"/>
              </a:rPr>
              <a:t>Stirling</a:t>
            </a:r>
            <a:r>
              <a:rPr lang="zh-CN" altLang="en-US" sz="2400" b="1" dirty="0"/>
              <a:t>数（放球）</a:t>
            </a:r>
          </a:p>
        </p:txBody>
      </p:sp>
      <p:sp>
        <p:nvSpPr>
          <p:cNvPr id="10248" name="灯片编号占位符 5">
            <a:extLst>
              <a:ext uri="{FF2B5EF4-FFF2-40B4-BE49-F238E27FC236}">
                <a16:creationId xmlns:a16="http://schemas.microsoft.com/office/drawing/2014/main" id="{2695BEA6-F0D3-45D4-8218-152B14FC91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20F495D3-F9EA-4C0B-80A2-EDCBAC1BDAC1}" type="slidenum">
              <a:rPr lang="zh-CN" altLang="en-US">
                <a:solidFill>
                  <a:srgbClr val="898989"/>
                </a:solidFill>
              </a:rPr>
              <a:pPr eaLnBrk="1" hangingPunct="1"/>
              <a:t>20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9227" name="Rectangle 5">
            <a:extLst>
              <a:ext uri="{FF2B5EF4-FFF2-40B4-BE49-F238E27FC236}">
                <a16:creationId xmlns:a16="http://schemas.microsoft.com/office/drawing/2014/main" id="{C63CE928-4D1C-48D8-8F46-10A85A01DE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18" name="Object 2">
            <a:extLst>
              <a:ext uri="{FF2B5EF4-FFF2-40B4-BE49-F238E27FC236}">
                <a16:creationId xmlns:a16="http://schemas.microsoft.com/office/drawing/2014/main" id="{8D6D488C-3D04-426C-AED2-85EABBF3CC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2278063"/>
          <a:ext cx="2833687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9" name="公式" r:id="rId3" imgW="1676160" imgH="482400" progId="Equation.3">
                  <p:embed/>
                </p:oleObj>
              </mc:Choice>
              <mc:Fallback>
                <p:oleObj name="公式" r:id="rId3" imgW="1676160" imgH="4824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278063"/>
                        <a:ext cx="2833687" cy="8223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8" name="Rectangle 7">
            <a:extLst>
              <a:ext uri="{FF2B5EF4-FFF2-40B4-BE49-F238E27FC236}">
                <a16:creationId xmlns:a16="http://schemas.microsoft.com/office/drawing/2014/main" id="{84AE4D44-2248-47FA-9F0B-D00A6B439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19" name="Object 3">
            <a:extLst>
              <a:ext uri="{FF2B5EF4-FFF2-40B4-BE49-F238E27FC236}">
                <a16:creationId xmlns:a16="http://schemas.microsoft.com/office/drawing/2014/main" id="{2CA82367-6085-406D-B591-A2BA8E9F79A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80063" y="1628775"/>
          <a:ext cx="1944687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0" name="公式" r:id="rId5" imgW="1180800" imgH="469800" progId="Equation.3">
                  <p:embed/>
                </p:oleObj>
              </mc:Choice>
              <mc:Fallback>
                <p:oleObj name="公式" r:id="rId5" imgW="1180800" imgH="469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628775"/>
                        <a:ext cx="1944687" cy="763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4">
            <a:extLst>
              <a:ext uri="{FF2B5EF4-FFF2-40B4-BE49-F238E27FC236}">
                <a16:creationId xmlns:a16="http://schemas.microsoft.com/office/drawing/2014/main" id="{60C01444-C447-4BCE-A357-487578BEF3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4941888"/>
          <a:ext cx="388938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1" name="公式" r:id="rId7" imgW="253890" imgH="431613" progId="Equation.3">
                  <p:embed/>
                </p:oleObj>
              </mc:Choice>
              <mc:Fallback>
                <p:oleObj name="公式" r:id="rId7" imgW="253890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4941888"/>
                        <a:ext cx="388938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5">
            <a:extLst>
              <a:ext uri="{FF2B5EF4-FFF2-40B4-BE49-F238E27FC236}">
                <a16:creationId xmlns:a16="http://schemas.microsoft.com/office/drawing/2014/main" id="{94744A8A-CB6C-4B5A-9DDD-EB295026B1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003800" y="5518150"/>
          <a:ext cx="417513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2" name="公式" r:id="rId9" imgW="279279" imgH="431613" progId="Equation.3">
                  <p:embed/>
                </p:oleObj>
              </mc:Choice>
              <mc:Fallback>
                <p:oleObj name="公式" r:id="rId9" imgW="279279" imgH="43161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5518150"/>
                        <a:ext cx="417513" cy="647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9" name="Rectangle 10">
            <a:extLst>
              <a:ext uri="{FF2B5EF4-FFF2-40B4-BE49-F238E27FC236}">
                <a16:creationId xmlns:a16="http://schemas.microsoft.com/office/drawing/2014/main" id="{FAC462C1-EF39-4F4C-9CEE-5C3FDF94C6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230" name="Rectangle 11">
            <a:extLst>
              <a:ext uri="{FF2B5EF4-FFF2-40B4-BE49-F238E27FC236}">
                <a16:creationId xmlns:a16="http://schemas.microsoft.com/office/drawing/2014/main" id="{169787F6-8FE2-4C0C-A79C-C680E5495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28625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9222" name="Object 6">
            <a:extLst>
              <a:ext uri="{FF2B5EF4-FFF2-40B4-BE49-F238E27FC236}">
                <a16:creationId xmlns:a16="http://schemas.microsoft.com/office/drawing/2014/main" id="{A4C29A23-60D4-4CAC-861F-3B358D72B1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59113" y="3141663"/>
          <a:ext cx="4208462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公式" r:id="rId11" imgW="2374560" imgH="406080" progId="Equation.3">
                  <p:embed/>
                </p:oleObj>
              </mc:Choice>
              <mc:Fallback>
                <p:oleObj name="公式" r:id="rId11" imgW="2374560" imgH="40608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3141663"/>
                        <a:ext cx="4208462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3" name="Object 7">
            <a:extLst>
              <a:ext uri="{FF2B5EF4-FFF2-40B4-BE49-F238E27FC236}">
                <a16:creationId xmlns:a16="http://schemas.microsoft.com/office/drawing/2014/main" id="{D07B7D95-FD86-40A7-AEB5-8D551E27C0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51500" y="4294188"/>
          <a:ext cx="13843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4" name="公式" r:id="rId13" imgW="1002960" imgH="469800" progId="Equation.3">
                  <p:embed/>
                </p:oleObj>
              </mc:Choice>
              <mc:Fallback>
                <p:oleObj name="公式" r:id="rId13" imgW="1002960" imgH="46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294188"/>
                        <a:ext cx="1384300" cy="647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标题 1">
            <a:extLst>
              <a:ext uri="{FF2B5EF4-FFF2-40B4-BE49-F238E27FC236}">
                <a16:creationId xmlns:a16="http://schemas.microsoft.com/office/drawing/2014/main" id="{3563B8D1-712F-4FA3-BCFB-526B97D2D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>
              <a:defRPr/>
            </a:pP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Catalan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数与第二类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Stirling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561931-F158-41DA-9F29-41FAF85F3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4525962"/>
          </a:xfrm>
        </p:spPr>
        <p:txBody>
          <a:bodyPr/>
          <a:lstStyle/>
          <a:p>
            <a:pPr>
              <a:buFont typeface="Arial" charset="0"/>
              <a:buChar char="•"/>
              <a:defRPr/>
            </a:pPr>
            <a:r>
              <a:rPr lang="en-US" altLang="zh-CN" sz="2800" b="1" dirty="0">
                <a:latin typeface="+mj-lt"/>
              </a:rPr>
              <a:t>Catalan</a:t>
            </a:r>
            <a:r>
              <a:rPr lang="zh-CN" altLang="en-US" sz="2800" b="1" dirty="0">
                <a:latin typeface="+mj-lt"/>
              </a:rPr>
              <a:t>数</a:t>
            </a:r>
            <a:endParaRPr lang="en-US" altLang="zh-CN" sz="2800" b="1" dirty="0">
              <a:latin typeface="+mj-lt"/>
            </a:endParaRPr>
          </a:p>
          <a:p>
            <a:pPr>
              <a:buFont typeface="Wingdings" pitchFamily="2" charset="2"/>
              <a:buNone/>
              <a:defRPr/>
            </a:pPr>
            <a:r>
              <a:rPr lang="zh-CN" altLang="en-US" sz="2800" b="1" dirty="0">
                <a:latin typeface="+mj-lt"/>
              </a:rPr>
              <a:t>    凸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800" b="1" dirty="0">
                <a:latin typeface="+mj-lt"/>
              </a:rPr>
              <a:t>边形划分成三角形的方式数</a:t>
            </a:r>
            <a:endParaRPr lang="en-US" altLang="zh-CN" sz="2800" b="1" dirty="0">
              <a:latin typeface="+mj-lt"/>
            </a:endParaRPr>
          </a:p>
          <a:p>
            <a:pPr>
              <a:buFont typeface="Arial" charset="0"/>
              <a:buChar char="•"/>
              <a:defRPr/>
            </a:pPr>
            <a:endParaRPr lang="en-US" altLang="zh-CN" sz="2800" dirty="0"/>
          </a:p>
          <a:p>
            <a:pPr>
              <a:buFont typeface="Arial" charset="0"/>
              <a:buChar char="•"/>
              <a:defRPr/>
            </a:pPr>
            <a:endParaRPr lang="en-US" altLang="zh-CN" sz="2800" dirty="0"/>
          </a:p>
          <a:p>
            <a:pPr>
              <a:spcBef>
                <a:spcPts val="1800"/>
              </a:spcBef>
              <a:buFont typeface="Arial" charset="0"/>
              <a:buChar char="•"/>
              <a:defRPr/>
            </a:pPr>
            <a:r>
              <a:rPr lang="zh-CN" altLang="en-US" sz="2800" b="1" dirty="0">
                <a:latin typeface="+mj-lt"/>
              </a:rPr>
              <a:t>第二类</a:t>
            </a:r>
            <a:r>
              <a:rPr lang="en-US" altLang="zh-CN" sz="2800" b="1" dirty="0" err="1">
                <a:latin typeface="+mj-lt"/>
              </a:rPr>
              <a:t>Stirling</a:t>
            </a:r>
            <a:r>
              <a:rPr lang="zh-CN" altLang="en-US" sz="2800" b="1" dirty="0">
                <a:latin typeface="+mj-lt"/>
              </a:rPr>
              <a:t>数</a:t>
            </a:r>
            <a:endParaRPr lang="en-US" altLang="zh-CN" sz="2800" b="1" dirty="0">
              <a:latin typeface="+mj-lt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zh-CN" sz="2800" b="1" i="1" dirty="0">
                <a:latin typeface="+mj-lt"/>
              </a:rPr>
              <a:t>    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个不同的球放到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r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个</a:t>
            </a:r>
            <a:r>
              <a:rPr lang="zh-CN" altLang="en-US" sz="2800" b="1" dirty="0">
                <a:latin typeface="+mj-lt"/>
              </a:rPr>
              <a:t>相同的盒子里方法数</a:t>
            </a:r>
            <a:endParaRPr lang="en-US" altLang="zh-CN" sz="2800" b="1" dirty="0">
              <a:latin typeface="+mj-lt"/>
            </a:endParaRPr>
          </a:p>
          <a:p>
            <a:pPr>
              <a:buFont typeface="Wingdings" pitchFamily="2" charset="2"/>
              <a:buNone/>
              <a:defRPr/>
            </a:pPr>
            <a:r>
              <a:rPr lang="en-US" altLang="zh-CN" b="1" dirty="0">
                <a:latin typeface="+mj-lt"/>
              </a:rPr>
              <a:t>  </a:t>
            </a:r>
            <a:endParaRPr lang="zh-CN" altLang="en-US" b="1" dirty="0">
              <a:latin typeface="+mj-lt"/>
            </a:endParaRPr>
          </a:p>
        </p:txBody>
      </p:sp>
      <p:sp>
        <p:nvSpPr>
          <p:cNvPr id="11271" name="灯片编号占位符 3">
            <a:extLst>
              <a:ext uri="{FF2B5EF4-FFF2-40B4-BE49-F238E27FC236}">
                <a16:creationId xmlns:a16="http://schemas.microsoft.com/office/drawing/2014/main" id="{87AA8303-DE64-4817-A322-6C59BC665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AE396C7E-CC3F-4673-90B9-7FD5D951C711}" type="slidenum">
              <a:rPr lang="en-US" altLang="zh-CN">
                <a:solidFill>
                  <a:srgbClr val="898989"/>
                </a:solidFill>
              </a:rPr>
              <a:pPr eaLnBrk="1" hangingPunct="1"/>
              <a:t>21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0242" name="Object 2">
            <a:extLst>
              <a:ext uri="{FF2B5EF4-FFF2-40B4-BE49-F238E27FC236}">
                <a16:creationId xmlns:a16="http://schemas.microsoft.com/office/drawing/2014/main" id="{191A609F-AED7-4256-9951-7404E27E7D2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2349500"/>
          <a:ext cx="4090988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7" name="公式" r:id="rId3" imgW="1942920" imgH="444240" progId="Equation.3">
                  <p:embed/>
                </p:oleObj>
              </mc:Choice>
              <mc:Fallback>
                <p:oleObj name="公式" r:id="rId3" imgW="1942920" imgH="44424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2349500"/>
                        <a:ext cx="4090988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7">
            <a:extLst>
              <a:ext uri="{FF2B5EF4-FFF2-40B4-BE49-F238E27FC236}">
                <a16:creationId xmlns:a16="http://schemas.microsoft.com/office/drawing/2014/main" id="{C1B5372E-34BF-4D9B-B567-6057667755A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27763" y="2420938"/>
          <a:ext cx="1873250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8" name="公式" r:id="rId5" imgW="1002960" imgH="469800" progId="Equation.3">
                  <p:embed/>
                </p:oleObj>
              </mc:Choice>
              <mc:Fallback>
                <p:oleObj name="公式" r:id="rId5" imgW="1002960" imgH="469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420938"/>
                        <a:ext cx="1873250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4">
            <a:extLst>
              <a:ext uri="{FF2B5EF4-FFF2-40B4-BE49-F238E27FC236}">
                <a16:creationId xmlns:a16="http://schemas.microsoft.com/office/drawing/2014/main" id="{CC5B5131-D974-4FD7-B47A-16097C6906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76375" y="4437063"/>
          <a:ext cx="4476750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9" name="公式" r:id="rId7" imgW="2781000" imgH="1028520" progId="Equation.3">
                  <p:embed/>
                </p:oleObj>
              </mc:Choice>
              <mc:Fallback>
                <p:oleObj name="公式" r:id="rId7" imgW="2781000" imgH="10285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437063"/>
                        <a:ext cx="4476750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3" name="Rectangle 2">
            <a:extLst>
              <a:ext uri="{FF2B5EF4-FFF2-40B4-BE49-F238E27FC236}">
                <a16:creationId xmlns:a16="http://schemas.microsoft.com/office/drawing/2014/main" id="{1B25513D-AB1A-4D58-8876-F7B6B78AEF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基本组合恒等式</a:t>
            </a: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4A9A6511-5340-442E-A408-B8C969D19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BA0D8F67-9955-4031-8582-F528D36CAECB}" type="slidenum">
              <a:rPr lang="en-US" altLang="zh-CN">
                <a:solidFill>
                  <a:srgbClr val="898989"/>
                </a:solidFill>
              </a:rPr>
              <a:pPr eaLnBrk="1" hangingPunct="1"/>
              <a:t>22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0882F1C2-EDE1-48CC-A623-44E585510A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1266" name="Object 1">
            <a:extLst>
              <a:ext uri="{FF2B5EF4-FFF2-40B4-BE49-F238E27FC236}">
                <a16:creationId xmlns:a16="http://schemas.microsoft.com/office/drawing/2014/main" id="{4BD32445-43DB-4B89-8208-F7A2D1BFD1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87450" y="981075"/>
          <a:ext cx="5399088" cy="5113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3" name="公式" r:id="rId3" imgW="3555720" imgH="3365280" progId="Equation.3">
                  <p:embed/>
                </p:oleObj>
              </mc:Choice>
              <mc:Fallback>
                <p:oleObj name="公式" r:id="rId3" imgW="3555720" imgH="336528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981075"/>
                        <a:ext cx="5399088" cy="51133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016061-DF2B-49ED-A0CF-87E20CFF9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要求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AE13E292-6AA5-4208-8B33-6CDEF6D77E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423988"/>
            <a:ext cx="8424862" cy="4525962"/>
          </a:xfrm>
        </p:spPr>
        <p:txBody>
          <a:bodyPr/>
          <a:lstStyle/>
          <a:p>
            <a:r>
              <a:rPr lang="zh-CN" altLang="en-US" sz="2800" b="1"/>
              <a:t>鸽巢原理简单形式及其应用</a:t>
            </a:r>
            <a:endParaRPr lang="en-US" altLang="zh-CN" sz="2800" b="1"/>
          </a:p>
          <a:p>
            <a:r>
              <a:rPr lang="zh-CN" altLang="en-US" sz="2800" b="1"/>
              <a:t>熟悉组合数、排列数、多项式系数、错位排列数、</a:t>
            </a:r>
            <a:r>
              <a:rPr lang="en-US" altLang="zh-CN" sz="2800" b="1"/>
              <a:t>Fibonacci</a:t>
            </a:r>
            <a:r>
              <a:rPr lang="zh-CN" altLang="en-US" sz="2800" b="1"/>
              <a:t>数、</a:t>
            </a:r>
            <a:r>
              <a:rPr lang="en-US" altLang="zh-CN" sz="2800" b="1"/>
              <a:t>Catalan</a:t>
            </a:r>
            <a:r>
              <a:rPr lang="zh-CN" altLang="en-US" sz="2800" b="1"/>
              <a:t>数、第二类</a:t>
            </a:r>
            <a:r>
              <a:rPr lang="en-US" altLang="zh-CN" sz="2800" b="1"/>
              <a:t>Stirling</a:t>
            </a:r>
            <a:r>
              <a:rPr lang="zh-CN" altLang="en-US" sz="2800" b="1"/>
              <a:t>数的定义及性质</a:t>
            </a:r>
            <a:endParaRPr lang="en-US" altLang="zh-CN" sz="2800" b="1"/>
          </a:p>
          <a:p>
            <a:r>
              <a:rPr lang="zh-CN" altLang="en-US" sz="2800" b="1"/>
              <a:t>恒等式证明、组合数序列求和</a:t>
            </a:r>
            <a:endParaRPr lang="en-US" altLang="zh-CN" sz="2800" b="1"/>
          </a:p>
          <a:p>
            <a:r>
              <a:rPr lang="zh-CN" altLang="en-US" sz="2800" b="1"/>
              <a:t>求解实际的组合计数问题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AB0A70-5B9C-45DE-A155-72690B1AF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52133DD-83EB-4796-A712-D2362AD40520}" type="slidenum">
              <a:rPr lang="en-US" altLang="zh-CN">
                <a:solidFill>
                  <a:srgbClr val="898989"/>
                </a:solidFill>
              </a:rPr>
              <a:pPr eaLnBrk="1" hangingPunct="1"/>
              <a:t>23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>
            <a:extLst>
              <a:ext uri="{FF2B5EF4-FFF2-40B4-BE49-F238E27FC236}">
                <a16:creationId xmlns:a16="http://schemas.microsoft.com/office/drawing/2014/main" id="{7844347A-B304-4DA3-8FC9-66CF3C07C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8" y="107155"/>
            <a:ext cx="8458199" cy="1325563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离散数学在计算机科学中的应用实例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FF4DDD22-DA13-403F-9020-0DE5EE824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557338"/>
            <a:ext cx="8229600" cy="4530725"/>
          </a:xfrm>
        </p:spPr>
        <p:txBody>
          <a:bodyPr/>
          <a:lstStyle/>
          <a:p>
            <a:r>
              <a:rPr lang="zh-CN" altLang="en-US" sz="2800" b="1"/>
              <a:t>建模</a:t>
            </a:r>
            <a:endParaRPr lang="en-US" altLang="zh-CN" sz="2800" b="1"/>
          </a:p>
          <a:p>
            <a:pPr lvl="1"/>
            <a:r>
              <a:rPr lang="zh-CN" altLang="en-US" sz="2400" b="1"/>
              <a:t>集合、关系、函数</a:t>
            </a:r>
            <a:endParaRPr lang="en-US" altLang="zh-CN" sz="2400" b="1"/>
          </a:p>
          <a:p>
            <a:pPr lvl="1"/>
            <a:r>
              <a:rPr lang="zh-CN" altLang="en-US" sz="2400" b="1"/>
              <a:t>图</a:t>
            </a:r>
            <a:endParaRPr lang="en-US" altLang="zh-CN" sz="2400" b="1"/>
          </a:p>
          <a:p>
            <a:pPr lvl="1"/>
            <a:r>
              <a:rPr lang="zh-CN" altLang="en-US" sz="2400" b="1"/>
              <a:t>代数系统</a:t>
            </a:r>
            <a:endParaRPr lang="en-US" altLang="zh-CN" sz="2400" b="1"/>
          </a:p>
          <a:p>
            <a:pPr lvl="1"/>
            <a:r>
              <a:rPr lang="zh-CN" altLang="en-US" sz="2400" b="1"/>
              <a:t>离散概率</a:t>
            </a:r>
            <a:endParaRPr lang="en-US" altLang="zh-CN" sz="2400" b="1"/>
          </a:p>
          <a:p>
            <a:pPr>
              <a:spcBef>
                <a:spcPts val="1800"/>
              </a:spcBef>
            </a:pPr>
            <a:r>
              <a:rPr lang="zh-CN" altLang="en-US" sz="2800" b="1"/>
              <a:t>分析</a:t>
            </a:r>
            <a:endParaRPr lang="en-US" altLang="zh-CN" sz="2800" b="1"/>
          </a:p>
          <a:p>
            <a:pPr lvl="1"/>
            <a:r>
              <a:rPr lang="zh-CN" altLang="en-US" sz="2400" b="1"/>
              <a:t>组合</a:t>
            </a:r>
            <a:endParaRPr lang="en-US" altLang="zh-CN" sz="2400" b="1"/>
          </a:p>
          <a:p>
            <a:pPr lvl="1"/>
            <a:r>
              <a:rPr lang="zh-CN" altLang="en-US" sz="2400" b="1"/>
              <a:t>图论</a:t>
            </a:r>
            <a:endParaRPr lang="en-US" altLang="zh-CN" sz="2400" b="1"/>
          </a:p>
          <a:p>
            <a:pPr lvl="1"/>
            <a:r>
              <a:rPr lang="zh-CN" altLang="en-US" sz="2400" b="1"/>
              <a:t>概率</a:t>
            </a:r>
            <a:endParaRPr lang="en-US" altLang="zh-CN" sz="2400" b="1"/>
          </a:p>
          <a:p>
            <a:pPr lvl="1"/>
            <a:r>
              <a:rPr lang="zh-CN" altLang="en-US" sz="2400" b="1"/>
              <a:t>数理逻辑</a:t>
            </a:r>
            <a:endParaRPr lang="en-US" altLang="zh-CN" sz="2400" b="1"/>
          </a:p>
          <a:p>
            <a:endParaRPr lang="en-US" altLang="zh-CN"/>
          </a:p>
          <a:p>
            <a:endParaRPr lang="zh-CN" altLang="en-US"/>
          </a:p>
        </p:txBody>
      </p:sp>
      <p:sp>
        <p:nvSpPr>
          <p:cNvPr id="22532" name="灯片编号占位符 3">
            <a:extLst>
              <a:ext uri="{FF2B5EF4-FFF2-40B4-BE49-F238E27FC236}">
                <a16:creationId xmlns:a16="http://schemas.microsoft.com/office/drawing/2014/main" id="{890A7600-DBCF-45A7-9061-F2D308C83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6D55AE4-297B-4F9F-8959-78F941FAD93C}" type="slidenum">
              <a:rPr lang="en-US" altLang="zh-CN">
                <a:solidFill>
                  <a:srgbClr val="898989"/>
                </a:solidFill>
              </a:rPr>
              <a:pPr eaLnBrk="1" hangingPunct="1"/>
              <a:t>24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881D476A-B793-44D3-AC55-6213E723FC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1: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单链聚类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C1D8F4A-B0EC-4249-9D1A-3A6B20832D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052513"/>
            <a:ext cx="8229600" cy="4924425"/>
          </a:xfrm>
        </p:spPr>
        <p:txBody>
          <a:bodyPr/>
          <a:lstStyle/>
          <a:p>
            <a:pPr marL="185738" indent="-185738" eaLnBrk="1" hangingPunct="1">
              <a:lnSpc>
                <a:spcPct val="110000"/>
              </a:lnSpc>
            </a:pPr>
            <a:r>
              <a:rPr lang="en-US" altLang="zh-CN" sz="2800">
                <a:solidFill>
                  <a:srgbClr val="990000"/>
                </a:solidFill>
              </a:rPr>
              <a:t> </a:t>
            </a:r>
            <a:r>
              <a:rPr lang="zh-CN" altLang="en-US" sz="2800" b="1">
                <a:solidFill>
                  <a:srgbClr val="C00000"/>
                </a:solidFill>
              </a:rPr>
              <a:t>网络最小费用的连通</a:t>
            </a:r>
          </a:p>
          <a:p>
            <a:pPr marL="439738" lvl="1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网络路由算法</a:t>
            </a:r>
          </a:p>
          <a:p>
            <a:pPr marL="185738" indent="-185738" eaLnBrk="1" hangingPunct="1">
              <a:lnSpc>
                <a:spcPct val="110000"/>
              </a:lnSpc>
              <a:spcBef>
                <a:spcPts val="1200"/>
              </a:spcBef>
            </a:pPr>
            <a:r>
              <a:rPr lang="zh-CN" altLang="en-US">
                <a:solidFill>
                  <a:srgbClr val="990000"/>
                </a:solidFill>
              </a:rPr>
              <a:t> </a:t>
            </a:r>
            <a:r>
              <a:rPr lang="zh-CN" altLang="en-US" sz="2800" b="1">
                <a:solidFill>
                  <a:srgbClr val="990000"/>
                </a:solidFill>
              </a:rPr>
              <a:t>单链聚类</a:t>
            </a:r>
            <a:r>
              <a:rPr lang="en-US" altLang="zh-CN" sz="2800" b="1">
                <a:solidFill>
                  <a:srgbClr val="990000"/>
                </a:solidFill>
                <a:latin typeface="Arial" panose="020B0604020202020204" pitchFamily="34" charset="0"/>
              </a:rPr>
              <a:t>——</a:t>
            </a:r>
            <a:r>
              <a:rPr lang="zh-CN" altLang="en-US" sz="2800" b="1">
                <a:solidFill>
                  <a:srgbClr val="990000"/>
                </a:solidFill>
              </a:rPr>
              <a:t>数据分析</a:t>
            </a:r>
          </a:p>
          <a:p>
            <a:pPr marL="439738" lvl="1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有一组离散的数据，任何两个数据</a:t>
            </a:r>
            <a:r>
              <a:rPr lang="en-US" altLang="zh-CN" sz="2400" b="1" i="1">
                <a:latin typeface="Times New Roman" panose="02020603050405020304" pitchFamily="18" charset="0"/>
              </a:rPr>
              <a:t>i,j </a:t>
            </a:r>
            <a:r>
              <a:rPr lang="zh-CN" altLang="en-US" sz="2400" b="1"/>
              <a:t>之间有对称的相似度函数</a:t>
            </a: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i,j</a:t>
            </a:r>
            <a:r>
              <a:rPr lang="en-US" altLang="zh-CN" sz="2400" b="1">
                <a:latin typeface="Times New Roman" panose="02020603050405020304" pitchFamily="18" charset="0"/>
              </a:rPr>
              <a:t>)</a:t>
            </a:r>
            <a:r>
              <a:rPr lang="zh-CN" altLang="en-US" sz="2400" b="1"/>
              <a:t>，求对这组数据的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en-US" altLang="zh-CN" sz="2400" b="1"/>
              <a:t>-</a:t>
            </a:r>
            <a:r>
              <a:rPr lang="zh-CN" altLang="en-US" sz="2400" b="1"/>
              <a:t>划分，</a:t>
            </a:r>
            <a:r>
              <a:rPr lang="zh-CN" altLang="en-US" sz="2400" b="1">
                <a:latin typeface="Times New Roman" panose="02020603050405020304" pitchFamily="18" charset="0"/>
              </a:rPr>
              <a:t>使得存在</a:t>
            </a:r>
            <a:r>
              <a:rPr lang="en-US" altLang="zh-CN" sz="2400" b="1" i="1">
                <a:latin typeface="Times New Roman" panose="02020603050405020304" pitchFamily="18" charset="0"/>
              </a:rPr>
              <a:t>k</a:t>
            </a:r>
            <a:r>
              <a:rPr lang="zh-CN" altLang="en-US" sz="2400" b="1">
                <a:latin typeface="Times New Roman" panose="02020603050405020304" pitchFamily="18" charset="0"/>
              </a:rPr>
              <a:t>个聚类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baseline="-25000">
                <a:latin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</a:rPr>
              <a:t>,…,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k</a:t>
            </a:r>
            <a:r>
              <a:rPr lang="zh-CN" altLang="en-US" sz="2400" b="1">
                <a:latin typeface="Times New Roman" panose="02020603050405020304" pitchFamily="18" charset="0"/>
              </a:rPr>
              <a:t>，两个聚类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t</a:t>
            </a:r>
            <a:r>
              <a:rPr lang="zh-CN" altLang="en-US" sz="2400" b="1">
                <a:latin typeface="Times New Roman" panose="02020603050405020304" pitchFamily="18" charset="0"/>
              </a:rPr>
              <a:t>之间的距离</a:t>
            </a:r>
          </a:p>
          <a:p>
            <a:pPr marL="439738" lvl="1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/>
              <a:t>                    </a:t>
            </a: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</a:rPr>
              <a:t>,</a:t>
            </a:r>
            <a:r>
              <a:rPr lang="en-US" altLang="zh-CN" sz="2400" b="1" i="1">
                <a:latin typeface="Times New Roman" panose="02020603050405020304" pitchFamily="18" charset="0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</a:rPr>
              <a:t>t</a:t>
            </a:r>
            <a:r>
              <a:rPr lang="en-US" altLang="zh-CN" sz="2400" b="1">
                <a:latin typeface="Times New Roman" panose="02020603050405020304" pitchFamily="18" charset="0"/>
              </a:rPr>
              <a:t>)=min { </a:t>
            </a:r>
            <a:r>
              <a:rPr lang="en-US" altLang="zh-CN" sz="2400" b="1" i="1">
                <a:latin typeface="Times New Roman" panose="02020603050405020304" pitchFamily="18" charset="0"/>
              </a:rPr>
              <a:t>d</a:t>
            </a:r>
            <a:r>
              <a:rPr lang="en-US" altLang="zh-CN" sz="2400" b="1">
                <a:latin typeface="Times New Roman" panose="02020603050405020304" pitchFamily="18" charset="0"/>
              </a:rPr>
              <a:t>(</a:t>
            </a:r>
            <a:r>
              <a:rPr lang="en-US" altLang="zh-CN" sz="2400" b="1" i="1">
                <a:latin typeface="Times New Roman" panose="02020603050405020304" pitchFamily="18" charset="0"/>
              </a:rPr>
              <a:t>i,j</a:t>
            </a:r>
            <a:r>
              <a:rPr lang="en-US" altLang="zh-CN" sz="2400" b="1">
                <a:latin typeface="Times New Roman" panose="02020603050405020304" pitchFamily="18" charset="0"/>
              </a:rPr>
              <a:t>) | </a:t>
            </a:r>
            <a:r>
              <a:rPr lang="en-US" altLang="zh-CN" sz="2400" b="1" i="1">
                <a:latin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}</a:t>
            </a:r>
          </a:p>
          <a:p>
            <a:pPr marL="439738" lvl="1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聚类的最小间隔</a:t>
            </a:r>
          </a:p>
          <a:p>
            <a:pPr marL="439738" lvl="1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b="1">
                <a:latin typeface="Times New Roman" panose="02020603050405020304" pitchFamily="18" charset="0"/>
                <a:sym typeface="Symbol" panose="05050102010706020507" pitchFamily="18" charset="2"/>
              </a:rPr>
              <a:t>             </a:t>
            </a:r>
            <a:r>
              <a:rPr lang="zh-CN" altLang="en-US" b="1" i="1">
                <a:latin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=min{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 D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s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b="1" i="1" baseline="-25000">
                <a:latin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) | 1 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s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&lt;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 </a:t>
            </a:r>
            <a:r>
              <a:rPr lang="en-US" altLang="zh-CN" b="1" i="1">
                <a:latin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b="1">
                <a:latin typeface="Times New Roman" panose="02020603050405020304" pitchFamily="18" charset="0"/>
                <a:sym typeface="Symbol" panose="05050102010706020507" pitchFamily="18" charset="2"/>
              </a:rPr>
              <a:t> }</a:t>
            </a:r>
          </a:p>
          <a:p>
            <a:pPr marL="439738" lvl="1" indent="0" eaLnBrk="1" hangingPunct="1">
              <a:lnSpc>
                <a:spcPct val="110000"/>
              </a:lnSpc>
              <a:buFont typeface="Wingdings" panose="05000000000000000000" pitchFamily="2" charset="2"/>
              <a:buNone/>
            </a:pP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求使得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最大的</a:t>
            </a:r>
            <a:r>
              <a:rPr lang="en-US" altLang="zh-CN" sz="2400" b="1" i="1">
                <a:latin typeface="Times New Roman" panose="02020603050405020304" pitchFamily="18" charset="0"/>
                <a:sym typeface="Symbol" panose="05050102010706020507" pitchFamily="18" charset="2"/>
              </a:rPr>
              <a:t>k </a:t>
            </a:r>
            <a:r>
              <a:rPr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聚类</a:t>
            </a:r>
            <a:r>
              <a:rPr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. </a:t>
            </a:r>
            <a:endParaRPr lang="en-US" altLang="zh-CN" sz="2400" b="1"/>
          </a:p>
        </p:txBody>
      </p:sp>
      <p:sp>
        <p:nvSpPr>
          <p:cNvPr id="23556" name="灯片编号占位符 3">
            <a:extLst>
              <a:ext uri="{FF2B5EF4-FFF2-40B4-BE49-F238E27FC236}">
                <a16:creationId xmlns:a16="http://schemas.microsoft.com/office/drawing/2014/main" id="{F5D1F7CE-2499-4A6F-AF28-2F8D6134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7F60E4B-7B22-4E33-998A-7BAEACBC2353}" type="slidenum">
              <a:rPr lang="en-US" altLang="zh-CN">
                <a:solidFill>
                  <a:srgbClr val="898989"/>
                </a:solidFill>
              </a:rPr>
              <a:pPr eaLnBrk="1" hangingPunct="1"/>
              <a:t>25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99" name="Text Box 23">
            <a:extLst>
              <a:ext uri="{FF2B5EF4-FFF2-40B4-BE49-F238E27FC236}">
                <a16:creationId xmlns:a16="http://schemas.microsoft.com/office/drawing/2014/main" id="{872B85AC-9EBE-4219-8749-0D7C3E590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995363"/>
            <a:ext cx="7077075" cy="430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40000"/>
              </a:spcBef>
              <a:defRPr/>
            </a:pPr>
            <a:r>
              <a:rPr lang="zh-CN" altLang="en-US" sz="2400" b="1" dirty="0">
                <a:latin typeface="+mn-ea"/>
                <a:ea typeface="+mn-ea"/>
              </a:rPr>
              <a:t>结点集合：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+mn-ea"/>
                <a:ea typeface="+mn-ea"/>
              </a:rPr>
              <a:t> 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{1,2,3,4,5,6,7,8,9,10}</a:t>
            </a:r>
          </a:p>
          <a:p>
            <a:pPr>
              <a:spcBef>
                <a:spcPct val="40000"/>
              </a:spcBef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最大间隔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3-</a:t>
            </a: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聚类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: </a:t>
            </a:r>
          </a:p>
          <a:p>
            <a:pPr>
              <a:spcBef>
                <a:spcPct val="20000"/>
              </a:spcBef>
              <a:defRPr/>
            </a:pP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 {</a:t>
            </a:r>
            <a:r>
              <a:rPr lang="en-US" altLang="zh-CN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r>
              <a:rPr lang="en-US" altLang="zh-CN" sz="2400" b="1" baseline="-250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,</a:t>
            </a:r>
            <a:r>
              <a:rPr lang="en-US" altLang="zh-CN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r>
              <a:rPr lang="en-US" altLang="zh-CN" sz="2400" b="1" baseline="-250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,</a:t>
            </a:r>
            <a:r>
              <a:rPr lang="en-US" altLang="zh-CN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C</a:t>
            </a:r>
            <a:r>
              <a:rPr lang="en-US" altLang="zh-CN" sz="2400" b="1" baseline="-25000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}</a:t>
            </a:r>
          </a:p>
          <a:p>
            <a:pPr>
              <a:spcBef>
                <a:spcPct val="40000"/>
              </a:spcBef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最大间隔：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  </a:t>
            </a:r>
            <a:r>
              <a:rPr lang="en-US" altLang="zh-CN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="1" dirty="0">
                <a:latin typeface="Times New Roman" pitchFamily="18" charset="0"/>
                <a:ea typeface="+mn-ea"/>
                <a:cs typeface="Times New Roman" pitchFamily="18" charset="0"/>
              </a:rPr>
              <a:t>=min{30,35,40}=30</a:t>
            </a:r>
          </a:p>
          <a:p>
            <a:pPr>
              <a:spcBef>
                <a:spcPct val="60000"/>
              </a:spcBef>
              <a:defRPr/>
            </a:pPr>
            <a:r>
              <a:rPr lang="en-US" altLang="zh-CN" sz="2400" b="1" dirty="0" err="1">
                <a:latin typeface="Times New Roman" pitchFamily="18" charset="0"/>
                <a:ea typeface="+mn-ea"/>
                <a:cs typeface="Times New Roman" pitchFamily="18" charset="0"/>
              </a:rPr>
              <a:t>Kruskal</a:t>
            </a: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算法：</a:t>
            </a:r>
          </a:p>
          <a:p>
            <a:pPr>
              <a:spcBef>
                <a:spcPct val="20000"/>
              </a:spcBef>
              <a:defRPr/>
            </a:pP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  加边直到构成 </a:t>
            </a:r>
            <a:r>
              <a:rPr lang="en-US" altLang="zh-CN" sz="2400" b="1" i="1" dirty="0">
                <a:latin typeface="Times New Roman" pitchFamily="18" charset="0"/>
                <a:ea typeface="+mn-ea"/>
                <a:cs typeface="Times New Roman" pitchFamily="18" charset="0"/>
              </a:rPr>
              <a:t>k </a:t>
            </a:r>
            <a:r>
              <a:rPr lang="zh-CN" altLang="en-US" sz="2400" b="1" dirty="0">
                <a:latin typeface="Times New Roman" pitchFamily="18" charset="0"/>
                <a:ea typeface="+mn-ea"/>
                <a:cs typeface="Times New Roman" pitchFamily="18" charset="0"/>
              </a:rPr>
              <a:t>个连通分支</a:t>
            </a:r>
          </a:p>
          <a:p>
            <a:pPr>
              <a:spcBef>
                <a:spcPct val="20000"/>
              </a:spcBef>
              <a:defRPr/>
            </a:pPr>
            <a:endParaRPr lang="zh-CN" altLang="en-US" sz="2400" b="1" dirty="0"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38916" name="Oval 4">
            <a:extLst>
              <a:ext uri="{FF2B5EF4-FFF2-40B4-BE49-F238E27FC236}">
                <a16:creationId xmlns:a16="http://schemas.microsoft.com/office/drawing/2014/main" id="{4CC96A34-643E-4579-AFC8-EDE7AC6CD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8088" y="1695450"/>
            <a:ext cx="2016125" cy="2087563"/>
          </a:xfrm>
          <a:prstGeom prst="ellipse">
            <a:avLst/>
          </a:prstGeom>
          <a:solidFill>
            <a:schemeClr val="accent6">
              <a:lumMod val="40000"/>
              <a:lumOff val="60000"/>
              <a:alpha val="32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>
                <a:latin typeface="Arial" charset="0"/>
              </a:rPr>
              <a:t>C1</a:t>
            </a:r>
          </a:p>
        </p:txBody>
      </p:sp>
      <p:sp>
        <p:nvSpPr>
          <p:cNvPr id="38914" name="Oval 2">
            <a:extLst>
              <a:ext uri="{FF2B5EF4-FFF2-40B4-BE49-F238E27FC236}">
                <a16:creationId xmlns:a16="http://schemas.microsoft.com/office/drawing/2014/main" id="{6DBDED39-974B-4B38-ACC5-169733E3CA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9388" y="3998913"/>
            <a:ext cx="2160587" cy="1657350"/>
          </a:xfrm>
          <a:prstGeom prst="ellipse">
            <a:avLst/>
          </a:prstGeom>
          <a:solidFill>
            <a:schemeClr val="accent6">
              <a:lumMod val="40000"/>
              <a:lumOff val="60000"/>
              <a:alpha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38915" name="Oval 3">
            <a:extLst>
              <a:ext uri="{FF2B5EF4-FFF2-40B4-BE49-F238E27FC236}">
                <a16:creationId xmlns:a16="http://schemas.microsoft.com/office/drawing/2014/main" id="{3718116C-91DC-439A-BFC5-DA53F6E96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72275" y="1911350"/>
            <a:ext cx="2017713" cy="2160588"/>
          </a:xfrm>
          <a:prstGeom prst="ellipse">
            <a:avLst/>
          </a:prstGeom>
          <a:solidFill>
            <a:schemeClr val="accent6">
              <a:lumMod val="40000"/>
              <a:lumOff val="60000"/>
              <a:alpha val="34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</a:endParaRP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4C73FFF2-43DF-491D-A0F7-A90486D505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354013"/>
            <a:ext cx="8229600" cy="627062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一个</a:t>
            </a:r>
            <a:r>
              <a:rPr lang="en-US" altLang="zh-CN" sz="4000" b="1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3-</a:t>
            </a:r>
            <a:r>
              <a:rPr lang="zh-CN" altLang="en-US" sz="4000" b="1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聚类的实例</a:t>
            </a:r>
          </a:p>
        </p:txBody>
      </p:sp>
      <p:sp>
        <p:nvSpPr>
          <p:cNvPr id="24616" name="灯片编号占位符 39">
            <a:extLst>
              <a:ext uri="{FF2B5EF4-FFF2-40B4-BE49-F238E27FC236}">
                <a16:creationId xmlns:a16="http://schemas.microsoft.com/office/drawing/2014/main" id="{CAF7FB68-6483-4118-B394-143B37DB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5781675"/>
            <a:ext cx="2133600" cy="457200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7E9D50C2-43C9-4D2D-9C4B-0058E19A57A2}" type="slidenum">
              <a:rPr lang="en-US" altLang="zh-CN">
                <a:solidFill>
                  <a:srgbClr val="898989"/>
                </a:solidFill>
              </a:rPr>
              <a:pPr eaLnBrk="1" hangingPunct="1"/>
              <a:t>26</a:t>
            </a:fld>
            <a:endParaRPr lang="en-US" altLang="zh-CN">
              <a:solidFill>
                <a:srgbClr val="898989"/>
              </a:solidFill>
            </a:endParaRPr>
          </a:p>
        </p:txBody>
      </p:sp>
      <p:sp>
        <p:nvSpPr>
          <p:cNvPr id="38918" name="Oval 6">
            <a:extLst>
              <a:ext uri="{FF2B5EF4-FFF2-40B4-BE49-F238E27FC236}">
                <a16:creationId xmlns:a16="http://schemas.microsoft.com/office/drawing/2014/main" id="{05D82D5E-EF34-4A30-A438-EFC7321446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0" y="2055813"/>
            <a:ext cx="360363" cy="36036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336600"/>
                </a:solidFill>
              </a:rPr>
              <a:t>1</a:t>
            </a:r>
          </a:p>
        </p:txBody>
      </p:sp>
      <p:sp>
        <p:nvSpPr>
          <p:cNvPr id="38919" name="Oval 7">
            <a:extLst>
              <a:ext uri="{FF2B5EF4-FFF2-40B4-BE49-F238E27FC236}">
                <a16:creationId xmlns:a16="http://schemas.microsoft.com/office/drawing/2014/main" id="{34A7DACE-7EE4-4C2C-B8BC-C6E1A10EA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8588" y="2271713"/>
            <a:ext cx="360362" cy="36036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336600"/>
                </a:solidFill>
              </a:rPr>
              <a:t>2</a:t>
            </a:r>
          </a:p>
        </p:txBody>
      </p:sp>
      <p:sp>
        <p:nvSpPr>
          <p:cNvPr id="38920" name="Oval 8">
            <a:extLst>
              <a:ext uri="{FF2B5EF4-FFF2-40B4-BE49-F238E27FC236}">
                <a16:creationId xmlns:a16="http://schemas.microsoft.com/office/drawing/2014/main" id="{4D3B2FF2-DEC7-4F6D-9CF6-882602722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4988" y="3206750"/>
            <a:ext cx="360362" cy="36036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336600"/>
                </a:solidFill>
              </a:rPr>
              <a:t>4</a:t>
            </a:r>
          </a:p>
        </p:txBody>
      </p:sp>
      <p:sp>
        <p:nvSpPr>
          <p:cNvPr id="38921" name="Oval 9">
            <a:extLst>
              <a:ext uri="{FF2B5EF4-FFF2-40B4-BE49-F238E27FC236}">
                <a16:creationId xmlns:a16="http://schemas.microsoft.com/office/drawing/2014/main" id="{91FE0FEA-B3DA-4569-B818-8F97AD4AD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0888" y="2487613"/>
            <a:ext cx="360362" cy="36036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336600"/>
                </a:solidFill>
              </a:rPr>
              <a:t>3</a:t>
            </a:r>
          </a:p>
        </p:txBody>
      </p:sp>
      <p:sp>
        <p:nvSpPr>
          <p:cNvPr id="38922" name="Oval 10">
            <a:extLst>
              <a:ext uri="{FF2B5EF4-FFF2-40B4-BE49-F238E27FC236}">
                <a16:creationId xmlns:a16="http://schemas.microsoft.com/office/drawing/2014/main" id="{14F282FC-A032-4DEE-B446-E434BE91A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4713" y="2990850"/>
            <a:ext cx="360362" cy="36036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336600"/>
                </a:solidFill>
              </a:rPr>
              <a:t>7</a:t>
            </a:r>
          </a:p>
        </p:txBody>
      </p:sp>
      <p:sp>
        <p:nvSpPr>
          <p:cNvPr id="38923" name="Oval 11">
            <a:extLst>
              <a:ext uri="{FF2B5EF4-FFF2-40B4-BE49-F238E27FC236}">
                <a16:creationId xmlns:a16="http://schemas.microsoft.com/office/drawing/2014/main" id="{FC8B901E-D8A6-4CD5-9120-F03E28612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56513" y="2630488"/>
            <a:ext cx="360362" cy="36036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336600"/>
                </a:solidFill>
              </a:rPr>
              <a:t>6</a:t>
            </a:r>
          </a:p>
        </p:txBody>
      </p:sp>
      <p:sp>
        <p:nvSpPr>
          <p:cNvPr id="38924" name="Oval 12">
            <a:extLst>
              <a:ext uri="{FF2B5EF4-FFF2-40B4-BE49-F238E27FC236}">
                <a16:creationId xmlns:a16="http://schemas.microsoft.com/office/drawing/2014/main" id="{9F4E42A6-FB6C-47CE-B203-6C18593279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2088" y="3279775"/>
            <a:ext cx="360362" cy="36036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336600"/>
                </a:solidFill>
              </a:rPr>
              <a:t>8</a:t>
            </a:r>
          </a:p>
        </p:txBody>
      </p:sp>
      <p:sp>
        <p:nvSpPr>
          <p:cNvPr id="38925" name="Oval 13">
            <a:extLst>
              <a:ext uri="{FF2B5EF4-FFF2-40B4-BE49-F238E27FC236}">
                <a16:creationId xmlns:a16="http://schemas.microsoft.com/office/drawing/2014/main" id="{551314CF-350F-4A4E-8058-5C77B5FF06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4213" y="4359275"/>
            <a:ext cx="360362" cy="36036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336600"/>
                </a:solidFill>
              </a:rPr>
              <a:t>9</a:t>
            </a:r>
          </a:p>
        </p:txBody>
      </p:sp>
      <p:sp>
        <p:nvSpPr>
          <p:cNvPr id="38926" name="Oval 14">
            <a:extLst>
              <a:ext uri="{FF2B5EF4-FFF2-40B4-BE49-F238E27FC236}">
                <a16:creationId xmlns:a16="http://schemas.microsoft.com/office/drawing/2014/main" id="{9AE23DF5-BEAF-4EA3-BC5C-961FB2FB4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6375" y="4575175"/>
            <a:ext cx="360363" cy="36036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>
              <a:defRPr/>
            </a:pPr>
            <a:r>
              <a:rPr lang="en-US" altLang="zh-CN" b="1">
                <a:solidFill>
                  <a:srgbClr val="336600"/>
                </a:solidFill>
                <a:latin typeface="Arial" charset="0"/>
              </a:rPr>
              <a:t>10</a:t>
            </a:r>
          </a:p>
        </p:txBody>
      </p:sp>
      <p:sp>
        <p:nvSpPr>
          <p:cNvPr id="38927" name="Oval 15">
            <a:extLst>
              <a:ext uri="{FF2B5EF4-FFF2-40B4-BE49-F238E27FC236}">
                <a16:creationId xmlns:a16="http://schemas.microsoft.com/office/drawing/2014/main" id="{FE0D6A8A-E107-418C-9E11-82CA401FEE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3163" y="2128838"/>
            <a:ext cx="360362" cy="360362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>
                <a:solidFill>
                  <a:srgbClr val="336600"/>
                </a:solidFill>
              </a:rPr>
              <a:t>5</a:t>
            </a:r>
          </a:p>
        </p:txBody>
      </p:sp>
      <p:sp>
        <p:nvSpPr>
          <p:cNvPr id="31761" name="Line 16">
            <a:extLst>
              <a:ext uri="{FF2B5EF4-FFF2-40B4-BE49-F238E27FC236}">
                <a16:creationId xmlns:a16="http://schemas.microsoft.com/office/drawing/2014/main" id="{AE94ACEC-0330-4713-8E6C-228ADB39A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395788" y="2343150"/>
            <a:ext cx="215900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2" name="Line 17">
            <a:extLst>
              <a:ext uri="{FF2B5EF4-FFF2-40B4-BE49-F238E27FC236}">
                <a16:creationId xmlns:a16="http://schemas.microsoft.com/office/drawing/2014/main" id="{946BB8B4-3180-4752-A78A-E17405B551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99025" y="2559050"/>
            <a:ext cx="288925" cy="714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3" name="Line 18">
            <a:extLst>
              <a:ext uri="{FF2B5EF4-FFF2-40B4-BE49-F238E27FC236}">
                <a16:creationId xmlns:a16="http://schemas.microsoft.com/office/drawing/2014/main" id="{903614DD-A006-4551-971D-4A11F22D5D5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40250" y="2847975"/>
            <a:ext cx="142875" cy="3587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4" name="Line 19">
            <a:extLst>
              <a:ext uri="{FF2B5EF4-FFF2-40B4-BE49-F238E27FC236}">
                <a16:creationId xmlns:a16="http://schemas.microsoft.com/office/drawing/2014/main" id="{548303CB-E269-43AB-9E38-9DFE6B940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646988" y="2487613"/>
            <a:ext cx="60325" cy="2159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5" name="Line 20">
            <a:extLst>
              <a:ext uri="{FF2B5EF4-FFF2-40B4-BE49-F238E27FC236}">
                <a16:creationId xmlns:a16="http://schemas.microsoft.com/office/drawing/2014/main" id="{7B3F277A-D5E3-44BD-BF50-9CCDB48D080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91413" y="2919413"/>
            <a:ext cx="144462" cy="1444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6" name="Line 21">
            <a:extLst>
              <a:ext uri="{FF2B5EF4-FFF2-40B4-BE49-F238E27FC236}">
                <a16:creationId xmlns:a16="http://schemas.microsoft.com/office/drawing/2014/main" id="{55E1AE0F-B8F2-442E-B911-AD7CABD59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75550" y="3279775"/>
            <a:ext cx="215900" cy="730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7" name="Line 22">
            <a:extLst>
              <a:ext uri="{FF2B5EF4-FFF2-40B4-BE49-F238E27FC236}">
                <a16:creationId xmlns:a16="http://schemas.microsoft.com/office/drawing/2014/main" id="{5BFF9123-F942-4D9C-9458-F8D41990C44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22988" y="4575175"/>
            <a:ext cx="433387" cy="1444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68" name="Text Box 24">
            <a:extLst>
              <a:ext uri="{FF2B5EF4-FFF2-40B4-BE49-F238E27FC236}">
                <a16:creationId xmlns:a16="http://schemas.microsoft.com/office/drawing/2014/main" id="{50FC3B03-629A-4389-A4FB-EDAF95605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6900" y="2200275"/>
            <a:ext cx="311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5</a:t>
            </a:r>
          </a:p>
        </p:txBody>
      </p:sp>
      <p:sp>
        <p:nvSpPr>
          <p:cNvPr id="31769" name="Text Box 25">
            <a:extLst>
              <a:ext uri="{FF2B5EF4-FFF2-40B4-BE49-F238E27FC236}">
                <a16:creationId xmlns:a16="http://schemas.microsoft.com/office/drawing/2014/main" id="{2B6D527E-E4EC-4A3C-972E-8A9F409D1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2271713"/>
            <a:ext cx="311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6</a:t>
            </a:r>
          </a:p>
        </p:txBody>
      </p:sp>
      <p:sp>
        <p:nvSpPr>
          <p:cNvPr id="31770" name="Text Box 26">
            <a:extLst>
              <a:ext uri="{FF2B5EF4-FFF2-40B4-BE49-F238E27FC236}">
                <a16:creationId xmlns:a16="http://schemas.microsoft.com/office/drawing/2014/main" id="{DC44AA17-B5E4-4FC4-B92C-FE0915E296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2800" y="2847975"/>
            <a:ext cx="311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8</a:t>
            </a:r>
          </a:p>
        </p:txBody>
      </p:sp>
      <p:sp>
        <p:nvSpPr>
          <p:cNvPr id="31771" name="Text Box 27">
            <a:extLst>
              <a:ext uri="{FF2B5EF4-FFF2-40B4-BE49-F238E27FC236}">
                <a16:creationId xmlns:a16="http://schemas.microsoft.com/office/drawing/2014/main" id="{E9B8E5A4-5946-4721-822F-4A3C6DE8C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18425" y="2344738"/>
            <a:ext cx="311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2</a:t>
            </a:r>
          </a:p>
        </p:txBody>
      </p:sp>
      <p:sp>
        <p:nvSpPr>
          <p:cNvPr id="31772" name="Text Box 28">
            <a:extLst>
              <a:ext uri="{FF2B5EF4-FFF2-40B4-BE49-F238E27FC236}">
                <a16:creationId xmlns:a16="http://schemas.microsoft.com/office/drawing/2014/main" id="{F3C76B85-863D-4177-A975-DBFE91436F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6625" y="2703513"/>
            <a:ext cx="311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3</a:t>
            </a:r>
          </a:p>
        </p:txBody>
      </p:sp>
      <p:sp>
        <p:nvSpPr>
          <p:cNvPr id="31773" name="Text Box 29">
            <a:extLst>
              <a:ext uri="{FF2B5EF4-FFF2-40B4-BE49-F238E27FC236}">
                <a16:creationId xmlns:a16="http://schemas.microsoft.com/office/drawing/2014/main" id="{2D495E7F-EDEE-4D19-97DB-E54093E444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31088" y="3352800"/>
            <a:ext cx="311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4</a:t>
            </a:r>
          </a:p>
        </p:txBody>
      </p:sp>
      <p:sp>
        <p:nvSpPr>
          <p:cNvPr id="31774" name="Text Box 30">
            <a:extLst>
              <a:ext uri="{FF2B5EF4-FFF2-40B4-BE49-F238E27FC236}">
                <a16:creationId xmlns:a16="http://schemas.microsoft.com/office/drawing/2014/main" id="{046C7C69-4411-4B54-B6D5-CE8DE6F3AC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125" y="4360863"/>
            <a:ext cx="311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9</a:t>
            </a:r>
          </a:p>
        </p:txBody>
      </p:sp>
      <p:sp>
        <p:nvSpPr>
          <p:cNvPr id="31775" name="Text Box 31">
            <a:extLst>
              <a:ext uri="{FF2B5EF4-FFF2-40B4-BE49-F238E27FC236}">
                <a16:creationId xmlns:a16="http://schemas.microsoft.com/office/drawing/2014/main" id="{946E9165-C43F-4760-A19A-00E0363BE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3" y="3711575"/>
            <a:ext cx="503237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30</a:t>
            </a:r>
          </a:p>
        </p:txBody>
      </p:sp>
      <p:sp>
        <p:nvSpPr>
          <p:cNvPr id="31776" name="Text Box 32">
            <a:extLst>
              <a:ext uri="{FF2B5EF4-FFF2-40B4-BE49-F238E27FC236}">
                <a16:creationId xmlns:a16="http://schemas.microsoft.com/office/drawing/2014/main" id="{A9898586-1C3B-4AE3-8F0C-184432BB9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38700" y="3929063"/>
            <a:ext cx="6477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35</a:t>
            </a:r>
          </a:p>
        </p:txBody>
      </p:sp>
      <p:sp>
        <p:nvSpPr>
          <p:cNvPr id="31777" name="Text Box 33">
            <a:extLst>
              <a:ext uri="{FF2B5EF4-FFF2-40B4-BE49-F238E27FC236}">
                <a16:creationId xmlns:a16="http://schemas.microsoft.com/office/drawing/2014/main" id="{11356D9E-5344-4072-8D11-6282B684B6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2663" y="2344738"/>
            <a:ext cx="5746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b="1"/>
              <a:t>40</a:t>
            </a:r>
          </a:p>
        </p:txBody>
      </p:sp>
      <p:sp>
        <p:nvSpPr>
          <p:cNvPr id="31778" name="Text Box 34">
            <a:extLst>
              <a:ext uri="{FF2B5EF4-FFF2-40B4-BE49-F238E27FC236}">
                <a16:creationId xmlns:a16="http://schemas.microsoft.com/office/drawing/2014/main" id="{A1FE62E4-B9C2-4761-88CD-F7F6ECF3C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1768475"/>
            <a:ext cx="5762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/>
              <a:t>C</a:t>
            </a:r>
            <a:r>
              <a:rPr lang="en-US" altLang="zh-CN" sz="2000" b="1" baseline="-25000"/>
              <a:t>1</a:t>
            </a:r>
          </a:p>
        </p:txBody>
      </p:sp>
      <p:sp>
        <p:nvSpPr>
          <p:cNvPr id="31779" name="Text Box 35">
            <a:extLst>
              <a:ext uri="{FF2B5EF4-FFF2-40B4-BE49-F238E27FC236}">
                <a16:creationId xmlns:a16="http://schemas.microsoft.com/office/drawing/2014/main" id="{547C3E18-46A2-4004-A08F-92F88A4C2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8788" y="1552575"/>
            <a:ext cx="5762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/>
              <a:t>C</a:t>
            </a:r>
            <a:r>
              <a:rPr lang="en-US" altLang="zh-CN" sz="2000" b="1" baseline="-25000"/>
              <a:t>2</a:t>
            </a:r>
          </a:p>
        </p:txBody>
      </p:sp>
      <p:sp>
        <p:nvSpPr>
          <p:cNvPr id="31780" name="Text Box 36">
            <a:extLst>
              <a:ext uri="{FF2B5EF4-FFF2-40B4-BE49-F238E27FC236}">
                <a16:creationId xmlns:a16="http://schemas.microsoft.com/office/drawing/2014/main" id="{B5B51D5E-294C-4DB7-83B7-C1252267F7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2525" y="4792663"/>
            <a:ext cx="8651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000" b="1" i="1"/>
              <a:t>C</a:t>
            </a:r>
            <a:r>
              <a:rPr lang="en-US" altLang="zh-CN" sz="2000" b="1" baseline="-25000"/>
              <a:t>3</a:t>
            </a:r>
          </a:p>
        </p:txBody>
      </p:sp>
      <p:sp>
        <p:nvSpPr>
          <p:cNvPr id="31781" name="Line 37">
            <a:extLst>
              <a:ext uri="{FF2B5EF4-FFF2-40B4-BE49-F238E27FC236}">
                <a16:creationId xmlns:a16="http://schemas.microsoft.com/office/drawing/2014/main" id="{E4D08D50-33A8-4BD5-9788-8DFA69DC5D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83388" y="3352800"/>
            <a:ext cx="503237" cy="1223963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2" name="Line 38">
            <a:extLst>
              <a:ext uri="{FF2B5EF4-FFF2-40B4-BE49-F238E27FC236}">
                <a16:creationId xmlns:a16="http://schemas.microsoft.com/office/drawing/2014/main" id="{00943E4D-9F4E-4681-A167-DA3096DBAD1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94238" y="3495675"/>
            <a:ext cx="1152525" cy="936625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783" name="Line 39">
            <a:extLst>
              <a:ext uri="{FF2B5EF4-FFF2-40B4-BE49-F238E27FC236}">
                <a16:creationId xmlns:a16="http://schemas.microsoft.com/office/drawing/2014/main" id="{C7949135-1887-4338-8CAA-EBBB1461A6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59425" y="2487613"/>
            <a:ext cx="1655763" cy="576262"/>
          </a:xfrm>
          <a:prstGeom prst="line">
            <a:avLst/>
          </a:pr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27DEBA33-3012-41E3-BADA-BB21D27A1A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 eaLnBrk="1" hangingPunct="1">
              <a:defRPr/>
            </a:pPr>
            <a:r>
              <a:rPr lang="zh-CN" altLang="en-US" sz="4000" b="1" dirty="0">
                <a:solidFill>
                  <a:srgbClr val="99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聚类问题的背景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820A1974-7483-4528-91D7-34E42C755FA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68313" y="1279525"/>
            <a:ext cx="8229600" cy="4525963"/>
          </a:xfrm>
        </p:spPr>
        <p:txBody>
          <a:bodyPr/>
          <a:lstStyle/>
          <a:p>
            <a:pPr eaLnBrk="1" hangingPunct="1"/>
            <a:r>
              <a:rPr lang="zh-CN" altLang="en-US" sz="2800" b="1"/>
              <a:t>根据测试数据的相似性做出分类分析</a:t>
            </a:r>
          </a:p>
          <a:p>
            <a:pPr lvl="1" eaLnBrk="1" hangingPunct="1"/>
            <a:r>
              <a:rPr lang="zh-CN" altLang="en-US" sz="2400" b="1"/>
              <a:t>数据挖掘</a:t>
            </a:r>
          </a:p>
          <a:p>
            <a:pPr lvl="1" eaLnBrk="1" hangingPunct="1"/>
            <a:r>
              <a:rPr lang="zh-CN" altLang="en-US" sz="2400" b="1"/>
              <a:t>图像处理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系统划分</a:t>
            </a:r>
          </a:p>
          <a:p>
            <a:pPr lvl="1" eaLnBrk="1" hangingPunct="1"/>
            <a:r>
              <a:rPr lang="zh-CN" altLang="en-US" sz="2400" b="1"/>
              <a:t>电路设计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800" b="1"/>
              <a:t>根据不同优化目标形成不同类型的聚类问题，其中某些单链聚类问题可以使用最小生成树的模型</a:t>
            </a:r>
          </a:p>
          <a:p>
            <a:pPr eaLnBrk="1" hangingPunct="1"/>
            <a:endParaRPr lang="en-US" altLang="zh-CN"/>
          </a:p>
        </p:txBody>
      </p:sp>
      <p:sp>
        <p:nvSpPr>
          <p:cNvPr id="25604" name="灯片编号占位符 3">
            <a:extLst>
              <a:ext uri="{FF2B5EF4-FFF2-40B4-BE49-F238E27FC236}">
                <a16:creationId xmlns:a16="http://schemas.microsoft.com/office/drawing/2014/main" id="{EA56E0E8-9DD4-42E4-BC86-C8771E367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9783C8B3-C988-41EB-B7E5-E8FECE88D157}" type="slidenum">
              <a:rPr lang="en-US" altLang="zh-CN">
                <a:solidFill>
                  <a:srgbClr val="898989"/>
                </a:solidFill>
              </a:rPr>
              <a:pPr eaLnBrk="1" hangingPunct="1"/>
              <a:t>27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标题 1">
            <a:extLst>
              <a:ext uri="{FF2B5EF4-FFF2-40B4-BE49-F238E27FC236}">
                <a16:creationId xmlns:a16="http://schemas.microsoft.com/office/drawing/2014/main" id="{D8A64DDD-254E-45D9-873A-C3AA6CD59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5888"/>
            <a:ext cx="8229600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 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网络优化</a:t>
            </a:r>
          </a:p>
        </p:txBody>
      </p:sp>
      <p:sp>
        <p:nvSpPr>
          <p:cNvPr id="12292" name="内容占位符 2">
            <a:extLst>
              <a:ext uri="{FF2B5EF4-FFF2-40B4-BE49-F238E27FC236}">
                <a16:creationId xmlns:a16="http://schemas.microsoft.com/office/drawing/2014/main" id="{E0147B7B-808B-4FD6-A620-9CD6675144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981075"/>
            <a:ext cx="8229600" cy="4530725"/>
          </a:xfrm>
        </p:spPr>
        <p:txBody>
          <a:bodyPr/>
          <a:lstStyle/>
          <a:p>
            <a:r>
              <a:rPr lang="zh-CN" altLang="en-US" sz="2800" b="1" dirty="0"/>
              <a:t>背景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树状连通网络，每条线路有传输延迟，只能改进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en-US" sz="2400" b="1" dirty="0"/>
              <a:t>条线路，以降低传输延迟，如何选择？</a:t>
            </a:r>
            <a:endParaRPr lang="en-US" altLang="zh-CN" sz="2400" b="1" dirty="0"/>
          </a:p>
          <a:p>
            <a:pPr>
              <a:spcBef>
                <a:spcPts val="1800"/>
              </a:spcBef>
            </a:pPr>
            <a:r>
              <a:rPr lang="zh-CN" altLang="en-US" sz="2800" b="1" dirty="0"/>
              <a:t>实例</a:t>
            </a:r>
            <a:endParaRPr lang="en-US" altLang="zh-CN" sz="2800" b="1" dirty="0"/>
          </a:p>
          <a:p>
            <a:pPr lvl="1"/>
            <a:r>
              <a:rPr lang="zh-CN" altLang="en-US" sz="2400" b="1" dirty="0"/>
              <a:t>节点集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={1,2,…,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={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,…,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</a:p>
          <a:p>
            <a:pPr lvl="1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是边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i="1" baseline="-25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的传输延迟，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=1,2,…,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i,j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是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的延迟 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从 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到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j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路径上所有边延迟之和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lvl="1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对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改进后，边上的延迟减少了</a:t>
            </a:r>
            <a:r>
              <a:rPr lang="en-US" altLang="zh-CN" sz="2400" b="1" i="1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pw</a:t>
            </a:r>
            <a:r>
              <a:rPr lang="en-US" altLang="zh-CN" sz="2400" b="1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&lt;1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为常数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>
              <a:spcBef>
                <a:spcPts val="18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问题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选 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|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|=</a:t>
            </a:r>
            <a:r>
              <a:rPr lang="en-US" altLang="zh-CN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K</a:t>
            </a:r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zh-C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使得</a:t>
            </a:r>
            <a:endParaRPr lang="en-US" altLang="zh-CN" sz="2400" b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lvl="1"/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73" name="灯片编号占位符 3">
            <a:extLst>
              <a:ext uri="{FF2B5EF4-FFF2-40B4-BE49-F238E27FC236}">
                <a16:creationId xmlns:a16="http://schemas.microsoft.com/office/drawing/2014/main" id="{0B6C082B-B1EF-413D-B6B9-75CAE8BBA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32DC00F2-6A58-4938-AEB9-CF02E92FA4A3}" type="slidenum">
              <a:rPr lang="en-US" altLang="zh-CN">
                <a:solidFill>
                  <a:srgbClr val="898989"/>
                </a:solidFill>
              </a:rPr>
              <a:pPr eaLnBrk="1" hangingPunct="1"/>
              <a:t>28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2290" name="Object 2">
            <a:extLst>
              <a:ext uri="{FF2B5EF4-FFF2-40B4-BE49-F238E27FC236}">
                <a16:creationId xmlns:a16="http://schemas.microsoft.com/office/drawing/2014/main" id="{65BE05E8-C382-4459-A33E-083ECE5A97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153133"/>
              </p:ext>
            </p:extLst>
          </p:nvPr>
        </p:nvGraphicFramePr>
        <p:xfrm>
          <a:off x="2339752" y="5130254"/>
          <a:ext cx="3444875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7" name="公式" r:id="rId3" imgW="1536480" imgH="495000" progId="Equation.3">
                  <p:embed/>
                </p:oleObj>
              </mc:Choice>
              <mc:Fallback>
                <p:oleObj name="公式" r:id="rId3" imgW="1536480" imgH="4950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5130254"/>
                        <a:ext cx="3444875" cy="1035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2" name="标题 1">
            <a:extLst>
              <a:ext uri="{FF2B5EF4-FFF2-40B4-BE49-F238E27FC236}">
                <a16:creationId xmlns:a16="http://schemas.microsoft.com/office/drawing/2014/main" id="{401083C2-7628-4364-AF4E-7C36F92AB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188913"/>
            <a:ext cx="8229600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贪心法设计与分析</a:t>
            </a:r>
          </a:p>
        </p:txBody>
      </p:sp>
      <p:sp>
        <p:nvSpPr>
          <p:cNvPr id="13317" name="内容占位符 27">
            <a:extLst>
              <a:ext uri="{FF2B5EF4-FFF2-40B4-BE49-F238E27FC236}">
                <a16:creationId xmlns:a16="http://schemas.microsoft.com/office/drawing/2014/main" id="{F733A18A-1482-48F1-BECD-398890083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550" y="1182688"/>
            <a:ext cx="8229600" cy="5184775"/>
          </a:xfrm>
        </p:spPr>
        <p:txBody>
          <a:bodyPr/>
          <a:lstStyle/>
          <a:p>
            <a:r>
              <a:rPr lang="zh-CN" altLang="en-US" sz="2800" b="1"/>
              <a:t>改进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b="1"/>
              <a:t>之后总延迟减少了</a:t>
            </a:r>
            <a:endParaRPr lang="en-US" altLang="zh-CN" sz="2800" b="1"/>
          </a:p>
          <a:p>
            <a:endParaRPr lang="en-US" altLang="zh-CN" sz="2800" b="1"/>
          </a:p>
          <a:p>
            <a:pPr>
              <a:spcBef>
                <a:spcPts val="1800"/>
              </a:spcBef>
            </a:pPr>
            <a:r>
              <a:rPr lang="zh-CN" altLang="en-US" sz="2800" b="1"/>
              <a:t>选择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800" b="1"/>
              <a:t>后总延迟是</a:t>
            </a:r>
            <a:endParaRPr lang="en-US" altLang="zh-CN" sz="2800" b="1"/>
          </a:p>
          <a:p>
            <a:endParaRPr lang="en-US" altLang="zh-CN" sz="2800" b="1"/>
          </a:p>
          <a:p>
            <a:pPr>
              <a:spcBef>
                <a:spcPts val="1800"/>
              </a:spcBef>
            </a:pPr>
            <a:r>
              <a:rPr lang="zh-CN" altLang="en-US" sz="2800" b="1"/>
              <a:t>贪心法</a:t>
            </a:r>
            <a:endParaRPr lang="en-US" altLang="zh-CN" sz="2800" b="1"/>
          </a:p>
          <a:p>
            <a:pPr lvl="1"/>
            <a:r>
              <a:rPr lang="zh-CN" altLang="en-US" sz="2400" b="1"/>
              <a:t>计算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=1,2,…,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-1</a:t>
            </a:r>
          </a:p>
          <a:p>
            <a:pPr lvl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排序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使得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…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-1</a:t>
            </a:r>
          </a:p>
          <a:p>
            <a:pPr lvl="1"/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={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… ,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4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</a:p>
          <a:p>
            <a:pPr lvl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可以证明得到最优解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98" name="灯片编号占位符 3">
            <a:extLst>
              <a:ext uri="{FF2B5EF4-FFF2-40B4-BE49-F238E27FC236}">
                <a16:creationId xmlns:a16="http://schemas.microsoft.com/office/drawing/2014/main" id="{D660A7B4-A73D-46F3-95A7-3C5D6EFCD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0925" y="6808788"/>
            <a:ext cx="2133600" cy="365125"/>
          </a:xfrm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09CBC9D-7080-4B4D-B67D-429A4A79311B}" type="slidenum">
              <a:rPr lang="en-US" altLang="zh-CN">
                <a:solidFill>
                  <a:srgbClr val="898989"/>
                </a:solidFill>
              </a:rPr>
              <a:pPr eaLnBrk="1" hangingPunct="1"/>
              <a:t>29</a:t>
            </a:fld>
            <a:endParaRPr lang="en-US" altLang="zh-CN">
              <a:solidFill>
                <a:srgbClr val="898989"/>
              </a:solidFill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D855605-9EAE-4281-8C2E-E80C10B76AAD}"/>
              </a:ext>
            </a:extLst>
          </p:cNvPr>
          <p:cNvCxnSpPr/>
          <p:nvPr/>
        </p:nvCxnSpPr>
        <p:spPr>
          <a:xfrm>
            <a:off x="6721475" y="2890838"/>
            <a:ext cx="642938" cy="15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9AFBD9A-8A9F-4BF4-BB94-588D9D549B6C}"/>
              </a:ext>
            </a:extLst>
          </p:cNvPr>
          <p:cNvCxnSpPr/>
          <p:nvPr/>
        </p:nvCxnSpPr>
        <p:spPr>
          <a:xfrm>
            <a:off x="6149975" y="2605088"/>
            <a:ext cx="642938" cy="28733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2B2624A4-C242-42A6-8A71-352D2FD0234D}"/>
              </a:ext>
            </a:extLst>
          </p:cNvPr>
          <p:cNvCxnSpPr/>
          <p:nvPr/>
        </p:nvCxnSpPr>
        <p:spPr>
          <a:xfrm>
            <a:off x="7364413" y="2890838"/>
            <a:ext cx="428625" cy="357187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75B4D93-8E02-4951-BAA2-A8737897B4A3}"/>
              </a:ext>
            </a:extLst>
          </p:cNvPr>
          <p:cNvCxnSpPr/>
          <p:nvPr/>
        </p:nvCxnSpPr>
        <p:spPr>
          <a:xfrm rot="5400000" flipH="1" flipV="1">
            <a:off x="7393781" y="3432969"/>
            <a:ext cx="612775" cy="242888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4DB2DA77-5802-4B25-AD2F-95A29B63CFA0}"/>
              </a:ext>
            </a:extLst>
          </p:cNvPr>
          <p:cNvCxnSpPr/>
          <p:nvPr/>
        </p:nvCxnSpPr>
        <p:spPr>
          <a:xfrm flipV="1">
            <a:off x="7364413" y="2605088"/>
            <a:ext cx="571500" cy="28575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F67D87F6-A6EA-41CD-B5C5-0848FA871D18}"/>
              </a:ext>
            </a:extLst>
          </p:cNvPr>
          <p:cNvCxnSpPr/>
          <p:nvPr/>
        </p:nvCxnSpPr>
        <p:spPr>
          <a:xfrm flipV="1">
            <a:off x="6221413" y="2892425"/>
            <a:ext cx="571500" cy="498475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25" name="TextBox 20">
            <a:extLst>
              <a:ext uri="{FF2B5EF4-FFF2-40B4-BE49-F238E27FC236}">
                <a16:creationId xmlns:a16="http://schemas.microsoft.com/office/drawing/2014/main" id="{BD1BBC6A-101C-4DD0-A61D-3DAB69E56A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97688" y="2462213"/>
            <a:ext cx="4286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0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sz="20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BBEAA1D1-3663-47B3-8741-2F6765284723}"/>
              </a:ext>
            </a:extLst>
          </p:cNvPr>
          <p:cNvSpPr/>
          <p:nvPr/>
        </p:nvSpPr>
        <p:spPr>
          <a:xfrm>
            <a:off x="5826125" y="2390775"/>
            <a:ext cx="1143000" cy="1643063"/>
          </a:xfrm>
          <a:prstGeom prst="ellipse">
            <a:avLst/>
          </a:prstGeom>
          <a:solidFill>
            <a:srgbClr val="92D050">
              <a:alpha val="3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0E5FB422-C49F-4CB1-9316-18AD15BD2FE5}"/>
              </a:ext>
            </a:extLst>
          </p:cNvPr>
          <p:cNvSpPr/>
          <p:nvPr/>
        </p:nvSpPr>
        <p:spPr>
          <a:xfrm>
            <a:off x="7183438" y="2319338"/>
            <a:ext cx="1143000" cy="1643062"/>
          </a:xfrm>
          <a:prstGeom prst="ellipse">
            <a:avLst/>
          </a:prstGeom>
          <a:solidFill>
            <a:srgbClr val="92D050">
              <a:alpha val="33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sp>
        <p:nvSpPr>
          <p:cNvPr id="13328" name="灯片编号占位符 3">
            <a:extLst>
              <a:ext uri="{FF2B5EF4-FFF2-40B4-BE49-F238E27FC236}">
                <a16:creationId xmlns:a16="http://schemas.microsoft.com/office/drawing/2014/main" id="{4DA51C59-9F25-43F7-8A52-882D198CA8AB}"/>
              </a:ext>
            </a:extLst>
          </p:cNvPr>
          <p:cNvSpPr txBox="1">
            <a:spLocks/>
          </p:cNvSpPr>
          <p:nvPr/>
        </p:nvSpPr>
        <p:spPr bwMode="auto">
          <a:xfrm>
            <a:off x="6130925" y="67008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/>
            <a:fld id="{BF7AAD71-D622-4A26-8ADB-97BAA7E556DE}" type="slidenum">
              <a:rPr lang="en-US" altLang="zh-CN" sz="1000"/>
              <a:pPr algn="r" eaLnBrk="1" hangingPunct="1"/>
              <a:t>29</a:t>
            </a:fld>
            <a:endParaRPr lang="en-US" altLang="zh-CN" sz="1000"/>
          </a:p>
        </p:txBody>
      </p:sp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5D73EC3E-0EC3-4D2D-97F2-9BB1AF77DB8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0000" y="1773238"/>
          <a:ext cx="2951163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7" name="公式" r:id="rId4" imgW="1295280" imgH="228600" progId="Equation.3">
                  <p:embed/>
                </p:oleObj>
              </mc:Choice>
              <mc:Fallback>
                <p:oleObj name="公式" r:id="rId4" imgW="129528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1773238"/>
                        <a:ext cx="2951163" cy="5191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9" name="TextBox 29">
            <a:extLst>
              <a:ext uri="{FF2B5EF4-FFF2-40B4-BE49-F238E27FC236}">
                <a16:creationId xmlns:a16="http://schemas.microsoft.com/office/drawing/2014/main" id="{44413854-5C3D-49D6-8A0B-091D89578E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78538" y="3452813"/>
            <a:ext cx="374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zh-CN" altLang="en-US" sz="20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30" name="TextBox 30">
            <a:extLst>
              <a:ext uri="{FF2B5EF4-FFF2-40B4-BE49-F238E27FC236}">
                <a16:creationId xmlns:a16="http://schemas.microsoft.com/office/drawing/2014/main" id="{533ECF2F-EC55-4378-90A9-4C9A1EE4FB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3038" y="3381375"/>
            <a:ext cx="4603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20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zh-CN" altLang="en-US" sz="2000" b="1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315" name="Object 5">
            <a:extLst>
              <a:ext uri="{FF2B5EF4-FFF2-40B4-BE49-F238E27FC236}">
                <a16:creationId xmlns:a16="http://schemas.microsoft.com/office/drawing/2014/main" id="{B37F463F-BDF0-4B5F-A978-4755A47D52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270000" y="2997200"/>
          <a:ext cx="3071813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38" name="公式" r:id="rId6" imgW="1409400" imgH="368280" progId="Equation.3">
                  <p:embed/>
                </p:oleObj>
              </mc:Choice>
              <mc:Fallback>
                <p:oleObj name="公式" r:id="rId6" imgW="1409400" imgH="3682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0000" y="2997200"/>
                        <a:ext cx="3071813" cy="803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标题 1">
            <a:extLst>
              <a:ext uri="{FF2B5EF4-FFF2-40B4-BE49-F238E27FC236}">
                <a16:creationId xmlns:a16="http://schemas.microsoft.com/office/drawing/2014/main" id="{7BF1203E-7F1E-4B90-B686-E8A1A31F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问题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Slepian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译码表</a:t>
            </a:r>
          </a:p>
        </p:txBody>
      </p:sp>
      <p:sp>
        <p:nvSpPr>
          <p:cNvPr id="14340" name="内容占位符 2">
            <a:extLst>
              <a:ext uri="{FF2B5EF4-FFF2-40B4-BE49-F238E27FC236}">
                <a16:creationId xmlns:a16="http://schemas.microsoft.com/office/drawing/2014/main" id="{BA69E36F-A932-46EE-BDFD-2796919A5F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274763"/>
            <a:ext cx="8401050" cy="4530725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800" b="1"/>
              <a:t>维线性码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b="1"/>
              <a:t>——</a:t>
            </a:r>
            <a:r>
              <a:rPr lang="zh-CN" altLang="en-US" sz="2800" b="1"/>
              <a:t> 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n, k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码</a:t>
            </a:r>
            <a:r>
              <a:rPr lang="zh-CN" altLang="en-US" sz="2800" b="1"/>
              <a:t>：                                  </a:t>
            </a:r>
            <a:endParaRPr lang="en-US" altLang="zh-CN" sz="2800" b="1"/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800" b="1"/>
              <a:t>                                                                         </a:t>
            </a:r>
            <a:r>
              <a:rPr lang="zh-CN" altLang="en-US" sz="2800" b="1"/>
              <a:t>的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800" b="1"/>
              <a:t>维子空间</a:t>
            </a:r>
            <a:endParaRPr lang="en-US" altLang="zh-CN" sz="2800" b="1" i="1" baseline="-25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 v =x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+x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+…+x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 v</a:t>
            </a:r>
            <a:r>
              <a:rPr lang="en-US" altLang="zh-CN" sz="2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, …, v</a:t>
            </a:r>
            <a:r>
              <a:rPr lang="en-US" altLang="zh-CN" sz="28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k 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为一组基 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600"/>
              </a:spcBef>
              <a:buFont typeface="Wingdings" panose="05000000000000000000" pitchFamily="2" charset="2"/>
              <a:buNone/>
            </a:pP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</a:t>
            </a:r>
            <a:r>
              <a:rPr lang="en-US" altLang="zh-C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:  [7,4]</a:t>
            </a:r>
            <a:r>
              <a:rPr lang="zh-CN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码， 红色码是一组基</a:t>
            </a:r>
            <a:endParaRPr lang="en-US" altLang="zh-CN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    C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={ 0000000, 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0001011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0010101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0011110, 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0100110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0101101,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0110011, 0111000, </a:t>
            </a:r>
            <a:r>
              <a:rPr lang="en-US" altLang="zh-CN" sz="2400" b="1">
                <a:solidFill>
                  <a:srgbClr val="FF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1000111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1001100, 1010010, 1011001,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1100001, 1101010, 1110100, 1111111}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5" name="灯片编号占位符 3">
            <a:extLst>
              <a:ext uri="{FF2B5EF4-FFF2-40B4-BE49-F238E27FC236}">
                <a16:creationId xmlns:a16="http://schemas.microsoft.com/office/drawing/2014/main" id="{33182260-68F6-44BC-B586-F5D879A3C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DCE8C7F6-17A5-42F5-9073-63F64C0D2F3E}" type="slidenum">
              <a:rPr lang="en-US" altLang="zh-CN">
                <a:solidFill>
                  <a:srgbClr val="898989"/>
                </a:solidFill>
              </a:rPr>
              <a:pPr eaLnBrk="1" hangingPunct="1"/>
              <a:t>30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4338" name="Object 2">
            <a:extLst>
              <a:ext uri="{FF2B5EF4-FFF2-40B4-BE49-F238E27FC236}">
                <a16:creationId xmlns:a16="http://schemas.microsoft.com/office/drawing/2014/main" id="{EEC7B2E1-211B-49C4-B81B-E3C5C9921C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1825625"/>
          <a:ext cx="5040313" cy="595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5" name="公式" r:id="rId4" imgW="2044440" imgH="241200" progId="Equation.3">
                  <p:embed/>
                </p:oleObj>
              </mc:Choice>
              <mc:Fallback>
                <p:oleObj name="公式" r:id="rId4" imgW="204444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825625"/>
                        <a:ext cx="5040313" cy="595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标题 1">
            <a:extLst>
              <a:ext uri="{FF2B5EF4-FFF2-40B4-BE49-F238E27FC236}">
                <a16:creationId xmlns:a16="http://schemas.microsoft.com/office/drawing/2014/main" id="{CC3DEB08-9D8F-4A84-9136-E977CD24B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633412"/>
          </a:xfrm>
        </p:spPr>
        <p:txBody>
          <a:bodyPr/>
          <a:lstStyle/>
          <a:p>
            <a:pPr algn="ctr">
              <a:defRPr/>
            </a:pPr>
            <a:r>
              <a:rPr lang="en-US" altLang="zh-CN" sz="4000" b="1" i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 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构成群</a:t>
            </a:r>
          </a:p>
        </p:txBody>
      </p:sp>
      <p:sp>
        <p:nvSpPr>
          <p:cNvPr id="15365" name="内容占位符 2">
            <a:extLst>
              <a:ext uri="{FF2B5EF4-FFF2-40B4-BE49-F238E27FC236}">
                <a16:creationId xmlns:a16="http://schemas.microsoft.com/office/drawing/2014/main" id="{2B6395EC-EA84-473B-B40B-51236A63C1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196975"/>
            <a:ext cx="8229600" cy="2043113"/>
          </a:xfrm>
        </p:spPr>
        <p:txBody>
          <a:bodyPr/>
          <a:lstStyle/>
          <a:p>
            <a:pPr marL="0" indent="0"/>
            <a:r>
              <a:rPr lang="zh-CN" altLang="en-US" sz="2400"/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关于向量加法封闭，加法满足结合律，单位元是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维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向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量，码</a:t>
            </a:r>
            <a:r>
              <a:rPr lang="zh-CN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的逆元就是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自己 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是      的子群</a:t>
            </a:r>
            <a:endParaRPr lang="en-US" altLang="zh-CN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的陪集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，其中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/>
            <a:endParaRPr lang="en-US" altLang="zh-CN"/>
          </a:p>
          <a:p>
            <a:pPr marL="0" indent="0"/>
            <a:endParaRPr lang="en-US" altLang="zh-CN"/>
          </a:p>
          <a:p>
            <a:pPr marL="0" indent="0"/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/>
          </a:p>
          <a:p>
            <a:pPr marL="0" indent="0">
              <a:buFont typeface="Wingdings" panose="05000000000000000000" pitchFamily="2" charset="2"/>
              <a:buNone/>
            </a:pPr>
            <a:endParaRPr lang="zh-CN" altLang="en-US"/>
          </a:p>
        </p:txBody>
      </p:sp>
      <p:sp>
        <p:nvSpPr>
          <p:cNvPr id="11270" name="灯片编号占位符 3">
            <a:extLst>
              <a:ext uri="{FF2B5EF4-FFF2-40B4-BE49-F238E27FC236}">
                <a16:creationId xmlns:a16="http://schemas.microsoft.com/office/drawing/2014/main" id="{9079D580-FAA3-4EB2-94D1-B944575C6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A348F12-578E-4809-91D9-BF4C64F57CA5}" type="slidenum">
              <a:rPr lang="en-US" altLang="zh-CN">
                <a:solidFill>
                  <a:srgbClr val="898989"/>
                </a:solidFill>
              </a:rPr>
              <a:pPr eaLnBrk="1" hangingPunct="1"/>
              <a:t>31</a:t>
            </a:fld>
            <a:endParaRPr lang="en-US" altLang="zh-CN">
              <a:solidFill>
                <a:srgbClr val="898989"/>
              </a:solidFill>
            </a:endParaRPr>
          </a:p>
        </p:txBody>
      </p:sp>
      <p:graphicFrame>
        <p:nvGraphicFramePr>
          <p:cNvPr id="15362" name="Object 2">
            <a:extLst>
              <a:ext uri="{FF2B5EF4-FFF2-40B4-BE49-F238E27FC236}">
                <a16:creationId xmlns:a16="http://schemas.microsoft.com/office/drawing/2014/main" id="{E6BCA01D-D343-42F4-AC40-B8ED42694D4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060575"/>
          <a:ext cx="47148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5" name="公式" r:id="rId3" imgW="228600" imgH="228600" progId="Equation.3">
                  <p:embed/>
                </p:oleObj>
              </mc:Choice>
              <mc:Fallback>
                <p:oleObj name="公式" r:id="rId3" imgW="2286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060575"/>
                        <a:ext cx="47148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4">
            <a:extLst>
              <a:ext uri="{FF2B5EF4-FFF2-40B4-BE49-F238E27FC236}">
                <a16:creationId xmlns:a16="http://schemas.microsoft.com/office/drawing/2014/main" id="{B3D8850E-5A57-4B7E-BDFF-73B321E119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2492375"/>
          <a:ext cx="471488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6" name="公式" r:id="rId5" imgW="228600" imgH="228600" progId="Equation.3">
                  <p:embed/>
                </p:oleObj>
              </mc:Choice>
              <mc:Fallback>
                <p:oleObj name="公式" r:id="rId5" imgW="2286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2492375"/>
                        <a:ext cx="471488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DB61252-6B8A-4A51-B4A4-92E5EA00E2B4}"/>
              </a:ext>
            </a:extLst>
          </p:cNvPr>
          <p:cNvGraphicFramePr>
            <a:graphicFrameLocks noGrp="1"/>
          </p:cNvGraphicFramePr>
          <p:nvPr/>
        </p:nvGraphicFramePr>
        <p:xfrm>
          <a:off x="971550" y="3771900"/>
          <a:ext cx="7345363" cy="2320925"/>
        </p:xfrm>
        <a:graphic>
          <a:graphicData uri="http://schemas.openxmlformats.org/drawingml/2006/table">
            <a:tbl>
              <a:tblPr/>
              <a:tblGrid>
                <a:gridCol w="1655763">
                  <a:extLst>
                    <a:ext uri="{9D8B030D-6E8A-4147-A177-3AD203B41FA5}">
                      <a16:colId xmlns:a16="http://schemas.microsoft.com/office/drawing/2014/main" val="1925920431"/>
                    </a:ext>
                  </a:extLst>
                </a:gridCol>
                <a:gridCol w="5689600">
                  <a:extLst>
                    <a:ext uri="{9D8B030D-6E8A-4147-A177-3AD203B41FA5}">
                      <a16:colId xmlns:a16="http://schemas.microsoft.com/office/drawing/2014/main" val="1029218365"/>
                    </a:ext>
                  </a:extLst>
                </a:gridCol>
              </a:tblGrid>
              <a:tr h="439738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BF9D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 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宋体" panose="02010600030101010101" pitchFamily="2" charset="-122"/>
                        </a:rPr>
                        <a:t>错误向量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5BF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6888841"/>
                  </a:ext>
                </a:extLst>
              </a:tr>
              <a:tr h="186372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+0001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+0010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C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+0011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9CC"/>
                    </a:solidFill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0000         0110         1001         1111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0001         0111         1000         1110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0010         0100         1011         1101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ts val="32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  0011         0101         1010         1100</a:t>
                      </a:r>
                      <a:endParaRPr kumimoji="0" lang="zh-CN" altLang="en-US" sz="24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C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1058140"/>
                  </a:ext>
                </a:extLst>
              </a:tr>
            </a:tbl>
          </a:graphicData>
        </a:graphic>
      </p:graphicFrame>
      <p:sp>
        <p:nvSpPr>
          <p:cNvPr id="15378" name="TextBox 8">
            <a:extLst>
              <a:ext uri="{FF2B5EF4-FFF2-40B4-BE49-F238E27FC236}">
                <a16:creationId xmlns:a16="http://schemas.microsoft.com/office/drawing/2014/main" id="{8129297E-D479-46AA-A6FD-DC0D12B969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141663"/>
            <a:ext cx="74295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实例：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[4, 2]</a:t>
            </a:r>
            <a:r>
              <a:rPr lang="zh-CN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码   </a:t>
            </a:r>
            <a:r>
              <a:rPr lang="en-US" altLang="zh-CN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= { 0000, 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0110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</a:t>
            </a:r>
            <a:r>
              <a:rPr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1001</a:t>
            </a: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,  1111 }</a:t>
            </a:r>
            <a:endParaRPr lang="zh-CN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>
            <a:extLst>
              <a:ext uri="{FF2B5EF4-FFF2-40B4-BE49-F238E27FC236}">
                <a16:creationId xmlns:a16="http://schemas.microsoft.com/office/drawing/2014/main" id="{AB6327C7-22EC-44BC-B287-A63FBE188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1975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纠错</a:t>
            </a:r>
            <a:r>
              <a:rPr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——</a:t>
            </a:r>
            <a:r>
              <a:rPr lang="en-US" altLang="zh-CN" sz="4000" b="1" dirty="0" err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Slepian</a:t>
            </a: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译码表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79386AF-C685-4300-B687-411BD59CA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125538"/>
            <a:ext cx="8229600" cy="5143500"/>
          </a:xfrm>
        </p:spPr>
        <p:txBody>
          <a:bodyPr/>
          <a:lstStyle/>
          <a:p>
            <a:pPr marL="0" indent="0">
              <a:buFont typeface="Arial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发送 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，接收到的可能是 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  <a:sym typeface="Symbol"/>
              </a:rPr>
              <a:t>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，需要将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译成  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   C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中与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最接近（不同的位数最少）的代码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—— </a:t>
            </a: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最近距离译码原则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spcBef>
                <a:spcPts val="2400"/>
              </a:spcBef>
              <a:buFont typeface="Arial" charset="0"/>
              <a:buChar char="•"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Slepian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译码表：由全体向量构成，第一行是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，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第二行是陪集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，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是剩余向量中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个数最少且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数值最小的向量；类似选取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b="1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, …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作为陪集的代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表元素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marL="0" indent="0">
              <a:spcBef>
                <a:spcPts val="2400"/>
              </a:spcBef>
              <a:buFont typeface="Arial" charset="0"/>
              <a:buChar char="•"/>
              <a:defRPr/>
            </a:pP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 译码： 若接收到 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b="1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  <a:sym typeface="Symbol"/>
              </a:rPr>
              <a:t>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  <a:sym typeface="Symbol"/>
              </a:rPr>
              <a:t>+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  <a:sym typeface="Symbol"/>
              </a:rPr>
              <a:t>a</a:t>
            </a:r>
            <a:r>
              <a:rPr lang="en-US" altLang="zh-CN" sz="2800" b="1" i="1" baseline="-25000" dirty="0" err="1">
                <a:latin typeface="Times New Roman" pitchFamily="18" charset="0"/>
                <a:cs typeface="Times New Roman" pitchFamily="18" charset="0"/>
                <a:sym typeface="Symbol"/>
              </a:rPr>
              <a:t>j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，那么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zh-CN" sz="2800" b="1" dirty="0" err="1"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n-US" altLang="zh-CN" sz="2800" b="1" i="1" dirty="0" err="1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800" b="1" i="1" baseline="-25000" dirty="0" err="1">
                <a:latin typeface="Times New Roman" pitchFamily="18" charset="0"/>
                <a:cs typeface="Times New Roman" pitchFamily="18" charset="0"/>
              </a:rPr>
              <a:t>j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，即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r>
              <a:rPr lang="en-US" altLang="zh-CN" sz="2800" b="1" dirty="0">
                <a:latin typeface="Times New Roman" pitchFamily="18" charset="0"/>
                <a:cs typeface="Times New Roman" pitchFamily="18" charset="0"/>
              </a:rPr>
              <a:t>   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译作</a:t>
            </a:r>
            <a:r>
              <a:rPr lang="en-US" altLang="zh-CN" sz="2800" b="1" i="1" dirty="0">
                <a:latin typeface="Times New Roman" pitchFamily="18" charset="0"/>
                <a:cs typeface="Times New Roman" pitchFamily="18" charset="0"/>
              </a:rPr>
              <a:t>u</a:t>
            </a:r>
            <a:r>
              <a:rPr lang="zh-CN" altLang="en-US" sz="2800" b="1" dirty="0">
                <a:latin typeface="Times New Roman" pitchFamily="18" charset="0"/>
                <a:cs typeface="Times New Roman" pitchFamily="18" charset="0"/>
              </a:rPr>
              <a:t>与所在陪集代表元素之和 </a:t>
            </a:r>
            <a:endParaRPr lang="en-US" altLang="zh-CN" sz="28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Font typeface="Wingdings" pitchFamily="2" charset="2"/>
              <a:buNone/>
              <a:defRPr/>
            </a:pPr>
            <a:endParaRPr lang="en-US" altLang="zh-CN" dirty="0">
              <a:latin typeface="Times New Roman" pitchFamily="18" charset="0"/>
              <a:cs typeface="Times New Roman" pitchFamily="18" charset="0"/>
            </a:endParaRPr>
          </a:p>
          <a:p>
            <a:pPr>
              <a:buFont typeface="Arial" charset="0"/>
              <a:buChar char="•"/>
              <a:defRPr/>
            </a:pPr>
            <a:endParaRPr lang="zh-CN" altLang="en-US" dirty="0"/>
          </a:p>
        </p:txBody>
      </p:sp>
      <p:sp>
        <p:nvSpPr>
          <p:cNvPr id="33796" name="灯片编号占位符 3">
            <a:extLst>
              <a:ext uri="{FF2B5EF4-FFF2-40B4-BE49-F238E27FC236}">
                <a16:creationId xmlns:a16="http://schemas.microsoft.com/office/drawing/2014/main" id="{454622DE-5615-42EB-8B29-822B9B62D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5C6EFE33-7A9B-4C74-A239-1A25F4CB6C07}" type="slidenum">
              <a:rPr lang="en-US" altLang="zh-CN">
                <a:solidFill>
                  <a:srgbClr val="898989"/>
                </a:solidFill>
              </a:rPr>
              <a:pPr eaLnBrk="1" hangingPunct="1"/>
              <a:t>32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>
            <a:extLst>
              <a:ext uri="{FF2B5EF4-FFF2-40B4-BE49-F238E27FC236}">
                <a16:creationId xmlns:a16="http://schemas.microsoft.com/office/drawing/2014/main" id="{46B4E081-A655-4437-A7B0-EE6A72D99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8913"/>
            <a:ext cx="8229600" cy="706437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网上资源</a:t>
            </a: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6F6CB88F-2626-4293-9A0A-CD57C77F6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25538"/>
            <a:ext cx="9144000" cy="5616575"/>
          </a:xfrm>
        </p:spPr>
        <p:txBody>
          <a:bodyPr/>
          <a:lstStyle/>
          <a:p>
            <a:pPr>
              <a:lnSpc>
                <a:spcPts val="28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哈佛大学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http://lib.harvard.edu/eresources/details/d/descmath.html</a:t>
            </a:r>
          </a:p>
          <a:p>
            <a:pPr>
              <a:lnSpc>
                <a:spcPts val="2800"/>
              </a:lnSpc>
              <a:spcBef>
                <a:spcPts val="18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普林斯顿大学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http://www.math.princeton.edu/~bsudakov/seminar.html</a:t>
            </a:r>
          </a:p>
          <a:p>
            <a:pPr>
              <a:lnSpc>
                <a:spcPts val="2800"/>
              </a:lnSpc>
              <a:spcBef>
                <a:spcPts val="18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伯克利大学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http://www-inst.eecs.berkeley.edu/~cs70/</a:t>
            </a:r>
          </a:p>
          <a:p>
            <a:pPr>
              <a:lnSpc>
                <a:spcPts val="2800"/>
              </a:lnSpc>
              <a:spcBef>
                <a:spcPts val="18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肯塔基大学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http://www.ms.uky.edu/~math/Research/Margot/DM/DiscreteMath.html</a:t>
            </a: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0" name="灯片编号占位符 3">
            <a:extLst>
              <a:ext uri="{FF2B5EF4-FFF2-40B4-BE49-F238E27FC236}">
                <a16:creationId xmlns:a16="http://schemas.microsoft.com/office/drawing/2014/main" id="{F3B6FA4F-F6CF-4831-BFD8-42B8903D5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8476D3A7-DE85-4C63-8B2F-3DE121EBCF5C}" type="slidenum">
              <a:rPr lang="en-US" altLang="zh-CN">
                <a:solidFill>
                  <a:srgbClr val="898989"/>
                </a:solidFill>
              </a:rPr>
              <a:pPr eaLnBrk="1" hangingPunct="1"/>
              <a:t>33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7457AD7F-53BC-40AB-A2A1-8200B57A1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7875"/>
          </a:xfrm>
        </p:spPr>
        <p:txBody>
          <a:bodyPr/>
          <a:lstStyle/>
          <a:p>
            <a:pPr algn="ctr">
              <a:defRPr/>
            </a:pPr>
            <a:r>
              <a:rPr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网上资源（续）</a:t>
            </a:r>
          </a:p>
        </p:txBody>
      </p:sp>
      <p:sp>
        <p:nvSpPr>
          <p:cNvPr id="35843" name="内容占位符 2">
            <a:extLst>
              <a:ext uri="{FF2B5EF4-FFF2-40B4-BE49-F238E27FC236}">
                <a16:creationId xmlns:a16="http://schemas.microsoft.com/office/drawing/2014/main" id="{4EAD93F7-8245-477D-8FEE-FFBBA33F6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313" y="1268413"/>
            <a:ext cx="8229600" cy="4525962"/>
          </a:xfrm>
        </p:spPr>
        <p:txBody>
          <a:bodyPr/>
          <a:lstStyle/>
          <a:p>
            <a:pPr>
              <a:lnSpc>
                <a:spcPts val="2800"/>
              </a:lnSpc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离散数学论坛网址 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http://mathforum.org/discrete</a:t>
            </a:r>
          </a:p>
          <a:p>
            <a:pPr>
              <a:lnSpc>
                <a:spcPts val="2800"/>
              </a:lnSpc>
              <a:spcBef>
                <a:spcPts val="18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布朗大学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buFont typeface="Wingdings" panose="05000000000000000000" pitchFamily="2" charset="2"/>
              <a:buNone/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http://www.cs.brown.edu/courses/cs022/</a:t>
            </a:r>
          </a:p>
          <a:p>
            <a:pPr>
              <a:lnSpc>
                <a:spcPts val="2800"/>
              </a:lnSpc>
              <a:spcBef>
                <a:spcPts val="18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科罗拉多大学</a:t>
            </a:r>
            <a:endParaRPr lang="en-US" altLang="zh-C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2800"/>
              </a:lnSpc>
              <a:buFont typeface="Wingdings" panose="05000000000000000000" pitchFamily="2" charset="2"/>
              <a:buNone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http://www.colorado.edu/education/DMP/</a:t>
            </a:r>
          </a:p>
          <a:p>
            <a:pPr>
              <a:lnSpc>
                <a:spcPts val="2800"/>
              </a:lnSpc>
              <a:spcBef>
                <a:spcPts val="1800"/>
              </a:spcBef>
            </a:pPr>
            <a:r>
              <a: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数学世界网址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http://mathworld.wolfram.com/topics/DiscreteMathematics.html</a:t>
            </a:r>
            <a:endParaRPr lang="zh-CN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844" name="灯片编号占位符 3">
            <a:extLst>
              <a:ext uri="{FF2B5EF4-FFF2-40B4-BE49-F238E27FC236}">
                <a16:creationId xmlns:a16="http://schemas.microsoft.com/office/drawing/2014/main" id="{3843E383-06AD-4C58-8BAA-EDD0EC4BD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823DC3F-92C4-4D8A-88DF-D2A25992839D}" type="slidenum">
              <a:rPr lang="en-US" altLang="zh-CN">
                <a:solidFill>
                  <a:srgbClr val="898989"/>
                </a:solidFill>
              </a:rPr>
              <a:pPr eaLnBrk="1" hangingPunct="1"/>
              <a:t>34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内容占位符 2">
            <a:extLst>
              <a:ext uri="{FF2B5EF4-FFF2-40B4-BE49-F238E27FC236}">
                <a16:creationId xmlns:a16="http://schemas.microsoft.com/office/drawing/2014/main" id="{BA4D1EA7-02C2-4EE3-91E1-43778CC91C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6600" dirty="0"/>
              <a:t>        </a:t>
            </a:r>
            <a:endParaRPr lang="en-US" altLang="zh-CN" sz="6600" dirty="0"/>
          </a:p>
          <a:p>
            <a:pPr algn="ctr">
              <a:buFont typeface="Wingdings" panose="05000000000000000000" pitchFamily="2" charset="2"/>
              <a:buNone/>
            </a:pPr>
            <a:r>
              <a:rPr lang="zh-CN" altLang="en-US" sz="60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祝大家取得好成绩！</a:t>
            </a:r>
            <a:endParaRPr lang="en-US" altLang="zh-CN" sz="6000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ctr">
              <a:buFont typeface="Wingdings" panose="05000000000000000000" pitchFamily="2" charset="2"/>
              <a:buNone/>
            </a:pPr>
            <a:r>
              <a:rPr lang="zh-CN" altLang="en-US" sz="6000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谢  谢！</a:t>
            </a:r>
          </a:p>
        </p:txBody>
      </p:sp>
      <p:sp>
        <p:nvSpPr>
          <p:cNvPr id="36867" name="灯片编号占位符 3">
            <a:extLst>
              <a:ext uri="{FF2B5EF4-FFF2-40B4-BE49-F238E27FC236}">
                <a16:creationId xmlns:a16="http://schemas.microsoft.com/office/drawing/2014/main" id="{0048F254-18FC-47CB-A2B7-92D5B0142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E4985177-934D-48BC-A9AF-A7E9E1275B85}" type="slidenum">
              <a:rPr lang="en-US" altLang="zh-CN">
                <a:solidFill>
                  <a:srgbClr val="898989"/>
                </a:solidFill>
              </a:rPr>
              <a:pPr eaLnBrk="1" hangingPunct="1"/>
              <a:t>35</a:t>
            </a:fld>
            <a:endParaRPr lang="en-US" altLang="zh-CN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代数结构PP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代数结构PPT" id="{59FB3D3D-6029-4102-98A0-9B60F27E0E23}" vid="{0AB676A5-E0BB-48C0-B1BF-4DD3C7F3CCB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代数结构PPT主题</Template>
  <TotalTime>3372</TotalTime>
  <Words>2427</Words>
  <Application>Microsoft Office PowerPoint</Application>
  <PresentationFormat>全屏显示(4:3)</PresentationFormat>
  <Paragraphs>450</Paragraphs>
  <Slides>35</Slides>
  <Notes>10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35</vt:i4>
      </vt:variant>
    </vt:vector>
  </HeadingPairs>
  <TitlesOfParts>
    <vt:vector size="45" baseType="lpstr">
      <vt:lpstr>Arial</vt:lpstr>
      <vt:lpstr>宋体</vt:lpstr>
      <vt:lpstr>Calibri</vt:lpstr>
      <vt:lpstr>Wingdings</vt:lpstr>
      <vt:lpstr>Times New Roman</vt:lpstr>
      <vt:lpstr>Symbol</vt:lpstr>
      <vt:lpstr>楷体_GB2312</vt:lpstr>
      <vt:lpstr>代数结构PPT</vt:lpstr>
      <vt:lpstr>Microsoft 公式 3.0</vt:lpstr>
      <vt:lpstr>公式</vt:lpstr>
      <vt:lpstr>PowerPoint 演示文稿</vt:lpstr>
      <vt:lpstr>代数系统的知识点</vt:lpstr>
      <vt:lpstr>要求</vt:lpstr>
      <vt:lpstr>群的知识点</vt:lpstr>
      <vt:lpstr>证明群或者子群</vt:lpstr>
      <vt:lpstr>证明正规性或者同态</vt:lpstr>
      <vt:lpstr>证明同构或不同构</vt:lpstr>
      <vt:lpstr>与有限群相关的数量结果</vt:lpstr>
      <vt:lpstr>要求</vt:lpstr>
      <vt:lpstr>组合数学知识点</vt:lpstr>
      <vt:lpstr>组合存在性定理</vt:lpstr>
      <vt:lpstr>选取问题的公式</vt:lpstr>
      <vt:lpstr>非降路径问题 </vt:lpstr>
      <vt:lpstr>不定方程的解</vt:lpstr>
      <vt:lpstr>正整数的拆分问题</vt:lpstr>
      <vt:lpstr>放球：n个球, m个盒子</vt:lpstr>
      <vt:lpstr>组合计数方法</vt:lpstr>
      <vt:lpstr>组合计数定理</vt:lpstr>
      <vt:lpstr>Polya定理</vt:lpstr>
      <vt:lpstr>组合计数符号</vt:lpstr>
      <vt:lpstr>Catalan数与第二类Stirling数</vt:lpstr>
      <vt:lpstr>基本组合恒等式</vt:lpstr>
      <vt:lpstr>要求</vt:lpstr>
      <vt:lpstr>离散数学在计算机科学中的应用实例</vt:lpstr>
      <vt:lpstr>问题1: 单链聚类</vt:lpstr>
      <vt:lpstr>一个3-聚类的实例</vt:lpstr>
      <vt:lpstr>聚类问题的背景</vt:lpstr>
      <vt:lpstr>问题2  网络优化</vt:lpstr>
      <vt:lpstr>贪心法设计与分析</vt:lpstr>
      <vt:lpstr>问题3：Slepian译码表</vt:lpstr>
      <vt:lpstr>C 构成群</vt:lpstr>
      <vt:lpstr>纠错——Slepian译码表</vt:lpstr>
      <vt:lpstr>网上资源</vt:lpstr>
      <vt:lpstr>网上资源（续）</vt:lpstr>
      <vt:lpstr>PowerPoint 演示文稿</vt:lpstr>
    </vt:vector>
  </TitlesOfParts>
  <Company>深圳市斯尔顿科技有限公司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付 康</cp:lastModifiedBy>
  <cp:revision>332</cp:revision>
  <dcterms:created xsi:type="dcterms:W3CDTF">2005-12-02T07:25:32Z</dcterms:created>
  <dcterms:modified xsi:type="dcterms:W3CDTF">2020-08-21T06:11:45Z</dcterms:modified>
</cp:coreProperties>
</file>