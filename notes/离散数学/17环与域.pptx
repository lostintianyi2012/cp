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4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1822" autoAdjust="0"/>
  </p:normalViewPr>
  <p:slideViewPr>
    <p:cSldViewPr>
      <p:cViewPr varScale="1">
        <p:scale>
          <a:sx n="79" d="100"/>
          <a:sy n="79" d="100"/>
        </p:scale>
        <p:origin x="13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5F022F-4015-47E8-908C-07005CD229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BB1B5C-E060-4578-9457-6063BDFB73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8E96AE8-E5B3-4730-9F42-6D88CA9E40AA}" type="datetimeFigureOut">
              <a:rPr lang="zh-CN" altLang="en-US"/>
              <a:pPr>
                <a:defRPr/>
              </a:pPr>
              <a:t>2020/7/24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F24660C-605B-4E5A-B12B-B6B385631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0007ED4-98A5-48AE-9E9A-B045299EB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52F74-620B-4507-B3FA-7FF80AA6D4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338BD7-99DE-4BA3-92FC-E629A449C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A35D663-52B2-44D7-A7A3-103041240D4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E8532FF8-A48D-44C6-823F-92F64C4E8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DBC754-B7D6-4C5A-B619-0A33E80EA990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7C064BE-E8AF-44BE-9941-7396A27907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2AF0F1AF-2B58-4A81-8531-52C1AAAEA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9560A694-6DDF-4388-8326-6665EC16E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5CFCCD-C907-4012-8FA4-547D8333CE77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0D3F802-3E12-4901-A338-6B759B40D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F8955E6-60AF-45E0-94CF-16B084FDC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6ACB8AC-1419-44AE-858B-5C14E28689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DDF0CD-804E-46EC-AA4C-C632156849FF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E4F3BFF-E799-4CA0-A8D0-2E41FE528A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E5F8AF10-61B4-4AA2-9C8C-51232D03B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5FD7320-0FC9-4BF2-8C1A-4E624D7C49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EC643A-E999-42DF-8F49-6192561439CC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E50322B-0CD5-406A-A76F-3F89FB596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511CE51-01B6-427A-99BC-9AA1BF353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E4DC65C6-B6C8-442A-9DC3-EB179316F4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5D476D-6A0B-4D49-ABD5-9D8C35BA8A81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04BDAA4-5284-4490-BF01-865B2A2948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44063CB-01F4-4013-B4A9-C9BB2FC7F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C9C698A-4265-422F-96C2-2EE4B8CAD9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BDA092-A258-4B42-91EA-0CC0C24194BD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1217FB4-131F-46E9-BF3F-F121FEE65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4F37EA1-9B78-4C9A-892B-03350CBE3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505AFF9-09B3-4951-BA7A-36F91C011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55A148-F9E4-4E1C-ACF7-69801E6D8259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C9461FA-6EBB-46AF-B86C-9A2DB6CA65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B16CF05-017A-447E-BBD9-7EA7CFA0F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40F8D2EC-4CD3-48D5-BB07-AF00F9367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DBBE4-70B8-4261-95B8-49DAFBF38A07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A68C607-1622-424D-8913-3608E67012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B2E964A-F2FD-4B63-8489-84F0F477D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A028A81-79D9-4DF8-AED4-A7B0AB690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99EA97-083A-4BB3-BED2-53D0BA1FE24F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072F404-3661-448C-8706-409DA4BBA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69839019-3AF8-4388-81FF-5223A54F6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C3C8DA7-575F-4C83-8136-F2A09D744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48F6CBD-0126-4BDE-A695-647D43101EA5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11C8FB9-29AA-4470-8CA6-ED9E264FC9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8A9B91F-B061-4671-AC5D-51DE54678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FC81C05-07A3-4E0C-8BC2-3C6B2E75E8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EBB63B-4123-4DBE-86A3-D4BED92D779E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1BD71F7-CC2B-4624-A1F4-4E38516BBC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805EC38-B6CD-49B8-B9FE-830D99F12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9537CC0-02C4-47A5-9CA1-E3F29FB23E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3524B6-B612-4711-8FEF-45420B485D7C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553FF2A-17BA-486C-AED7-3A89DCA4E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4C59BE0-3D33-442D-9E31-11C5D2DBF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888FAA59-A8F0-43C0-ABA8-9FDD845A5B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01A216-38BD-41B8-81B3-82ACA4DE7D1F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3D5AC4D-C7C7-4445-BBF7-F7D25CD87D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51D0FBB-43B8-4154-B829-8B45CE4D9D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91D4DC46-849F-4ECC-AF97-24AA1004C2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78296E-A6EC-41DC-B2A0-E070B5E0EDB0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DFB078F-0B85-425A-925E-6D4D16E2C7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869E492-B6FD-4631-95D3-5855B2A34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D769FF3-9EBA-4A5F-B2B7-6B0C0F9F5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9BD368-374D-4CC5-99AA-5DA915137A61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B7FB19F-F6EB-404F-8975-EC43F4D589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54E4A79-8EF8-4656-92B3-C9280C3AF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63CBCF71-E729-4CD9-888F-70AC9CB8BC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F25AF2-BA60-4B8E-B519-B99FFE41ADA2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C0A0518-A780-461B-A7AF-439BA1A813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D0CE660-1BA7-4E61-8D18-5D2C0F5F8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3E520D1A-E203-4575-83E0-31F39FFBA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E4994C-CFAA-4FF9-8AB5-586AFBD6F13E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56EF8151-291C-43B9-95D5-02D4A715C2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0973CC0-C248-4BF4-A841-234A2F12B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3745479B-39A3-44CA-9782-78A1345FF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4D0398-5F3F-4737-9F15-B77F38B098A0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07AE54C-20E3-46C8-871C-0441FABF5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0DFDC72-C667-49F9-B246-1B177A107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3CA005DA-35A1-43AC-955D-6A5D22A641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E94890-936D-4FFE-B67A-A90BD9100D82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934A9A8-9E64-4AC3-8958-40E4F527E9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0FC45E2-7C80-40C2-9EA3-BCC280713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F45A4015-5BF4-45E0-AF2F-97D140587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246462-3ADC-4373-85DE-FF1788011646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414D608-21C7-4A95-A8B8-3982B79E0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9EFB8EC9-ABEB-444F-89A8-B41634840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234F4231-9FB0-40DF-833F-7D4E0C048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C5A03C-0E7F-4712-A82D-B49D8DAE220B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271C711-3263-44AB-B5C1-70207892E3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4E41CA4-BDFD-4AF8-9C70-B7D06E608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D9316347-7CC6-49EF-A641-E065362626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878F63-EDE5-4C90-9EE8-A5AB83F9939B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37C606B-C721-4599-8362-E854442F1E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BF95776-62C9-4910-802E-4C1081A02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F1CDFE-FEAA-4C23-9C6B-90BBC52029E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095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FED3B-3659-4CFF-90DC-789B27492EC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739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CC925-88F6-4D61-80B1-3068EF4EAC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950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FC436-D0EF-41AA-925A-171C88B6175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03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87793D-AB10-43E5-B60F-E1DCA4123F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847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E3AED-86A1-4AFD-ACFE-8BAE5A9111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36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E9B8C-C42F-478C-A79C-26FA998771A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223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32E4E-4B33-4ADC-BC8D-543456534A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05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478C40-B056-42DD-8552-195B258B046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95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40919A-8DC5-4C49-A932-D5450A4BB31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633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501D7-D72A-49B8-84BF-D92DD96304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596072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501D7-D72A-49B8-84BF-D92DD96304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46550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117501D7-D72A-49B8-84BF-D92DD96304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78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F49EEEAF-8BAD-47D8-ACA5-A20693F91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第十八章   环与域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656D1D-42C1-4FD2-87B7-4219864FE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zh-CN" altLang="en-US" b="1" dirty="0"/>
              <a:t>环的定义及其性质</a:t>
            </a:r>
            <a:r>
              <a:rPr lang="en-US" b="1" dirty="0"/>
              <a:t> </a:t>
            </a:r>
            <a:endParaRPr lang="zh-CN" altLang="en-US" b="1" dirty="0"/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b="1" dirty="0"/>
              <a:t>环的定义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b="1" dirty="0"/>
              <a:t>环的性质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b="1" dirty="0"/>
              <a:t>特殊的环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b="1" dirty="0"/>
              <a:t>有限域</a:t>
            </a:r>
          </a:p>
          <a:p>
            <a:pPr marL="0" indent="0" eaLnBrk="1" hangingPunct="1">
              <a:spcBef>
                <a:spcPts val="1800"/>
              </a:spcBef>
              <a:buFont typeface="Arial" charset="0"/>
              <a:buChar char="•"/>
              <a:defRPr/>
            </a:pPr>
            <a:r>
              <a:rPr lang="en-US" b="1" dirty="0"/>
              <a:t> </a:t>
            </a:r>
            <a:r>
              <a:rPr lang="zh-CN" altLang="en-US" b="1" dirty="0"/>
              <a:t>子环、理想、商环、环同态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b="1" dirty="0"/>
              <a:t>子环定义及判别</a:t>
            </a:r>
            <a:r>
              <a:rPr lang="en-US" b="1" dirty="0"/>
              <a:t> </a:t>
            </a:r>
            <a:endParaRPr lang="zh-CN" altLang="en-US" b="1" dirty="0"/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b="1" dirty="0"/>
              <a:t>理想、商环、环同态</a:t>
            </a:r>
          </a:p>
          <a:p>
            <a:pPr eaLnBrk="1" hangingPunct="1"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10244" name="灯片编号占位符 4">
            <a:extLst>
              <a:ext uri="{FF2B5EF4-FFF2-40B4-BE49-F238E27FC236}">
                <a16:creationId xmlns:a16="http://schemas.microsoft.com/office/drawing/2014/main" id="{B01EAAD7-F138-45B4-B74B-2DBBB242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911496-E4BE-48E2-A005-C43F981898C4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324AD7-9048-440C-A667-EBFDBA016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环的定义</a:t>
            </a:r>
          </a:p>
        </p:txBody>
      </p:sp>
      <p:sp>
        <p:nvSpPr>
          <p:cNvPr id="10243" name="内容占位符 5">
            <a:extLst>
              <a:ext uri="{FF2B5EF4-FFF2-40B4-BE49-F238E27FC236}">
                <a16:creationId xmlns:a16="http://schemas.microsoft.com/office/drawing/2014/main" id="{4F41CC5C-0ED8-49C0-BD96-A0DD0733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25538"/>
            <a:ext cx="8229600" cy="497205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环定义：设代数系统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,+,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,+&gt;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构成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Abel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群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构成半群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对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运算满足分配律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符号说明：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0, 1,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</a:p>
          <a:p>
            <a:pPr lvl="1"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数环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Z, Q, R, C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关于普通数的加法与乘法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&lt;Z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), +,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/>
          </a:p>
        </p:txBody>
      </p:sp>
      <p:sp>
        <p:nvSpPr>
          <p:cNvPr id="11268" name="灯片编号占位符 4">
            <a:extLst>
              <a:ext uri="{FF2B5EF4-FFF2-40B4-BE49-F238E27FC236}">
                <a16:creationId xmlns:a16="http://schemas.microsoft.com/office/drawing/2014/main" id="{0A1483FC-9546-4FCD-9BBF-70845897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88E968-7417-429B-BD08-89A5DCA07F93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>
            <a:extLst>
              <a:ext uri="{FF2B5EF4-FFF2-40B4-BE49-F238E27FC236}">
                <a16:creationId xmlns:a16="http://schemas.microsoft.com/office/drawing/2014/main" id="{2EA3EEDD-68A8-45BF-9C6F-D284113B7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766" y="0"/>
            <a:ext cx="8229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环的性质</a:t>
            </a:r>
          </a:p>
        </p:txBody>
      </p:sp>
      <p:sp>
        <p:nvSpPr>
          <p:cNvPr id="1027" name="灯片编号占位符 4">
            <a:extLst>
              <a:ext uri="{FF2B5EF4-FFF2-40B4-BE49-F238E27FC236}">
                <a16:creationId xmlns:a16="http://schemas.microsoft.com/office/drawing/2014/main" id="{CE9CA0EB-8FA0-49CB-B583-8BAFBD8D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1237CC-8315-446B-8243-5B4B19BBE98A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4E132DFD-FE4D-4388-A9CD-DCB3BDF60D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341438"/>
          <a:ext cx="7315200" cy="440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文档" r:id="rId4" imgW="3041036" imgH="1828454" progId="Word.Document.8">
                  <p:embed/>
                </p:oleObj>
              </mc:Choice>
              <mc:Fallback>
                <p:oleObj name="文档" r:id="rId4" imgW="3041036" imgH="182845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341438"/>
                        <a:ext cx="7315200" cy="440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C7B325F9-9FC0-44C6-84FA-A8AD275C1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特殊的环</a:t>
            </a:r>
          </a:p>
        </p:txBody>
      </p:sp>
      <p:sp>
        <p:nvSpPr>
          <p:cNvPr id="2052" name="内容占位符 5">
            <a:extLst>
              <a:ext uri="{FF2B5EF4-FFF2-40B4-BE49-F238E27FC236}">
                <a16:creationId xmlns:a16="http://schemas.microsoft.com/office/drawing/2014/main" id="{8EC2CF16-28FA-40C7-91B8-3B3492689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052513"/>
            <a:ext cx="8229600" cy="4900612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交换环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含幺环</a:t>
            </a:r>
          </a:p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无零因子环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=0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实例：数环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为无零因子环当且仅当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为素数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定理：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是环，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为无零因子环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中乘法有消去律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整环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：交换、含幺、无零因子环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除环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&gt; 1,&lt;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构成群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&gt; 1,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交换的除环或者每个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中元素都有逆元的整环</a:t>
            </a:r>
          </a:p>
          <a:p>
            <a:pPr lvl="1"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为除环，不是域</a:t>
            </a:r>
          </a:p>
          <a:p>
            <a:pPr lvl="1"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是域</a:t>
            </a:r>
          </a:p>
          <a:p>
            <a:pPr eaLnBrk="1" hangingPunct="1"/>
            <a:endParaRPr lang="zh-CN" altLang="en-US"/>
          </a:p>
        </p:txBody>
      </p:sp>
      <p:sp>
        <p:nvSpPr>
          <p:cNvPr id="2053" name="灯片编号占位符 4">
            <a:extLst>
              <a:ext uri="{FF2B5EF4-FFF2-40B4-BE49-F238E27FC236}">
                <a16:creationId xmlns:a16="http://schemas.microsoft.com/office/drawing/2014/main" id="{18B8425C-3BC4-456A-A56B-C4E16B9C9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936D40-06B1-4235-9E64-0E61615954D5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01FD376-56BE-45E2-9C77-BFEF5D083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0" name="Object 5">
            <a:extLst>
              <a:ext uri="{FF2B5EF4-FFF2-40B4-BE49-F238E27FC236}">
                <a16:creationId xmlns:a16="http://schemas.microsoft.com/office/drawing/2014/main" id="{77405894-BB4C-40EC-8888-CC079DBBC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953518"/>
              </p:ext>
            </p:extLst>
          </p:nvPr>
        </p:nvGraphicFramePr>
        <p:xfrm>
          <a:off x="2051720" y="4581128"/>
          <a:ext cx="230346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公式" r:id="rId4" imgW="1637589" imgH="495085" progId="Equation.3">
                  <p:embed/>
                </p:oleObj>
              </mc:Choice>
              <mc:Fallback>
                <p:oleObj name="公式" r:id="rId4" imgW="1637589" imgH="4950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581128"/>
                        <a:ext cx="2303463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4F153873-5AF6-4D75-A079-051EB141C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</a:t>
            </a:r>
          </a:p>
        </p:txBody>
      </p:sp>
      <p:sp>
        <p:nvSpPr>
          <p:cNvPr id="11267" name="内容占位符 4">
            <a:extLst>
              <a:ext uri="{FF2B5EF4-FFF2-40B4-BE49-F238E27FC236}">
                <a16:creationId xmlns:a16="http://schemas.microsoft.com/office/drawing/2014/main" id="{2B7CB65D-5E22-4AE4-9911-3BB7FB05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68413"/>
            <a:ext cx="8329612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为不等的素数，证明无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q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阶的整环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证：假设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q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阶的整环，则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,+&gt;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q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阶的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Abel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群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存在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阶元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阶元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a+b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q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,+&gt;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为循环群，令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+ b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为生成元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0,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 ,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x 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pq c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0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为零因子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2292" name="灯片编号占位符 4">
            <a:extLst>
              <a:ext uri="{FF2B5EF4-FFF2-40B4-BE49-F238E27FC236}">
                <a16:creationId xmlns:a16="http://schemas.microsoft.com/office/drawing/2014/main" id="{3589FCE9-4E2E-4937-8AAD-B4162C36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E8A3EF-2688-40C2-BA45-7E27BB0AA55D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A19FABFC-8DBF-47B7-827A-CF60325E8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9575" y="149565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有限域</a:t>
            </a:r>
          </a:p>
        </p:txBody>
      </p:sp>
      <p:sp>
        <p:nvSpPr>
          <p:cNvPr id="12291" name="内容占位符 5">
            <a:extLst>
              <a:ext uri="{FF2B5EF4-FFF2-40B4-BE49-F238E27FC236}">
                <a16:creationId xmlns:a16="http://schemas.microsoft.com/office/drawing/2014/main" id="{20716ED5-D35C-4070-821F-1000F054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68413"/>
            <a:ext cx="8401050" cy="4968875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定义：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为域，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有限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为素数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为整环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&lt;Z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{0},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有限半群，无零元，适合消去律        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&lt;Z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{0},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构成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Abel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群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结论：有限的整环都是域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有限域的特征</a:t>
            </a:r>
          </a:p>
          <a:p>
            <a:pPr lvl="1" eaLnBrk="1" hangingPunct="1"/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为有限域，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,+&gt;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中的阶为域 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的特征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的特征为 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灯片编号占位符 4">
            <a:extLst>
              <a:ext uri="{FF2B5EF4-FFF2-40B4-BE49-F238E27FC236}">
                <a16:creationId xmlns:a16="http://schemas.microsoft.com/office/drawing/2014/main" id="{03B11B43-1C76-468C-A82F-04882C43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12AE23-74C5-4C42-8A94-F48698F36D7C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C9BBC403-99A8-413E-9651-AF45AA16F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有限域的性质</a:t>
            </a:r>
          </a:p>
        </p:txBody>
      </p:sp>
      <p:sp>
        <p:nvSpPr>
          <p:cNvPr id="13315" name="内容占位符 5">
            <a:extLst>
              <a:ext uri="{FF2B5EF4-FFF2-40B4-BE49-F238E27FC236}">
                <a16:creationId xmlns:a16="http://schemas.microsoft.com/office/drawing/2014/main" id="{849969CA-1A2A-4C82-8C5A-B0C39F0CE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49006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为有限域，则存在素数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使得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证明思想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的特征为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A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&lt;1&gt; = { 0, 1,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 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{ 0,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…, 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|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若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则结束；否则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={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可以证明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中的元素两两不同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因此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照此处理，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直到穷尽所有的元素</a:t>
            </a:r>
          </a:p>
        </p:txBody>
      </p:sp>
      <p:sp>
        <p:nvSpPr>
          <p:cNvPr id="14340" name="灯片编号占位符 4">
            <a:extLst>
              <a:ext uri="{FF2B5EF4-FFF2-40B4-BE49-F238E27FC236}">
                <a16:creationId xmlns:a16="http://schemas.microsoft.com/office/drawing/2014/main" id="{BD48EF27-D40E-44DC-843E-C46B9D8D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D5058A-3F44-4407-BE38-597D0EA38B17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8AB51AD4-F9B4-467E-A643-CA66CCE42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9455"/>
            <a:ext cx="788511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有限域应用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素数测试问题</a:t>
            </a:r>
          </a:p>
        </p:txBody>
      </p:sp>
      <p:sp>
        <p:nvSpPr>
          <p:cNvPr id="15362" name="灯片编号占位符 4">
            <a:extLst>
              <a:ext uri="{FF2B5EF4-FFF2-40B4-BE49-F238E27FC236}">
                <a16:creationId xmlns:a16="http://schemas.microsoft.com/office/drawing/2014/main" id="{0DFC3628-75BE-4ADC-9A0C-1E1BD001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B997D6-406A-4F12-A92A-E33CC5EF2C4C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E87556C1-896C-42A4-B4E7-EE9EAF86F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987800"/>
            <a:ext cx="8143875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分析：时间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(log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问题：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该算法只对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进行测试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为合数且输出为</a:t>
            </a:r>
            <a:r>
              <a:rPr lang="zh-CN" altLang="en-US" sz="2400" b="1">
                <a:sym typeface="Symbol" panose="05050102010706020507" pitchFamily="18" charset="2"/>
              </a:rPr>
              <a:t>“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素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数</a:t>
            </a:r>
            <a:r>
              <a:rPr lang="zh-CN" altLang="en-US" sz="2400" b="1">
                <a:sym typeface="Symbol" panose="05050102010706020507" pitchFamily="18" charset="2"/>
              </a:rPr>
              <a:t>”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，则称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为基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伪素数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例如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341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满足上述条件，但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是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341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是合数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53DE24DE-949C-4E21-9520-F1101A8D6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38250"/>
            <a:ext cx="7858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Fermat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小定理：</a:t>
            </a:r>
            <a:r>
              <a:rPr lang="zh-CN" altLang="en-US" sz="2400" b="1">
                <a:latin typeface="Times New Roman" panose="02020603050405020304" pitchFamily="18" charset="0"/>
              </a:rPr>
              <a:t>如果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为素数，则对所有的正整数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>
                <a:latin typeface="Times New Roman" panose="02020603050405020304" pitchFamily="18" charset="0"/>
              </a:rPr>
              <a:t> 0(mod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b="1">
                <a:latin typeface="Times New Roman" panose="02020603050405020304" pitchFamily="18" charset="0"/>
              </a:rPr>
              <a:t>1(mod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1477" name="Rectangle 5">
            <a:extLst>
              <a:ext uri="{FF2B5EF4-FFF2-40B4-BE49-F238E27FC236}">
                <a16:creationId xmlns:a16="http://schemas.microsoft.com/office/drawing/2014/main" id="{0404EACE-B35E-4C24-ADA9-5A210D24D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20938"/>
            <a:ext cx="7761287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测试素数的算法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=2,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检测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b="1">
                <a:latin typeface="Times New Roman" panose="02020603050405020304" pitchFamily="18" charset="0"/>
              </a:rPr>
              <a:t>1(mod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)?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如果回答</a:t>
            </a:r>
            <a:r>
              <a:rPr lang="zh-CN" altLang="en-US" sz="2400" b="1">
                <a:sym typeface="Symbol" panose="05050102010706020507" pitchFamily="18" charset="2"/>
              </a:rPr>
              <a:t>“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>
                <a:sym typeface="Symbol" panose="05050102010706020507" pitchFamily="18" charset="2"/>
              </a:rPr>
              <a:t>”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，输出</a:t>
            </a:r>
            <a:r>
              <a:rPr lang="zh-CN" altLang="en-US" sz="2400" b="1">
                <a:sym typeface="Symbol" panose="05050102010706020507" pitchFamily="18" charset="2"/>
              </a:rPr>
              <a:t>“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素数</a:t>
            </a:r>
            <a:r>
              <a:rPr lang="zh-CN" altLang="en-US" sz="2400" b="1">
                <a:sym typeface="Symbol" panose="05050102010706020507" pitchFamily="18" charset="2"/>
              </a:rPr>
              <a:t>”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；否则输出</a:t>
            </a:r>
            <a:r>
              <a:rPr lang="zh-CN" altLang="en-US" sz="2400" b="1">
                <a:sym typeface="Symbol" panose="05050102010706020507" pitchFamily="18" charset="2"/>
              </a:rPr>
              <a:t>“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合数</a:t>
            </a:r>
            <a:r>
              <a:rPr lang="zh-CN" altLang="en-US" sz="2400" b="1">
                <a:sym typeface="Symbol" panose="05050102010706020507" pitchFamily="18" charset="2"/>
              </a:rPr>
              <a:t>”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/>
      <p:bldP spid="3614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411D9CF6-6CAE-4C80-A456-8230CBDF5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素数测试的随机算法</a:t>
            </a:r>
          </a:p>
        </p:txBody>
      </p:sp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DA503331-EEFB-4AA3-BB62-0CB38C20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FC38677-8505-49F1-A05C-155BB165E2A3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B5B905AF-0B0B-4DF4-85FD-ED5CCD72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08275"/>
            <a:ext cx="8129587" cy="35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新问题：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Fermat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小定理的条件只是必要条件，满足条件的可能是合数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对所有与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互素的正整数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，都满足上述条件的合数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称为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Carmichael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数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如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561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1105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1729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2465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等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Carmichael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数非常少，小于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8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的只有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255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可以证明：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为合数，但不是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Carmichael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数，采用随机选取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solidFill>
                  <a:srgbClr val="A50021"/>
                </a:solidFill>
                <a:sym typeface="Symbol" panose="05050102010706020507" pitchFamily="18" charset="2"/>
              </a:rPr>
              <a:t>—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中的数进行测试，测试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为合数的概率至少为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1/2.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但是这个算法不能解决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Carmichael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数的问题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FE1AC1E1-2578-465D-856F-0EFB31124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4750"/>
            <a:ext cx="8129587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改进方法：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随机选取</a:t>
            </a:r>
            <a:r>
              <a:rPr lang="en-US" altLang="zh-CN" sz="2400" b="1">
                <a:latin typeface="Times New Roman" panose="02020603050405020304" pitchFamily="18" charset="0"/>
              </a:rPr>
              <a:t>2--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-2</a:t>
            </a:r>
            <a:r>
              <a:rPr lang="zh-CN" altLang="en-US" sz="2400" b="1">
                <a:latin typeface="Times New Roman" panose="02020603050405020304" pitchFamily="18" charset="0"/>
              </a:rPr>
              <a:t>中的数，进行测试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</a:rPr>
              <a:t>例如取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=3</a:t>
            </a:r>
            <a:r>
              <a:rPr lang="zh-CN" altLang="en-US" sz="2400" b="1">
                <a:latin typeface="Times New Roman" panose="02020603050405020304" pitchFamily="18" charset="0"/>
              </a:rPr>
              <a:t>，则  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340</a:t>
            </a:r>
            <a:r>
              <a:rPr lang="en-US" altLang="zh-CN" sz="2400" b="1">
                <a:latin typeface="Times New Roman" panose="02020603050405020304" pitchFamily="18" charset="0"/>
              </a:rPr>
              <a:t>(mod 341)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b="1">
                <a:latin typeface="Times New Roman" panose="02020603050405020304" pitchFamily="18" charset="0"/>
              </a:rPr>
              <a:t> 56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341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不是素数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E7A3D5A0-F919-4960-97BA-15D97F3FE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素数测试的另一个条件</a:t>
            </a:r>
          </a:p>
        </p:txBody>
      </p:sp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6A271F2F-3503-4976-B1DC-DF414808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4FF56D-63E9-44D8-AD96-CDC1EEEC77A6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60D4357-71AC-48DB-8BCB-EE91F4B3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79914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如果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为素数，则方程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b="1">
                <a:latin typeface="Times New Roman" panose="02020603050405020304" pitchFamily="18" charset="0"/>
              </a:rPr>
              <a:t> 1(mod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的根只有两个，即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=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（或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5572" name="Rectangle 4">
            <a:extLst>
              <a:ext uri="{FF2B5EF4-FFF2-40B4-BE49-F238E27FC236}">
                <a16:creationId xmlns:a16="http://schemas.microsoft.com/office/drawing/2014/main" id="{6273F948-2356-4C59-8F11-6DFADDE21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205038"/>
            <a:ext cx="8207375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2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证明 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1= 0 (mod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</a:t>
            </a:r>
            <a:r>
              <a:rPr lang="en-US" altLang="zh-CN" sz="2400" b="1">
                <a:latin typeface="Times New Roman" panose="02020603050405020304" pitchFamily="18" charset="0"/>
              </a:rPr>
              <a:t>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+1)(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1) = 0(mod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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+1=</a:t>
            </a:r>
            <a:r>
              <a:rPr lang="en-US" altLang="zh-CN" sz="2400" b="1">
                <a:latin typeface="Times New Roman" panose="02020603050405020304" pitchFamily="18" charset="0"/>
              </a:rPr>
              <a:t>0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1= 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(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域中没有零因子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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=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=1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称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 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的根为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非平凡的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365573" name="Rectangle 5">
            <a:extLst>
              <a:ext uri="{FF2B5EF4-FFF2-40B4-BE49-F238E27FC236}">
                <a16:creationId xmlns:a16="http://schemas.microsoft.com/office/drawing/2014/main" id="{7F8F7DD3-FABB-4FBF-AF54-0B9EA781F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37063"/>
            <a:ext cx="8135937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2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根据定理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，如果方程有非平凡的根，则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为合数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例如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(mod 5) </a:t>
            </a:r>
            <a:r>
              <a:rPr lang="en-US" altLang="zh-CN" sz="2400" b="1">
                <a:latin typeface="Times New Roman" panose="02020603050405020304" pitchFamily="18" charset="0"/>
              </a:rPr>
              <a:t> 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=1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(mod 12) 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=1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=5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=7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=11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是非平凡的根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2" grpId="0"/>
      <p:bldP spid="3655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44649385-EB21-4EE2-B9E7-5D43D8DAE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Miller-Rabin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</a:t>
            </a:r>
          </a:p>
        </p:txBody>
      </p:sp>
      <p:sp>
        <p:nvSpPr>
          <p:cNvPr id="3075" name="灯片编号占位符 5">
            <a:extLst>
              <a:ext uri="{FF2B5EF4-FFF2-40B4-BE49-F238E27FC236}">
                <a16:creationId xmlns:a16="http://schemas.microsoft.com/office/drawing/2014/main" id="{FCF14490-7C55-40B7-9F6F-FD911ECE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29E2FF-4D6F-4DA8-BF06-0DD7A59216D9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3077" name="Picture 3">
            <a:extLst>
              <a:ext uri="{FF2B5EF4-FFF2-40B4-BE49-F238E27FC236}">
                <a16:creationId xmlns:a16="http://schemas.microsoft.com/office/drawing/2014/main" id="{49BBA40A-4E3F-4C36-97BA-9569636D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644900"/>
            <a:ext cx="20161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F933C71A-D774-4DA3-8F65-E30DC6260D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773238"/>
          <a:ext cx="68580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公式" r:id="rId5" imgW="3085920" imgH="241200" progId="Equation.3">
                  <p:embed/>
                </p:oleObj>
              </mc:Choice>
              <mc:Fallback>
                <p:oleObj name="公式" r:id="rId5" imgW="308592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773238"/>
                        <a:ext cx="6858000" cy="5365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5">
            <a:extLst>
              <a:ext uri="{FF2B5EF4-FFF2-40B4-BE49-F238E27FC236}">
                <a16:creationId xmlns:a16="http://schemas.microsoft.com/office/drawing/2014/main" id="{6ABC0DDC-2982-4980-83B0-FCCDAA7FF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741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为奇素数，存在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q, m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使得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1=2</a:t>
            </a:r>
            <a:r>
              <a:rPr lang="en-US" altLang="zh-CN" sz="2400" b="1" i="1" baseline="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1).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序列</a:t>
            </a:r>
          </a:p>
        </p:txBody>
      </p:sp>
      <p:sp>
        <p:nvSpPr>
          <p:cNvPr id="3079" name="Rectangle 6">
            <a:extLst>
              <a:ext uri="{FF2B5EF4-FFF2-40B4-BE49-F238E27FC236}">
                <a16:creationId xmlns:a16="http://schemas.microsoft.com/office/drawing/2014/main" id="{41A5A091-507D-40CB-A65B-9630A052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420938"/>
            <a:ext cx="743108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的最后一项为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(mod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且每一项是前面一项的平方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080" name="Rectangle 7">
            <a:extLst>
              <a:ext uri="{FF2B5EF4-FFF2-40B4-BE49-F238E27FC236}">
                <a16:creationId xmlns:a16="http://schemas.microsoft.com/office/drawing/2014/main" id="{86F77FE7-39BB-46E2-A106-540D03586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437063"/>
            <a:ext cx="7273925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是否为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且它的后一项是否为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1.</a:t>
            </a: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如果其后项为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，但本项不等于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则它就是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非平凡的根，从而知道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不是素数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</p:txBody>
      </p:sp>
      <p:sp>
        <p:nvSpPr>
          <p:cNvPr id="3081" name="Rectangle 8">
            <a:extLst>
              <a:ext uri="{FF2B5EF4-FFF2-40B4-BE49-F238E27FC236}">
                <a16:creationId xmlns:a16="http://schemas.microsoft.com/office/drawing/2014/main" id="{23FF5FDE-4339-492D-9734-201E5D20B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997200"/>
            <a:ext cx="47434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对于任意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=0, 1, … 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判断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B5D13D4B-7644-4514-A125-265F675B9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Miller-Rabin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算法（续）</a:t>
            </a:r>
          </a:p>
        </p:txBody>
      </p:sp>
      <p:sp>
        <p:nvSpPr>
          <p:cNvPr id="4099" name="灯片编号占位符 4">
            <a:extLst>
              <a:ext uri="{FF2B5EF4-FFF2-40B4-BE49-F238E27FC236}">
                <a16:creationId xmlns:a16="http://schemas.microsoft.com/office/drawing/2014/main" id="{DC31AC0C-4E9C-4216-8568-D30E61D9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C5B3CD-94B3-4D56-A145-1A20907789C4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98473961-A9CD-4257-BEAD-03AA0B60B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052513"/>
            <a:ext cx="737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例如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=561,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-1=560=2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</a:rPr>
              <a:t> 35,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=7,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构造的序列为</a:t>
            </a:r>
            <a:r>
              <a:rPr lang="zh-CN" altLang="en-US" sz="15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endParaRPr lang="zh-CN" altLang="en-US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EB81E77E-82EB-4760-B585-34FCB461F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557338"/>
          <a:ext cx="4681538" cy="271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公式" r:id="rId4" imgW="2286000" imgH="1308100" progId="Equation.3">
                  <p:embed/>
                </p:oleObj>
              </mc:Choice>
              <mc:Fallback>
                <p:oleObj name="公式" r:id="rId4" imgW="2286000" imgH="1308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557338"/>
                        <a:ext cx="4681538" cy="2716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69" name="Rectangle 5">
            <a:extLst>
              <a:ext uri="{FF2B5EF4-FFF2-40B4-BE49-F238E27FC236}">
                <a16:creationId xmlns:a16="http://schemas.microsoft.com/office/drawing/2014/main" id="{2026A4A1-0B0C-48F2-BC2B-9E0059E1F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97425"/>
            <a:ext cx="7704137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随机选择正整数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{2,3,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-1},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然后进行上述测试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可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以证明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该算法每次测试出错的概率至多为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1/2.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重复运行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次，可以将出错概率降到至多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baseline="30000">
                <a:solidFill>
                  <a:srgbClr val="A5002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 b="1" baseline="3000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id="{4136AAC2-E5E1-48B9-B624-738B62499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076700"/>
            <a:ext cx="27082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可以判定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为合数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r>
              <a:rPr lang="en-US" altLang="zh-CN" sz="42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>
            <a:extLst>
              <a:ext uri="{FF2B5EF4-FFF2-40B4-BE49-F238E27FC236}">
                <a16:creationId xmlns:a16="http://schemas.microsoft.com/office/drawing/2014/main" id="{DE4A66AE-1FEC-4EEE-9708-A8B28752A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838" y="461646"/>
            <a:ext cx="8686800" cy="7747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子环、理想、商环、环同态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0233EB19-7A60-45E6-8D38-82AE570D3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1663" y="1562100"/>
            <a:ext cx="7931150" cy="4530725"/>
          </a:xfrm>
        </p:spPr>
        <p:txBody>
          <a:bodyPr/>
          <a:lstStyle/>
          <a:p>
            <a:pPr eaLnBrk="1" hangingPunct="1"/>
            <a:r>
              <a:rPr lang="en-US" altLang="zh-CN" dirty="0"/>
              <a:t> </a:t>
            </a:r>
            <a:r>
              <a:rPr lang="zh-CN" altLang="en-US" b="1" dirty="0"/>
              <a:t>子环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zh-CN" altLang="en-US" sz="1800" b="1" dirty="0"/>
              <a:t>子环定义</a:t>
            </a:r>
            <a:endParaRPr lang="zh-CN" altLang="en-US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zh-CN" altLang="en-US" sz="1800" b="1" dirty="0"/>
              <a:t>子环判别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 理想</a:t>
            </a:r>
          </a:p>
          <a:p>
            <a:pPr eaLnBrk="1" hangingPunct="1"/>
            <a:r>
              <a:rPr lang="zh-CN" altLang="en-US" b="1" dirty="0"/>
              <a:t> 商环</a:t>
            </a:r>
          </a:p>
          <a:p>
            <a:pPr eaLnBrk="1" hangingPunct="1"/>
            <a:r>
              <a:rPr lang="zh-CN" altLang="en-US" b="1" dirty="0"/>
              <a:t> 环同态及其性质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5123" name="灯片编号占位符 5">
            <a:extLst>
              <a:ext uri="{FF2B5EF4-FFF2-40B4-BE49-F238E27FC236}">
                <a16:creationId xmlns:a16="http://schemas.microsoft.com/office/drawing/2014/main" id="{CE686D9D-6C30-48B7-8883-A323C615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A5E0EF-A735-4A99-91C1-0A88F37056E3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B071291D-F05C-4ADB-B5FF-A4F7A169E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子环定义及其判别</a:t>
            </a:r>
          </a:p>
        </p:txBody>
      </p:sp>
      <p:sp>
        <p:nvSpPr>
          <p:cNvPr id="17412" name="内容占位符 5">
            <a:extLst>
              <a:ext uri="{FF2B5EF4-FFF2-40B4-BE49-F238E27FC236}">
                <a16:creationId xmlns:a16="http://schemas.microsoft.com/office/drawing/2014/main" id="{A4C98DEE-DC99-48DB-AF76-4162C54ED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7952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定义：非空子集关于环中运算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构成环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Z, +,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的子环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子环就是子代数，平凡子环存在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判别：子加群判别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半群判别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子整环、子除环、子域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/>
          </a:p>
        </p:txBody>
      </p:sp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418C41DD-2631-47B3-B9DC-E22B52AA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E17D03-ED2E-4B61-AE46-265EAB98ACF5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375C5BCA-99FE-49D3-9754-2B9EA29F2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94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理想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78AFE6-69E0-4C29-A5C3-2F34A5673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052513"/>
            <a:ext cx="8229600" cy="4786312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理想：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是环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, +,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/>
              </a:rPr>
              <a:t>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的非空子集，满足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 + &gt;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构成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Abel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群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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 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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 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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ts val="1800"/>
              </a:spcBef>
              <a:buFont typeface="Arial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说明：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左理想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只满足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 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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与右理想</a:t>
            </a:r>
          </a:p>
          <a:p>
            <a:pPr lvl="1" eaLnBrk="1" hangingPunct="1">
              <a:spcBef>
                <a:spcPts val="1800"/>
              </a:spcBef>
              <a:spcAft>
                <a:spcPts val="1200"/>
              </a:spcAft>
              <a:buFont typeface="Wingdings" pitchFamily="2" charset="2"/>
              <a:buNone/>
              <a:defRPr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   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                          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为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的左理想，不是右理想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spcBef>
                <a:spcPts val="1200"/>
              </a:spcBef>
              <a:buFont typeface="Arial" charset="0"/>
              <a:buChar char="–"/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理想是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的子环，但是子环不一定是理想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 indent="0" eaLnBrk="1" hangingPunct="1">
              <a:buFont typeface="Wingdings" pitchFamily="2" charset="2"/>
              <a:buNone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&lt; Z, +,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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是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 R, + 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/>
              </a:rPr>
              <a:t>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的子环，但不是理想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ts val="1800"/>
              </a:spcBef>
              <a:buFont typeface="Arial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平凡理想：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{ 0 }, 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自身</a:t>
            </a:r>
          </a:p>
          <a:p>
            <a:pPr eaLnBrk="1" hangingPunct="1"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6149" name="灯片编号占位符 4">
            <a:extLst>
              <a:ext uri="{FF2B5EF4-FFF2-40B4-BE49-F238E27FC236}">
                <a16:creationId xmlns:a16="http://schemas.microsoft.com/office/drawing/2014/main" id="{05C51B0F-15FA-4538-84E0-9D40CEE3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926145-3EED-466A-BCBD-D90B6DF5175C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2000EC37-4C21-4012-AD4E-85B22CD03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61C4FE51-8A8C-432B-8A70-21AD3E927C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122016"/>
              </p:ext>
            </p:extLst>
          </p:nvPr>
        </p:nvGraphicFramePr>
        <p:xfrm>
          <a:off x="1835696" y="3212976"/>
          <a:ext cx="20828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公式" r:id="rId4" imgW="1117600" imgH="457200" progId="Equation.3">
                  <p:embed/>
                </p:oleObj>
              </mc:Choice>
              <mc:Fallback>
                <p:oleObj name="公式" r:id="rId4" imgW="11176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212976"/>
                        <a:ext cx="2082800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290E9AC9-6C53-4D73-8BCE-A760B0247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</a:t>
            </a:r>
          </a:p>
        </p:txBody>
      </p:sp>
      <p:sp>
        <p:nvSpPr>
          <p:cNvPr id="19458" name="灯片编号占位符 4">
            <a:extLst>
              <a:ext uri="{FF2B5EF4-FFF2-40B4-BE49-F238E27FC236}">
                <a16:creationId xmlns:a16="http://schemas.microsoft.com/office/drawing/2014/main" id="{DCC6B754-125C-4A04-88E1-5B313526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BF211E1-F997-41B8-A28B-C237931CEDFB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1DF627A-123B-4CA1-A09A-93BA4729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81075"/>
            <a:ext cx="8066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为交换环，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  </a:t>
            </a:r>
            <a:r>
              <a:rPr lang="en-US" altLang="zh-CN" sz="2400" b="1">
                <a:latin typeface="Times New Roman" panose="02020603050405020304" pitchFamily="18" charset="0"/>
              </a:rPr>
              <a:t>0,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为域当且仅当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只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含有平凡理想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7860" name="Rectangle 4">
            <a:extLst>
              <a:ext uri="{FF2B5EF4-FFF2-40B4-BE49-F238E27FC236}">
                <a16:creationId xmlns:a16="http://schemas.microsoft.com/office/drawing/2014/main" id="{23FCDF58-F7A1-4ADB-A2AE-E2F07C1D4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916113"/>
            <a:ext cx="7994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</a:t>
            </a:r>
            <a:r>
              <a:rPr lang="zh-CN" altLang="en-US" sz="2400" b="1">
                <a:sym typeface="Symbol" panose="05050102010706020507" pitchFamily="18" charset="2"/>
              </a:rPr>
              <a:t>“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/>
              <a:t>”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设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为理想，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>
                <a:latin typeface="Times New Roman" panose="02020603050405020304" pitchFamily="18" charset="0"/>
              </a:rPr>
              <a:t>{ 0 }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，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>
                <a:latin typeface="Times New Roman" panose="02020603050405020304" pitchFamily="18" charset="0"/>
              </a:rPr>
              <a:t>0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1=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7861" name="Rectangle 5">
            <a:extLst>
              <a:ext uri="{FF2B5EF4-FFF2-40B4-BE49-F238E27FC236}">
                <a16:creationId xmlns:a16="http://schemas.microsoft.com/office/drawing/2014/main" id="{EF387D95-285E-479E-834B-8C3FCDBDD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41663"/>
            <a:ext cx="77374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dirty="0">
                <a:sym typeface="Symbol" panose="05050102010706020507" pitchFamily="18" charset="2"/>
              </a:rPr>
              <a:t>“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400" b="1" dirty="0"/>
              <a:t>”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dirty="0">
                <a:latin typeface="Times New Roman" panose="02020603050405020304" pitchFamily="18" charset="0"/>
              </a:rPr>
              <a:t>0,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令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x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{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x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}. 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证明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x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为理想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      </a:t>
            </a:r>
          </a:p>
        </p:txBody>
      </p:sp>
      <p:sp>
        <p:nvSpPr>
          <p:cNvPr id="377862" name="Rectangle 6">
            <a:extLst>
              <a:ext uri="{FF2B5EF4-FFF2-40B4-BE49-F238E27FC236}">
                <a16:creationId xmlns:a16="http://schemas.microsoft.com/office/drawing/2014/main" id="{5E12198C-6D13-4FF5-9E2A-5B61DEA53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644900"/>
            <a:ext cx="7786687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400" b="1" i="1">
                <a:latin typeface="Times New Roman" panose="02020603050405020304" pitchFamily="18" charset="0"/>
              </a:rPr>
              <a:t>r</a:t>
            </a:r>
            <a:r>
              <a:rPr lang="fr-FR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fr-FR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fr-FR" altLang="zh-CN" sz="2400" b="1" i="1">
                <a:latin typeface="Times New Roman" panose="02020603050405020304" pitchFamily="18" charset="0"/>
              </a:rPr>
              <a:t>R 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r</a:t>
            </a:r>
            <a:r>
              <a:rPr lang="fr-FR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fr-FR" altLang="zh-CN" sz="2400" b="1" i="1">
                <a:latin typeface="Times New Roman" panose="02020603050405020304" pitchFamily="18" charset="0"/>
              </a:rPr>
              <a:t>r</a:t>
            </a:r>
            <a:r>
              <a:rPr lang="fr-FR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fr-FR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fr-FR" altLang="zh-CN" sz="2400" b="1" i="1">
                <a:latin typeface="Times New Roman" panose="02020603050405020304" pitchFamily="18" charset="0"/>
              </a:rPr>
              <a:t>r</a:t>
            </a:r>
            <a:r>
              <a:rPr lang="fr-FR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fr-FR" altLang="zh-CN" sz="2400" b="1" i="1">
                <a:latin typeface="Times New Roman" panose="02020603050405020304" pitchFamily="18" charset="0"/>
              </a:rPr>
              <a:t>R x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因此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+ &gt;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构成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Abel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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R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R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,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R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R x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是理想，因此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存在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使得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1,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有逆元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0" grpId="0"/>
      <p:bldP spid="377861" grpId="0"/>
      <p:bldP spid="3778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2">
            <a:extLst>
              <a:ext uri="{FF2B5EF4-FFF2-40B4-BE49-F238E27FC236}">
                <a16:creationId xmlns:a16="http://schemas.microsoft.com/office/drawing/2014/main" id="{D7002945-6976-452E-BB8F-D3DF1089B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商环</a:t>
            </a:r>
          </a:p>
        </p:txBody>
      </p:sp>
      <p:graphicFrame>
        <p:nvGraphicFramePr>
          <p:cNvPr id="379914" name="Object 10">
            <a:extLst>
              <a:ext uri="{FF2B5EF4-FFF2-40B4-BE49-F238E27FC236}">
                <a16:creationId xmlns:a16="http://schemas.microsoft.com/office/drawing/2014/main" id="{25BE83C7-00A7-48CC-BA4B-F31085314F6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838325" y="4868863"/>
          <a:ext cx="52498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公式" r:id="rId4" imgW="2590560" imgH="482400" progId="Equation.3">
                  <p:embed/>
                </p:oleObj>
              </mc:Choice>
              <mc:Fallback>
                <p:oleObj name="公式" r:id="rId4" imgW="2590560" imgH="482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4868863"/>
                        <a:ext cx="524986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灯片编号占位符 5">
            <a:extLst>
              <a:ext uri="{FF2B5EF4-FFF2-40B4-BE49-F238E27FC236}">
                <a16:creationId xmlns:a16="http://schemas.microsoft.com/office/drawing/2014/main" id="{CF5A31DB-717A-43A7-A396-C8414C98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83DCA4-5B92-4A80-BF97-A25A60A6AFC2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5" name="Rectangle 3">
            <a:extLst>
              <a:ext uri="{FF2B5EF4-FFF2-40B4-BE49-F238E27FC236}">
                <a16:creationId xmlns:a16="http://schemas.microsoft.com/office/drawing/2014/main" id="{A3816519-6430-4082-8CCB-75175C39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4929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79908" name="Object 4">
            <a:extLst>
              <a:ext uri="{FF2B5EF4-FFF2-40B4-BE49-F238E27FC236}">
                <a16:creationId xmlns:a16="http://schemas.microsoft.com/office/drawing/2014/main" id="{AFE142AD-2DB0-4EEC-A864-A28EBEFE3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292600"/>
          <a:ext cx="46561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公式" r:id="rId6" imgW="2234880" imgH="228600" progId="Equation.3">
                  <p:embed/>
                </p:oleObj>
              </mc:Choice>
              <mc:Fallback>
                <p:oleObj name="公式" r:id="rId6" imgW="22348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292600"/>
                        <a:ext cx="465613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09" name="Rectangle 5">
            <a:extLst>
              <a:ext uri="{FF2B5EF4-FFF2-40B4-BE49-F238E27FC236}">
                <a16:creationId xmlns:a16="http://schemas.microsoft.com/office/drawing/2014/main" id="{7D18A5C5-0F45-4AFD-82C3-BD438ACBF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716338"/>
            <a:ext cx="232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注：良定义验证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C142B8B-02FF-4965-9A26-883E03D2D959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196975"/>
            <a:ext cx="8001000" cy="2386013"/>
            <a:chOff x="612" y="981"/>
            <a:chExt cx="4491" cy="1503"/>
          </a:xfrm>
        </p:grpSpPr>
        <p:graphicFrame>
          <p:nvGraphicFramePr>
            <p:cNvPr id="7172" name="Object 7">
              <a:extLst>
                <a:ext uri="{FF2B5EF4-FFF2-40B4-BE49-F238E27FC236}">
                  <a16:creationId xmlns:a16="http://schemas.microsoft.com/office/drawing/2014/main" id="{DA9141E0-D248-48DF-9B5C-5962116E06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1298"/>
            <a:ext cx="2161" cy="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" name="公式" r:id="rId8" imgW="1612800" imgH="711000" progId="Equation.3">
                    <p:embed/>
                  </p:oleObj>
                </mc:Choice>
                <mc:Fallback>
                  <p:oleObj name="公式" r:id="rId8" imgW="1612800" imgH="711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298"/>
                          <a:ext cx="2161" cy="9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8" name="Rectangle 8">
              <a:extLst>
                <a:ext uri="{FF2B5EF4-FFF2-40B4-BE49-F238E27FC236}">
                  <a16:creationId xmlns:a16="http://schemas.microsoft.com/office/drawing/2014/main" id="{542777E6-649D-4561-BB75-327995D49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981"/>
              <a:ext cx="26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D </a:t>
              </a:r>
              <a:r>
                <a:rPr lang="zh-CN" altLang="en-US" sz="2400" b="1">
                  <a:latin typeface="Times New Roman" panose="02020603050405020304" pitchFamily="18" charset="0"/>
                </a:rPr>
                <a:t>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R 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的理想，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sz="1200" b="1">
                  <a:latin typeface="Times New Roman" panose="02020603050405020304" pitchFamily="18" charset="0"/>
                  <a:sym typeface="Symbol" panose="05050102010706020507" pitchFamily="18" charset="2"/>
                </a:rPr>
                <a:t>       </a:t>
              </a:r>
            </a:p>
          </p:txBody>
        </p:sp>
        <p:sp>
          <p:nvSpPr>
            <p:cNvPr id="7179" name="Rectangle 9">
              <a:extLst>
                <a:ext uri="{FF2B5EF4-FFF2-40B4-BE49-F238E27FC236}">
                  <a16:creationId xmlns:a16="http://schemas.microsoft.com/office/drawing/2014/main" id="{F3AE08B8-6BF4-4626-9717-57F311514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251"/>
              <a:ext cx="44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称 </a:t>
              </a:r>
              <a:r>
                <a:rPr lang="en-US" altLang="zh-CN" sz="2400" b="1">
                  <a:latin typeface="Times New Roman" panose="02020603050405020304" pitchFamily="18" charset="0"/>
                </a:rPr>
                <a:t>&lt;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>
                  <a:latin typeface="Times New Roman" panose="02020603050405020304" pitchFamily="18" charset="0"/>
                </a:rPr>
                <a:t>/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>
                  <a:latin typeface="Times New Roman" panose="02020603050405020304" pitchFamily="18" charset="0"/>
                </a:rPr>
                <a:t>, + ,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 </a:t>
              </a:r>
              <a:r>
                <a:rPr lang="en-US" altLang="zh-CN" sz="2400" b="1">
                  <a:latin typeface="Times New Roman" panose="02020603050405020304" pitchFamily="18" charset="0"/>
                </a:rPr>
                <a:t>&gt;  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构成环，为 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R  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关于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D 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的</a:t>
              </a:r>
              <a:r>
                <a:rPr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商环</a:t>
              </a:r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E11E625B-6421-465A-BEAF-BC2591040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商环的实例</a:t>
            </a:r>
          </a:p>
        </p:txBody>
      </p:sp>
      <p:sp>
        <p:nvSpPr>
          <p:cNvPr id="19459" name="内容占位符 4">
            <a:extLst>
              <a:ext uri="{FF2B5EF4-FFF2-40B4-BE49-F238E27FC236}">
                <a16:creationId xmlns:a16="http://schemas.microsoft.com/office/drawing/2014/main" id="{590D9A54-19B1-452E-A9BA-40E5E192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438"/>
            <a:ext cx="86868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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理想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{ 0 }, { 0, 2, 4 },  {0, 3}, 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商环 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/{ 0 } = { { 0 }, { 1 }, { 2 }, { 3 }, { 4 }, { 5 } }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/{ 0, 3 } = { {0, 3}, {1, 4}, {2, 5} }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Z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/{ 0, 2, 4 } = { { 0, 2, 4 }, {1, 3, 5 } }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b="1"/>
          </a:p>
        </p:txBody>
      </p:sp>
      <p:sp>
        <p:nvSpPr>
          <p:cNvPr id="20484" name="灯片编号占位符 4">
            <a:extLst>
              <a:ext uri="{FF2B5EF4-FFF2-40B4-BE49-F238E27FC236}">
                <a16:creationId xmlns:a16="http://schemas.microsoft.com/office/drawing/2014/main" id="{ACB8D16A-70F0-4D46-BEB9-612951A8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AAFA4D-C33B-49A9-9BF5-58B65BA48721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C06F19C8-D001-4B95-B7DC-39B429BBA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环同态</a:t>
            </a:r>
          </a:p>
        </p:txBody>
      </p:sp>
      <p:sp>
        <p:nvSpPr>
          <p:cNvPr id="20483" name="内容占位符 5">
            <a:extLst>
              <a:ext uri="{FF2B5EF4-FFF2-40B4-BE49-F238E27FC236}">
                <a16:creationId xmlns:a16="http://schemas.microsoft.com/office/drawing/2014/main" id="{5226AD67-22CA-4D74-A233-B0CB4754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环同态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同态核：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}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为整数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Z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0 }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灯片编号占位符 4">
            <a:extLst>
              <a:ext uri="{FF2B5EF4-FFF2-40B4-BE49-F238E27FC236}">
                <a16:creationId xmlns:a16="http://schemas.microsoft.com/office/drawing/2014/main" id="{1D5C8F1A-26F5-439C-98E8-918BBDD7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4AFB7C-3544-43FA-AAA8-D2E25A6CD16D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C927D56C-F1E2-4885-BCDE-4CC32479E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环同态的性质</a:t>
            </a:r>
          </a:p>
        </p:txBody>
      </p:sp>
      <p:sp>
        <p:nvSpPr>
          <p:cNvPr id="21508" name="内容占位符 4">
            <a:extLst>
              <a:ext uri="{FF2B5EF4-FFF2-40B4-BE49-F238E27FC236}">
                <a16:creationId xmlns:a16="http://schemas.microsoft.com/office/drawing/2014/main" id="{E2C4D3A3-596E-462B-83CA-98F6677B8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68413"/>
            <a:ext cx="8229600" cy="47577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(0) = 0,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(1) = 1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(1)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的子环，则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的子环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(2)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的子环，则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的子环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(3)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的理想，则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的理想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(4)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的理想，则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的理想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= {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)=0}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，则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的理想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．同态基本定理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的任何商环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R/D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的同态像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若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/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5914F7B8-CBF8-4DE9-B1D6-87476B1B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A4D3EE-7892-4AE0-AE90-5FE8C9F3C65A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3334378B-94ED-4C71-8037-7ACC7CEC7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性质的证明</a:t>
            </a:r>
          </a:p>
        </p:txBody>
      </p:sp>
      <p:sp>
        <p:nvSpPr>
          <p:cNvPr id="23554" name="灯片编号占位符 4">
            <a:extLst>
              <a:ext uri="{FF2B5EF4-FFF2-40B4-BE49-F238E27FC236}">
                <a16:creationId xmlns:a16="http://schemas.microsoft.com/office/drawing/2014/main" id="{07C010E6-D7AF-4B97-A749-C3C88E22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3FAB49-7449-457B-8EF3-96F582070C7D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3899DE69-06AD-45B7-85B3-8A73C5892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69850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证：</a:t>
            </a:r>
            <a:r>
              <a:rPr lang="en-US" altLang="zh-CN" sz="2400" b="1">
                <a:latin typeface="Times New Roman" panose="02020603050405020304" pitchFamily="18" charset="0"/>
              </a:rPr>
              <a:t>2. </a:t>
            </a:r>
            <a:r>
              <a:rPr lang="fr-FR" altLang="zh-CN" sz="2400" b="1">
                <a:latin typeface="Times New Roman" panose="02020603050405020304" pitchFamily="18" charset="0"/>
              </a:rPr>
              <a:t>(2)</a:t>
            </a:r>
            <a:r>
              <a:rPr lang="fr-FR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fr-FR" sz="2400" b="1">
                <a:solidFill>
                  <a:srgbClr val="A50021"/>
                </a:solidFill>
                <a:latin typeface="Times New Roman" panose="02020603050405020304" pitchFamily="18" charset="0"/>
              </a:rPr>
              <a:t>证 </a:t>
            </a:r>
            <a:r>
              <a:rPr lang="fr-FR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400" b="1" baseline="300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fr-FR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fr-FR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fr-FR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fr-FR" altLang="zh-CN" sz="2400" b="1" baseline="-250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fr-FR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的子环</a:t>
            </a:r>
            <a:r>
              <a:rPr lang="fr-FR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8100" name="Rectangle 4">
            <a:extLst>
              <a:ext uri="{FF2B5EF4-FFF2-40B4-BE49-F238E27FC236}">
                <a16:creationId xmlns:a16="http://schemas.microsoft.com/office/drawing/2014/main" id="{15DF39FB-1769-435C-AB54-C614C055C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7389812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42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的子加群，且为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Abel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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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使得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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x 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同理，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88101" name="Rectangle 5">
            <a:extLst>
              <a:ext uri="{FF2B5EF4-FFF2-40B4-BE49-F238E27FC236}">
                <a16:creationId xmlns:a16="http://schemas.microsoft.com/office/drawing/2014/main" id="{1265A063-9AF6-4CA7-B821-DEF7FDC3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00213"/>
            <a:ext cx="7489825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57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fr-FR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lang="fr-FR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非空</a:t>
            </a:r>
            <a:r>
              <a:rPr lang="zh-CN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T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使得 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f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i="1">
                <a:latin typeface="Times New Roman" panose="02020603050405020304" pitchFamily="18" charset="0"/>
              </a:rPr>
              <a:t>y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i="1">
                <a:latin typeface="Times New Roman" panose="02020603050405020304" pitchFamily="18" charset="0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T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i="1">
                <a:latin typeface="Times New Roman" panose="02020603050405020304" pitchFamily="18" charset="0"/>
              </a:rPr>
              <a:t>y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fr-FR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f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T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fr-FR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8102" name="Rectangle 6">
            <a:extLst>
              <a:ext uri="{FF2B5EF4-FFF2-40B4-BE49-F238E27FC236}">
                <a16:creationId xmlns:a16="http://schemas.microsoft.com/office/drawing/2014/main" id="{9589CB3C-7EE2-4FE5-BA82-024604979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500438"/>
            <a:ext cx="626586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是理想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099" grpId="0"/>
      <p:bldP spid="388100" grpId="0"/>
      <p:bldP spid="388101" grpId="0"/>
      <p:bldP spid="38810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87F9CD9A-F2F2-4416-9AC3-1DE5C0123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性质证明（续）</a:t>
            </a:r>
          </a:p>
        </p:txBody>
      </p:sp>
      <p:sp>
        <p:nvSpPr>
          <p:cNvPr id="24578" name="灯片编号占位符 4">
            <a:extLst>
              <a:ext uri="{FF2B5EF4-FFF2-40B4-BE49-F238E27FC236}">
                <a16:creationId xmlns:a16="http://schemas.microsoft.com/office/drawing/2014/main" id="{FA7F55BD-C028-4F9E-AD9A-315FEC4C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DF13AC-DE01-4ADE-8FA1-1F9B76F6681E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04FE33E-C018-4105-BF44-2F47307A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25538"/>
            <a:ext cx="7416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ker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f 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= {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0 } </a:t>
            </a:r>
            <a:endParaRPr lang="en-US" altLang="zh-CN" sz="280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证明 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baseline="-250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的理想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E546F056-C95A-48F2-8E21-F1367109F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7316788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证  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+ &gt;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的正规子群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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f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0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0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x r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同理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ker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.  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3087</TotalTime>
  <Words>2456</Words>
  <Application>Microsoft Office PowerPoint</Application>
  <PresentationFormat>全屏显示(4:3)</PresentationFormat>
  <Paragraphs>234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Wingdings 2</vt:lpstr>
      <vt:lpstr>代数结构PPT</vt:lpstr>
      <vt:lpstr>文档</vt:lpstr>
      <vt:lpstr>公式</vt:lpstr>
      <vt:lpstr>第十八章   环与域</vt:lpstr>
      <vt:lpstr>环的定义</vt:lpstr>
      <vt:lpstr>环的性质</vt:lpstr>
      <vt:lpstr>特殊的环</vt:lpstr>
      <vt:lpstr>例题</vt:lpstr>
      <vt:lpstr>有限域</vt:lpstr>
      <vt:lpstr>有限域的性质</vt:lpstr>
      <vt:lpstr>有限域应用----素数测试问题</vt:lpstr>
      <vt:lpstr>素数测试的随机算法</vt:lpstr>
      <vt:lpstr>素数测试的另一个条件</vt:lpstr>
      <vt:lpstr>Miller-Rabin算法</vt:lpstr>
      <vt:lpstr>Miller-Rabin算法（续）</vt:lpstr>
      <vt:lpstr>18.2 子环、理想、商环、环同态</vt:lpstr>
      <vt:lpstr>子环定义及其判别</vt:lpstr>
      <vt:lpstr>理想</vt:lpstr>
      <vt:lpstr>例题</vt:lpstr>
      <vt:lpstr>商环</vt:lpstr>
      <vt:lpstr>商环的实例</vt:lpstr>
      <vt:lpstr>环同态</vt:lpstr>
      <vt:lpstr>环同态的性质</vt:lpstr>
      <vt:lpstr>性质的证明</vt:lpstr>
      <vt:lpstr>性质证明（续）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314</cp:revision>
  <dcterms:created xsi:type="dcterms:W3CDTF">2005-12-02T07:25:32Z</dcterms:created>
  <dcterms:modified xsi:type="dcterms:W3CDTF">2020-07-24T06:35:12Z</dcterms:modified>
</cp:coreProperties>
</file>