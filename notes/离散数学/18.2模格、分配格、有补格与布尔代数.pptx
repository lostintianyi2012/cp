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7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669900"/>
    <a:srgbClr val="CC6600"/>
    <a:srgbClr val="0080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89383" autoAdjust="0"/>
  </p:normalViewPr>
  <p:slideViewPr>
    <p:cSldViewPr>
      <p:cViewPr varScale="1">
        <p:scale>
          <a:sx n="77" d="100"/>
          <a:sy n="77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9639D2C-54D3-4368-9666-C827E65DE2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E952E7-0B78-4F47-A79F-05DAFB3032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DB4C556-CFAB-44F6-BFF0-D066E9E6DEEC}" type="datetimeFigureOut">
              <a:rPr lang="zh-CN" altLang="en-US"/>
              <a:pPr>
                <a:defRPr/>
              </a:pPr>
              <a:t>2020/7/30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142C0D-B2CD-4A42-96EA-1B3AA2230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7D0AD7E-6384-46EA-9438-9F0DC9116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DE91F-7EAE-4524-BB87-5559F3D9CE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CCAADC-3D8D-43BA-9660-2F38320F0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7822F1F-E08C-4E43-BEBF-4687433E1BD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7D369BD-5DC0-4091-B7A6-45825DF0B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AB5854-84BA-4B8E-AD40-193A107D0CE5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4418083-9B00-49DB-B24E-B7D40D36C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FFBA2B2-B90F-47CA-B906-4D10FC731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0DB7B43-E2FD-4073-8BF3-5F206AB58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F4253D-11B7-4D14-A789-BCE4D864FB95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0F2166B-6525-4993-AA8E-52F08AD7D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2112817-DB1C-4D4E-92EA-6AF75F02E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629C2D1-2A9E-4CBC-9B73-04FFF860A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75595D-D90D-4F4E-947A-AFF2DF9BF0E0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1506D30-9659-4066-A985-71998ADD3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3E55F77-6F70-4EA6-A065-1642AF0EA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D9718CE-60CD-48D1-9C43-9D8A2262E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F1A46B-A067-4565-9693-BA9A768E9AC4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3BC08BF-8912-48B2-A662-184EE0C2AF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B39E6A5-ED95-4C33-8228-6CF579E5A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1F5B0E4-F432-4E43-BC8C-6526607D8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A1EE6C-59FD-4961-93CF-69BA95B58A1A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8DE479C-DE0F-4D63-A1C9-7492F4361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749AE4B-4464-488E-9E7E-615EC7D45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0881CD69-EBBA-4984-B13F-D10678E34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EC23B3-3CAF-4677-A9C3-1A7E96803B53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3F933CE-642D-4ECF-B0B4-28234F253A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18B2D2D-EFA9-4746-8AF9-578B43295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15A960D-C92D-4655-B80A-F7909FFF21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EB3809-3637-4CAE-A9DA-AF8A4E0807C1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B58C98E-0733-4690-B283-C33EADBBA4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FEE3B2B-17EF-407E-A7FC-7A63F23F8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8F3FD5E-C344-44B9-AF95-B198DB296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86EEE6-BDE5-425C-A1AD-1AB80DA3CACB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36CF1F2-8BA5-4718-9DAA-6894DBFF38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012DBD8-4162-4609-B185-8E6B457EA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E33F7A1E-4420-46A4-A438-EB5FD59C61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FA591D-97AF-4F42-9DD8-1A247978D3F2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E231A22-0DF3-4DF9-AAD4-9363498B5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375C165-F7EE-4D2F-96C8-5A118867B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B0AFAFD1-FEC0-4D91-954B-F1250A92C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CE0DF7-B959-43AE-AE81-F59872A6BD19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5CB90F7-491A-4C69-A419-294D01C12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F620C8A-6BA8-47B4-87EA-7CC18F87E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E0275A4-CFE5-434D-A6FF-2486CA9AA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8EF8C9-BB6C-439F-BB55-196F6CDD379E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03DFD71-2C90-49D1-962C-4CDF46479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B4D5F88-7445-43B4-A5EC-4D9D67F7E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B19F41C1-8E18-4EC2-A6BD-66D003A4C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954C70-1B64-4C53-85CE-0E449E84A8DF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A2040B1-7FD7-429A-99F5-19E01B03C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FAEA432-AC99-4A0F-8262-2DB134235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A7049ECE-22A8-43E3-B2D9-026534B2C6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87170C-130C-481B-95C1-9C73FF77DA1B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0E8862B-64B5-4BCE-80EA-FF242F733E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257124C4-DF9E-4865-BF78-DF4CEE259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3DC8919-513B-4422-A934-A251C0F031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D7F74B-C1B2-4F47-BC3D-4130AF370E71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5911916-A8DC-40AA-9F1E-F01828F947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69D33D2-A191-4640-8590-659F6FF22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864ACAC-9743-4C5B-96FA-C1C400DF3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62233E-0B73-4242-8BB7-E5E1EEC26999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3067192-6B3C-4AED-80E1-3C143B052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5EE3461-2849-4953-82A2-C296B7335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874E223-1DF5-44BF-A1D7-91079AFAA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6AF2DE-E642-4C81-9AA9-53FB5CD99BBB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D896DE7-A3C8-4481-909C-CAD2AF9069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C1757E7-46EF-4B9D-8437-3F4DEC218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A8664662-2FBC-4CD8-8130-2593D9783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236B8-4C4C-4CD8-BCB3-18000D20C11F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61A34F8-ED8F-4815-B719-732AAD163C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87ADA4C-23A9-4FC2-B47E-9C9899658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6C55C2E-D9E1-430A-8FFA-71890982C3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0519F3-2FE8-45F8-8610-90779BAF544F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1C4725C-D6DA-4C09-A25E-7D45221EB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F82CE71-5554-42B2-B23E-341D13887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D2E15BE3-BC7B-49D1-B5D9-B6654CE3FA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93E839-86EB-4A3C-B918-C8AF34C8A3B6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0AB0E6D-44D8-4E7D-BE72-032C0309C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926CC9-F1DA-41BF-A279-F3C2C7804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C1E7D87-B528-4DC0-9473-06EC0168D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5289E7-9D6B-4E66-BCAA-CD53CB482493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CB4DF9A-AAF3-4EBA-ACFD-3F7CF8D97C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E7B10C73-D37C-4B63-978B-1EF5E114F3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0B8E19-073F-49BD-9BDA-22D28672CB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343B76-B418-4726-80E6-B84A6E2E46A4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38CF0B2-9490-4768-A2F6-D1E69A836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FA9880A-B543-4873-9FC7-C58ABC2C3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97CFAB7-5D22-40A3-AF24-AFB34D0A7D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FEB52F-8398-407B-89B7-98BD938F3A40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CC00F14-5106-48AE-ADFA-879E1C33B4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8E3CC3C-F531-4A97-B012-EDB5B4C20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9D466E5-18ED-45DD-911E-3CBCCF41C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AC1E54-34F2-4E1E-8333-73CA452B3F52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A18136D-880F-46D8-9BB7-74F697FB64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84BD0131-175E-4517-9618-512E8AB3C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219F4DF-F17B-4151-B894-301BECB6C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A382DB-3183-4919-87F4-A95DB4E7A124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2075484-728E-4C40-AF00-542397EA2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6BAF2B5-ED3A-4F63-93B9-C75D742B7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DD0E1F2-D540-47EB-ACF8-2848D80A2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87DEF8-EFB8-4BC5-81A1-785892EB7BFB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19CFFC9-E9E5-4F31-B726-E7866AC56A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D0BE961-26BD-4AC8-8715-EB05568DA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C4A9D-BC35-4611-9FCB-203C2A8911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156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91E1E-E3CB-4243-B98A-DD0C0F1E78F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244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3C2D3-110E-4857-B794-22364B86E64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3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025D72-B1A3-42DF-98A7-370D39E400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54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6D86B-247B-414F-B254-5520FB9D512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86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9E49C-05C9-4E32-84E7-20C67E9CB18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795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750DA-6DE7-4587-BEEF-A5B9E4CC71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50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670C8-8316-4819-B326-50FF1D81387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88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FA9B1-75BA-4701-82A9-453FDA5A75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280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95472-52DF-48C7-B0E7-2DC840982C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10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79FF9-D423-4557-AA4C-C9A2D56807B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1854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79FF9-D423-4557-AA4C-C9A2D56807B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02118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F906976-241A-4F94-8480-AA75BF23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ABA723-FCC1-4CA6-8B24-1717CDA0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D12ED0C-C0AB-4997-BC3D-8C195A39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84889-76B2-40FC-827E-63F2EAD5AD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64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F6979FF9-D423-4557-AA4C-C9A2D56807B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1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F3AF72BC-F77B-4599-8603-CA3018A75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19.3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特殊的格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F68F924-E333-436F-96D0-8F27DC2A6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412875"/>
            <a:ext cx="3944937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/>
              <a:t>模格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分配格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有界格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有补格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布尔格</a:t>
            </a:r>
          </a:p>
        </p:txBody>
      </p:sp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DE5DEB40-726F-4576-895C-9941C075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9ADE50-AABE-4061-9C8D-FC4EE9F347C4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3">
            <a:extLst>
              <a:ext uri="{FF2B5EF4-FFF2-40B4-BE49-F238E27FC236}">
                <a16:creationId xmlns:a16="http://schemas.microsoft.com/office/drawing/2014/main" id="{B0BDFD15-57E6-4EC9-86BB-E7374431D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 格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385DC83-83E6-4105-B15B-6C8984303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3575" y="1268413"/>
            <a:ext cx="82296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为格，若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a,b,c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	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则称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为模格</a:t>
            </a:r>
            <a:r>
              <a:rPr lang="en-US" altLang="zh-CN" sz="28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钻石格为模格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五角格不是模格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模格</a:t>
            </a:r>
            <a:r>
              <a:rPr lang="en-US" altLang="zh-CN" sz="2800" b="1" dirty="0">
                <a:latin typeface="Times New Roman" panose="02020603050405020304" pitchFamily="18" charset="0"/>
              </a:rPr>
              <a:t>---</a:t>
            </a:r>
            <a:r>
              <a:rPr lang="zh-CN" altLang="en-US" sz="2800" b="1" dirty="0">
                <a:latin typeface="Times New Roman" panose="02020603050405020304" pitchFamily="18" charset="0"/>
              </a:rPr>
              <a:t>模律：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格</a:t>
            </a:r>
            <a:r>
              <a:rPr lang="en-US" altLang="zh-CN" sz="2800" b="1" dirty="0">
                <a:latin typeface="Times New Roman" panose="02020603050405020304" pitchFamily="18" charset="0"/>
              </a:rPr>
              <a:t>--</a:t>
            </a:r>
            <a:r>
              <a:rPr lang="zh-CN" altLang="en-US" sz="2800" b="1" dirty="0">
                <a:latin typeface="Times New Roman" panose="02020603050405020304" pitchFamily="18" charset="0"/>
              </a:rPr>
              <a:t>模不等式：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)≼(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2B56D189-F5FA-495D-8906-1CE7D48F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6D2E9C-65E2-4400-AC25-41AF4CF76F8C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2293" name="Group 4">
            <a:extLst>
              <a:ext uri="{FF2B5EF4-FFF2-40B4-BE49-F238E27FC236}">
                <a16:creationId xmlns:a16="http://schemas.microsoft.com/office/drawing/2014/main" id="{AEC1502D-B7BF-4A33-BBF5-060303B7525C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2060575"/>
            <a:ext cx="2160587" cy="2232025"/>
            <a:chOff x="3606" y="1298"/>
            <a:chExt cx="1361" cy="1406"/>
          </a:xfrm>
        </p:grpSpPr>
        <p:pic>
          <p:nvPicPr>
            <p:cNvPr id="12294" name="Picture 5" descr="19">
              <a:extLst>
                <a:ext uri="{FF2B5EF4-FFF2-40B4-BE49-F238E27FC236}">
                  <a16:creationId xmlns:a16="http://schemas.microsoft.com/office/drawing/2014/main" id="{319BE1D4-A439-4B57-9ECB-937B1FA2C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530" t="-3697" r="-3102" b="51520"/>
            <a:stretch>
              <a:fillRect/>
            </a:stretch>
          </p:blipFill>
          <p:spPr bwMode="auto">
            <a:xfrm>
              <a:off x="3606" y="1298"/>
              <a:ext cx="1361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5" name="Text Box 6">
              <a:extLst>
                <a:ext uri="{FF2B5EF4-FFF2-40B4-BE49-F238E27FC236}">
                  <a16:creationId xmlns:a16="http://schemas.microsoft.com/office/drawing/2014/main" id="{95E9D90D-259A-4716-9952-1AF6706CD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1570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296" name="Text Box 7">
              <a:extLst>
                <a:ext uri="{FF2B5EF4-FFF2-40B4-BE49-F238E27FC236}">
                  <a16:creationId xmlns:a16="http://schemas.microsoft.com/office/drawing/2014/main" id="{499E2641-119A-4CAC-9927-BDCBDB551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1979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297" name="Text Box 8">
              <a:extLst>
                <a:ext uri="{FF2B5EF4-FFF2-40B4-BE49-F238E27FC236}">
                  <a16:creationId xmlns:a16="http://schemas.microsoft.com/office/drawing/2014/main" id="{880B01A8-58FD-4986-936C-2499208ED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797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62C3233A-1E80-48CA-9161-D57307173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模格判别条件</a:t>
            </a:r>
          </a:p>
        </p:txBody>
      </p:sp>
      <p:sp>
        <p:nvSpPr>
          <p:cNvPr id="7171" name="灯片编号占位符 4">
            <a:extLst>
              <a:ext uri="{FF2B5EF4-FFF2-40B4-BE49-F238E27FC236}">
                <a16:creationId xmlns:a16="http://schemas.microsoft.com/office/drawing/2014/main" id="{DBBBD526-37BE-4D13-971D-5324B03D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FB4F325-BC41-4995-BD6C-A45BCED4152A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E12B2505-E046-4AAB-ACC6-09DD4FCD8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30" name="Group 4">
            <a:extLst>
              <a:ext uri="{FF2B5EF4-FFF2-40B4-BE49-F238E27FC236}">
                <a16:creationId xmlns:a16="http://schemas.microsoft.com/office/drawing/2014/main" id="{7800BD6B-971D-4351-8FDC-E0FD5230F57A}"/>
              </a:ext>
            </a:extLst>
          </p:cNvPr>
          <p:cNvGrpSpPr>
            <a:grpSpLocks/>
          </p:cNvGrpSpPr>
          <p:nvPr/>
        </p:nvGrpSpPr>
        <p:grpSpPr bwMode="auto">
          <a:xfrm>
            <a:off x="397220" y="1340768"/>
            <a:ext cx="7890507" cy="4411663"/>
            <a:chOff x="-153" y="1032"/>
            <a:chExt cx="5288" cy="2779"/>
          </a:xfrm>
        </p:grpSpPr>
        <p:graphicFrame>
          <p:nvGraphicFramePr>
            <p:cNvPr id="1026" name="Object 5">
              <a:extLst>
                <a:ext uri="{FF2B5EF4-FFF2-40B4-BE49-F238E27FC236}">
                  <a16:creationId xmlns:a16="http://schemas.microsoft.com/office/drawing/2014/main" id="{B1812A2B-258F-4B94-84BE-B1DFF3D81A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5674937"/>
                </p:ext>
              </p:extLst>
            </p:nvPr>
          </p:nvGraphicFramePr>
          <p:xfrm>
            <a:off x="-153" y="1032"/>
            <a:ext cx="5288" cy="2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Document" r:id="rId4" imgW="4158014" imgH="2195562" progId="Word.Document.8">
                    <p:embed/>
                  </p:oleObj>
                </mc:Choice>
                <mc:Fallback>
                  <p:oleObj name="Document" r:id="rId4" imgW="4158014" imgH="2195562" progId="Word.Documen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53" y="1032"/>
                          <a:ext cx="5288" cy="2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31" name="Picture 6" descr="19">
              <a:extLst>
                <a:ext uri="{FF2B5EF4-FFF2-40B4-BE49-F238E27FC236}">
                  <a16:creationId xmlns:a16="http://schemas.microsoft.com/office/drawing/2014/main" id="{24AE424E-AB42-4B83-A8D3-AC770CDBD1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530" t="-3697" r="-3102" b="51520"/>
            <a:stretch>
              <a:fillRect/>
            </a:stretch>
          </p:blipFill>
          <p:spPr bwMode="auto">
            <a:xfrm>
              <a:off x="2693" y="2166"/>
              <a:ext cx="1361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2" name="Text Box 7">
              <a:extLst>
                <a:ext uri="{FF2B5EF4-FFF2-40B4-BE49-F238E27FC236}">
                  <a16:creationId xmlns:a16="http://schemas.microsoft.com/office/drawing/2014/main" id="{A4B5B203-374C-4C1C-9B28-E30D586E0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" y="2438"/>
              <a:ext cx="116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y=(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c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)b</a:t>
              </a:r>
            </a:p>
          </p:txBody>
        </p:sp>
        <p:sp>
          <p:nvSpPr>
            <p:cNvPr id="1033" name="Text Box 8">
              <a:extLst>
                <a:ext uri="{FF2B5EF4-FFF2-40B4-BE49-F238E27FC236}">
                  <a16:creationId xmlns:a16="http://schemas.microsoft.com/office/drawing/2014/main" id="{ACE51DB1-CD8C-4BEB-984B-890E593C3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" y="2894"/>
              <a:ext cx="11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x=a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(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cb</a:t>
              </a:r>
              <a:r>
                <a:rPr lang="en-US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1034" name="Text Box 9">
              <a:extLst>
                <a:ext uri="{FF2B5EF4-FFF2-40B4-BE49-F238E27FC236}">
                  <a16:creationId xmlns:a16="http://schemas.microsoft.com/office/drawing/2014/main" id="{EC2FC817-4DC6-4A43-9B7F-D18D2F909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" y="2653"/>
              <a:ext cx="46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z=c</a:t>
              </a:r>
            </a:p>
          </p:txBody>
        </p:sp>
        <p:sp>
          <p:nvSpPr>
            <p:cNvPr id="1035" name="Text Box 10">
              <a:extLst>
                <a:ext uri="{FF2B5EF4-FFF2-40B4-BE49-F238E27FC236}">
                  <a16:creationId xmlns:a16="http://schemas.microsoft.com/office/drawing/2014/main" id="{0754DBB8-CE1D-4396-AF3E-5375D71A3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1" y="3481"/>
              <a:ext cx="7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u=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endPara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036" name="Text Box 11">
              <a:extLst>
                <a:ext uri="{FF2B5EF4-FFF2-40B4-BE49-F238E27FC236}">
                  <a16:creationId xmlns:a16="http://schemas.microsoft.com/office/drawing/2014/main" id="{681EC086-32DF-4F04-9FB5-402488F4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1" y="1938"/>
              <a:ext cx="73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latin typeface="Times New Roman" panose="02020603050405020304" pitchFamily="18" charset="0"/>
                </a:rPr>
                <a:t>v=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r>
                <a:rPr lang="en-US" altLang="zh-CN" sz="2800" b="1" i="1" dirty="0" err="1">
                  <a:latin typeface="Times New Roman" panose="02020603050405020304" pitchFamily="18" charset="0"/>
                </a:rPr>
                <a:t>c</a:t>
              </a:r>
              <a:endParaRPr lang="en-US" altLang="zh-CN" sz="2800" b="1" i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E3ED5C6B-5A1D-4335-9600-675DD3E17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模格判别条件（续）</a:t>
            </a:r>
          </a:p>
        </p:txBody>
      </p:sp>
      <p:sp>
        <p:nvSpPr>
          <p:cNvPr id="41986" name="灯片编号占位符 4">
            <a:extLst>
              <a:ext uri="{FF2B5EF4-FFF2-40B4-BE49-F238E27FC236}">
                <a16:creationId xmlns:a16="http://schemas.microsoft.com/office/drawing/2014/main" id="{FAD5EC69-6DEC-4AB2-84E7-41152ACB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4BB9F8-5439-421D-B6EF-F65458C23321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C1B15E3-B406-48BE-8180-230D40530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52513"/>
            <a:ext cx="741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为模格当且仅当</a:t>
            </a:r>
          </a:p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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a,b,c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3137290B-8A7B-436C-9E8E-EE2D1F23C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7775575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证：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800" b="1">
                <a:sym typeface="Symbol" panose="05050102010706020507" pitchFamily="18" charset="2"/>
              </a:rPr>
              <a:t>“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zh-CN" altLang="en-US" sz="2800" b="1"/>
              <a:t>”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若不是模格，则存在子格与五角格同构，必有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a, b ,c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构成如图的子格，与条件矛盾</a:t>
            </a:r>
            <a:r>
              <a:rPr lang="en-US" altLang="zh-CN" sz="42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0A39E0A8-E19C-49B5-85DD-20A3E1C6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16338"/>
            <a:ext cx="7632700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ym typeface="Symbol" panose="05050102010706020507" pitchFamily="18" charset="2"/>
              </a:rPr>
              <a:t>“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为模格，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</a:t>
            </a:r>
            <a:r>
              <a:rPr lang="en-US" altLang="zh-CN" sz="2800" b="1" i="1">
                <a:latin typeface="Times New Roman" panose="02020603050405020304" pitchFamily="18" charset="0"/>
              </a:rPr>
              <a:t>a,b,c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≼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 u="sng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u="sng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= (</a:t>
            </a:r>
            <a:r>
              <a:rPr lang="en-US" altLang="zh-CN" sz="2800" b="1" i="1" u="sng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u="sng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420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</p:txBody>
      </p:sp>
      <p:grpSp>
        <p:nvGrpSpPr>
          <p:cNvPr id="13319" name="Group 6">
            <a:extLst>
              <a:ext uri="{FF2B5EF4-FFF2-40B4-BE49-F238E27FC236}">
                <a16:creationId xmlns:a16="http://schemas.microsoft.com/office/drawing/2014/main" id="{626686BD-D236-43E0-AE8B-438F5974520C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3860800"/>
            <a:ext cx="2160587" cy="2232025"/>
            <a:chOff x="3606" y="1616"/>
            <a:chExt cx="1361" cy="1406"/>
          </a:xfrm>
        </p:grpSpPr>
        <p:pic>
          <p:nvPicPr>
            <p:cNvPr id="13320" name="Picture 7" descr="19">
              <a:extLst>
                <a:ext uri="{FF2B5EF4-FFF2-40B4-BE49-F238E27FC236}">
                  <a16:creationId xmlns:a16="http://schemas.microsoft.com/office/drawing/2014/main" id="{115560F9-4AB1-4A05-8DC5-011750F01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530" t="-3697" r="-3102" b="51520"/>
            <a:stretch>
              <a:fillRect/>
            </a:stretch>
          </p:blipFill>
          <p:spPr bwMode="auto">
            <a:xfrm>
              <a:off x="3606" y="1616"/>
              <a:ext cx="1361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1" name="Text Box 8">
              <a:extLst>
                <a:ext uri="{FF2B5EF4-FFF2-40B4-BE49-F238E27FC236}">
                  <a16:creationId xmlns:a16="http://schemas.microsoft.com/office/drawing/2014/main" id="{0D1E51A8-2FE0-458F-A106-20C3903AC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1919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322" name="Text Box 9">
              <a:extLst>
                <a:ext uri="{FF2B5EF4-FFF2-40B4-BE49-F238E27FC236}">
                  <a16:creationId xmlns:a16="http://schemas.microsoft.com/office/drawing/2014/main" id="{0824E9AF-F1D3-46F0-B45F-1EF842FFA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232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323" name="Text Box 10">
              <a:extLst>
                <a:ext uri="{FF2B5EF4-FFF2-40B4-BE49-F238E27FC236}">
                  <a16:creationId xmlns:a16="http://schemas.microsoft.com/office/drawing/2014/main" id="{52B9D8A0-7E22-4258-84B0-017DB5B46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146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2B2E1B1B-D711-4ED1-AB85-6C73DCE75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分配格</a:t>
            </a:r>
          </a:p>
        </p:txBody>
      </p:sp>
      <p:sp>
        <p:nvSpPr>
          <p:cNvPr id="43010" name="灯片编号占位符 4">
            <a:extLst>
              <a:ext uri="{FF2B5EF4-FFF2-40B4-BE49-F238E27FC236}">
                <a16:creationId xmlns:a16="http://schemas.microsoft.com/office/drawing/2014/main" id="{D60572AC-8E16-49C4-B1A1-051C5590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A3583A-CBC9-4053-9EA3-7C6EBF58F434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0AA02CC-1EDE-47DF-A74A-C15982BF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31691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为格，若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a,b,c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分配格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5332" name="Rectangle 4">
            <a:extLst>
              <a:ext uri="{FF2B5EF4-FFF2-40B4-BE49-F238E27FC236}">
                <a16:creationId xmlns:a16="http://schemas.microsoft.com/office/drawing/2014/main" id="{5CE7541D-71D6-4BAD-B4D4-85C64CEBC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36838"/>
            <a:ext cx="8316913" cy="350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注：在任何格中两个分配等式是等价的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     (</a:t>
            </a:r>
            <a:r>
              <a:rPr lang="zh-CN" altLang="en-US" sz="2800" b="1">
                <a:latin typeface="Times New Roman" panose="02020603050405020304" pitchFamily="18" charset="0"/>
              </a:rPr>
              <a:t>对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b="1">
                <a:latin typeface="Times New Roman" panose="02020603050405020304" pitchFamily="18" charset="0"/>
              </a:rPr>
              <a:t>的分配律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))     (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吸收律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</a:t>
            </a:r>
            <a:r>
              <a:rPr lang="zh-CN" altLang="en-US" sz="2800" b="1">
                <a:latin typeface="Times New Roman" panose="02020603050405020304" pitchFamily="18" charset="0"/>
              </a:rPr>
              <a:t>对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b="1">
                <a:latin typeface="Times New Roman" panose="02020603050405020304" pitchFamily="18" charset="0"/>
              </a:rPr>
              <a:t>的分配律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 (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结合律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吸收律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反之，同理可证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2B5563D5-940F-4311-A6B6-DABB28A60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分配格判别定理</a:t>
            </a:r>
          </a:p>
        </p:txBody>
      </p:sp>
      <p:sp>
        <p:nvSpPr>
          <p:cNvPr id="44034" name="灯片编号占位符 4">
            <a:extLst>
              <a:ext uri="{FF2B5EF4-FFF2-40B4-BE49-F238E27FC236}">
                <a16:creationId xmlns:a16="http://schemas.microsoft.com/office/drawing/2014/main" id="{2A855F10-45B5-4472-932A-C12A6E49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D62AE5-50A3-4A60-B10C-5AF4B8F79686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D244DF8-DDEA-4B00-893E-97357137D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68413"/>
            <a:ext cx="7961313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为模格，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为分配格当且仅当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若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a, b, 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注：一般格成立不等式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≼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7380" name="Rectangle 4">
            <a:extLst>
              <a:ext uri="{FF2B5EF4-FFF2-40B4-BE49-F238E27FC236}">
                <a16:creationId xmlns:a16="http://schemas.microsoft.com/office/drawing/2014/main" id="{89939AC5-A629-40B0-AC4C-DBDFDEEE5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437063"/>
            <a:ext cx="796131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设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为模格，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为分配格当且仅当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不含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有与钻石格同构的子格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8CDA29E2-A369-4070-96FC-39452AEDEF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判别定理一的证明</a:t>
            </a:r>
          </a:p>
        </p:txBody>
      </p:sp>
      <p:sp>
        <p:nvSpPr>
          <p:cNvPr id="16387" name="内容占位符 5">
            <a:extLst>
              <a:ext uri="{FF2B5EF4-FFF2-40B4-BE49-F238E27FC236}">
                <a16:creationId xmlns:a16="http://schemas.microsoft.com/office/drawing/2014/main" id="{09FA99AA-3DC6-4B9B-94EA-8DC4A6F7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2060575"/>
            <a:ext cx="8229600" cy="4248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（吸收律）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（等式替代）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（模律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≼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（交换律）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（模律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≼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（交换律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上界）</a:t>
            </a:r>
          </a:p>
        </p:txBody>
      </p:sp>
      <p:sp>
        <p:nvSpPr>
          <p:cNvPr id="45060" name="灯片编号占位符 4">
            <a:extLst>
              <a:ext uri="{FF2B5EF4-FFF2-40B4-BE49-F238E27FC236}">
                <a16:creationId xmlns:a16="http://schemas.microsoft.com/office/drawing/2014/main" id="{A21948AB-5F5B-489F-9F54-B8B81CF9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BD6DC5-D32A-4E16-AC60-6EF5C73EFCDC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AA561364-105C-447F-B9B3-6392A741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73437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条件：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41221C66-BE41-4226-9A5D-77447E1B3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113" y="188913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判别定理一的证明（续）</a:t>
            </a:r>
          </a:p>
        </p:txBody>
      </p:sp>
      <p:sp>
        <p:nvSpPr>
          <p:cNvPr id="8195" name="灯片编号占位符 4">
            <a:extLst>
              <a:ext uri="{FF2B5EF4-FFF2-40B4-BE49-F238E27FC236}">
                <a16:creationId xmlns:a16="http://schemas.microsoft.com/office/drawing/2014/main" id="{EA808063-3C99-4BC4-917E-086E348A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EBDCC8-ADDC-4974-ABDD-E159327B8F13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1097D1E2-03AF-49C7-86D4-56F00963B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1125" y="1196975"/>
          <a:ext cx="8575675" cy="486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文档" r:id="rId4" imgW="3841328" imgH="2177932" progId="Word.Document.8">
                  <p:embed/>
                </p:oleObj>
              </mc:Choice>
              <mc:Fallback>
                <p:oleObj name="文档" r:id="rId4" imgW="3841328" imgH="217793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1125" y="1196975"/>
                        <a:ext cx="8575675" cy="486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>
            <a:extLst>
              <a:ext uri="{FF2B5EF4-FFF2-40B4-BE49-F238E27FC236}">
                <a16:creationId xmlns:a16="http://schemas.microsoft.com/office/drawing/2014/main" id="{AEA226AC-1392-4920-8304-FD6AAE2CA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判别定理二的证明</a:t>
            </a:r>
          </a:p>
        </p:txBody>
      </p:sp>
      <p:sp>
        <p:nvSpPr>
          <p:cNvPr id="9219" name="灯片编号占位符 4">
            <a:extLst>
              <a:ext uri="{FF2B5EF4-FFF2-40B4-BE49-F238E27FC236}">
                <a16:creationId xmlns:a16="http://schemas.microsoft.com/office/drawing/2014/main" id="{DB8BD293-D829-475F-AA09-7B873767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8A8E63-53C5-4428-9108-EB95BB76AC26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1A75CE04-2098-4FB6-8270-64F20433D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80975" y="1190625"/>
          <a:ext cx="8277225" cy="504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文档" r:id="rId4" imgW="3866934" imgH="2355913" progId="Word.Document.8">
                  <p:embed/>
                </p:oleObj>
              </mc:Choice>
              <mc:Fallback>
                <p:oleObj name="文档" r:id="rId4" imgW="3866934" imgH="235591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80975" y="1190625"/>
                        <a:ext cx="8277225" cy="504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4" descr="19">
            <a:extLst>
              <a:ext uri="{FF2B5EF4-FFF2-40B4-BE49-F238E27FC236}">
                <a16:creationId xmlns:a16="http://schemas.microsoft.com/office/drawing/2014/main" id="{87F09706-D0CD-4C31-B219-EEE59B846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37" t="-3555" r="10289" b="52843"/>
          <a:stretch>
            <a:fillRect/>
          </a:stretch>
        </p:blipFill>
        <p:spPr bwMode="auto">
          <a:xfrm>
            <a:off x="5724525" y="2852738"/>
            <a:ext cx="172878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Group 5">
            <a:extLst>
              <a:ext uri="{FF2B5EF4-FFF2-40B4-BE49-F238E27FC236}">
                <a16:creationId xmlns:a16="http://schemas.microsoft.com/office/drawing/2014/main" id="{7F20E036-C5F9-4443-8437-94D2B33927EC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420938"/>
            <a:ext cx="2143125" cy="2740025"/>
            <a:chOff x="3470" y="1525"/>
            <a:chExt cx="1350" cy="1726"/>
          </a:xfrm>
        </p:grpSpPr>
        <p:sp>
          <p:nvSpPr>
            <p:cNvPr id="3079" name="Text Box 6">
              <a:extLst>
                <a:ext uri="{FF2B5EF4-FFF2-40B4-BE49-F238E27FC236}">
                  <a16:creationId xmlns:a16="http://schemas.microsoft.com/office/drawing/2014/main" id="{45AB0503-646E-463F-96EA-36468844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886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080" name="Text Box 7">
              <a:extLst>
                <a:ext uri="{FF2B5EF4-FFF2-40B4-BE49-F238E27FC236}">
                  <a16:creationId xmlns:a16="http://schemas.microsoft.com/office/drawing/2014/main" id="{D81840E8-729A-4586-B1CC-5A1522CCD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1525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081" name="Text Box 8">
              <a:extLst>
                <a:ext uri="{FF2B5EF4-FFF2-40B4-BE49-F238E27FC236}">
                  <a16:creationId xmlns:a16="http://schemas.microsoft.com/office/drawing/2014/main" id="{6AA91D09-236C-4D99-BEEE-649F0E96C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2251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82" name="Text Box 9">
              <a:extLst>
                <a:ext uri="{FF2B5EF4-FFF2-40B4-BE49-F238E27FC236}">
                  <a16:creationId xmlns:a16="http://schemas.microsoft.com/office/drawing/2014/main" id="{B7D06931-FF0C-452B-9DE6-C51F378EC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2387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083" name="Text Box 10">
              <a:extLst>
                <a:ext uri="{FF2B5EF4-FFF2-40B4-BE49-F238E27FC236}">
                  <a16:creationId xmlns:a16="http://schemas.microsoft.com/office/drawing/2014/main" id="{9D352618-F562-4642-8FCC-F57713A57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251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z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>
            <a:extLst>
              <a:ext uri="{FF2B5EF4-FFF2-40B4-BE49-F238E27FC236}">
                <a16:creationId xmlns:a16="http://schemas.microsoft.com/office/drawing/2014/main" id="{3876A0A1-4F2A-47F7-A5DD-EAB00D2E5608}"/>
              </a:ext>
            </a:extLst>
          </p:cNvPr>
          <p:cNvGrpSpPr>
            <a:grpSpLocks/>
          </p:cNvGrpSpPr>
          <p:nvPr/>
        </p:nvGrpSpPr>
        <p:grpSpPr bwMode="auto">
          <a:xfrm>
            <a:off x="1114425" y="3860800"/>
            <a:ext cx="3097213" cy="1225550"/>
            <a:chOff x="793" y="2840"/>
            <a:chExt cx="1951" cy="772"/>
          </a:xfrm>
        </p:grpSpPr>
        <p:grpSp>
          <p:nvGrpSpPr>
            <p:cNvPr id="17436" name="Group 37">
              <a:extLst>
                <a:ext uri="{FF2B5EF4-FFF2-40B4-BE49-F238E27FC236}">
                  <a16:creationId xmlns:a16="http://schemas.microsoft.com/office/drawing/2014/main" id="{7AF057BC-51AE-4C4F-87A1-7EF989776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3113"/>
              <a:ext cx="1951" cy="499"/>
              <a:chOff x="793" y="3113"/>
              <a:chExt cx="1951" cy="499"/>
            </a:xfrm>
          </p:grpSpPr>
          <p:sp>
            <p:nvSpPr>
              <p:cNvPr id="17438" name="Rectangle 23">
                <a:extLst>
                  <a:ext uri="{FF2B5EF4-FFF2-40B4-BE49-F238E27FC236}">
                    <a16:creationId xmlns:a16="http://schemas.microsoft.com/office/drawing/2014/main" id="{4F588C40-9CCD-4909-9428-9F10DED9A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113"/>
                <a:ext cx="1951" cy="499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39" name="Text Box 24">
                <a:extLst>
                  <a:ext uri="{FF2B5EF4-FFF2-40B4-BE49-F238E27FC236}">
                    <a16:creationId xmlns:a16="http://schemas.microsoft.com/office/drawing/2014/main" id="{90453559-DE41-47AE-A801-03FCA10F4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183"/>
                <a:ext cx="819" cy="426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400" b="1" i="1">
                    <a:latin typeface="Times New Roman" panose="02020603050405020304" pitchFamily="18" charset="0"/>
                    <a:cs typeface="Lucida Sans Unicode" panose="020B0602030504020204" pitchFamily="34" charset="0"/>
                  </a:rPr>
                  <a:t>a</a:t>
                </a:r>
                <a:r>
                  <a:rPr lang="en-US" altLang="zh-CN" sz="2400" b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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c</a:t>
                </a:r>
                <a:r>
                  <a:rPr lang="en-US" altLang="zh-CN" sz="2400" b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</a:t>
                </a:r>
                <a:r>
                  <a:rPr lang="en-US" altLang="zh-CN" sz="2400" b="1" i="1">
                    <a:latin typeface="Times New Roman" panose="02020603050405020304" pitchFamily="18" charset="0"/>
                    <a:cs typeface="Lucida Sans Unicode" panose="020B0602030504020204" pitchFamily="34" charset="0"/>
                    <a:sym typeface="Symbol" panose="05050102010706020507" pitchFamily="18" charset="2"/>
                  </a:rPr>
                  <a:t>c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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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endParaRPr lang="en-US" altLang="zh-CN" sz="2400" b="1" i="1">
                  <a:latin typeface="Times New Roman" panose="02020603050405020304" pitchFamily="18" charset="0"/>
                  <a:cs typeface="Lucida Sans Unicode" panose="020B0602030504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7440" name="Rectangle 25">
                <a:extLst>
                  <a:ext uri="{FF2B5EF4-FFF2-40B4-BE49-F238E27FC236}">
                    <a16:creationId xmlns:a16="http://schemas.microsoft.com/office/drawing/2014/main" id="{85E71136-20D3-4074-BBDE-06F5BBDCA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" y="3280"/>
                <a:ext cx="453" cy="288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≼</a:t>
                </a:r>
                <a:r>
                  <a:rPr lang="en-US" altLang="zh-CN" sz="2400" b="1" i="1">
                    <a:latin typeface="Times New Roman" panose="02020603050405020304" pitchFamily="18" charset="0"/>
                  </a:rPr>
                  <a:t>b,</a:t>
                </a:r>
              </a:p>
            </p:txBody>
          </p:sp>
          <p:sp>
            <p:nvSpPr>
              <p:cNvPr id="17441" name="Text Box 26">
                <a:extLst>
                  <a:ext uri="{FF2B5EF4-FFF2-40B4-BE49-F238E27FC236}">
                    <a16:creationId xmlns:a16="http://schemas.microsoft.com/office/drawing/2014/main" id="{872548D7-2A60-4FE1-A3A1-4668B3D586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3280"/>
                <a:ext cx="607" cy="288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</a:p>
            </p:txBody>
          </p:sp>
        </p:grpSp>
        <p:sp>
          <p:nvSpPr>
            <p:cNvPr id="17437" name="AutoShape 27">
              <a:extLst>
                <a:ext uri="{FF2B5EF4-FFF2-40B4-BE49-F238E27FC236}">
                  <a16:creationId xmlns:a16="http://schemas.microsoft.com/office/drawing/2014/main" id="{17B314D7-827B-4094-BB23-494BD6CDE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840"/>
              <a:ext cx="136" cy="227"/>
            </a:xfrm>
            <a:prstGeom prst="upDownArrow">
              <a:avLst>
                <a:gd name="adj1" fmla="val 50000"/>
                <a:gd name="adj2" fmla="val 33382"/>
              </a:avLst>
            </a:prstGeom>
            <a:solidFill>
              <a:srgbClr val="99CC00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6085" name="Rectangle 2">
            <a:extLst>
              <a:ext uri="{FF2B5EF4-FFF2-40B4-BE49-F238E27FC236}">
                <a16:creationId xmlns:a16="http://schemas.microsoft.com/office/drawing/2014/main" id="{2885C311-3BA2-4344-A2F6-ACB4ADD83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203201"/>
            <a:ext cx="8280400" cy="8636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模格、分配格之间关系</a:t>
            </a:r>
          </a:p>
        </p:txBody>
      </p:sp>
      <p:sp>
        <p:nvSpPr>
          <p:cNvPr id="46082" name="灯片编号占位符 4">
            <a:extLst>
              <a:ext uri="{FF2B5EF4-FFF2-40B4-BE49-F238E27FC236}">
                <a16:creationId xmlns:a16="http://schemas.microsoft.com/office/drawing/2014/main" id="{2B972C83-3C99-4F8A-B9F7-D2174228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56418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39CE38-19C1-4757-998A-D03323749C98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65603" name="Text Box 35">
            <a:extLst>
              <a:ext uri="{FF2B5EF4-FFF2-40B4-BE49-F238E27FC236}">
                <a16:creationId xmlns:a16="http://schemas.microsoft.com/office/drawing/2014/main" id="{0787498A-0D20-4328-97AE-A8317EC0D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94188"/>
            <a:ext cx="3168650" cy="89376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=(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7414" name="Line 3">
            <a:extLst>
              <a:ext uri="{FF2B5EF4-FFF2-40B4-BE49-F238E27FC236}">
                <a16:creationId xmlns:a16="http://schemas.microsoft.com/office/drawing/2014/main" id="{8EC15C93-DB7C-43F9-B290-E2D5F2DE1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852738"/>
            <a:ext cx="71438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5581" name="Text Box 13">
            <a:extLst>
              <a:ext uri="{FF2B5EF4-FFF2-40B4-BE49-F238E27FC236}">
                <a16:creationId xmlns:a16="http://schemas.microsoft.com/office/drawing/2014/main" id="{992A0138-11B0-47A0-983A-1E2913080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670175"/>
            <a:ext cx="592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</a:rPr>
              <a:t>格</a:t>
            </a:r>
          </a:p>
        </p:txBody>
      </p:sp>
      <p:sp>
        <p:nvSpPr>
          <p:cNvPr id="365582" name="Text Box 14">
            <a:extLst>
              <a:ext uri="{FF2B5EF4-FFF2-40B4-BE49-F238E27FC236}">
                <a16:creationId xmlns:a16="http://schemas.microsoft.com/office/drawing/2014/main" id="{21E15477-720C-4C92-989C-5768171B3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636838"/>
            <a:ext cx="1081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</a:rPr>
              <a:t>模格</a:t>
            </a:r>
          </a:p>
        </p:txBody>
      </p:sp>
      <p:sp>
        <p:nvSpPr>
          <p:cNvPr id="365583" name="Text Box 15">
            <a:extLst>
              <a:ext uri="{FF2B5EF4-FFF2-40B4-BE49-F238E27FC236}">
                <a16:creationId xmlns:a16="http://schemas.microsoft.com/office/drawing/2014/main" id="{6F5892AD-C547-4A64-9571-7C4AE03AB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708275"/>
            <a:ext cx="1512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</a:rPr>
              <a:t>分配格</a:t>
            </a:r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7D121295-6F9B-4DB4-9475-95DE4CCFE334}"/>
              </a:ext>
            </a:extLst>
          </p:cNvPr>
          <p:cNvGrpSpPr>
            <a:grpSpLocks/>
          </p:cNvGrpSpPr>
          <p:nvPr/>
        </p:nvGrpSpPr>
        <p:grpSpPr bwMode="auto">
          <a:xfrm>
            <a:off x="1855788" y="2867025"/>
            <a:ext cx="1944687" cy="922338"/>
            <a:chOff x="1260" y="2396"/>
            <a:chExt cx="1225" cy="581"/>
          </a:xfrm>
        </p:grpSpPr>
        <p:sp>
          <p:nvSpPr>
            <p:cNvPr id="17434" name="Text Box 17">
              <a:extLst>
                <a:ext uri="{FF2B5EF4-FFF2-40B4-BE49-F238E27FC236}">
                  <a16:creationId xmlns:a16="http://schemas.microsoft.com/office/drawing/2014/main" id="{7748CDDD-4272-48F3-A9DC-6F6F43A8A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2535"/>
              <a:ext cx="104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不含与五角</a:t>
              </a:r>
            </a:p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格同构子格</a:t>
              </a:r>
            </a:p>
          </p:txBody>
        </p:sp>
        <p:sp>
          <p:nvSpPr>
            <p:cNvPr id="17435" name="AutoShape 18">
              <a:extLst>
                <a:ext uri="{FF2B5EF4-FFF2-40B4-BE49-F238E27FC236}">
                  <a16:creationId xmlns:a16="http://schemas.microsoft.com/office/drawing/2014/main" id="{0404DD58-F49D-4670-BA0E-A40EC44C3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396"/>
              <a:ext cx="1225" cy="136"/>
            </a:xfrm>
            <a:prstGeom prst="rightArrow">
              <a:avLst>
                <a:gd name="adj1" fmla="val 50278"/>
                <a:gd name="adj2" fmla="val 166177"/>
              </a:avLst>
            </a:prstGeom>
            <a:solidFill>
              <a:srgbClr val="99CC00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B8FB73D9-EFCA-4E2F-9F2F-63E68EB121AE}"/>
              </a:ext>
            </a:extLst>
          </p:cNvPr>
          <p:cNvGrpSpPr>
            <a:grpSpLocks/>
          </p:cNvGrpSpPr>
          <p:nvPr/>
        </p:nvGrpSpPr>
        <p:grpSpPr bwMode="auto">
          <a:xfrm>
            <a:off x="4881563" y="2886075"/>
            <a:ext cx="2139950" cy="903288"/>
            <a:chOff x="3029" y="2408"/>
            <a:chExt cx="1348" cy="569"/>
          </a:xfrm>
        </p:grpSpPr>
        <p:sp>
          <p:nvSpPr>
            <p:cNvPr id="17432" name="Text Box 20">
              <a:extLst>
                <a:ext uri="{FF2B5EF4-FFF2-40B4-BE49-F238E27FC236}">
                  <a16:creationId xmlns:a16="http://schemas.microsoft.com/office/drawing/2014/main" id="{4A89A32A-0561-427D-B25E-FB589DB11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535"/>
              <a:ext cx="113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不含与钻石</a:t>
              </a:r>
            </a:p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格同构子格</a:t>
              </a:r>
            </a:p>
          </p:txBody>
        </p:sp>
        <p:sp>
          <p:nvSpPr>
            <p:cNvPr id="17433" name="AutoShape 21">
              <a:extLst>
                <a:ext uri="{FF2B5EF4-FFF2-40B4-BE49-F238E27FC236}">
                  <a16:creationId xmlns:a16="http://schemas.microsoft.com/office/drawing/2014/main" id="{60063CC1-FDEE-4739-8CAC-D098C5CD6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" y="2408"/>
              <a:ext cx="1225" cy="124"/>
            </a:xfrm>
            <a:prstGeom prst="rightArrow">
              <a:avLst>
                <a:gd name="adj1" fmla="val 50278"/>
                <a:gd name="adj2" fmla="val 182259"/>
              </a:avLst>
            </a:prstGeom>
            <a:solidFill>
              <a:srgbClr val="99CC00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65599" name="Text Box 31">
            <a:extLst>
              <a:ext uri="{FF2B5EF4-FFF2-40B4-BE49-F238E27FC236}">
                <a16:creationId xmlns:a16="http://schemas.microsoft.com/office/drawing/2014/main" id="{DAE1E665-247D-473C-8FE4-08A9C4EEC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554663"/>
            <a:ext cx="3168650" cy="466725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≼</a:t>
            </a:r>
            <a:r>
              <a:rPr lang="en-US" altLang="zh-CN" sz="2400" b="1" i="1">
                <a:latin typeface="Times New Roman" panose="02020603050405020304" pitchFamily="18" charset="0"/>
              </a:rPr>
              <a:t>b,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65600" name="AutoShape 32">
            <a:extLst>
              <a:ext uri="{FF2B5EF4-FFF2-40B4-BE49-F238E27FC236}">
                <a16:creationId xmlns:a16="http://schemas.microsoft.com/office/drawing/2014/main" id="{6E613704-23D8-42B2-AA6A-81791BF29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5167313"/>
            <a:ext cx="215900" cy="360362"/>
          </a:xfrm>
          <a:prstGeom prst="upDownArrow">
            <a:avLst>
              <a:gd name="adj1" fmla="val 50000"/>
              <a:gd name="adj2" fmla="val 33382"/>
            </a:avLst>
          </a:prstGeom>
          <a:solidFill>
            <a:srgbClr val="99CC00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5604" name="AutoShape 36">
            <a:extLst>
              <a:ext uri="{FF2B5EF4-FFF2-40B4-BE49-F238E27FC236}">
                <a16:creationId xmlns:a16="http://schemas.microsoft.com/office/drawing/2014/main" id="{8944F630-07C7-47D0-90F0-8BEF97702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860800"/>
            <a:ext cx="215900" cy="360363"/>
          </a:xfrm>
          <a:prstGeom prst="upDownArrow">
            <a:avLst>
              <a:gd name="adj1" fmla="val 50000"/>
              <a:gd name="adj2" fmla="val 33382"/>
            </a:avLst>
          </a:prstGeom>
          <a:solidFill>
            <a:srgbClr val="99CC00">
              <a:alpha val="72156"/>
            </a:srgbClr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32">
            <a:extLst>
              <a:ext uri="{FF2B5EF4-FFF2-40B4-BE49-F238E27FC236}">
                <a16:creationId xmlns:a16="http://schemas.microsoft.com/office/drawing/2014/main" id="{756F95F9-6573-48C1-8D36-6BEEE01073FD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1273175"/>
            <a:ext cx="3671888" cy="1435100"/>
            <a:chOff x="2555875" y="1273175"/>
            <a:chExt cx="3671888" cy="1435100"/>
          </a:xfrm>
        </p:grpSpPr>
        <p:grpSp>
          <p:nvGrpSpPr>
            <p:cNvPr id="17424" name="Group 4">
              <a:extLst>
                <a:ext uri="{FF2B5EF4-FFF2-40B4-BE49-F238E27FC236}">
                  <a16:creationId xmlns:a16="http://schemas.microsoft.com/office/drawing/2014/main" id="{9DA1A4C4-F095-44EA-9A7F-063CA784B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6600" y="1273175"/>
              <a:ext cx="2260600" cy="822325"/>
              <a:chOff x="2064" y="1097"/>
              <a:chExt cx="1424" cy="518"/>
            </a:xfrm>
          </p:grpSpPr>
          <p:sp>
            <p:nvSpPr>
              <p:cNvPr id="17428" name="Rectangle 5">
                <a:extLst>
                  <a:ext uri="{FF2B5EF4-FFF2-40B4-BE49-F238E27FC236}">
                    <a16:creationId xmlns:a16="http://schemas.microsoft.com/office/drawing/2014/main" id="{6C26FCC9-6115-46D3-9082-665EB00FB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117"/>
                <a:ext cx="1406" cy="454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7429" name="Group 6">
                <a:extLst>
                  <a:ext uri="{FF2B5EF4-FFF2-40B4-BE49-F238E27FC236}">
                    <a16:creationId xmlns:a16="http://schemas.microsoft.com/office/drawing/2014/main" id="{417C17D7-3772-4EDF-8B4B-254FD3C63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97"/>
                <a:ext cx="1379" cy="518"/>
                <a:chOff x="1927" y="871"/>
                <a:chExt cx="1379" cy="518"/>
              </a:xfrm>
            </p:grpSpPr>
            <p:sp>
              <p:nvSpPr>
                <p:cNvPr id="17430" name="Text Box 7">
                  <a:extLst>
                    <a:ext uri="{FF2B5EF4-FFF2-40B4-BE49-F238E27FC236}">
                      <a16:creationId xmlns:a16="http://schemas.microsoft.com/office/drawing/2014/main" id="{AA8441FA-80DB-4036-BB89-D5357A5AA7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7" y="871"/>
                  <a:ext cx="862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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c=b</a:t>
                  </a:r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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c</a:t>
                  </a:r>
                </a:p>
                <a:p>
                  <a:pPr eaLnBrk="1" hangingPunct="1"/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a</a:t>
                  </a:r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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c=b</a:t>
                  </a:r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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c</a:t>
                  </a:r>
                </a:p>
              </p:txBody>
            </p:sp>
            <p:sp>
              <p:nvSpPr>
                <p:cNvPr id="17431" name="Text Box 8">
                  <a:extLst>
                    <a:ext uri="{FF2B5EF4-FFF2-40B4-BE49-F238E27FC236}">
                      <a16:creationId xmlns:a16="http://schemas.microsoft.com/office/drawing/2014/main" id="{9B6F46C1-D683-4104-AF1D-179594105F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9" y="981"/>
                  <a:ext cx="60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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a</a:t>
                  </a:r>
                  <a:r>
                    <a:rPr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=</a:t>
                  </a:r>
                  <a:r>
                    <a:rPr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</a:p>
              </p:txBody>
            </p:sp>
          </p:grpSp>
        </p:grpSp>
        <p:sp>
          <p:nvSpPr>
            <p:cNvPr id="17425" name="Text Box 11">
              <a:extLst>
                <a:ext uri="{FF2B5EF4-FFF2-40B4-BE49-F238E27FC236}">
                  <a16:creationId xmlns:a16="http://schemas.microsoft.com/office/drawing/2014/main" id="{C2988B67-FCA6-4A03-9F36-4A7D53EFF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575" y="2133600"/>
              <a:ext cx="9509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分配律</a:t>
              </a:r>
            </a:p>
          </p:txBody>
        </p:sp>
        <p:sp>
          <p:nvSpPr>
            <p:cNvPr id="36" name="圆角右箭头 35">
              <a:extLst>
                <a:ext uri="{FF2B5EF4-FFF2-40B4-BE49-F238E27FC236}">
                  <a16:creationId xmlns:a16="http://schemas.microsoft.com/office/drawing/2014/main" id="{B6B4BA9F-9530-4F14-96FA-4F4A3D6AAD93}"/>
                </a:ext>
              </a:extLst>
            </p:cNvPr>
            <p:cNvSpPr/>
            <p:nvPr/>
          </p:nvSpPr>
          <p:spPr>
            <a:xfrm>
              <a:off x="2555875" y="1773238"/>
              <a:ext cx="431800" cy="935037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46429"/>
              </a:avLst>
            </a:prstGeom>
            <a:solidFill>
              <a:srgbClr val="99CC00">
                <a:alpha val="8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圆角右箭头 36">
              <a:extLst>
                <a:ext uri="{FF2B5EF4-FFF2-40B4-BE49-F238E27FC236}">
                  <a16:creationId xmlns:a16="http://schemas.microsoft.com/office/drawing/2014/main" id="{6C870C12-071C-4C1D-BAA5-E651D258E1B8}"/>
                </a:ext>
              </a:extLst>
            </p:cNvPr>
            <p:cNvSpPr/>
            <p:nvPr/>
          </p:nvSpPr>
          <p:spPr>
            <a:xfrm rot="5400000">
              <a:off x="5580063" y="2060575"/>
              <a:ext cx="863600" cy="431800"/>
            </a:xfrm>
            <a:prstGeom prst="bentArrow">
              <a:avLst/>
            </a:prstGeom>
            <a:solidFill>
              <a:srgbClr val="99CC00">
                <a:alpha val="97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5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5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603" grpId="0" animBg="1"/>
      <p:bldP spid="365581" grpId="0"/>
      <p:bldP spid="365582" grpId="0"/>
      <p:bldP spid="365583" grpId="0"/>
      <p:bldP spid="365599" grpId="0" animBg="1"/>
      <p:bldP spid="365600" grpId="0" animBg="1"/>
      <p:bldP spid="36560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169DE229-A2AA-4880-B7D3-58B323A4E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9223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有界格与有补格</a:t>
            </a:r>
          </a:p>
        </p:txBody>
      </p:sp>
      <p:sp>
        <p:nvSpPr>
          <p:cNvPr id="10243" name="灯片编号占位符 4">
            <a:extLst>
              <a:ext uri="{FF2B5EF4-FFF2-40B4-BE49-F238E27FC236}">
                <a16:creationId xmlns:a16="http://schemas.microsoft.com/office/drawing/2014/main" id="{6865090F-1FF6-4BE5-9FED-E68183E2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552135-9BFE-45E4-9E5E-BE1386DA3FD0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E373F2FD-B5D8-4A23-B5F6-DE3F01BE3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8" y="1268413"/>
          <a:ext cx="8070850" cy="474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Document" r:id="rId4" imgW="3772875" imgH="2219919" progId="Word.Document.8">
                  <p:embed/>
                </p:oleObj>
              </mc:Choice>
              <mc:Fallback>
                <p:oleObj name="Document" r:id="rId4" imgW="3772875" imgH="221991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1268413"/>
                        <a:ext cx="8070850" cy="474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6DCFD1D3-7923-48A2-8706-F85699E44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补元与有补格</a:t>
            </a:r>
          </a:p>
        </p:txBody>
      </p:sp>
      <p:sp>
        <p:nvSpPr>
          <p:cNvPr id="47106" name="灯片编号占位符 4">
            <a:extLst>
              <a:ext uri="{FF2B5EF4-FFF2-40B4-BE49-F238E27FC236}">
                <a16:creationId xmlns:a16="http://schemas.microsoft.com/office/drawing/2014/main" id="{640B1970-28A7-4172-9257-6D3F5D6B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26163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F83F93-BB78-4A27-932A-7E85FEFB32AA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8436" name="Group 35">
            <a:extLst>
              <a:ext uri="{FF2B5EF4-FFF2-40B4-BE49-F238E27FC236}">
                <a16:creationId xmlns:a16="http://schemas.microsoft.com/office/drawing/2014/main" id="{9C6DF17B-52FE-4BDB-ACEF-DDAA1E637892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903413"/>
            <a:ext cx="2160587" cy="2751137"/>
            <a:chOff x="3787" y="1344"/>
            <a:chExt cx="1361" cy="1733"/>
          </a:xfrm>
        </p:grpSpPr>
        <p:sp>
          <p:nvSpPr>
            <p:cNvPr id="18461" name="Text Box 3">
              <a:extLst>
                <a:ext uri="{FF2B5EF4-FFF2-40B4-BE49-F238E27FC236}">
                  <a16:creationId xmlns:a16="http://schemas.microsoft.com/office/drawing/2014/main" id="{664F7A41-9E93-4952-A474-76A92658D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" y="275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8462" name="Group 4">
              <a:extLst>
                <a:ext uri="{FF2B5EF4-FFF2-40B4-BE49-F238E27FC236}">
                  <a16:creationId xmlns:a16="http://schemas.microsoft.com/office/drawing/2014/main" id="{4FB634FD-39D5-4528-909F-B2665C216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" y="1344"/>
              <a:ext cx="1361" cy="1542"/>
              <a:chOff x="3560" y="1389"/>
              <a:chExt cx="1361" cy="1542"/>
            </a:xfrm>
          </p:grpSpPr>
          <p:grpSp>
            <p:nvGrpSpPr>
              <p:cNvPr id="18463" name="Group 5">
                <a:extLst>
                  <a:ext uri="{FF2B5EF4-FFF2-40B4-BE49-F238E27FC236}">
                    <a16:creationId xmlns:a16="http://schemas.microsoft.com/office/drawing/2014/main" id="{94A0E638-EF0A-4CA0-815A-BB62B3F0A1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0" y="1525"/>
                <a:ext cx="1361" cy="1406"/>
                <a:chOff x="3606" y="1616"/>
                <a:chExt cx="1361" cy="1406"/>
              </a:xfrm>
            </p:grpSpPr>
            <p:pic>
              <p:nvPicPr>
                <p:cNvPr id="18465" name="Picture 6" descr="19">
                  <a:extLst>
                    <a:ext uri="{FF2B5EF4-FFF2-40B4-BE49-F238E27FC236}">
                      <a16:creationId xmlns:a16="http://schemas.microsoft.com/office/drawing/2014/main" id="{B133D3B3-460D-4C2A-B1B2-3DF94977A5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8530" t="-3697" r="-3102" b="51520"/>
                <a:stretch>
                  <a:fillRect/>
                </a:stretch>
              </p:blipFill>
              <p:spPr bwMode="auto">
                <a:xfrm>
                  <a:off x="3606" y="1616"/>
                  <a:ext cx="1361" cy="14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466" name="Text Box 7">
                  <a:extLst>
                    <a:ext uri="{FF2B5EF4-FFF2-40B4-BE49-F238E27FC236}">
                      <a16:creationId xmlns:a16="http://schemas.microsoft.com/office/drawing/2014/main" id="{295FDCE9-2681-4E2C-AF8A-FCA2943D38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94" y="1949"/>
                  <a:ext cx="215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i="1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8467" name="Text Box 8">
                  <a:extLst>
                    <a:ext uri="{FF2B5EF4-FFF2-40B4-BE49-F238E27FC236}">
                      <a16:creationId xmlns:a16="http://schemas.microsoft.com/office/drawing/2014/main" id="{ECC8C05F-C002-40F2-99A8-A8D9455C78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94" y="2358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i="1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18468" name="Text Box 9">
                  <a:extLst>
                    <a:ext uri="{FF2B5EF4-FFF2-40B4-BE49-F238E27FC236}">
                      <a16:creationId xmlns:a16="http://schemas.microsoft.com/office/drawing/2014/main" id="{649B26B8-2DA6-4E7A-9F23-1AB705C56D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1" y="2176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i="1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8464" name="Text Box 10">
                <a:extLst>
                  <a:ext uri="{FF2B5EF4-FFF2-40B4-BE49-F238E27FC236}">
                    <a16:creationId xmlns:a16="http://schemas.microsoft.com/office/drawing/2014/main" id="{9D8859FA-08E8-4A77-9288-4DB7222EA2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0" y="1389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8437" name="Group 11">
            <a:extLst>
              <a:ext uri="{FF2B5EF4-FFF2-40B4-BE49-F238E27FC236}">
                <a16:creationId xmlns:a16="http://schemas.microsoft.com/office/drawing/2014/main" id="{92C0463B-F903-45CB-A38A-E02C3B811C12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974850"/>
            <a:ext cx="1925638" cy="2751138"/>
            <a:chOff x="2195" y="1391"/>
            <a:chExt cx="1213" cy="1733"/>
          </a:xfrm>
        </p:grpSpPr>
        <p:pic>
          <p:nvPicPr>
            <p:cNvPr id="18455" name="Picture 12" descr="19">
              <a:extLst>
                <a:ext uri="{FF2B5EF4-FFF2-40B4-BE49-F238E27FC236}">
                  <a16:creationId xmlns:a16="http://schemas.microsoft.com/office/drawing/2014/main" id="{1796B948-F94B-4950-AB95-A872DF09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37" t="-3555" r="10289" b="52843"/>
            <a:stretch>
              <a:fillRect/>
            </a:stretch>
          </p:blipFill>
          <p:spPr bwMode="auto">
            <a:xfrm>
              <a:off x="2286" y="1572"/>
              <a:ext cx="1089" cy="1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6" name="Text Box 13">
              <a:extLst>
                <a:ext uri="{FF2B5EF4-FFF2-40B4-BE49-F238E27FC236}">
                  <a16:creationId xmlns:a16="http://schemas.microsoft.com/office/drawing/2014/main" id="{DE082E25-9C49-4816-98D5-7F90BCEE1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279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57" name="Text Box 14">
              <a:extLst>
                <a:ext uri="{FF2B5EF4-FFF2-40B4-BE49-F238E27FC236}">
                  <a16:creationId xmlns:a16="http://schemas.microsoft.com/office/drawing/2014/main" id="{B3C2857E-0223-461D-B69A-E72439554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139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8" name="Text Box 15">
              <a:extLst>
                <a:ext uri="{FF2B5EF4-FFF2-40B4-BE49-F238E27FC236}">
                  <a16:creationId xmlns:a16="http://schemas.microsoft.com/office/drawing/2014/main" id="{A8302870-7B33-4802-BC9E-72E8404F9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198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59" name="Text Box 16">
              <a:extLst>
                <a:ext uri="{FF2B5EF4-FFF2-40B4-BE49-F238E27FC236}">
                  <a16:creationId xmlns:a16="http://schemas.microsoft.com/office/drawing/2014/main" id="{A7BB60DC-B158-4E81-B97B-5E05B450C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202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60" name="Text Box 17">
              <a:extLst>
                <a:ext uri="{FF2B5EF4-FFF2-40B4-BE49-F238E27FC236}">
                  <a16:creationId xmlns:a16="http://schemas.microsoft.com/office/drawing/2014/main" id="{A32CE61F-5680-4792-B496-A90B71823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3" y="2026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8438" name="Group 18">
            <a:extLst>
              <a:ext uri="{FF2B5EF4-FFF2-40B4-BE49-F238E27FC236}">
                <a16:creationId xmlns:a16="http://schemas.microsoft.com/office/drawing/2014/main" id="{0306B3BD-CC53-4936-81E2-4FF752A31530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903413"/>
            <a:ext cx="1920875" cy="2822575"/>
            <a:chOff x="884" y="1344"/>
            <a:chExt cx="1210" cy="1778"/>
          </a:xfrm>
        </p:grpSpPr>
        <p:pic>
          <p:nvPicPr>
            <p:cNvPr id="18449" name="Picture 19" descr="19">
              <a:extLst>
                <a:ext uri="{FF2B5EF4-FFF2-40B4-BE49-F238E27FC236}">
                  <a16:creationId xmlns:a16="http://schemas.microsoft.com/office/drawing/2014/main" id="{7D70B738-24FC-4020-865D-225725B70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305" r="21176" b="49586"/>
            <a:stretch>
              <a:fillRect/>
            </a:stretch>
          </p:blipFill>
          <p:spPr bwMode="auto">
            <a:xfrm>
              <a:off x="930" y="1616"/>
              <a:ext cx="1164" cy="1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0" name="Text Box 20">
              <a:extLst>
                <a:ext uri="{FF2B5EF4-FFF2-40B4-BE49-F238E27FC236}">
                  <a16:creationId xmlns:a16="http://schemas.microsoft.com/office/drawing/2014/main" id="{21491968-1A39-4C8B-9111-4824CC565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79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51" name="Text Box 21">
              <a:extLst>
                <a:ext uri="{FF2B5EF4-FFF2-40B4-BE49-F238E27FC236}">
                  <a16:creationId xmlns:a16="http://schemas.microsoft.com/office/drawing/2014/main" id="{D5781C31-21C6-4675-9842-A498C752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34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52" name="Text Box 22">
              <a:extLst>
                <a:ext uri="{FF2B5EF4-FFF2-40B4-BE49-F238E27FC236}">
                  <a16:creationId xmlns:a16="http://schemas.microsoft.com/office/drawing/2014/main" id="{C46D9897-544B-475C-91C6-C30CAAC07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20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53" name="Text Box 23">
              <a:extLst>
                <a:ext uri="{FF2B5EF4-FFF2-40B4-BE49-F238E27FC236}">
                  <a16:creationId xmlns:a16="http://schemas.microsoft.com/office/drawing/2014/main" id="{09F68075-AE88-46F8-B8B6-649BF9187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25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54" name="Text Box 24">
              <a:extLst>
                <a:ext uri="{FF2B5EF4-FFF2-40B4-BE49-F238E27FC236}">
                  <a16:creationId xmlns:a16="http://schemas.microsoft.com/office/drawing/2014/main" id="{222AF8EE-5C03-4C96-88D4-D60982C22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842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8439" name="Rectangle 25">
            <a:extLst>
              <a:ext uri="{FF2B5EF4-FFF2-40B4-BE49-F238E27FC236}">
                <a16:creationId xmlns:a16="http://schemas.microsoft.com/office/drawing/2014/main" id="{E6F5E56A-0982-4B10-BC3B-FEB170582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76338"/>
            <a:ext cx="667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0,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=1,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互为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补元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FF0B2F69-CA6B-4C0D-B0AA-5BFD8FB4E3C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854575"/>
            <a:ext cx="2208212" cy="1168400"/>
            <a:chOff x="657" y="3203"/>
            <a:chExt cx="1391" cy="736"/>
          </a:xfrm>
        </p:grpSpPr>
        <p:sp>
          <p:nvSpPr>
            <p:cNvPr id="18447" name="Text Box 27">
              <a:extLst>
                <a:ext uri="{FF2B5EF4-FFF2-40B4-BE49-F238E27FC236}">
                  <a16:creationId xmlns:a16="http://schemas.microsoft.com/office/drawing/2014/main" id="{9F7F5EB5-F8F9-44EA-ABDD-CBAB90B74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203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与</a:t>
              </a:r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>
                  <a:latin typeface="Times New Roman" panose="02020603050405020304" pitchFamily="18" charset="0"/>
                </a:rPr>
                <a:t>互补</a:t>
              </a:r>
            </a:p>
          </p:txBody>
        </p:sp>
        <p:sp>
          <p:nvSpPr>
            <p:cNvPr id="18448" name="Text Box 28">
              <a:extLst>
                <a:ext uri="{FF2B5EF4-FFF2-40B4-BE49-F238E27FC236}">
                  <a16:creationId xmlns:a16="http://schemas.microsoft.com/office/drawing/2014/main" id="{9F475B89-72A1-4A03-88A1-229236511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3612"/>
              <a:ext cx="13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a, b, c </a:t>
              </a:r>
              <a:r>
                <a:rPr lang="zh-CN" altLang="en-US" sz="2800" b="1">
                  <a:latin typeface="Times New Roman" panose="02020603050405020304" pitchFamily="18" charset="0"/>
                </a:rPr>
                <a:t>没补元</a:t>
              </a:r>
            </a:p>
          </p:txBody>
        </p:sp>
      </p:grpSp>
      <p:grpSp>
        <p:nvGrpSpPr>
          <p:cNvPr id="8" name="Group 36">
            <a:extLst>
              <a:ext uri="{FF2B5EF4-FFF2-40B4-BE49-F238E27FC236}">
                <a16:creationId xmlns:a16="http://schemas.microsoft.com/office/drawing/2014/main" id="{75DD7024-376B-445B-81A9-5CDC528A18DF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4729163"/>
            <a:ext cx="2520950" cy="1471612"/>
            <a:chOff x="2245" y="3124"/>
            <a:chExt cx="1588" cy="927"/>
          </a:xfrm>
        </p:grpSpPr>
        <p:sp>
          <p:nvSpPr>
            <p:cNvPr id="18445" name="Text Box 30">
              <a:extLst>
                <a:ext uri="{FF2B5EF4-FFF2-40B4-BE49-F238E27FC236}">
                  <a16:creationId xmlns:a16="http://schemas.microsoft.com/office/drawing/2014/main" id="{3AEE6313-97EF-43FC-AD57-3869883F2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124"/>
              <a:ext cx="11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与</a:t>
              </a:r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>
                  <a:latin typeface="Times New Roman" panose="02020603050405020304" pitchFamily="18" charset="0"/>
                </a:rPr>
                <a:t>互补</a:t>
              </a:r>
            </a:p>
          </p:txBody>
        </p:sp>
        <p:sp>
          <p:nvSpPr>
            <p:cNvPr id="18446" name="Text Box 31">
              <a:extLst>
                <a:ext uri="{FF2B5EF4-FFF2-40B4-BE49-F238E27FC236}">
                  <a16:creationId xmlns:a16="http://schemas.microsoft.com/office/drawing/2014/main" id="{2D6494DE-BCEE-48BF-A871-AB3521094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455"/>
              <a:ext cx="1588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a, b, c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中任两</a:t>
              </a:r>
            </a:p>
            <a:p>
              <a:pPr eaLnBrk="1" hangingPunct="1"/>
              <a:r>
                <a:rPr lang="zh-CN" altLang="en-US" sz="2800" b="1">
                  <a:latin typeface="Times New Roman" panose="02020603050405020304" pitchFamily="18" charset="0"/>
                </a:rPr>
                <a:t>个元素都互补</a:t>
              </a:r>
            </a:p>
          </p:txBody>
        </p:sp>
      </p:grpSp>
      <p:grpSp>
        <p:nvGrpSpPr>
          <p:cNvPr id="9" name="Group 37">
            <a:extLst>
              <a:ext uri="{FF2B5EF4-FFF2-40B4-BE49-F238E27FC236}">
                <a16:creationId xmlns:a16="http://schemas.microsoft.com/office/drawing/2014/main" id="{4437E111-227A-479E-AD03-A8F6F404C9D2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4711700"/>
            <a:ext cx="2160587" cy="1093788"/>
            <a:chOff x="3923" y="3113"/>
            <a:chExt cx="1361" cy="689"/>
          </a:xfrm>
        </p:grpSpPr>
        <p:sp>
          <p:nvSpPr>
            <p:cNvPr id="18443" name="Text Box 33">
              <a:extLst>
                <a:ext uri="{FF2B5EF4-FFF2-40B4-BE49-F238E27FC236}">
                  <a16:creationId xmlns:a16="http://schemas.microsoft.com/office/drawing/2014/main" id="{1158099F-BB98-48D0-A483-58E0C61E4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3113"/>
              <a:ext cx="11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0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与</a:t>
              </a:r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>
                  <a:latin typeface="Times New Roman" panose="02020603050405020304" pitchFamily="18" charset="0"/>
                </a:rPr>
                <a:t>互补</a:t>
              </a:r>
            </a:p>
          </p:txBody>
        </p:sp>
        <p:sp>
          <p:nvSpPr>
            <p:cNvPr id="18444" name="Text Box 34">
              <a:extLst>
                <a:ext uri="{FF2B5EF4-FFF2-40B4-BE49-F238E27FC236}">
                  <a16:creationId xmlns:a16="http://schemas.microsoft.com/office/drawing/2014/main" id="{C4D7D88C-2282-48CA-A2AC-336E94208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475"/>
              <a:ext cx="13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</a:rPr>
                <a:t>与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b,c</a:t>
              </a:r>
              <a:r>
                <a:rPr lang="zh-CN" altLang="en-US" sz="2800" b="1">
                  <a:latin typeface="Times New Roman" panose="02020603050405020304" pitchFamily="18" charset="0"/>
                </a:rPr>
                <a:t>互补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3B67DC4F-C2E9-44CB-9A72-38968B2E4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有补格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3C06A12-8CBE-4296-A67C-410D09E9C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8025" y="1341438"/>
            <a:ext cx="8112125" cy="4525962"/>
          </a:xfrm>
          <a:noFill/>
        </p:spPr>
        <p:txBody>
          <a:bodyPr/>
          <a:lstStyle/>
          <a:p>
            <a:pPr indent="-190500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补元性质：</a:t>
            </a:r>
          </a:p>
          <a:p>
            <a:pPr indent="-190500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有界分配格中元素 </a:t>
            </a:r>
            <a:r>
              <a:rPr lang="en-US" altLang="zh-CN" sz="2800" b="1" i="1">
                <a:latin typeface="Times New Roman" panose="02020603050405020304" pitchFamily="18" charset="0"/>
              </a:rPr>
              <a:t>x </a:t>
            </a:r>
            <a:r>
              <a:rPr lang="zh-CN" altLang="en-US" sz="2800" b="1"/>
              <a:t>如果存在补元，则是唯一的</a:t>
            </a:r>
          </a:p>
          <a:p>
            <a:pPr indent="-190500"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有补格</a:t>
            </a:r>
            <a:r>
              <a:rPr lang="zh-CN" altLang="en-US" sz="2800" b="1"/>
              <a:t>定义：每个元素都有补元的有界格</a:t>
            </a:r>
          </a:p>
          <a:p>
            <a:pPr indent="-190500"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800" b="1"/>
              <a:t>思考：</a:t>
            </a:r>
          </a:p>
          <a:p>
            <a:pPr indent="-190500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求补是否为有补格上的一元运算？</a:t>
            </a:r>
          </a:p>
          <a:p>
            <a:pPr indent="-190500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求补是否为分配格上的一元运算？</a:t>
            </a:r>
          </a:p>
        </p:txBody>
      </p:sp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8A6B812A-CCB0-47C6-9C94-4FF53D34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772424-B75D-4A71-A1A2-2D2D3EE3AFF9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DB09A723-557A-435E-A970-978732077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0602"/>
            <a:ext cx="8229600" cy="8367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19.4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布尔代数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12A00FA-F13B-42E3-85B8-BFDB4B58F1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412875"/>
            <a:ext cx="5457825" cy="49974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/>
              <a:t>布尔代数定义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布尔代数性质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布尔代数的同态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有限布尔代数的结构</a:t>
            </a:r>
          </a:p>
        </p:txBody>
      </p:sp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24D65D35-69DC-491B-AD9C-19D6732E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EC860E-16B1-4125-8E0A-14AB4308BF0E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93E9042D-68F0-4D80-A32B-CC7ED71F6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布尔代数的定义</a:t>
            </a:r>
          </a:p>
        </p:txBody>
      </p:sp>
      <p:sp>
        <p:nvSpPr>
          <p:cNvPr id="21507" name="内容占位符 4">
            <a:extLst>
              <a:ext uri="{FF2B5EF4-FFF2-40B4-BE49-F238E27FC236}">
                <a16:creationId xmlns:a16="http://schemas.microsoft.com/office/drawing/2014/main" id="{5024E236-1AD0-49EC-A56B-BA15E9B4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6868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有补分配格称为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布尔格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布尔代数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实例：幂集格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设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是代数系统，其中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为二元运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为一元运算，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元运算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如果满足以下算律：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交换律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分配律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)∘(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)*(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同一律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补元律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,∘,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构成布尔格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b="1"/>
          </a:p>
        </p:txBody>
      </p:sp>
      <p:sp>
        <p:nvSpPr>
          <p:cNvPr id="50180" name="灯片编号占位符 4">
            <a:extLst>
              <a:ext uri="{FF2B5EF4-FFF2-40B4-BE49-F238E27FC236}">
                <a16:creationId xmlns:a16="http://schemas.microsoft.com/office/drawing/2014/main" id="{28633801-2F05-440C-B452-DD1663E8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9D34F3-FB4C-4BC4-A90D-EE6DFD90F543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D26462F4-79F6-4BE5-A5D6-B6CB64A25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850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定理证明</a:t>
            </a:r>
          </a:p>
        </p:txBody>
      </p:sp>
      <p:sp>
        <p:nvSpPr>
          <p:cNvPr id="22531" name="内容占位符 4">
            <a:extLst>
              <a:ext uri="{FF2B5EF4-FFF2-40B4-BE49-F238E27FC236}">
                <a16:creationId xmlns:a16="http://schemas.microsoft.com/office/drawing/2014/main" id="{C23D73A7-C436-4320-ACF4-3AE5D9BC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8472487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证明思路：由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b, a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分别为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运算的单位元，证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和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恰为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运算的零元；再证吸收律、结合律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 (1)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∘(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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)∘(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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证吸收律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)∘(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 b="1"/>
          </a:p>
        </p:txBody>
      </p:sp>
      <p:sp>
        <p:nvSpPr>
          <p:cNvPr id="51204" name="灯片编号占位符 4">
            <a:extLst>
              <a:ext uri="{FF2B5EF4-FFF2-40B4-BE49-F238E27FC236}">
                <a16:creationId xmlns:a16="http://schemas.microsoft.com/office/drawing/2014/main" id="{BCD1C1B3-A147-48D5-B2ED-AD4F99FB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8C3C36-1C77-4C01-A6CC-C766A6B5D4FE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6A3DB9DE-18FB-4FA8-A7CE-0FC7E9951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36525"/>
            <a:ext cx="7772400" cy="7191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定理证明（续）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0BF978E-2D4C-4160-8EC1-C404247DF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08050"/>
            <a:ext cx="8496300" cy="5746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latin typeface="Times New Roman" panose="02020603050405020304" pitchFamily="18" charset="0"/>
              </a:rPr>
              <a:t>证结合律 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命题 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 = 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 =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 = z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fr-FR" altLang="zh-CN" sz="2800" b="1" i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8489CF4D-AB3F-429F-BB0E-308EA404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870242-1ED6-454F-B988-2CA86CD812B6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9908" name="Rectangle 4">
            <a:extLst>
              <a:ext uri="{FF2B5EF4-FFF2-40B4-BE49-F238E27FC236}">
                <a16:creationId xmlns:a16="http://schemas.microsoft.com/office/drawing/2014/main" id="{1EDF9B13-4EA0-4655-AE86-1F0718512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2708275"/>
            <a:ext cx="77724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800" i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x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u="sng">
                <a:latin typeface="Times New Roman" panose="02020603050405020304" pitchFamily="18" charset="0"/>
              </a:rPr>
              <a:t>(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y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z</a:t>
            </a:r>
            <a:r>
              <a:rPr lang="fr-FR" altLang="zh-CN" sz="2800" b="1" u="sng">
                <a:latin typeface="Times New Roman" panose="02020603050405020304" pitchFamily="18" charset="0"/>
              </a:rPr>
              <a:t>)</a:t>
            </a:r>
            <a:r>
              <a:rPr lang="fr-FR" altLang="zh-CN" sz="2800" b="1">
                <a:latin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fr-FR" sz="2800" b="1">
                <a:latin typeface="Times New Roman" panose="02020603050405020304" pitchFamily="18" charset="0"/>
              </a:rPr>
              <a:t>，</a:t>
            </a:r>
            <a:endParaRPr lang="zh-CN" altLang="fr-FR" sz="2800" b="1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800" b="1" i="1">
                <a:latin typeface="Times New Roman" panose="02020603050405020304" pitchFamily="18" charset="0"/>
              </a:rPr>
              <a:t>  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u="sng">
                <a:latin typeface="Times New Roman" panose="02020603050405020304" pitchFamily="18" charset="0"/>
              </a:rPr>
              <a:t>(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x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y</a:t>
            </a:r>
            <a:r>
              <a:rPr lang="fr-FR" altLang="zh-CN" sz="2800" b="1" u="sng">
                <a:latin typeface="Times New Roman" panose="02020603050405020304" pitchFamily="18" charset="0"/>
              </a:rPr>
              <a:t>)</a:t>
            </a:r>
            <a:r>
              <a:rPr lang="en-US" altLang="zh-CN" sz="2800" b="1" u="sng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 u="sng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 = 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</a:rPr>
              <a:t>))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 =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fr-FR" sz="2800" b="1" i="1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379909" name="Rectangle 5">
            <a:extLst>
              <a:ext uri="{FF2B5EF4-FFF2-40B4-BE49-F238E27FC236}">
                <a16:creationId xmlns:a16="http://schemas.microsoft.com/office/drawing/2014/main" id="{2BD1A458-FFE1-4FF0-8507-60BD436D7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557338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fr-FR" altLang="zh-CN" sz="2800">
              <a:latin typeface="Times New Roman" panose="02020603050405020304" pitchFamily="18" charset="0"/>
            </a:endParaRPr>
          </a:p>
        </p:txBody>
      </p:sp>
      <p:sp>
        <p:nvSpPr>
          <p:cNvPr id="379910" name="Rectangle 6">
            <a:extLst>
              <a:ext uri="{FF2B5EF4-FFF2-40B4-BE49-F238E27FC236}">
                <a16:creationId xmlns:a16="http://schemas.microsoft.com/office/drawing/2014/main" id="{C4B7FCE6-E335-4C9C-9E8C-591CDFB22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060575"/>
            <a:ext cx="201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endParaRPr lang="fr-FR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379911" name="Rectangle 7">
            <a:extLst>
              <a:ext uri="{FF2B5EF4-FFF2-40B4-BE49-F238E27FC236}">
                <a16:creationId xmlns:a16="http://schemas.microsoft.com/office/drawing/2014/main" id="{8826C128-5915-4AB1-9603-49DB01C3A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365625"/>
            <a:ext cx="77724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))=(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))=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)=(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</a:rPr>
              <a:t>))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 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9912" name="Rectangle 8">
            <a:extLst>
              <a:ext uri="{FF2B5EF4-FFF2-40B4-BE49-F238E27FC236}">
                <a16:creationId xmlns:a16="http://schemas.microsoft.com/office/drawing/2014/main" id="{E7CD60B8-2B46-48C0-93E6-E275ABF2C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060575"/>
            <a:ext cx="1211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y=z</a:t>
            </a:r>
            <a:r>
              <a:rPr lang="en-US" altLang="zh-CN" sz="280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endParaRPr lang="fr-FR" altLang="zh-CN" sz="280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13" name="Rectangle 9">
            <a:extLst>
              <a:ext uri="{FF2B5EF4-FFF2-40B4-BE49-F238E27FC236}">
                <a16:creationId xmlns:a16="http://schemas.microsoft.com/office/drawing/2014/main" id="{9AFC71FF-6234-45E6-AD99-CCAE20018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8936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800" i="1">
                <a:solidFill>
                  <a:schemeClr val="tx2"/>
                </a:solidFill>
                <a:latin typeface="Times New Roman" panose="02020603050405020304" pitchFamily="18" charset="0"/>
              </a:rPr>
              <a:t>    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)) </a:t>
            </a:r>
            <a:r>
              <a:rPr lang="fr-FR" altLang="zh-CN" sz="2800" b="1">
                <a:latin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14" name="Rectangle 10">
            <a:extLst>
              <a:ext uri="{FF2B5EF4-FFF2-40B4-BE49-F238E27FC236}">
                <a16:creationId xmlns:a16="http://schemas.microsoft.com/office/drawing/2014/main" id="{F9654D44-D084-4392-8058-0D63E5732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5445125"/>
            <a:ext cx="7772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)) </a:t>
            </a:r>
            <a:r>
              <a:rPr lang="fr-FR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((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r>
              <a:rPr lang="fr-FR" altLang="zh-CN" sz="2800" b="1">
                <a:latin typeface="Times New Roman" panose="02020603050405020304" pitchFamily="18" charset="0"/>
              </a:rPr>
              <a:t>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379915" name="Text Box 11">
            <a:extLst>
              <a:ext uri="{FF2B5EF4-FFF2-40B4-BE49-F238E27FC236}">
                <a16:creationId xmlns:a16="http://schemas.microsoft.com/office/drawing/2014/main" id="{6A95116A-DB1B-464D-BEE3-1F5110BEF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060575"/>
            <a:ext cx="3414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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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9E63437-0ADC-4CE2-AFEF-AF21B6D3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6021388"/>
            <a:ext cx="77724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于是，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) =(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fr-FR" altLang="zh-CN" sz="2800" b="1" i="1">
                <a:latin typeface="Times New Roman" panose="02020603050405020304" pitchFamily="18" charset="0"/>
              </a:rPr>
              <a:t>z</a:t>
            </a:r>
            <a:r>
              <a:rPr lang="fr-FR" altLang="zh-CN" sz="2800" b="1">
                <a:latin typeface="Times New Roman" panose="02020603050405020304" pitchFamily="18" charset="0"/>
              </a:rPr>
              <a:t>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8" grpId="0"/>
      <p:bldP spid="379909" grpId="0"/>
      <p:bldP spid="379910" grpId="0"/>
      <p:bldP spid="379911" grpId="0"/>
      <p:bldP spid="379912" grpId="0"/>
      <p:bldP spid="379913" grpId="0"/>
      <p:bldP spid="379914" grpId="0"/>
      <p:bldP spid="379915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D7CD579F-92C1-4C83-9F3E-A0668E30B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定理的证明（续）</a:t>
            </a:r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649FC1B9-3383-46E1-81A3-C3699072F7C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11188" y="1484313"/>
          <a:ext cx="7759700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文档" r:id="rId4" imgW="3570837" imgH="2123889" progId="Word.Document.8">
                  <p:embed/>
                </p:oleObj>
              </mc:Choice>
              <mc:Fallback>
                <p:oleObj name="文档" r:id="rId4" imgW="3570837" imgH="2123889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7759700" cy="461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灯片编号占位符 5">
            <a:extLst>
              <a:ext uri="{FF2B5EF4-FFF2-40B4-BE49-F238E27FC236}">
                <a16:creationId xmlns:a16="http://schemas.microsoft.com/office/drawing/2014/main" id="{A61EB999-9F56-4950-A4C6-8B4D92EC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DD42DC-5487-4556-A088-9B1B6B984EE2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2">
            <a:extLst>
              <a:ext uri="{FF2B5EF4-FFF2-40B4-BE49-F238E27FC236}">
                <a16:creationId xmlns:a16="http://schemas.microsoft.com/office/drawing/2014/main" id="{C6381256-A2E5-4F2B-A499-6715D9AD7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032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布尔代数的性质</a:t>
            </a:r>
          </a:p>
        </p:txBody>
      </p:sp>
      <p:sp>
        <p:nvSpPr>
          <p:cNvPr id="6152" name="Rectangle 3">
            <a:extLst>
              <a:ext uri="{FF2B5EF4-FFF2-40B4-BE49-F238E27FC236}">
                <a16:creationId xmlns:a16="http://schemas.microsoft.com/office/drawing/2014/main" id="{22270A4C-66BB-42F4-8333-E08E3547908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46200"/>
            <a:ext cx="4033838" cy="4530725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 b="1" dirty="0"/>
              <a:t>双重否定律  </a:t>
            </a:r>
          </a:p>
          <a:p>
            <a:pPr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D.M</a:t>
            </a:r>
            <a:r>
              <a:rPr lang="zh-CN" altLang="en-US" sz="2800" b="1" dirty="0"/>
              <a:t>律          </a:t>
            </a:r>
          </a:p>
          <a:p>
            <a:pPr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 b="1" dirty="0"/>
              <a:t>等价条件</a:t>
            </a:r>
            <a:r>
              <a:rPr lang="en-US" altLang="zh-CN" sz="2800" b="1" dirty="0"/>
              <a:t>1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</a:rPr>
              <a:t>≼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/>
              <a:t>      </a:t>
            </a:r>
          </a:p>
          <a:p>
            <a:pPr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spcBef>
                <a:spcPct val="90000"/>
              </a:spcBef>
              <a:buFont typeface="Wingdings" panose="05000000000000000000" pitchFamily="2" charset="2"/>
              <a:buNone/>
            </a:pPr>
            <a:r>
              <a:rPr lang="zh-CN" altLang="en-US" sz="2800" b="1" dirty="0"/>
              <a:t>等价条件</a:t>
            </a:r>
            <a:r>
              <a:rPr lang="en-US" altLang="zh-CN" sz="2800" b="1" dirty="0"/>
              <a:t>2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</a:rPr>
              <a:t>≼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294" name="灯片编号占位符 6">
            <a:extLst>
              <a:ext uri="{FF2B5EF4-FFF2-40B4-BE49-F238E27FC236}">
                <a16:creationId xmlns:a16="http://schemas.microsoft.com/office/drawing/2014/main" id="{E2C8FA63-C5F1-4ED5-8411-685A56EF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CCD77F-F4A6-4BCA-BE90-3D408832314F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3" name="Rectangle 4">
            <a:extLst>
              <a:ext uri="{FF2B5EF4-FFF2-40B4-BE49-F238E27FC236}">
                <a16:creationId xmlns:a16="http://schemas.microsoft.com/office/drawing/2014/main" id="{1AB6B60F-AE29-493A-A2C0-F42FA38A2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4" name="Rectangle 5">
            <a:extLst>
              <a:ext uri="{FF2B5EF4-FFF2-40B4-BE49-F238E27FC236}">
                <a16:creationId xmlns:a16="http://schemas.microsoft.com/office/drawing/2014/main" id="{9C602773-8976-4D79-B184-0B4B6A706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Object 6">
                <a:extLst>
                  <a:ext uri="{FF2B5EF4-FFF2-40B4-BE49-F238E27FC236}">
                    <a16:creationId xmlns:a16="http://schemas.microsoft.com/office/drawing/2014/main" id="{6A5CED09-565C-4F0B-9CBB-2972BCC33802}"/>
                  </a:ext>
                </a:extLst>
              </p:cNvPr>
              <p:cNvSpPr txBox="1"/>
              <p:nvPr/>
            </p:nvSpPr>
            <p:spPr bwMode="auto">
              <a:xfrm>
                <a:off x="3419872" y="2852936"/>
                <a:ext cx="4103689" cy="5476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⇔</m:t>
                      </m: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zh-CN" altLang="en-US" sz="2800" b="1" i="1">
                              <a:latin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b="1" i="1">
                              <a:latin typeface="Times New Roman" panose="02020603050405020304" pitchFamily="18" charset="0"/>
                            </a:rPr>
                            <m:t>𝑏</m:t>
                          </m:r>
                        </m:e>
                      </m:ba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=0⇔</m:t>
                      </m:r>
                      <m:bar>
                        <m:barPr>
                          <m:pos m:val="top"/>
                          <m:ctrlPr>
                            <a:rPr lang="zh-CN" altLang="en-US" sz="2800" b="1" i="1">
                              <a:latin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b="1" i="1">
                              <a:latin typeface="Times New Roman" panose="02020603050405020304" pitchFamily="18" charset="0"/>
                            </a:rPr>
                            <m:t>𝑎</m:t>
                          </m:r>
                        </m:e>
                      </m:ba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∨</m:t>
                      </m: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800" b="1" i="1">
                          <a:latin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b="1" i="1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6" name="Object 6">
                <a:extLst>
                  <a:ext uri="{FF2B5EF4-FFF2-40B4-BE49-F238E27FC236}">
                    <a16:creationId xmlns:a16="http://schemas.microsoft.com/office/drawing/2014/main" id="{6A5CED09-565C-4F0B-9CBB-2972BCC3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872" y="2852936"/>
                <a:ext cx="4103689" cy="5476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Object 7">
                <a:extLst>
                  <a:ext uri="{FF2B5EF4-FFF2-40B4-BE49-F238E27FC236}">
                    <a16:creationId xmlns:a16="http://schemas.microsoft.com/office/drawing/2014/main" id="{D72945EA-4B09-4D78-9327-3BABC0C3C4F2}"/>
                  </a:ext>
                </a:extLst>
              </p:cNvPr>
              <p:cNvSpPr txBox="1"/>
              <p:nvPr/>
            </p:nvSpPr>
            <p:spPr bwMode="auto">
              <a:xfrm>
                <a:off x="3419475" y="2381449"/>
                <a:ext cx="4176713" cy="47148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⇔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∧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⇔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∨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𝑏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800" b="1">
                          <a:latin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7" name="Object 7">
                <a:extLst>
                  <a:ext uri="{FF2B5EF4-FFF2-40B4-BE49-F238E27FC236}">
                    <a16:creationId xmlns:a16="http://schemas.microsoft.com/office/drawing/2014/main" id="{D72945EA-4B09-4D78-9327-3BABC0C3C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475" y="2381449"/>
                <a:ext cx="4176713" cy="471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55" name="Group 12">
            <a:extLst>
              <a:ext uri="{FF2B5EF4-FFF2-40B4-BE49-F238E27FC236}">
                <a16:creationId xmlns:a16="http://schemas.microsoft.com/office/drawing/2014/main" id="{6D860B48-0F91-4295-96BE-152F40D84813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3645024"/>
            <a:ext cx="1512887" cy="650875"/>
            <a:chOff x="2154" y="2613"/>
            <a:chExt cx="953" cy="410"/>
          </a:xfrm>
        </p:grpSpPr>
        <p:graphicFrame>
          <p:nvGraphicFramePr>
            <p:cNvPr id="6148" name="Object 9">
              <a:extLst>
                <a:ext uri="{FF2B5EF4-FFF2-40B4-BE49-F238E27FC236}">
                  <a16:creationId xmlns:a16="http://schemas.microsoft.com/office/drawing/2014/main" id="{C342AAA6-589B-466B-BD90-760119B610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4" y="2614"/>
            <a:ext cx="544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1" name="公式" r:id="rId6" imgW="507960" imgH="203040" progId="Equation.3">
                    <p:embed/>
                  </p:oleObj>
                </mc:Choice>
                <mc:Fallback>
                  <p:oleObj name="公式" r:id="rId6" imgW="50796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42917" b="-8488"/>
                        <a:stretch>
                          <a:fillRect/>
                        </a:stretch>
                      </p:blipFill>
                      <p:spPr bwMode="auto">
                        <a:xfrm>
                          <a:off x="2154" y="2614"/>
                          <a:ext cx="544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" name="Object 10">
              <a:extLst>
                <a:ext uri="{FF2B5EF4-FFF2-40B4-BE49-F238E27FC236}">
                  <a16:creationId xmlns:a16="http://schemas.microsoft.com/office/drawing/2014/main" id="{FA16701F-0E8B-4408-A42C-A11E6EE852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3965399"/>
                </p:ext>
              </p:extLst>
            </p:nvPr>
          </p:nvGraphicFramePr>
          <p:xfrm>
            <a:off x="2868" y="2613"/>
            <a:ext cx="239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2" name="公式" r:id="rId8" imgW="507960" imgH="203040" progId="Equation.3">
                    <p:embed/>
                  </p:oleObj>
                </mc:Choice>
                <mc:Fallback>
                  <p:oleObj name="公式" r:id="rId8" imgW="50796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7332" b="9023"/>
                        <a:stretch>
                          <a:fillRect/>
                        </a:stretch>
                      </p:blipFill>
                      <p:spPr bwMode="auto">
                        <a:xfrm>
                          <a:off x="2868" y="2613"/>
                          <a:ext cx="239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6" name="Rectangle 11">
              <a:extLst>
                <a:ext uri="{FF2B5EF4-FFF2-40B4-BE49-F238E27FC236}">
                  <a16:creationId xmlns:a16="http://schemas.microsoft.com/office/drawing/2014/main" id="{6D9D5A84-89AB-45CA-83C9-32FE7295B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26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≼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FD434229-9FB5-4244-9C17-95079C40D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布尔代数的同态</a:t>
            </a:r>
          </a:p>
        </p:txBody>
      </p:sp>
      <p:sp>
        <p:nvSpPr>
          <p:cNvPr id="7172" name="内容占位符 5">
            <a:extLst>
              <a:ext uri="{FF2B5EF4-FFF2-40B4-BE49-F238E27FC236}">
                <a16:creationId xmlns:a16="http://schemas.microsoft.com/office/drawing/2014/main" id="{C2E691EB-6395-419B-802C-8001FAF49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为布尔代数，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则称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到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的同态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同态判定：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三个等式仅需要两个，其中等式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不独立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   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灯片编号占位符 4">
            <a:extLst>
              <a:ext uri="{FF2B5EF4-FFF2-40B4-BE49-F238E27FC236}">
                <a16:creationId xmlns:a16="http://schemas.microsoft.com/office/drawing/2014/main" id="{145BE7B4-2D71-4F80-A299-655C6C11C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7F770EF-45CB-44E0-8414-271CA7F51418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A6B2CE92-65C8-4AA9-9799-6816ACA4E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5">
            <a:extLst>
              <a:ext uri="{FF2B5EF4-FFF2-40B4-BE49-F238E27FC236}">
                <a16:creationId xmlns:a16="http://schemas.microsoft.com/office/drawing/2014/main" id="{9BB72179-774A-4BED-B5E0-5F3844C8E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989138"/>
          <a:ext cx="3648075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公式" r:id="rId4" imgW="1435100" imgH="647700" progId="Equation.3">
                  <p:embed/>
                </p:oleObj>
              </mc:Choice>
              <mc:Fallback>
                <p:oleObj name="公式" r:id="rId4" imgW="1435100" imgH="647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989138"/>
                        <a:ext cx="3648075" cy="164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E3E3EA88-5F7C-4210-9A31-5AF2B171C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284164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命题的证明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FF8D5064-2408-4101-9B74-AA032245187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0" y="1268413"/>
          <a:ext cx="8353425" cy="517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文档" r:id="rId4" imgW="3705722" imgH="2295385" progId="Word.Document.8">
                  <p:embed/>
                </p:oleObj>
              </mc:Choice>
              <mc:Fallback>
                <p:oleObj name="文档" r:id="rId4" imgW="3705722" imgH="229538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68413"/>
                        <a:ext cx="8353425" cy="517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灯片编号占位符 5">
            <a:extLst>
              <a:ext uri="{FF2B5EF4-FFF2-40B4-BE49-F238E27FC236}">
                <a16:creationId xmlns:a16="http://schemas.microsoft.com/office/drawing/2014/main" id="{AB9B9B92-79BE-4654-9E48-D86C5895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C2FB31-2E20-473A-BBAC-7E34906F4A30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E4D9E43A-C951-4116-9C75-A82006BA4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有限布尔代数的结构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1A794DC-1370-4C51-9F9B-FBE4599507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96975"/>
            <a:ext cx="7772400" cy="4852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有限布尔代数的表示定理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设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</a:rPr>
              <a:t>是有限布尔代数，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的全体原子的集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合，则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与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同构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证明思路：小于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的原子为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那么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</a:t>
            </a:r>
            <a:r>
              <a:rPr lang="zh-CN" altLang="en-US" sz="2800" b="1">
                <a:latin typeface="Times New Roman" panose="02020603050405020304" pitchFamily="18" charset="0"/>
              </a:rPr>
              <a:t>映射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</a:rPr>
              <a:t>满足：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 = {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</a:t>
            </a:r>
            <a:r>
              <a:rPr lang="zh-CN" altLang="en-US" sz="2800" b="1">
                <a:latin typeface="Times New Roman" panose="02020603050405020304" pitchFamily="18" charset="0"/>
              </a:rPr>
              <a:t>可以证明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为同构映射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任何有限布尔代数元素数为 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任何有限布尔代数都同构于 </a:t>
            </a:r>
            <a:r>
              <a:rPr lang="en-US" altLang="zh-CN" sz="2800" b="1">
                <a:latin typeface="Times New Roman" panose="02020603050405020304" pitchFamily="18" charset="0"/>
              </a:rPr>
              <a:t>{0,1}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CF928ED8-021E-4FB1-AB8C-FAB9EDA3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57B461-A61D-4C61-A5D1-3E4D473E508C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>
            <a:extLst>
              <a:ext uri="{FF2B5EF4-FFF2-40B4-BE49-F238E27FC236}">
                <a16:creationId xmlns:a16="http://schemas.microsoft.com/office/drawing/2014/main" id="{3422A6BB-18C6-4A61-8B31-567CC6BF1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题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FF45DA1-6A3B-4517-8F30-E229D1D9E2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1013" y="1125538"/>
            <a:ext cx="8156575" cy="29511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fr-FR" sz="2800" b="1"/>
              <a:t>例</a:t>
            </a:r>
            <a:r>
              <a:rPr lang="fr-FR" altLang="zh-CN" sz="2800" b="1"/>
              <a:t>1 </a:t>
            </a:r>
            <a:r>
              <a:rPr lang="zh-CN" altLang="fr-FR" sz="2800" b="1">
                <a:latin typeface="Times New Roman" panose="02020603050405020304" pitchFamily="18" charset="0"/>
              </a:rPr>
              <a:t>设</a:t>
            </a:r>
            <a:r>
              <a:rPr lang="zh-CN" altLang="fr-FR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fr-FR" sz="2800" b="1">
                <a:latin typeface="Times New Roman" panose="02020603050405020304" pitchFamily="18" charset="0"/>
              </a:rPr>
              <a:t>是布尔代数 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fr-FR" sz="2800" b="1">
                <a:latin typeface="Times New Roman" panose="02020603050405020304" pitchFamily="18" charset="0"/>
              </a:rPr>
              <a:t>到 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fr-FR" sz="2800" b="1">
                <a:latin typeface="Times New Roman" panose="02020603050405020304" pitchFamily="18" charset="0"/>
              </a:rPr>
              <a:t>的满同态映射，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fr-FR" sz="2800" b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fr-FR" sz="2800" b="1">
                <a:latin typeface="Times New Roman" panose="02020603050405020304" pitchFamily="18" charset="0"/>
              </a:rPr>
              <a:t>是</a:t>
            </a:r>
            <a:r>
              <a:rPr lang="zh-CN" altLang="fr-FR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fr-FR" sz="2800" b="1">
                <a:latin typeface="Times New Roman" panose="02020603050405020304" pitchFamily="18" charset="0"/>
              </a:rPr>
              <a:t>导出的 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fr-FR" sz="2800" b="1">
                <a:latin typeface="Times New Roman" panose="02020603050405020304" pitchFamily="18" charset="0"/>
              </a:rPr>
              <a:t>上的同余关系</a:t>
            </a:r>
            <a:r>
              <a:rPr lang="fr-FR" altLang="zh-CN" sz="2800" b="1">
                <a:latin typeface="Times New Roman" panose="02020603050405020304" pitchFamily="18" charset="0"/>
              </a:rPr>
              <a:t>. </a:t>
            </a:r>
            <a:r>
              <a:rPr lang="fr-FR" altLang="zh-CN" sz="2800" b="1" i="1">
                <a:latin typeface="Times New Roman" panose="02020603050405020304" pitchFamily="18" charset="0"/>
              </a:rPr>
              <a:t>g</a:t>
            </a:r>
            <a:r>
              <a:rPr lang="fr-FR" altLang="zh-CN" sz="2800" b="1">
                <a:latin typeface="Times New Roman" panose="02020603050405020304" pitchFamily="18" charset="0"/>
              </a:rPr>
              <a:t>: 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800" b="1">
                <a:latin typeface="Times New Roman" panose="02020603050405020304" pitchFamily="18" charset="0"/>
              </a:rPr>
              <a:t>/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fr-FR" sz="2800" b="1">
                <a:latin typeface="Times New Roman" panose="02020603050405020304" pitchFamily="18" charset="0"/>
              </a:rPr>
              <a:t>是自然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fr-FR" sz="2800" b="1">
                <a:latin typeface="Times New Roman" panose="02020603050405020304" pitchFamily="18" charset="0"/>
              </a:rPr>
              <a:t>映射，</a:t>
            </a:r>
            <a:r>
              <a:rPr lang="zh-CN" altLang="fr-FR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800" b="1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zh-CN" sz="2800" b="1">
                <a:latin typeface="Times New Roman" panose="02020603050405020304" pitchFamily="18" charset="0"/>
              </a:rPr>
              <a:t>            </a:t>
            </a:r>
            <a:r>
              <a:rPr lang="fr-FR" altLang="zh-CN" sz="2800" b="1" i="1">
                <a:latin typeface="Times New Roman" panose="02020603050405020304" pitchFamily="18" charset="0"/>
              </a:rPr>
              <a:t>g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) = [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] = { </a:t>
            </a:r>
            <a:r>
              <a:rPr lang="fr-FR" altLang="zh-CN" sz="2800" b="1" i="1">
                <a:latin typeface="Times New Roman" panose="02020603050405020304" pitchFamily="18" charset="0"/>
              </a:rPr>
              <a:t>y </a:t>
            </a:r>
            <a:r>
              <a:rPr lang="fr-FR" altLang="zh-CN" sz="2800" b="1">
                <a:latin typeface="Times New Roman" panose="02020603050405020304" pitchFamily="18" charset="0"/>
              </a:rPr>
              <a:t>| </a:t>
            </a:r>
            <a:r>
              <a:rPr lang="fr-FR" altLang="zh-CN" sz="2800" b="1" i="1">
                <a:latin typeface="Times New Roman" panose="02020603050405020304" pitchFamily="18" charset="0"/>
              </a:rPr>
              <a:t>y,</a:t>
            </a:r>
            <a:r>
              <a:rPr lang="zh-CN" altLang="fr-FR" sz="2800" b="1">
                <a:latin typeface="Times New Roman" panose="02020603050405020304" pitchFamily="18" charset="0"/>
              </a:rPr>
              <a:t> 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fr-FR" sz="2800" b="1">
                <a:latin typeface="Times New Roman" panose="02020603050405020304" pitchFamily="18" charset="0"/>
              </a:rPr>
              <a:t>且 </a:t>
            </a:r>
            <a:r>
              <a:rPr lang="zh-CN" altLang="fr-FR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y</a:t>
            </a:r>
            <a:r>
              <a:rPr lang="fr-FR" altLang="zh-CN" sz="2800" b="1">
                <a:latin typeface="Times New Roman" panose="02020603050405020304" pitchFamily="18" charset="0"/>
              </a:rPr>
              <a:t>)=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800" b="1">
                <a:latin typeface="Times New Roman" panose="02020603050405020304" pitchFamily="18" charset="0"/>
              </a:rPr>
              <a:t>(</a:t>
            </a:r>
            <a:r>
              <a:rPr lang="fr-FR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</a:rPr>
              <a:t>) }.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fr-FR" sz="2800" b="1">
                <a:latin typeface="Times New Roman" panose="02020603050405020304" pitchFamily="18" charset="0"/>
              </a:rPr>
              <a:t>证明存在</a:t>
            </a:r>
            <a:r>
              <a:rPr lang="zh-CN" altLang="en-US" sz="2800" b="1">
                <a:latin typeface="Times New Roman" panose="02020603050405020304" pitchFamily="18" charset="0"/>
              </a:rPr>
              <a:t>唯</a:t>
            </a:r>
            <a:r>
              <a:rPr lang="zh-CN" altLang="fr-FR" sz="2800" b="1">
                <a:latin typeface="Times New Roman" panose="02020603050405020304" pitchFamily="18" charset="0"/>
              </a:rPr>
              <a:t>一的同构映射 </a:t>
            </a:r>
            <a:r>
              <a:rPr lang="fr-FR" altLang="zh-CN" sz="2800" b="1" i="1">
                <a:latin typeface="Times New Roman" panose="02020603050405020304" pitchFamily="18" charset="0"/>
              </a:rPr>
              <a:t>f</a:t>
            </a:r>
            <a:r>
              <a:rPr lang="fr-FR" altLang="zh-CN" sz="2800" b="1">
                <a:latin typeface="Times New Roman" panose="02020603050405020304" pitchFamily="18" charset="0"/>
              </a:rPr>
              <a:t> :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800" b="1">
                <a:latin typeface="Times New Roman" panose="02020603050405020304" pitchFamily="18" charset="0"/>
              </a:rPr>
              <a:t>/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</a:t>
            </a:r>
            <a:r>
              <a:rPr lang="fr-FR" altLang="zh-CN" sz="2800" b="1" i="1">
                <a:latin typeface="Times New Roman" panose="02020603050405020304" pitchFamily="18" charset="0"/>
              </a:rPr>
              <a:t>B</a:t>
            </a:r>
            <a:r>
              <a:rPr lang="fr-FR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fr-FR" sz="2800" b="1">
                <a:latin typeface="Times New Roman" panose="02020603050405020304" pitchFamily="18" charset="0"/>
              </a:rPr>
              <a:t>使得 </a:t>
            </a:r>
            <a:r>
              <a:rPr lang="fr-FR" altLang="zh-CN" b="1" i="1">
                <a:latin typeface="Times New Roman" panose="02020603050405020304" pitchFamily="18" charset="0"/>
              </a:rPr>
              <a:t>f</a:t>
            </a:r>
            <a:r>
              <a:rPr lang="fr-FR" altLang="zh-CN" b="1">
                <a:latin typeface="Times New Roman" panose="02020603050405020304" pitchFamily="18" charset="0"/>
              </a:rPr>
              <a:t>∘</a:t>
            </a:r>
            <a:r>
              <a:rPr lang="fr-FR" altLang="zh-CN" b="1" i="1">
                <a:latin typeface="Times New Roman" panose="02020603050405020304" pitchFamily="18" charset="0"/>
              </a:rPr>
              <a:t>g</a:t>
            </a:r>
            <a:r>
              <a:rPr lang="fr-FR" altLang="zh-CN" b="1">
                <a:latin typeface="Times New Roman" panose="02020603050405020304" pitchFamily="18" charset="0"/>
              </a:rPr>
              <a:t>=</a:t>
            </a:r>
            <a:r>
              <a:rPr lang="fr-FR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4274" name="灯片编号占位符 5">
            <a:extLst>
              <a:ext uri="{FF2B5EF4-FFF2-40B4-BE49-F238E27FC236}">
                <a16:creationId xmlns:a16="http://schemas.microsoft.com/office/drawing/2014/main" id="{E7901748-487A-4F2E-A90C-A2C71535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05472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513951-9DF5-44D4-9D3B-583A7B1F6101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A2ABD75-7F55-47E8-B66A-44CA95570F76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5214938"/>
            <a:ext cx="2376487" cy="1020762"/>
            <a:chOff x="1701" y="3475"/>
            <a:chExt cx="1497" cy="643"/>
          </a:xfrm>
        </p:grpSpPr>
        <p:sp>
          <p:nvSpPr>
            <p:cNvPr id="25624" name="Line 5">
              <a:extLst>
                <a:ext uri="{FF2B5EF4-FFF2-40B4-BE49-F238E27FC236}">
                  <a16:creationId xmlns:a16="http://schemas.microsoft.com/office/drawing/2014/main" id="{1B4504F1-126E-4BAF-B3D8-8102E92FD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475"/>
              <a:ext cx="1497" cy="49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25" name="Text Box 6">
              <a:extLst>
                <a:ext uri="{FF2B5EF4-FFF2-40B4-BE49-F238E27FC236}">
                  <a16:creationId xmlns:a16="http://schemas.microsoft.com/office/drawing/2014/main" id="{12B1C504-73DF-4807-B108-B5C0D9FBF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657"/>
              <a:ext cx="318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00" b="1" i="1"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9CF3D7B-F444-4646-91CA-819BB1E3FD59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4424363"/>
            <a:ext cx="5845175" cy="1511300"/>
            <a:chOff x="612" y="2977"/>
            <a:chExt cx="3682" cy="952"/>
          </a:xfrm>
        </p:grpSpPr>
        <p:sp>
          <p:nvSpPr>
            <p:cNvPr id="25620" name="Oval 8">
              <a:extLst>
                <a:ext uri="{FF2B5EF4-FFF2-40B4-BE49-F238E27FC236}">
                  <a16:creationId xmlns:a16="http://schemas.microsoft.com/office/drawing/2014/main" id="{5A6B172E-E974-4EA6-B195-5AA070824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977"/>
              <a:ext cx="1089" cy="635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1" name="Oval 9">
              <a:extLst>
                <a:ext uri="{FF2B5EF4-FFF2-40B4-BE49-F238E27FC236}">
                  <a16:creationId xmlns:a16="http://schemas.microsoft.com/office/drawing/2014/main" id="{83A8A003-8213-45FD-80FC-0748E2914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22"/>
              <a:ext cx="953" cy="907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2" name="Text Box 10">
              <a:extLst>
                <a:ext uri="{FF2B5EF4-FFF2-40B4-BE49-F238E27FC236}">
                  <a16:creationId xmlns:a16="http://schemas.microsoft.com/office/drawing/2014/main" id="{77410252-EDC8-4E0E-B7D8-D0C3D48AD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113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32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23" name="Text Box 11">
              <a:extLst>
                <a:ext uri="{FF2B5EF4-FFF2-40B4-BE49-F238E27FC236}">
                  <a16:creationId xmlns:a16="http://schemas.microsoft.com/office/drawing/2014/main" id="{5EE15C4D-759C-429A-87F0-65D9C4FFE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249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32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167121AC-9FB0-4AEE-9CB7-695CFEA946D7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575300"/>
            <a:ext cx="2592387" cy="792163"/>
            <a:chOff x="521" y="3702"/>
            <a:chExt cx="1633" cy="499"/>
          </a:xfrm>
        </p:grpSpPr>
        <p:sp>
          <p:nvSpPr>
            <p:cNvPr id="25618" name="Oval 13">
              <a:extLst>
                <a:ext uri="{FF2B5EF4-FFF2-40B4-BE49-F238E27FC236}">
                  <a16:creationId xmlns:a16="http://schemas.microsoft.com/office/drawing/2014/main" id="{BE0F8650-FBF2-4D4E-9952-B692EA611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702"/>
              <a:ext cx="1043" cy="49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9" name="Text Box 14">
              <a:extLst>
                <a:ext uri="{FF2B5EF4-FFF2-40B4-BE49-F238E27FC236}">
                  <a16:creationId xmlns:a16="http://schemas.microsoft.com/office/drawing/2014/main" id="{7CEC334D-95FF-4996-8EAE-D78A68FF8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748"/>
              <a:ext cx="9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anose="02020603050405020304" pitchFamily="18" charset="0"/>
                </a:rPr>
                <a:t>B</a:t>
              </a:r>
              <a:r>
                <a:rPr lang="en-US" altLang="zh-CN" sz="32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3200" b="1">
                  <a:latin typeface="Times New Roman" panose="02020603050405020304" pitchFamily="18" charset="0"/>
                </a:rPr>
                <a:t>/</a:t>
              </a:r>
              <a:r>
                <a:rPr lang="en-US" altLang="zh-CN" sz="3200" b="1">
                  <a:latin typeface="Times New Roman" panose="02020603050405020304" pitchFamily="18" charset="0"/>
                  <a:sym typeface="Symbol" panose="05050102010706020507" pitchFamily="18" charset="2"/>
                </a:rPr>
                <a:t></a:t>
              </a:r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83183A99-FD8F-4E47-9F2D-FF128DE3D16E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4711700"/>
            <a:ext cx="1008062" cy="1598613"/>
            <a:chOff x="1247" y="3158"/>
            <a:chExt cx="635" cy="1007"/>
          </a:xfrm>
        </p:grpSpPr>
        <p:grpSp>
          <p:nvGrpSpPr>
            <p:cNvPr id="25614" name="Group 16">
              <a:extLst>
                <a:ext uri="{FF2B5EF4-FFF2-40B4-BE49-F238E27FC236}">
                  <a16:creationId xmlns:a16="http://schemas.microsoft.com/office/drawing/2014/main" id="{C0614DF9-3D5B-4A79-975C-F6167E4330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3158"/>
              <a:ext cx="318" cy="771"/>
              <a:chOff x="1247" y="3158"/>
              <a:chExt cx="318" cy="771"/>
            </a:xfrm>
          </p:grpSpPr>
          <p:sp>
            <p:nvSpPr>
              <p:cNvPr id="25616" name="Line 17">
                <a:extLst>
                  <a:ext uri="{FF2B5EF4-FFF2-40B4-BE49-F238E27FC236}">
                    <a16:creationId xmlns:a16="http://schemas.microsoft.com/office/drawing/2014/main" id="{F73F2BBB-FFF7-4C2B-98CF-7D5D367F7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5" y="3158"/>
                <a:ext cx="0" cy="771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25617" name="Text Box 18">
                <a:extLst>
                  <a:ext uri="{FF2B5EF4-FFF2-40B4-BE49-F238E27FC236}">
                    <a16:creationId xmlns:a16="http://schemas.microsoft.com/office/drawing/2014/main" id="{9E4225C0-AD88-402F-9997-0EDB6F577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158"/>
                <a:ext cx="284" cy="4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4200" b="1" i="1"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25615" name="Text Box 19">
              <a:extLst>
                <a:ext uri="{FF2B5EF4-FFF2-40B4-BE49-F238E27FC236}">
                  <a16:creationId xmlns:a16="http://schemas.microsoft.com/office/drawing/2014/main" id="{FDF5E1D9-E36E-4163-97D7-DE1FCE7DA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3838"/>
              <a:ext cx="4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</a:rPr>
                <a:t>[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</a:rPr>
                <a:t>]</a:t>
              </a: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C1F86271-CA4A-418A-B314-036734EE34A5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4206875"/>
            <a:ext cx="3816350" cy="1168400"/>
            <a:chOff x="1474" y="2840"/>
            <a:chExt cx="2404" cy="736"/>
          </a:xfrm>
        </p:grpSpPr>
        <p:sp>
          <p:nvSpPr>
            <p:cNvPr id="25610" name="Line 21">
              <a:extLst>
                <a:ext uri="{FF2B5EF4-FFF2-40B4-BE49-F238E27FC236}">
                  <a16:creationId xmlns:a16="http://schemas.microsoft.com/office/drawing/2014/main" id="{57095174-9FCE-477E-B904-D0DC81929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158"/>
              <a:ext cx="149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5611" name="Text Box 22">
              <a:extLst>
                <a:ext uri="{FF2B5EF4-FFF2-40B4-BE49-F238E27FC236}">
                  <a16:creationId xmlns:a16="http://schemas.microsoft.com/office/drawing/2014/main" id="{13DD3D67-EFC5-477D-B7C3-4A3D5648C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40"/>
              <a:ext cx="375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</a:p>
          </p:txBody>
        </p:sp>
        <p:sp>
          <p:nvSpPr>
            <p:cNvPr id="25612" name="Text Box 23">
              <a:extLst>
                <a:ext uri="{FF2B5EF4-FFF2-40B4-BE49-F238E27FC236}">
                  <a16:creationId xmlns:a16="http://schemas.microsoft.com/office/drawing/2014/main" id="{CA58983F-FB9E-41CD-9244-E5646F552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886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5613" name="Rectangle 24">
              <a:extLst>
                <a:ext uri="{FF2B5EF4-FFF2-40B4-BE49-F238E27FC236}">
                  <a16:creationId xmlns:a16="http://schemas.microsoft.com/office/drawing/2014/main" id="{40E4096A-7316-41A7-81E0-64EDBF444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249"/>
              <a:ext cx="7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fr-FR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fr-FR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fr-FR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fr-FR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>
            <a:extLst>
              <a:ext uri="{FF2B5EF4-FFF2-40B4-BE49-F238E27FC236}">
                <a16:creationId xmlns:a16="http://schemas.microsoft.com/office/drawing/2014/main" id="{8CB7E164-6F3A-43E0-B611-5B14C270D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同构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的存在性</a:t>
            </a:r>
          </a:p>
        </p:txBody>
      </p:sp>
      <p:sp>
        <p:nvSpPr>
          <p:cNvPr id="9222" name="Rectangle 4">
            <a:extLst>
              <a:ext uri="{FF2B5EF4-FFF2-40B4-BE49-F238E27FC236}">
                <a16:creationId xmlns:a16="http://schemas.microsoft.com/office/drawing/2014/main" id="{B91B944C-D00B-4C9C-ABE8-4FBC4189AA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196975"/>
            <a:ext cx="7834313" cy="1541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fr-FR" sz="2400" b="1">
                <a:latin typeface="Times New Roman" panose="02020603050405020304" pitchFamily="18" charset="0"/>
              </a:rPr>
              <a:t>证：令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 :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 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([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]) =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), </a:t>
            </a:r>
            <a:r>
              <a:rPr lang="zh-CN" altLang="fr-FR" sz="2400" b="1">
                <a:latin typeface="Times New Roman" panose="02020603050405020304" pitchFamily="18" charset="0"/>
              </a:rPr>
              <a:t>则 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] = [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]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fr-FR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fr-FR" altLang="zh-CN" sz="2400" b="1" i="1">
                <a:latin typeface="Times New Roman" panose="02020603050405020304" pitchFamily="18" charset="0"/>
              </a:rPr>
              <a:t>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endParaRPr lang="fr-FR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fr-FR" sz="2400" b="1">
                <a:latin typeface="Times New Roman" panose="02020603050405020304" pitchFamily="18" charset="0"/>
              </a:rPr>
              <a:t>于是  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zh-CN" altLang="fr-FR" sz="2400" b="1">
                <a:latin typeface="Times New Roman" panose="02020603050405020304" pitchFamily="18" charset="0"/>
              </a:rPr>
              <a:t>为良定义的，且为单射</a:t>
            </a:r>
            <a:r>
              <a:rPr lang="fr-FR" altLang="zh-CN" sz="2400" b="1">
                <a:latin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9218" name="Object 5">
            <a:extLst>
              <a:ext uri="{FF2B5EF4-FFF2-40B4-BE49-F238E27FC236}">
                <a16:creationId xmlns:a16="http://schemas.microsoft.com/office/drawing/2014/main" id="{110B507C-676F-47F0-BE66-7862CBCE233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531938" y="5084763"/>
          <a:ext cx="53324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公式" r:id="rId4" imgW="2298600" imgH="228600" progId="Equation.3">
                  <p:embed/>
                </p:oleObj>
              </mc:Choice>
              <mc:Fallback>
                <p:oleObj name="公式" r:id="rId4" imgW="2298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5084763"/>
                        <a:ext cx="53324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灯片编号占位符 6">
            <a:extLst>
              <a:ext uri="{FF2B5EF4-FFF2-40B4-BE49-F238E27FC236}">
                <a16:creationId xmlns:a16="http://schemas.microsoft.com/office/drawing/2014/main" id="{646D13F1-9CB8-4B88-BC22-165474C1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F5591F-5A9C-4E60-A19E-3312450B2C7A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FD19840-D8B3-46A1-8919-736A8C0C8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05263"/>
            <a:ext cx="7834313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fr-FR" sz="2400" b="1">
                <a:latin typeface="Times New Roman" panose="02020603050405020304" pitchFamily="18" charset="0"/>
              </a:rPr>
              <a:t>下面证明  </a:t>
            </a:r>
            <a:r>
              <a:rPr lang="fr-FR" altLang="zh-CN" sz="2400" b="1" i="1">
                <a:latin typeface="Times New Roman" panose="02020603050405020304" pitchFamily="18" charset="0"/>
              </a:rPr>
              <a:t>f  </a:t>
            </a:r>
            <a:r>
              <a:rPr lang="zh-CN" altLang="fr-FR" sz="2400" b="1">
                <a:latin typeface="Times New Roman" panose="02020603050405020304" pitchFamily="18" charset="0"/>
              </a:rPr>
              <a:t>为同态映射</a:t>
            </a:r>
            <a:r>
              <a:rPr lang="fr-FR" altLang="zh-CN" sz="2400" b="1">
                <a:latin typeface="Times New Roman" panose="02020603050405020304" pitchFamily="18" charset="0"/>
              </a:rPr>
              <a:t>. 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400" b="1">
                <a:latin typeface="Times New Roman" panose="02020603050405020304" pitchFamily="18" charset="0"/>
              </a:rPr>
              <a:t>[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],[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]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fr-FR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</a:rPr>
              <a:t>/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fr-FR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400" b="1" i="1">
                <a:latin typeface="Times New Roman" panose="02020603050405020304" pitchFamily="18" charset="0"/>
              </a:rPr>
              <a:t>         f</a:t>
            </a:r>
            <a:r>
              <a:rPr lang="fr-FR" altLang="zh-CN" sz="2400" b="1">
                <a:latin typeface="Times New Roman" panose="02020603050405020304" pitchFamily="18" charset="0"/>
              </a:rPr>
              <a:t>([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]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sz="2400" b="1">
                <a:latin typeface="Times New Roman" panose="02020603050405020304" pitchFamily="18" charset="0"/>
              </a:rPr>
              <a:t>[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])=</a:t>
            </a:r>
            <a:r>
              <a:rPr lang="fr-FR" altLang="zh-CN" sz="2400" b="1" i="1">
                <a:latin typeface="Times New Roman" panose="02020603050405020304" pitchFamily="18" charset="0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</a:rPr>
              <a:t>([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])=</a:t>
            </a:r>
            <a:r>
              <a:rPr lang="fr-FR" altLang="zh-CN" sz="2400" b="1" i="1">
                <a:latin typeface="Times New Roman" panose="02020603050405020304" pitchFamily="18" charset="0"/>
              </a:rPr>
              <a:t>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400" b="1">
                <a:latin typeface="Times New Roman" panose="02020603050405020304" pitchFamily="18" charset="0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)=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400" b="1">
                <a:latin typeface="Times New Roman" panose="02020603050405020304" pitchFamily="18" charset="0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)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400" b="1">
                <a:latin typeface="Times New Roman" panose="02020603050405020304" pitchFamily="18" charset="0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)=</a:t>
            </a:r>
            <a:r>
              <a:rPr lang="fr-FR" altLang="zh-CN" sz="2400" b="1" i="1">
                <a:latin typeface="Times New Roman" panose="02020603050405020304" pitchFamily="18" charset="0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</a:rPr>
              <a:t>([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])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sz="2400" b="1" i="1">
                <a:latin typeface="Times New Roman" panose="02020603050405020304" pitchFamily="18" charset="0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</a:rPr>
              <a:t>([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])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400" b="1">
                <a:latin typeface="Times New Roman" panose="02020603050405020304" pitchFamily="18" charset="0"/>
              </a:rPr>
              <a:t>       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fr-FR" sz="2400" b="1">
                <a:latin typeface="Times New Roman" panose="02020603050405020304" pitchFamily="18" charset="0"/>
              </a:rPr>
              <a:t>综合上述有 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fr-FR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</a:rPr>
              <a:t>/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  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fr-FR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fr-FR" altLang="zh-CN" sz="2400" b="1">
                <a:latin typeface="Times New Roman" panose="02020603050405020304" pitchFamily="18" charset="0"/>
              </a:rPr>
              <a:t>.   </a:t>
            </a:r>
            <a:endParaRPr lang="zh-CN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82E5F0E4-1C44-414E-B6EA-D6A07B93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24175"/>
            <a:ext cx="7834312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fr-FR" sz="2400" b="1">
                <a:latin typeface="Times New Roman" panose="02020603050405020304" pitchFamily="18" charset="0"/>
              </a:rPr>
              <a:t>对于 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fr-FR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fr-FR" altLang="zh-CN" sz="2400" b="1">
                <a:latin typeface="Times New Roman" panose="02020603050405020304" pitchFamily="18" charset="0"/>
              </a:rPr>
              <a:t>, </a:t>
            </a:r>
            <a:r>
              <a:rPr lang="zh-CN" altLang="fr-FR" sz="2400" b="1">
                <a:latin typeface="Times New Roman" panose="02020603050405020304" pitchFamily="18" charset="0"/>
              </a:rPr>
              <a:t>由于</a:t>
            </a:r>
            <a:r>
              <a:rPr lang="zh-CN" altLang="fr-FR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fr-FR" sz="2400" b="1">
                <a:latin typeface="Times New Roman" panose="02020603050405020304" pitchFamily="18" charset="0"/>
              </a:rPr>
              <a:t>为满射，</a:t>
            </a:r>
            <a:r>
              <a:rPr lang="zh-CN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B</a:t>
            </a:r>
            <a:r>
              <a:rPr lang="fr-FR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fr-FR" altLang="zh-CN" sz="2400" b="1">
                <a:latin typeface="Times New Roman" panose="02020603050405020304" pitchFamily="18" charset="0"/>
              </a:rPr>
              <a:t>, </a:t>
            </a:r>
            <a:r>
              <a:rPr lang="zh-CN" altLang="fr-FR" sz="2400" b="1">
                <a:latin typeface="Times New Roman" panose="02020603050405020304" pitchFamily="18" charset="0"/>
              </a:rPr>
              <a:t>使得 </a:t>
            </a:r>
            <a:r>
              <a:rPr lang="zh-CN" altLang="fr-FR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400" b="1">
                <a:latin typeface="Times New Roman" panose="02020603050405020304" pitchFamily="18" charset="0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, </a:t>
            </a:r>
            <a:r>
              <a:rPr lang="zh-CN" altLang="fr-FR" sz="2400" b="1">
                <a:latin typeface="Times New Roman" panose="02020603050405020304" pitchFamily="18" charset="0"/>
              </a:rPr>
              <a:t>从而有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fr-FR" altLang="zh-CN" sz="2400" b="1">
                <a:latin typeface="Times New Roman" panose="02020603050405020304" pitchFamily="18" charset="0"/>
              </a:rPr>
              <a:t>         </a:t>
            </a:r>
            <a:r>
              <a:rPr lang="fr-FR" altLang="zh-CN" sz="2400" b="1" i="1">
                <a:latin typeface="Times New Roman" panose="02020603050405020304" pitchFamily="18" charset="0"/>
              </a:rPr>
              <a:t>f</a:t>
            </a:r>
            <a:r>
              <a:rPr lang="fr-FR" altLang="zh-CN" sz="2400" b="1">
                <a:latin typeface="Times New Roman" panose="02020603050405020304" pitchFamily="18" charset="0"/>
              </a:rPr>
              <a:t>([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]) =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400" b="1">
                <a:latin typeface="Times New Roman" panose="02020603050405020304" pitchFamily="18" charset="0"/>
              </a:rPr>
              <a:t>(</a:t>
            </a:r>
            <a:r>
              <a:rPr lang="fr-FR" altLang="zh-CN" sz="2400" b="1" i="1">
                <a:latin typeface="Times New Roman" panose="02020603050405020304" pitchFamily="18" charset="0"/>
              </a:rPr>
              <a:t>x</a:t>
            </a:r>
            <a:r>
              <a:rPr lang="fr-FR" altLang="zh-CN" sz="2400" b="1">
                <a:latin typeface="Times New Roman" panose="02020603050405020304" pitchFamily="18" charset="0"/>
              </a:rPr>
              <a:t>) = </a:t>
            </a:r>
            <a:r>
              <a:rPr lang="fr-FR" altLang="zh-CN" sz="2400" b="1" i="1">
                <a:latin typeface="Times New Roman" panose="02020603050405020304" pitchFamily="18" charset="0"/>
              </a:rPr>
              <a:t>y</a:t>
            </a:r>
            <a:r>
              <a:rPr lang="fr-FR" altLang="zh-CN" sz="2400" b="1">
                <a:latin typeface="Times New Roman" panose="02020603050405020304" pitchFamily="18" charset="0"/>
              </a:rPr>
              <a:t>. </a:t>
            </a:r>
            <a:r>
              <a:rPr lang="zh-CN" altLang="fr-FR" sz="2400" b="1">
                <a:latin typeface="Times New Roman" panose="02020603050405020304" pitchFamily="18" charset="0"/>
              </a:rPr>
              <a:t>于是  </a:t>
            </a:r>
            <a:r>
              <a:rPr lang="fr-FR" altLang="zh-CN" sz="2400" b="1" i="1">
                <a:latin typeface="Times New Roman" panose="02020603050405020304" pitchFamily="18" charset="0"/>
              </a:rPr>
              <a:t>f </a:t>
            </a:r>
            <a:r>
              <a:rPr lang="zh-CN" altLang="fr-FR" sz="2400" b="1">
                <a:latin typeface="Times New Roman" panose="02020603050405020304" pitchFamily="18" charset="0"/>
              </a:rPr>
              <a:t>为满射</a:t>
            </a:r>
            <a:r>
              <a:rPr lang="fr-FR" altLang="zh-CN" sz="2400" b="1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CF979D06-5DFF-451D-9920-51E2FED42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同构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的性质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04EA4F0-1D09-4A97-9FD3-7D531A2B48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18488" cy="1612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fr-FR" sz="2800" b="1">
                <a:latin typeface="Times New Roman" panose="02020603050405020304" pitchFamily="18" charset="0"/>
              </a:rPr>
              <a:t>下面证明  </a:t>
            </a:r>
            <a:r>
              <a:rPr lang="fr-FR" altLang="zh-CN" sz="2800" b="1" i="1">
                <a:latin typeface="Times New Roman" panose="02020603050405020304" pitchFamily="18" charset="0"/>
              </a:rPr>
              <a:t>f</a:t>
            </a:r>
            <a:r>
              <a:rPr lang="fr-FR" altLang="zh-CN" sz="2800" b="1">
                <a:latin typeface="Times New Roman" panose="02020603050405020304" pitchFamily="18" charset="0"/>
              </a:rPr>
              <a:t>∘</a:t>
            </a:r>
            <a:r>
              <a:rPr lang="fr-FR" altLang="zh-CN" sz="2800" b="1" i="1">
                <a:latin typeface="Times New Roman" panose="02020603050405020304" pitchFamily="18" charset="0"/>
              </a:rPr>
              <a:t>g </a:t>
            </a:r>
            <a:r>
              <a:rPr lang="fr-FR" altLang="zh-CN" sz="2800" b="1">
                <a:latin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fr-FR" altLang="zh-CN" sz="2800" b="1">
                <a:latin typeface="Times New Roman" panose="02020603050405020304" pitchFamily="18" charset="0"/>
              </a:rPr>
              <a:t>.  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)) =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([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]) = 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于是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7299BE4B-9069-4DAF-BFC3-7EADAE85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F191A6-DB69-43A0-8518-253D8DE3455F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96292" name="Rectangle 4">
            <a:extLst>
              <a:ext uri="{FF2B5EF4-FFF2-40B4-BE49-F238E27FC236}">
                <a16:creationId xmlns:a16="http://schemas.microsoft.com/office/drawing/2014/main" id="{ABE65FFA-779C-4A6F-B108-5AFF06D68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997200"/>
            <a:ext cx="7761287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fr-FR" sz="2800" b="1">
                <a:latin typeface="Times New Roman" panose="02020603050405020304" pitchFamily="18" charset="0"/>
              </a:rPr>
              <a:t>再证明满足这一条件的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zh-CN" altLang="fr-FR" sz="2800" b="1">
                <a:latin typeface="Times New Roman" panose="02020603050405020304" pitchFamily="18" charset="0"/>
              </a:rPr>
              <a:t>是</a:t>
            </a:r>
            <a:r>
              <a:rPr lang="zh-CN" altLang="en-US" sz="2800" b="1">
                <a:latin typeface="Times New Roman" panose="02020603050405020304" pitchFamily="18" charset="0"/>
              </a:rPr>
              <a:t>唯</a:t>
            </a:r>
            <a:r>
              <a:rPr lang="zh-CN" altLang="fr-FR" sz="2800" b="1">
                <a:latin typeface="Times New Roman" panose="02020603050405020304" pitchFamily="18" charset="0"/>
              </a:rPr>
              <a:t>一的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r>
              <a:rPr lang="zh-CN" altLang="fr-FR" sz="2800" b="1">
                <a:latin typeface="Times New Roman" panose="02020603050405020304" pitchFamily="18" charset="0"/>
              </a:rPr>
              <a:t>假设存在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fr-FR" sz="2800" b="1">
                <a:latin typeface="Times New Roman" panose="02020603050405020304" pitchFamily="18" charset="0"/>
              </a:rPr>
              <a:t>使得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fr-FR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latin typeface="Times New Roman" panose="02020603050405020304" pitchFamily="18" charset="0"/>
              </a:rPr>
              <a:t>.  </a:t>
            </a:r>
            <a:r>
              <a:rPr lang="zh-CN" altLang="fr-FR" sz="2800" b="1">
                <a:latin typeface="Times New Roman" panose="02020603050405020304" pitchFamily="18" charset="0"/>
              </a:rPr>
              <a:t>那么 </a:t>
            </a:r>
            <a:r>
              <a:rPr lang="zh-CN" altLang="fr-FR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fr-FR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于是</a:t>
            </a:r>
            <a:endParaRPr lang="zh-CN" altLang="en-US" sz="2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i="1">
                <a:latin typeface="Times New Roman" panose="02020603050405020304" pitchFamily="18" charset="0"/>
              </a:rPr>
              <a:t>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)) =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([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])=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([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])   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由于 </a:t>
            </a:r>
            <a:r>
              <a:rPr lang="en-US" altLang="zh-CN" sz="2800" b="1" i="1">
                <a:latin typeface="Times New Roman" panose="02020603050405020304" pitchFamily="18" charset="0"/>
              </a:rPr>
              <a:t>x </a:t>
            </a:r>
            <a:r>
              <a:rPr lang="zh-CN" altLang="en-US" sz="2800" b="1">
                <a:latin typeface="Times New Roman" panose="02020603050405020304" pitchFamily="18" charset="0"/>
              </a:rPr>
              <a:t>的任意性，必有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/>
    </p:bldLst>
  </p:timing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3452</TotalTime>
  <Words>2413</Words>
  <Application>Microsoft Office PowerPoint</Application>
  <PresentationFormat>全屏显示(4:3)</PresentationFormat>
  <Paragraphs>278</Paragraphs>
  <Slides>25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Wingdings 2</vt:lpstr>
      <vt:lpstr>代数结构PPT</vt:lpstr>
      <vt:lpstr>Document</vt:lpstr>
      <vt:lpstr>文档</vt:lpstr>
      <vt:lpstr>公式</vt:lpstr>
      <vt:lpstr>19.3  特殊的格</vt:lpstr>
      <vt:lpstr>模 格</vt:lpstr>
      <vt:lpstr>模格判别条件</vt:lpstr>
      <vt:lpstr>模格判别条件（续）</vt:lpstr>
      <vt:lpstr>分配格</vt:lpstr>
      <vt:lpstr>分配格判别定理</vt:lpstr>
      <vt:lpstr>判别定理一的证明</vt:lpstr>
      <vt:lpstr>判别定理一的证明（续）</vt:lpstr>
      <vt:lpstr>判别定理二的证明</vt:lpstr>
      <vt:lpstr>模格、分配格之间关系</vt:lpstr>
      <vt:lpstr>有界格与有补格</vt:lpstr>
      <vt:lpstr>补元与有补格</vt:lpstr>
      <vt:lpstr>有补格</vt:lpstr>
      <vt:lpstr>19.4  布尔代数</vt:lpstr>
      <vt:lpstr>布尔代数的定义</vt:lpstr>
      <vt:lpstr>定理证明</vt:lpstr>
      <vt:lpstr>定理证明（续）</vt:lpstr>
      <vt:lpstr>定理的证明（续）</vt:lpstr>
      <vt:lpstr>布尔代数的性质</vt:lpstr>
      <vt:lpstr>布尔代数的同态</vt:lpstr>
      <vt:lpstr>命题的证明</vt:lpstr>
      <vt:lpstr>有限布尔代数的结构</vt:lpstr>
      <vt:lpstr>例 题</vt:lpstr>
      <vt:lpstr>同构 f 的存在性</vt:lpstr>
      <vt:lpstr>同构 f 的性质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324</cp:revision>
  <dcterms:created xsi:type="dcterms:W3CDTF">2005-12-02T07:25:32Z</dcterms:created>
  <dcterms:modified xsi:type="dcterms:W3CDTF">2020-07-30T04:40:19Z</dcterms:modified>
</cp:coreProperties>
</file>