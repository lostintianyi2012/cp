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4"/>
  </p:notesMasterIdLst>
  <p:sldIdLst>
    <p:sldId id="347" r:id="rId2"/>
    <p:sldId id="348" r:id="rId3"/>
    <p:sldId id="349" r:id="rId4"/>
    <p:sldId id="350" r:id="rId5"/>
    <p:sldId id="372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67" r:id="rId23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2157" autoAdjust="0"/>
  </p:normalViewPr>
  <p:slideViewPr>
    <p:cSldViewPr>
      <p:cViewPr varScale="1">
        <p:scale>
          <a:sx n="79" d="100"/>
          <a:sy n="79" d="100"/>
        </p:scale>
        <p:origin x="13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874CBDA-2956-479D-8FBE-D0D296C39E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9D71F5-478F-43C6-A62C-DEDFAE47FE8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A8FED698-3F30-4291-BB57-8D522E127355}" type="datetimeFigureOut">
              <a:rPr lang="zh-CN" altLang="en-US"/>
              <a:pPr>
                <a:defRPr/>
              </a:pPr>
              <a:t>2020/8/16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436822D-A981-48EF-A26D-50DF0ABAA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D769B4BF-CC60-4E52-ADD1-2658E33A0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A35B1A-51C7-49E5-9DDE-3E31872D45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7D8DAE-DB57-4F16-AF61-76ACC33DF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B7984AE6-569A-4600-8395-B0D25002BE5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5F29FBA4-5624-4365-A252-B86FA2A608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98D5A11-E027-493D-982B-0E27215B899D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3785D1B7-8585-4774-B0CF-EEFFBFF1C2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6C8D9828-8B83-49C4-9235-329D78C3B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4E52410C-A92C-4B9A-818C-68F8646516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668679-488C-4413-A632-FFACC717584D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D6C9AE-40BE-498D-A8A8-DA88B9C7EE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371CA22-2485-43C6-922A-BFE83029F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8E13E8A9-955F-443B-8D6D-759EFCDF4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D64913-F496-412F-AA43-DEF6F1E8A579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98FB7F30-70CE-40EB-B0EA-282BD7881F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EF7C253-87DC-4848-9602-1D70638AB6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0206D9C-C477-43BF-AEEB-9E36D43FD2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1921E1-CD11-4F42-82A3-F9F2A384D385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624EF83-12DE-4267-9590-6B8918DDA8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E0D4617-6229-48E5-B896-876EDEC67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3F85317-BD5F-4C45-866C-765E48CD30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3D1E8B5-4869-4349-A64E-60E651174F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E3105126-AB16-4D84-AB88-3DA9402DF3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6E1ABE5-4DF4-4E7C-B024-7AEB78B593EA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ED11C5F-B498-4207-B7D6-C13CD92545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003EC519-63F8-45CE-90AE-734BF44494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0CFCF96C-0E8D-4234-8AF9-A346733619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970EE66-3DB6-4A1B-805A-2F1B802DFF55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AB552819-C548-4D7A-9F08-325C5904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5B1AAFBE-3543-4C8D-BE51-ACEEF65F88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002A6C31-802C-448D-BBD9-94825B475B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87E07FF-A68A-4F88-969C-D36DCBBA597A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4A1A176-332E-4D07-B9E0-6CCB5BD57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57FF538E-1CDA-4F31-B5EF-2E9B9EB870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57B77D7C-82F5-4DE7-BFA3-3EA0C1CB3A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682453F-C274-4BF6-9A29-CC31A58B9E3F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BA2F2665-8B69-469F-A79E-4FC31637E6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CBCF22F3-3DAA-410F-9B3B-1E6C0AAE09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EF4A0C80-E5E1-4A0B-966F-55C7C1CB4C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03E443F-06F3-4B6B-A856-C81AD53E2905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3073EDE8-B43E-471E-A4D1-CBD674AA5D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ADDEBBC7-D96B-428F-83D8-8ADBEC42C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6BDD9564-0F19-418F-9810-D7A95D72C1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B9CDC0-EBFF-4A08-85E3-D3EF14ABB308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1DB5F9A6-191C-4D16-BFD5-C01EC4270C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0E59687B-2435-412D-9201-A9C484C82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178D7B9F-5A07-4CCE-9552-C38EC4BD98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C3D5E66-BEAE-42F8-B2F0-13450EDBA7DC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70C9CB4-6490-47D9-891B-38E9ADF0ED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DDA4A1F-51EA-42F4-B4C5-17AD73CDE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8D0A90EA-7C13-4E09-A1BC-20BC688385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1B3B0C5-831E-4B79-9EE4-011B4A2C05BB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40A18CAF-E8EC-4266-B3B6-B177B05F81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3DCA66A-7467-45BF-B9BF-6A5534ACA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195FBF16-D5AA-4024-99D5-BA756266BA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08157CB-1D0B-4FA9-B317-10B6182B3F5D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111729B-11C0-41F7-B83C-53E0F57366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3F482C1E-813F-4CDA-BCE6-F69500394F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5A22E74F-B875-4B8F-B3C2-4E3247C33A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3C74B2-8C89-495E-A224-F8786D899FB2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AC9E40A7-4A1D-4C1F-ADA9-2C5634D5E3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4D52FF5F-56A5-4F8B-89F0-F1F64B6E4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C4F27B3A-0C28-4676-841A-ADB4C27363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001B0A7-8660-4C85-9084-D738C51704AC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C8DB2592-AD19-4758-B1B7-D3A8D941E6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2D34D4FD-031A-4F18-92C8-B177500C0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B5042BBB-721C-44DE-978B-46A29455F4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67BF1B-B165-4B06-BADE-647CE66E9FAC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2053FCB7-6E90-4992-8AD1-0C0BF4325B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BB7F38F6-D02B-4B7E-8A4F-2E2DF225C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094C4967-6FDF-46A6-8458-F9D3593654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DA56665-CC9F-4DC1-8B64-B6B087835F6B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B19B6819-8749-49AC-AF09-0E93119AC9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7AEDC596-3DCC-4F82-881E-2CC3CEBB5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F92255B-775B-48A1-A7CD-6881BF5360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DC5C6F6-4FAD-4C77-B0D8-E98A0BAD45F5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5F28B8B-66B6-481A-921F-F6D6514839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7C3B0C1-B659-4650-A52B-541719FE8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4AAE52E6-C037-4975-8C89-0BE4EC60F4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6DD6CE7-F234-447D-92A9-6BB4E6D58245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FFB11F78-52C4-48D3-AA5B-A183CC8655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0B404B04-A40F-4436-B785-4374C7968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6FD773C1-810C-4AC4-AFF0-1F9EA49385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AC07D7-1B4D-4F47-B96B-1E4EA0ED2374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3A6C4A6E-5D33-4F9F-BF19-FB6DC7132E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D385D8EB-BB69-4D8B-AFBE-D2E0C578E8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9C3837B5-1F41-4479-948C-2DE1C97839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714F52C-491E-40B8-A5AA-1804E620C853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313220C-9B4D-4AFF-9D80-532A1788D9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61D5745-E7EF-4654-9DF2-1A620597BE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2946F8-25AC-4D15-A19E-7549C30A479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758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D553C-FC5C-4DA2-BAAB-BB7B8F7A50A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2367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C6DBB-15C7-41DC-A331-FBDAC1CE6B9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859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67129B-7F3F-40E2-BA41-EC0103AF66C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840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B53553-19A8-45F7-BB95-5F60110CC5B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0244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559AF8-B953-4F32-A51C-7B2824A6E7D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1968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B940BE-55A8-4F26-AA25-6F9BAC243DB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8668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3B12C2-BB72-4F89-AC4F-B06DA75F514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01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F601BB-D02A-4D0E-955F-A3C2F401AC5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502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1AA408-BC61-4267-B760-A8004DAE7E5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838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76BEEA-2A50-4F99-8A82-B99D646EDDD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892121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76BEEA-2A50-4F99-8A82-B99D646EDDD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66180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CA76BEEA-2A50-4F99-8A82-B99D646EDDD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8857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0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2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27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31E0A6E2-7C84-4263-A54A-2E331D43AB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22.6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高级计数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B4BE7C9-2FD6-40DC-9C72-5F46099347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1255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高级计数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b="1" dirty="0"/>
              <a:t>Catalan</a:t>
            </a:r>
            <a:r>
              <a:rPr lang="zh-CN" altLang="en-US" b="1" dirty="0"/>
              <a:t>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第一类</a:t>
            </a:r>
            <a:r>
              <a:rPr lang="en-US" altLang="zh-CN" b="1" dirty="0"/>
              <a:t>Stirling</a:t>
            </a:r>
            <a:r>
              <a:rPr lang="zh-CN" altLang="en-US" b="1" dirty="0"/>
              <a:t>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第二类</a:t>
            </a:r>
            <a:r>
              <a:rPr lang="en-US" altLang="zh-CN" b="1" dirty="0"/>
              <a:t>Stirling</a:t>
            </a:r>
            <a:r>
              <a:rPr lang="zh-CN" altLang="en-US" b="1" dirty="0"/>
              <a:t>数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zh-CN" altLang="en-US" b="1" dirty="0"/>
              <a:t>讨论要点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定义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递推方程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恒等式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对应的组合问题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生成函数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11A6E1-6755-43EA-82E3-2F534A6C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57F4786-73BB-4876-B67E-005A4BF5823F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A377505C-0576-411A-A7B0-FF43D6259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7651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Catalan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数定义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50C4B0FE-C395-4A54-9012-464000001C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268413"/>
            <a:ext cx="8229600" cy="45259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A50021"/>
                </a:solidFill>
              </a:rPr>
              <a:t>定义 </a:t>
            </a:r>
            <a:r>
              <a:rPr lang="zh-CN" altLang="en-US" sz="2800" b="1" dirty="0">
                <a:latin typeface="Times New Roman" pitchFamily="18" charset="0"/>
              </a:rPr>
              <a:t>一个凸 </a:t>
            </a:r>
            <a:r>
              <a:rPr lang="en-US" altLang="zh-CN" sz="2800" b="1" i="1" dirty="0">
                <a:latin typeface="Times New Roman" pitchFamily="18" charset="0"/>
              </a:rPr>
              <a:t>n</a:t>
            </a:r>
            <a:r>
              <a:rPr lang="en-US" altLang="zh-CN" sz="2800" b="1" dirty="0">
                <a:latin typeface="Times New Roman" pitchFamily="18" charset="0"/>
              </a:rPr>
              <a:t>+1 </a:t>
            </a:r>
            <a:r>
              <a:rPr lang="zh-CN" altLang="en-US" sz="2800" b="1" dirty="0">
                <a:latin typeface="Times New Roman" pitchFamily="18" charset="0"/>
              </a:rPr>
              <a:t>边形，通过不相交于</a:t>
            </a:r>
            <a:r>
              <a:rPr lang="en-US" altLang="zh-CN" sz="2800" b="1" i="1" dirty="0">
                <a:latin typeface="Times New Roman" pitchFamily="18" charset="0"/>
              </a:rPr>
              <a:t>n +</a:t>
            </a:r>
            <a:r>
              <a:rPr lang="en-US" altLang="zh-CN" sz="2800" b="1" dirty="0">
                <a:latin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</a:rPr>
              <a:t>边形内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Times New Roman" pitchFamily="18" charset="0"/>
              </a:rPr>
              <a:t>部的对角线把 </a:t>
            </a:r>
            <a:r>
              <a:rPr lang="en-US" altLang="zh-CN" sz="2800" b="1" i="1" dirty="0">
                <a:latin typeface="Times New Roman" pitchFamily="18" charset="0"/>
              </a:rPr>
              <a:t>n</a:t>
            </a:r>
            <a:r>
              <a:rPr lang="en-US" altLang="zh-CN" sz="2800" b="1" dirty="0">
                <a:latin typeface="Times New Roman" pitchFamily="18" charset="0"/>
              </a:rPr>
              <a:t>+1</a:t>
            </a:r>
            <a:r>
              <a:rPr lang="zh-CN" altLang="en-US" sz="2800" b="1" dirty="0">
                <a:latin typeface="Times New Roman" pitchFamily="18" charset="0"/>
              </a:rPr>
              <a:t>边形拆分成的三角形个数，记作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b="1" i="1" dirty="0" err="1">
                <a:latin typeface="Times New Roman" pitchFamily="18" charset="0"/>
              </a:rPr>
              <a:t>h</a:t>
            </a:r>
            <a:r>
              <a:rPr lang="en-US" altLang="zh-CN" sz="2800" b="1" i="1" baseline="-25000" dirty="0" err="1">
                <a:latin typeface="Times New Roman" pitchFamily="18" charset="0"/>
              </a:rPr>
              <a:t>n</a:t>
            </a:r>
            <a:r>
              <a:rPr lang="zh-CN" altLang="en-US" sz="2800" b="1" dirty="0">
                <a:latin typeface="Times New Roman" pitchFamily="18" charset="0"/>
              </a:rPr>
              <a:t>，称为</a:t>
            </a:r>
            <a:r>
              <a:rPr lang="en-US" altLang="zh-CN" sz="2800" b="1" dirty="0">
                <a:latin typeface="Times New Roman" pitchFamily="18" charset="0"/>
              </a:rPr>
              <a:t>Catalan</a:t>
            </a:r>
            <a:r>
              <a:rPr lang="zh-CN" altLang="en-US" sz="2800" b="1" dirty="0">
                <a:latin typeface="Times New Roman" pitchFamily="18" charset="0"/>
              </a:rPr>
              <a:t>数</a:t>
            </a:r>
            <a:r>
              <a:rPr lang="en-US" altLang="zh-CN" sz="2800" b="1" dirty="0">
                <a:latin typeface="Times New Roman" pitchFamily="18" charset="0"/>
              </a:rPr>
              <a:t>. </a:t>
            </a:r>
          </a:p>
          <a:p>
            <a:pPr eaLnBrk="1" hangingPunct="1">
              <a:spcBef>
                <a:spcPct val="80000"/>
              </a:spcBef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实例：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h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2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=1,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h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3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=2,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          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h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4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=5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A86395-4731-498B-A30D-DE60C196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2A1D2B7-8303-4BA6-A138-4E5BD2068ECC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22532" name="Picture 4" descr="10">
            <a:extLst>
              <a:ext uri="{FF2B5EF4-FFF2-40B4-BE49-F238E27FC236}">
                <a16:creationId xmlns:a16="http://schemas.microsoft.com/office/drawing/2014/main" id="{4C1D5218-884D-4F54-9714-AB0C12238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652963"/>
            <a:ext cx="7667625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5">
            <a:extLst>
              <a:ext uri="{FF2B5EF4-FFF2-40B4-BE49-F238E27FC236}">
                <a16:creationId xmlns:a16="http://schemas.microsoft.com/office/drawing/2014/main" id="{44BB2784-94FB-43C9-9D9B-6EE5443E6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2852738"/>
            <a:ext cx="3136900" cy="328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E60DC662-B37B-4497-834D-DD2B4867C3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23850" y="981075"/>
          <a:ext cx="8893175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文档" r:id="rId5" imgW="4035360" imgH="2302591" progId="Word.Document.8">
                  <p:embed/>
                </p:oleObj>
              </mc:Choice>
              <mc:Fallback>
                <p:oleObj name="文档" r:id="rId5" imgW="4035360" imgH="2302591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23850" y="981075"/>
                        <a:ext cx="8893175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Rectangle 3">
            <a:extLst>
              <a:ext uri="{FF2B5EF4-FFF2-40B4-BE49-F238E27FC236}">
                <a16:creationId xmlns:a16="http://schemas.microsoft.com/office/drawing/2014/main" id="{B427027A-5FD5-4394-A4E0-77AE2C02F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递推方程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551680-35AB-41F4-9655-2A1033F0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5E1914-7CCA-4A94-A1A7-E7E1508A7E66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6ABFD77F-765A-47DD-ADFB-3CDC96D130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438" y="1052513"/>
          <a:ext cx="8116887" cy="573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文档" r:id="rId4" imgW="4335064" imgH="3054869" progId="Word.Document.8">
                  <p:embed/>
                </p:oleObj>
              </mc:Choice>
              <mc:Fallback>
                <p:oleObj name="文档" r:id="rId4" imgW="4335064" imgH="305486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8" y="1052513"/>
                        <a:ext cx="8116887" cy="573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5" name="Rectangle 3">
            <a:extLst>
              <a:ext uri="{FF2B5EF4-FFF2-40B4-BE49-F238E27FC236}">
                <a16:creationId xmlns:a16="http://schemas.microsoft.com/office/drawing/2014/main" id="{856802DB-1AA8-4504-8BA2-ABA68BA37E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15742"/>
            <a:ext cx="86868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生成函数及对应的组合问题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286B07-7114-42D3-9EBA-0F35ABD2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FD083A-8ED3-4433-A9DC-F2BC967E9A69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>
            <a:extLst>
              <a:ext uri="{FF2B5EF4-FFF2-40B4-BE49-F238E27FC236}">
                <a16:creationId xmlns:a16="http://schemas.microsoft.com/office/drawing/2014/main" id="{ED8F7809-50E1-4B35-8E90-4EBF5A8D5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81075"/>
            <a:ext cx="8785225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76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矩阵乘法：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为矩阵序列，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阶矩阵，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1,2,…,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 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确定乘法顺序使得元素相乘的总次数最少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输入：向量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&lt;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… 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实例：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&lt;10, 100, 5, 50&gt; </a:t>
            </a: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10 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100,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100 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5 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50,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    10 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100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 + 10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50 = 7500 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):     10 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100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50 + 100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50 = 75000 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D14756E5-BF21-4A40-B938-BAD95A077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0550" y="188913"/>
            <a:ext cx="8374063" cy="561975"/>
          </a:xfrm>
        </p:spPr>
        <p:txBody>
          <a:bodyPr/>
          <a:lstStyle/>
          <a:p>
            <a:pPr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应用：搜索规模的估计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EDC8BD19-7B61-4DD8-8815-D771D3E7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5148D0-1358-4685-A625-225FF6074492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9" name="Rectangle 3">
            <a:extLst>
              <a:ext uri="{FF2B5EF4-FFF2-40B4-BE49-F238E27FC236}">
                <a16:creationId xmlns:a16="http://schemas.microsoft.com/office/drawing/2014/main" id="{A74F785B-D265-4A11-AA2B-4BAC8EAD5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221163"/>
            <a:ext cx="8424862" cy="93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>
                <a:sym typeface="Symbol" panose="05050102010706020507" pitchFamily="18" charset="2"/>
              </a:rPr>
              <a:t>一般算法：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次运算</a:t>
            </a:r>
            <a:r>
              <a:rPr lang="zh-CN" altLang="en-US" sz="2400" b="1">
                <a:sym typeface="Symbol" panose="05050102010706020507" pitchFamily="18" charset="2"/>
              </a:rPr>
              <a:t>加括号方法有               种，</a:t>
            </a:r>
            <a:endParaRPr lang="en-US" altLang="zh-CN" sz="2400" b="1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lang="zh-CN" altLang="en-US" sz="2400" b="1">
              <a:sym typeface="Symbol" panose="05050102010706020507" pitchFamily="18" charset="2"/>
            </a:endParaRPr>
          </a:p>
        </p:txBody>
      </p:sp>
      <p:graphicFrame>
        <p:nvGraphicFramePr>
          <p:cNvPr id="3074" name="Object 4">
            <a:extLst>
              <a:ext uri="{FF2B5EF4-FFF2-40B4-BE49-F238E27FC236}">
                <a16:creationId xmlns:a16="http://schemas.microsoft.com/office/drawing/2014/main" id="{D8B2EAB2-2DC5-41B9-9F56-C896383832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4076700"/>
          <a:ext cx="107950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公式" r:id="rId4" imgW="685800" imgH="469800" progId="Equation.3">
                  <p:embed/>
                </p:oleObj>
              </mc:Choice>
              <mc:Fallback>
                <p:oleObj name="公式" r:id="rId4" imgW="68580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076700"/>
                        <a:ext cx="1079500" cy="738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矩形 6">
            <a:extLst>
              <a:ext uri="{FF2B5EF4-FFF2-40B4-BE49-F238E27FC236}">
                <a16:creationId xmlns:a16="http://schemas.microsoft.com/office/drawing/2014/main" id="{0EE3E6BC-1539-4A2B-83D7-352508304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935538"/>
            <a:ext cx="17938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Stirling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公式</a:t>
            </a:r>
          </a:p>
        </p:txBody>
      </p:sp>
      <p:graphicFrame>
        <p:nvGraphicFramePr>
          <p:cNvPr id="3075" name="Object 2">
            <a:extLst>
              <a:ext uri="{FF2B5EF4-FFF2-40B4-BE49-F238E27FC236}">
                <a16:creationId xmlns:a16="http://schemas.microsoft.com/office/drawing/2014/main" id="{D5FC4E17-F487-44A5-A78B-D9C717B814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4803775"/>
          <a:ext cx="316865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公式" r:id="rId6" imgW="1600200" imgH="406080" progId="Equation.3">
                  <p:embed/>
                </p:oleObj>
              </mc:Choice>
              <mc:Fallback>
                <p:oleObj name="公式" r:id="rId6" imgW="1600200" imgH="4060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803775"/>
                        <a:ext cx="3168650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2">
            <a:extLst>
              <a:ext uri="{FF2B5EF4-FFF2-40B4-BE49-F238E27FC236}">
                <a16:creationId xmlns:a16="http://schemas.microsoft.com/office/drawing/2014/main" id="{152650FF-BCED-4A52-B8AA-2F1CA35360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5475288"/>
          <a:ext cx="4681538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公式" r:id="rId8" imgW="2666880" imgH="457200" progId="Equation.3">
                  <p:embed/>
                </p:oleObj>
              </mc:Choice>
              <mc:Fallback>
                <p:oleObj name="公式" r:id="rId8" imgW="266688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475288"/>
                        <a:ext cx="4681538" cy="833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TextBox 9">
            <a:extLst>
              <a:ext uri="{FF2B5EF4-FFF2-40B4-BE49-F238E27FC236}">
                <a16:creationId xmlns:a16="http://schemas.microsoft.com/office/drawing/2014/main" id="{6C78FD04-9948-4776-8925-87AB12E2B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589588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方法数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8C31B126-C21C-4779-BFE7-8481E18C08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196975"/>
          <a:ext cx="7591425" cy="544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Document" r:id="rId4" imgW="3319250" imgH="2376945" progId="Word.Document.8">
                  <p:embed/>
                </p:oleObj>
              </mc:Choice>
              <mc:Fallback>
                <p:oleObj name="Document" r:id="rId4" imgW="3319250" imgH="237694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96975"/>
                        <a:ext cx="7591425" cy="544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9" name="Rectangle 3">
            <a:extLst>
              <a:ext uri="{FF2B5EF4-FFF2-40B4-BE49-F238E27FC236}">
                <a16:creationId xmlns:a16="http://schemas.microsoft.com/office/drawing/2014/main" id="{61721FFD-19CD-4EC4-97CB-7ABA434878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686800" cy="9223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栈的输出计数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488304-035A-4AE2-9209-B1BE7C35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BEE7852-E7C6-4631-AC69-A8FF7B2D5AE6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BE5BF7B9-F848-4A35-BB3D-4330AAE16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122" name="Object 3">
            <a:extLst>
              <a:ext uri="{FF2B5EF4-FFF2-40B4-BE49-F238E27FC236}">
                <a16:creationId xmlns:a16="http://schemas.microsoft.com/office/drawing/2014/main" id="{B8BD4BB1-6105-4C37-A3D6-CABF02C2B7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9963" y="1196975"/>
          <a:ext cx="7591425" cy="484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公式" r:id="rId4" imgW="3974760" imgH="2539800" progId="Equation.3">
                  <p:embed/>
                </p:oleObj>
              </mc:Choice>
              <mc:Fallback>
                <p:oleObj name="公式" r:id="rId4" imgW="3974760" imgH="253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1196975"/>
                        <a:ext cx="7591425" cy="4848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4" name="Rectangle 4">
            <a:extLst>
              <a:ext uri="{FF2B5EF4-FFF2-40B4-BE49-F238E27FC236}">
                <a16:creationId xmlns:a16="http://schemas.microsoft.com/office/drawing/2014/main" id="{4A3DEC0A-7CE7-4F27-840F-FEDB27050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栈的输出个数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813DD0-021A-4457-84AB-1EF3D0C1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FB3C93A-296C-4FF1-B445-0B1BFA156C85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ED99E74D-5F52-4672-85FD-55F1CE9F31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088" y="1125538"/>
          <a:ext cx="8099425" cy="504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文档" r:id="rId4" imgW="4152814" imgH="2592093" progId="Word.Document.8">
                  <p:embed/>
                </p:oleObj>
              </mc:Choice>
              <mc:Fallback>
                <p:oleObj name="文档" r:id="rId4" imgW="4152814" imgH="259209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8" y="1125538"/>
                        <a:ext cx="8099425" cy="504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8" name="Rectangle 3">
            <a:extLst>
              <a:ext uri="{FF2B5EF4-FFF2-40B4-BE49-F238E27FC236}">
                <a16:creationId xmlns:a16="http://schemas.microsoft.com/office/drawing/2014/main" id="{A40B4C68-8310-4525-9816-6452F0CB3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第一类</a:t>
            </a: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Stirling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32B047-28AC-4794-873F-EF672E6B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BCC7A45-6550-44FF-BF30-3FDA95AC517E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147" name="Object 5">
            <a:extLst>
              <a:ext uri="{FF2B5EF4-FFF2-40B4-BE49-F238E27FC236}">
                <a16:creationId xmlns:a16="http://schemas.microsoft.com/office/drawing/2014/main" id="{3FB25188-A640-4D27-8A48-281872964A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803439"/>
              </p:ext>
            </p:extLst>
          </p:nvPr>
        </p:nvGraphicFramePr>
        <p:xfrm>
          <a:off x="5219700" y="2133798"/>
          <a:ext cx="4318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公式" r:id="rId6" imgW="253890" imgH="431613" progId="Equation.3">
                  <p:embed/>
                </p:oleObj>
              </mc:Choice>
              <mc:Fallback>
                <p:oleObj name="公式" r:id="rId6" imgW="253890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133798"/>
                        <a:ext cx="431800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AFEDF9E4-CEAE-4200-BA76-41ADD9775F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801688"/>
          <a:ext cx="8070850" cy="608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文档" r:id="rId4" imgW="3950246" imgH="2977047" progId="Word.Document.8">
                  <p:embed/>
                </p:oleObj>
              </mc:Choice>
              <mc:Fallback>
                <p:oleObj name="文档" r:id="rId4" imgW="3950246" imgH="297704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801688"/>
                        <a:ext cx="8070850" cy="608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1" name="Rectangle 3">
            <a:extLst>
              <a:ext uri="{FF2B5EF4-FFF2-40B4-BE49-F238E27FC236}">
                <a16:creationId xmlns:a16="http://schemas.microsoft.com/office/drawing/2014/main" id="{8F0418F1-AD45-413C-B841-2D898ED82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5635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递推方程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D02F38-BC72-4A91-BE2E-779D4143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47F23E9-7DFF-4219-BE63-F632750B9A88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>
            <a:extLst>
              <a:ext uri="{FF2B5EF4-FFF2-40B4-BE49-F238E27FC236}">
                <a16:creationId xmlns:a16="http://schemas.microsoft.com/office/drawing/2014/main" id="{0AE93210-500D-4852-B40F-ED23D387C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8625" y="69850"/>
            <a:ext cx="8229600" cy="7667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递推三角形</a:t>
            </a:r>
          </a:p>
        </p:txBody>
      </p:sp>
      <p:sp>
        <p:nvSpPr>
          <p:cNvPr id="42" name="灯片编号占位符 41">
            <a:extLst>
              <a:ext uri="{FF2B5EF4-FFF2-40B4-BE49-F238E27FC236}">
                <a16:creationId xmlns:a16="http://schemas.microsoft.com/office/drawing/2014/main" id="{16A0034D-C3F6-4038-B5FA-41B109E3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A4682A6-1CEC-4305-8DD8-067E3F9F6D60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8196" name="组合 58">
            <a:extLst>
              <a:ext uri="{FF2B5EF4-FFF2-40B4-BE49-F238E27FC236}">
                <a16:creationId xmlns:a16="http://schemas.microsoft.com/office/drawing/2014/main" id="{8BD5CA62-77D4-4A8A-9CC0-76D05A886AF3}"/>
              </a:ext>
            </a:extLst>
          </p:cNvPr>
          <p:cNvGrpSpPr>
            <a:grpSpLocks/>
          </p:cNvGrpSpPr>
          <p:nvPr/>
        </p:nvGrpSpPr>
        <p:grpSpPr bwMode="auto">
          <a:xfrm>
            <a:off x="1571625" y="1347788"/>
            <a:ext cx="4786313" cy="3552825"/>
            <a:chOff x="2285984" y="1304678"/>
            <a:chExt cx="4786346" cy="3553082"/>
          </a:xfrm>
        </p:grpSpPr>
        <p:sp>
          <p:nvSpPr>
            <p:cNvPr id="8198" name="TextBox 4">
              <a:extLst>
                <a:ext uri="{FF2B5EF4-FFF2-40B4-BE49-F238E27FC236}">
                  <a16:creationId xmlns:a16="http://schemas.microsoft.com/office/drawing/2014/main" id="{8E648321-BB18-4F69-B834-A5C118E76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2456" y="2214554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8199" name="TextBox 5">
              <a:extLst>
                <a:ext uri="{FF2B5EF4-FFF2-40B4-BE49-F238E27FC236}">
                  <a16:creationId xmlns:a16="http://schemas.microsoft.com/office/drawing/2014/main" id="{24E953A3-AFB5-4312-89D4-A6ED318F0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7686" y="2786058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8200" name="TextBox 6">
              <a:extLst>
                <a:ext uri="{FF2B5EF4-FFF2-40B4-BE49-F238E27FC236}">
                  <a16:creationId xmlns:a16="http://schemas.microsoft.com/office/drawing/2014/main" id="{75A5F324-E9DE-47BE-A98F-308C7C2A2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8208" y="2786058"/>
              <a:ext cx="348172" cy="409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8201" name="TextBox 7">
              <a:extLst>
                <a:ext uri="{FF2B5EF4-FFF2-40B4-BE49-F238E27FC236}">
                  <a16:creationId xmlns:a16="http://schemas.microsoft.com/office/drawing/2014/main" id="{C6649314-735F-4800-A3E5-83F211DD5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1934" y="3305118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2</a:t>
              </a:r>
              <a:endParaRPr lang="zh-CN" altLang="en-US" sz="2000"/>
            </a:p>
          </p:txBody>
        </p:sp>
        <p:sp>
          <p:nvSpPr>
            <p:cNvPr id="8202" name="TextBox 8">
              <a:extLst>
                <a:ext uri="{FF2B5EF4-FFF2-40B4-BE49-F238E27FC236}">
                  <a16:creationId xmlns:a16="http://schemas.microsoft.com/office/drawing/2014/main" id="{A9927720-5B83-4DE6-B751-3027915CF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2456" y="3305118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3</a:t>
              </a:r>
              <a:endParaRPr lang="zh-CN" altLang="en-US" sz="2000"/>
            </a:p>
          </p:txBody>
        </p:sp>
        <p:sp>
          <p:nvSpPr>
            <p:cNvPr id="8203" name="TextBox 9">
              <a:extLst>
                <a:ext uri="{FF2B5EF4-FFF2-40B4-BE49-F238E27FC236}">
                  <a16:creationId xmlns:a16="http://schemas.microsoft.com/office/drawing/2014/main" id="{8D1DA048-A437-407B-96DD-64B1CCD97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2" y="3876622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6</a:t>
              </a:r>
              <a:endParaRPr lang="zh-CN" altLang="en-US" sz="2000"/>
            </a:p>
          </p:txBody>
        </p:sp>
        <p:sp>
          <p:nvSpPr>
            <p:cNvPr id="8204" name="TextBox 10">
              <a:extLst>
                <a:ext uri="{FF2B5EF4-FFF2-40B4-BE49-F238E27FC236}">
                  <a16:creationId xmlns:a16="http://schemas.microsoft.com/office/drawing/2014/main" id="{E8BC929E-D2A5-4373-8117-E07EE145ED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248" y="3876622"/>
              <a:ext cx="5715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</a:rPr>
                <a:t>11</a:t>
              </a:r>
              <a:endParaRPr lang="zh-CN" altLang="en-US" sz="2000">
                <a:solidFill>
                  <a:srgbClr val="FF0000"/>
                </a:solidFill>
              </a:endParaRPr>
            </a:p>
          </p:txBody>
        </p:sp>
        <p:sp>
          <p:nvSpPr>
            <p:cNvPr id="8205" name="TextBox 11">
              <a:extLst>
                <a:ext uri="{FF2B5EF4-FFF2-40B4-BE49-F238E27FC236}">
                  <a16:creationId xmlns:a16="http://schemas.microsoft.com/office/drawing/2014/main" id="{18A4ED8C-FFF4-4D35-8526-65C15D22C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8208" y="3876622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</a:rPr>
                <a:t>6</a:t>
              </a:r>
              <a:endParaRPr lang="zh-CN" altLang="en-US" sz="2000">
                <a:solidFill>
                  <a:srgbClr val="FF0000"/>
                </a:solidFill>
              </a:endParaRPr>
            </a:p>
          </p:txBody>
        </p:sp>
        <p:sp>
          <p:nvSpPr>
            <p:cNvPr id="8206" name="TextBox 12">
              <a:extLst>
                <a:ext uri="{FF2B5EF4-FFF2-40B4-BE49-F238E27FC236}">
                  <a16:creationId xmlns:a16="http://schemas.microsoft.com/office/drawing/2014/main" id="{03E80D42-2909-4A90-AB72-7B7AABE7F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9712" y="3876622"/>
              <a:ext cx="348172" cy="409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8207" name="TextBox 13">
              <a:extLst>
                <a:ext uri="{FF2B5EF4-FFF2-40B4-BE49-F238E27FC236}">
                  <a16:creationId xmlns:a16="http://schemas.microsoft.com/office/drawing/2014/main" id="{A24C6F47-245B-4A1C-A1B3-9C3368DE3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430" y="4448126"/>
              <a:ext cx="51167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24</a:t>
              </a:r>
              <a:endParaRPr lang="zh-CN" altLang="en-US" sz="2000"/>
            </a:p>
          </p:txBody>
        </p:sp>
        <p:sp>
          <p:nvSpPr>
            <p:cNvPr id="8208" name="TextBox 14">
              <a:extLst>
                <a:ext uri="{FF2B5EF4-FFF2-40B4-BE49-F238E27FC236}">
                  <a16:creationId xmlns:a16="http://schemas.microsoft.com/office/drawing/2014/main" id="{B5660596-808D-4B24-B895-28D9CBBA9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1934" y="4448126"/>
              <a:ext cx="64294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50</a:t>
              </a:r>
              <a:endParaRPr lang="zh-CN" altLang="en-US" sz="2000"/>
            </a:p>
          </p:txBody>
        </p:sp>
        <p:sp>
          <p:nvSpPr>
            <p:cNvPr id="8209" name="TextBox 15">
              <a:extLst>
                <a:ext uri="{FF2B5EF4-FFF2-40B4-BE49-F238E27FC236}">
                  <a16:creationId xmlns:a16="http://schemas.microsoft.com/office/drawing/2014/main" id="{2FF185E6-5461-4603-9BB7-86DF2D313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438" y="4448126"/>
              <a:ext cx="714380" cy="409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</a:rPr>
                <a:t>35</a:t>
              </a:r>
              <a:endParaRPr lang="zh-CN" altLang="en-US" sz="2000">
                <a:solidFill>
                  <a:srgbClr val="FF0000"/>
                </a:solidFill>
              </a:endParaRPr>
            </a:p>
          </p:txBody>
        </p:sp>
        <p:sp>
          <p:nvSpPr>
            <p:cNvPr id="8210" name="TextBox 16">
              <a:extLst>
                <a:ext uri="{FF2B5EF4-FFF2-40B4-BE49-F238E27FC236}">
                  <a16:creationId xmlns:a16="http://schemas.microsoft.com/office/drawing/2014/main" id="{0021499D-66D2-4E56-A0A3-FBC26A5F6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42" y="4448126"/>
              <a:ext cx="64294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10</a:t>
              </a:r>
              <a:endParaRPr lang="zh-CN" altLang="en-US" sz="2000"/>
            </a:p>
          </p:txBody>
        </p:sp>
        <p:sp>
          <p:nvSpPr>
            <p:cNvPr id="8211" name="TextBox 17">
              <a:extLst>
                <a:ext uri="{FF2B5EF4-FFF2-40B4-BE49-F238E27FC236}">
                  <a16:creationId xmlns:a16="http://schemas.microsoft.com/office/drawing/2014/main" id="{0A97697B-1825-4629-83ED-E8064E328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7884" y="4448126"/>
              <a:ext cx="348172" cy="409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8212" name="TextBox 18">
              <a:extLst>
                <a:ext uri="{FF2B5EF4-FFF2-40B4-BE49-F238E27FC236}">
                  <a16:creationId xmlns:a16="http://schemas.microsoft.com/office/drawing/2014/main" id="{0DA1829C-FCA7-442C-9AD4-A41D9700A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3960" y="3314642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8213" name="TextBox 19">
              <a:extLst>
                <a:ext uri="{FF2B5EF4-FFF2-40B4-BE49-F238E27FC236}">
                  <a16:creationId xmlns:a16="http://schemas.microsoft.com/office/drawing/2014/main" id="{0D6698BB-9066-4A55-814B-6C72D996F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984" y="2171634"/>
              <a:ext cx="7008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/>
                <a:t>=1</a:t>
              </a:r>
              <a:endParaRPr lang="zh-CN" altLang="en-US" sz="2000"/>
            </a:p>
          </p:txBody>
        </p:sp>
        <p:sp>
          <p:nvSpPr>
            <p:cNvPr id="8214" name="TextBox 20">
              <a:extLst>
                <a:ext uri="{FF2B5EF4-FFF2-40B4-BE49-F238E27FC236}">
                  <a16:creationId xmlns:a16="http://schemas.microsoft.com/office/drawing/2014/main" id="{68B4C465-EEC6-4D4C-ACFD-03C430E63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984" y="2743138"/>
              <a:ext cx="7008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/>
                <a:t>=2</a:t>
              </a:r>
              <a:endParaRPr lang="zh-CN" altLang="en-US" sz="2000"/>
            </a:p>
          </p:txBody>
        </p:sp>
        <p:sp>
          <p:nvSpPr>
            <p:cNvPr id="8215" name="TextBox 21">
              <a:extLst>
                <a:ext uri="{FF2B5EF4-FFF2-40B4-BE49-F238E27FC236}">
                  <a16:creationId xmlns:a16="http://schemas.microsoft.com/office/drawing/2014/main" id="{B24893E2-6519-4E8E-A331-E6B666E2C9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984" y="3286124"/>
              <a:ext cx="7008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/>
                <a:t>=3</a:t>
              </a:r>
              <a:endParaRPr lang="zh-CN" altLang="en-US" sz="2000"/>
            </a:p>
          </p:txBody>
        </p:sp>
        <p:sp>
          <p:nvSpPr>
            <p:cNvPr id="8216" name="TextBox 22">
              <a:extLst>
                <a:ext uri="{FF2B5EF4-FFF2-40B4-BE49-F238E27FC236}">
                  <a16:creationId xmlns:a16="http://schemas.microsoft.com/office/drawing/2014/main" id="{CC3C7848-AEBF-4B70-9EF2-1432B3E3D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984" y="3886146"/>
              <a:ext cx="7008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/>
                <a:t>=4</a:t>
              </a:r>
              <a:endParaRPr lang="zh-CN" altLang="en-US" sz="2000"/>
            </a:p>
          </p:txBody>
        </p:sp>
        <p:sp>
          <p:nvSpPr>
            <p:cNvPr id="8217" name="TextBox 23">
              <a:extLst>
                <a:ext uri="{FF2B5EF4-FFF2-40B4-BE49-F238E27FC236}">
                  <a16:creationId xmlns:a16="http://schemas.microsoft.com/office/drawing/2014/main" id="{70AB35F6-7EFC-4581-8FA3-43326144E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9531" y="4457650"/>
              <a:ext cx="7008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/>
                <a:t>=5</a:t>
              </a:r>
              <a:endParaRPr lang="zh-CN" altLang="en-US" sz="2000"/>
            </a:p>
          </p:txBody>
        </p:sp>
        <p:sp>
          <p:nvSpPr>
            <p:cNvPr id="8218" name="TextBox 24">
              <a:extLst>
                <a:ext uri="{FF2B5EF4-FFF2-40B4-BE49-F238E27FC236}">
                  <a16:creationId xmlns:a16="http://schemas.microsoft.com/office/drawing/2014/main" id="{1AAB3A0E-D1AB-478B-B5F7-102B4AC7D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7456" y="1304678"/>
              <a:ext cx="6575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/>
                <a:t>=1</a:t>
              </a:r>
              <a:endParaRPr lang="zh-CN" altLang="en-US" sz="2000"/>
            </a:p>
          </p:txBody>
        </p:sp>
        <p:sp>
          <p:nvSpPr>
            <p:cNvPr id="8219" name="TextBox 25">
              <a:extLst>
                <a:ext uri="{FF2B5EF4-FFF2-40B4-BE49-F238E27FC236}">
                  <a16:creationId xmlns:a16="http://schemas.microsoft.com/office/drawing/2014/main" id="{BAD0749C-ABD0-4B35-953F-AE95E2024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3208" y="2071678"/>
              <a:ext cx="6575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/>
                <a:t>=2</a:t>
              </a:r>
              <a:endParaRPr lang="zh-CN" altLang="en-US" sz="2000"/>
            </a:p>
          </p:txBody>
        </p:sp>
        <p:sp>
          <p:nvSpPr>
            <p:cNvPr id="8220" name="TextBox 26">
              <a:extLst>
                <a:ext uri="{FF2B5EF4-FFF2-40B4-BE49-F238E27FC236}">
                  <a16:creationId xmlns:a16="http://schemas.microsoft.com/office/drawing/2014/main" id="{A6A2FC59-CA3F-41DF-94AF-D57669A56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3274" y="2643182"/>
              <a:ext cx="6575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/>
                <a:t>=3</a:t>
              </a:r>
              <a:endParaRPr lang="zh-CN" altLang="en-US" sz="2000"/>
            </a:p>
          </p:txBody>
        </p:sp>
        <p:sp>
          <p:nvSpPr>
            <p:cNvPr id="8221" name="TextBox 27">
              <a:extLst>
                <a:ext uri="{FF2B5EF4-FFF2-40B4-BE49-F238E27FC236}">
                  <a16:creationId xmlns:a16="http://schemas.microsoft.com/office/drawing/2014/main" id="{3A2B34E5-B04E-444B-BA98-F23435065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9026" y="3286124"/>
              <a:ext cx="6575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/>
                <a:t>=4</a:t>
              </a:r>
              <a:endParaRPr lang="zh-CN" altLang="en-US" sz="2000"/>
            </a:p>
          </p:txBody>
        </p:sp>
        <p:sp>
          <p:nvSpPr>
            <p:cNvPr id="8222" name="TextBox 28">
              <a:extLst>
                <a:ext uri="{FF2B5EF4-FFF2-40B4-BE49-F238E27FC236}">
                  <a16:creationId xmlns:a16="http://schemas.microsoft.com/office/drawing/2014/main" id="{3EFB81EF-6935-49FC-BD2C-78E290188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4778" y="3886146"/>
              <a:ext cx="6575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/>
                <a:t>=5</a:t>
              </a:r>
              <a:endParaRPr lang="zh-CN" altLang="en-US" sz="2000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69A7D09A-206F-46F4-97F1-5B4FF07E481E}"/>
                </a:ext>
              </a:extLst>
            </p:cNvPr>
            <p:cNvCxnSpPr/>
            <p:nvPr/>
          </p:nvCxnSpPr>
          <p:spPr>
            <a:xfrm rot="5400000" flipH="1" flipV="1">
              <a:off x="4857740" y="1857175"/>
              <a:ext cx="357214" cy="214313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5879ADD0-64E9-46B6-A038-766E174A6681}"/>
                </a:ext>
              </a:extLst>
            </p:cNvPr>
            <p:cNvCxnSpPr/>
            <p:nvPr/>
          </p:nvCxnSpPr>
          <p:spPr>
            <a:xfrm rot="5400000" flipH="1" flipV="1">
              <a:off x="5143492" y="2500159"/>
              <a:ext cx="357213" cy="214313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BBA6B6F-8F7A-4FCC-A4B5-E5B8EDCC54E6}"/>
                </a:ext>
              </a:extLst>
            </p:cNvPr>
            <p:cNvCxnSpPr/>
            <p:nvPr/>
          </p:nvCxnSpPr>
          <p:spPr>
            <a:xfrm rot="5400000" flipH="1" flipV="1">
              <a:off x="5500682" y="3071700"/>
              <a:ext cx="357213" cy="214314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EB67CB1-BE20-4110-8E6A-F40CF4FD5BE3}"/>
                </a:ext>
              </a:extLst>
            </p:cNvPr>
            <p:cNvCxnSpPr/>
            <p:nvPr/>
          </p:nvCxnSpPr>
          <p:spPr>
            <a:xfrm rot="5400000" flipH="1" flipV="1">
              <a:off x="5786434" y="3643241"/>
              <a:ext cx="357213" cy="214314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A960BB20-05F9-4EDF-88A2-48DDA3F59B5B}"/>
                </a:ext>
              </a:extLst>
            </p:cNvPr>
            <p:cNvCxnSpPr/>
            <p:nvPr/>
          </p:nvCxnSpPr>
          <p:spPr>
            <a:xfrm rot="5400000" flipH="1" flipV="1">
              <a:off x="6143624" y="4286226"/>
              <a:ext cx="357214" cy="214313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D52B6C3-2676-45CE-9E73-2727F4D3E392}"/>
                </a:ext>
              </a:extLst>
            </p:cNvPr>
            <p:cNvCxnSpPr/>
            <p:nvPr/>
          </p:nvCxnSpPr>
          <p:spPr>
            <a:xfrm>
              <a:off x="3071802" y="2357266"/>
              <a:ext cx="1071569" cy="1588"/>
            </a:xfrm>
            <a:prstGeom prst="line">
              <a:avLst/>
            </a:prstGeom>
            <a:ln w="190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57F07003-9237-4224-9C67-4CD07491BEF9}"/>
                </a:ext>
              </a:extLst>
            </p:cNvPr>
            <p:cNvCxnSpPr/>
            <p:nvPr/>
          </p:nvCxnSpPr>
          <p:spPr>
            <a:xfrm>
              <a:off x="3071802" y="2927220"/>
              <a:ext cx="785817" cy="1587"/>
            </a:xfrm>
            <a:prstGeom prst="line">
              <a:avLst/>
            </a:prstGeom>
            <a:ln w="190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1E3118A3-E20B-41DD-9AE5-3F240142497D}"/>
                </a:ext>
              </a:extLst>
            </p:cNvPr>
            <p:cNvCxnSpPr/>
            <p:nvPr/>
          </p:nvCxnSpPr>
          <p:spPr>
            <a:xfrm>
              <a:off x="3071802" y="3498762"/>
              <a:ext cx="571504" cy="1587"/>
            </a:xfrm>
            <a:prstGeom prst="line">
              <a:avLst/>
            </a:prstGeom>
            <a:ln w="190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AB027FE-2362-4C76-8654-28ADC73281F8}"/>
                </a:ext>
              </a:extLst>
            </p:cNvPr>
            <p:cNvCxnSpPr/>
            <p:nvPr/>
          </p:nvCxnSpPr>
          <p:spPr>
            <a:xfrm>
              <a:off x="3071802" y="4070303"/>
              <a:ext cx="357189" cy="1587"/>
            </a:xfrm>
            <a:prstGeom prst="line">
              <a:avLst/>
            </a:prstGeom>
            <a:ln w="190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1DB839D7-DA0D-46BE-80D2-77C8D6D8755C}"/>
                </a:ext>
              </a:extLst>
            </p:cNvPr>
            <p:cNvCxnSpPr/>
            <p:nvPr/>
          </p:nvCxnSpPr>
          <p:spPr>
            <a:xfrm>
              <a:off x="3071802" y="4641844"/>
              <a:ext cx="214313" cy="1587"/>
            </a:xfrm>
            <a:prstGeom prst="line">
              <a:avLst/>
            </a:prstGeom>
            <a:ln w="190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8194" name="Object 4">
            <a:extLst>
              <a:ext uri="{FF2B5EF4-FFF2-40B4-BE49-F238E27FC236}">
                <a16:creationId xmlns:a16="http://schemas.microsoft.com/office/drawing/2014/main" id="{51A49D57-2BED-49AC-9E24-E4B27B1A77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9575" y="5257800"/>
          <a:ext cx="24796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公式" r:id="rId4" imgW="1358640" imgH="469800" progId="Equation.3">
                  <p:embed/>
                </p:oleObj>
              </mc:Choice>
              <mc:Fallback>
                <p:oleObj name="公式" r:id="rId4" imgW="135864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575" y="5257800"/>
                        <a:ext cx="247967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8C240093-A42C-40C4-BBA3-768236C58B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125538"/>
          <a:ext cx="8675687" cy="493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文档" r:id="rId4" imgW="4209556" imgH="2391582" progId="Word.Document.8">
                  <p:embed/>
                </p:oleObj>
              </mc:Choice>
              <mc:Fallback>
                <p:oleObj name="文档" r:id="rId4" imgW="4209556" imgH="239158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125538"/>
                        <a:ext cx="8675687" cy="493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9" name="Rectangle 3">
            <a:extLst>
              <a:ext uri="{FF2B5EF4-FFF2-40B4-BE49-F238E27FC236}">
                <a16:creationId xmlns:a16="http://schemas.microsoft.com/office/drawing/2014/main" id="{19649B58-1555-44D4-9950-4CE710BD9A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8064500" cy="576263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恒等式及生成函数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84C383-38BD-48D2-9DDB-AFAC2BDCE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57AB211-CA99-4841-9B7D-5D769016D650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FB07F44A-DBFC-416F-95B1-15A4BCFDF3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975" y="1412875"/>
          <a:ext cx="8448675" cy="538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Document" r:id="rId4" imgW="4808948" imgH="3051760" progId="Word.Document.8">
                  <p:embed/>
                </p:oleObj>
              </mc:Choice>
              <mc:Fallback>
                <p:oleObj name="Document" r:id="rId4" imgW="4808948" imgH="30517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" y="1412875"/>
                        <a:ext cx="8448675" cy="538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3" name="Rectangle 3">
            <a:extLst>
              <a:ext uri="{FF2B5EF4-FFF2-40B4-BE49-F238E27FC236}">
                <a16:creationId xmlns:a16="http://schemas.microsoft.com/office/drawing/2014/main" id="{B7421D37-1B6C-4200-889A-11972909D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7921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(3)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式的证明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16D294-E8BD-4B3C-A8C8-8BDA93B19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C23F1CA-2C7F-464C-AE53-6656314843C1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34352AFD-2707-4DAB-B40D-407F976329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1268413"/>
          <a:ext cx="8070850" cy="493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文档" r:id="rId4" imgW="3774003" imgH="2314163" progId="Word.Document.8">
                  <p:embed/>
                </p:oleObj>
              </mc:Choice>
              <mc:Fallback>
                <p:oleObj name="文档" r:id="rId4" imgW="3774003" imgH="231416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268413"/>
                        <a:ext cx="8070850" cy="493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Rectangle 3">
            <a:extLst>
              <a:ext uri="{FF2B5EF4-FFF2-40B4-BE49-F238E27FC236}">
                <a16:creationId xmlns:a16="http://schemas.microsoft.com/office/drawing/2014/main" id="{86BA4F5E-7C1F-4D14-BA9A-5DE896BCF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第二类</a:t>
            </a: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Stirling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DC8BFEC-664D-4F22-AD41-A4CEC898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ABCBAC-8DCD-4FA9-840E-04221912487E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BD168E5C-7B93-4756-8184-E19AD1ABC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267" name="Object 5">
            <a:extLst>
              <a:ext uri="{FF2B5EF4-FFF2-40B4-BE49-F238E27FC236}">
                <a16:creationId xmlns:a16="http://schemas.microsoft.com/office/drawing/2014/main" id="{06E20439-BF08-42E8-B7FD-2AF955DE8C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852738"/>
          <a:ext cx="10080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公式" r:id="rId6" imgW="482391" imgH="431613" progId="Equation.3">
                  <p:embed/>
                </p:oleObj>
              </mc:Choice>
              <mc:Fallback>
                <p:oleObj name="公式" r:id="rId6" imgW="482391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852738"/>
                        <a:ext cx="1008063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B361B30A-452A-43CC-B0E8-8AF528AC93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" y="1125538"/>
          <a:ext cx="7920038" cy="565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4" name="文档" r:id="rId4" imgW="4280966" imgH="3058112" progId="Word.Document.8">
                  <p:embed/>
                </p:oleObj>
              </mc:Choice>
              <mc:Fallback>
                <p:oleObj name="文档" r:id="rId4" imgW="4280966" imgH="305811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1125538"/>
                        <a:ext cx="7920038" cy="565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2" name="Rectangle 4">
            <a:extLst>
              <a:ext uri="{FF2B5EF4-FFF2-40B4-BE49-F238E27FC236}">
                <a16:creationId xmlns:a16="http://schemas.microsoft.com/office/drawing/2014/main" id="{0189CD6A-3BCB-4CEE-88F0-9E7C0852AF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递推方程</a:t>
            </a:r>
          </a:p>
        </p:txBody>
      </p:sp>
      <p:sp>
        <p:nvSpPr>
          <p:cNvPr id="43" name="灯片编号占位符 42">
            <a:extLst>
              <a:ext uri="{FF2B5EF4-FFF2-40B4-BE49-F238E27FC236}">
                <a16:creationId xmlns:a16="http://schemas.microsoft.com/office/drawing/2014/main" id="{01642DAA-C960-43BA-B61A-5D286DED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70C8BB-5460-4006-8300-E7F3918A6F48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12293" name="组合 5">
            <a:extLst>
              <a:ext uri="{FF2B5EF4-FFF2-40B4-BE49-F238E27FC236}">
                <a16:creationId xmlns:a16="http://schemas.microsoft.com/office/drawing/2014/main" id="{4ADA9EC6-C96D-4FC2-89A4-B143B41341E5}"/>
              </a:ext>
            </a:extLst>
          </p:cNvPr>
          <p:cNvGrpSpPr>
            <a:grpSpLocks/>
          </p:cNvGrpSpPr>
          <p:nvPr/>
        </p:nvGrpSpPr>
        <p:grpSpPr bwMode="auto">
          <a:xfrm>
            <a:off x="5000625" y="1054100"/>
            <a:ext cx="3786188" cy="3471863"/>
            <a:chOff x="2285984" y="1385816"/>
            <a:chExt cx="4786346" cy="3471944"/>
          </a:xfrm>
        </p:grpSpPr>
        <p:sp>
          <p:nvSpPr>
            <p:cNvPr id="12295" name="TextBox 6">
              <a:extLst>
                <a:ext uri="{FF2B5EF4-FFF2-40B4-BE49-F238E27FC236}">
                  <a16:creationId xmlns:a16="http://schemas.microsoft.com/office/drawing/2014/main" id="{79D61F30-896B-49AA-8DF5-B28907EC5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2456" y="2214554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12296" name="TextBox 7">
              <a:extLst>
                <a:ext uri="{FF2B5EF4-FFF2-40B4-BE49-F238E27FC236}">
                  <a16:creationId xmlns:a16="http://schemas.microsoft.com/office/drawing/2014/main" id="{CD847947-01CE-4360-904C-85CBE38A2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7686" y="2786058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12297" name="TextBox 8">
              <a:extLst>
                <a:ext uri="{FF2B5EF4-FFF2-40B4-BE49-F238E27FC236}">
                  <a16:creationId xmlns:a16="http://schemas.microsoft.com/office/drawing/2014/main" id="{9DDE2CB6-1A05-4FE4-9058-80AC6E116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8208" y="2786058"/>
              <a:ext cx="348172" cy="409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12298" name="TextBox 9">
              <a:extLst>
                <a:ext uri="{FF2B5EF4-FFF2-40B4-BE49-F238E27FC236}">
                  <a16:creationId xmlns:a16="http://schemas.microsoft.com/office/drawing/2014/main" id="{3C5AD5A2-6A11-4330-99DC-B33BC3476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1934" y="3305118"/>
              <a:ext cx="4165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12299" name="TextBox 10">
              <a:extLst>
                <a:ext uri="{FF2B5EF4-FFF2-40B4-BE49-F238E27FC236}">
                  <a16:creationId xmlns:a16="http://schemas.microsoft.com/office/drawing/2014/main" id="{0D45408B-DCD9-433A-B9B3-59DD25241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2456" y="3305118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3</a:t>
              </a:r>
              <a:endParaRPr lang="zh-CN" altLang="en-US" sz="2000"/>
            </a:p>
          </p:txBody>
        </p:sp>
        <p:sp>
          <p:nvSpPr>
            <p:cNvPr id="12300" name="TextBox 11">
              <a:extLst>
                <a:ext uri="{FF2B5EF4-FFF2-40B4-BE49-F238E27FC236}">
                  <a16:creationId xmlns:a16="http://schemas.microsoft.com/office/drawing/2014/main" id="{DD201E81-1AC5-4701-8227-F929ADFC4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2" y="3876622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6</a:t>
              </a:r>
              <a:endParaRPr lang="zh-CN" altLang="en-US" sz="2000"/>
            </a:p>
          </p:txBody>
        </p:sp>
        <p:sp>
          <p:nvSpPr>
            <p:cNvPr id="12301" name="TextBox 12">
              <a:extLst>
                <a:ext uri="{FF2B5EF4-FFF2-40B4-BE49-F238E27FC236}">
                  <a16:creationId xmlns:a16="http://schemas.microsoft.com/office/drawing/2014/main" id="{1BB757ED-60B8-40CE-94F3-33E90A10B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248" y="3876622"/>
              <a:ext cx="5715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</a:rPr>
                <a:t>7</a:t>
              </a:r>
              <a:endParaRPr lang="zh-CN" altLang="en-US" sz="2000">
                <a:solidFill>
                  <a:srgbClr val="FF0000"/>
                </a:solidFill>
              </a:endParaRPr>
            </a:p>
          </p:txBody>
        </p:sp>
        <p:sp>
          <p:nvSpPr>
            <p:cNvPr id="12302" name="TextBox 13">
              <a:extLst>
                <a:ext uri="{FF2B5EF4-FFF2-40B4-BE49-F238E27FC236}">
                  <a16:creationId xmlns:a16="http://schemas.microsoft.com/office/drawing/2014/main" id="{8E243B5C-D861-452C-9197-07A94F5CB8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8208" y="3876622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</a:rPr>
                <a:t>6</a:t>
              </a:r>
              <a:endParaRPr lang="zh-CN" altLang="en-US" sz="2000">
                <a:solidFill>
                  <a:srgbClr val="FF0000"/>
                </a:solidFill>
              </a:endParaRPr>
            </a:p>
          </p:txBody>
        </p:sp>
        <p:sp>
          <p:nvSpPr>
            <p:cNvPr id="12303" name="TextBox 14">
              <a:extLst>
                <a:ext uri="{FF2B5EF4-FFF2-40B4-BE49-F238E27FC236}">
                  <a16:creationId xmlns:a16="http://schemas.microsoft.com/office/drawing/2014/main" id="{EF487725-0DBD-4187-91E8-794FE196D4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9712" y="3876622"/>
              <a:ext cx="348172" cy="409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12304" name="TextBox 15">
              <a:extLst>
                <a:ext uri="{FF2B5EF4-FFF2-40B4-BE49-F238E27FC236}">
                  <a16:creationId xmlns:a16="http://schemas.microsoft.com/office/drawing/2014/main" id="{C8B79774-109A-431E-B286-17F760DA9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430" y="4448126"/>
              <a:ext cx="4165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12305" name="TextBox 16">
              <a:extLst>
                <a:ext uri="{FF2B5EF4-FFF2-40B4-BE49-F238E27FC236}">
                  <a16:creationId xmlns:a16="http://schemas.microsoft.com/office/drawing/2014/main" id="{DEE6A534-7D02-428D-B8B0-8B6705DEEF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1858" y="4448126"/>
              <a:ext cx="64294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15</a:t>
              </a:r>
              <a:endParaRPr lang="zh-CN" altLang="en-US" sz="2000"/>
            </a:p>
          </p:txBody>
        </p:sp>
        <p:sp>
          <p:nvSpPr>
            <p:cNvPr id="12306" name="TextBox 17">
              <a:extLst>
                <a:ext uri="{FF2B5EF4-FFF2-40B4-BE49-F238E27FC236}">
                  <a16:creationId xmlns:a16="http://schemas.microsoft.com/office/drawing/2014/main" id="{0ADA502F-B300-480A-9CCB-0809A8882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439" y="4448126"/>
              <a:ext cx="71438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</a:rPr>
                <a:t>25</a:t>
              </a:r>
              <a:endParaRPr lang="zh-CN" altLang="en-US" sz="2000">
                <a:solidFill>
                  <a:srgbClr val="FF0000"/>
                </a:solidFill>
              </a:endParaRPr>
            </a:p>
          </p:txBody>
        </p:sp>
        <p:sp>
          <p:nvSpPr>
            <p:cNvPr id="12307" name="TextBox 18">
              <a:extLst>
                <a:ext uri="{FF2B5EF4-FFF2-40B4-BE49-F238E27FC236}">
                  <a16:creationId xmlns:a16="http://schemas.microsoft.com/office/drawing/2014/main" id="{86869112-914F-44B9-8999-12B80E47E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42" y="4448126"/>
              <a:ext cx="64294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10</a:t>
              </a:r>
              <a:endParaRPr lang="zh-CN" altLang="en-US" sz="2000"/>
            </a:p>
          </p:txBody>
        </p:sp>
        <p:sp>
          <p:nvSpPr>
            <p:cNvPr id="12308" name="TextBox 19">
              <a:extLst>
                <a:ext uri="{FF2B5EF4-FFF2-40B4-BE49-F238E27FC236}">
                  <a16:creationId xmlns:a16="http://schemas.microsoft.com/office/drawing/2014/main" id="{3370369E-16FF-4496-9D8C-69E0A6008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7884" y="4448126"/>
              <a:ext cx="348172" cy="409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12309" name="TextBox 20">
              <a:extLst>
                <a:ext uri="{FF2B5EF4-FFF2-40B4-BE49-F238E27FC236}">
                  <a16:creationId xmlns:a16="http://schemas.microsoft.com/office/drawing/2014/main" id="{22A44E45-ACCA-494F-A80E-0A2779EE8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3960" y="3314642"/>
              <a:ext cx="3481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12310" name="TextBox 21">
              <a:extLst>
                <a:ext uri="{FF2B5EF4-FFF2-40B4-BE49-F238E27FC236}">
                  <a16:creationId xmlns:a16="http://schemas.microsoft.com/office/drawing/2014/main" id="{2F5C89EF-B152-4DFC-83A2-A4C1C3A89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984" y="2171634"/>
              <a:ext cx="7008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/>
                <a:t>=1</a:t>
              </a:r>
              <a:endParaRPr lang="zh-CN" altLang="en-US" sz="2000"/>
            </a:p>
          </p:txBody>
        </p:sp>
        <p:sp>
          <p:nvSpPr>
            <p:cNvPr id="12311" name="TextBox 22">
              <a:extLst>
                <a:ext uri="{FF2B5EF4-FFF2-40B4-BE49-F238E27FC236}">
                  <a16:creationId xmlns:a16="http://schemas.microsoft.com/office/drawing/2014/main" id="{E07F73F7-4AD5-4754-B25F-28F37D3E9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984" y="2743138"/>
              <a:ext cx="7008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/>
                <a:t>=2</a:t>
              </a:r>
              <a:endParaRPr lang="zh-CN" altLang="en-US" sz="2000"/>
            </a:p>
          </p:txBody>
        </p:sp>
        <p:sp>
          <p:nvSpPr>
            <p:cNvPr id="12312" name="TextBox 23">
              <a:extLst>
                <a:ext uri="{FF2B5EF4-FFF2-40B4-BE49-F238E27FC236}">
                  <a16:creationId xmlns:a16="http://schemas.microsoft.com/office/drawing/2014/main" id="{FD57BAFF-21DD-448E-BA57-73D446863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984" y="3286124"/>
              <a:ext cx="7008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/>
                <a:t>=3</a:t>
              </a:r>
              <a:endParaRPr lang="zh-CN" altLang="en-US" sz="2000"/>
            </a:p>
          </p:txBody>
        </p:sp>
        <p:sp>
          <p:nvSpPr>
            <p:cNvPr id="12313" name="TextBox 24">
              <a:extLst>
                <a:ext uri="{FF2B5EF4-FFF2-40B4-BE49-F238E27FC236}">
                  <a16:creationId xmlns:a16="http://schemas.microsoft.com/office/drawing/2014/main" id="{282AB221-0C1C-4321-8784-3F6C4A9C5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984" y="3886146"/>
              <a:ext cx="7008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/>
                <a:t>=4</a:t>
              </a:r>
              <a:endParaRPr lang="zh-CN" altLang="en-US" sz="2000"/>
            </a:p>
          </p:txBody>
        </p:sp>
        <p:sp>
          <p:nvSpPr>
            <p:cNvPr id="12314" name="TextBox 25">
              <a:extLst>
                <a:ext uri="{FF2B5EF4-FFF2-40B4-BE49-F238E27FC236}">
                  <a16:creationId xmlns:a16="http://schemas.microsoft.com/office/drawing/2014/main" id="{5CC635F7-F8B5-45FD-819D-BC3D46351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9531" y="4457650"/>
              <a:ext cx="7008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/>
                <a:t>=5</a:t>
              </a:r>
              <a:endParaRPr lang="zh-CN" altLang="en-US" sz="2000"/>
            </a:p>
          </p:txBody>
        </p:sp>
        <p:sp>
          <p:nvSpPr>
            <p:cNvPr id="12315" name="TextBox 26">
              <a:extLst>
                <a:ext uri="{FF2B5EF4-FFF2-40B4-BE49-F238E27FC236}">
                  <a16:creationId xmlns:a16="http://schemas.microsoft.com/office/drawing/2014/main" id="{790CD04E-D39E-42D9-AFB6-D1F0076B4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7456" y="1385816"/>
              <a:ext cx="6575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/>
                <a:t>=1</a:t>
              </a:r>
              <a:endParaRPr lang="zh-CN" altLang="en-US" sz="2000"/>
            </a:p>
          </p:txBody>
        </p:sp>
        <p:sp>
          <p:nvSpPr>
            <p:cNvPr id="12316" name="TextBox 27">
              <a:extLst>
                <a:ext uri="{FF2B5EF4-FFF2-40B4-BE49-F238E27FC236}">
                  <a16:creationId xmlns:a16="http://schemas.microsoft.com/office/drawing/2014/main" id="{6184B1C6-16A8-4D6F-81F3-9A6AB9EB35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3208" y="2071678"/>
              <a:ext cx="6575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/>
                <a:t>=2</a:t>
              </a:r>
              <a:endParaRPr lang="zh-CN" altLang="en-US" sz="2000"/>
            </a:p>
          </p:txBody>
        </p:sp>
        <p:sp>
          <p:nvSpPr>
            <p:cNvPr id="12317" name="TextBox 28">
              <a:extLst>
                <a:ext uri="{FF2B5EF4-FFF2-40B4-BE49-F238E27FC236}">
                  <a16:creationId xmlns:a16="http://schemas.microsoft.com/office/drawing/2014/main" id="{93CB49AF-D510-460C-91FC-1262A9D31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3274" y="2643182"/>
              <a:ext cx="6575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/>
                <a:t>=3</a:t>
              </a:r>
              <a:endParaRPr lang="zh-CN" altLang="en-US" sz="2000"/>
            </a:p>
          </p:txBody>
        </p:sp>
        <p:sp>
          <p:nvSpPr>
            <p:cNvPr id="12318" name="TextBox 29">
              <a:extLst>
                <a:ext uri="{FF2B5EF4-FFF2-40B4-BE49-F238E27FC236}">
                  <a16:creationId xmlns:a16="http://schemas.microsoft.com/office/drawing/2014/main" id="{0B9297F3-2739-4ED2-AFEC-96289E3DD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9026" y="3286124"/>
              <a:ext cx="6575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/>
                <a:t>=4</a:t>
              </a:r>
              <a:endParaRPr lang="zh-CN" altLang="en-US" sz="2000"/>
            </a:p>
          </p:txBody>
        </p:sp>
        <p:sp>
          <p:nvSpPr>
            <p:cNvPr id="12319" name="TextBox 30">
              <a:extLst>
                <a:ext uri="{FF2B5EF4-FFF2-40B4-BE49-F238E27FC236}">
                  <a16:creationId xmlns:a16="http://schemas.microsoft.com/office/drawing/2014/main" id="{F9746327-0E5C-4F4E-A5BE-208A9D147E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4778" y="3886146"/>
              <a:ext cx="6575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/>
                <a:t>=5</a:t>
              </a:r>
              <a:endParaRPr lang="zh-CN" altLang="en-US" sz="2000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F274D43A-8239-4414-B6EB-F928ADF9E244}"/>
                </a:ext>
              </a:extLst>
            </p:cNvPr>
            <p:cNvCxnSpPr/>
            <p:nvPr/>
          </p:nvCxnSpPr>
          <p:spPr>
            <a:xfrm rot="5400000" flipH="1" flipV="1">
              <a:off x="4857779" y="1857107"/>
              <a:ext cx="357196" cy="214733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03EF56FF-6C7A-4875-897D-47EDBB5C3D49}"/>
                </a:ext>
              </a:extLst>
            </p:cNvPr>
            <p:cNvCxnSpPr/>
            <p:nvPr/>
          </p:nvCxnSpPr>
          <p:spPr>
            <a:xfrm rot="5400000" flipH="1" flipV="1">
              <a:off x="5142752" y="2500060"/>
              <a:ext cx="357195" cy="214733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EE74478-1233-4497-A126-803F0271E080}"/>
                </a:ext>
              </a:extLst>
            </p:cNvPr>
            <p:cNvCxnSpPr/>
            <p:nvPr/>
          </p:nvCxnSpPr>
          <p:spPr>
            <a:xfrm rot="5400000" flipH="1" flipV="1">
              <a:off x="5499972" y="3071573"/>
              <a:ext cx="357195" cy="214733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161F838F-E50F-44A7-A58A-A13BE2E004CF}"/>
                </a:ext>
              </a:extLst>
            </p:cNvPr>
            <p:cNvCxnSpPr/>
            <p:nvPr/>
          </p:nvCxnSpPr>
          <p:spPr>
            <a:xfrm rot="5400000" flipH="1" flipV="1">
              <a:off x="5786952" y="3643086"/>
              <a:ext cx="357195" cy="214734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A18459E8-FC75-4AB8-A5C3-84CA735BA90C}"/>
                </a:ext>
              </a:extLst>
            </p:cNvPr>
            <p:cNvCxnSpPr/>
            <p:nvPr/>
          </p:nvCxnSpPr>
          <p:spPr>
            <a:xfrm rot="5400000" flipH="1" flipV="1">
              <a:off x="6144172" y="4286038"/>
              <a:ext cx="357196" cy="214734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118DC62-7B90-4BF1-9BD0-53D948EFC260}"/>
                </a:ext>
              </a:extLst>
            </p:cNvPr>
            <p:cNvCxnSpPr/>
            <p:nvPr/>
          </p:nvCxnSpPr>
          <p:spPr>
            <a:xfrm>
              <a:off x="3072671" y="2357389"/>
              <a:ext cx="1071660" cy="1588"/>
            </a:xfrm>
            <a:prstGeom prst="line">
              <a:avLst/>
            </a:prstGeom>
            <a:ln w="190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D6924DF-29D6-4EA1-B71A-8FABCB00A877}"/>
                </a:ext>
              </a:extLst>
            </p:cNvPr>
            <p:cNvCxnSpPr/>
            <p:nvPr/>
          </p:nvCxnSpPr>
          <p:spPr>
            <a:xfrm>
              <a:off x="3072671" y="2927315"/>
              <a:ext cx="784680" cy="1587"/>
            </a:xfrm>
            <a:prstGeom prst="line">
              <a:avLst/>
            </a:prstGeom>
            <a:ln w="190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321B990-E283-4901-8340-613A9EBE1954}"/>
                </a:ext>
              </a:extLst>
            </p:cNvPr>
            <p:cNvCxnSpPr/>
            <p:nvPr/>
          </p:nvCxnSpPr>
          <p:spPr>
            <a:xfrm>
              <a:off x="3072671" y="3498828"/>
              <a:ext cx="569946" cy="1587"/>
            </a:xfrm>
            <a:prstGeom prst="line">
              <a:avLst/>
            </a:prstGeom>
            <a:ln w="190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7DEA8C57-655C-4B49-8112-1E2AEEEF7050}"/>
                </a:ext>
              </a:extLst>
            </p:cNvPr>
            <p:cNvCxnSpPr/>
            <p:nvPr/>
          </p:nvCxnSpPr>
          <p:spPr>
            <a:xfrm>
              <a:off x="3072671" y="4070342"/>
              <a:ext cx="357220" cy="1587"/>
            </a:xfrm>
            <a:prstGeom prst="line">
              <a:avLst/>
            </a:prstGeom>
            <a:ln w="190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FBAD8E55-1973-466E-B118-1BC78C4C4080}"/>
                </a:ext>
              </a:extLst>
            </p:cNvPr>
            <p:cNvCxnSpPr/>
            <p:nvPr/>
          </p:nvCxnSpPr>
          <p:spPr>
            <a:xfrm>
              <a:off x="3072671" y="4641855"/>
              <a:ext cx="212726" cy="1587"/>
            </a:xfrm>
            <a:prstGeom prst="line">
              <a:avLst/>
            </a:prstGeom>
            <a:ln w="190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12291" name="Object 5">
            <a:extLst>
              <a:ext uri="{FF2B5EF4-FFF2-40B4-BE49-F238E27FC236}">
                <a16:creationId xmlns:a16="http://schemas.microsoft.com/office/drawing/2014/main" id="{5A9810AA-FE9A-4248-B266-4F7C29CE46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4697413"/>
          <a:ext cx="2214563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name="公式" r:id="rId6" imgW="1143000" imgH="469800" progId="Equation.3">
                  <p:embed/>
                </p:oleObj>
              </mc:Choice>
              <mc:Fallback>
                <p:oleObj name="公式" r:id="rId6" imgW="1143000" imgH="46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4697413"/>
                        <a:ext cx="2214563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>
            <a:extLst>
              <a:ext uri="{FF2B5EF4-FFF2-40B4-BE49-F238E27FC236}">
                <a16:creationId xmlns:a16="http://schemas.microsoft.com/office/drawing/2014/main" id="{42390B42-ED83-4D6A-B2E1-1AC08AA8D1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" y="981075"/>
          <a:ext cx="6932613" cy="625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文档" r:id="rId4" imgW="3850344" imgH="3469559" progId="Word.Document.8">
                  <p:embed/>
                </p:oleObj>
              </mc:Choice>
              <mc:Fallback>
                <p:oleObj name="文档" r:id="rId4" imgW="3850344" imgH="346955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981075"/>
                        <a:ext cx="6932613" cy="625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Rectangle 3">
            <a:extLst>
              <a:ext uri="{FF2B5EF4-FFF2-40B4-BE49-F238E27FC236}">
                <a16:creationId xmlns:a16="http://schemas.microsoft.com/office/drawing/2014/main" id="{24FF33A1-279F-467D-AB15-D7271C2F0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恒等式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3B50F3-E296-491E-AC06-6E115CB6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9F0B366-C09B-4A0D-BA30-991C78BF7718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81472489-06E0-44AF-8B6B-6B200CF421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8100" y="1052513"/>
          <a:ext cx="8493125" cy="498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文档" r:id="rId4" imgW="4561554" imgH="2675127" progId="Word.Document.8">
                  <p:embed/>
                </p:oleObj>
              </mc:Choice>
              <mc:Fallback>
                <p:oleObj name="文档" r:id="rId4" imgW="4561554" imgH="267512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8100" y="1052513"/>
                        <a:ext cx="8493125" cy="498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Rectangle 3">
            <a:extLst>
              <a:ext uri="{FF2B5EF4-FFF2-40B4-BE49-F238E27FC236}">
                <a16:creationId xmlns:a16="http://schemas.microsoft.com/office/drawing/2014/main" id="{D5B931A2-3396-44E4-B163-424C2F8DB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7946CDF2-C65A-4613-A511-06407E2E9B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905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恒等式证明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05928B-2EC1-461B-9066-38F3A506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D750213-171E-4380-B0CA-5D8934E5744A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>
            <a:extLst>
              <a:ext uri="{FF2B5EF4-FFF2-40B4-BE49-F238E27FC236}">
                <a16:creationId xmlns:a16="http://schemas.microsoft.com/office/drawing/2014/main" id="{DEB70264-52AB-4C44-960F-359EBA17BB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612775" y="1052513"/>
          <a:ext cx="9436100" cy="535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文档" r:id="rId4" imgW="5276010" imgH="2992900" progId="Word.Document.8">
                  <p:embed/>
                </p:oleObj>
              </mc:Choice>
              <mc:Fallback>
                <p:oleObj name="文档" r:id="rId4" imgW="5276010" imgH="29929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12775" y="1052513"/>
                        <a:ext cx="9436100" cy="535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3" name="Rectangle 3">
            <a:extLst>
              <a:ext uri="{FF2B5EF4-FFF2-40B4-BE49-F238E27FC236}">
                <a16:creationId xmlns:a16="http://schemas.microsoft.com/office/drawing/2014/main" id="{7E16405D-E450-4952-AD29-8BCE9F791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恒等式证明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6A7F49-D9D0-46A4-93FC-46AA3447A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84FEB53-0104-4C0E-8E94-5AD0321F1B88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>
            <a:extLst>
              <a:ext uri="{FF2B5EF4-FFF2-40B4-BE49-F238E27FC236}">
                <a16:creationId xmlns:a16="http://schemas.microsoft.com/office/drawing/2014/main" id="{A4F51811-AA01-44E8-B617-BAE0FA885F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" y="765175"/>
          <a:ext cx="6838950" cy="528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Document" r:id="rId4" imgW="2964622" imgH="2297534" progId="Word.Document.8">
                  <p:embed/>
                </p:oleObj>
              </mc:Choice>
              <mc:Fallback>
                <p:oleObj name="Document" r:id="rId4" imgW="2964622" imgH="229753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" y="765175"/>
                        <a:ext cx="6838950" cy="528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7" name="Rectangle 3">
            <a:extLst>
              <a:ext uri="{FF2B5EF4-FFF2-40B4-BE49-F238E27FC236}">
                <a16:creationId xmlns:a16="http://schemas.microsoft.com/office/drawing/2014/main" id="{1405C244-8B8C-4231-9077-F810D1A642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生成函数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57B31D-FF9F-43D7-B42E-A4783E09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71EF62C-C8F8-433B-88AF-ED6BDB81C41E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>
            <a:extLst>
              <a:ext uri="{FF2B5EF4-FFF2-40B4-BE49-F238E27FC236}">
                <a16:creationId xmlns:a16="http://schemas.microsoft.com/office/drawing/2014/main" id="{EBB289C6-9E70-48D1-BB08-08601BC121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363" y="1268413"/>
          <a:ext cx="8404225" cy="449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文档" r:id="rId4" imgW="4478243" imgH="2395545" progId="Word.Document.8">
                  <p:embed/>
                </p:oleObj>
              </mc:Choice>
              <mc:Fallback>
                <p:oleObj name="文档" r:id="rId4" imgW="4478243" imgH="239554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" y="1268413"/>
                        <a:ext cx="8404225" cy="449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Rectangle 3">
            <a:extLst>
              <a:ext uri="{FF2B5EF4-FFF2-40B4-BE49-F238E27FC236}">
                <a16:creationId xmlns:a16="http://schemas.microsoft.com/office/drawing/2014/main" id="{2C7E5E51-BBAC-4333-9108-59A523EA4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649413"/>
            <a:ext cx="25146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AA9DB444-C099-4038-A372-A0C2E7EA4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649413"/>
            <a:ext cx="25146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97AB9A4B-BF4F-4711-8C60-958F246F6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649413"/>
            <a:ext cx="25146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CDB2EA59-C2E0-4AA2-B48F-6906ABA25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649413"/>
            <a:ext cx="25146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C31F6B67-40CC-44C5-A7BA-F57398791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649413"/>
            <a:ext cx="25146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76" name="Rectangle 8">
            <a:extLst>
              <a:ext uri="{FF2B5EF4-FFF2-40B4-BE49-F238E27FC236}">
                <a16:creationId xmlns:a16="http://schemas.microsoft.com/office/drawing/2014/main" id="{879577EC-011D-4A0D-9243-2DB5FCFF9A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905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对应的组合问题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—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放球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965B37C0-5D81-454B-B94C-C0488D463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2F3ADA1-83F5-4FD5-9E2B-F9EBC265C85C}" type="slidenum">
              <a:rPr lang="en-US" altLang="zh-CN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7417" name="Rectangle 9">
            <a:extLst>
              <a:ext uri="{FF2B5EF4-FFF2-40B4-BE49-F238E27FC236}">
                <a16:creationId xmlns:a16="http://schemas.microsoft.com/office/drawing/2014/main" id="{D1F39263-95F8-46B5-8C02-69F872328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825625"/>
            <a:ext cx="12573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8" name="Rectangle 10">
            <a:extLst>
              <a:ext uri="{FF2B5EF4-FFF2-40B4-BE49-F238E27FC236}">
                <a16:creationId xmlns:a16="http://schemas.microsoft.com/office/drawing/2014/main" id="{9E9D3EC8-E957-41B1-9F57-4EAEE8074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825625"/>
            <a:ext cx="12573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9" name="Rectangle 11">
            <a:extLst>
              <a:ext uri="{FF2B5EF4-FFF2-40B4-BE49-F238E27FC236}">
                <a16:creationId xmlns:a16="http://schemas.microsoft.com/office/drawing/2014/main" id="{4BE07360-23FD-4F7E-8CE6-42B37D139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825625"/>
            <a:ext cx="12573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8378" name="Group 42">
            <a:extLst>
              <a:ext uri="{FF2B5EF4-FFF2-40B4-BE49-F238E27FC236}">
                <a16:creationId xmlns:a16="http://schemas.microsoft.com/office/drawing/2014/main" id="{F8E42A0F-84E7-4015-B82D-9AA68CC38193}"/>
              </a:ext>
            </a:extLst>
          </p:cNvPr>
          <p:cNvGraphicFramePr>
            <a:graphicFrameLocks noGrp="1"/>
          </p:cNvGraphicFramePr>
          <p:nvPr/>
        </p:nvGraphicFramePr>
        <p:xfrm>
          <a:off x="828675" y="1343025"/>
          <a:ext cx="7704138" cy="5187978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67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554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球标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号</a:t>
                      </a:r>
                      <a:endParaRPr kumimoji="0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盒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标号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允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空盒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放球方法数</a:t>
                      </a:r>
                      <a:endParaRPr kumimoji="0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对应的组合问题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588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是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否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否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第二类</a:t>
                      </a:r>
                      <a:r>
                        <a:rPr kumimoji="0" lang="en-US" altLang="zh-CN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Stirling</a:t>
                      </a:r>
                      <a:r>
                        <a:rPr kumimoji="0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数</a:t>
                      </a:r>
                      <a:endParaRPr kumimoji="0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23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否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是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第二类</a:t>
                      </a: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Sirling</a:t>
                      </a: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数性质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23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是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否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第二类</a:t>
                      </a:r>
                      <a:r>
                        <a:rPr kumimoji="0" lang="en-US" altLang="zh-CN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Stirling</a:t>
                      </a:r>
                      <a:r>
                        <a:rPr kumimoji="0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数性质</a:t>
                      </a:r>
                      <a:endParaRPr kumimoji="0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33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是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是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乘法法则</a:t>
                      </a:r>
                      <a:endParaRPr kumimoji="0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8959" marB="489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4998" name="Rectangle 2">
            <a:extLst>
              <a:ext uri="{FF2B5EF4-FFF2-40B4-BE49-F238E27FC236}">
                <a16:creationId xmlns:a16="http://schemas.microsoft.com/office/drawing/2014/main" id="{3790CE60-5873-48B9-A6F7-751688287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33375"/>
            <a:ext cx="8229600" cy="5746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对应的组合问题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—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放球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AE3736B-A1AD-43A0-B597-377593B0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4C8EF64-4E65-4354-83AB-A742D40F69F2}" type="slidenum">
              <a:rPr lang="en-US" altLang="zh-CN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8434" name="Object 3">
            <a:extLst>
              <a:ext uri="{FF2B5EF4-FFF2-40B4-BE49-F238E27FC236}">
                <a16:creationId xmlns:a16="http://schemas.microsoft.com/office/drawing/2014/main" id="{2B59DAC4-4BF0-45F6-9F0A-5F2FFB0E79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8088" y="4292600"/>
          <a:ext cx="8636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公式" r:id="rId4" imgW="520560" imgH="469800" progId="Equation.3">
                  <p:embed/>
                </p:oleObj>
              </mc:Choice>
              <mc:Fallback>
                <p:oleObj name="公式" r:id="rId4" imgW="52056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088" y="4292600"/>
                        <a:ext cx="863600" cy="76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9">
            <a:extLst>
              <a:ext uri="{FF2B5EF4-FFF2-40B4-BE49-F238E27FC236}">
                <a16:creationId xmlns:a16="http://schemas.microsoft.com/office/drawing/2014/main" id="{B0F7D842-4865-4A2E-88AE-4328FA8F1A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5157788"/>
          <a:ext cx="18732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4" name="公式" r:id="rId6" imgW="1155700" imgH="431800" progId="Equation.3">
                  <p:embed/>
                </p:oleObj>
              </mc:Choice>
              <mc:Fallback>
                <p:oleObj name="公式" r:id="rId6" imgW="1155700" imgH="4318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157788"/>
                        <a:ext cx="1873250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0">
            <a:extLst>
              <a:ext uri="{FF2B5EF4-FFF2-40B4-BE49-F238E27FC236}">
                <a16:creationId xmlns:a16="http://schemas.microsoft.com/office/drawing/2014/main" id="{200E087D-2BC6-4446-A8CE-82BF146608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2863" y="3644900"/>
          <a:ext cx="71755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5" name="公式" r:id="rId8" imgW="482400" imgH="469800" progId="Equation.3">
                  <p:embed/>
                </p:oleObj>
              </mc:Choice>
              <mc:Fallback>
                <p:oleObj name="公式" r:id="rId8" imgW="482400" imgH="4698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63" y="3644900"/>
                        <a:ext cx="717550" cy="69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41">
            <a:extLst>
              <a:ext uri="{FF2B5EF4-FFF2-40B4-BE49-F238E27FC236}">
                <a16:creationId xmlns:a16="http://schemas.microsoft.com/office/drawing/2014/main" id="{F40455F8-B58D-4531-B817-9DFC79235E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2781300"/>
          <a:ext cx="5064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6" name="公式" r:id="rId10" imgW="317225" imgH="431425" progId="Equation.3">
                  <p:embed/>
                </p:oleObj>
              </mc:Choice>
              <mc:Fallback>
                <p:oleObj name="公式" r:id="rId10" imgW="317225" imgH="431425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781300"/>
                        <a:ext cx="506413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>
            <a:extLst>
              <a:ext uri="{FF2B5EF4-FFF2-40B4-BE49-F238E27FC236}">
                <a16:creationId xmlns:a16="http://schemas.microsoft.com/office/drawing/2014/main" id="{6CBE6E87-0347-45A0-9D0A-6C4EF7E973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125538"/>
          <a:ext cx="8040688" cy="519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文档" r:id="rId4" imgW="4116147" imgH="2658554" progId="Word.Document.8">
                  <p:embed/>
                </p:oleObj>
              </mc:Choice>
              <mc:Fallback>
                <p:oleObj name="文档" r:id="rId4" imgW="4116147" imgH="265855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125538"/>
                        <a:ext cx="8040688" cy="519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19" name="Rectangle 3">
            <a:extLst>
              <a:ext uri="{FF2B5EF4-FFF2-40B4-BE49-F238E27FC236}">
                <a16:creationId xmlns:a16="http://schemas.microsoft.com/office/drawing/2014/main" id="{BF3A27F6-B1B9-4ECE-B858-7764120B3F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8459787" cy="72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对应组合问题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函数关系计数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6A905-B5A6-48E4-B330-F9645436F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4AEB438-2855-4782-81E7-EB53C7C3A226}" type="slidenum">
              <a:rPr lang="en-US" altLang="zh-CN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CC2C86B4-199E-478C-8598-E3B8B1308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小结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56BFAEE-D825-473C-992B-966DBB3EAD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18488" cy="4852988"/>
          </a:xfrm>
        </p:spPr>
        <p:txBody>
          <a:bodyPr/>
          <a:lstStyle/>
          <a:p>
            <a:pPr eaLnBrk="1" hangingPunct="1"/>
            <a:r>
              <a:rPr lang="zh-CN" altLang="en-US" sz="2400" b="1"/>
              <a:t>鸽巢原理的一般形式及应用</a:t>
            </a:r>
          </a:p>
          <a:p>
            <a:pPr eaLnBrk="1" hangingPunct="1"/>
            <a:r>
              <a:rPr lang="zh-CN" altLang="en-US" sz="2400" b="1"/>
              <a:t>加法法则与乘法法则，分类处理与分步处理</a:t>
            </a:r>
          </a:p>
          <a:p>
            <a:pPr eaLnBrk="1" hangingPunct="1"/>
            <a:r>
              <a:rPr lang="zh-CN" altLang="en-US" sz="2400" b="1"/>
              <a:t>递推方程的求解方法（公式法、迭代归纳法、生成函数法）及应用</a:t>
            </a:r>
          </a:p>
          <a:p>
            <a:pPr eaLnBrk="1" hangingPunct="1"/>
            <a:r>
              <a:rPr lang="zh-CN" altLang="en-US" sz="2400" b="1"/>
              <a:t>生成函数、指数生成函数及应用</a:t>
            </a:r>
          </a:p>
          <a:p>
            <a:pPr eaLnBrk="1" hangingPunct="1"/>
            <a:r>
              <a:rPr lang="zh-CN" altLang="en-US" sz="2400" b="1"/>
              <a:t>组合计数模型</a:t>
            </a:r>
          </a:p>
          <a:p>
            <a:pPr lvl="1" eaLnBrk="1" hangingPunct="1"/>
            <a:r>
              <a:rPr lang="zh-CN" altLang="en-US" sz="2000" b="1"/>
              <a:t>选取模型、非降路径、方程非负整数解、整数拆分、放球</a:t>
            </a:r>
          </a:p>
          <a:p>
            <a:pPr eaLnBrk="1" hangingPunct="1"/>
            <a:r>
              <a:rPr lang="zh-CN" altLang="en-US" sz="2400" b="1"/>
              <a:t>组合数</a:t>
            </a:r>
          </a:p>
          <a:p>
            <a:pPr lvl="1" eaLnBrk="1" hangingPunct="1"/>
            <a:r>
              <a:rPr lang="zh-CN" altLang="en-US" sz="2000" b="1"/>
              <a:t>一般计数：</a:t>
            </a:r>
            <a:r>
              <a:rPr lang="en-US" altLang="zh-CN" sz="2000" b="1" i="1">
                <a:latin typeface="Times New Roman" panose="02020603050405020304" pitchFamily="18" charset="0"/>
              </a:rPr>
              <a:t>P</a:t>
            </a:r>
            <a:r>
              <a:rPr lang="en-US" altLang="zh-CN" sz="2000" b="1">
                <a:latin typeface="Times New Roman" panose="02020603050405020304" pitchFamily="18" charset="0"/>
              </a:rPr>
              <a:t>(</a:t>
            </a:r>
            <a:r>
              <a:rPr lang="en-US" altLang="zh-CN" sz="2000" b="1" i="1">
                <a:latin typeface="Times New Roman" panose="02020603050405020304" pitchFamily="18" charset="0"/>
              </a:rPr>
              <a:t>n</a:t>
            </a:r>
            <a:r>
              <a:rPr lang="en-US" altLang="zh-CN" sz="2000" b="1">
                <a:latin typeface="Times New Roman" panose="02020603050405020304" pitchFamily="18" charset="0"/>
              </a:rPr>
              <a:t>, </a:t>
            </a:r>
            <a:r>
              <a:rPr lang="en-US" altLang="zh-CN" sz="2000" b="1" i="1">
                <a:latin typeface="Times New Roman" panose="02020603050405020304" pitchFamily="18" charset="0"/>
              </a:rPr>
              <a:t>k</a:t>
            </a:r>
            <a:r>
              <a:rPr lang="en-US" altLang="zh-CN" sz="2000" b="1">
                <a:latin typeface="Times New Roman" panose="02020603050405020304" pitchFamily="18" charset="0"/>
              </a:rPr>
              <a:t>)</a:t>
            </a:r>
            <a:r>
              <a:rPr lang="zh-CN" altLang="en-US" sz="2000" b="1">
                <a:latin typeface="Times New Roman" panose="02020603050405020304" pitchFamily="18" charset="0"/>
              </a:rPr>
              <a:t>、</a:t>
            </a:r>
            <a:r>
              <a:rPr lang="en-US" altLang="zh-CN" sz="2000" b="1" i="1">
                <a:latin typeface="Times New Roman" panose="02020603050405020304" pitchFamily="18" charset="0"/>
              </a:rPr>
              <a:t>C</a:t>
            </a:r>
            <a:r>
              <a:rPr lang="en-US" altLang="zh-CN" sz="2000" b="1">
                <a:latin typeface="Times New Roman" panose="02020603050405020304" pitchFamily="18" charset="0"/>
              </a:rPr>
              <a:t>(</a:t>
            </a:r>
            <a:r>
              <a:rPr lang="en-US" altLang="zh-CN" sz="2000" b="1" i="1">
                <a:latin typeface="Times New Roman" panose="02020603050405020304" pitchFamily="18" charset="0"/>
              </a:rPr>
              <a:t>n</a:t>
            </a:r>
            <a:r>
              <a:rPr lang="en-US" altLang="zh-CN" sz="2000" b="1">
                <a:latin typeface="Times New Roman" panose="02020603050405020304" pitchFamily="18" charset="0"/>
              </a:rPr>
              <a:t>, </a:t>
            </a:r>
            <a:r>
              <a:rPr lang="en-US" altLang="zh-CN" sz="2000" b="1" i="1">
                <a:latin typeface="Times New Roman" panose="02020603050405020304" pitchFamily="18" charset="0"/>
              </a:rPr>
              <a:t>k</a:t>
            </a:r>
            <a:r>
              <a:rPr lang="en-US" altLang="zh-CN" sz="2000" b="1">
                <a:latin typeface="Times New Roman" panose="02020603050405020304" pitchFamily="18" charset="0"/>
              </a:rPr>
              <a:t>)</a:t>
            </a:r>
            <a:r>
              <a:rPr lang="zh-CN" altLang="en-US" sz="2000" b="1"/>
              <a:t>、多项式系数</a:t>
            </a:r>
          </a:p>
          <a:p>
            <a:pPr lvl="1" eaLnBrk="1" hangingPunct="1"/>
            <a:r>
              <a:rPr lang="en-US" altLang="zh-CN" sz="2000" b="1">
                <a:latin typeface="Times New Roman" panose="02020603050405020304" pitchFamily="18" charset="0"/>
              </a:rPr>
              <a:t>Fibonacci</a:t>
            </a:r>
            <a:r>
              <a:rPr lang="zh-CN" altLang="en-US" sz="2000" b="1"/>
              <a:t>数 </a:t>
            </a:r>
            <a:r>
              <a:rPr lang="en-US" altLang="zh-CN" sz="2000" b="1" i="1">
                <a:latin typeface="Times New Roman" panose="02020603050405020304" pitchFamily="18" charset="0"/>
              </a:rPr>
              <a:t>f</a:t>
            </a:r>
            <a:r>
              <a:rPr lang="en-US" altLang="zh-CN" sz="2000" b="1" i="1" baseline="-25000">
                <a:latin typeface="Times New Roman" panose="02020603050405020304" pitchFamily="18" charset="0"/>
              </a:rPr>
              <a:t>n</a:t>
            </a:r>
            <a:r>
              <a:rPr lang="zh-CN" altLang="en-US" sz="2000" b="1"/>
              <a:t>、错位排列数 </a:t>
            </a:r>
            <a:r>
              <a:rPr lang="en-US" altLang="zh-CN" sz="2000" b="1" i="1">
                <a:latin typeface="Times New Roman" panose="02020603050405020304" pitchFamily="18" charset="0"/>
              </a:rPr>
              <a:t>D</a:t>
            </a:r>
            <a:r>
              <a:rPr lang="en-US" altLang="zh-CN" sz="2000" b="1" i="1" baseline="-25000">
                <a:latin typeface="Times New Roman" panose="02020603050405020304" pitchFamily="18" charset="0"/>
              </a:rPr>
              <a:t>n  </a:t>
            </a:r>
          </a:p>
          <a:p>
            <a:pPr lvl="1" eaLnBrk="1" hangingPunct="1"/>
            <a:r>
              <a:rPr lang="en-US" altLang="zh-CN" sz="2000" b="1">
                <a:latin typeface="Times New Roman" panose="02020603050405020304" pitchFamily="18" charset="0"/>
              </a:rPr>
              <a:t>Catalan</a:t>
            </a:r>
            <a:r>
              <a:rPr lang="zh-CN" altLang="en-US" sz="2000" b="1">
                <a:latin typeface="Times New Roman" panose="02020603050405020304" pitchFamily="18" charset="0"/>
              </a:rPr>
              <a:t>数、两类 </a:t>
            </a:r>
            <a:r>
              <a:rPr lang="en-US" altLang="zh-CN" sz="2000" b="1">
                <a:latin typeface="Times New Roman" panose="02020603050405020304" pitchFamily="18" charset="0"/>
              </a:rPr>
              <a:t>Stirling</a:t>
            </a:r>
            <a:r>
              <a:rPr lang="zh-CN" altLang="en-US" sz="2000" b="1">
                <a:latin typeface="Times New Roman" panose="02020603050405020304" pitchFamily="18" charset="0"/>
              </a:rPr>
              <a:t>数</a:t>
            </a:r>
          </a:p>
          <a:p>
            <a:pPr lvl="1" eaLnBrk="1" hangingPunct="1"/>
            <a:r>
              <a:rPr lang="zh-CN" altLang="en-US" sz="2000" b="1">
                <a:latin typeface="Times New Roman" panose="02020603050405020304" pitchFamily="18" charset="0"/>
              </a:rPr>
              <a:t>以上计数的定义、组合含义、恒等式证明方法</a:t>
            </a:r>
          </a:p>
          <a:p>
            <a:pPr eaLnBrk="1" hangingPunct="1"/>
            <a:endParaRPr lang="en-US" altLang="zh-CN" sz="240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AA2B53-E5A7-4712-B1A7-F7C5B1F2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61EC025-9BBD-40F4-A376-D4012496017D}" type="slidenum">
              <a:rPr lang="en-US" altLang="zh-CN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3307</TotalTime>
  <Words>591</Words>
  <Application>Microsoft Office PowerPoint</Application>
  <PresentationFormat>全屏显示(4:3)</PresentationFormat>
  <Paragraphs>177</Paragraphs>
  <Slides>22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宋体</vt:lpstr>
      <vt:lpstr>Arial</vt:lpstr>
      <vt:lpstr>Calibri</vt:lpstr>
      <vt:lpstr>Calibri Light</vt:lpstr>
      <vt:lpstr>Times New Roman</vt:lpstr>
      <vt:lpstr>Verdana</vt:lpstr>
      <vt:lpstr>Wingdings</vt:lpstr>
      <vt:lpstr>Wingdings 2</vt:lpstr>
      <vt:lpstr>代数结构PPT</vt:lpstr>
      <vt:lpstr>文档</vt:lpstr>
      <vt:lpstr>公式</vt:lpstr>
      <vt:lpstr>Document</vt:lpstr>
      <vt:lpstr>22.6 高级计数</vt:lpstr>
      <vt:lpstr>Catalan数定义</vt:lpstr>
      <vt:lpstr>递推方程</vt:lpstr>
      <vt:lpstr>生成函数及对应的组合问题</vt:lpstr>
      <vt:lpstr>应用：搜索规模的估计</vt:lpstr>
      <vt:lpstr>应用: 栈的输出计数</vt:lpstr>
      <vt:lpstr>栈的输出个数(续)</vt:lpstr>
      <vt:lpstr>第一类Stirling数</vt:lpstr>
      <vt:lpstr>递推方程</vt:lpstr>
      <vt:lpstr>递推三角形</vt:lpstr>
      <vt:lpstr>恒等式及生成函数</vt:lpstr>
      <vt:lpstr>(3)式的证明</vt:lpstr>
      <vt:lpstr>第二类Stirling数</vt:lpstr>
      <vt:lpstr>递推方程</vt:lpstr>
      <vt:lpstr>恒等式</vt:lpstr>
      <vt:lpstr>恒等式证明</vt:lpstr>
      <vt:lpstr>恒等式证明(续)</vt:lpstr>
      <vt:lpstr>生成函数</vt:lpstr>
      <vt:lpstr>对应的组合问题—放球</vt:lpstr>
      <vt:lpstr>对应的组合问题—放球</vt:lpstr>
      <vt:lpstr>对应组合问题:函数关系计数</vt:lpstr>
      <vt:lpstr>小结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326</cp:revision>
  <dcterms:created xsi:type="dcterms:W3CDTF">2005-12-02T07:25:32Z</dcterms:created>
  <dcterms:modified xsi:type="dcterms:W3CDTF">2020-08-16T07:04:58Z</dcterms:modified>
</cp:coreProperties>
</file>