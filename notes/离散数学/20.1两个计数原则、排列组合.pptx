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18"/>
  </p:notesMasterIdLst>
  <p:sldIdLst>
    <p:sldId id="271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  <a:srgbClr val="FF6600"/>
    <a:srgbClr val="FF9900"/>
    <a:srgbClr val="009900"/>
    <a:srgbClr val="336600"/>
    <a:srgbClr val="FFCC00"/>
    <a:srgbClr val="FFFF99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2" autoAdjust="0"/>
    <p:restoredTop sz="92157" autoAdjust="0"/>
  </p:normalViewPr>
  <p:slideViewPr>
    <p:cSldViewPr>
      <p:cViewPr varScale="1">
        <p:scale>
          <a:sx n="79" d="100"/>
          <a:sy n="79" d="100"/>
        </p:scale>
        <p:origin x="1349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40623E16-FA0A-4E29-90CF-6A0D16A6733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995F2E2-2B40-4951-BBAC-59262997777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243726E8-7141-4901-9AA4-9111A55D4F25}" type="datetimeFigureOut">
              <a:rPr lang="zh-CN" altLang="en-US"/>
              <a:pPr>
                <a:defRPr/>
              </a:pPr>
              <a:t>2020/8/2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D2D6B553-C765-421A-A769-5FC11980A2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D16FEEB2-51C3-4345-B6D6-D9406BC08C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619B56-7480-4B92-AF14-468B3AC56E0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6B54C3-7945-4B27-A886-3BB03C83B1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90A7FE16-E6C4-4AC8-983D-D1DBA2C16DBC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19095FC1-0C84-463F-8A44-AE5B04431C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5FD0C27-8320-405D-99E0-F4058FC20422}" type="slidenum">
              <a:rPr lang="en-US" altLang="zh-CN"/>
              <a:pPr eaLnBrk="1" hangingPunct="1"/>
              <a:t>1</a:t>
            </a:fld>
            <a:endParaRPr lang="en-US" altLang="zh-CN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C85C8BAC-7C9A-4566-8EA8-5DC4D5C5685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7332391D-C6B8-46B7-9D93-FA5387F3FB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4BCA8853-3409-41D5-BB51-24D199DEE2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22E1B8D-E19C-481B-9C02-7451EB71F275}" type="slidenum">
              <a:rPr lang="en-US" altLang="zh-CN"/>
              <a:pPr eaLnBrk="1" hangingPunct="1"/>
              <a:t>2</a:t>
            </a:fld>
            <a:endParaRPr lang="en-US" altLang="zh-CN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71F3233C-502A-44A0-A774-4ED3321389B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5FDA30F6-A4D8-456E-9478-2C02550D54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14F28233-0E41-4CD8-A99F-BF8EE30EE5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1181667-23DE-4784-8727-EBD95E7DBDF7}" type="slidenum">
              <a:rPr lang="en-US" altLang="zh-CN"/>
              <a:pPr eaLnBrk="1" hangingPunct="1"/>
              <a:t>3</a:t>
            </a:fld>
            <a:endParaRPr lang="en-US" altLang="zh-CN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AE3DACE2-83BC-497A-96E9-2D7E743C285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7239B31F-AFBC-481C-8A6E-70FA2E2B58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94815B1D-4D5D-42FD-A086-66E5E80D3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2D97FF2-7458-4363-A0E6-BB846B47BDD4}" type="slidenum">
              <a:rPr lang="en-US" altLang="zh-CN"/>
              <a:pPr eaLnBrk="1" hangingPunct="1"/>
              <a:t>4</a:t>
            </a:fld>
            <a:endParaRPr lang="en-US" altLang="zh-CN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19658C8B-0BF4-4DBE-9C44-0529ADB6EA9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49CA484C-33C2-4D77-8BD9-84E8A81A40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E1A9CFC4-C592-4DEB-934B-64140AB9B1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B104AE3-0159-4327-A242-F4C506969E6C}" type="slidenum">
              <a:rPr lang="en-US" altLang="zh-CN"/>
              <a:pPr eaLnBrk="1" hangingPunct="1"/>
              <a:t>5</a:t>
            </a:fld>
            <a:endParaRPr lang="en-US" altLang="zh-CN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18FEE0C1-EFDB-49E3-96A5-2CD72C1F2BA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C3A6F5D1-C7C5-4DF0-826C-81656373AD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8A015906-80D2-401A-951C-2766E4C47F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0184C67-2A43-45F4-A603-574478272300}" type="slidenum">
              <a:rPr lang="en-US" altLang="zh-CN"/>
              <a:pPr eaLnBrk="1" hangingPunct="1"/>
              <a:t>6</a:t>
            </a:fld>
            <a:endParaRPr lang="en-US" altLang="zh-CN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0D388DD7-5C05-485A-BBE7-89DAAC2CD61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6A683A38-F18D-4BE2-B5FF-0CCD22179A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BE531EC0-3873-4F3D-82FA-8290068ED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9DB582E-AA22-4714-95A5-F1DE5C03D925}" type="slidenum">
              <a:rPr lang="en-US" altLang="zh-CN"/>
              <a:pPr eaLnBrk="1" hangingPunct="1"/>
              <a:t>7</a:t>
            </a:fld>
            <a:endParaRPr lang="en-US" altLang="zh-CN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E93ECC25-B78C-4C61-8481-64ED2EC8F51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B4BFCF0D-E2D2-4CBC-B67D-3A74A4DF9C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2948DE87-4C86-437E-9B69-8BAA2220FD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97643CB-F570-4531-8420-51A279460D2D}" type="slidenum">
              <a:rPr lang="en-US" altLang="zh-CN"/>
              <a:pPr eaLnBrk="1" hangingPunct="1"/>
              <a:t>8</a:t>
            </a:fld>
            <a:endParaRPr lang="en-US" altLang="zh-CN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1C5ABDCD-FD46-4007-AC70-39E326C402A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808FC523-26ED-4E44-9A9E-F07B17436B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9433204F-3E50-4044-B08B-450A61E4D4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614DF24-29E9-477D-9172-77FD7D15D38F}" type="slidenum">
              <a:rPr lang="en-US" altLang="zh-CN"/>
              <a:pPr eaLnBrk="1" hangingPunct="1"/>
              <a:t>9</a:t>
            </a:fld>
            <a:endParaRPr lang="en-US" altLang="zh-CN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C97D3BEE-DF55-44CE-B4F3-49E43FB0E90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615776FB-13C3-4E0B-8946-81EC0E9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4237C0A4-4336-4BFA-85DF-218A707B14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A4778F7-2164-41AA-BA06-4C11232FAB76}" type="slidenum">
              <a:rPr lang="en-US" altLang="zh-CN"/>
              <a:pPr eaLnBrk="1" hangingPunct="1"/>
              <a:t>10</a:t>
            </a:fld>
            <a:endParaRPr lang="en-US" altLang="zh-CN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D9212EA8-9265-4508-8EDF-1E181BA53C9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DE782FD5-4614-43D1-93F4-03CD7A8009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9E0C6F07-39F4-4484-A555-9F6849B074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F32FEC3-0DA3-499F-A514-C4BD6CB93588}" type="slidenum">
              <a:rPr lang="en-US" altLang="zh-CN"/>
              <a:pPr eaLnBrk="1" hangingPunct="1"/>
              <a:t>11</a:t>
            </a:fld>
            <a:endParaRPr lang="en-US" altLang="zh-CN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79EECD9C-490D-4011-B843-4E90333AAF5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24A7A1F7-E9E4-4AE9-9B5D-4022BEC64F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C7EF7841-8634-490C-8AB7-4A96A63007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E122BC5-0A8A-4D90-B25F-52BE9B0F3A28}" type="slidenum">
              <a:rPr lang="en-US" altLang="zh-CN"/>
              <a:pPr eaLnBrk="1" hangingPunct="1"/>
              <a:t>12</a:t>
            </a:fld>
            <a:endParaRPr lang="en-US" altLang="zh-CN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0213C0DC-C180-4FC6-94A4-3A7B7E6EE7E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02AA05A2-6183-4946-8E14-D01D89F186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83C7D21F-4B1D-4B97-B364-426E4C8725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33747D4-81C0-4634-9EA4-9FE78B612F6D}" type="slidenum">
              <a:rPr lang="en-US" altLang="zh-CN"/>
              <a:pPr eaLnBrk="1" hangingPunct="1"/>
              <a:t>13</a:t>
            </a:fld>
            <a:endParaRPr lang="en-US" altLang="zh-CN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AFFAFFA5-B266-414A-98F4-777573F068C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FB5C875F-F478-4692-BFDE-25445C16A2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07607B7E-3406-4112-B1DD-23A1B63E03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91CC4FC-E751-4DBA-BDD3-1907676275D7}" type="slidenum">
              <a:rPr lang="en-US" altLang="zh-CN"/>
              <a:pPr eaLnBrk="1" hangingPunct="1"/>
              <a:t>14</a:t>
            </a:fld>
            <a:endParaRPr lang="en-US" altLang="zh-CN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BD23751B-7730-4675-B9E1-557422B1F42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7BFB91B6-92E8-4A72-8805-8ECF053A05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3DF69079-91F7-4D72-953A-F5D884B7E2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2A00C69-3398-41F2-AF27-9B4C7FDB669C}" type="slidenum">
              <a:rPr lang="en-US" altLang="zh-CN"/>
              <a:pPr eaLnBrk="1" hangingPunct="1"/>
              <a:t>15</a:t>
            </a:fld>
            <a:endParaRPr lang="en-US" altLang="zh-CN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6FDEEE3C-C16E-46F1-A30C-778EC881E2B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9CF1A144-D7DD-451E-B5D4-520A1450C7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0342A432-BBF0-4A55-A83F-24743B0114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E75F853-A40F-478A-850C-2AFB3073508B}" type="slidenum">
              <a:rPr lang="en-US" altLang="zh-CN"/>
              <a:pPr eaLnBrk="1" hangingPunct="1"/>
              <a:t>16</a:t>
            </a:fld>
            <a:endParaRPr lang="en-US" altLang="zh-CN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9102BCFB-CBA0-4A8D-BD7F-0213579EA58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B518DD5F-8105-4A7D-A323-4E2FC4599A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noProof="1"/>
              <a:t>单击此处编辑母版副标题样式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302FB-ECBB-4181-BEAC-75E5AD4D8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44936-3FE8-4186-AAFA-A6A52493B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A8976-C2FE-4A99-BF8D-52F45151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DD74A7-E090-437C-91B4-F92DE0A3921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2895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8ECD6-6DE1-442B-B5A0-C847BC381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12DB9-2F7E-4D22-8307-61F0B7736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EB7D0-3C40-4C38-B8F0-1CA91BE98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B45401-E98E-413D-A7B3-C49AD775143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852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7BDF6-4F17-4692-AA70-0696F7822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8B359-034A-4589-9748-9B077717F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4759B-2BFD-4394-9510-E4EFA530A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8AF450-D443-4B3A-8E92-C1E2142F58A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0938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C3B0C42-1B67-4DF6-BB0A-476FB12BD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89F5DBE-72F9-4365-85FA-41EC1CB2B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C6DA02B-39B3-4BC0-81C3-BF13A68F2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A024F2-960A-4D30-B121-1D536990221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0632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5CFAED1-575A-4879-9D8C-4794E13E4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FF9D973-1A10-4A91-8EF1-468D9342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ADF493-71C3-43F0-B09E-26C2A41E5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C408C2-6D24-4CC1-9F6D-E511D572F38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53196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6492A12-AAED-4B63-BBC2-66BC9FD75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033C87E-CC8D-444B-8D0A-2A8C6EDB7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40900BF-CDF2-45B9-9106-6AEACC82F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FA885C-72F5-4345-A565-6A0A4370A4C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0303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2FBF27B-9518-48EF-992A-F6E90B2E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16399A0-9354-4706-93F0-C3D62C401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F6D78E-0DD8-4BD2-AD64-DA29B3CB6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AA8741-F280-43DF-A5EA-25CABD24953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9161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33AD2E-6DEB-4AF4-A79C-128340565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F46D1DB-23D2-45A0-B12B-31DB83381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417D2F3-2191-4AE0-8322-90EAED316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0B2402-4BFC-4CC1-B6FB-B2B32406ABA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9486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FE11BA2-2645-4C86-BF7B-DA6370188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CF70980-D09A-4988-A0F8-4D86BA374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3B8F944-89CC-4976-B04A-25BDBFAF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E7B5BB-013E-45EF-88F0-0900DBDFFE7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6080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EA7E6-CC2A-44FB-9827-7901DE7DB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B0C6C-4F52-4307-B118-8EA1B2599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21E3C-95E3-4173-A314-9B6B9C42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F5DB80-43C9-4BE6-B16D-C9D1378097B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1989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E3772-D4C0-460C-AE3A-DA07F0D0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17A07-0398-4508-A4EB-5F91716CE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656AB-A5D4-4116-9083-0DFD3809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B56331-37EA-408A-A416-31B469961D9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269719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 rtlCol="0">
            <a:normAutofit/>
          </a:bodyPr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2C9AE-DCDD-4E04-A04F-F233CFAEC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15395-8C76-4F42-B5A2-248312DCA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1F831-1DA4-4961-BA8E-42854D1E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B56331-37EA-408A-A416-31B469961D9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2272885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70E1B553-E368-40D3-9D3E-3BD6D64E1BC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33413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D4F9B0E-3BF4-4FE4-8C05-05BA84AA6F3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33413" y="1828800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03578-8626-4448-B336-3FEB4105EF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14521-3337-49DA-BA1B-81BE548869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37BF5-319D-4483-810E-894D2B2F1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62713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800" smtClean="0">
                <a:solidFill>
                  <a:srgbClr val="898989"/>
                </a:solidFill>
              </a:defRPr>
            </a:lvl1pPr>
          </a:lstStyle>
          <a:p>
            <a:fld id="{70B56331-37EA-408A-A416-31B469961D9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1875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hf hdr="0" ftr="0" dt="0"/>
  <p:txStyles>
    <p:titleStyle>
      <a:lvl1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1" fontAlgn="base" hangingPunct="1">
        <a:lnSpc>
          <a:spcPct val="90000"/>
        </a:lnSpc>
        <a:spcBef>
          <a:spcPts val="750"/>
        </a:spcBef>
        <a:spcAft>
          <a:spcPct val="0"/>
        </a:spcAft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3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5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6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>
            <a:extLst>
              <a:ext uri="{FF2B5EF4-FFF2-40B4-BE49-F238E27FC236}">
                <a16:creationId xmlns:a16="http://schemas.microsoft.com/office/drawing/2014/main" id="{8DC80F2F-D138-4D12-8337-258818D68F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279399"/>
            <a:ext cx="8686800" cy="706438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第二十一章   基本计数公式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18260135-08EC-4BA0-8021-9983B89A76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750" y="1341438"/>
            <a:ext cx="8075613" cy="4530725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zh-CN" b="1"/>
              <a:t>21.1 </a:t>
            </a:r>
            <a:r>
              <a:rPr lang="zh-CN" altLang="en-US" b="1"/>
              <a:t>加法法则与乘法法则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/>
              <a:t>21.2 </a:t>
            </a:r>
            <a:r>
              <a:rPr lang="zh-CN" altLang="en-US" b="1"/>
              <a:t>排列组合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/>
              <a:t>21.3 </a:t>
            </a:r>
            <a:r>
              <a:rPr lang="zh-CN" altLang="en-US" b="1"/>
              <a:t>二项式定理与组合恒等式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/>
              <a:t>21.4 </a:t>
            </a:r>
            <a:r>
              <a:rPr lang="zh-CN" altLang="en-US" b="1"/>
              <a:t>多项式定理</a:t>
            </a:r>
          </a:p>
        </p:txBody>
      </p:sp>
      <p:sp>
        <p:nvSpPr>
          <p:cNvPr id="39938" name="灯片编号占位符 5">
            <a:extLst>
              <a:ext uri="{FF2B5EF4-FFF2-40B4-BE49-F238E27FC236}">
                <a16:creationId xmlns:a16="http://schemas.microsoft.com/office/drawing/2014/main" id="{88B0CD22-B45A-4BFF-9657-16E267AD5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20DB2AC-314C-4550-985A-965346433483}" type="slidenum">
              <a:rPr lang="en-US" altLang="zh-CN">
                <a:solidFill>
                  <a:srgbClr val="898989"/>
                </a:solidFill>
              </a:rPr>
              <a:pPr eaLnBrk="1" hangingPunct="1"/>
              <a:t>1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>
            <a:extLst>
              <a:ext uri="{FF2B5EF4-FFF2-40B4-BE49-F238E27FC236}">
                <a16:creationId xmlns:a16="http://schemas.microsoft.com/office/drawing/2014/main" id="{0C1ADB15-D966-41F1-9F65-3703E47083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5125" y="260648"/>
            <a:ext cx="8435975" cy="8509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21.1 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加法法则与乘法法则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7CA6BB3D-4588-46C0-8390-5FD019F4B6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412875"/>
            <a:ext cx="8229600" cy="4525963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zh-CN" altLang="en-US" b="1"/>
              <a:t>加法法则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b="1"/>
              <a:t>乘法法则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b="1"/>
              <a:t>应用实例</a:t>
            </a:r>
          </a:p>
        </p:txBody>
      </p:sp>
      <p:sp>
        <p:nvSpPr>
          <p:cNvPr id="40962" name="灯片编号占位符 5">
            <a:extLst>
              <a:ext uri="{FF2B5EF4-FFF2-40B4-BE49-F238E27FC236}">
                <a16:creationId xmlns:a16="http://schemas.microsoft.com/office/drawing/2014/main" id="{5D6E38DC-527E-482F-BF86-226321549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892FEEA-0F27-402D-8388-E2A9D408A9DC}" type="slidenum">
              <a:rPr lang="en-US" altLang="zh-CN">
                <a:solidFill>
                  <a:srgbClr val="898989"/>
                </a:solidFill>
              </a:rPr>
              <a:pPr eaLnBrk="1" hangingPunct="1"/>
              <a:t>2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>
            <a:extLst>
              <a:ext uri="{FF2B5EF4-FFF2-40B4-BE49-F238E27FC236}">
                <a16:creationId xmlns:a16="http://schemas.microsoft.com/office/drawing/2014/main" id="{86A1101B-9522-446C-B89A-0B0044F569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加法法则</a:t>
            </a:r>
          </a:p>
        </p:txBody>
      </p:sp>
      <p:sp>
        <p:nvSpPr>
          <p:cNvPr id="41986" name="灯片编号占位符 5">
            <a:extLst>
              <a:ext uri="{FF2B5EF4-FFF2-40B4-BE49-F238E27FC236}">
                <a16:creationId xmlns:a16="http://schemas.microsoft.com/office/drawing/2014/main" id="{4CE37641-3633-49C8-8FE9-FE7FCF3BD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FCC5AB7-CB26-4C1E-ACD9-00A8110F68D6}" type="slidenum">
              <a:rPr lang="en-US" altLang="zh-CN">
                <a:solidFill>
                  <a:srgbClr val="898989"/>
                </a:solidFill>
              </a:rPr>
              <a:pPr eaLnBrk="1" hangingPunct="1"/>
              <a:t>3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7E61A728-6BAB-455F-9AB2-F9C9F957B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196975"/>
            <a:ext cx="8280400" cy="237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加法法则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2800" b="1">
                <a:latin typeface="Times New Roman" panose="02020603050405020304" pitchFamily="18" charset="0"/>
              </a:rPr>
              <a:t>事件</a:t>
            </a:r>
            <a:r>
              <a:rPr lang="en-US" altLang="zh-CN" sz="2800" b="1" i="1">
                <a:latin typeface="Times New Roman" panose="02020603050405020304" pitchFamily="18" charset="0"/>
              </a:rPr>
              <a:t>A </a:t>
            </a:r>
            <a:r>
              <a:rPr lang="zh-CN" altLang="en-US" sz="2800" b="1">
                <a:latin typeface="Times New Roman" panose="02020603050405020304" pitchFamily="18" charset="0"/>
              </a:rPr>
              <a:t>有 </a:t>
            </a:r>
            <a:r>
              <a:rPr lang="en-US" altLang="zh-CN" sz="2800" b="1" i="1">
                <a:latin typeface="Times New Roman" panose="02020603050405020304" pitchFamily="18" charset="0"/>
              </a:rPr>
              <a:t>m </a:t>
            </a:r>
            <a:r>
              <a:rPr lang="zh-CN" altLang="en-US" sz="2800" b="1">
                <a:latin typeface="Times New Roman" panose="02020603050405020304" pitchFamily="18" charset="0"/>
              </a:rPr>
              <a:t>种产生方式，事件 </a:t>
            </a:r>
            <a:r>
              <a:rPr lang="en-US" altLang="zh-CN" sz="2800" b="1" i="1">
                <a:latin typeface="Times New Roman" panose="02020603050405020304" pitchFamily="18" charset="0"/>
              </a:rPr>
              <a:t>B </a:t>
            </a:r>
            <a:r>
              <a:rPr lang="zh-CN" altLang="en-US" sz="2800" b="1">
                <a:latin typeface="Times New Roman" panose="02020603050405020304" pitchFamily="18" charset="0"/>
              </a:rPr>
              <a:t>有 </a:t>
            </a:r>
            <a:r>
              <a:rPr lang="en-US" altLang="zh-CN" sz="2800" b="1" i="1">
                <a:latin typeface="Times New Roman" panose="02020603050405020304" pitchFamily="18" charset="0"/>
              </a:rPr>
              <a:t>n </a:t>
            </a:r>
            <a:r>
              <a:rPr lang="zh-CN" altLang="en-US" sz="2800" b="1">
                <a:latin typeface="Times New Roman" panose="02020603050405020304" pitchFamily="18" charset="0"/>
              </a:rPr>
              <a:t>种产生方式，则 </a:t>
            </a:r>
            <a:r>
              <a:rPr lang="zh-CN" altLang="en-US" sz="2800" b="1"/>
              <a:t>“</a:t>
            </a:r>
            <a:r>
              <a:rPr lang="zh-CN" altLang="en-US" sz="2800" b="1">
                <a:latin typeface="Times New Roman" panose="02020603050405020304" pitchFamily="18" charset="0"/>
              </a:rPr>
              <a:t>事件</a:t>
            </a:r>
            <a:r>
              <a:rPr lang="en-US" altLang="zh-CN" sz="2800" b="1" i="1">
                <a:latin typeface="Times New Roman" panose="02020603050405020304" pitchFamily="18" charset="0"/>
              </a:rPr>
              <a:t>A </a:t>
            </a:r>
            <a:r>
              <a:rPr lang="zh-CN" altLang="en-US" sz="2800" b="1">
                <a:latin typeface="Times New Roman" panose="02020603050405020304" pitchFamily="18" charset="0"/>
              </a:rPr>
              <a:t>或 </a:t>
            </a:r>
            <a:r>
              <a:rPr lang="en-US" altLang="zh-CN" sz="2800" b="1" i="1">
                <a:latin typeface="Times New Roman" panose="02020603050405020304" pitchFamily="18" charset="0"/>
              </a:rPr>
              <a:t>B </a:t>
            </a:r>
            <a:r>
              <a:rPr lang="en-US" altLang="zh-CN" sz="2800" b="1"/>
              <a:t>”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有 </a:t>
            </a:r>
            <a:r>
              <a:rPr lang="en-US" altLang="zh-CN" sz="2800" b="1" i="1">
                <a:latin typeface="Times New Roman" panose="02020603050405020304" pitchFamily="18" charset="0"/>
              </a:rPr>
              <a:t>m+n </a:t>
            </a:r>
            <a:r>
              <a:rPr lang="zh-CN" altLang="en-US" sz="2800" b="1">
                <a:latin typeface="Times New Roman" panose="02020603050405020304" pitchFamily="18" charset="0"/>
              </a:rPr>
              <a:t>种产生方式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  <a:endParaRPr lang="en-US" altLang="zh-CN" sz="28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使用条件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事件 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A </a:t>
            </a: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与 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B </a:t>
            </a: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产生方式不重叠</a:t>
            </a:r>
            <a:endParaRPr lang="zh-CN" altLang="en-US" sz="2800">
              <a:solidFill>
                <a:srgbClr val="A50021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适用问题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分类选取</a:t>
            </a:r>
            <a:endParaRPr lang="zh-CN" altLang="en-US" sz="2800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5" name="Rectangle 4">
            <a:extLst>
              <a:ext uri="{FF2B5EF4-FFF2-40B4-BE49-F238E27FC236}">
                <a16:creationId xmlns:a16="http://schemas.microsoft.com/office/drawing/2014/main" id="{DEA945E0-9747-473D-B8B3-4D4830F965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933825"/>
            <a:ext cx="8135937" cy="164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推广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2800" b="1">
                <a:latin typeface="Times New Roman" panose="02020603050405020304" pitchFamily="18" charset="0"/>
              </a:rPr>
              <a:t>事件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 </a:t>
            </a:r>
            <a:r>
              <a:rPr lang="zh-CN" altLang="en-US" sz="2800" b="1">
                <a:latin typeface="Times New Roman" panose="02020603050405020304" pitchFamily="18" charset="0"/>
              </a:rPr>
              <a:t>有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 </a:t>
            </a:r>
            <a:r>
              <a:rPr lang="zh-CN" altLang="en-US" sz="2800" b="1">
                <a:latin typeface="Times New Roman" panose="02020603050405020304" pitchFamily="18" charset="0"/>
              </a:rPr>
              <a:t>种产生方式，事件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 </a:t>
            </a:r>
            <a:r>
              <a:rPr lang="zh-CN" altLang="en-US" sz="2800" b="1">
                <a:latin typeface="Times New Roman" panose="02020603050405020304" pitchFamily="18" charset="0"/>
              </a:rPr>
              <a:t>有 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 </a:t>
            </a:r>
            <a:r>
              <a:rPr lang="zh-CN" altLang="en-US" sz="2800" b="1">
                <a:latin typeface="Times New Roman" panose="02020603050405020304" pitchFamily="18" charset="0"/>
              </a:rPr>
              <a:t>种产生方式，</a:t>
            </a:r>
            <a:r>
              <a:rPr lang="en-US" altLang="zh-CN" sz="2800" b="1"/>
              <a:t>…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zh-CN" altLang="en-US" sz="2800" b="1">
                <a:latin typeface="Times New Roman" panose="02020603050405020304" pitchFamily="18" charset="0"/>
              </a:rPr>
              <a:t>事件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k </a:t>
            </a:r>
            <a:r>
              <a:rPr lang="zh-CN" altLang="en-US" sz="2800" b="1">
                <a:latin typeface="Times New Roman" panose="02020603050405020304" pitchFamily="18" charset="0"/>
              </a:rPr>
              <a:t>有 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k </a:t>
            </a:r>
            <a:r>
              <a:rPr lang="zh-CN" altLang="en-US" sz="2800" b="1">
                <a:latin typeface="Times New Roman" panose="02020603050405020304" pitchFamily="18" charset="0"/>
              </a:rPr>
              <a:t>种产生的方式，则 </a:t>
            </a:r>
            <a:r>
              <a:rPr lang="zh-CN" altLang="en-US" sz="2800" b="1"/>
              <a:t>“</a:t>
            </a:r>
            <a:r>
              <a:rPr lang="zh-CN" altLang="en-US" sz="2800" b="1">
                <a:latin typeface="Times New Roman" panose="02020603050405020304" pitchFamily="18" charset="0"/>
              </a:rPr>
              <a:t>事件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 </a:t>
            </a:r>
            <a:r>
              <a:rPr lang="zh-CN" altLang="en-US" sz="2800" b="1">
                <a:latin typeface="Times New Roman" panose="02020603050405020304" pitchFamily="18" charset="0"/>
              </a:rPr>
              <a:t>或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</a:rPr>
              <a:t>或 </a:t>
            </a:r>
            <a:r>
              <a:rPr lang="en-US" altLang="zh-CN" sz="2800" b="1"/>
              <a:t>…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k</a:t>
            </a:r>
            <a:r>
              <a:rPr lang="en-US" altLang="zh-CN" sz="2800" b="1"/>
              <a:t>”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有 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+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</a:rPr>
              <a:t>+</a:t>
            </a:r>
            <a:r>
              <a:rPr lang="en-US" altLang="zh-CN" sz="2800" b="1"/>
              <a:t>…</a:t>
            </a:r>
            <a:r>
              <a:rPr lang="en-US" altLang="zh-CN" sz="2800" b="1">
                <a:latin typeface="Times New Roman" panose="02020603050405020304" pitchFamily="18" charset="0"/>
              </a:rPr>
              <a:t>+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k</a:t>
            </a:r>
            <a:r>
              <a:rPr lang="en-US" altLang="zh-CN" sz="2800" b="1" i="1">
                <a:latin typeface="Times New Roman" panose="02020603050405020304" pitchFamily="18" charset="0"/>
              </a:rPr>
              <a:t>  </a:t>
            </a:r>
            <a:r>
              <a:rPr lang="zh-CN" altLang="en-US" sz="2800" b="1">
                <a:latin typeface="Times New Roman" panose="02020603050405020304" pitchFamily="18" charset="0"/>
              </a:rPr>
              <a:t>种产生的方式</a:t>
            </a:r>
            <a:r>
              <a:rPr lang="en-US" altLang="zh-CN" sz="2800" b="1">
                <a:latin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>
            <a:extLst>
              <a:ext uri="{FF2B5EF4-FFF2-40B4-BE49-F238E27FC236}">
                <a16:creationId xmlns:a16="http://schemas.microsoft.com/office/drawing/2014/main" id="{23AA70B7-F3B4-4CCD-ACE0-7118777319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乘法法则</a:t>
            </a:r>
          </a:p>
        </p:txBody>
      </p:sp>
      <p:sp>
        <p:nvSpPr>
          <p:cNvPr id="43010" name="灯片编号占位符 4">
            <a:extLst>
              <a:ext uri="{FF2B5EF4-FFF2-40B4-BE49-F238E27FC236}">
                <a16:creationId xmlns:a16="http://schemas.microsoft.com/office/drawing/2014/main" id="{4CE303B3-4C0A-4AC4-9917-B348B3FF4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1249532-7CAB-4DEA-A901-3323801E9E18}" type="slidenum">
              <a:rPr lang="en-US" altLang="zh-CN">
                <a:solidFill>
                  <a:srgbClr val="898989"/>
                </a:solidFill>
              </a:rPr>
              <a:pPr eaLnBrk="1" hangingPunct="1"/>
              <a:t>4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D78C3F73-9F2A-4555-85E2-EF8A62F773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358900"/>
            <a:ext cx="8208962" cy="237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乘法法则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2800" b="1">
                <a:latin typeface="Times New Roman" panose="02020603050405020304" pitchFamily="18" charset="0"/>
              </a:rPr>
              <a:t>事件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</a:rPr>
              <a:t>有 </a:t>
            </a:r>
            <a:r>
              <a:rPr lang="en-US" altLang="zh-CN" sz="2800" b="1" i="1">
                <a:latin typeface="Times New Roman" panose="02020603050405020304" pitchFamily="18" charset="0"/>
              </a:rPr>
              <a:t>m </a:t>
            </a:r>
            <a:r>
              <a:rPr lang="zh-CN" altLang="en-US" sz="2800" b="1">
                <a:latin typeface="Times New Roman" panose="02020603050405020304" pitchFamily="18" charset="0"/>
              </a:rPr>
              <a:t>种产生方式，事件</a:t>
            </a:r>
            <a:r>
              <a:rPr lang="en-US" altLang="zh-CN" sz="2800" b="1" i="1">
                <a:latin typeface="Times New Roman" panose="02020603050405020304" pitchFamily="18" charset="0"/>
              </a:rPr>
              <a:t>B </a:t>
            </a:r>
            <a:r>
              <a:rPr lang="zh-CN" altLang="en-US" sz="2800" b="1">
                <a:latin typeface="Times New Roman" panose="02020603050405020304" pitchFamily="18" charset="0"/>
              </a:rPr>
              <a:t>有 </a:t>
            </a:r>
            <a:r>
              <a:rPr lang="en-US" altLang="zh-CN" sz="2800" b="1" i="1">
                <a:latin typeface="Times New Roman" panose="02020603050405020304" pitchFamily="18" charset="0"/>
              </a:rPr>
              <a:t>n </a:t>
            </a:r>
            <a:r>
              <a:rPr lang="zh-CN" altLang="en-US" sz="2800" b="1">
                <a:latin typeface="Times New Roman" panose="02020603050405020304" pitchFamily="18" charset="0"/>
              </a:rPr>
              <a:t>种产生方式，则 </a:t>
            </a:r>
            <a:r>
              <a:rPr lang="zh-CN" altLang="en-US" sz="2800" b="1"/>
              <a:t>“</a:t>
            </a:r>
            <a:r>
              <a:rPr lang="zh-CN" altLang="en-US" sz="2800" b="1">
                <a:latin typeface="Times New Roman" panose="02020603050405020304" pitchFamily="18" charset="0"/>
              </a:rPr>
              <a:t>事件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</a:rPr>
              <a:t>与</a:t>
            </a:r>
            <a:r>
              <a:rPr lang="en-US" altLang="zh-CN" sz="2800" b="1" i="1">
                <a:latin typeface="Times New Roman" panose="02020603050405020304" pitchFamily="18" charset="0"/>
              </a:rPr>
              <a:t>B </a:t>
            </a:r>
            <a:r>
              <a:rPr lang="en-US" altLang="zh-CN" sz="2800" b="1"/>
              <a:t>”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有 </a:t>
            </a:r>
            <a:r>
              <a:rPr lang="en-US" altLang="zh-CN" sz="2800" b="1" i="1">
                <a:latin typeface="Times New Roman" panose="02020603050405020304" pitchFamily="18" charset="0"/>
              </a:rPr>
              <a:t>mn </a:t>
            </a:r>
            <a:r>
              <a:rPr lang="zh-CN" altLang="en-US" sz="2800" b="1">
                <a:latin typeface="Times New Roman" panose="02020603050405020304" pitchFamily="18" charset="0"/>
              </a:rPr>
              <a:t>种产生方式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  <a:endParaRPr lang="en-US" altLang="zh-CN" sz="28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使用条件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事件 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A </a:t>
            </a: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与 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B </a:t>
            </a: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的产生方式相互独立</a:t>
            </a:r>
            <a:endParaRPr lang="zh-CN" altLang="en-US" sz="2800">
              <a:solidFill>
                <a:srgbClr val="A50021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适用问题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分步选取</a:t>
            </a:r>
            <a:endParaRPr lang="zh-CN" altLang="en-US" sz="2800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69" name="Rectangle 4">
            <a:extLst>
              <a:ext uri="{FF2B5EF4-FFF2-40B4-BE49-F238E27FC236}">
                <a16:creationId xmlns:a16="http://schemas.microsoft.com/office/drawing/2014/main" id="{D1F60956-CD07-4779-805A-41EAFE463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957638"/>
            <a:ext cx="7920037" cy="164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推广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2800" b="1">
                <a:latin typeface="Times New Roman" panose="02020603050405020304" pitchFamily="18" charset="0"/>
              </a:rPr>
              <a:t>事件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 </a:t>
            </a:r>
            <a:r>
              <a:rPr lang="zh-CN" altLang="en-US" sz="2800" b="1">
                <a:latin typeface="Times New Roman" panose="02020603050405020304" pitchFamily="18" charset="0"/>
              </a:rPr>
              <a:t>有 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 </a:t>
            </a:r>
            <a:r>
              <a:rPr lang="zh-CN" altLang="en-US" sz="2800" b="1">
                <a:latin typeface="Times New Roman" panose="02020603050405020304" pitchFamily="18" charset="0"/>
              </a:rPr>
              <a:t>种产生方式，事件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 </a:t>
            </a:r>
            <a:r>
              <a:rPr lang="zh-CN" altLang="en-US" sz="2800" b="1">
                <a:latin typeface="Times New Roman" panose="02020603050405020304" pitchFamily="18" charset="0"/>
              </a:rPr>
              <a:t>有 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 </a:t>
            </a:r>
            <a:r>
              <a:rPr lang="zh-CN" altLang="en-US" sz="2800" b="1">
                <a:latin typeface="Times New Roman" panose="02020603050405020304" pitchFamily="18" charset="0"/>
              </a:rPr>
              <a:t>种产生方式，</a:t>
            </a:r>
            <a:r>
              <a:rPr lang="en-US" altLang="zh-CN" sz="2800" b="1"/>
              <a:t>…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zh-CN" altLang="en-US" sz="2800" b="1">
                <a:latin typeface="Times New Roman" panose="02020603050405020304" pitchFamily="18" charset="0"/>
              </a:rPr>
              <a:t>事件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k </a:t>
            </a:r>
            <a:r>
              <a:rPr lang="zh-CN" altLang="en-US" sz="2800" b="1">
                <a:latin typeface="Times New Roman" panose="02020603050405020304" pitchFamily="18" charset="0"/>
              </a:rPr>
              <a:t>有 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k </a:t>
            </a:r>
            <a:r>
              <a:rPr lang="zh-CN" altLang="en-US" sz="2800" b="1">
                <a:latin typeface="Times New Roman" panose="02020603050405020304" pitchFamily="18" charset="0"/>
              </a:rPr>
              <a:t>种产生的方式，则 </a:t>
            </a:r>
            <a:r>
              <a:rPr lang="zh-CN" altLang="en-US" sz="2800" b="1"/>
              <a:t>“</a:t>
            </a:r>
            <a:r>
              <a:rPr lang="zh-CN" altLang="en-US" sz="2800" b="1">
                <a:latin typeface="Times New Roman" panose="02020603050405020304" pitchFamily="18" charset="0"/>
              </a:rPr>
              <a:t>事件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</a:rPr>
              <a:t>与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</a:rPr>
              <a:t>与</a:t>
            </a:r>
            <a:r>
              <a:rPr lang="en-US" altLang="zh-CN" sz="2800" b="1"/>
              <a:t>…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k</a:t>
            </a:r>
            <a:r>
              <a:rPr lang="en-US" altLang="zh-CN" sz="2800" b="1"/>
              <a:t>”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有 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 b="1"/>
              <a:t>…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k  </a:t>
            </a:r>
            <a:r>
              <a:rPr lang="zh-CN" altLang="en-US" sz="2800" b="1">
                <a:latin typeface="Times New Roman" panose="02020603050405020304" pitchFamily="18" charset="0"/>
              </a:rPr>
              <a:t>种产生的方式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  <a:r>
              <a:rPr lang="en-US" altLang="zh-CN" sz="2800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>
            <a:extLst>
              <a:ext uri="{FF2B5EF4-FFF2-40B4-BE49-F238E27FC236}">
                <a16:creationId xmlns:a16="http://schemas.microsoft.com/office/drawing/2014/main" id="{2723EF52-12AE-45C9-AC0F-C6D10F282C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229600" cy="7778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应用实例</a:t>
            </a:r>
          </a:p>
        </p:txBody>
      </p:sp>
      <p:sp>
        <p:nvSpPr>
          <p:cNvPr id="44034" name="灯片编号占位符 4">
            <a:extLst>
              <a:ext uri="{FF2B5EF4-FFF2-40B4-BE49-F238E27FC236}">
                <a16:creationId xmlns:a16="http://schemas.microsoft.com/office/drawing/2014/main" id="{DC2410F8-59C3-48E6-A1DD-81C2AC37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1D99F21-05FA-4DB9-8D6A-46CB7E5A4F4B}" type="slidenum">
              <a:rPr lang="en-US" altLang="zh-CN">
                <a:solidFill>
                  <a:srgbClr val="898989"/>
                </a:solidFill>
              </a:rPr>
              <a:pPr eaLnBrk="1" hangingPunct="1"/>
              <a:t>5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B2E84D1C-DD6D-4E49-B472-464EAD2C9E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268413"/>
            <a:ext cx="8351837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设</a:t>
            </a:r>
            <a:r>
              <a:rPr lang="en-US" altLang="zh-CN" sz="2800" b="1" i="1">
                <a:latin typeface="Times New Roman" panose="02020603050405020304" pitchFamily="18" charset="0"/>
              </a:rPr>
              <a:t>A,B,C</a:t>
            </a:r>
            <a:r>
              <a:rPr lang="zh-CN" altLang="en-US" sz="2800" b="1">
                <a:latin typeface="Times New Roman" panose="02020603050405020304" pitchFamily="18" charset="0"/>
              </a:rPr>
              <a:t>是</a:t>
            </a:r>
            <a:r>
              <a:rPr lang="en-US" altLang="zh-CN" sz="2800" b="1">
                <a:latin typeface="Times New Roman" panose="02020603050405020304" pitchFamily="18" charset="0"/>
              </a:rPr>
              <a:t>3</a:t>
            </a:r>
            <a:r>
              <a:rPr lang="zh-CN" altLang="en-US" sz="2800" b="1">
                <a:latin typeface="Times New Roman" panose="02020603050405020304" pitchFamily="18" charset="0"/>
              </a:rPr>
              <a:t>个城市，从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</a:rPr>
              <a:t>到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zh-CN" altLang="en-US" sz="2800" b="1">
                <a:latin typeface="Times New Roman" panose="02020603050405020304" pitchFamily="18" charset="0"/>
              </a:rPr>
              <a:t>有</a:t>
            </a:r>
            <a:r>
              <a:rPr lang="en-US" altLang="zh-CN" sz="2800" b="1">
                <a:latin typeface="Times New Roman" panose="02020603050405020304" pitchFamily="18" charset="0"/>
              </a:rPr>
              <a:t>3</a:t>
            </a:r>
            <a:r>
              <a:rPr lang="zh-CN" altLang="en-US" sz="2800" b="1">
                <a:latin typeface="Times New Roman" panose="02020603050405020304" pitchFamily="18" charset="0"/>
              </a:rPr>
              <a:t>条道路，从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zh-CN" altLang="en-US" sz="2800" b="1">
                <a:latin typeface="Times New Roman" panose="02020603050405020304" pitchFamily="18" charset="0"/>
              </a:rPr>
              <a:t>到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zh-CN" altLang="en-US" sz="2800" b="1">
                <a:latin typeface="Times New Roman" panose="02020603050405020304" pitchFamily="18" charset="0"/>
              </a:rPr>
              <a:t>有</a:t>
            </a:r>
            <a:r>
              <a:rPr lang="en-US" altLang="zh-CN" sz="2800" b="1">
                <a:latin typeface="Times New Roman" panose="02020603050405020304" pitchFamily="18" charset="0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</a:rPr>
              <a:t>条道路，从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</a:rPr>
              <a:t>直接到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zh-CN" altLang="en-US" sz="2800" b="1">
                <a:latin typeface="Times New Roman" panose="02020603050405020304" pitchFamily="18" charset="0"/>
              </a:rPr>
              <a:t>有</a:t>
            </a:r>
            <a:r>
              <a:rPr lang="en-US" altLang="zh-CN" sz="2800" b="1">
                <a:latin typeface="Times New Roman" panose="02020603050405020304" pitchFamily="18" charset="0"/>
              </a:rPr>
              <a:t>4</a:t>
            </a:r>
            <a:r>
              <a:rPr lang="zh-CN" altLang="en-US" sz="2800" b="1">
                <a:latin typeface="Times New Roman" panose="02020603050405020304" pitchFamily="18" charset="0"/>
              </a:rPr>
              <a:t>条道路，问从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</a:rPr>
              <a:t>到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zh-CN" altLang="en-US" sz="2800" b="1">
                <a:latin typeface="Times New Roman" panose="02020603050405020304" pitchFamily="18" charset="0"/>
              </a:rPr>
              <a:t>有多少种不同的方式？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i="1">
                <a:latin typeface="Times New Roman" panose="02020603050405020304" pitchFamily="18" charset="0"/>
              </a:rPr>
              <a:t>           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</a:rPr>
              <a:t>=3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>
                <a:latin typeface="Times New Roman" panose="02020603050405020304" pitchFamily="18" charset="0"/>
              </a:rPr>
              <a:t>2+4 = 10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55332" name="Rectangle 4">
            <a:extLst>
              <a:ext uri="{FF2B5EF4-FFF2-40B4-BE49-F238E27FC236}">
                <a16:creationId xmlns:a16="http://schemas.microsoft.com/office/drawing/2014/main" id="{5EADC2E9-40DE-4EB4-919D-822B7B8CF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859213"/>
            <a:ext cx="7993062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例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求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1400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的不同的正因子个数</a:t>
            </a:r>
            <a:endParaRPr lang="zh-CN" altLang="en-US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          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1400=2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5</a:t>
            </a:r>
            <a:r>
              <a:rPr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7 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正因子为：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en-US" altLang="zh-CN" sz="28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7</a:t>
            </a:r>
            <a:r>
              <a:rPr lang="en-US" altLang="zh-CN" sz="28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，其中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0</a:t>
            </a:r>
            <a:r>
              <a:rPr lang="en-US" altLang="zh-CN" sz="2800" b="1" i="1">
                <a:latin typeface="Times New Roman" panose="02020603050405020304" pitchFamily="18" charset="0"/>
              </a:rPr>
              <a:t>i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800" b="1">
                <a:latin typeface="Times New Roman" panose="02020603050405020304" pitchFamily="18" charset="0"/>
              </a:rPr>
              <a:t>3, 0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800" b="1" i="1">
                <a:latin typeface="Times New Roman" panose="02020603050405020304" pitchFamily="18" charset="0"/>
              </a:rPr>
              <a:t>j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800" b="1">
                <a:latin typeface="Times New Roman" panose="02020603050405020304" pitchFamily="18" charset="0"/>
              </a:rPr>
              <a:t>2, 0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800" b="1" i="1">
                <a:latin typeface="Times New Roman" panose="02020603050405020304" pitchFamily="18" charset="0"/>
              </a:rPr>
              <a:t>k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800" b="1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          N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=(3+1)(2+1)(1+1)=24</a:t>
            </a:r>
          </a:p>
        </p:txBody>
      </p:sp>
      <p:sp>
        <p:nvSpPr>
          <p:cNvPr id="12294" name="Arc 5">
            <a:extLst>
              <a:ext uri="{FF2B5EF4-FFF2-40B4-BE49-F238E27FC236}">
                <a16:creationId xmlns:a16="http://schemas.microsoft.com/office/drawing/2014/main" id="{4B74AD2F-EBF6-4AA3-AB17-7B51EC5F6CC9}"/>
              </a:ext>
            </a:extLst>
          </p:cNvPr>
          <p:cNvSpPr>
            <a:spLocks/>
          </p:cNvSpPr>
          <p:nvPr/>
        </p:nvSpPr>
        <p:spPr bwMode="auto">
          <a:xfrm>
            <a:off x="4643438" y="3573463"/>
            <a:ext cx="914400" cy="914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5" name="Freeform 6">
            <a:extLst>
              <a:ext uri="{FF2B5EF4-FFF2-40B4-BE49-F238E27FC236}">
                <a16:creationId xmlns:a16="http://schemas.microsoft.com/office/drawing/2014/main" id="{96B3CDEE-8FEA-415C-A447-E526F856ADBD}"/>
              </a:ext>
            </a:extLst>
          </p:cNvPr>
          <p:cNvSpPr>
            <a:spLocks/>
          </p:cNvSpPr>
          <p:nvPr/>
        </p:nvSpPr>
        <p:spPr bwMode="auto">
          <a:xfrm>
            <a:off x="5514975" y="2714625"/>
            <a:ext cx="1671638" cy="300038"/>
          </a:xfrm>
          <a:custGeom>
            <a:avLst/>
            <a:gdLst>
              <a:gd name="T0" fmla="*/ 0 w 1053"/>
              <a:gd name="T1" fmla="*/ 0 h 189"/>
              <a:gd name="T2" fmla="*/ 2147483647 w 1053"/>
              <a:gd name="T3" fmla="*/ 2147483647 h 189"/>
              <a:gd name="T4" fmla="*/ 2147483647 w 1053"/>
              <a:gd name="T5" fmla="*/ 2147483647 h 189"/>
              <a:gd name="T6" fmla="*/ 2147483647 w 1053"/>
              <a:gd name="T7" fmla="*/ 2147483647 h 189"/>
              <a:gd name="T8" fmla="*/ 0 60000 65536"/>
              <a:gd name="T9" fmla="*/ 0 60000 65536"/>
              <a:gd name="T10" fmla="*/ 0 60000 65536"/>
              <a:gd name="T11" fmla="*/ 0 60000 65536"/>
              <a:gd name="T12" fmla="*/ 0 w 1053"/>
              <a:gd name="T13" fmla="*/ 0 h 189"/>
              <a:gd name="T14" fmla="*/ 1053 w 1053"/>
              <a:gd name="T15" fmla="*/ 189 h 18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3" h="189">
                <a:moveTo>
                  <a:pt x="0" y="0"/>
                </a:moveTo>
                <a:cubicBezTo>
                  <a:pt x="252" y="23"/>
                  <a:pt x="503" y="51"/>
                  <a:pt x="756" y="72"/>
                </a:cubicBezTo>
                <a:cubicBezTo>
                  <a:pt x="838" y="88"/>
                  <a:pt x="918" y="110"/>
                  <a:pt x="999" y="126"/>
                </a:cubicBezTo>
                <a:cubicBezTo>
                  <a:pt x="1035" y="150"/>
                  <a:pt x="1025" y="161"/>
                  <a:pt x="1053" y="189"/>
                </a:cubicBez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2296" name="Arc 7">
            <a:extLst>
              <a:ext uri="{FF2B5EF4-FFF2-40B4-BE49-F238E27FC236}">
                <a16:creationId xmlns:a16="http://schemas.microsoft.com/office/drawing/2014/main" id="{19770DEF-4C3A-427F-9E0D-49E0CAF33B5A}"/>
              </a:ext>
            </a:extLst>
          </p:cNvPr>
          <p:cNvSpPr>
            <a:spLocks/>
          </p:cNvSpPr>
          <p:nvPr/>
        </p:nvSpPr>
        <p:spPr bwMode="auto">
          <a:xfrm>
            <a:off x="5508625" y="2708275"/>
            <a:ext cx="914400" cy="914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7" name="Freeform 8">
            <a:extLst>
              <a:ext uri="{FF2B5EF4-FFF2-40B4-BE49-F238E27FC236}">
                <a16:creationId xmlns:a16="http://schemas.microsoft.com/office/drawing/2014/main" id="{9B382AD8-94DC-42DF-8391-56FE62F85F53}"/>
              </a:ext>
            </a:extLst>
          </p:cNvPr>
          <p:cNvSpPr>
            <a:spLocks/>
          </p:cNvSpPr>
          <p:nvPr/>
        </p:nvSpPr>
        <p:spPr bwMode="auto">
          <a:xfrm>
            <a:off x="3924300" y="2708275"/>
            <a:ext cx="1081088" cy="576263"/>
          </a:xfrm>
          <a:custGeom>
            <a:avLst/>
            <a:gdLst>
              <a:gd name="T0" fmla="*/ 0 w 681"/>
              <a:gd name="T1" fmla="*/ 2147483647 h 363"/>
              <a:gd name="T2" fmla="*/ 2147483647 w 681"/>
              <a:gd name="T3" fmla="*/ 0 h 363"/>
              <a:gd name="T4" fmla="*/ 0 60000 65536"/>
              <a:gd name="T5" fmla="*/ 0 60000 65536"/>
              <a:gd name="T6" fmla="*/ 0 w 681"/>
              <a:gd name="T7" fmla="*/ 0 h 363"/>
              <a:gd name="T8" fmla="*/ 681 w 681"/>
              <a:gd name="T9" fmla="*/ 363 h 36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81" h="363">
                <a:moveTo>
                  <a:pt x="0" y="363"/>
                </a:moveTo>
                <a:cubicBezTo>
                  <a:pt x="283" y="212"/>
                  <a:pt x="567" y="61"/>
                  <a:pt x="681" y="0"/>
                </a:cubicBez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5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5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53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>
            <a:extLst>
              <a:ext uri="{FF2B5EF4-FFF2-40B4-BE49-F238E27FC236}">
                <a16:creationId xmlns:a16="http://schemas.microsoft.com/office/drawing/2014/main" id="{65B2B41A-786D-4785-9BBA-D647F044D5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21.2 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排列组合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B4996D16-BE95-4E45-AA54-0CA8E22504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412875"/>
            <a:ext cx="8229600" cy="4525963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/>
              <a:t>选取问题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b="1"/>
              <a:t>集合的排列与组合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b="1"/>
              <a:t>基本计数公式的应用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b="1"/>
              <a:t>多重集排列与组合</a:t>
            </a:r>
          </a:p>
          <a:p>
            <a:pPr eaLnBrk="1" hangingPunct="1"/>
            <a:endParaRPr lang="zh-CN" altLang="en-US"/>
          </a:p>
          <a:p>
            <a:pPr eaLnBrk="1" hangingPunct="1"/>
            <a:endParaRPr lang="en-US" altLang="zh-CN"/>
          </a:p>
        </p:txBody>
      </p:sp>
      <p:sp>
        <p:nvSpPr>
          <p:cNvPr id="45058" name="灯片编号占位符 5">
            <a:extLst>
              <a:ext uri="{FF2B5EF4-FFF2-40B4-BE49-F238E27FC236}">
                <a16:creationId xmlns:a16="http://schemas.microsoft.com/office/drawing/2014/main" id="{3050FB77-25D1-4870-BFB7-B835727FB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56E9927-13D3-4246-B62A-91CE07C9C95E}" type="slidenum">
              <a:rPr lang="en-US" altLang="zh-CN">
                <a:solidFill>
                  <a:srgbClr val="898989"/>
                </a:solidFill>
              </a:rPr>
              <a:pPr eaLnBrk="1" hangingPunct="1"/>
              <a:t>6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>
            <a:extLst>
              <a:ext uri="{FF2B5EF4-FFF2-40B4-BE49-F238E27FC236}">
                <a16:creationId xmlns:a16="http://schemas.microsoft.com/office/drawing/2014/main" id="{17A591BA-A396-414D-9F87-304E87EDA8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188913"/>
            <a:ext cx="868680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选取问题 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组合计数模型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</a:p>
        </p:txBody>
      </p:sp>
      <p:graphicFrame>
        <p:nvGraphicFramePr>
          <p:cNvPr id="1026" name="Object 3">
            <a:extLst>
              <a:ext uri="{FF2B5EF4-FFF2-40B4-BE49-F238E27FC236}">
                <a16:creationId xmlns:a16="http://schemas.microsoft.com/office/drawing/2014/main" id="{B77FA839-69A5-46F2-AB8C-4D4A4A6D26AB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323850" y="1268413"/>
          <a:ext cx="8634413" cy="407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文档" r:id="rId4" imgW="4581751" imgH="2160278" progId="Word.Document.8">
                  <p:embed/>
                </p:oleObj>
              </mc:Choice>
              <mc:Fallback>
                <p:oleObj name="文档" r:id="rId4" imgW="4581751" imgH="2160278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268413"/>
                        <a:ext cx="8634413" cy="4071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灯片编号占位符 5">
            <a:extLst>
              <a:ext uri="{FF2B5EF4-FFF2-40B4-BE49-F238E27FC236}">
                <a16:creationId xmlns:a16="http://schemas.microsoft.com/office/drawing/2014/main" id="{AB1777D4-EC10-4F8E-B727-791A03BF1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30725ED-B8EA-471C-8F89-60E05057F2FA}" type="slidenum">
              <a:rPr lang="en-US" altLang="zh-CN">
                <a:solidFill>
                  <a:srgbClr val="898989"/>
                </a:solidFill>
              </a:rPr>
              <a:pPr eaLnBrk="1" hangingPunct="1"/>
              <a:t>7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2">
            <a:extLst>
              <a:ext uri="{FF2B5EF4-FFF2-40B4-BE49-F238E27FC236}">
                <a16:creationId xmlns:a16="http://schemas.microsoft.com/office/drawing/2014/main" id="{274D5797-5EDE-416E-AF4A-62489FC6F9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991475" cy="647700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集合的排列</a:t>
            </a:r>
          </a:p>
        </p:txBody>
      </p:sp>
      <p:sp>
        <p:nvSpPr>
          <p:cNvPr id="2052" name="灯片编号占位符 4">
            <a:extLst>
              <a:ext uri="{FF2B5EF4-FFF2-40B4-BE49-F238E27FC236}">
                <a16:creationId xmlns:a16="http://schemas.microsoft.com/office/drawing/2014/main" id="{4E698883-4CEF-4900-8E6D-424510D96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1717EED-FDE8-4D87-B7E9-96C75E8C26A5}" type="slidenum">
              <a:rPr lang="en-US" altLang="zh-CN">
                <a:solidFill>
                  <a:srgbClr val="898989"/>
                </a:solidFill>
              </a:rPr>
              <a:pPr eaLnBrk="1" hangingPunct="1"/>
              <a:t>8</a:t>
            </a:fld>
            <a:endParaRPr lang="en-US" altLang="zh-CN">
              <a:solidFill>
                <a:srgbClr val="898989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50" name="Object 3">
                <a:extLst>
                  <a:ext uri="{FF2B5EF4-FFF2-40B4-BE49-F238E27FC236}">
                    <a16:creationId xmlns:a16="http://schemas.microsoft.com/office/drawing/2014/main" id="{BDDEF510-BDBE-4C72-9B83-74BC7F625F1B}"/>
                  </a:ext>
                </a:extLst>
              </p:cNvPr>
              <p:cNvSpPr txBox="1"/>
              <p:nvPr/>
            </p:nvSpPr>
            <p:spPr bwMode="auto">
              <a:xfrm>
                <a:off x="2295525" y="2781300"/>
                <a:ext cx="3616325" cy="135255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zh-CN" altLang="en-US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zh-CN" altLang="en-US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zh-CN" altLang="en-US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zh-CN" altLang="en-US" sz="20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f>
                                      <m:fPr>
                                        <m:ctrlPr>
                                          <a:rPr lang="zh-CN" altLang="en-US" sz="2000" b="1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zh-CN" altLang="en-US" sz="2000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  <m:r>
                                          <a:rPr lang="zh-CN" altLang="en-US" sz="2000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!</m:t>
                                        </m:r>
                                      </m:num>
                                      <m:den>
                                        <m:r>
                                          <a:rPr lang="zh-CN" altLang="en-US" sz="2000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zh-CN" altLang="en-US" sz="2000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  <m:r>
                                          <a:rPr lang="zh-CN" altLang="en-US" sz="2000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zh-CN" altLang="en-US" sz="2000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𝒓</m:t>
                                        </m:r>
                                        <m:r>
                                          <a:rPr lang="zh-CN" altLang="en-US" sz="2000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)!</m:t>
                                        </m:r>
                                      </m:den>
                                    </m:f>
                                    <m:r>
                                      <a:rPr lang="zh-CN" altLang="en-US" sz="2000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 </m:t>
                                    </m:r>
                                    <m:r>
                                      <a:rPr lang="zh-CN" altLang="en-US" sz="2000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zh-CN" altLang="en-US" sz="2000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≥</m:t>
                                    </m:r>
                                    <m:r>
                                      <a:rPr lang="zh-CN" altLang="en-US" sz="2000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e>
                                    <m:r>
                                      <a:rPr lang="zh-CN" altLang="en-US" sz="2000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eqArr>
                              </m:e>
                            </m:mr>
                            <m:mr>
                              <m:e>
                                <m:r>
                                  <a:rPr lang="zh-CN" altLang="en-US" sz="20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  </m:t>
                                </m:r>
                                <m:r>
                                  <a:rPr lang="zh-CN" altLang="en-US" sz="20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zh-CN" altLang="en-US" sz="20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    </m:t>
                                </m:r>
                                <m:r>
                                  <a:rPr lang="zh-CN" altLang="en-US" sz="20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zh-CN" altLang="en-US" sz="20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zh-CN" altLang="en-US" sz="20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000" b="1" dirty="0"/>
              </a:p>
            </p:txBody>
          </p:sp>
        </mc:Choice>
        <mc:Fallback>
          <p:sp>
            <p:nvSpPr>
              <p:cNvPr id="2050" name="Object 3">
                <a:extLst>
                  <a:ext uri="{FF2B5EF4-FFF2-40B4-BE49-F238E27FC236}">
                    <a16:creationId xmlns:a16="http://schemas.microsoft.com/office/drawing/2014/main" id="{BDDEF510-BDBE-4C72-9B83-74BC7F625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95525" y="2781300"/>
                <a:ext cx="3616325" cy="13525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4" name="Rectangle 4">
            <a:extLst>
              <a:ext uri="{FF2B5EF4-FFF2-40B4-BE49-F238E27FC236}">
                <a16:creationId xmlns:a16="http://schemas.microsoft.com/office/drawing/2014/main" id="{CCCF2179-DA84-4E52-85C5-27F4E03DA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576388"/>
            <a:ext cx="8281987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>
                <a:latin typeface="Times New Roman" panose="02020603050405020304" pitchFamily="18" charset="0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</a:rPr>
              <a:t>．从 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  <a:r>
              <a:rPr lang="zh-CN" altLang="en-US" sz="2800" b="1">
                <a:latin typeface="Times New Roman" panose="02020603050405020304" pitchFamily="18" charset="0"/>
              </a:rPr>
              <a:t>元集 </a:t>
            </a:r>
            <a:r>
              <a:rPr lang="en-US" altLang="zh-CN" sz="2800" b="1" i="1">
                <a:latin typeface="Times New Roman" panose="02020603050405020304" pitchFamily="18" charset="0"/>
              </a:rPr>
              <a:t>S </a:t>
            </a:r>
            <a:r>
              <a:rPr lang="zh-CN" altLang="en-US" sz="2800" b="1">
                <a:latin typeface="Times New Roman" panose="02020603050405020304" pitchFamily="18" charset="0"/>
              </a:rPr>
              <a:t>中有序、不重复选取的 </a:t>
            </a:r>
            <a:r>
              <a:rPr lang="en-US" altLang="zh-CN" sz="2800" b="1" i="1">
                <a:latin typeface="Times New Roman" panose="02020603050405020304" pitchFamily="18" charset="0"/>
              </a:rPr>
              <a:t>r </a:t>
            </a:r>
            <a:r>
              <a:rPr lang="zh-CN" altLang="en-US" sz="2800" b="1">
                <a:latin typeface="Times New Roman" panose="02020603050405020304" pitchFamily="18" charset="0"/>
              </a:rPr>
              <a:t>个元素称为 </a:t>
            </a:r>
            <a:r>
              <a:rPr lang="en-US" altLang="zh-CN" sz="2800" b="1" i="1">
                <a:latin typeface="Times New Roman" panose="02020603050405020304" pitchFamily="18" charset="0"/>
              </a:rPr>
              <a:t>S </a:t>
            </a:r>
            <a:r>
              <a:rPr lang="zh-CN" altLang="en-US" sz="2800" b="1">
                <a:latin typeface="Times New Roman" panose="02020603050405020304" pitchFamily="18" charset="0"/>
              </a:rPr>
              <a:t>的一个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r </a:t>
            </a: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排列</a:t>
            </a:r>
            <a:r>
              <a:rPr lang="zh-CN" altLang="en-US" sz="2800" b="1">
                <a:latin typeface="Times New Roman" panose="02020603050405020304" pitchFamily="18" charset="0"/>
              </a:rPr>
              <a:t>，</a:t>
            </a:r>
            <a:r>
              <a:rPr lang="en-US" altLang="zh-CN" sz="2800" b="1" i="1">
                <a:latin typeface="Times New Roman" panose="02020603050405020304" pitchFamily="18" charset="0"/>
              </a:rPr>
              <a:t>S </a:t>
            </a:r>
            <a:r>
              <a:rPr lang="zh-CN" altLang="en-US" sz="2800" b="1">
                <a:latin typeface="Times New Roman" panose="02020603050405020304" pitchFamily="18" charset="0"/>
              </a:rPr>
              <a:t>的所有</a:t>
            </a:r>
            <a:r>
              <a:rPr lang="en-US" altLang="zh-CN" sz="2800" b="1" i="1">
                <a:latin typeface="Times New Roman" panose="02020603050405020304" pitchFamily="18" charset="0"/>
              </a:rPr>
              <a:t>r </a:t>
            </a:r>
            <a:r>
              <a:rPr lang="zh-CN" altLang="en-US" sz="2800" b="1">
                <a:latin typeface="Times New Roman" panose="02020603050405020304" pitchFamily="18" charset="0"/>
              </a:rPr>
              <a:t>排列的数目记作 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n,r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graphicFrame>
        <p:nvGraphicFramePr>
          <p:cNvPr id="2051" name="Object 5">
            <a:extLst>
              <a:ext uri="{FF2B5EF4-FFF2-40B4-BE49-F238E27FC236}">
                <a16:creationId xmlns:a16="http://schemas.microsoft.com/office/drawing/2014/main" id="{2A7E1843-278C-4974-9C24-F7B39F6517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0200" y="4724400"/>
          <a:ext cx="1152525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公式" r:id="rId5" imgW="469800" imgH="368280" progId="Equation.3">
                  <p:embed/>
                </p:oleObj>
              </mc:Choice>
              <mc:Fallback>
                <p:oleObj name="公式" r:id="rId5" imgW="469800" imgH="3682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4724400"/>
                        <a:ext cx="1152525" cy="917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5" name="Rectangle 6">
            <a:extLst>
              <a:ext uri="{FF2B5EF4-FFF2-40B4-BE49-F238E27FC236}">
                <a16:creationId xmlns:a16="http://schemas.microsoft.com/office/drawing/2014/main" id="{3BF27C26-C011-4946-83AD-7C07CB5F7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4525963"/>
            <a:ext cx="45720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</a:rPr>
              <a:t>．环排列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</a:rPr>
              <a:t>      </a:t>
            </a:r>
            <a:r>
              <a:rPr lang="en-US" altLang="zh-CN" sz="2800" b="1" i="1">
                <a:latin typeface="Times New Roman" panose="02020603050405020304" pitchFamily="18" charset="0"/>
              </a:rPr>
              <a:t>S </a:t>
            </a:r>
            <a:r>
              <a:rPr lang="zh-CN" altLang="en-US" sz="2800" b="1">
                <a:latin typeface="Times New Roman" panose="02020603050405020304" pitchFamily="18" charset="0"/>
              </a:rPr>
              <a:t>的 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r </a:t>
            </a: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环排列</a:t>
            </a:r>
            <a:r>
              <a:rPr lang="zh-CN" altLang="en-US" sz="2800" b="1">
                <a:latin typeface="Times New Roman" panose="02020603050405020304" pitchFamily="18" charset="0"/>
              </a:rPr>
              <a:t>数 </a:t>
            </a:r>
            <a:r>
              <a:rPr lang="en-US" altLang="zh-CN" sz="2800" b="1">
                <a:latin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>
            <a:extLst>
              <a:ext uri="{FF2B5EF4-FFF2-40B4-BE49-F238E27FC236}">
                <a16:creationId xmlns:a16="http://schemas.microsoft.com/office/drawing/2014/main" id="{8EE951E5-1646-45C4-8F91-2E7FE8314E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19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集合的组合</a:t>
            </a:r>
          </a:p>
        </p:txBody>
      </p:sp>
      <p:sp>
        <p:nvSpPr>
          <p:cNvPr id="3075" name="灯片编号占位符 4">
            <a:extLst>
              <a:ext uri="{FF2B5EF4-FFF2-40B4-BE49-F238E27FC236}">
                <a16:creationId xmlns:a16="http://schemas.microsoft.com/office/drawing/2014/main" id="{DED868AC-5A3D-41AF-A69E-5B3FE3F04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08044E8-8049-4B62-96CD-89E181BDFA7B}" type="slidenum">
              <a:rPr lang="en-US" altLang="zh-CN">
                <a:solidFill>
                  <a:srgbClr val="898989"/>
                </a:solidFill>
              </a:rPr>
              <a:pPr eaLnBrk="1" hangingPunct="1"/>
              <a:t>9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077" name="Rectangle 3">
            <a:extLst>
              <a:ext uri="{FF2B5EF4-FFF2-40B4-BE49-F238E27FC236}">
                <a16:creationId xmlns:a16="http://schemas.microsoft.com/office/drawing/2014/main" id="{DEB39082-77BD-4119-B4E1-302F6EA78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003300"/>
            <a:ext cx="7632700" cy="164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>
                <a:latin typeface="Times New Roman" panose="02020603050405020304" pitchFamily="18" charset="0"/>
              </a:rPr>
              <a:t>3</a:t>
            </a:r>
            <a:r>
              <a:rPr lang="zh-CN" altLang="en-US" sz="2800" b="1">
                <a:latin typeface="Times New Roman" panose="02020603050405020304" pitchFamily="18" charset="0"/>
              </a:rPr>
              <a:t>．从 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  <a:r>
              <a:rPr lang="zh-CN" altLang="en-US" sz="2800" b="1">
                <a:latin typeface="Times New Roman" panose="02020603050405020304" pitchFamily="18" charset="0"/>
              </a:rPr>
              <a:t>元集 </a:t>
            </a:r>
            <a:r>
              <a:rPr lang="en-US" altLang="zh-CN" sz="2800" b="1" i="1">
                <a:latin typeface="Times New Roman" panose="02020603050405020304" pitchFamily="18" charset="0"/>
              </a:rPr>
              <a:t>S </a:t>
            </a:r>
            <a:r>
              <a:rPr lang="zh-CN" altLang="en-US" sz="2800" b="1">
                <a:latin typeface="Times New Roman" panose="02020603050405020304" pitchFamily="18" charset="0"/>
              </a:rPr>
              <a:t>中无序、不重复选取的 </a:t>
            </a:r>
            <a:r>
              <a:rPr lang="en-US" altLang="zh-CN" sz="2800" b="1" i="1">
                <a:latin typeface="Times New Roman" panose="02020603050405020304" pitchFamily="18" charset="0"/>
              </a:rPr>
              <a:t>r </a:t>
            </a:r>
            <a:r>
              <a:rPr lang="zh-CN" altLang="en-US" sz="2800" b="1">
                <a:latin typeface="Times New Roman" panose="02020603050405020304" pitchFamily="18" charset="0"/>
              </a:rPr>
              <a:t>个元素称为</a:t>
            </a:r>
            <a:r>
              <a:rPr lang="en-US" altLang="zh-CN" sz="2800" b="1" i="1">
                <a:latin typeface="Times New Roman" panose="02020603050405020304" pitchFamily="18" charset="0"/>
              </a:rPr>
              <a:t>S </a:t>
            </a:r>
            <a:r>
              <a:rPr lang="zh-CN" altLang="en-US" sz="2800" b="1">
                <a:latin typeface="Times New Roman" panose="02020603050405020304" pitchFamily="18" charset="0"/>
              </a:rPr>
              <a:t>的一个</a:t>
            </a:r>
            <a:r>
              <a:rPr lang="en-US" altLang="zh-CN" sz="2800" b="1" i="1">
                <a:solidFill>
                  <a:srgbClr val="A50021"/>
                </a:solidFill>
                <a:latin typeface="Times New Roman" panose="02020603050405020304" pitchFamily="18" charset="0"/>
              </a:rPr>
              <a:t>r </a:t>
            </a: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组合</a:t>
            </a:r>
            <a:r>
              <a:rPr lang="zh-CN" altLang="en-US" sz="2800" b="1">
                <a:latin typeface="Times New Roman" panose="02020603050405020304" pitchFamily="18" charset="0"/>
              </a:rPr>
              <a:t>，</a:t>
            </a:r>
            <a:r>
              <a:rPr lang="en-US" altLang="zh-CN" sz="2800" b="1" i="1">
                <a:latin typeface="Times New Roman" panose="02020603050405020304" pitchFamily="18" charset="0"/>
              </a:rPr>
              <a:t>S </a:t>
            </a:r>
            <a:r>
              <a:rPr lang="zh-CN" altLang="en-US" sz="2800" b="1">
                <a:latin typeface="Times New Roman" panose="02020603050405020304" pitchFamily="18" charset="0"/>
              </a:rPr>
              <a:t>的所有</a:t>
            </a:r>
            <a:r>
              <a:rPr lang="en-US" altLang="zh-CN" sz="2800" b="1" i="1">
                <a:latin typeface="Times New Roman" panose="02020603050405020304" pitchFamily="18" charset="0"/>
              </a:rPr>
              <a:t>r </a:t>
            </a:r>
            <a:r>
              <a:rPr lang="zh-CN" altLang="en-US" sz="2800" b="1">
                <a:latin typeface="Times New Roman" panose="02020603050405020304" pitchFamily="18" charset="0"/>
              </a:rPr>
              <a:t>组合的数目记作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n,r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74" name="Object 4">
                <a:extLst>
                  <a:ext uri="{FF2B5EF4-FFF2-40B4-BE49-F238E27FC236}">
                    <a16:creationId xmlns:a16="http://schemas.microsoft.com/office/drawing/2014/main" id="{779018D2-B6C6-4B5D-BD21-8A4636BCEE8C}"/>
                  </a:ext>
                </a:extLst>
              </p:cNvPr>
              <p:cNvSpPr txBox="1"/>
              <p:nvPr/>
            </p:nvSpPr>
            <p:spPr bwMode="auto">
              <a:xfrm>
                <a:off x="2428875" y="2492375"/>
                <a:ext cx="3943350" cy="144621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zh-CN" altLang="en-US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zh-CN" altLang="en-US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zh-CN" altLang="en-US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zh-CN" altLang="en-US" sz="2400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f>
                                      <m:fPr>
                                        <m:ctrlPr>
                                          <a:rPr lang="zh-CN" altLang="en-US" sz="2400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zh-CN" altLang="en-US" sz="2400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  <m:d>
                                          <m:dPr>
                                            <m:ctrlPr>
                                              <a:rPr lang="zh-CN" altLang="en-US" sz="2400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altLang="en-US" sz="2400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𝒏</m:t>
                                            </m:r>
                                            <m:r>
                                              <a:rPr lang="zh-CN" altLang="en-US" sz="2400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zh-CN" altLang="en-US" sz="2400" b="1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𝒓</m:t>
                                            </m:r>
                                          </m:e>
                                        </m:d>
                                      </m:num>
                                      <m:den>
                                        <m:r>
                                          <a:rPr lang="zh-CN" altLang="en-US" sz="2400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𝒓</m:t>
                                        </m:r>
                                        <m:r>
                                          <a:rPr lang="zh-CN" altLang="en-US" sz="2400" b="1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!</m:t>
                                        </m:r>
                                      </m:den>
                                    </m:f>
                                    <m:r>
                                      <a:rPr lang="zh-CN" altLang="en-US" sz="2400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 </m:t>
                                    </m:r>
                                    <m:r>
                                      <a:rPr lang="zh-CN" altLang="en-US" sz="2400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zh-CN" altLang="en-US" sz="2400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≥</m:t>
                                    </m:r>
                                    <m:r>
                                      <a:rPr lang="zh-CN" altLang="en-US" sz="2400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</m:eqArr>
                              </m:e>
                            </m:mr>
                            <m:mr>
                              <m:e>
                                <m:r>
                                  <a:rPr lang="zh-CN" altLang="en-US" sz="24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 </m:t>
                                </m:r>
                                <m:r>
                                  <a:rPr lang="zh-CN" altLang="en-US" sz="24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zh-CN" altLang="en-US" sz="24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    </m:t>
                                </m:r>
                                <m:r>
                                  <a:rPr lang="zh-CN" altLang="en-US" sz="24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zh-CN" altLang="en-US" sz="24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zh-CN" altLang="en-US" sz="24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3074" name="Object 4">
                <a:extLst>
                  <a:ext uri="{FF2B5EF4-FFF2-40B4-BE49-F238E27FC236}">
                    <a16:creationId xmlns:a16="http://schemas.microsoft.com/office/drawing/2014/main" id="{779018D2-B6C6-4B5D-BD21-8A4636BCE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28875" y="2492375"/>
                <a:ext cx="3943350" cy="14462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8" name="Rectangle 5">
            <a:extLst>
              <a:ext uri="{FF2B5EF4-FFF2-40B4-BE49-F238E27FC236}">
                <a16:creationId xmlns:a16="http://schemas.microsoft.com/office/drawing/2014/main" id="{86EC9992-3814-4C32-9EA1-3A271500D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221163"/>
            <a:ext cx="6840538" cy="211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>
                <a:latin typeface="Times New Roman" panose="02020603050405020304" pitchFamily="18" charset="0"/>
              </a:rPr>
              <a:t>4</a:t>
            </a:r>
            <a:r>
              <a:rPr lang="zh-CN" altLang="en-US" sz="2800" b="1">
                <a:latin typeface="Times New Roman" panose="02020603050405020304" pitchFamily="18" charset="0"/>
              </a:rPr>
              <a:t>．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n,r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  <a:r>
              <a:rPr lang="en-US" altLang="zh-CN" sz="2800" b="1" i="1">
                <a:latin typeface="Times New Roman" panose="02020603050405020304" pitchFamily="18" charset="0"/>
              </a:rPr>
              <a:t> = C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n,n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</a:rPr>
              <a:t>) 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证明方法： </a:t>
            </a:r>
            <a:endParaRPr lang="zh-CN" altLang="en-US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      公式代入</a:t>
            </a:r>
            <a:endParaRPr lang="zh-CN" altLang="en-US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      组合证明（一一对应）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>
            <a:extLst>
              <a:ext uri="{FF2B5EF4-FFF2-40B4-BE49-F238E27FC236}">
                <a16:creationId xmlns:a16="http://schemas.microsoft.com/office/drawing/2014/main" id="{80C12D16-1FA1-4677-BFB4-8114F78871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基本计数公式的应用</a:t>
            </a:r>
          </a:p>
        </p:txBody>
      </p:sp>
      <p:sp>
        <p:nvSpPr>
          <p:cNvPr id="46082" name="灯片编号占位符 4">
            <a:extLst>
              <a:ext uri="{FF2B5EF4-FFF2-40B4-BE49-F238E27FC236}">
                <a16:creationId xmlns:a16="http://schemas.microsoft.com/office/drawing/2014/main" id="{42A5F8CB-7FFF-48B0-960E-3945B61D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D7834AD-BCF2-4FEF-959C-1E50D75DEBA7}" type="slidenum">
              <a:rPr lang="en-US" altLang="zh-CN">
                <a:solidFill>
                  <a:srgbClr val="898989"/>
                </a:solidFill>
              </a:rPr>
              <a:pPr eaLnBrk="1" hangingPunct="1"/>
              <a:t>10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C0B4E3B5-2B1C-477B-9C67-B5A77D302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196975"/>
            <a:ext cx="8135937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800" b="1">
                <a:latin typeface="Times New Roman" panose="02020603050405020304" pitchFamily="18" charset="0"/>
              </a:rPr>
              <a:t>从</a:t>
            </a:r>
            <a:r>
              <a:rPr lang="en-US" altLang="zh-CN" sz="2800" b="1">
                <a:latin typeface="Times New Roman" panose="02020603050405020304" pitchFamily="18" charset="0"/>
              </a:rPr>
              <a:t>1</a:t>
            </a:r>
            <a:r>
              <a:rPr lang="en-US" altLang="zh-CN" sz="2800" b="1"/>
              <a:t>—</a:t>
            </a:r>
            <a:r>
              <a:rPr lang="en-US" altLang="zh-CN" sz="2800" b="1">
                <a:latin typeface="Times New Roman" panose="02020603050405020304" pitchFamily="18" charset="0"/>
              </a:rPr>
              <a:t>300</a:t>
            </a:r>
            <a:r>
              <a:rPr lang="zh-CN" altLang="en-US" sz="2800" b="1">
                <a:latin typeface="Times New Roman" panose="02020603050405020304" pitchFamily="18" charset="0"/>
              </a:rPr>
              <a:t>中任取</a:t>
            </a:r>
            <a:r>
              <a:rPr lang="en-US" altLang="zh-CN" sz="2800" b="1">
                <a:latin typeface="Times New Roman" panose="02020603050405020304" pitchFamily="18" charset="0"/>
              </a:rPr>
              <a:t>3</a:t>
            </a:r>
            <a:r>
              <a:rPr lang="zh-CN" altLang="en-US" sz="2800" b="1">
                <a:latin typeface="Times New Roman" panose="02020603050405020304" pitchFamily="18" charset="0"/>
              </a:rPr>
              <a:t>个数使得其和能被</a:t>
            </a:r>
            <a:r>
              <a:rPr lang="en-US" altLang="zh-CN" sz="2800" b="1">
                <a:latin typeface="Times New Roman" panose="02020603050405020304" pitchFamily="18" charset="0"/>
              </a:rPr>
              <a:t>3</a:t>
            </a:r>
            <a:r>
              <a:rPr lang="zh-CN" altLang="en-US" sz="2800" b="1">
                <a:latin typeface="Times New Roman" panose="02020603050405020304" pitchFamily="18" charset="0"/>
              </a:rPr>
              <a:t>整除有多少种方法？</a:t>
            </a:r>
          </a:p>
        </p:txBody>
      </p:sp>
      <p:sp>
        <p:nvSpPr>
          <p:cNvPr id="365572" name="Rectangle 4">
            <a:extLst>
              <a:ext uri="{FF2B5EF4-FFF2-40B4-BE49-F238E27FC236}">
                <a16:creationId xmlns:a16="http://schemas.microsoft.com/office/drawing/2014/main" id="{BA9542FB-7551-4530-8862-3D0D20BD3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420938"/>
            <a:ext cx="6858000" cy="366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</a:rPr>
              <a:t>解    </a:t>
            </a:r>
            <a:r>
              <a:rPr lang="zh-CN" altLang="en-US" sz="2800" b="1" i="1">
                <a:latin typeface="Times New Roman" panose="02020603050405020304" pitchFamily="18" charset="0"/>
              </a:rPr>
              <a:t>     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={ 1, 4, </a:t>
            </a:r>
            <a:r>
              <a:rPr lang="en-US" altLang="zh-CN" sz="2800" b="1"/>
              <a:t>…</a:t>
            </a:r>
            <a:r>
              <a:rPr lang="en-US" altLang="zh-CN" sz="2800" b="1">
                <a:latin typeface="Times New Roman" panose="02020603050405020304" pitchFamily="18" charset="0"/>
              </a:rPr>
              <a:t> , 298 }</a:t>
            </a:r>
            <a:endParaRPr lang="en-US" altLang="zh-CN" sz="28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>
                <a:latin typeface="Times New Roman" panose="02020603050405020304" pitchFamily="18" charset="0"/>
              </a:rPr>
              <a:t>              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</a:rPr>
              <a:t>={ 2, 5, </a:t>
            </a:r>
            <a:r>
              <a:rPr lang="en-US" altLang="zh-CN" sz="2800" b="1"/>
              <a:t>…</a:t>
            </a:r>
            <a:r>
              <a:rPr lang="en-US" altLang="zh-CN" sz="2800" b="1">
                <a:latin typeface="Times New Roman" panose="02020603050405020304" pitchFamily="18" charset="0"/>
              </a:rPr>
              <a:t> , 299 }</a:t>
            </a:r>
            <a:endParaRPr lang="en-US" altLang="zh-CN" sz="28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>
                <a:latin typeface="Times New Roman" panose="02020603050405020304" pitchFamily="18" charset="0"/>
              </a:rPr>
              <a:t>              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</a:rPr>
              <a:t>={ 3, 6, </a:t>
            </a:r>
            <a:r>
              <a:rPr lang="en-US" altLang="zh-CN" sz="2800" b="1"/>
              <a:t>…</a:t>
            </a:r>
            <a:r>
              <a:rPr lang="en-US" altLang="zh-CN" sz="2800" b="1">
                <a:latin typeface="Times New Roman" panose="02020603050405020304" pitchFamily="18" charset="0"/>
              </a:rPr>
              <a:t> , 300 }</a:t>
            </a:r>
            <a:endParaRPr lang="en-US" altLang="zh-CN" sz="28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</a:rPr>
              <a:t>分类： 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</a:rPr>
              <a:t>    分别取自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</a:rPr>
              <a:t>:    </a:t>
            </a:r>
            <a:r>
              <a:rPr lang="zh-CN" altLang="en-US" sz="2800" b="1">
                <a:latin typeface="Times New Roman" panose="02020603050405020304" pitchFamily="18" charset="0"/>
              </a:rPr>
              <a:t>各 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</a:rPr>
              <a:t>(100,3)</a:t>
            </a:r>
            <a:endParaRPr lang="en-US" altLang="zh-CN" sz="28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i="1">
                <a:latin typeface="Times New Roman" panose="02020603050405020304" pitchFamily="18" charset="0"/>
              </a:rPr>
              <a:t>     A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C </a:t>
            </a:r>
            <a:r>
              <a:rPr lang="zh-CN" altLang="en-US" sz="2800" b="1">
                <a:latin typeface="Times New Roman" panose="02020603050405020304" pitchFamily="18" charset="0"/>
              </a:rPr>
              <a:t>各取</a:t>
            </a:r>
            <a:r>
              <a:rPr lang="en-US" altLang="zh-CN" sz="2800" b="1">
                <a:latin typeface="Times New Roman" panose="02020603050405020304" pitchFamily="18" charset="0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</a:rPr>
              <a:t>个：        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</a:rPr>
              <a:t>(100,1)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3</a:t>
            </a:r>
            <a:endParaRPr lang="en-US" altLang="zh-CN" sz="2800" baseline="300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i="1">
                <a:latin typeface="Times New Roman" panose="02020603050405020304" pitchFamily="18" charset="0"/>
              </a:rPr>
              <a:t>              N</a:t>
            </a:r>
            <a:r>
              <a:rPr lang="en-US" altLang="zh-CN" sz="2800" b="1">
                <a:latin typeface="Times New Roman" panose="02020603050405020304" pitchFamily="18" charset="0"/>
              </a:rPr>
              <a:t>= 3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</a:rPr>
              <a:t>(100,3) + 100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3</a:t>
            </a:r>
            <a:r>
              <a:rPr lang="en-US" altLang="zh-CN" sz="2800" b="1">
                <a:latin typeface="Times New Roman" panose="02020603050405020304" pitchFamily="18" charset="0"/>
              </a:rPr>
              <a:t> = 1485100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5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5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57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2">
            <a:extLst>
              <a:ext uri="{FF2B5EF4-FFF2-40B4-BE49-F238E27FC236}">
                <a16:creationId xmlns:a16="http://schemas.microsoft.com/office/drawing/2014/main" id="{0E21B7E1-709D-4BD3-9379-DBFF6FD967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686800" cy="8509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基本计数公式应用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续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zh-CN" alt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7106" name="灯片编号占位符 4">
            <a:extLst>
              <a:ext uri="{FF2B5EF4-FFF2-40B4-BE49-F238E27FC236}">
                <a16:creationId xmlns:a16="http://schemas.microsoft.com/office/drawing/2014/main" id="{A8458B3D-E5BB-467F-A9DD-F61895213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79CCC86-0CD8-424E-8488-AE2802C2C43B}" type="slidenum">
              <a:rPr lang="en-US" altLang="zh-CN">
                <a:solidFill>
                  <a:srgbClr val="898989"/>
                </a:solidFill>
              </a:rPr>
              <a:pPr eaLnBrk="1" hangingPunct="1"/>
              <a:t>11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0B1689BB-801B-451D-8B4B-65F0DB506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981075"/>
            <a:ext cx="76327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800" b="1">
                <a:latin typeface="Times New Roman" panose="02020603050405020304" pitchFamily="18" charset="0"/>
              </a:rPr>
              <a:t>求</a:t>
            </a:r>
            <a:r>
              <a:rPr lang="en-US" altLang="zh-CN" sz="2800" b="1">
                <a:latin typeface="Times New Roman" panose="02020603050405020304" pitchFamily="18" charset="0"/>
              </a:rPr>
              <a:t>1000</a:t>
            </a:r>
            <a:r>
              <a:rPr lang="zh-CN" altLang="en-US" sz="2800" b="1">
                <a:latin typeface="Times New Roman" panose="02020603050405020304" pitchFamily="18" charset="0"/>
              </a:rPr>
              <a:t>！的末尾有多少个</a:t>
            </a:r>
            <a:r>
              <a:rPr lang="en-US" altLang="zh-CN" sz="2800" b="1">
                <a:latin typeface="Times New Roman" panose="02020603050405020304" pitchFamily="18" charset="0"/>
              </a:rPr>
              <a:t>0</a:t>
            </a:r>
            <a:r>
              <a:rPr lang="zh-CN" altLang="en-US" sz="2800" b="1">
                <a:latin typeface="Times New Roman" panose="02020603050405020304" pitchFamily="18" charset="0"/>
              </a:rPr>
              <a:t>？</a:t>
            </a:r>
          </a:p>
        </p:txBody>
      </p:sp>
      <p:sp>
        <p:nvSpPr>
          <p:cNvPr id="367620" name="Rectangle 4">
            <a:extLst>
              <a:ext uri="{FF2B5EF4-FFF2-40B4-BE49-F238E27FC236}">
                <a16:creationId xmlns:a16="http://schemas.microsoft.com/office/drawing/2014/main" id="{795237F8-7BCA-420B-BC38-8C2B98C97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554163"/>
            <a:ext cx="8424862" cy="137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344488" eaLnBrk="0" hangingPunct="0">
              <a:tabLst>
                <a:tab pos="1657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1657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1657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1657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1657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657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657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657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657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sz="2600" b="1">
                <a:latin typeface="Times New Roman" panose="02020603050405020304" pitchFamily="18" charset="0"/>
              </a:rPr>
              <a:t>解：      </a:t>
            </a:r>
            <a:r>
              <a:rPr lang="en-US" altLang="zh-CN" sz="2600" b="1">
                <a:latin typeface="Times New Roman" panose="02020603050405020304" pitchFamily="18" charset="0"/>
              </a:rPr>
              <a:t>1000!=1000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600" b="1">
                <a:latin typeface="Times New Roman" panose="02020603050405020304" pitchFamily="18" charset="0"/>
              </a:rPr>
              <a:t>999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600" b="1">
                <a:latin typeface="Times New Roman" panose="02020603050405020304" pitchFamily="18" charset="0"/>
              </a:rPr>
              <a:t> 998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600" b="1"/>
              <a:t>…</a:t>
            </a:r>
            <a:r>
              <a:rPr lang="en-US" altLang="zh-CN" sz="2600" b="1">
                <a:latin typeface="Times New Roman" panose="02020603050405020304" pitchFamily="18" charset="0"/>
              </a:rPr>
              <a:t>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600" b="1">
                <a:latin typeface="Times New Roman" panose="02020603050405020304" pitchFamily="18" charset="0"/>
              </a:rPr>
              <a:t> 2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600" b="1">
                <a:latin typeface="Times New Roman" panose="02020603050405020304" pitchFamily="18" charset="0"/>
              </a:rPr>
              <a:t>1</a:t>
            </a:r>
            <a:endParaRPr lang="en-US" altLang="zh-CN" sz="26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将每个因子分解，若分解式中共有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个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5,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j 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个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endParaRPr lang="zh-CN" altLang="en-US" sz="26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那么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min{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i, j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} 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就是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的个数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sz="26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67621" name="Rectangle 5">
            <a:extLst>
              <a:ext uri="{FF2B5EF4-FFF2-40B4-BE49-F238E27FC236}">
                <a16:creationId xmlns:a16="http://schemas.microsoft.com/office/drawing/2014/main" id="{D679AA82-84B0-4653-BB9B-399AE3610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186113"/>
            <a:ext cx="7416800" cy="314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344488" eaLnBrk="0" hangingPunct="0">
              <a:tabLst>
                <a:tab pos="1657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1657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1657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1657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1657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657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657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657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657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1, </a:t>
            </a:r>
            <a:r>
              <a:rPr lang="en-US" altLang="zh-CN" sz="2600" b="1">
                <a:sym typeface="Symbol" panose="05050102010706020507" pitchFamily="18" charset="2"/>
              </a:rPr>
              <a:t>…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 ,1000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中有	</a:t>
            </a:r>
            <a:endParaRPr lang="zh-CN" altLang="en-US" sz="26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500 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个是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的倍数，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j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&gt; 500; </a:t>
            </a:r>
            <a:endParaRPr lang="en-US" altLang="zh-CN" sz="26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     200 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个是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5 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的倍数，</a:t>
            </a:r>
            <a:endParaRPr lang="zh-CN" altLang="en-US" sz="26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40 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个是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25 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的倍数（多加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40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个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），</a:t>
            </a:r>
            <a:endParaRPr lang="zh-CN" altLang="en-US" sz="26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8 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个是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125 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的倍数（再多加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8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个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），</a:t>
            </a:r>
            <a:endParaRPr lang="zh-CN" altLang="en-US" sz="26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个是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625 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的倍数（再多加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个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）</a:t>
            </a:r>
            <a:endParaRPr lang="zh-CN" altLang="en-US" sz="26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= 200+40+8+1 = 249.  min{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i, j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 }=249.</a:t>
            </a:r>
            <a:r>
              <a:rPr lang="en-US" altLang="zh-CN" sz="26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7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7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7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7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7620" grpId="0"/>
      <p:bldP spid="3676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2">
            <a:extLst>
              <a:ext uri="{FF2B5EF4-FFF2-40B4-BE49-F238E27FC236}">
                <a16:creationId xmlns:a16="http://schemas.microsoft.com/office/drawing/2014/main" id="{84333059-47BA-427B-A962-A2EBE38414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多重集的排列</a:t>
            </a:r>
          </a:p>
        </p:txBody>
      </p:sp>
      <p:sp>
        <p:nvSpPr>
          <p:cNvPr id="4100" name="灯片编号占位符 5">
            <a:extLst>
              <a:ext uri="{FF2B5EF4-FFF2-40B4-BE49-F238E27FC236}">
                <a16:creationId xmlns:a16="http://schemas.microsoft.com/office/drawing/2014/main" id="{7672095B-0A96-41BE-AF66-38FACAA75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E323BFC-4CE7-413D-8821-1B7BDE295D70}" type="slidenum">
              <a:rPr lang="en-US" altLang="zh-CN">
                <a:solidFill>
                  <a:srgbClr val="898989"/>
                </a:solidFill>
              </a:rPr>
              <a:pPr eaLnBrk="1" hangingPunct="1"/>
              <a:t>12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4102" name="Rectangle 3">
            <a:extLst>
              <a:ext uri="{FF2B5EF4-FFF2-40B4-BE49-F238E27FC236}">
                <a16:creationId xmlns:a16="http://schemas.microsoft.com/office/drawing/2014/main" id="{D54D1341-046D-437D-8C7C-F34D65ED1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125538"/>
            <a:ext cx="79200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600" b="1">
                <a:latin typeface="Times New Roman" panose="02020603050405020304" pitchFamily="18" charset="0"/>
              </a:rPr>
              <a:t>多重集的表示   </a:t>
            </a:r>
            <a:r>
              <a:rPr lang="en-US" altLang="zh-CN" sz="2600" b="1" i="1">
                <a:latin typeface="Times New Roman" panose="02020603050405020304" pitchFamily="18" charset="0"/>
              </a:rPr>
              <a:t>S</a:t>
            </a:r>
            <a:r>
              <a:rPr lang="en-US" altLang="zh-CN" sz="2600" b="1">
                <a:latin typeface="Times New Roman" panose="02020603050405020304" pitchFamily="18" charset="0"/>
              </a:rPr>
              <a:t>={</a:t>
            </a:r>
            <a:r>
              <a:rPr lang="en-US" altLang="zh-CN" sz="2600" b="1" i="1">
                <a:latin typeface="Times New Roman" panose="02020603050405020304" pitchFamily="18" charset="0"/>
              </a:rPr>
              <a:t>n</a:t>
            </a:r>
            <a:r>
              <a:rPr lang="en-US" altLang="zh-CN" sz="2600" b="1" baseline="-30000">
                <a:latin typeface="Times New Roman" panose="02020603050405020304" pitchFamily="18" charset="0"/>
              </a:rPr>
              <a:t>1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600" b="1" i="1">
                <a:latin typeface="Times New Roman" panose="02020603050405020304" pitchFamily="18" charset="0"/>
              </a:rPr>
              <a:t>a</a:t>
            </a:r>
            <a:r>
              <a:rPr lang="en-US" altLang="zh-CN" sz="2600" b="1" baseline="-30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600" b="1" baseline="-30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600" b="1" i="1">
                <a:latin typeface="Times New Roman" panose="02020603050405020304" pitchFamily="18" charset="0"/>
              </a:rPr>
              <a:t>a</a:t>
            </a:r>
            <a:r>
              <a:rPr lang="en-US" altLang="zh-CN" sz="2600" b="1" baseline="-30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, …,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600" b="1" i="1" baseline="-3000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600" b="1" i="1">
                <a:latin typeface="Times New Roman" panose="02020603050405020304" pitchFamily="18" charset="0"/>
              </a:rPr>
              <a:t>a</a:t>
            </a:r>
            <a:r>
              <a:rPr lang="en-US" altLang="zh-CN" sz="2600" b="1" i="1" baseline="-3000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0 &lt;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600" b="1" i="1" baseline="-30000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600" b="1">
                <a:latin typeface="Times New Roman" panose="02020603050405020304" pitchFamily="18" charset="0"/>
              </a:rPr>
              <a:t>+∞</a:t>
            </a:r>
            <a:endParaRPr lang="en-US" altLang="zh-CN" sz="26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FDC30CAB-ABF5-41FE-8AD6-9B4445C0D527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3716338"/>
            <a:ext cx="7702550" cy="1709737"/>
            <a:chOff x="659" y="2491"/>
            <a:chExt cx="4852" cy="1077"/>
          </a:xfrm>
        </p:grpSpPr>
        <p:graphicFrame>
          <p:nvGraphicFramePr>
            <p:cNvPr id="4099" name="Object 5">
              <a:extLst>
                <a:ext uri="{FF2B5EF4-FFF2-40B4-BE49-F238E27FC236}">
                  <a16:creationId xmlns:a16="http://schemas.microsoft.com/office/drawing/2014/main" id="{98D860A3-5471-4196-B284-9F1E1C2AE95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70" y="2763"/>
            <a:ext cx="4205" cy="8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0" name="公式" r:id="rId4" imgW="3492360" imgH="672840" progId="Equation.3">
                    <p:embed/>
                  </p:oleObj>
                </mc:Choice>
                <mc:Fallback>
                  <p:oleObj name="公式" r:id="rId4" imgW="3492360" imgH="67284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0" y="2763"/>
                          <a:ext cx="4205" cy="80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7" name="Rectangle 6">
              <a:extLst>
                <a:ext uri="{FF2B5EF4-FFF2-40B4-BE49-F238E27FC236}">
                  <a16:creationId xmlns:a16="http://schemas.microsoft.com/office/drawing/2014/main" id="{3D8BB2FB-2B5E-4ED4-9E15-0DACFC6DFE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" y="2491"/>
              <a:ext cx="485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600" b="1">
                  <a:latin typeface="Times New Roman" panose="02020603050405020304" pitchFamily="18" charset="0"/>
                </a:rPr>
                <a:t>     </a:t>
              </a:r>
              <a:r>
                <a:rPr lang="zh-CN" altLang="en-US" sz="2600" b="1">
                  <a:latin typeface="Times New Roman" panose="02020603050405020304" pitchFamily="18" charset="0"/>
                </a:rPr>
                <a:t>证明：分步选取</a:t>
              </a:r>
              <a:r>
                <a:rPr lang="en-US" altLang="zh-CN" sz="2600" b="1">
                  <a:latin typeface="Times New Roman" panose="02020603050405020304" pitchFamily="18" charset="0"/>
                </a:rPr>
                <a:t>. </a:t>
              </a:r>
            </a:p>
          </p:txBody>
        </p:sp>
      </p:grpSp>
      <p:sp>
        <p:nvSpPr>
          <p:cNvPr id="369671" name="Rectangle 7">
            <a:extLst>
              <a:ext uri="{FF2B5EF4-FFF2-40B4-BE49-F238E27FC236}">
                <a16:creationId xmlns:a16="http://schemas.microsoft.com/office/drawing/2014/main" id="{D9B976CE-1984-4857-A731-EE28C1D52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5373688"/>
            <a:ext cx="74168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/>
              <a:t> </a:t>
            </a:r>
            <a:endParaRPr lang="en-US" altLang="zh-CN" sz="1100"/>
          </a:p>
          <a:p>
            <a:r>
              <a:rPr lang="en-US" altLang="zh-CN" sz="2600" b="1">
                <a:latin typeface="Times New Roman" panose="02020603050405020304" pitchFamily="18" charset="0"/>
              </a:rPr>
              <a:t>(2) </a:t>
            </a:r>
            <a:r>
              <a:rPr lang="zh-CN" altLang="en-US" sz="2600" b="1">
                <a:latin typeface="Times New Roman" panose="02020603050405020304" pitchFamily="18" charset="0"/>
              </a:rPr>
              <a:t>若</a:t>
            </a:r>
            <a:r>
              <a:rPr lang="en-US" altLang="zh-CN" sz="2600" b="1" i="1">
                <a:latin typeface="Times New Roman" panose="02020603050405020304" pitchFamily="18" charset="0"/>
              </a:rPr>
              <a:t>r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600" b="1" i="1">
                <a:latin typeface="Times New Roman" panose="02020603050405020304" pitchFamily="18" charset="0"/>
              </a:rPr>
              <a:t>n</a:t>
            </a:r>
            <a:r>
              <a:rPr lang="en-US" altLang="zh-CN" sz="2600" b="1" i="1" baseline="-30000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时，每个位置都有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k 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种选法，得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6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grpSp>
        <p:nvGrpSpPr>
          <p:cNvPr id="3" name="Group 13">
            <a:extLst>
              <a:ext uri="{FF2B5EF4-FFF2-40B4-BE49-F238E27FC236}">
                <a16:creationId xmlns:a16="http://schemas.microsoft.com/office/drawing/2014/main" id="{4D2BF7A0-2537-4262-A9CF-08DCABA4BB04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1844675"/>
            <a:ext cx="7704138" cy="1770063"/>
            <a:chOff x="567" y="1424"/>
            <a:chExt cx="4853" cy="1115"/>
          </a:xfrm>
        </p:grpSpPr>
        <p:sp>
          <p:nvSpPr>
            <p:cNvPr id="4106" name="Rectangle 10">
              <a:extLst>
                <a:ext uri="{FF2B5EF4-FFF2-40B4-BE49-F238E27FC236}">
                  <a16:creationId xmlns:a16="http://schemas.microsoft.com/office/drawing/2014/main" id="{7173BC9D-CCFE-4A15-AFC0-4777FAAF82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" y="1424"/>
              <a:ext cx="4853" cy="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6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r</a:t>
              </a:r>
              <a:r>
                <a:rPr lang="en-US" altLang="zh-CN" sz="2600" b="1"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zh-CN" altLang="en-US" sz="2600" b="1">
                  <a:latin typeface="Times New Roman" panose="02020603050405020304" pitchFamily="18" charset="0"/>
                  <a:sym typeface="Symbol" panose="05050102010706020507" pitchFamily="18" charset="2"/>
                </a:rPr>
                <a:t>排列的计数结果</a:t>
              </a:r>
            </a:p>
            <a:p>
              <a:pPr>
                <a:lnSpc>
                  <a:spcPct val="120000"/>
                </a:lnSpc>
              </a:pPr>
              <a:r>
                <a:rPr lang="zh-CN" altLang="en-US" sz="2600" b="1">
                  <a:latin typeface="Times New Roman" panose="02020603050405020304" pitchFamily="18" charset="0"/>
                  <a:sym typeface="Symbol" panose="05050102010706020507" pitchFamily="18" charset="2"/>
                </a:rPr>
                <a:t>  </a:t>
              </a:r>
              <a:r>
                <a:rPr lang="en-US" altLang="zh-CN" sz="2600" b="1">
                  <a:latin typeface="Times New Roman" panose="02020603050405020304" pitchFamily="18" charset="0"/>
                  <a:sym typeface="Symbol" panose="05050102010706020507" pitchFamily="18" charset="2"/>
                </a:rPr>
                <a:t>(1) </a:t>
              </a:r>
              <a:r>
                <a:rPr lang="zh-CN" altLang="en-US" sz="2600" b="1">
                  <a:latin typeface="Times New Roman" panose="02020603050405020304" pitchFamily="18" charset="0"/>
                  <a:sym typeface="Symbol" panose="05050102010706020507" pitchFamily="18" charset="2"/>
                </a:rPr>
                <a:t>全排列 </a:t>
              </a:r>
              <a:r>
                <a:rPr lang="en-US" altLang="zh-CN" sz="26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r </a:t>
              </a:r>
              <a:r>
                <a:rPr lang="en-US" altLang="zh-CN" sz="2600" b="1">
                  <a:latin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lang="en-US" altLang="zh-CN" sz="26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n</a:t>
              </a:r>
              <a:r>
                <a:rPr lang="en-US" altLang="zh-CN" sz="2600" b="1">
                  <a:latin typeface="Times New Roman" panose="02020603050405020304" pitchFamily="18" charset="0"/>
                  <a:sym typeface="Symbol" panose="05050102010706020507" pitchFamily="18" charset="2"/>
                </a:rPr>
                <a:t>,  </a:t>
              </a:r>
              <a:r>
                <a:rPr lang="en-US" altLang="zh-CN" sz="26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n</a:t>
              </a:r>
              <a:r>
                <a:rPr lang="en-US" altLang="zh-CN" sz="2600" b="1" baseline="-30000">
                  <a:latin typeface="Times New Roman" panose="02020603050405020304" pitchFamily="18" charset="0"/>
                  <a:sym typeface="Symbol" panose="05050102010706020507" pitchFamily="18" charset="2"/>
                </a:rPr>
                <a:t>1 </a:t>
              </a:r>
              <a:r>
                <a:rPr lang="en-US" altLang="zh-CN" sz="2600" b="1">
                  <a:latin typeface="Times New Roman" panose="02020603050405020304" pitchFamily="18" charset="0"/>
                  <a:sym typeface="Symbol" panose="05050102010706020507" pitchFamily="18" charset="2"/>
                </a:rPr>
                <a:t>+ </a:t>
              </a:r>
              <a:r>
                <a:rPr lang="en-US" altLang="zh-CN" sz="26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n</a:t>
              </a:r>
              <a:r>
                <a:rPr lang="en-US" altLang="zh-CN" sz="2600" b="1" baseline="-30000">
                  <a:latin typeface="Times New Roman" panose="02020603050405020304" pitchFamily="18" charset="0"/>
                  <a:sym typeface="Symbol" panose="05050102010706020507" pitchFamily="18" charset="2"/>
                </a:rPr>
                <a:t>2 </a:t>
              </a:r>
              <a:r>
                <a:rPr lang="en-US" altLang="zh-CN" sz="2600" b="1">
                  <a:latin typeface="Times New Roman" panose="02020603050405020304" pitchFamily="18" charset="0"/>
                  <a:sym typeface="Symbol" panose="05050102010706020507" pitchFamily="18" charset="2"/>
                </a:rPr>
                <a:t>+ … + </a:t>
              </a:r>
              <a:r>
                <a:rPr lang="en-US" altLang="zh-CN" sz="26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n</a:t>
              </a:r>
              <a:r>
                <a:rPr lang="en-US" altLang="zh-CN" sz="2600" b="1" i="1" baseline="-30000">
                  <a:latin typeface="Times New Roman" panose="02020603050405020304" pitchFamily="18" charset="0"/>
                  <a:sym typeface="Symbol" panose="05050102010706020507" pitchFamily="18" charset="2"/>
                </a:rPr>
                <a:t>k</a:t>
              </a:r>
              <a:r>
                <a:rPr lang="en-US" altLang="zh-CN" sz="2600" b="1" baseline="-30000"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2600" b="1">
                  <a:latin typeface="Times New Roman" panose="02020603050405020304" pitchFamily="18" charset="0"/>
                  <a:sym typeface="Symbol" panose="05050102010706020507" pitchFamily="18" charset="2"/>
                </a:rPr>
                <a:t>=</a:t>
              </a:r>
              <a:r>
                <a:rPr lang="en-US" altLang="zh-CN" sz="26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 n </a:t>
              </a:r>
              <a:endPara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graphicFrame>
          <p:nvGraphicFramePr>
            <p:cNvPr id="4098" name="Object 11">
              <a:extLst>
                <a:ext uri="{FF2B5EF4-FFF2-40B4-BE49-F238E27FC236}">
                  <a16:creationId xmlns:a16="http://schemas.microsoft.com/office/drawing/2014/main" id="{B4A369B5-282D-4909-95A5-F5B6D2C5B32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19" y="1979"/>
            <a:ext cx="1406" cy="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1" name="公式" r:id="rId6" imgW="1117440" imgH="444240" progId="Equation.3">
                    <p:embed/>
                  </p:oleObj>
                </mc:Choice>
                <mc:Fallback>
                  <p:oleObj name="公式" r:id="rId6" imgW="1117440" imgH="44424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9" y="1979"/>
                          <a:ext cx="1406" cy="5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96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9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67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>
            <a:extLst>
              <a:ext uri="{FF2B5EF4-FFF2-40B4-BE49-F238E27FC236}">
                <a16:creationId xmlns:a16="http://schemas.microsoft.com/office/drawing/2014/main" id="{75CE0BCA-1F9C-45C4-8811-75900882CC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706438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多重集的组合</a:t>
            </a:r>
          </a:p>
        </p:txBody>
      </p:sp>
      <p:sp>
        <p:nvSpPr>
          <p:cNvPr id="5123" name="灯片编号占位符 4">
            <a:extLst>
              <a:ext uri="{FF2B5EF4-FFF2-40B4-BE49-F238E27FC236}">
                <a16:creationId xmlns:a16="http://schemas.microsoft.com/office/drawing/2014/main" id="{1E6C75CE-0834-4C99-A5F7-6FC1D743C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126163"/>
            <a:ext cx="21336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E4B5AF3-8D31-4BA3-9C0F-D238721538C6}" type="slidenum">
              <a:rPr lang="en-US" altLang="zh-CN">
                <a:solidFill>
                  <a:srgbClr val="898989"/>
                </a:solidFill>
              </a:rPr>
              <a:pPr eaLnBrk="1" hangingPunct="1"/>
              <a:t>13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5125" name="Rectangle 3">
            <a:extLst>
              <a:ext uri="{FF2B5EF4-FFF2-40B4-BE49-F238E27FC236}">
                <a16:creationId xmlns:a16="http://schemas.microsoft.com/office/drawing/2014/main" id="{CFE563E1-1F24-4FDA-97BA-A32F65484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836613"/>
            <a:ext cx="7704137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857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600" b="1">
                <a:latin typeface="Times New Roman" panose="02020603050405020304" pitchFamily="18" charset="0"/>
              </a:rPr>
              <a:t>多重集 </a:t>
            </a:r>
            <a:r>
              <a:rPr lang="en-US" altLang="zh-CN" sz="2600" b="1" i="1">
                <a:latin typeface="Times New Roman" panose="02020603050405020304" pitchFamily="18" charset="0"/>
              </a:rPr>
              <a:t>S</a:t>
            </a:r>
            <a:r>
              <a:rPr lang="en-US" altLang="zh-CN" sz="2600" b="1">
                <a:latin typeface="Times New Roman" panose="02020603050405020304" pitchFamily="18" charset="0"/>
              </a:rPr>
              <a:t>={ </a:t>
            </a:r>
            <a:r>
              <a:rPr lang="en-US" altLang="zh-CN" sz="2600" b="1" i="1">
                <a:latin typeface="Times New Roman" panose="02020603050405020304" pitchFamily="18" charset="0"/>
              </a:rPr>
              <a:t>n</a:t>
            </a:r>
            <a:r>
              <a:rPr lang="en-US" altLang="zh-CN" sz="26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600" b="1" i="1">
                <a:latin typeface="Times New Roman" panose="02020603050405020304" pitchFamily="18" charset="0"/>
              </a:rPr>
              <a:t>a</a:t>
            </a:r>
            <a:r>
              <a:rPr lang="en-US" altLang="zh-CN" sz="26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6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600" b="1" i="1">
                <a:latin typeface="Times New Roman" panose="02020603050405020304" pitchFamily="18" charset="0"/>
              </a:rPr>
              <a:t>a</a:t>
            </a:r>
            <a:r>
              <a:rPr lang="en-US" altLang="zh-CN" sz="26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600" b="1">
                <a:sym typeface="Symbol" panose="05050102010706020507" pitchFamily="18" charset="2"/>
              </a:rPr>
              <a:t>…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6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600" b="1" i="1">
                <a:latin typeface="Times New Roman" panose="02020603050405020304" pitchFamily="18" charset="0"/>
              </a:rPr>
              <a:t>a</a:t>
            </a:r>
            <a:r>
              <a:rPr lang="en-US" altLang="zh-CN" sz="26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的组合数为</a:t>
            </a:r>
            <a:endParaRPr lang="zh-CN" altLang="en-US" sz="26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             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600" b="1">
                <a:latin typeface="Times New Roman" panose="02020603050405020304" pitchFamily="18" charset="0"/>
              </a:rPr>
              <a:t>1,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), 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当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 </a:t>
            </a:r>
            <a:r>
              <a:rPr lang="en-US" altLang="zh-CN" sz="2600" b="1">
                <a:latin typeface="Times New Roman" panose="02020603050405020304" pitchFamily="18" charset="0"/>
              </a:rPr>
              <a:t>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6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6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5126" name="Rectangle 4">
            <a:extLst>
              <a:ext uri="{FF2B5EF4-FFF2-40B4-BE49-F238E27FC236}">
                <a16:creationId xmlns:a16="http://schemas.microsoft.com/office/drawing/2014/main" id="{4261055B-F829-4167-B1CE-82CB0E55D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170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71717" name="Rectangle 5">
            <a:extLst>
              <a:ext uri="{FF2B5EF4-FFF2-40B4-BE49-F238E27FC236}">
                <a16:creationId xmlns:a16="http://schemas.microsoft.com/office/drawing/2014/main" id="{42344C82-000E-4075-8043-76815B123B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903413"/>
            <a:ext cx="7345362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600" b="1">
                <a:latin typeface="Times New Roman" panose="02020603050405020304" pitchFamily="18" charset="0"/>
              </a:rPr>
              <a:t>证明  一个</a:t>
            </a:r>
            <a:r>
              <a:rPr lang="en-US" altLang="zh-CN" sz="2600" b="1" i="1">
                <a:latin typeface="Times New Roman" panose="02020603050405020304" pitchFamily="18" charset="0"/>
              </a:rPr>
              <a:t>r </a:t>
            </a:r>
            <a:r>
              <a:rPr lang="zh-CN" altLang="en-US" sz="2600" b="1">
                <a:latin typeface="Times New Roman" panose="02020603050405020304" pitchFamily="18" charset="0"/>
              </a:rPr>
              <a:t>组合为</a:t>
            </a:r>
            <a:endParaRPr lang="zh-CN" altLang="en-US" sz="26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600" b="1">
                <a:latin typeface="Times New Roman" panose="02020603050405020304" pitchFamily="18" charset="0"/>
              </a:rPr>
              <a:t>             </a:t>
            </a:r>
            <a:r>
              <a:rPr lang="en-US" altLang="zh-CN" sz="2600" b="1">
                <a:latin typeface="Times New Roman" panose="02020603050405020304" pitchFamily="18" charset="0"/>
              </a:rPr>
              <a:t>{ </a:t>
            </a:r>
            <a:r>
              <a:rPr lang="en-US" altLang="zh-CN" sz="2600" b="1" i="1">
                <a:latin typeface="Times New Roman" panose="02020603050405020304" pitchFamily="18" charset="0"/>
              </a:rPr>
              <a:t>x</a:t>
            </a:r>
            <a:r>
              <a:rPr lang="en-US" altLang="zh-CN" sz="26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600" b="1" i="1">
                <a:latin typeface="Times New Roman" panose="02020603050405020304" pitchFamily="18" charset="0"/>
              </a:rPr>
              <a:t>a</a:t>
            </a:r>
            <a:r>
              <a:rPr lang="en-US" altLang="zh-CN" sz="26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6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600" b="1" i="1">
                <a:latin typeface="Times New Roman" panose="02020603050405020304" pitchFamily="18" charset="0"/>
              </a:rPr>
              <a:t>a</a:t>
            </a:r>
            <a:r>
              <a:rPr lang="en-US" altLang="zh-CN" sz="26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600" b="1">
                <a:sym typeface="Symbol" panose="05050102010706020507" pitchFamily="18" charset="2"/>
              </a:rPr>
              <a:t>…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6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600" b="1" i="1">
                <a:latin typeface="Times New Roman" panose="02020603050405020304" pitchFamily="18" charset="0"/>
              </a:rPr>
              <a:t>a</a:t>
            </a:r>
            <a:r>
              <a:rPr lang="en-US" altLang="zh-CN" sz="26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k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，  </a:t>
            </a:r>
            <a:endParaRPr lang="zh-CN" altLang="en-US" sz="26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其中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6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+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6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 + </a:t>
            </a:r>
            <a:r>
              <a:rPr lang="en-US" altLang="zh-CN" sz="2600" b="1">
                <a:sym typeface="Symbol" panose="05050102010706020507" pitchFamily="18" charset="2"/>
              </a:rPr>
              <a:t>…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 +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6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6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为非负整数</a:t>
            </a:r>
            <a:endParaRPr lang="zh-CN" altLang="en-US" sz="26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71718" name="Rectangle 6">
            <a:extLst>
              <a:ext uri="{FF2B5EF4-FFF2-40B4-BE49-F238E27FC236}">
                <a16:creationId xmlns:a16="http://schemas.microsoft.com/office/drawing/2014/main" id="{1960270C-3B2D-445C-9E29-811CE449A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3454400"/>
            <a:ext cx="7345362" cy="148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这个不定方程的非负整数解对应于下述排列</a:t>
            </a:r>
            <a:endParaRPr lang="zh-CN" altLang="en-US" sz="26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           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600" b="1">
                <a:sym typeface="Symbol" panose="05050102010706020507" pitchFamily="18" charset="2"/>
              </a:rPr>
              <a:t>…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600" b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6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1</a:t>
            </a:r>
            <a:r>
              <a:rPr lang="en-US" altLang="zh-CN" sz="2600" b="1">
                <a:solidFill>
                  <a:schemeClr val="tx2"/>
                </a:solidFill>
                <a:sym typeface="Symbol" panose="05050102010706020507" pitchFamily="18" charset="2"/>
              </a:rPr>
              <a:t>…</a:t>
            </a:r>
            <a:r>
              <a:rPr lang="en-US" altLang="zh-CN" sz="26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600" b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6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1</a:t>
            </a:r>
            <a:r>
              <a:rPr lang="en-US" altLang="zh-CN" sz="2600" b="1">
                <a:solidFill>
                  <a:schemeClr val="tx2"/>
                </a:solidFill>
                <a:sym typeface="Symbol" panose="05050102010706020507" pitchFamily="18" charset="2"/>
              </a:rPr>
              <a:t>…</a:t>
            </a:r>
            <a:r>
              <a:rPr lang="en-US" altLang="zh-CN" sz="26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600" b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6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600" b="1">
                <a:solidFill>
                  <a:schemeClr val="tx2"/>
                </a:solidFill>
                <a:sym typeface="Symbol" panose="05050102010706020507" pitchFamily="18" charset="2"/>
              </a:rPr>
              <a:t>……</a:t>
            </a:r>
            <a:r>
              <a:rPr lang="en-US" altLang="zh-CN" sz="26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600" b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6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1</a:t>
            </a:r>
            <a:r>
              <a:rPr lang="en-US" altLang="zh-CN" sz="2600" b="1">
                <a:solidFill>
                  <a:schemeClr val="tx2"/>
                </a:solidFill>
                <a:sym typeface="Symbol" panose="05050102010706020507" pitchFamily="18" charset="2"/>
              </a:rPr>
              <a:t>…</a:t>
            </a:r>
            <a:r>
              <a:rPr lang="en-US" altLang="zh-CN" sz="26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 </a:t>
            </a:r>
            <a:endParaRPr lang="en-US" altLang="zh-CN" sz="26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             x</a:t>
            </a:r>
            <a:r>
              <a:rPr lang="en-US" altLang="zh-CN" sz="26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个   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6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个    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6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个               </a:t>
            </a:r>
            <a:r>
              <a:rPr lang="zh-CN" altLang="en-US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6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6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zh-CN" altLang="en-US" sz="2600" b="1">
                <a:latin typeface="Times New Roman" panose="02020603050405020304" pitchFamily="18" charset="0"/>
                <a:sym typeface="Symbol" panose="05050102010706020507" pitchFamily="18" charset="2"/>
              </a:rPr>
              <a:t>个</a:t>
            </a:r>
            <a:endParaRPr lang="zh-CN" altLang="en-US" sz="26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0E656E26-DA8C-437B-B98F-124A64D18D87}"/>
              </a:ext>
            </a:extLst>
          </p:cNvPr>
          <p:cNvGrpSpPr>
            <a:grpSpLocks/>
          </p:cNvGrpSpPr>
          <p:nvPr/>
        </p:nvGrpSpPr>
        <p:grpSpPr bwMode="auto">
          <a:xfrm>
            <a:off x="971550" y="5051425"/>
            <a:ext cx="7345363" cy="1401763"/>
            <a:chOff x="612" y="3249"/>
            <a:chExt cx="4627" cy="883"/>
          </a:xfrm>
        </p:grpSpPr>
        <p:graphicFrame>
          <p:nvGraphicFramePr>
            <p:cNvPr id="5122" name="Object 8">
              <a:extLst>
                <a:ext uri="{FF2B5EF4-FFF2-40B4-BE49-F238E27FC236}">
                  <a16:creationId xmlns:a16="http://schemas.microsoft.com/office/drawing/2014/main" id="{040BFFA2-D463-43FB-8AE2-AD4F3C7EA78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38" y="3611"/>
            <a:ext cx="2359" cy="5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2" name="公式" r:id="rId4" imgW="1828800" imgH="406080" progId="Equation.3">
                    <p:embed/>
                  </p:oleObj>
                </mc:Choice>
                <mc:Fallback>
                  <p:oleObj name="公式" r:id="rId4" imgW="1828800" imgH="40608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8" y="3611"/>
                          <a:ext cx="2359" cy="52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30" name="Rectangle 9">
              <a:extLst>
                <a:ext uri="{FF2B5EF4-FFF2-40B4-BE49-F238E27FC236}">
                  <a16:creationId xmlns:a16="http://schemas.microsoft.com/office/drawing/2014/main" id="{0C05CED7-152D-4D46-8C68-E651EC0A30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" y="3249"/>
              <a:ext cx="4627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en-US" altLang="zh-CN" sz="26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r</a:t>
              </a:r>
              <a:r>
                <a:rPr lang="zh-CN" altLang="en-US" sz="2600" b="1">
                  <a:latin typeface="Times New Roman" panose="02020603050405020304" pitchFamily="18" charset="0"/>
                  <a:sym typeface="Symbol" panose="05050102010706020507" pitchFamily="18" charset="2"/>
                </a:rPr>
                <a:t>个</a:t>
              </a:r>
              <a:r>
                <a:rPr lang="en-US" altLang="zh-CN" sz="2600" b="1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lang="zh-CN" altLang="en-US" sz="2600" b="1">
                  <a:latin typeface="Times New Roman" panose="02020603050405020304" pitchFamily="18" charset="0"/>
                  <a:sym typeface="Symbol" panose="05050102010706020507" pitchFamily="18" charset="2"/>
                </a:rPr>
                <a:t>，</a:t>
              </a:r>
              <a:r>
                <a:rPr lang="en-US" altLang="zh-CN" sz="26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k</a:t>
              </a:r>
              <a:r>
                <a:rPr lang="en-US" altLang="zh-CN" sz="2600" b="1">
                  <a:latin typeface="Times New Roman" panose="02020603050405020304" pitchFamily="18" charset="0"/>
                  <a:sym typeface="Symbol" panose="05050102010706020507" pitchFamily="18" charset="2"/>
                </a:rPr>
                <a:t>1</a:t>
              </a:r>
              <a:r>
                <a:rPr lang="zh-CN" altLang="en-US" sz="2600" b="1">
                  <a:latin typeface="Times New Roman" panose="02020603050405020304" pitchFamily="18" charset="0"/>
                  <a:sym typeface="Symbol" panose="05050102010706020507" pitchFamily="18" charset="2"/>
                </a:rPr>
                <a:t>个</a:t>
              </a:r>
              <a:r>
                <a:rPr lang="en-US" altLang="zh-CN" sz="2600" b="1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r>
                <a:rPr lang="zh-CN" altLang="en-US" sz="2600" b="1">
                  <a:latin typeface="Times New Roman" panose="02020603050405020304" pitchFamily="18" charset="0"/>
                  <a:sym typeface="Symbol" panose="05050102010706020507" pitchFamily="18" charset="2"/>
                </a:rPr>
                <a:t>的全排列数为</a:t>
              </a:r>
              <a:r>
                <a:rPr lang="zh-CN" altLang="en-US" sz="26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           </a:t>
              </a:r>
              <a:endParaRPr lang="zh-CN" altLang="en-US" sz="26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1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1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1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1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1717" grpId="0"/>
      <p:bldP spid="3717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2">
            <a:extLst>
              <a:ext uri="{FF2B5EF4-FFF2-40B4-BE49-F238E27FC236}">
                <a16:creationId xmlns:a16="http://schemas.microsoft.com/office/drawing/2014/main" id="{7A51ABBC-18B5-434E-B755-54B5F6244B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504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</a:t>
            </a:r>
          </a:p>
        </p:txBody>
      </p:sp>
      <p:sp>
        <p:nvSpPr>
          <p:cNvPr id="48130" name="灯片编号占位符 4">
            <a:extLst>
              <a:ext uri="{FF2B5EF4-FFF2-40B4-BE49-F238E27FC236}">
                <a16:creationId xmlns:a16="http://schemas.microsoft.com/office/drawing/2014/main" id="{5773FDC2-9BCD-4F60-848B-B6A72D455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6B2483E-69E9-44B7-BFCA-35541DF6F6CA}" type="slidenum">
              <a:rPr lang="en-US" altLang="zh-CN">
                <a:solidFill>
                  <a:srgbClr val="898989"/>
                </a:solidFill>
              </a:rPr>
              <a:pPr eaLnBrk="1" hangingPunct="1"/>
              <a:t>14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9090C733-EC86-4D34-9A43-AEACE3DB0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125538"/>
            <a:ext cx="806450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600" b="1">
                <a:solidFill>
                  <a:srgbClr val="C0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600" b="1">
                <a:solidFill>
                  <a:srgbClr val="C00000"/>
                </a:solidFill>
                <a:latin typeface="Times New Roman" panose="02020603050405020304" pitchFamily="18" charset="0"/>
              </a:rPr>
              <a:t>3  </a:t>
            </a:r>
            <a:r>
              <a:rPr lang="en-US" altLang="zh-CN" sz="2600" b="1" i="1">
                <a:latin typeface="Times New Roman" panose="02020603050405020304" pitchFamily="18" charset="0"/>
              </a:rPr>
              <a:t>r </a:t>
            </a:r>
            <a:r>
              <a:rPr lang="zh-CN" altLang="en-US" sz="2600" b="1">
                <a:latin typeface="Times New Roman" panose="02020603050405020304" pitchFamily="18" charset="0"/>
              </a:rPr>
              <a:t>个相同的球放到 </a:t>
            </a:r>
            <a:r>
              <a:rPr lang="en-US" altLang="zh-CN" sz="2600" b="1" i="1">
                <a:latin typeface="Times New Roman" panose="02020603050405020304" pitchFamily="18" charset="0"/>
              </a:rPr>
              <a:t>n</a:t>
            </a:r>
            <a:r>
              <a:rPr lang="zh-CN" altLang="en-US" sz="2600" b="1">
                <a:latin typeface="Times New Roman" panose="02020603050405020304" pitchFamily="18" charset="0"/>
              </a:rPr>
              <a:t>个不同的盒子里，每个盒子球数不限，求放球方法数</a:t>
            </a:r>
            <a:r>
              <a:rPr lang="en-US" altLang="zh-CN" sz="2600" b="1">
                <a:latin typeface="Times New Roman" panose="02020603050405020304" pitchFamily="18" charset="0"/>
              </a:rPr>
              <a:t>.</a:t>
            </a:r>
            <a:endParaRPr lang="en-US" altLang="zh-CN" sz="26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600" b="1">
                <a:latin typeface="Times New Roman" panose="02020603050405020304" pitchFamily="18" charset="0"/>
              </a:rPr>
              <a:t>解： 设盒子的球数依次记为 </a:t>
            </a:r>
            <a:r>
              <a:rPr lang="en-US" altLang="zh-CN" sz="2600" b="1" i="1">
                <a:latin typeface="Times New Roman" panose="02020603050405020304" pitchFamily="18" charset="0"/>
              </a:rPr>
              <a:t>x</a:t>
            </a:r>
            <a:r>
              <a:rPr lang="en-US" altLang="zh-CN" sz="26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600" b="1">
                <a:latin typeface="Times New Roman" panose="02020603050405020304" pitchFamily="18" charset="0"/>
              </a:rPr>
              <a:t>, </a:t>
            </a:r>
            <a:r>
              <a:rPr lang="en-US" altLang="zh-CN" sz="2600" b="1" i="1">
                <a:latin typeface="Times New Roman" panose="02020603050405020304" pitchFamily="18" charset="0"/>
              </a:rPr>
              <a:t>x</a:t>
            </a:r>
            <a:r>
              <a:rPr lang="en-US" altLang="zh-CN" sz="26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600" b="1">
                <a:latin typeface="Times New Roman" panose="02020603050405020304" pitchFamily="18" charset="0"/>
              </a:rPr>
              <a:t>, </a:t>
            </a:r>
            <a:r>
              <a:rPr lang="en-US" altLang="zh-CN" sz="2600" b="1"/>
              <a:t>…</a:t>
            </a:r>
            <a:r>
              <a:rPr lang="en-US" altLang="zh-CN" sz="2600" b="1">
                <a:latin typeface="Times New Roman" panose="02020603050405020304" pitchFamily="18" charset="0"/>
              </a:rPr>
              <a:t> , </a:t>
            </a:r>
            <a:r>
              <a:rPr lang="en-US" altLang="zh-CN" sz="2600" b="1" i="1">
                <a:latin typeface="Times New Roman" panose="02020603050405020304" pitchFamily="18" charset="0"/>
              </a:rPr>
              <a:t>x</a:t>
            </a:r>
            <a:r>
              <a:rPr lang="en-US" altLang="zh-CN" sz="2600" b="1" i="1" baseline="-25000">
                <a:latin typeface="Times New Roman" panose="02020603050405020304" pitchFamily="18" charset="0"/>
              </a:rPr>
              <a:t>n</a:t>
            </a:r>
            <a:r>
              <a:rPr lang="en-US" altLang="zh-CN" sz="2600" b="1">
                <a:latin typeface="Times New Roman" panose="02020603050405020304" pitchFamily="18" charset="0"/>
              </a:rPr>
              <a:t>, </a:t>
            </a:r>
            <a:r>
              <a:rPr lang="zh-CN" altLang="en-US" sz="2600" b="1">
                <a:latin typeface="Times New Roman" panose="02020603050405020304" pitchFamily="18" charset="0"/>
              </a:rPr>
              <a:t>则满足 </a:t>
            </a:r>
            <a:endParaRPr lang="zh-CN" altLang="en-US" sz="26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600" b="1" i="1">
                <a:latin typeface="Times New Roman" panose="02020603050405020304" pitchFamily="18" charset="0"/>
              </a:rPr>
              <a:t>          </a:t>
            </a:r>
            <a:r>
              <a:rPr lang="en-US" altLang="zh-CN" sz="2600" b="1" i="1">
                <a:latin typeface="Times New Roman" panose="02020603050405020304" pitchFamily="18" charset="0"/>
              </a:rPr>
              <a:t>x</a:t>
            </a:r>
            <a:r>
              <a:rPr lang="en-US" altLang="zh-CN" sz="26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600" b="1">
                <a:latin typeface="Times New Roman" panose="02020603050405020304" pitchFamily="18" charset="0"/>
              </a:rPr>
              <a:t> + </a:t>
            </a:r>
            <a:r>
              <a:rPr lang="en-US" altLang="zh-CN" sz="2600" b="1" i="1">
                <a:latin typeface="Times New Roman" panose="02020603050405020304" pitchFamily="18" charset="0"/>
              </a:rPr>
              <a:t>x</a:t>
            </a:r>
            <a:r>
              <a:rPr lang="en-US" altLang="zh-CN" sz="26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600" b="1">
                <a:latin typeface="Times New Roman" panose="02020603050405020304" pitchFamily="18" charset="0"/>
              </a:rPr>
              <a:t> + </a:t>
            </a:r>
            <a:r>
              <a:rPr lang="en-US" altLang="zh-CN" sz="2600" b="1"/>
              <a:t>…</a:t>
            </a:r>
            <a:r>
              <a:rPr lang="en-US" altLang="zh-CN" sz="2600" b="1">
                <a:latin typeface="Times New Roman" panose="02020603050405020304" pitchFamily="18" charset="0"/>
              </a:rPr>
              <a:t> +</a:t>
            </a:r>
            <a:r>
              <a:rPr lang="en-US" altLang="zh-CN" sz="2600" b="1" i="1">
                <a:latin typeface="Times New Roman" panose="02020603050405020304" pitchFamily="18" charset="0"/>
              </a:rPr>
              <a:t> x</a:t>
            </a:r>
            <a:r>
              <a:rPr lang="en-US" altLang="zh-CN" sz="2600" b="1" i="1" baseline="-25000">
                <a:latin typeface="Times New Roman" panose="02020603050405020304" pitchFamily="18" charset="0"/>
              </a:rPr>
              <a:t>n</a:t>
            </a:r>
            <a:r>
              <a:rPr lang="en-US" altLang="zh-CN" sz="2600" b="1">
                <a:latin typeface="Times New Roman" panose="02020603050405020304" pitchFamily="18" charset="0"/>
              </a:rPr>
              <a:t> = </a:t>
            </a:r>
            <a:r>
              <a:rPr lang="en-US" altLang="zh-CN" sz="2600" b="1" i="1">
                <a:latin typeface="Times New Roman" panose="02020603050405020304" pitchFamily="18" charset="0"/>
              </a:rPr>
              <a:t>r</a:t>
            </a:r>
            <a:r>
              <a:rPr lang="zh-CN" altLang="en-US" sz="2600" b="1">
                <a:latin typeface="Times New Roman" panose="02020603050405020304" pitchFamily="18" charset="0"/>
              </a:rPr>
              <a:t>， </a:t>
            </a:r>
            <a:r>
              <a:rPr lang="en-US" altLang="zh-CN" sz="2600" b="1" i="1">
                <a:latin typeface="Times New Roman" panose="02020603050405020304" pitchFamily="18" charset="0"/>
              </a:rPr>
              <a:t>x</a:t>
            </a:r>
            <a:r>
              <a:rPr lang="en-US" altLang="zh-CN" sz="26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600" b="1">
                <a:latin typeface="Times New Roman" panose="02020603050405020304" pitchFamily="18" charset="0"/>
              </a:rPr>
              <a:t>, </a:t>
            </a:r>
            <a:r>
              <a:rPr lang="en-US" altLang="zh-CN" sz="2600" b="1" i="1">
                <a:latin typeface="Times New Roman" panose="02020603050405020304" pitchFamily="18" charset="0"/>
              </a:rPr>
              <a:t>x</a:t>
            </a:r>
            <a:r>
              <a:rPr lang="en-US" altLang="zh-CN" sz="26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600" b="1">
                <a:latin typeface="Times New Roman" panose="02020603050405020304" pitchFamily="18" charset="0"/>
              </a:rPr>
              <a:t>, </a:t>
            </a:r>
            <a:r>
              <a:rPr lang="en-US" altLang="zh-CN" sz="2600" b="1"/>
              <a:t>…</a:t>
            </a:r>
            <a:r>
              <a:rPr lang="en-US" altLang="zh-CN" sz="2600" b="1">
                <a:latin typeface="Times New Roman" panose="02020603050405020304" pitchFamily="18" charset="0"/>
              </a:rPr>
              <a:t> , </a:t>
            </a:r>
            <a:r>
              <a:rPr lang="en-US" altLang="zh-CN" sz="2600" b="1" i="1">
                <a:latin typeface="Times New Roman" panose="02020603050405020304" pitchFamily="18" charset="0"/>
              </a:rPr>
              <a:t>x</a:t>
            </a:r>
            <a:r>
              <a:rPr lang="en-US" altLang="zh-CN" sz="2600" b="1" i="1" baseline="-25000">
                <a:latin typeface="Times New Roman" panose="02020603050405020304" pitchFamily="18" charset="0"/>
              </a:rPr>
              <a:t>n</a:t>
            </a:r>
            <a:r>
              <a:rPr lang="zh-CN" altLang="en-US" sz="2600" b="1">
                <a:latin typeface="Times New Roman" panose="02020603050405020304" pitchFamily="18" charset="0"/>
              </a:rPr>
              <a:t>为非负整数</a:t>
            </a:r>
            <a:endParaRPr lang="zh-CN" altLang="en-US" sz="26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600" b="1" i="1">
                <a:latin typeface="Times New Roman" panose="02020603050405020304" pitchFamily="18" charset="0"/>
              </a:rPr>
              <a:t>               </a:t>
            </a:r>
            <a:r>
              <a:rPr lang="en-US" altLang="zh-CN" sz="2600" b="1" i="1">
                <a:latin typeface="Times New Roman" panose="02020603050405020304" pitchFamily="18" charset="0"/>
              </a:rPr>
              <a:t>N</a:t>
            </a:r>
            <a:r>
              <a:rPr lang="en-US" altLang="zh-CN" sz="2600" b="1">
                <a:latin typeface="Times New Roman" panose="02020603050405020304" pitchFamily="18" charset="0"/>
              </a:rPr>
              <a:t> = </a:t>
            </a:r>
            <a:r>
              <a:rPr lang="en-US" altLang="zh-CN" sz="2600" b="1" i="1">
                <a:latin typeface="Times New Roman" panose="02020603050405020304" pitchFamily="18" charset="0"/>
              </a:rPr>
              <a:t>C</a:t>
            </a:r>
            <a:r>
              <a:rPr lang="en-US" altLang="zh-CN" sz="2600" b="1">
                <a:latin typeface="Times New Roman" panose="02020603050405020304" pitchFamily="18" charset="0"/>
              </a:rPr>
              <a:t>(</a:t>
            </a:r>
            <a:r>
              <a:rPr lang="en-US" altLang="zh-CN" sz="2600" b="1" i="1">
                <a:latin typeface="Times New Roman" panose="02020603050405020304" pitchFamily="18" charset="0"/>
              </a:rPr>
              <a:t>n+r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600" b="1">
                <a:latin typeface="Times New Roman" panose="02020603050405020304" pitchFamily="18" charset="0"/>
              </a:rPr>
              <a:t>1,</a:t>
            </a:r>
            <a:r>
              <a:rPr lang="en-US" altLang="zh-CN" sz="2600" b="1" i="1">
                <a:latin typeface="Times New Roman" panose="02020603050405020304" pitchFamily="18" charset="0"/>
              </a:rPr>
              <a:t> r</a:t>
            </a:r>
            <a:r>
              <a:rPr lang="en-US" altLang="zh-CN" sz="2600" b="1">
                <a:latin typeface="Times New Roman" panose="02020603050405020304" pitchFamily="18" charset="0"/>
              </a:rPr>
              <a:t>)</a:t>
            </a:r>
            <a:r>
              <a:rPr lang="en-US" altLang="zh-CN" sz="26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73764" name="Rectangle 4">
            <a:extLst>
              <a:ext uri="{FF2B5EF4-FFF2-40B4-BE49-F238E27FC236}">
                <a16:creationId xmlns:a16="http://schemas.microsoft.com/office/drawing/2014/main" id="{971CEE38-507D-418B-9437-FB5A9A3B6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573463"/>
            <a:ext cx="7704137" cy="265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600" b="1">
                <a:solidFill>
                  <a:srgbClr val="C0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600" b="1">
                <a:solidFill>
                  <a:srgbClr val="C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600" b="1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600" b="1">
                <a:latin typeface="Times New Roman" panose="02020603050405020304" pitchFamily="18" charset="0"/>
              </a:rPr>
              <a:t>排列 </a:t>
            </a:r>
            <a:r>
              <a:rPr lang="en-US" altLang="zh-CN" sz="2600" b="1">
                <a:latin typeface="Times New Roman" panose="02020603050405020304" pitchFamily="18" charset="0"/>
              </a:rPr>
              <a:t>26</a:t>
            </a:r>
            <a:r>
              <a:rPr lang="zh-CN" altLang="en-US" sz="2600" b="1">
                <a:latin typeface="Times New Roman" panose="02020603050405020304" pitchFamily="18" charset="0"/>
              </a:rPr>
              <a:t>个字母，使得 </a:t>
            </a:r>
            <a:r>
              <a:rPr lang="en-US" altLang="zh-CN" sz="2600" b="1" i="1">
                <a:latin typeface="Times New Roman" panose="02020603050405020304" pitchFamily="18" charset="0"/>
              </a:rPr>
              <a:t>a </a:t>
            </a:r>
            <a:r>
              <a:rPr lang="zh-CN" altLang="en-US" sz="2600" b="1">
                <a:latin typeface="Times New Roman" panose="02020603050405020304" pitchFamily="18" charset="0"/>
              </a:rPr>
              <a:t>与 </a:t>
            </a:r>
            <a:r>
              <a:rPr lang="en-US" altLang="zh-CN" sz="2600" b="1" i="1">
                <a:latin typeface="Times New Roman" panose="02020603050405020304" pitchFamily="18" charset="0"/>
              </a:rPr>
              <a:t>b </a:t>
            </a:r>
            <a:r>
              <a:rPr lang="zh-CN" altLang="en-US" sz="2600" b="1">
                <a:latin typeface="Times New Roman" panose="02020603050405020304" pitchFamily="18" charset="0"/>
              </a:rPr>
              <a:t>之间恰有</a:t>
            </a:r>
            <a:r>
              <a:rPr lang="en-US" altLang="zh-CN" sz="2600" b="1">
                <a:latin typeface="Times New Roman" panose="02020603050405020304" pitchFamily="18" charset="0"/>
              </a:rPr>
              <a:t>7</a:t>
            </a:r>
            <a:r>
              <a:rPr lang="zh-CN" altLang="en-US" sz="2600" b="1">
                <a:latin typeface="Times New Roman" panose="02020603050405020304" pitchFamily="18" charset="0"/>
              </a:rPr>
              <a:t>个字母，求方法数</a:t>
            </a:r>
            <a:r>
              <a:rPr lang="en-US" altLang="zh-CN" sz="2600" b="1">
                <a:latin typeface="Times New Roman" panose="02020603050405020304" pitchFamily="18" charset="0"/>
              </a:rPr>
              <a:t>.</a:t>
            </a:r>
            <a:endParaRPr lang="en-US" altLang="zh-CN" sz="26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40000"/>
              </a:spcBef>
            </a:pPr>
            <a:r>
              <a:rPr lang="zh-CN" altLang="en-US" sz="2600" b="1">
                <a:latin typeface="Times New Roman" panose="02020603050405020304" pitchFamily="18" charset="0"/>
              </a:rPr>
              <a:t>解： 固定</a:t>
            </a:r>
            <a:r>
              <a:rPr lang="en-US" altLang="zh-CN" sz="2600" b="1" i="1">
                <a:latin typeface="Times New Roman" panose="02020603050405020304" pitchFamily="18" charset="0"/>
              </a:rPr>
              <a:t>a </a:t>
            </a:r>
            <a:r>
              <a:rPr lang="zh-CN" altLang="en-US" sz="2600" b="1">
                <a:latin typeface="Times New Roman" panose="02020603050405020304" pitchFamily="18" charset="0"/>
              </a:rPr>
              <a:t>和 </a:t>
            </a:r>
            <a:r>
              <a:rPr lang="en-US" altLang="zh-CN" sz="2600" b="1" i="1">
                <a:latin typeface="Times New Roman" panose="02020603050405020304" pitchFamily="18" charset="0"/>
              </a:rPr>
              <a:t>b</a:t>
            </a:r>
            <a:r>
              <a:rPr lang="zh-CN" altLang="en-US" sz="2600" b="1">
                <a:latin typeface="Times New Roman" panose="02020603050405020304" pitchFamily="18" charset="0"/>
              </a:rPr>
              <a:t>中间选</a:t>
            </a:r>
            <a:r>
              <a:rPr lang="en-US" altLang="zh-CN" sz="2600" b="1">
                <a:latin typeface="Times New Roman" panose="02020603050405020304" pitchFamily="18" charset="0"/>
              </a:rPr>
              <a:t>7</a:t>
            </a:r>
            <a:r>
              <a:rPr lang="zh-CN" altLang="en-US" sz="2600" b="1">
                <a:latin typeface="Times New Roman" panose="02020603050405020304" pitchFamily="18" charset="0"/>
              </a:rPr>
              <a:t>个字母，有</a:t>
            </a:r>
            <a:r>
              <a:rPr lang="en-US" altLang="zh-CN" sz="2600" b="1">
                <a:latin typeface="Times New Roman" panose="02020603050405020304" pitchFamily="18" charset="0"/>
              </a:rPr>
              <a:t>2</a:t>
            </a:r>
            <a:r>
              <a:rPr lang="en-US" altLang="zh-CN" sz="2600" b="1" i="1">
                <a:latin typeface="Times New Roman" panose="02020603050405020304" pitchFamily="18" charset="0"/>
              </a:rPr>
              <a:t> P</a:t>
            </a:r>
            <a:r>
              <a:rPr lang="en-US" altLang="zh-CN" sz="2600" b="1">
                <a:latin typeface="Times New Roman" panose="02020603050405020304" pitchFamily="18" charset="0"/>
              </a:rPr>
              <a:t>(24,7)</a:t>
            </a:r>
            <a:r>
              <a:rPr lang="zh-CN" altLang="en-US" sz="2600" b="1">
                <a:latin typeface="Times New Roman" panose="02020603050405020304" pitchFamily="18" charset="0"/>
              </a:rPr>
              <a:t>种方法，</a:t>
            </a:r>
            <a:endParaRPr lang="zh-CN" altLang="en-US" sz="26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600" b="1">
                <a:latin typeface="Times New Roman" panose="02020603050405020304" pitchFamily="18" charset="0"/>
              </a:rPr>
              <a:t>将它看作大字母与其余</a:t>
            </a:r>
            <a:r>
              <a:rPr lang="en-US" altLang="zh-CN" sz="2600" b="1">
                <a:latin typeface="Times New Roman" panose="02020603050405020304" pitchFamily="18" charset="0"/>
              </a:rPr>
              <a:t>17</a:t>
            </a:r>
            <a:r>
              <a:rPr lang="zh-CN" altLang="en-US" sz="2600" b="1">
                <a:latin typeface="Times New Roman" panose="02020603050405020304" pitchFamily="18" charset="0"/>
              </a:rPr>
              <a:t>个全排列有</a:t>
            </a:r>
            <a:r>
              <a:rPr lang="en-US" altLang="zh-CN" sz="2600" b="1">
                <a:latin typeface="Times New Roman" panose="02020603050405020304" pitchFamily="18" charset="0"/>
              </a:rPr>
              <a:t>18</a:t>
            </a:r>
            <a:r>
              <a:rPr lang="zh-CN" altLang="en-US" sz="2600" b="1">
                <a:latin typeface="Times New Roman" panose="02020603050405020304" pitchFamily="18" charset="0"/>
              </a:rPr>
              <a:t>！种，因此</a:t>
            </a:r>
            <a:endParaRPr lang="zh-CN" altLang="en-US" sz="26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600" b="1" i="1">
                <a:latin typeface="Times New Roman" panose="02020603050405020304" pitchFamily="18" charset="0"/>
              </a:rPr>
              <a:t>              </a:t>
            </a:r>
            <a:r>
              <a:rPr lang="en-US" altLang="zh-CN" sz="2600" b="1" i="1">
                <a:latin typeface="Times New Roman" panose="02020603050405020304" pitchFamily="18" charset="0"/>
              </a:rPr>
              <a:t>N</a:t>
            </a:r>
            <a:r>
              <a:rPr lang="en-US" altLang="zh-CN" sz="2600" b="1">
                <a:latin typeface="Times New Roman" panose="02020603050405020304" pitchFamily="18" charset="0"/>
              </a:rPr>
              <a:t> = 2 </a:t>
            </a:r>
            <a:r>
              <a:rPr lang="en-US" altLang="zh-CN" sz="2600" b="1" i="1">
                <a:latin typeface="Times New Roman" panose="02020603050405020304" pitchFamily="18" charset="0"/>
              </a:rPr>
              <a:t>P</a:t>
            </a:r>
            <a:r>
              <a:rPr lang="en-US" altLang="zh-CN" sz="2600" b="1">
                <a:latin typeface="Times New Roman" panose="02020603050405020304" pitchFamily="18" charset="0"/>
              </a:rPr>
              <a:t>(24,7) 18!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3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3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76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>
            <a:extLst>
              <a:ext uri="{FF2B5EF4-FFF2-40B4-BE49-F238E27FC236}">
                <a16:creationId xmlns:a16="http://schemas.microsoft.com/office/drawing/2014/main" id="{0F8C72F3-BD9C-44E3-A3AA-9FF8DC487C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552" y="274638"/>
            <a:ext cx="8229600" cy="5619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实例（续）</a:t>
            </a:r>
          </a:p>
        </p:txBody>
      </p:sp>
      <p:sp>
        <p:nvSpPr>
          <p:cNvPr id="6147" name="灯片编号占位符 4">
            <a:extLst>
              <a:ext uri="{FF2B5EF4-FFF2-40B4-BE49-F238E27FC236}">
                <a16:creationId xmlns:a16="http://schemas.microsoft.com/office/drawing/2014/main" id="{27876327-5430-488F-B4ED-F07E28E32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219D600-46A9-4953-96D8-20CBD6CB1A3F}" type="slidenum">
              <a:rPr lang="en-US" altLang="zh-CN">
                <a:solidFill>
                  <a:srgbClr val="898989"/>
                </a:solidFill>
              </a:rPr>
              <a:pPr eaLnBrk="1" hangingPunct="1"/>
              <a:t>15</a:t>
            </a:fld>
            <a:endParaRPr lang="en-US" altLang="zh-CN">
              <a:solidFill>
                <a:srgbClr val="898989"/>
              </a:solidFill>
            </a:endParaRPr>
          </a:p>
        </p:txBody>
      </p:sp>
      <p:grpSp>
        <p:nvGrpSpPr>
          <p:cNvPr id="6149" name="Group 3">
            <a:extLst>
              <a:ext uri="{FF2B5EF4-FFF2-40B4-BE49-F238E27FC236}">
                <a16:creationId xmlns:a16="http://schemas.microsoft.com/office/drawing/2014/main" id="{D5302DAB-3B15-4762-BD4A-5DD3C9EF6350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1216025"/>
            <a:ext cx="7632700" cy="2206625"/>
            <a:chOff x="567" y="1038"/>
            <a:chExt cx="4808" cy="1390"/>
          </a:xfrm>
        </p:grpSpPr>
        <p:sp>
          <p:nvSpPr>
            <p:cNvPr id="6152" name="Rectangle 4">
              <a:extLst>
                <a:ext uri="{FF2B5EF4-FFF2-40B4-BE49-F238E27FC236}">
                  <a16:creationId xmlns:a16="http://schemas.microsoft.com/office/drawing/2014/main" id="{3CE62635-4C26-419A-A864-3513FAF47D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" y="1038"/>
              <a:ext cx="4808" cy="8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600" b="1">
                  <a:solidFill>
                    <a:srgbClr val="A50021"/>
                  </a:solidFill>
                  <a:latin typeface="Times New Roman" panose="02020603050405020304" pitchFamily="18" charset="0"/>
                </a:rPr>
                <a:t>例</a:t>
              </a:r>
              <a:r>
                <a:rPr lang="en-US" altLang="zh-CN" sz="2600" b="1">
                  <a:solidFill>
                    <a:srgbClr val="A50021"/>
                  </a:solidFill>
                  <a:latin typeface="Times New Roman" panose="02020603050405020304" pitchFamily="18" charset="0"/>
                </a:rPr>
                <a:t>5</a:t>
              </a:r>
              <a:r>
                <a:rPr lang="en-US" altLang="zh-CN" sz="2600" b="1">
                  <a:latin typeface="Times New Roman" panose="02020603050405020304" pitchFamily="18" charset="0"/>
                </a:rPr>
                <a:t>  (1) 10</a:t>
              </a:r>
              <a:r>
                <a:rPr lang="zh-CN" altLang="en-US" sz="2600" b="1">
                  <a:latin typeface="Times New Roman" panose="02020603050405020304" pitchFamily="18" charset="0"/>
                </a:rPr>
                <a:t>个男孩，</a:t>
              </a:r>
              <a:r>
                <a:rPr lang="en-US" altLang="zh-CN" sz="2600" b="1">
                  <a:latin typeface="Times New Roman" panose="02020603050405020304" pitchFamily="18" charset="0"/>
                </a:rPr>
                <a:t>5</a:t>
              </a:r>
              <a:r>
                <a:rPr lang="zh-CN" altLang="en-US" sz="2600" b="1">
                  <a:latin typeface="Times New Roman" panose="02020603050405020304" pitchFamily="18" charset="0"/>
                </a:rPr>
                <a:t>个女孩站成一排，若没有女孩相邻，有多少种方法？</a:t>
              </a:r>
              <a:endParaRPr lang="zh-CN" altLang="en-US" sz="2600">
                <a:latin typeface="Times New Roman" panose="02020603050405020304" pitchFamily="18" charset="0"/>
              </a:endParaRPr>
            </a:p>
            <a:p>
              <a:r>
                <a:rPr lang="zh-CN" altLang="en-US" sz="2600" b="1">
                  <a:latin typeface="Times New Roman" panose="02020603050405020304" pitchFamily="18" charset="0"/>
                </a:rPr>
                <a:t>  </a:t>
              </a:r>
              <a:r>
                <a:rPr lang="en-US" altLang="zh-CN" sz="2600" b="1">
                  <a:latin typeface="Times New Roman" panose="02020603050405020304" pitchFamily="18" charset="0"/>
                </a:rPr>
                <a:t>(2)  </a:t>
              </a:r>
              <a:r>
                <a:rPr lang="zh-CN" altLang="en-US" sz="2600" b="1">
                  <a:latin typeface="Times New Roman" panose="02020603050405020304" pitchFamily="18" charset="0"/>
                </a:rPr>
                <a:t>如果站成一个圆圈，有多少种方法？</a:t>
              </a:r>
              <a:endParaRPr lang="zh-CN" altLang="en-US" sz="2600">
                <a:latin typeface="Times New Roman" panose="02020603050405020304" pitchFamily="18" charset="0"/>
              </a:endParaRPr>
            </a:p>
          </p:txBody>
        </p:sp>
        <p:sp>
          <p:nvSpPr>
            <p:cNvPr id="6153" name="Rectangle 5">
              <a:extLst>
                <a:ext uri="{FF2B5EF4-FFF2-40B4-BE49-F238E27FC236}">
                  <a16:creationId xmlns:a16="http://schemas.microsoft.com/office/drawing/2014/main" id="{590B7DE6-6BB6-4855-8F15-4659777987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" y="1866"/>
              <a:ext cx="4808" cy="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600" b="1">
                  <a:latin typeface="Times New Roman" panose="02020603050405020304" pitchFamily="18" charset="0"/>
                </a:rPr>
                <a:t>解</a:t>
              </a:r>
              <a:r>
                <a:rPr lang="en-US" altLang="zh-CN" sz="2600" b="1">
                  <a:latin typeface="Times New Roman" panose="02020603050405020304" pitchFamily="18" charset="0"/>
                </a:rPr>
                <a:t>:  (1) </a:t>
              </a:r>
              <a:r>
                <a:rPr lang="en-US" altLang="zh-CN" sz="2600" b="1" i="1">
                  <a:latin typeface="Times New Roman" panose="02020603050405020304" pitchFamily="18" charset="0"/>
                </a:rPr>
                <a:t>P</a:t>
              </a:r>
              <a:r>
                <a:rPr lang="en-US" altLang="zh-CN" sz="2600" b="1">
                  <a:latin typeface="Times New Roman" panose="02020603050405020304" pitchFamily="18" charset="0"/>
                </a:rPr>
                <a:t>(10,10) </a:t>
              </a:r>
              <a:r>
                <a:rPr lang="en-US" altLang="zh-CN" sz="2600" b="1" i="1">
                  <a:latin typeface="Times New Roman" panose="02020603050405020304" pitchFamily="18" charset="0"/>
                </a:rPr>
                <a:t>P</a:t>
              </a:r>
              <a:r>
                <a:rPr lang="en-US" altLang="zh-CN" sz="2600" b="1">
                  <a:latin typeface="Times New Roman" panose="02020603050405020304" pitchFamily="18" charset="0"/>
                </a:rPr>
                <a:t>(11,5)</a:t>
              </a:r>
              <a:endParaRPr lang="en-US" altLang="zh-CN" sz="2600">
                <a:latin typeface="Times New Roman" panose="02020603050405020304" pitchFamily="18" charset="0"/>
              </a:endParaRPr>
            </a:p>
            <a:p>
              <a:r>
                <a:rPr lang="en-US" altLang="zh-CN" sz="2600" b="1">
                  <a:latin typeface="Times New Roman" panose="02020603050405020304" pitchFamily="18" charset="0"/>
                </a:rPr>
                <a:t> (2) </a:t>
              </a:r>
              <a:r>
                <a:rPr lang="en-US" altLang="zh-CN" sz="2600" b="1" i="1">
                  <a:latin typeface="Times New Roman" panose="02020603050405020304" pitchFamily="18" charset="0"/>
                </a:rPr>
                <a:t>P</a:t>
              </a:r>
              <a:r>
                <a:rPr lang="en-US" altLang="zh-CN" sz="2600" b="1">
                  <a:latin typeface="Times New Roman" panose="02020603050405020304" pitchFamily="18" charset="0"/>
                </a:rPr>
                <a:t>(10,10) </a:t>
              </a:r>
              <a:r>
                <a:rPr lang="en-US" altLang="zh-CN" sz="2600" b="1" i="1">
                  <a:latin typeface="Times New Roman" panose="02020603050405020304" pitchFamily="18" charset="0"/>
                </a:rPr>
                <a:t>P</a:t>
              </a:r>
              <a:r>
                <a:rPr lang="en-US" altLang="zh-CN" sz="2600" b="1">
                  <a:latin typeface="Times New Roman" panose="02020603050405020304" pitchFamily="18" charset="0"/>
                </a:rPr>
                <a:t>(10,5)/10</a:t>
              </a:r>
              <a:endParaRPr lang="en-US" altLang="zh-CN" sz="26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6">
            <a:extLst>
              <a:ext uri="{FF2B5EF4-FFF2-40B4-BE49-F238E27FC236}">
                <a16:creationId xmlns:a16="http://schemas.microsoft.com/office/drawing/2014/main" id="{E64D0788-EA82-4F3C-A140-2ED12E7CDB50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3656013"/>
            <a:ext cx="7632700" cy="2576512"/>
            <a:chOff x="476" y="2303"/>
            <a:chExt cx="4808" cy="1623"/>
          </a:xfrm>
        </p:grpSpPr>
        <p:graphicFrame>
          <p:nvGraphicFramePr>
            <p:cNvPr id="6146" name="Object 7">
              <a:extLst>
                <a:ext uri="{FF2B5EF4-FFF2-40B4-BE49-F238E27FC236}">
                  <a16:creationId xmlns:a16="http://schemas.microsoft.com/office/drawing/2014/main" id="{AD0F4410-40DD-4E72-A275-F05E5604949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38" y="3294"/>
            <a:ext cx="2178" cy="6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5" name="公式" r:id="rId4" imgW="1206500" imgH="419100" progId="Equation.3">
                    <p:embed/>
                  </p:oleObj>
                </mc:Choice>
                <mc:Fallback>
                  <p:oleObj name="公式" r:id="rId4" imgW="1206500" imgH="4191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8" y="3294"/>
                          <a:ext cx="2178" cy="6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51" name="Rectangle 8">
              <a:extLst>
                <a:ext uri="{FF2B5EF4-FFF2-40B4-BE49-F238E27FC236}">
                  <a16:creationId xmlns:a16="http://schemas.microsoft.com/office/drawing/2014/main" id="{E8EC6E2A-2EE6-4495-BCB6-5334EAC2CE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2303"/>
              <a:ext cx="4808" cy="1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600" b="1">
                  <a:solidFill>
                    <a:srgbClr val="A50021"/>
                  </a:solidFill>
                  <a:latin typeface="Times New Roman" panose="02020603050405020304" pitchFamily="18" charset="0"/>
                </a:rPr>
                <a:t>例</a:t>
              </a:r>
              <a:r>
                <a:rPr lang="en-US" altLang="zh-CN" sz="2600" b="1">
                  <a:solidFill>
                    <a:srgbClr val="A50021"/>
                  </a:solidFill>
                  <a:latin typeface="Times New Roman" panose="02020603050405020304" pitchFamily="18" charset="0"/>
                </a:rPr>
                <a:t>6</a:t>
              </a:r>
              <a:r>
                <a:rPr lang="en-US" altLang="zh-CN" sz="2600" b="1">
                  <a:latin typeface="Times New Roman" panose="02020603050405020304" pitchFamily="18" charset="0"/>
                </a:rPr>
                <a:t> </a:t>
              </a:r>
              <a:r>
                <a:rPr lang="zh-CN" altLang="en-US" sz="2600" b="1">
                  <a:latin typeface="Times New Roman" panose="02020603050405020304" pitchFamily="18" charset="0"/>
                </a:rPr>
                <a:t>把 </a:t>
              </a:r>
              <a:r>
                <a:rPr lang="en-US" altLang="zh-CN" sz="2600" b="1">
                  <a:latin typeface="Times New Roman" panose="02020603050405020304" pitchFamily="18" charset="0"/>
                </a:rPr>
                <a:t>2</a:t>
              </a:r>
              <a:r>
                <a:rPr lang="en-US" altLang="zh-CN" sz="2600" b="1" i="1">
                  <a:latin typeface="Times New Roman" panose="02020603050405020304" pitchFamily="18" charset="0"/>
                </a:rPr>
                <a:t>n </a:t>
              </a:r>
              <a:r>
                <a:rPr lang="zh-CN" altLang="en-US" sz="2600" b="1">
                  <a:latin typeface="Times New Roman" panose="02020603050405020304" pitchFamily="18" charset="0"/>
                </a:rPr>
                <a:t>个人分成 </a:t>
              </a:r>
              <a:r>
                <a:rPr lang="en-US" altLang="zh-CN" sz="2600" b="1" i="1">
                  <a:latin typeface="Times New Roman" panose="02020603050405020304" pitchFamily="18" charset="0"/>
                </a:rPr>
                <a:t>n </a:t>
              </a:r>
              <a:r>
                <a:rPr lang="zh-CN" altLang="en-US" sz="2600" b="1">
                  <a:latin typeface="Times New Roman" panose="02020603050405020304" pitchFamily="18" charset="0"/>
                </a:rPr>
                <a:t>组，每组</a:t>
              </a:r>
              <a:r>
                <a:rPr lang="en-US" altLang="zh-CN" sz="2600" b="1">
                  <a:latin typeface="Times New Roman" panose="02020603050405020304" pitchFamily="18" charset="0"/>
                </a:rPr>
                <a:t>2</a:t>
              </a:r>
              <a:r>
                <a:rPr lang="zh-CN" altLang="en-US" sz="2600" b="1">
                  <a:latin typeface="Times New Roman" panose="02020603050405020304" pitchFamily="18" charset="0"/>
                </a:rPr>
                <a:t>人，有多少分法？</a:t>
              </a:r>
              <a:endParaRPr lang="zh-CN" altLang="en-US" sz="2600">
                <a:latin typeface="Times New Roman" panose="02020603050405020304" pitchFamily="18" charset="0"/>
              </a:endParaRPr>
            </a:p>
            <a:p>
              <a:pPr>
                <a:spcBef>
                  <a:spcPct val="40000"/>
                </a:spcBef>
              </a:pPr>
              <a:r>
                <a:rPr lang="zh-CN" altLang="en-US" sz="2600" b="1">
                  <a:latin typeface="Times New Roman" panose="02020603050405020304" pitchFamily="18" charset="0"/>
                </a:rPr>
                <a:t>解：相当于 </a:t>
              </a:r>
              <a:r>
                <a:rPr lang="en-US" altLang="zh-CN" sz="2600" b="1">
                  <a:latin typeface="Times New Roman" panose="02020603050405020304" pitchFamily="18" charset="0"/>
                </a:rPr>
                <a:t>2</a:t>
              </a:r>
              <a:r>
                <a:rPr lang="en-US" altLang="zh-CN" sz="2600" b="1" i="1">
                  <a:latin typeface="Times New Roman" panose="02020603050405020304" pitchFamily="18" charset="0"/>
                </a:rPr>
                <a:t>n </a:t>
              </a:r>
              <a:r>
                <a:rPr lang="zh-CN" altLang="en-US" sz="2600" b="1">
                  <a:latin typeface="Times New Roman" panose="02020603050405020304" pitchFamily="18" charset="0"/>
                </a:rPr>
                <a:t>不同的球放到 </a:t>
              </a:r>
              <a:r>
                <a:rPr lang="en-US" altLang="zh-CN" sz="2600" b="1" i="1">
                  <a:latin typeface="Times New Roman" panose="02020603050405020304" pitchFamily="18" charset="0"/>
                </a:rPr>
                <a:t>n </a:t>
              </a:r>
              <a:r>
                <a:rPr lang="zh-CN" altLang="en-US" sz="2600" b="1">
                  <a:latin typeface="Times New Roman" panose="02020603050405020304" pitchFamily="18" charset="0"/>
                </a:rPr>
                <a:t>个相同的盒子，每个盒子</a:t>
              </a:r>
              <a:r>
                <a:rPr lang="en-US" altLang="zh-CN" sz="2600" b="1">
                  <a:latin typeface="Times New Roman" panose="02020603050405020304" pitchFamily="18" charset="0"/>
                </a:rPr>
                <a:t>2</a:t>
              </a:r>
              <a:r>
                <a:rPr lang="zh-CN" altLang="en-US" sz="2600" b="1">
                  <a:latin typeface="Times New Roman" panose="02020603050405020304" pitchFamily="18" charset="0"/>
                </a:rPr>
                <a:t>个，放法为</a:t>
              </a:r>
              <a:endParaRPr lang="zh-CN" altLang="en-US" sz="2600">
                <a:latin typeface="Times New Roman" panose="02020603050405020304" pitchFamily="18" charset="0"/>
              </a:endParaRPr>
            </a:p>
            <a:p>
              <a:endParaRPr lang="en-US" altLang="zh-CN" sz="24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3">
            <a:extLst>
              <a:ext uri="{FF2B5EF4-FFF2-40B4-BE49-F238E27FC236}">
                <a16:creationId xmlns:a16="http://schemas.microsoft.com/office/drawing/2014/main" id="{5EDD1D90-1911-48A4-B770-A2BB4BFB51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905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实例（续）</a:t>
            </a:r>
          </a:p>
        </p:txBody>
      </p:sp>
      <p:sp>
        <p:nvSpPr>
          <p:cNvPr id="7171" name="灯片编号占位符 4">
            <a:extLst>
              <a:ext uri="{FF2B5EF4-FFF2-40B4-BE49-F238E27FC236}">
                <a16:creationId xmlns:a16="http://schemas.microsoft.com/office/drawing/2014/main" id="{E5000885-D85F-4ABA-8D09-99FF4C218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7FD3207-56D9-40DF-85E2-454CE9AA8E85}" type="slidenum">
              <a:rPr lang="en-US" altLang="zh-CN">
                <a:solidFill>
                  <a:srgbClr val="898989"/>
                </a:solidFill>
              </a:rPr>
              <a:pPr eaLnBrk="1" hangingPunct="1"/>
              <a:t>16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DFCF9905-91BF-4030-8752-62DE99B13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1173163"/>
            <a:ext cx="8964612" cy="4992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indent="344488" eaLnBrk="0" hangingPunct="0">
              <a:lnSpc>
                <a:spcPts val="3500"/>
              </a:lnSpc>
              <a:defRPr/>
            </a:pPr>
            <a:r>
              <a:rPr lang="zh-CN" sz="2600" b="1" dirty="0">
                <a:solidFill>
                  <a:srgbClr val="993366"/>
                </a:solidFill>
                <a:latin typeface="Times New Roman" pitchFamily="18" charset="0"/>
                <a:cs typeface="Times New Roman" pitchFamily="18" charset="0"/>
              </a:rPr>
              <a:t>例</a:t>
            </a:r>
            <a:r>
              <a:rPr lang="en-US" altLang="zh-CN" sz="2600" b="1" dirty="0">
                <a:solidFill>
                  <a:srgbClr val="993366"/>
                </a:solidFill>
                <a:latin typeface="Times New Roman" pitchFamily="18" charset="0"/>
                <a:cs typeface="Times New Roman" pitchFamily="18" charset="0"/>
              </a:rPr>
              <a:t>7 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 9</a:t>
            </a:r>
            <a:r>
              <a:rPr lang="zh-CN" altLang="en-US" sz="2600" b="1" dirty="0">
                <a:latin typeface="Times New Roman" pitchFamily="18" charset="0"/>
                <a:cs typeface="Times New Roman" pitchFamily="18" charset="0"/>
              </a:rPr>
              <a:t>本不同的书，其中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zh-CN" altLang="en-US" sz="2600" b="1" dirty="0">
                <a:latin typeface="Times New Roman" pitchFamily="18" charset="0"/>
                <a:cs typeface="Times New Roman" pitchFamily="18" charset="0"/>
              </a:rPr>
              <a:t>本红皮，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zh-CN" altLang="en-US" sz="2600" b="1" dirty="0">
                <a:latin typeface="Times New Roman" pitchFamily="18" charset="0"/>
                <a:cs typeface="Times New Roman" pitchFamily="18" charset="0"/>
              </a:rPr>
              <a:t>本白皮，</a:t>
            </a:r>
            <a:endParaRPr lang="zh-CN" altLang="en-US" sz="2600" dirty="0"/>
          </a:p>
          <a:p>
            <a:pPr indent="685800" eaLnBrk="0" hangingPunct="0">
              <a:lnSpc>
                <a:spcPts val="3500"/>
              </a:lnSpc>
              <a:defRPr/>
            </a:pP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(1)  9</a:t>
            </a:r>
            <a:r>
              <a:rPr lang="zh-CN" altLang="en-US" sz="2600" b="1" dirty="0">
                <a:latin typeface="Times New Roman" pitchFamily="18" charset="0"/>
                <a:cs typeface="Times New Roman" pitchFamily="18" charset="0"/>
              </a:rPr>
              <a:t>本书的排列方式数有多少？</a:t>
            </a:r>
            <a:endParaRPr lang="zh-CN" altLang="en-US" sz="2600" dirty="0"/>
          </a:p>
          <a:p>
            <a:pPr indent="685800" eaLnBrk="0" hangingPunct="0">
              <a:lnSpc>
                <a:spcPts val="3500"/>
              </a:lnSpc>
              <a:defRPr/>
            </a:pP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(2) </a:t>
            </a:r>
            <a:r>
              <a:rPr lang="zh-CN" altLang="en-US" sz="2600" b="1" dirty="0">
                <a:latin typeface="Times New Roman" pitchFamily="18" charset="0"/>
                <a:cs typeface="Times New Roman" pitchFamily="18" charset="0"/>
              </a:rPr>
              <a:t>若白皮书必须放在一起，那么有多少方法？</a:t>
            </a:r>
            <a:endParaRPr lang="zh-CN" altLang="en-US" sz="2600" dirty="0"/>
          </a:p>
          <a:p>
            <a:pPr indent="685800" eaLnBrk="0" hangingPunct="0">
              <a:lnSpc>
                <a:spcPts val="3500"/>
              </a:lnSpc>
              <a:defRPr/>
            </a:pP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(3) </a:t>
            </a:r>
            <a:r>
              <a:rPr lang="zh-CN" altLang="en-US" sz="2600" b="1" dirty="0">
                <a:latin typeface="Times New Roman" pitchFamily="18" charset="0"/>
                <a:cs typeface="Times New Roman" pitchFamily="18" charset="0"/>
              </a:rPr>
              <a:t>若白皮书必须放在一起，红皮书也必须放在一起，          </a:t>
            </a:r>
            <a:endParaRPr lang="en-US" altLang="zh-CN" sz="2600" b="1" dirty="0">
              <a:latin typeface="Times New Roman" pitchFamily="18" charset="0"/>
              <a:cs typeface="Times New Roman" pitchFamily="18" charset="0"/>
            </a:endParaRPr>
          </a:p>
          <a:p>
            <a:pPr indent="685800" eaLnBrk="0" hangingPunct="0">
              <a:lnSpc>
                <a:spcPts val="3500"/>
              </a:lnSpc>
              <a:defRPr/>
            </a:pP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zh-CN" altLang="en-US" sz="2600" b="1" dirty="0">
                <a:latin typeface="Times New Roman" pitchFamily="18" charset="0"/>
                <a:cs typeface="Times New Roman" pitchFamily="18" charset="0"/>
              </a:rPr>
              <a:t>那么有多少方法？</a:t>
            </a:r>
            <a:endParaRPr lang="zh-CN" altLang="en-US" sz="2600" dirty="0"/>
          </a:p>
          <a:p>
            <a:pPr indent="685800" eaLnBrk="0" hangingPunct="0">
              <a:lnSpc>
                <a:spcPts val="3500"/>
              </a:lnSpc>
              <a:defRPr/>
            </a:pP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(4) </a:t>
            </a:r>
            <a:r>
              <a:rPr lang="zh-CN" altLang="en-US" sz="2600" b="1" dirty="0">
                <a:latin typeface="Times New Roman" pitchFamily="18" charset="0"/>
                <a:cs typeface="Times New Roman" pitchFamily="18" charset="0"/>
              </a:rPr>
              <a:t>若白皮和红皮书必须相间，有多少方法？</a:t>
            </a:r>
            <a:endParaRPr lang="zh-CN" altLang="en-US" sz="2600" dirty="0"/>
          </a:p>
          <a:p>
            <a:pPr indent="685800" eaLnBrk="0" hangingPunct="0">
              <a:lnSpc>
                <a:spcPts val="3500"/>
              </a:lnSpc>
              <a:defRPr/>
            </a:pPr>
            <a:endParaRPr lang="en-US" altLang="zh-CN" sz="2600" b="1" dirty="0">
              <a:latin typeface="Times New Roman" pitchFamily="18" charset="0"/>
              <a:cs typeface="Times New Roman" pitchFamily="18" charset="0"/>
            </a:endParaRPr>
          </a:p>
          <a:p>
            <a:pPr indent="432000" eaLnBrk="0" hangingPunct="0">
              <a:lnSpc>
                <a:spcPts val="3500"/>
              </a:lnSpc>
              <a:defRPr/>
            </a:pPr>
            <a:r>
              <a:rPr lang="zh-CN" altLang="en-US" sz="2600" b="1" dirty="0">
                <a:latin typeface="Times New Roman" pitchFamily="18" charset="0"/>
                <a:cs typeface="Times New Roman" pitchFamily="18" charset="0"/>
              </a:rPr>
              <a:t>解：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(1) 9!</a:t>
            </a:r>
            <a:endParaRPr lang="en-US" altLang="zh-CN" sz="2600" dirty="0"/>
          </a:p>
          <a:p>
            <a:pPr indent="685800" eaLnBrk="0" hangingPunct="0">
              <a:lnSpc>
                <a:spcPts val="3500"/>
              </a:lnSpc>
              <a:defRPr/>
            </a:pP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     (2) 5</a:t>
            </a:r>
            <a:r>
              <a:rPr lang="zh-CN" altLang="en-US" sz="2600" b="1" dirty="0">
                <a:latin typeface="Times New Roman" pitchFamily="18" charset="0"/>
                <a:cs typeface="Times New Roman" pitchFamily="18" charset="0"/>
              </a:rPr>
              <a:t>！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zh-CN" altLang="en-US" sz="2600" b="1" dirty="0">
                <a:latin typeface="Times New Roman" pitchFamily="18" charset="0"/>
                <a:cs typeface="Times New Roman" pitchFamily="18" charset="0"/>
              </a:rPr>
              <a:t>！</a:t>
            </a:r>
            <a:endParaRPr lang="zh-CN" altLang="en-US" sz="2600" dirty="0"/>
          </a:p>
          <a:p>
            <a:pPr indent="685800" eaLnBrk="0" hangingPunct="0">
              <a:lnSpc>
                <a:spcPts val="3500"/>
              </a:lnSpc>
              <a:defRPr/>
            </a:pP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     (3) 5</a:t>
            </a:r>
            <a:r>
              <a:rPr lang="zh-CN" altLang="en-US" sz="2600" b="1" dirty="0">
                <a:latin typeface="Times New Roman" pitchFamily="18" charset="0"/>
                <a:cs typeface="Times New Roman" pitchFamily="18" charset="0"/>
              </a:rPr>
              <a:t>！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zh-CN" altLang="en-US" sz="2600" b="1" dirty="0">
                <a:latin typeface="Times New Roman" pitchFamily="18" charset="0"/>
                <a:cs typeface="Times New Roman" pitchFamily="18" charset="0"/>
              </a:rPr>
              <a:t>！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en-US" sz="2600" b="1" dirty="0">
                <a:latin typeface="Times New Roman" pitchFamily="18" charset="0"/>
                <a:cs typeface="Times New Roman" pitchFamily="18" charset="0"/>
              </a:rPr>
              <a:t>！</a:t>
            </a:r>
            <a:endParaRPr lang="zh-CN" altLang="en-US" sz="2600" dirty="0"/>
          </a:p>
          <a:p>
            <a:pPr indent="685800" eaLnBrk="0" hangingPunct="0">
              <a:lnSpc>
                <a:spcPts val="3500"/>
              </a:lnSpc>
              <a:defRPr/>
            </a:pP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     (4) 5</a:t>
            </a:r>
            <a:r>
              <a:rPr lang="zh-CN" altLang="en-US" sz="2600" b="1" dirty="0">
                <a:latin typeface="Times New Roman" pitchFamily="18" charset="0"/>
                <a:cs typeface="Times New Roman" pitchFamily="18" charset="0"/>
              </a:rPr>
              <a:t>！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zh-CN" altLang="en-US" sz="2600" b="1" dirty="0">
                <a:latin typeface="Times New Roman" pitchFamily="18" charset="0"/>
                <a:cs typeface="Times New Roman" pitchFamily="18" charset="0"/>
              </a:rPr>
              <a:t>！</a:t>
            </a:r>
            <a:endParaRPr lang="zh-CN" alt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代数结构PP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代数结构PPT" id="{59FB3D3D-6029-4102-98A0-9B60F27E0E23}" vid="{0AB676A5-E0BB-48C0-B1BF-4DD3C7F3CCB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代数结构PPT主题</Template>
  <TotalTime>3292</TotalTime>
  <Words>1377</Words>
  <Application>Microsoft Office PowerPoint</Application>
  <PresentationFormat>全屏显示(4:3)</PresentationFormat>
  <Paragraphs>142</Paragraphs>
  <Slides>16</Slides>
  <Notes>16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宋体</vt:lpstr>
      <vt:lpstr>Calibri</vt:lpstr>
      <vt:lpstr>Times New Roman</vt:lpstr>
      <vt:lpstr>黑体</vt:lpstr>
      <vt:lpstr>Symbol</vt:lpstr>
      <vt:lpstr>代数结构PPT</vt:lpstr>
      <vt:lpstr>Microsoft Word 文档</vt:lpstr>
      <vt:lpstr>Microsoft 公式 3.0</vt:lpstr>
      <vt:lpstr>第二十一章   基本计数公式</vt:lpstr>
      <vt:lpstr>21.1 加法法则与乘法法则</vt:lpstr>
      <vt:lpstr>加法法则</vt:lpstr>
      <vt:lpstr>乘法法则</vt:lpstr>
      <vt:lpstr>应用实例</vt:lpstr>
      <vt:lpstr>21.2 排列组合</vt:lpstr>
      <vt:lpstr>选取问题 --组合计数模型1</vt:lpstr>
      <vt:lpstr>集合的排列</vt:lpstr>
      <vt:lpstr>集合的组合</vt:lpstr>
      <vt:lpstr>基本计数公式的应用</vt:lpstr>
      <vt:lpstr>基本计数公式应用(续)</vt:lpstr>
      <vt:lpstr>多重集的排列</vt:lpstr>
      <vt:lpstr>多重集的组合</vt:lpstr>
      <vt:lpstr>实例</vt:lpstr>
      <vt:lpstr>实例（续）</vt:lpstr>
      <vt:lpstr>实例（续）</vt:lpstr>
    </vt:vector>
  </TitlesOfParts>
  <Company>深圳市斯尔顿科技有限公司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付 康</cp:lastModifiedBy>
  <cp:revision>321</cp:revision>
  <dcterms:created xsi:type="dcterms:W3CDTF">2005-12-02T07:25:32Z</dcterms:created>
  <dcterms:modified xsi:type="dcterms:W3CDTF">2020-08-02T05:15:02Z</dcterms:modified>
</cp:coreProperties>
</file>