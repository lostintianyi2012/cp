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29"/>
  </p:notesMasterIdLst>
  <p:sldIdLst>
    <p:sldId id="356" r:id="rId2"/>
    <p:sldId id="357" r:id="rId3"/>
    <p:sldId id="358" r:id="rId4"/>
    <p:sldId id="359" r:id="rId5"/>
    <p:sldId id="360" r:id="rId6"/>
    <p:sldId id="361" r:id="rId7"/>
    <p:sldId id="362" r:id="rId8"/>
    <p:sldId id="363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371" r:id="rId17"/>
    <p:sldId id="372" r:id="rId18"/>
    <p:sldId id="373" r:id="rId19"/>
    <p:sldId id="374" r:id="rId20"/>
    <p:sldId id="375" r:id="rId21"/>
    <p:sldId id="376" r:id="rId22"/>
    <p:sldId id="377" r:id="rId23"/>
    <p:sldId id="378" r:id="rId24"/>
    <p:sldId id="379" r:id="rId25"/>
    <p:sldId id="380" r:id="rId26"/>
    <p:sldId id="381" r:id="rId27"/>
    <p:sldId id="382" r:id="rId28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CC00"/>
    <a:srgbClr val="FF0000"/>
    <a:srgbClr val="006600"/>
    <a:srgbClr val="FF9900"/>
    <a:srgbClr val="B2DE82"/>
    <a:srgbClr val="CCFFFF"/>
    <a:srgbClr val="BCE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7" autoAdjust="0"/>
    <p:restoredTop sz="91822" autoAdjust="0"/>
  </p:normalViewPr>
  <p:slideViewPr>
    <p:cSldViewPr>
      <p:cViewPr varScale="1">
        <p:scale>
          <a:sx n="79" d="100"/>
          <a:sy n="79" d="100"/>
        </p:scale>
        <p:origin x="134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B06DC6B-5DEA-463C-9C96-700F82AAF2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34B2376-4CD9-494D-B35D-E83D9A4DC13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077C556-9976-4B52-B28B-EB162F7B2061}" type="datetimeFigureOut">
              <a:rPr lang="zh-CN" altLang="en-US"/>
              <a:pPr>
                <a:defRPr/>
              </a:pPr>
              <a:t>2020/7/31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1FB12EE7-A583-49AE-9188-B9DAF8CE0C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8C3C612A-5A36-4DE8-B6EF-E74C57ABAC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55B5BB-B582-429C-98CA-E2929EBB58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F99138-021B-493D-B84C-8DCAE113B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03A2F3F9-7BC7-4598-B49D-93297DF94C61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C7FCEFE8-B839-46CF-94BB-8F43C64870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821E682-E4A9-4063-8DF6-B5623E7457A1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76CDEE26-99F5-4894-9AC4-18CCA15FB6E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5C21E59D-7E8E-4FD8-A689-49DA867B54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D843B2D1-40C1-4DF3-8299-0A1F7514DB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6868BE7-54DF-40B2-8430-2EF1358024EB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2A1AF8D8-F8D1-4850-8CDE-7E89666353F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A1619DB1-B0E1-43AA-8DBE-9A3FD5C1D5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7090945C-49D2-43A5-AA99-30BE65BE35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F343139-D510-4A0D-B1B8-EAE38F59E9DE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D4DDB890-6814-4174-839D-AABD48A8304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A82AE651-7ED7-4CDA-BDCC-D9C65FE6AE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CE8AF67E-A116-4A9D-9CC0-5D8FD60731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C1B48E9-A8D3-4E43-A27A-3C71BF25A8F9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A22A87D9-9A67-4BDE-B53A-8D08CFDB2DA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4E650F9D-DCCD-41DA-AC94-E4210669CE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92C0A077-2ED6-45BE-8930-A5F048474B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FFA0AB2-FCCC-41D3-8639-E2444D15A298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042006B0-6C49-4BCC-AC2C-AB41019C086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677E0BC3-BBAE-4132-842C-1F8C9C6BB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35BC2B0A-759E-4534-BEB7-10834A0DAE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7487D4B-C0EF-40BF-9565-16155F5872D0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B17EB3E2-519B-4D80-AA5D-589E75FF9BA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AAD61994-65FE-4750-9D65-B3B8EB6F4E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7945F33B-EE4B-46AC-B207-C4D025243D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39DBC14-D49A-49AE-9AC7-DB5082ABA827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734FF913-1C24-4577-A519-985173E5C84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03816134-F7B9-4259-B87F-57DF3E11A6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1A3457AF-39CC-4D69-99A4-421CFB9B91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E590DE-9419-47DC-A1A2-F06FBBACEEC6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65177360-CF23-43F5-BC6B-4D81E42ECF0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BCB5ABFB-26CD-4DC7-AC4F-22F697D85C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F0D1FD11-6DA7-4C90-8324-C9AAE7657F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B6A152D-2612-4EF7-83E3-673E43C2EF4A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87C5EA89-68A9-48BB-8B3F-93D4B0CFD41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D23CDE31-2CB2-405B-B1C1-52298EA399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8E34D2D8-30BE-4706-9AD4-CA4B5DC8BD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EC01E4C-29AD-474B-A9D6-54A63978CA6A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26DA6E20-7AE0-4CA4-A97F-2826EDF72CA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367CAA3F-BBEF-47C7-B0EF-D38CEC4649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BF2F34AE-7538-4EFD-9C10-56F08DE3E7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6E4EA99-8F14-43DB-B056-2B6889C518D7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2D5053AC-97AD-4FA5-9D16-811662BFA6F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13C0C109-CD18-4448-B54E-F4366DD7BD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2BA55D1B-A859-4B75-B2F8-0C8515024E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D31BEAA-EBCD-437E-A86F-F28F147476C7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3766D010-0D53-469D-BF82-2E12CF75F22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AFF837A6-52A4-4B37-990E-53F0D468E4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BBA9C47B-954B-4B89-80DA-74220CACCD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3E03DCC-FCA0-4984-9686-3320881237EA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FAF8EB5F-2C0F-4DA4-AE69-B8EC7035B2F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914492A7-AE0F-444A-B551-A419D6AD81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EEA77BCB-1361-4774-A7B9-554BFB21F8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7FA266D-5658-4EB3-9B20-6236BB4379E2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C7E2F472-6C7E-4D6E-8AF4-53C2B03A778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BA872B15-BD4D-48B8-9AA9-13405DFF28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3A10D79E-3324-48EA-98E0-D08F637D7F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251093-A8E3-48EA-A0E2-E6C5221F16EF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F3BC9666-BE8B-4C97-9B91-8A900B98740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85BBD131-872C-4D00-AC11-E743334D43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02F43C14-E327-487D-83A6-2318D64006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F8FF8DB-C2DD-4BE2-9874-126558BD8A47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AD073372-BC31-451B-97B3-5520D1159E4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C9104DE4-C57D-4176-95B3-1E2451AA94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F0C0A696-EC3B-4D3E-A78F-0A2E3B3D7C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C1DBE5B-E6AA-4156-BFE6-7527A107489B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6742A355-AF1D-4C07-83F1-1526DFE6ECC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B80B45AE-F76F-4C30-8692-AFC6DAF182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DF8A2000-94ED-40EB-A2B6-D67D03FDF2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F20EFAD-096F-4399-A731-D8C3A3A8BC76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AFCD94AB-CC2F-49DF-9D44-122BED8FDEA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EA752E8D-D2CF-40C0-A539-13249BA2DE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FA4799E0-94AB-4887-A47E-8546BCD571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AF48FF4-C54B-4AFE-9715-F290983D5346}" type="slidenum">
              <a:rPr lang="en-US" altLang="zh-CN"/>
              <a:pPr eaLnBrk="1" hangingPunct="1"/>
              <a:t>19</a:t>
            </a:fld>
            <a:endParaRPr lang="en-US" altLang="zh-CN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C6C436AF-45A3-494F-9F31-606570580C4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906F3565-DE34-4643-BA8C-A4E0F83529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3CAD36E8-4610-45CF-BD1E-492E0EAB4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670E328-D62B-4273-BC85-44113F4C086F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53ABE272-F02C-42BC-9299-B9A280871E9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F741B17D-0F63-4E6F-A414-CEE463396B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1C0F4A98-2066-4B77-9BAF-C9C4A7F4C0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9AC9A7C-1204-412E-9C99-8C4061F2E331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D6A4B213-62D1-410F-A8E2-A541D003605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0DFFF0D2-CE3A-4809-855E-04FBE14F9D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C8FFB51A-12A7-4EAA-9CE8-AB15FF1172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A1365C3-8567-4FB4-897C-CE8DE15C341A}" type="slidenum">
              <a:rPr lang="en-US" altLang="zh-CN"/>
              <a:pPr eaLnBrk="1" hangingPunct="1"/>
              <a:t>22</a:t>
            </a:fld>
            <a:endParaRPr lang="en-US" altLang="zh-CN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7303EAEE-11E1-44CB-98E4-C3E3D5B1A19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A18353AF-8BAC-4AD1-9460-16B010213F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9CB53130-A39A-43EE-B9B1-00BE442AEC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FFB1CC4-18F1-4CCE-8E09-F06753F40E95}" type="slidenum">
              <a:rPr lang="en-US" altLang="zh-CN"/>
              <a:pPr eaLnBrk="1" hangingPunct="1"/>
              <a:t>26</a:t>
            </a:fld>
            <a:endParaRPr lang="en-US" altLang="zh-CN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D725CBE9-435D-4BCC-BA57-65132E2E881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1538DCD8-767D-4051-8934-4763A6A955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DBB82C48-49C7-4946-BF59-4B30F7D127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3630446-70A8-4450-8C1F-0830DED6EC69}" type="slidenum">
              <a:rPr lang="en-US" altLang="zh-CN"/>
              <a:pPr eaLnBrk="1" hangingPunct="1"/>
              <a:t>27</a:t>
            </a:fld>
            <a:endParaRPr lang="en-US" altLang="zh-CN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BDDE6F6D-7E29-44B3-A6AA-DEE27EB177F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43ED543A-4203-4E38-B9E7-84F1716164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5ABC9F-73E7-4809-8BFE-499AAF0F42F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708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500653-627B-497C-8FB7-213EDA5CDBE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1080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043513-7A6C-4E2C-A000-1904828A4C7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97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8ADB1E-5AC3-4E72-9D7D-B3C26A2F057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0847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D78792-2E46-4DE8-8E34-38F5F5EE8E3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15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2B2D3B-50AB-4CF7-972F-E5EDD6AB8C0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235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81923-CD10-4993-932B-FDF9DB4FF60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135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748CF6-5031-481C-83D0-295AF091B23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3975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5269D2-DC94-45E7-9047-A021103B8CD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5836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98D3D1-7ED6-4882-9644-CB786E0D498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6085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E96A59-FB42-4395-B1B5-67F1339ECB0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596400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E96A59-FB42-4395-B1B5-67F1339ECB0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753873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A5E96A59-FB42-4395-B1B5-67F1339ECB0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0602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png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7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1.png"/><Relationship Id="rId4" Type="http://schemas.openxmlformats.org/officeDocument/2006/relationships/oleObject" Target="../embeddings/oleObject8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A9629876-004D-465A-ACDE-167E509BA8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Ramsey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AA6E51E-5F40-4C5A-BF5A-265D9C5A50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341438"/>
            <a:ext cx="7772400" cy="49974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600" b="1" dirty="0">
                <a:solidFill>
                  <a:srgbClr val="C00000"/>
                </a:solidFill>
              </a:rPr>
              <a:t>Ramsey</a:t>
            </a:r>
            <a:r>
              <a:rPr lang="zh-CN" altLang="en-US" sz="2600" b="1" dirty="0">
                <a:solidFill>
                  <a:srgbClr val="C00000"/>
                </a:solidFill>
              </a:rPr>
              <a:t>定理的简单形式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100" b="1" dirty="0"/>
              <a:t>两个简单命题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100" b="1" dirty="0"/>
              <a:t>Ramsey</a:t>
            </a:r>
            <a:r>
              <a:rPr lang="zh-CN" altLang="en-US" sz="2100" b="1" dirty="0"/>
              <a:t>定理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100" b="1" dirty="0"/>
              <a:t>小</a:t>
            </a:r>
            <a:r>
              <a:rPr lang="en-US" altLang="zh-CN" sz="2100" b="1" dirty="0"/>
              <a:t>Ramsey</a:t>
            </a:r>
            <a:r>
              <a:rPr lang="zh-CN" altLang="en-US" sz="2100" b="1" dirty="0"/>
              <a:t>数的有关结果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100" b="1" dirty="0"/>
              <a:t>Ramsey</a:t>
            </a:r>
            <a:r>
              <a:rPr lang="zh-CN" altLang="en-US" sz="2100" b="1" dirty="0"/>
              <a:t>数的性质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100" b="1" dirty="0"/>
              <a:t>Ramsey</a:t>
            </a:r>
            <a:r>
              <a:rPr lang="zh-CN" altLang="en-US" sz="2100" b="1" dirty="0"/>
              <a:t>定理的推广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CN" sz="2600" b="1" dirty="0">
                <a:solidFill>
                  <a:srgbClr val="C00000"/>
                </a:solidFill>
              </a:rPr>
              <a:t>Ramsey</a:t>
            </a:r>
            <a:r>
              <a:rPr lang="zh-CN" altLang="en-US" sz="2600" b="1" dirty="0">
                <a:solidFill>
                  <a:srgbClr val="C00000"/>
                </a:solidFill>
              </a:rPr>
              <a:t>定理的一般形式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100" b="1" dirty="0"/>
              <a:t>Ramsey</a:t>
            </a:r>
            <a:r>
              <a:rPr lang="zh-CN" altLang="en-US" sz="2100" b="1" dirty="0"/>
              <a:t>定理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100" b="1" dirty="0"/>
              <a:t>关于一般</a:t>
            </a:r>
            <a:r>
              <a:rPr lang="en-US" altLang="zh-CN" sz="2100" b="1" dirty="0"/>
              <a:t>Ramsey</a:t>
            </a:r>
            <a:r>
              <a:rPr lang="zh-CN" altLang="en-US" sz="2100" b="1" dirty="0"/>
              <a:t>数的结果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CN" sz="2600" b="1" dirty="0">
                <a:solidFill>
                  <a:srgbClr val="C00000"/>
                </a:solidFill>
              </a:rPr>
              <a:t>Ramsey</a:t>
            </a:r>
            <a:r>
              <a:rPr lang="zh-CN" altLang="en-US" sz="2600" b="1" dirty="0">
                <a:solidFill>
                  <a:srgbClr val="C00000"/>
                </a:solidFill>
              </a:rPr>
              <a:t>定理的应用</a:t>
            </a:r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8432345B-AB5A-4D3D-8282-ECCAA83CE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D0A6B93-EDB8-4981-8648-1703CBF0263A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E51D9D9-332C-4BDD-BD60-10E1C34006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806" y="300038"/>
            <a:ext cx="8686800" cy="56197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Ramsey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定理的简单形式</a:t>
            </a:r>
          </a:p>
        </p:txBody>
      </p:sp>
      <p:sp>
        <p:nvSpPr>
          <p:cNvPr id="37893" name="灯片编号占位符 4">
            <a:extLst>
              <a:ext uri="{FF2B5EF4-FFF2-40B4-BE49-F238E27FC236}">
                <a16:creationId xmlns:a16="http://schemas.microsoft.com/office/drawing/2014/main" id="{ADBEF019-8127-44C1-BE5E-C294FBB1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044694E-9E43-465E-8375-8BB8CBB72B87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36C6126-3A91-4968-9844-52683F749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25538"/>
            <a:ext cx="7920038" cy="2759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C00000"/>
                </a:solidFill>
                <a:latin typeface="+mn-ea"/>
                <a:ea typeface="+mn-ea"/>
              </a:rPr>
              <a:t>两个简单的命题</a:t>
            </a:r>
          </a:p>
          <a:p>
            <a:pPr>
              <a:lnSpc>
                <a:spcPct val="120000"/>
              </a:lnSpc>
              <a:spcBef>
                <a:spcPct val="30000"/>
              </a:spcBef>
              <a:defRPr/>
            </a:pPr>
            <a:r>
              <a:rPr lang="zh-CN" altLang="en-US" sz="2800" b="1" dirty="0">
                <a:solidFill>
                  <a:srgbClr val="800000"/>
                </a:solidFill>
                <a:latin typeface="Times New Roman" pitchFamily="18" charset="0"/>
              </a:rPr>
              <a:t>命题</a:t>
            </a:r>
            <a:r>
              <a:rPr lang="en-US" altLang="zh-CN" sz="2800" b="1" dirty="0">
                <a:solidFill>
                  <a:srgbClr val="800000"/>
                </a:solidFill>
                <a:latin typeface="Times New Roman" pitchFamily="18" charset="0"/>
              </a:rPr>
              <a:t>1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800" b="1" dirty="0">
                <a:latin typeface="Times New Roman" pitchFamily="18" charset="0"/>
              </a:rPr>
              <a:t>用红蓝两色涂色 </a:t>
            </a:r>
            <a:r>
              <a:rPr lang="en-US" altLang="zh-CN" sz="2800" b="1" i="1" dirty="0">
                <a:latin typeface="Times New Roman" pitchFamily="18" charset="0"/>
              </a:rPr>
              <a:t>K</a:t>
            </a:r>
            <a:r>
              <a:rPr lang="en-US" altLang="zh-CN" sz="2800" b="1" baseline="-25000" dirty="0">
                <a:latin typeface="Times New Roman" pitchFamily="18" charset="0"/>
              </a:rPr>
              <a:t>6</a:t>
            </a:r>
            <a:r>
              <a:rPr lang="zh-CN" altLang="en-US" sz="2800" b="1" dirty="0">
                <a:latin typeface="Times New Roman" pitchFamily="18" charset="0"/>
              </a:rPr>
              <a:t>的边，则或有一个红色 </a:t>
            </a:r>
            <a:r>
              <a:rPr lang="en-US" altLang="zh-CN" sz="2800" b="1" i="1" dirty="0">
                <a:latin typeface="Times New Roman" pitchFamily="18" charset="0"/>
              </a:rPr>
              <a:t>K</a:t>
            </a:r>
            <a:r>
              <a:rPr lang="en-US" altLang="zh-CN" sz="2800" b="1" baseline="-25000" dirty="0">
                <a:latin typeface="Times New Roman" pitchFamily="18" charset="0"/>
              </a:rPr>
              <a:t>3</a:t>
            </a:r>
            <a:r>
              <a:rPr lang="en-US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>
                <a:latin typeface="Times New Roman" pitchFamily="18" charset="0"/>
              </a:rPr>
              <a:t>或有一个蓝色 </a:t>
            </a:r>
            <a:r>
              <a:rPr lang="en-US" altLang="zh-CN" sz="2800" b="1" i="1" dirty="0">
                <a:latin typeface="Times New Roman" pitchFamily="18" charset="0"/>
              </a:rPr>
              <a:t>K</a:t>
            </a:r>
            <a:r>
              <a:rPr lang="en-US" altLang="zh-CN" sz="2800" b="1" baseline="-25000" dirty="0">
                <a:latin typeface="Times New Roman" pitchFamily="18" charset="0"/>
              </a:rPr>
              <a:t>3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2800" b="1" i="1" dirty="0">
                <a:latin typeface="Times New Roman" pitchFamily="18" charset="0"/>
              </a:rPr>
              <a:t>R</a:t>
            </a:r>
            <a:r>
              <a:rPr lang="en-US" altLang="zh-CN" sz="2800" b="1" dirty="0">
                <a:latin typeface="Times New Roman" pitchFamily="18" charset="0"/>
              </a:rPr>
              <a:t>(3,3)=6 </a:t>
            </a:r>
          </a:p>
        </p:txBody>
      </p:sp>
      <p:sp>
        <p:nvSpPr>
          <p:cNvPr id="349188" name="Rectangle 4">
            <a:extLst>
              <a:ext uri="{FF2B5EF4-FFF2-40B4-BE49-F238E27FC236}">
                <a16:creationId xmlns:a16="http://schemas.microsoft.com/office/drawing/2014/main" id="{CDB96943-A2FA-4394-9ACE-8F98CC89C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932238"/>
            <a:ext cx="7920037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800000"/>
                </a:solidFill>
                <a:latin typeface="Times New Roman" panose="02020603050405020304" pitchFamily="18" charset="0"/>
              </a:rPr>
              <a:t>命题</a:t>
            </a:r>
            <a:r>
              <a:rPr lang="en-US" altLang="zh-CN" sz="2800" b="1">
                <a:solidFill>
                  <a:srgbClr val="8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>
              <a:solidFill>
                <a:srgbClr val="8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用红蓝两色涂色 </a:t>
            </a:r>
            <a:r>
              <a:rPr lang="en-US" altLang="zh-CN" sz="2800" b="1" i="1">
                <a:latin typeface="Times New Roman" panose="02020603050405020304" pitchFamily="18" charset="0"/>
              </a:rPr>
              <a:t>K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9</a:t>
            </a:r>
            <a:r>
              <a:rPr lang="zh-CN" altLang="en-US" sz="2800" b="1">
                <a:latin typeface="Times New Roman" panose="02020603050405020304" pitchFamily="18" charset="0"/>
              </a:rPr>
              <a:t>的边，则或有一个红色 </a:t>
            </a:r>
            <a:r>
              <a:rPr lang="en-US" altLang="zh-CN" sz="2800" b="1" i="1">
                <a:latin typeface="Times New Roman" panose="02020603050405020304" pitchFamily="18" charset="0"/>
              </a:rPr>
              <a:t>K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4</a:t>
            </a:r>
            <a:r>
              <a:rPr lang="zh-CN" altLang="en-US" sz="2800" b="1">
                <a:latin typeface="Times New Roman" panose="02020603050405020304" pitchFamily="18" charset="0"/>
              </a:rPr>
              <a:t>，或有一个蓝色 </a:t>
            </a:r>
            <a:r>
              <a:rPr lang="en-US" altLang="zh-CN" sz="2800" b="1" i="1">
                <a:latin typeface="Times New Roman" panose="02020603050405020304" pitchFamily="18" charset="0"/>
              </a:rPr>
              <a:t>K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(3,4)=9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75079C3-080A-4E17-8A02-171A31AFBB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95276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命题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的证明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F0D5C9B-E4F1-4A1E-9076-9FD835291D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052513"/>
            <a:ext cx="7834312" cy="20161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证：存在一个顶点关联 </a:t>
            </a:r>
            <a:r>
              <a:rPr lang="en-US" altLang="zh-CN" sz="2800" b="1">
                <a:latin typeface="Times New Roman" panose="02020603050405020304" pitchFamily="18" charset="0"/>
              </a:rPr>
              <a:t>4</a:t>
            </a:r>
            <a:r>
              <a:rPr lang="zh-CN" altLang="en-US" sz="2800" b="1">
                <a:latin typeface="Times New Roman" panose="02020603050405020304" pitchFamily="18" charset="0"/>
              </a:rPr>
              <a:t>条蓝边或者 </a:t>
            </a:r>
            <a:r>
              <a:rPr lang="en-US" altLang="zh-CN" sz="2800" b="1">
                <a:latin typeface="Times New Roman" panose="02020603050405020304" pitchFamily="18" charset="0"/>
              </a:rPr>
              <a:t>6</a:t>
            </a:r>
            <a:r>
              <a:rPr lang="zh-CN" altLang="en-US" sz="2800" b="1">
                <a:latin typeface="Times New Roman" panose="02020603050405020304" pitchFamily="18" charset="0"/>
              </a:rPr>
              <a:t>条红边</a:t>
            </a:r>
            <a:r>
              <a:rPr lang="en-US" altLang="zh-CN" sz="2800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否则蓝边数</a:t>
            </a:r>
            <a:r>
              <a:rPr lang="en-US" altLang="zh-CN" sz="2800" b="1">
                <a:latin typeface="Times New Roman" panose="02020603050405020304" pitchFamily="18" charset="0"/>
              </a:rPr>
              <a:t>&lt; 4, </a:t>
            </a:r>
            <a:r>
              <a:rPr lang="zh-CN" altLang="en-US" sz="2800" b="1">
                <a:latin typeface="Times New Roman" panose="02020603050405020304" pitchFamily="18" charset="0"/>
              </a:rPr>
              <a:t>红边数</a:t>
            </a:r>
            <a:r>
              <a:rPr lang="en-US" altLang="zh-CN" sz="2800" b="1">
                <a:latin typeface="Times New Roman" panose="02020603050405020304" pitchFamily="18" charset="0"/>
              </a:rPr>
              <a:t>&lt; 6</a:t>
            </a:r>
            <a:r>
              <a:rPr lang="zh-CN" altLang="en-US" sz="2800" b="1">
                <a:latin typeface="Times New Roman" panose="02020603050405020304" pitchFamily="18" charset="0"/>
              </a:rPr>
              <a:t>，则蓝边总数至多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</a:t>
            </a:r>
            <a:r>
              <a:rPr lang="en-US" altLang="zh-CN" sz="2800" b="1">
                <a:latin typeface="Times New Roman" panose="02020603050405020304" pitchFamily="18" charset="0"/>
              </a:rPr>
              <a:t>(3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>
                <a:latin typeface="Times New Roman" panose="02020603050405020304" pitchFamily="18" charset="0"/>
              </a:rPr>
              <a:t>9)/2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</a:t>
            </a:r>
            <a:r>
              <a:rPr lang="en-US" altLang="zh-CN" sz="2800" b="1">
                <a:latin typeface="Times New Roman" panose="02020603050405020304" pitchFamily="18" charset="0"/>
              </a:rPr>
              <a:t>=13</a:t>
            </a:r>
            <a:r>
              <a:rPr lang="zh-CN" altLang="en-US" sz="2800" b="1">
                <a:latin typeface="Times New Roman" panose="02020603050405020304" pitchFamily="18" charset="0"/>
              </a:rPr>
              <a:t>，红边总数至多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</a:t>
            </a:r>
            <a:r>
              <a:rPr lang="en-US" altLang="zh-CN" sz="2800" b="1">
                <a:latin typeface="Times New Roman" panose="02020603050405020304" pitchFamily="18" charset="0"/>
              </a:rPr>
              <a:t>(5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>
                <a:latin typeface="Times New Roman" panose="02020603050405020304" pitchFamily="18" charset="0"/>
              </a:rPr>
              <a:t>9)/2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</a:t>
            </a:r>
            <a:r>
              <a:rPr lang="en-US" altLang="zh-CN" sz="2800" b="1">
                <a:latin typeface="Times New Roman" panose="02020603050405020304" pitchFamily="18" charset="0"/>
              </a:rPr>
              <a:t>=22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总共 </a:t>
            </a:r>
            <a:r>
              <a:rPr lang="en-US" altLang="zh-CN" sz="2800" b="1">
                <a:latin typeface="Times New Roman" panose="02020603050405020304" pitchFamily="18" charset="0"/>
              </a:rPr>
              <a:t>35 </a:t>
            </a:r>
            <a:r>
              <a:rPr lang="zh-CN" altLang="en-US" sz="2800" b="1">
                <a:latin typeface="Times New Roman" panose="02020603050405020304" pitchFamily="18" charset="0"/>
              </a:rPr>
              <a:t>条边，与 </a:t>
            </a:r>
            <a:r>
              <a:rPr lang="en-US" altLang="zh-CN" sz="2800" b="1" i="1">
                <a:latin typeface="Times New Roman" panose="02020603050405020304" pitchFamily="18" charset="0"/>
              </a:rPr>
              <a:t>K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9 </a:t>
            </a:r>
            <a:r>
              <a:rPr lang="zh-CN" altLang="en-US" sz="2800" b="1">
                <a:latin typeface="Times New Roman" panose="02020603050405020304" pitchFamily="18" charset="0"/>
              </a:rPr>
              <a:t>边数为 </a:t>
            </a:r>
            <a:r>
              <a:rPr lang="en-US" altLang="zh-CN" sz="2800" b="1">
                <a:latin typeface="Times New Roman" panose="02020603050405020304" pitchFamily="18" charset="0"/>
              </a:rPr>
              <a:t>36 </a:t>
            </a:r>
            <a:r>
              <a:rPr lang="zh-CN" altLang="en-US" sz="2800" b="1">
                <a:latin typeface="Times New Roman" panose="02020603050405020304" pitchFamily="18" charset="0"/>
              </a:rPr>
              <a:t>矛盾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8917" name="灯片编号占位符 7">
            <a:extLst>
              <a:ext uri="{FF2B5EF4-FFF2-40B4-BE49-F238E27FC236}">
                <a16:creationId xmlns:a16="http://schemas.microsoft.com/office/drawing/2014/main" id="{E8AFEA64-0FBE-43E4-86EA-B2FD4238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93B1D7E-0B07-4FEA-B243-A1E64CBFAEBB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CC11BC01-46C2-4776-AEFC-FC58253CA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8" y="3284538"/>
            <a:ext cx="7772400" cy="1150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5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800" b="1" dirty="0">
                <a:latin typeface="Times New Roman" pitchFamily="18" charset="0"/>
              </a:rPr>
              <a:t>设</a:t>
            </a:r>
            <a:r>
              <a:rPr lang="en-US" altLang="zh-CN" sz="2800" b="1" i="1" dirty="0">
                <a:latin typeface="Times New Roman" pitchFamily="18" charset="0"/>
              </a:rPr>
              <a:t>v</a:t>
            </a:r>
            <a:r>
              <a:rPr lang="en-US" altLang="zh-CN" sz="2800" b="1" baseline="-25000" dirty="0">
                <a:latin typeface="Times New Roman" pitchFamily="18" charset="0"/>
              </a:rPr>
              <a:t>1</a:t>
            </a:r>
            <a:r>
              <a:rPr lang="zh-CN" altLang="en-US" sz="2800" b="1" dirty="0">
                <a:latin typeface="Times New Roman" pitchFamily="18" charset="0"/>
              </a:rPr>
              <a:t>关联 </a:t>
            </a:r>
            <a:r>
              <a:rPr lang="en-US" altLang="zh-CN" sz="2800" b="1" dirty="0">
                <a:latin typeface="Times New Roman" pitchFamily="18" charset="0"/>
              </a:rPr>
              <a:t>4 </a:t>
            </a:r>
            <a:r>
              <a:rPr lang="zh-CN" altLang="en-US" sz="2800" b="1" dirty="0">
                <a:latin typeface="Times New Roman" pitchFamily="18" charset="0"/>
              </a:rPr>
              <a:t>条蓝边，若对应 </a:t>
            </a:r>
            <a:r>
              <a:rPr lang="en-US" altLang="zh-CN" sz="2800" b="1" dirty="0">
                <a:latin typeface="Times New Roman" pitchFamily="18" charset="0"/>
              </a:rPr>
              <a:t>4 </a:t>
            </a:r>
            <a:r>
              <a:rPr lang="zh-CN" altLang="en-US" sz="2800" b="1" dirty="0">
                <a:latin typeface="Times New Roman" pitchFamily="18" charset="0"/>
              </a:rPr>
              <a:t>个顶点没有蓝边，</a:t>
            </a:r>
            <a:endParaRPr lang="en-US" altLang="zh-CN" sz="2800" b="1" dirty="0">
              <a:latin typeface="Times New Roman" pitchFamily="18" charset="0"/>
            </a:endParaRPr>
          </a:p>
          <a:p>
            <a:pPr>
              <a:spcBef>
                <a:spcPts val="6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800" b="1" dirty="0">
                <a:latin typeface="Times New Roman" pitchFamily="18" charset="0"/>
              </a:rPr>
              <a:t>则构成红 </a:t>
            </a:r>
            <a:r>
              <a:rPr lang="en-US" altLang="zh-CN" sz="2800" b="1" i="1" dirty="0">
                <a:latin typeface="Times New Roman" pitchFamily="18" charset="0"/>
              </a:rPr>
              <a:t>K</a:t>
            </a:r>
            <a:r>
              <a:rPr lang="en-US" altLang="zh-CN" sz="2800" b="1" baseline="-25000" dirty="0">
                <a:latin typeface="Times New Roman" pitchFamily="18" charset="0"/>
              </a:rPr>
              <a:t>4</a:t>
            </a:r>
            <a:r>
              <a:rPr lang="zh-CN" altLang="en-US" sz="2800" b="1" dirty="0">
                <a:latin typeface="Times New Roman" pitchFamily="18" charset="0"/>
              </a:rPr>
              <a:t>；有</a:t>
            </a:r>
            <a:r>
              <a:rPr lang="en-US" altLang="zh-CN" sz="2800" b="1" dirty="0">
                <a:latin typeface="Times New Roman" pitchFamily="18" charset="0"/>
              </a:rPr>
              <a:t>1</a:t>
            </a:r>
            <a:r>
              <a:rPr lang="zh-CN" altLang="en-US" sz="2800" b="1" dirty="0">
                <a:latin typeface="Times New Roman" pitchFamily="18" charset="0"/>
              </a:rPr>
              <a:t>条蓝边，则构成兰 </a:t>
            </a:r>
            <a:r>
              <a:rPr lang="en-US" altLang="zh-CN" sz="2800" b="1" i="1" dirty="0">
                <a:latin typeface="Times New Roman" pitchFamily="18" charset="0"/>
              </a:rPr>
              <a:t>K</a:t>
            </a:r>
            <a:r>
              <a:rPr lang="en-US" altLang="zh-CN" sz="2800" b="1" baseline="-25000" dirty="0">
                <a:latin typeface="Times New Roman" pitchFamily="18" charset="0"/>
              </a:rPr>
              <a:t>3</a:t>
            </a:r>
            <a:r>
              <a:rPr lang="en-US" altLang="zh-CN" sz="2800" b="1" dirty="0">
                <a:latin typeface="Times New Roman" pitchFamily="18" charset="0"/>
              </a:rPr>
              <a:t> .</a:t>
            </a:r>
          </a:p>
        </p:txBody>
      </p:sp>
      <p:grpSp>
        <p:nvGrpSpPr>
          <p:cNvPr id="12294" name="组合 82">
            <a:extLst>
              <a:ext uri="{FF2B5EF4-FFF2-40B4-BE49-F238E27FC236}">
                <a16:creationId xmlns:a16="http://schemas.microsoft.com/office/drawing/2014/main" id="{89F4DEEA-5AA0-4230-A6AE-DA6D069C5D63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4581525"/>
            <a:ext cx="1728787" cy="1727200"/>
            <a:chOff x="2843808" y="4437112"/>
            <a:chExt cx="1728192" cy="1728192"/>
          </a:xfrm>
        </p:grpSpPr>
        <p:sp>
          <p:nvSpPr>
            <p:cNvPr id="82" name="梯形 81">
              <a:extLst>
                <a:ext uri="{FF2B5EF4-FFF2-40B4-BE49-F238E27FC236}">
                  <a16:creationId xmlns:a16="http://schemas.microsoft.com/office/drawing/2014/main" id="{70C6E2EE-0E6C-4AE1-BBE9-15EDFF1CC3DE}"/>
                </a:ext>
              </a:extLst>
            </p:cNvPr>
            <p:cNvSpPr/>
            <p:nvPr/>
          </p:nvSpPr>
          <p:spPr>
            <a:xfrm rot="10800000">
              <a:off x="2915220" y="5156663"/>
              <a:ext cx="1585367" cy="937163"/>
            </a:xfrm>
            <a:prstGeom prst="trapezoid">
              <a:avLst>
                <a:gd name="adj" fmla="val 35324"/>
              </a:avLst>
            </a:prstGeom>
            <a:solidFill>
              <a:srgbClr val="FF0000">
                <a:alpha val="18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12319" name="组合 68">
              <a:extLst>
                <a:ext uri="{FF2B5EF4-FFF2-40B4-BE49-F238E27FC236}">
                  <a16:creationId xmlns:a16="http://schemas.microsoft.com/office/drawing/2014/main" id="{A7CBBADF-07FD-44D8-AD9B-871B7436D5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3808" y="4437112"/>
              <a:ext cx="1728192" cy="1728192"/>
              <a:chOff x="2123728" y="4437112"/>
              <a:chExt cx="1728192" cy="1728192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0112F221-2A4B-4815-AA85-3EDEFE024D99}"/>
                  </a:ext>
                </a:extLst>
              </p:cNvPr>
              <p:cNvCxnSpPr/>
              <p:nvPr/>
            </p:nvCxnSpPr>
            <p:spPr>
              <a:xfrm flipH="1" flipV="1">
                <a:off x="2195140" y="5156663"/>
                <a:ext cx="1225128" cy="937163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321" name="组合 67">
                <a:extLst>
                  <a:ext uri="{FF2B5EF4-FFF2-40B4-BE49-F238E27FC236}">
                    <a16:creationId xmlns:a16="http://schemas.microsoft.com/office/drawing/2014/main" id="{F6E6110F-8C8A-4F48-9A97-7D17DB44F8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23728" y="4437112"/>
                <a:ext cx="1728192" cy="1728192"/>
                <a:chOff x="2123728" y="4437112"/>
                <a:chExt cx="1728192" cy="1728192"/>
              </a:xfrm>
            </p:grpSpPr>
            <p:grpSp>
              <p:nvGrpSpPr>
                <p:cNvPr id="12322" name="组合 64">
                  <a:extLst>
                    <a:ext uri="{FF2B5EF4-FFF2-40B4-BE49-F238E27FC236}">
                      <a16:creationId xmlns:a16="http://schemas.microsoft.com/office/drawing/2014/main" id="{A24C776B-D166-44FE-99BA-9A26754399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95736" y="4509120"/>
                  <a:ext cx="1584176" cy="1584176"/>
                  <a:chOff x="2195736" y="4509120"/>
                  <a:chExt cx="1584176" cy="1584176"/>
                </a:xfrm>
              </p:grpSpPr>
              <p:cxnSp>
                <p:nvCxnSpPr>
                  <p:cNvPr id="10" name="直接连接符 9">
                    <a:extLst>
                      <a:ext uri="{FF2B5EF4-FFF2-40B4-BE49-F238E27FC236}">
                        <a16:creationId xmlns:a16="http://schemas.microsoft.com/office/drawing/2014/main" id="{49070ECB-6EEE-4D3D-9B66-DA827DAE6F70}"/>
                      </a:ext>
                    </a:extLst>
                  </p:cNvPr>
                  <p:cNvCxnSpPr/>
                  <p:nvPr/>
                </p:nvCxnSpPr>
                <p:spPr>
                  <a:xfrm>
                    <a:off x="2195140" y="5156663"/>
                    <a:ext cx="1585368" cy="0"/>
                  </a:xfrm>
                  <a:prstGeom prst="line">
                    <a:avLst/>
                  </a:prstGeom>
                  <a:ln w="317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直接连接符 10">
                    <a:extLst>
                      <a:ext uri="{FF2B5EF4-FFF2-40B4-BE49-F238E27FC236}">
                        <a16:creationId xmlns:a16="http://schemas.microsoft.com/office/drawing/2014/main" id="{9C5175DA-9D37-4A7D-9CE1-6F6F791972B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95140" y="4508591"/>
                    <a:ext cx="793477" cy="648072"/>
                  </a:xfrm>
                  <a:prstGeom prst="line">
                    <a:avLst/>
                  </a:prstGeom>
                  <a:ln w="31750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直接连接符 18">
                    <a:extLst>
                      <a:ext uri="{FF2B5EF4-FFF2-40B4-BE49-F238E27FC236}">
                        <a16:creationId xmlns:a16="http://schemas.microsoft.com/office/drawing/2014/main" id="{77890323-F083-4B9A-85A4-AEBD45AE22F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483966" y="4580069"/>
                    <a:ext cx="431652" cy="1513757"/>
                  </a:xfrm>
                  <a:prstGeom prst="line">
                    <a:avLst/>
                  </a:prstGeom>
                  <a:ln w="31750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>
                    <a:extLst>
                      <a:ext uri="{FF2B5EF4-FFF2-40B4-BE49-F238E27FC236}">
                        <a16:creationId xmlns:a16="http://schemas.microsoft.com/office/drawing/2014/main" id="{F5FD17A6-21AF-4630-9E76-AD13235BBB58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2988617" y="4508591"/>
                    <a:ext cx="431652" cy="1585235"/>
                  </a:xfrm>
                  <a:prstGeom prst="line">
                    <a:avLst/>
                  </a:prstGeom>
                  <a:ln w="31750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直接连接符 26">
                    <a:extLst>
                      <a:ext uri="{FF2B5EF4-FFF2-40B4-BE49-F238E27FC236}">
                        <a16:creationId xmlns:a16="http://schemas.microsoft.com/office/drawing/2014/main" id="{9CE06735-4445-43E2-9A9F-C409EE25026F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2195140" y="5156663"/>
                    <a:ext cx="288826" cy="865684"/>
                  </a:xfrm>
                  <a:prstGeom prst="line">
                    <a:avLst/>
                  </a:prstGeom>
                  <a:ln w="317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直接连接符 29">
                    <a:extLst>
                      <a:ext uri="{FF2B5EF4-FFF2-40B4-BE49-F238E27FC236}">
                        <a16:creationId xmlns:a16="http://schemas.microsoft.com/office/drawing/2014/main" id="{5F211E1E-C185-4E2D-AD91-95BDFE98EC29}"/>
                      </a:ext>
                    </a:extLst>
                  </p:cNvPr>
                  <p:cNvCxnSpPr/>
                  <p:nvPr/>
                </p:nvCxnSpPr>
                <p:spPr>
                  <a:xfrm>
                    <a:off x="2483966" y="6093825"/>
                    <a:ext cx="936303" cy="0"/>
                  </a:xfrm>
                  <a:prstGeom prst="line">
                    <a:avLst/>
                  </a:prstGeom>
                  <a:ln w="317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直接连接符 30">
                    <a:extLst>
                      <a:ext uri="{FF2B5EF4-FFF2-40B4-BE49-F238E27FC236}">
                        <a16:creationId xmlns:a16="http://schemas.microsoft.com/office/drawing/2014/main" id="{6A05FB8E-FB44-4AEF-8A7D-7190A662BD1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483966" y="5156663"/>
                    <a:ext cx="1296542" cy="937163"/>
                  </a:xfrm>
                  <a:prstGeom prst="line">
                    <a:avLst/>
                  </a:prstGeom>
                  <a:ln w="317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323" name="组合 66">
                  <a:extLst>
                    <a:ext uri="{FF2B5EF4-FFF2-40B4-BE49-F238E27FC236}">
                      <a16:creationId xmlns:a16="http://schemas.microsoft.com/office/drawing/2014/main" id="{4394361E-C279-4B98-A5F6-205B04F25C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23728" y="4437112"/>
                  <a:ext cx="1728192" cy="1728192"/>
                  <a:chOff x="2123728" y="4437112"/>
                  <a:chExt cx="1728192" cy="1728192"/>
                </a:xfrm>
              </p:grpSpPr>
              <p:cxnSp>
                <p:nvCxnSpPr>
                  <p:cNvPr id="28" name="直接连接符 27">
                    <a:extLst>
                      <a:ext uri="{FF2B5EF4-FFF2-40B4-BE49-F238E27FC236}">
                        <a16:creationId xmlns:a16="http://schemas.microsoft.com/office/drawing/2014/main" id="{444C1217-628A-43EC-BC70-C56FB49D220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420269" y="5156663"/>
                    <a:ext cx="360239" cy="937163"/>
                  </a:xfrm>
                  <a:prstGeom prst="line">
                    <a:avLst/>
                  </a:prstGeom>
                  <a:ln w="317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325" name="组合 65">
                    <a:extLst>
                      <a:ext uri="{FF2B5EF4-FFF2-40B4-BE49-F238E27FC236}">
                        <a16:creationId xmlns:a16="http://schemas.microsoft.com/office/drawing/2014/main" id="{8827171C-DC83-40C0-B032-6511EB0AA8B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123728" y="4437112"/>
                    <a:ext cx="1728192" cy="1728192"/>
                    <a:chOff x="2123728" y="4437112"/>
                    <a:chExt cx="1728192" cy="1728192"/>
                  </a:xfrm>
                </p:grpSpPr>
                <p:cxnSp>
                  <p:nvCxnSpPr>
                    <p:cNvPr id="18" name="直接连接符 17">
                      <a:extLst>
                        <a:ext uri="{FF2B5EF4-FFF2-40B4-BE49-F238E27FC236}">
                          <a16:creationId xmlns:a16="http://schemas.microsoft.com/office/drawing/2014/main" id="{CF253329-59A4-4519-94EB-0D8AF1ACCC45}"/>
                        </a:ext>
                      </a:extLst>
                    </p:cNvPr>
                    <p:cNvCxnSpPr/>
                    <p:nvPr/>
                  </p:nvCxnSpPr>
                  <p:spPr>
                    <a:xfrm flipH="1" flipV="1">
                      <a:off x="2988617" y="4508591"/>
                      <a:ext cx="791890" cy="648072"/>
                    </a:xfrm>
                    <a:prstGeom prst="line">
                      <a:avLst/>
                    </a:prstGeom>
                    <a:ln w="31750">
                      <a:solidFill>
                        <a:srgbClr val="0070C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" name="椭圆 16">
                      <a:extLst>
                        <a:ext uri="{FF2B5EF4-FFF2-40B4-BE49-F238E27FC236}">
                          <a16:creationId xmlns:a16="http://schemas.microsoft.com/office/drawing/2014/main" id="{38F585A7-C79F-4EA6-A9AB-AE6FEE3473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15617" y="4437112"/>
                      <a:ext cx="144413" cy="144546"/>
                    </a:xfrm>
                    <a:prstGeom prst="ellipse">
                      <a:avLst/>
                    </a:prstGeom>
                    <a:solidFill>
                      <a:schemeClr val="tx2">
                        <a:lumMod val="90000"/>
                        <a:lumOff val="1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/>
                    </a:p>
                  </p:txBody>
                </p:sp>
                <p:sp>
                  <p:nvSpPr>
                    <p:cNvPr id="12" name="椭圆 11">
                      <a:extLst>
                        <a:ext uri="{FF2B5EF4-FFF2-40B4-BE49-F238E27FC236}">
                          <a16:creationId xmlns:a16="http://schemas.microsoft.com/office/drawing/2014/main" id="{367B4426-EF56-45C9-8019-1966194592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23728" y="5085184"/>
                      <a:ext cx="144412" cy="144546"/>
                    </a:xfrm>
                    <a:prstGeom prst="ellipse">
                      <a:avLst/>
                    </a:prstGeom>
                    <a:solidFill>
                      <a:schemeClr val="tx2">
                        <a:lumMod val="90000"/>
                        <a:lumOff val="1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/>
                    </a:p>
                  </p:txBody>
                </p:sp>
                <p:sp>
                  <p:nvSpPr>
                    <p:cNvPr id="13" name="椭圆 12">
                      <a:extLst>
                        <a:ext uri="{FF2B5EF4-FFF2-40B4-BE49-F238E27FC236}">
                          <a16:creationId xmlns:a16="http://schemas.microsoft.com/office/drawing/2014/main" id="{ABC4DDE4-0633-44DE-B3B3-8908F266A7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07508" y="5085184"/>
                      <a:ext cx="144412" cy="144546"/>
                    </a:xfrm>
                    <a:prstGeom prst="ellipse">
                      <a:avLst/>
                    </a:prstGeom>
                    <a:solidFill>
                      <a:schemeClr val="tx2">
                        <a:lumMod val="90000"/>
                        <a:lumOff val="1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/>
                    </a:p>
                  </p:txBody>
                </p:sp>
                <p:sp>
                  <p:nvSpPr>
                    <p:cNvPr id="14" name="椭圆 13">
                      <a:extLst>
                        <a:ext uri="{FF2B5EF4-FFF2-40B4-BE49-F238E27FC236}">
                          <a16:creationId xmlns:a16="http://schemas.microsoft.com/office/drawing/2014/main" id="{1C2CFE10-0005-44BB-B904-4D2F636CB8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2554" y="6020759"/>
                      <a:ext cx="142826" cy="144545"/>
                    </a:xfrm>
                    <a:prstGeom prst="ellipse">
                      <a:avLst/>
                    </a:prstGeom>
                    <a:solidFill>
                      <a:schemeClr val="tx2">
                        <a:lumMod val="90000"/>
                        <a:lumOff val="1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/>
                    </a:p>
                  </p:txBody>
                </p:sp>
                <p:sp>
                  <p:nvSpPr>
                    <p:cNvPr id="15" name="椭圆 14">
                      <a:extLst>
                        <a:ext uri="{FF2B5EF4-FFF2-40B4-BE49-F238E27FC236}">
                          <a16:creationId xmlns:a16="http://schemas.microsoft.com/office/drawing/2014/main" id="{086E8BC5-E28A-46E0-A3B8-9E902D2823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47269" y="6020759"/>
                      <a:ext cx="144413" cy="144545"/>
                    </a:xfrm>
                    <a:prstGeom prst="ellipse">
                      <a:avLst/>
                    </a:prstGeom>
                    <a:solidFill>
                      <a:schemeClr val="tx2">
                        <a:lumMod val="90000"/>
                        <a:lumOff val="1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/>
                    </a:p>
                  </p:txBody>
                </p:sp>
              </p:grpSp>
            </p:grpSp>
          </p:grpSp>
        </p:grpSp>
      </p:grpSp>
      <p:sp>
        <p:nvSpPr>
          <p:cNvPr id="12295" name="TextBox 83">
            <a:extLst>
              <a:ext uri="{FF2B5EF4-FFF2-40B4-BE49-F238E27FC236}">
                <a16:creationId xmlns:a16="http://schemas.microsoft.com/office/drawing/2014/main" id="{78F0F8E1-D2A4-4D00-BFC5-6E9EE7685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4437063"/>
            <a:ext cx="4238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6" name="TextBox 103">
            <a:extLst>
              <a:ext uri="{FF2B5EF4-FFF2-40B4-BE49-F238E27FC236}">
                <a16:creationId xmlns:a16="http://schemas.microsoft.com/office/drawing/2014/main" id="{7825D3CE-C67C-43B6-8851-31DBB9062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4365625"/>
            <a:ext cx="4222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297" name="组合 107">
            <a:extLst>
              <a:ext uri="{FF2B5EF4-FFF2-40B4-BE49-F238E27FC236}">
                <a16:creationId xmlns:a16="http://schemas.microsoft.com/office/drawing/2014/main" id="{846CAADF-FDE2-4B34-8F2E-FE20115AA3FF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4545013"/>
            <a:ext cx="1727200" cy="1763712"/>
            <a:chOff x="395536" y="4552710"/>
            <a:chExt cx="1728192" cy="1764994"/>
          </a:xfrm>
        </p:grpSpPr>
        <p:sp>
          <p:nvSpPr>
            <p:cNvPr id="107" name="等腰三角形 106">
              <a:extLst>
                <a:ext uri="{FF2B5EF4-FFF2-40B4-BE49-F238E27FC236}">
                  <a16:creationId xmlns:a16="http://schemas.microsoft.com/office/drawing/2014/main" id="{7C5E33C1-12AF-44F0-802F-46D6162E4720}"/>
                </a:ext>
              </a:extLst>
            </p:cNvPr>
            <p:cNvSpPr/>
            <p:nvPr/>
          </p:nvSpPr>
          <p:spPr>
            <a:xfrm rot="17196235">
              <a:off x="-115264" y="5104809"/>
              <a:ext cx="1649023" cy="544826"/>
            </a:xfrm>
            <a:prstGeom prst="triangle">
              <a:avLst>
                <a:gd name="adj" fmla="val 48493"/>
              </a:avLst>
            </a:prstGeom>
            <a:solidFill>
              <a:srgbClr val="00B0F0">
                <a:alpha val="34000"/>
              </a:srgbClr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12299" name="组合 102">
              <a:extLst>
                <a:ext uri="{FF2B5EF4-FFF2-40B4-BE49-F238E27FC236}">
                  <a16:creationId xmlns:a16="http://schemas.microsoft.com/office/drawing/2014/main" id="{B82F8ED1-8569-4E3E-ACAC-0134F59AF6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36" y="4589512"/>
              <a:ext cx="1728192" cy="1728192"/>
              <a:chOff x="251520" y="4589512"/>
              <a:chExt cx="1728192" cy="1728192"/>
            </a:xfrm>
          </p:grpSpPr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A544FEAF-81B0-4C5B-9DC1-AABE0DE92803}"/>
                  </a:ext>
                </a:extLst>
              </p:cNvPr>
              <p:cNvCxnSpPr/>
              <p:nvPr/>
            </p:nvCxnSpPr>
            <p:spPr>
              <a:xfrm flipV="1">
                <a:off x="1547664" y="5308909"/>
                <a:ext cx="360570" cy="937306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301" name="组合 101">
                <a:extLst>
                  <a:ext uri="{FF2B5EF4-FFF2-40B4-BE49-F238E27FC236}">
                    <a16:creationId xmlns:a16="http://schemas.microsoft.com/office/drawing/2014/main" id="{7A45037F-5BB6-4DAC-9A60-93EB17F258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1520" y="4589512"/>
                <a:ext cx="1728192" cy="1728192"/>
                <a:chOff x="251520" y="4589512"/>
                <a:chExt cx="1728192" cy="1728192"/>
              </a:xfrm>
            </p:grpSpPr>
            <p:cxnSp>
              <p:nvCxnSpPr>
                <p:cNvPr id="90" name="直接连接符 89">
                  <a:extLst>
                    <a:ext uri="{FF2B5EF4-FFF2-40B4-BE49-F238E27FC236}">
                      <a16:creationId xmlns:a16="http://schemas.microsoft.com/office/drawing/2014/main" id="{B95571FE-62F4-4570-97C1-DDE652B75684}"/>
                    </a:ext>
                  </a:extLst>
                </p:cNvPr>
                <p:cNvCxnSpPr/>
                <p:nvPr/>
              </p:nvCxnSpPr>
              <p:spPr>
                <a:xfrm flipH="1" flipV="1">
                  <a:off x="288054" y="5219945"/>
                  <a:ext cx="273207" cy="996085"/>
                </a:xfrm>
                <a:prstGeom prst="line">
                  <a:avLst/>
                </a:prstGeom>
                <a:ln w="3175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303" name="组合 100">
                  <a:extLst>
                    <a:ext uri="{FF2B5EF4-FFF2-40B4-BE49-F238E27FC236}">
                      <a16:creationId xmlns:a16="http://schemas.microsoft.com/office/drawing/2014/main" id="{FA128488-1124-457E-8AB7-B3449AEA1BE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1520" y="4589512"/>
                  <a:ext cx="1728192" cy="1728192"/>
                  <a:chOff x="251520" y="4589512"/>
                  <a:chExt cx="1728192" cy="1728192"/>
                </a:xfrm>
              </p:grpSpPr>
              <p:grpSp>
                <p:nvGrpSpPr>
                  <p:cNvPr id="12304" name="组合 96">
                    <a:extLst>
                      <a:ext uri="{FF2B5EF4-FFF2-40B4-BE49-F238E27FC236}">
                        <a16:creationId xmlns:a16="http://schemas.microsoft.com/office/drawing/2014/main" id="{426EA833-13C4-4578-B4A2-FA1F5CE9F87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3528" y="4661520"/>
                    <a:ext cx="1584176" cy="1584176"/>
                    <a:chOff x="323528" y="4661520"/>
                    <a:chExt cx="1584176" cy="1584176"/>
                  </a:xfrm>
                </p:grpSpPr>
                <p:cxnSp>
                  <p:nvCxnSpPr>
                    <p:cNvPr id="21" name="直接连接符 20">
                      <a:extLst>
                        <a:ext uri="{FF2B5EF4-FFF2-40B4-BE49-F238E27FC236}">
                          <a16:creationId xmlns:a16="http://schemas.microsoft.com/office/drawing/2014/main" id="{95915963-35CE-4CE3-876A-5F1728DA44F1}"/>
                        </a:ext>
                      </a:extLst>
                    </p:cNvPr>
                    <p:cNvCxnSpPr>
                      <a:stCxn id="61" idx="7"/>
                      <a:endCxn id="56" idx="2"/>
                    </p:cNvCxnSpPr>
                    <p:nvPr/>
                  </p:nvCxnSpPr>
                  <p:spPr>
                    <a:xfrm flipV="1">
                      <a:off x="373828" y="4660738"/>
                      <a:ext cx="670310" cy="597334"/>
                    </a:xfrm>
                    <a:prstGeom prst="line">
                      <a:avLst/>
                    </a:prstGeom>
                    <a:ln w="31750">
                      <a:solidFill>
                        <a:srgbClr val="0070C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" name="直接连接符 53">
                      <a:extLst>
                        <a:ext uri="{FF2B5EF4-FFF2-40B4-BE49-F238E27FC236}">
                          <a16:creationId xmlns:a16="http://schemas.microsoft.com/office/drawing/2014/main" id="{262E9341-8795-4AB4-BE2D-047BD2E1F56B}"/>
                        </a:ext>
                      </a:extLst>
                    </p:cNvPr>
                    <p:cNvCxnSpPr>
                      <a:endCxn id="56" idx="3"/>
                    </p:cNvCxnSpPr>
                    <p:nvPr/>
                  </p:nvCxnSpPr>
                  <p:spPr>
                    <a:xfrm flipV="1">
                      <a:off x="610501" y="4711575"/>
                      <a:ext cx="454286" cy="1534639"/>
                    </a:xfrm>
                    <a:prstGeom prst="line">
                      <a:avLst/>
                    </a:prstGeom>
                    <a:ln w="31750">
                      <a:solidFill>
                        <a:srgbClr val="0070C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" name="直接连接符 54">
                      <a:extLst>
                        <a:ext uri="{FF2B5EF4-FFF2-40B4-BE49-F238E27FC236}">
                          <a16:creationId xmlns:a16="http://schemas.microsoft.com/office/drawing/2014/main" id="{3C003838-A940-48D3-B8C8-93031DAC5056}"/>
                        </a:ext>
                      </a:extLst>
                    </p:cNvPr>
                    <p:cNvCxnSpPr/>
                    <p:nvPr/>
                  </p:nvCxnSpPr>
                  <p:spPr>
                    <a:xfrm flipH="1" flipV="1">
                      <a:off x="1115615" y="4660738"/>
                      <a:ext cx="432048" cy="1585476"/>
                    </a:xfrm>
                    <a:prstGeom prst="line">
                      <a:avLst/>
                    </a:prstGeom>
                    <a:ln w="31750">
                      <a:solidFill>
                        <a:srgbClr val="0070C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" name="直接连接符 56">
                      <a:extLst>
                        <a:ext uri="{FF2B5EF4-FFF2-40B4-BE49-F238E27FC236}">
                          <a16:creationId xmlns:a16="http://schemas.microsoft.com/office/drawing/2014/main" id="{9FC598D4-41BC-49FD-8B11-C5CEC9CFAA0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39023" y="6238271"/>
                      <a:ext cx="1081708" cy="0"/>
                    </a:xfrm>
                    <a:prstGeom prst="line">
                      <a:avLst/>
                    </a:prstGeom>
                    <a:ln w="3175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" name="直接连接符 58">
                      <a:extLst>
                        <a:ext uri="{FF2B5EF4-FFF2-40B4-BE49-F238E27FC236}">
                          <a16:creationId xmlns:a16="http://schemas.microsoft.com/office/drawing/2014/main" id="{8B2EAC50-35FB-4C84-A9BC-991732630F5C}"/>
                        </a:ext>
                      </a:extLst>
                    </p:cNvPr>
                    <p:cNvCxnSpPr/>
                    <p:nvPr/>
                  </p:nvCxnSpPr>
                  <p:spPr>
                    <a:xfrm flipH="1" flipV="1">
                      <a:off x="322999" y="5308909"/>
                      <a:ext cx="1224665" cy="937305"/>
                    </a:xfrm>
                    <a:prstGeom prst="line">
                      <a:avLst/>
                    </a:prstGeom>
                    <a:ln w="3175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0" name="直接连接符 59">
                      <a:extLst>
                        <a:ext uri="{FF2B5EF4-FFF2-40B4-BE49-F238E27FC236}">
                          <a16:creationId xmlns:a16="http://schemas.microsoft.com/office/drawing/2014/main" id="{FFD46D61-F20E-4CEF-8F76-B1088F245DC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10501" y="5308909"/>
                      <a:ext cx="1297733" cy="937305"/>
                    </a:xfrm>
                    <a:prstGeom prst="line">
                      <a:avLst/>
                    </a:prstGeom>
                    <a:ln w="3175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" name="直接连接符 84">
                      <a:extLst>
                        <a:ext uri="{FF2B5EF4-FFF2-40B4-BE49-F238E27FC236}">
                          <a16:creationId xmlns:a16="http://schemas.microsoft.com/office/drawing/2014/main" id="{9CB9DE25-3540-489A-9BBA-440AF51B685B}"/>
                        </a:ext>
                      </a:extLst>
                    </p:cNvPr>
                    <p:cNvCxnSpPr>
                      <a:stCxn id="62" idx="1"/>
                      <a:endCxn id="56" idx="5"/>
                    </p:cNvCxnSpPr>
                    <p:nvPr/>
                  </p:nvCxnSpPr>
                  <p:spPr>
                    <a:xfrm flipH="1" flipV="1">
                      <a:off x="1166445" y="4711575"/>
                      <a:ext cx="690959" cy="538553"/>
                    </a:xfrm>
                    <a:prstGeom prst="line">
                      <a:avLst/>
                    </a:prstGeom>
                    <a:ln w="31750">
                      <a:solidFill>
                        <a:srgbClr val="0070C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" name="直接连接符 92">
                      <a:extLst>
                        <a:ext uri="{FF2B5EF4-FFF2-40B4-BE49-F238E27FC236}">
                          <a16:creationId xmlns:a16="http://schemas.microsoft.com/office/drawing/2014/main" id="{3943A5F3-FFAA-4944-8D4B-5503BD2F43F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94477" y="5293022"/>
                      <a:ext cx="1442278" cy="7943"/>
                    </a:xfrm>
                    <a:prstGeom prst="line">
                      <a:avLst/>
                    </a:prstGeom>
                    <a:ln w="3175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6" name="椭圆 55">
                    <a:extLst>
                      <a:ext uri="{FF2B5EF4-FFF2-40B4-BE49-F238E27FC236}">
                        <a16:creationId xmlns:a16="http://schemas.microsoft.com/office/drawing/2014/main" id="{6BF5658E-662E-495F-A85E-FE896BB0EB0D}"/>
                      </a:ext>
                    </a:extLst>
                  </p:cNvPr>
                  <p:cNvSpPr/>
                  <p:nvPr/>
                </p:nvSpPr>
                <p:spPr>
                  <a:xfrm>
                    <a:off x="1044138" y="4589249"/>
                    <a:ext cx="142957" cy="144568"/>
                  </a:xfrm>
                  <a:prstGeom prst="ellipse">
                    <a:avLst/>
                  </a:prstGeom>
                  <a:solidFill>
                    <a:schemeClr val="tx2">
                      <a:lumMod val="90000"/>
                      <a:lumOff val="1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62" name="椭圆 61">
                    <a:extLst>
                      <a:ext uri="{FF2B5EF4-FFF2-40B4-BE49-F238E27FC236}">
                        <a16:creationId xmlns:a16="http://schemas.microsoft.com/office/drawing/2014/main" id="{B8D1B2A3-EC0B-46C9-BBF4-23B7CB714B12}"/>
                      </a:ext>
                    </a:extLst>
                  </p:cNvPr>
                  <p:cNvSpPr/>
                  <p:nvPr/>
                </p:nvSpPr>
                <p:spPr>
                  <a:xfrm>
                    <a:off x="1835167" y="5229477"/>
                    <a:ext cx="144545" cy="142979"/>
                  </a:xfrm>
                  <a:prstGeom prst="ellipse">
                    <a:avLst/>
                  </a:prstGeom>
                  <a:solidFill>
                    <a:schemeClr val="tx2">
                      <a:lumMod val="90000"/>
                      <a:lumOff val="1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64" name="椭圆 63">
                    <a:extLst>
                      <a:ext uri="{FF2B5EF4-FFF2-40B4-BE49-F238E27FC236}">
                        <a16:creationId xmlns:a16="http://schemas.microsoft.com/office/drawing/2014/main" id="{9A62EFF5-7F7E-4885-A9A5-E89DA69A4AE2}"/>
                      </a:ext>
                    </a:extLst>
                  </p:cNvPr>
                  <p:cNvSpPr/>
                  <p:nvPr/>
                </p:nvSpPr>
                <p:spPr>
                  <a:xfrm>
                    <a:off x="1476186" y="6165193"/>
                    <a:ext cx="142957" cy="144568"/>
                  </a:xfrm>
                  <a:prstGeom prst="ellipse">
                    <a:avLst/>
                  </a:prstGeom>
                  <a:solidFill>
                    <a:schemeClr val="tx2">
                      <a:lumMod val="90000"/>
                      <a:lumOff val="1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61" name="椭圆 60">
                    <a:extLst>
                      <a:ext uri="{FF2B5EF4-FFF2-40B4-BE49-F238E27FC236}">
                        <a16:creationId xmlns:a16="http://schemas.microsoft.com/office/drawing/2014/main" id="{8F21053F-6E7A-4C49-B59C-697A73F18B54}"/>
                      </a:ext>
                    </a:extLst>
                  </p:cNvPr>
                  <p:cNvSpPr/>
                  <p:nvPr/>
                </p:nvSpPr>
                <p:spPr>
                  <a:xfrm>
                    <a:off x="251520" y="5237420"/>
                    <a:ext cx="144546" cy="144568"/>
                  </a:xfrm>
                  <a:prstGeom prst="ellipse">
                    <a:avLst/>
                  </a:prstGeom>
                  <a:solidFill>
                    <a:schemeClr val="tx2">
                      <a:lumMod val="90000"/>
                      <a:lumOff val="1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63" name="椭圆 62">
                    <a:extLst>
                      <a:ext uri="{FF2B5EF4-FFF2-40B4-BE49-F238E27FC236}">
                        <a16:creationId xmlns:a16="http://schemas.microsoft.com/office/drawing/2014/main" id="{6B73BD97-11BB-44C0-A5A1-630BDA6F3110}"/>
                      </a:ext>
                    </a:extLst>
                  </p:cNvPr>
                  <p:cNvSpPr/>
                  <p:nvPr/>
                </p:nvSpPr>
                <p:spPr>
                  <a:xfrm>
                    <a:off x="539023" y="6173137"/>
                    <a:ext cx="144545" cy="144567"/>
                  </a:xfrm>
                  <a:prstGeom prst="ellipse">
                    <a:avLst/>
                  </a:prstGeom>
                  <a:solidFill>
                    <a:schemeClr val="tx2">
                      <a:lumMod val="90000"/>
                      <a:lumOff val="1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 34">
            <a:extLst>
              <a:ext uri="{FF2B5EF4-FFF2-40B4-BE49-F238E27FC236}">
                <a16:creationId xmlns:a16="http://schemas.microsoft.com/office/drawing/2014/main" id="{9260A8B0-8391-40EA-BF75-C987C7C0A5FE}"/>
              </a:ext>
            </a:extLst>
          </p:cNvPr>
          <p:cNvSpPr/>
          <p:nvPr/>
        </p:nvSpPr>
        <p:spPr>
          <a:xfrm>
            <a:off x="1547813" y="2708275"/>
            <a:ext cx="2303462" cy="1008063"/>
          </a:xfrm>
          <a:custGeom>
            <a:avLst/>
            <a:gdLst>
              <a:gd name="connsiteX0" fmla="*/ 0 w 2609385"/>
              <a:gd name="connsiteY0" fmla="*/ 11151 h 1260087"/>
              <a:gd name="connsiteX1" fmla="*/ 2609385 w 2609385"/>
              <a:gd name="connsiteY1" fmla="*/ 0 h 1260087"/>
              <a:gd name="connsiteX2" fmla="*/ 2575932 w 2609385"/>
              <a:gd name="connsiteY2" fmla="*/ 669073 h 1260087"/>
              <a:gd name="connsiteX3" fmla="*/ 2018371 w 2609385"/>
              <a:gd name="connsiteY3" fmla="*/ 1137424 h 1260087"/>
              <a:gd name="connsiteX4" fmla="*/ 1092820 w 2609385"/>
              <a:gd name="connsiteY4" fmla="*/ 1260087 h 1260087"/>
              <a:gd name="connsiteX5" fmla="*/ 144966 w 2609385"/>
              <a:gd name="connsiteY5" fmla="*/ 836341 h 1260087"/>
              <a:gd name="connsiteX6" fmla="*/ 0 w 2609385"/>
              <a:gd name="connsiteY6" fmla="*/ 11151 h 126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09385" h="1260087">
                <a:moveTo>
                  <a:pt x="0" y="11151"/>
                </a:moveTo>
                <a:lnTo>
                  <a:pt x="2609385" y="0"/>
                </a:lnTo>
                <a:lnTo>
                  <a:pt x="2575932" y="669073"/>
                </a:lnTo>
                <a:lnTo>
                  <a:pt x="2018371" y="1137424"/>
                </a:lnTo>
                <a:lnTo>
                  <a:pt x="1092820" y="1260087"/>
                </a:lnTo>
                <a:lnTo>
                  <a:pt x="144966" y="836341"/>
                </a:lnTo>
                <a:lnTo>
                  <a:pt x="0" y="11151"/>
                </a:lnTo>
                <a:close/>
              </a:path>
            </a:pathLst>
          </a:cu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315" name="组合 57">
            <a:extLst>
              <a:ext uri="{FF2B5EF4-FFF2-40B4-BE49-F238E27FC236}">
                <a16:creationId xmlns:a16="http://schemas.microsoft.com/office/drawing/2014/main" id="{A1A65DEA-B954-4B3A-BBF5-A3B341710B58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1916113"/>
            <a:ext cx="2303462" cy="1800225"/>
            <a:chOff x="1547664" y="1916832"/>
            <a:chExt cx="2304256" cy="1800201"/>
          </a:xfrm>
        </p:grpSpPr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55056C85-65E5-47CC-957C-F78426D7530B}"/>
                </a:ext>
              </a:extLst>
            </p:cNvPr>
            <p:cNvCxnSpPr>
              <a:stCxn id="35" idx="3"/>
              <a:endCxn id="35" idx="0"/>
            </p:cNvCxnSpPr>
            <p:nvPr/>
          </p:nvCxnSpPr>
          <p:spPr>
            <a:xfrm flipH="1" flipV="1">
              <a:off x="1547664" y="2718508"/>
              <a:ext cx="1781789" cy="900101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CEC2172F-28D8-4A22-8334-0F70B687CF36}"/>
                </a:ext>
              </a:extLst>
            </p:cNvPr>
            <p:cNvCxnSpPr>
              <a:stCxn id="35" idx="2"/>
              <a:endCxn id="35" idx="0"/>
            </p:cNvCxnSpPr>
            <p:nvPr/>
          </p:nvCxnSpPr>
          <p:spPr>
            <a:xfrm flipH="1" flipV="1">
              <a:off x="1547664" y="2718508"/>
              <a:ext cx="2274084" cy="525456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9">
              <a:extLst>
                <a:ext uri="{FF2B5EF4-FFF2-40B4-BE49-F238E27FC236}">
                  <a16:creationId xmlns:a16="http://schemas.microsoft.com/office/drawing/2014/main" id="{C214D9A8-C428-4B39-B466-73394E7C93CD}"/>
                </a:ext>
              </a:extLst>
            </p:cNvPr>
            <p:cNvCxnSpPr>
              <a:stCxn id="21" idx="4"/>
              <a:endCxn id="35" idx="3"/>
            </p:cNvCxnSpPr>
            <p:nvPr/>
          </p:nvCxnSpPr>
          <p:spPr>
            <a:xfrm>
              <a:off x="2700586" y="1988268"/>
              <a:ext cx="628867" cy="1630341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8DA452C-5403-4CE3-8504-5487F429DACC}"/>
                </a:ext>
              </a:extLst>
            </p:cNvPr>
            <p:cNvCxnSpPr>
              <a:stCxn id="35" idx="4"/>
              <a:endCxn id="21" idx="4"/>
            </p:cNvCxnSpPr>
            <p:nvPr/>
          </p:nvCxnSpPr>
          <p:spPr>
            <a:xfrm flipV="1">
              <a:off x="2513197" y="1988268"/>
              <a:ext cx="187390" cy="1728765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4EEC507-3413-4B53-A3C4-5252C4C77BC3}"/>
                </a:ext>
              </a:extLst>
            </p:cNvPr>
            <p:cNvCxnSpPr>
              <a:endCxn id="21" idx="3"/>
            </p:cNvCxnSpPr>
            <p:nvPr/>
          </p:nvCxnSpPr>
          <p:spPr>
            <a:xfrm flipV="1">
              <a:off x="1619126" y="1967631"/>
              <a:ext cx="1029055" cy="1409681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CA39AB34-720F-416A-A39F-FCFB5CFE31A3}"/>
                </a:ext>
              </a:extLst>
            </p:cNvPr>
            <p:cNvCxnSpPr/>
            <p:nvPr/>
          </p:nvCxnSpPr>
          <p:spPr>
            <a:xfrm>
              <a:off x="2822865" y="1988268"/>
              <a:ext cx="1029055" cy="1246171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220EE6CD-EF2C-4666-B07F-76E39A985659}"/>
                </a:ext>
              </a:extLst>
            </p:cNvPr>
            <p:cNvCxnSpPr>
              <a:stCxn id="35" idx="1"/>
              <a:endCxn id="21" idx="5"/>
            </p:cNvCxnSpPr>
            <p:nvPr/>
          </p:nvCxnSpPr>
          <p:spPr>
            <a:xfrm flipH="1" flipV="1">
              <a:off x="2751404" y="1967631"/>
              <a:ext cx="1100516" cy="741352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C26D342F-A25F-42C4-9E00-232B4AA7FEF8}"/>
                </a:ext>
              </a:extLst>
            </p:cNvPr>
            <p:cNvCxnSpPr>
              <a:stCxn id="35" idx="0"/>
              <a:endCxn id="21" idx="2"/>
            </p:cNvCxnSpPr>
            <p:nvPr/>
          </p:nvCxnSpPr>
          <p:spPr>
            <a:xfrm flipV="1">
              <a:off x="1547664" y="1916832"/>
              <a:ext cx="1079872" cy="801676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23F2DA25-5EEB-4A37-A880-5BD242E5B7F9}"/>
                </a:ext>
              </a:extLst>
            </p:cNvPr>
            <p:cNvCxnSpPr>
              <a:endCxn id="35" idx="3"/>
            </p:cNvCxnSpPr>
            <p:nvPr/>
          </p:nvCxnSpPr>
          <p:spPr>
            <a:xfrm flipH="1">
              <a:off x="3329453" y="3285239"/>
              <a:ext cx="428773" cy="333371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914" name="Rectangle 2">
            <a:extLst>
              <a:ext uri="{FF2B5EF4-FFF2-40B4-BE49-F238E27FC236}">
                <a16:creationId xmlns:a16="http://schemas.microsoft.com/office/drawing/2014/main" id="{5E1832BC-9376-4E6B-AF5F-58A793A32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4538" y="401227"/>
            <a:ext cx="8229600" cy="6334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命题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的证明</a:t>
            </a:r>
          </a:p>
        </p:txBody>
      </p:sp>
      <p:sp>
        <p:nvSpPr>
          <p:cNvPr id="39941" name="灯片编号占位符 9">
            <a:extLst>
              <a:ext uri="{FF2B5EF4-FFF2-40B4-BE49-F238E27FC236}">
                <a16:creationId xmlns:a16="http://schemas.microsoft.com/office/drawing/2014/main" id="{83A16E2E-321B-4EF7-B771-B381CCD7D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4788B5B-B3D4-4910-B7A0-7DC812BA495A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D939DE7-9D03-4D2D-95E8-BDDBB65AE095}"/>
              </a:ext>
            </a:extLst>
          </p:cNvPr>
          <p:cNvGrpSpPr>
            <a:grpSpLocks/>
          </p:cNvGrpSpPr>
          <p:nvPr/>
        </p:nvGrpSpPr>
        <p:grpSpPr bwMode="auto">
          <a:xfrm>
            <a:off x="481013" y="4076700"/>
            <a:ext cx="7764462" cy="2143125"/>
            <a:chOff x="439" y="2596"/>
            <a:chExt cx="4891" cy="1350"/>
          </a:xfrm>
        </p:grpSpPr>
        <p:pic>
          <p:nvPicPr>
            <p:cNvPr id="13353" name="Picture 4">
              <a:extLst>
                <a:ext uri="{FF2B5EF4-FFF2-40B4-BE49-F238E27FC236}">
                  <a16:creationId xmlns:a16="http://schemas.microsoft.com/office/drawing/2014/main" id="{FCCC3EF4-E80C-4B13-8EE6-C1AE865A5C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2" y="2596"/>
              <a:ext cx="1588" cy="1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54" name="Rectangle 5">
              <a:extLst>
                <a:ext uri="{FF2B5EF4-FFF2-40B4-BE49-F238E27FC236}">
                  <a16:creationId xmlns:a16="http://schemas.microsoft.com/office/drawing/2014/main" id="{DC08C174-1E51-4455-A2FC-4B0B73911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2596"/>
              <a:ext cx="3257" cy="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indent="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800" b="1">
                  <a:latin typeface="Times New Roman" panose="02020603050405020304" pitchFamily="18" charset="0"/>
                </a:rPr>
                <a:t>对于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K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8</a:t>
              </a:r>
              <a:r>
                <a:rPr lang="zh-CN" altLang="en-US" sz="2800" b="1">
                  <a:latin typeface="Times New Roman" panose="02020603050405020304" pitchFamily="18" charset="0"/>
                </a:rPr>
                <a:t>，存在一种涂色方案，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zh-CN" altLang="en-US" sz="2800" b="1">
                  <a:latin typeface="Times New Roman" panose="02020603050405020304" pitchFamily="18" charset="0"/>
                </a:rPr>
                <a:t>既没有蓝色三角形，也没有红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zh-CN" altLang="en-US" sz="2800" b="1">
                  <a:latin typeface="Times New Roman" panose="02020603050405020304" pitchFamily="18" charset="0"/>
                </a:rPr>
                <a:t>色完全四边形</a:t>
              </a:r>
              <a:r>
                <a:rPr lang="en-US" altLang="zh-CN" sz="2800" b="1">
                  <a:latin typeface="Times New Roman" panose="02020603050405020304" pitchFamily="18" charset="0"/>
                </a:rPr>
                <a:t>. 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sz="2800" b="1" i="1">
                  <a:latin typeface="Times New Roman" panose="02020603050405020304" pitchFamily="18" charset="0"/>
                </a:rPr>
                <a:t>R</a:t>
              </a:r>
              <a:r>
                <a:rPr lang="en-US" altLang="zh-CN" sz="2800" b="1">
                  <a:latin typeface="Times New Roman" panose="02020603050405020304" pitchFamily="18" charset="0"/>
                </a:rPr>
                <a:t>(3,4)=9.  </a:t>
              </a:r>
            </a:p>
          </p:txBody>
        </p:sp>
      </p:grpSp>
      <p:sp>
        <p:nvSpPr>
          <p:cNvPr id="13318" name="Rectangle 8">
            <a:extLst>
              <a:ext uri="{FF2B5EF4-FFF2-40B4-BE49-F238E27FC236}">
                <a16:creationId xmlns:a16="http://schemas.microsoft.com/office/drawing/2014/main" id="{5D87ABD7-71E5-49B9-AE1F-27837801A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052513"/>
            <a:ext cx="8124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设</a:t>
            </a:r>
            <a:r>
              <a:rPr lang="en-US" altLang="zh-CN" sz="2800" b="1" i="1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</a:rPr>
              <a:t>关联</a:t>
            </a:r>
            <a:r>
              <a:rPr lang="en-US" altLang="zh-CN" sz="2800" b="1">
                <a:latin typeface="Times New Roman" panose="02020603050405020304" pitchFamily="18" charset="0"/>
              </a:rPr>
              <a:t>6</a:t>
            </a:r>
            <a:r>
              <a:rPr lang="zh-CN" altLang="en-US" sz="2800" b="1">
                <a:latin typeface="Times New Roman" panose="02020603050405020304" pitchFamily="18" charset="0"/>
              </a:rPr>
              <a:t>条红边，对应</a:t>
            </a:r>
            <a:r>
              <a:rPr lang="en-US" altLang="zh-CN" sz="2800" b="1">
                <a:latin typeface="Times New Roman" panose="02020603050405020304" pitchFamily="18" charset="0"/>
              </a:rPr>
              <a:t>6</a:t>
            </a:r>
            <a:r>
              <a:rPr lang="zh-CN" altLang="en-US" sz="2800" b="1">
                <a:latin typeface="Times New Roman" panose="02020603050405020304" pitchFamily="18" charset="0"/>
              </a:rPr>
              <a:t>个顶点必有蓝</a:t>
            </a:r>
            <a:r>
              <a:rPr lang="en-US" altLang="zh-CN" sz="2800" b="1" i="1">
                <a:latin typeface="Times New Roman" panose="02020603050405020304" pitchFamily="18" charset="0"/>
              </a:rPr>
              <a:t>K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</a:rPr>
              <a:t>或红</a:t>
            </a:r>
            <a:r>
              <a:rPr lang="en-US" altLang="zh-CN" sz="2800" b="1" i="1">
                <a:latin typeface="Times New Roman" panose="02020603050405020304" pitchFamily="18" charset="0"/>
              </a:rPr>
              <a:t>K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4870F9C-C0B7-4EE1-A98D-65E998C85CC9}"/>
              </a:ext>
            </a:extLst>
          </p:cNvPr>
          <p:cNvCxnSpPr>
            <a:stCxn id="114" idx="3"/>
          </p:cNvCxnSpPr>
          <p:nvPr/>
        </p:nvCxnSpPr>
        <p:spPr>
          <a:xfrm flipV="1">
            <a:off x="6392863" y="2636838"/>
            <a:ext cx="555625" cy="987425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21" name="组合 130">
            <a:extLst>
              <a:ext uri="{FF2B5EF4-FFF2-40B4-BE49-F238E27FC236}">
                <a16:creationId xmlns:a16="http://schemas.microsoft.com/office/drawing/2014/main" id="{577D9971-83C2-4D8C-A900-1C0C2E9C4B6A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2759075"/>
            <a:ext cx="2181225" cy="860425"/>
            <a:chOff x="4716016" y="2759837"/>
            <a:chExt cx="2181331" cy="859061"/>
          </a:xfrm>
        </p:grpSpPr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A5FFAC85-3300-4D96-9876-BDDED74B397A}"/>
                </a:ext>
              </a:extLst>
            </p:cNvPr>
            <p:cNvCxnSpPr>
              <a:endCxn id="115" idx="3"/>
            </p:cNvCxnSpPr>
            <p:nvPr/>
          </p:nvCxnSpPr>
          <p:spPr>
            <a:xfrm flipV="1">
              <a:off x="4716016" y="2759837"/>
              <a:ext cx="2181331" cy="597539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4369F9E-8D8C-4BEC-80A4-366AFB267CBA}"/>
                </a:ext>
              </a:extLst>
            </p:cNvPr>
            <p:cNvCxnSpPr>
              <a:stCxn id="124" idx="3"/>
            </p:cNvCxnSpPr>
            <p:nvPr/>
          </p:nvCxnSpPr>
          <p:spPr>
            <a:xfrm flipH="1" flipV="1">
              <a:off x="4787456" y="3357376"/>
              <a:ext cx="1638380" cy="261522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22" name="组合 84">
            <a:extLst>
              <a:ext uri="{FF2B5EF4-FFF2-40B4-BE49-F238E27FC236}">
                <a16:creationId xmlns:a16="http://schemas.microsoft.com/office/drawing/2014/main" id="{4E471F82-4265-426B-A805-0CFA22CA3738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1844675"/>
            <a:ext cx="2374900" cy="1944688"/>
            <a:chOff x="1475656" y="1844824"/>
            <a:chExt cx="2376264" cy="1944216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94EDED91-A629-4D42-872F-B44D23F32C29}"/>
                </a:ext>
              </a:extLst>
            </p:cNvPr>
            <p:cNvSpPr/>
            <p:nvPr/>
          </p:nvSpPr>
          <p:spPr>
            <a:xfrm>
              <a:off x="1547135" y="3284338"/>
              <a:ext cx="144545" cy="144427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6793B5B5-D9A6-45D0-B725-977BB7E9DB95}"/>
                </a:ext>
              </a:extLst>
            </p:cNvPr>
            <p:cNvSpPr/>
            <p:nvPr/>
          </p:nvSpPr>
          <p:spPr>
            <a:xfrm>
              <a:off x="2627255" y="1844824"/>
              <a:ext cx="144545" cy="144428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9333EE96-1C77-47D1-8D65-D0BCBD1BE9CE}"/>
                </a:ext>
              </a:extLst>
            </p:cNvPr>
            <p:cNvSpPr/>
            <p:nvPr/>
          </p:nvSpPr>
          <p:spPr>
            <a:xfrm>
              <a:off x="3707375" y="3141497"/>
              <a:ext cx="144545" cy="14284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6FC10AE3-632C-4E30-9B9E-DC11A94D1A68}"/>
                </a:ext>
              </a:extLst>
            </p:cNvPr>
            <p:cNvSpPr/>
            <p:nvPr/>
          </p:nvSpPr>
          <p:spPr>
            <a:xfrm>
              <a:off x="3203848" y="3501772"/>
              <a:ext cx="144546" cy="14284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DCA514BF-08D4-4504-9A98-A13136701A20}"/>
                </a:ext>
              </a:extLst>
            </p:cNvPr>
            <p:cNvSpPr/>
            <p:nvPr/>
          </p:nvSpPr>
          <p:spPr>
            <a:xfrm>
              <a:off x="3707375" y="2636795"/>
              <a:ext cx="144545" cy="144427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BF1C90AF-9933-4897-8502-C3F64AFE961B}"/>
                </a:ext>
              </a:extLst>
            </p:cNvPr>
            <p:cNvSpPr/>
            <p:nvPr/>
          </p:nvSpPr>
          <p:spPr>
            <a:xfrm>
              <a:off x="1475656" y="2636795"/>
              <a:ext cx="144546" cy="144427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CB7985B3-AC0C-43B2-8F69-6200E92028D8}"/>
                </a:ext>
              </a:extLst>
            </p:cNvPr>
            <p:cNvSpPr/>
            <p:nvPr/>
          </p:nvSpPr>
          <p:spPr>
            <a:xfrm>
              <a:off x="2339752" y="3644612"/>
              <a:ext cx="144546" cy="144428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86" name="任意多边形 85">
            <a:extLst>
              <a:ext uri="{FF2B5EF4-FFF2-40B4-BE49-F238E27FC236}">
                <a16:creationId xmlns:a16="http://schemas.microsoft.com/office/drawing/2014/main" id="{C5305B83-4F9A-403E-B97C-BD2095B5E9E8}"/>
              </a:ext>
            </a:extLst>
          </p:cNvPr>
          <p:cNvSpPr/>
          <p:nvPr/>
        </p:nvSpPr>
        <p:spPr>
          <a:xfrm>
            <a:off x="1547813" y="1900238"/>
            <a:ext cx="2266950" cy="1744662"/>
          </a:xfrm>
          <a:custGeom>
            <a:avLst/>
            <a:gdLst>
              <a:gd name="connsiteX0" fmla="*/ 0 w 2274849"/>
              <a:gd name="connsiteY0" fmla="*/ 802888 h 1706137"/>
              <a:gd name="connsiteX1" fmla="*/ 1237786 w 2274849"/>
              <a:gd name="connsiteY1" fmla="*/ 0 h 1706137"/>
              <a:gd name="connsiteX2" fmla="*/ 2274849 w 2274849"/>
              <a:gd name="connsiteY2" fmla="*/ 1326995 h 1706137"/>
              <a:gd name="connsiteX3" fmla="*/ 1784195 w 2274849"/>
              <a:gd name="connsiteY3" fmla="*/ 1706137 h 1706137"/>
              <a:gd name="connsiteX4" fmla="*/ 0 w 2274849"/>
              <a:gd name="connsiteY4" fmla="*/ 802888 h 170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4849" h="1706137">
                <a:moveTo>
                  <a:pt x="0" y="802888"/>
                </a:moveTo>
                <a:lnTo>
                  <a:pt x="1237786" y="0"/>
                </a:lnTo>
                <a:lnTo>
                  <a:pt x="2274849" y="1326995"/>
                </a:lnTo>
                <a:lnTo>
                  <a:pt x="1784195" y="1706137"/>
                </a:lnTo>
                <a:lnTo>
                  <a:pt x="0" y="802888"/>
                </a:lnTo>
                <a:close/>
              </a:path>
            </a:pathLst>
          </a:custGeom>
          <a:solidFill>
            <a:srgbClr val="FF0000">
              <a:alpha val="13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324" name="组合 131">
            <a:extLst>
              <a:ext uri="{FF2B5EF4-FFF2-40B4-BE49-F238E27FC236}">
                <a16:creationId xmlns:a16="http://schemas.microsoft.com/office/drawing/2014/main" id="{17343532-7731-48E5-ADF1-51BF65FEA74C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844675"/>
            <a:ext cx="2447925" cy="1944688"/>
            <a:chOff x="4572000" y="2132856"/>
            <a:chExt cx="2448272" cy="1944216"/>
          </a:xfrm>
        </p:grpSpPr>
        <p:sp>
          <p:nvSpPr>
            <p:cNvPr id="124" name="任意多边形 123">
              <a:extLst>
                <a:ext uri="{FF2B5EF4-FFF2-40B4-BE49-F238E27FC236}">
                  <a16:creationId xmlns:a16="http://schemas.microsoft.com/office/drawing/2014/main" id="{44891F82-AF06-43E3-AE4A-E5EDB5E67905}"/>
                </a:ext>
              </a:extLst>
            </p:cNvPr>
            <p:cNvSpPr/>
            <p:nvPr/>
          </p:nvSpPr>
          <p:spPr>
            <a:xfrm>
              <a:off x="4643448" y="2996246"/>
              <a:ext cx="2305377" cy="1009405"/>
            </a:xfrm>
            <a:custGeom>
              <a:avLst/>
              <a:gdLst>
                <a:gd name="connsiteX0" fmla="*/ 0 w 2609385"/>
                <a:gd name="connsiteY0" fmla="*/ 11151 h 1260087"/>
                <a:gd name="connsiteX1" fmla="*/ 2609385 w 2609385"/>
                <a:gd name="connsiteY1" fmla="*/ 0 h 1260087"/>
                <a:gd name="connsiteX2" fmla="*/ 2575932 w 2609385"/>
                <a:gd name="connsiteY2" fmla="*/ 669073 h 1260087"/>
                <a:gd name="connsiteX3" fmla="*/ 2018371 w 2609385"/>
                <a:gd name="connsiteY3" fmla="*/ 1137424 h 1260087"/>
                <a:gd name="connsiteX4" fmla="*/ 1092820 w 2609385"/>
                <a:gd name="connsiteY4" fmla="*/ 1260087 h 1260087"/>
                <a:gd name="connsiteX5" fmla="*/ 144966 w 2609385"/>
                <a:gd name="connsiteY5" fmla="*/ 836341 h 1260087"/>
                <a:gd name="connsiteX6" fmla="*/ 0 w 2609385"/>
                <a:gd name="connsiteY6" fmla="*/ 11151 h 1260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09385" h="1260087">
                  <a:moveTo>
                    <a:pt x="0" y="11151"/>
                  </a:moveTo>
                  <a:lnTo>
                    <a:pt x="2609385" y="0"/>
                  </a:lnTo>
                  <a:lnTo>
                    <a:pt x="2575932" y="669073"/>
                  </a:lnTo>
                  <a:lnTo>
                    <a:pt x="2018371" y="1137424"/>
                  </a:lnTo>
                  <a:lnTo>
                    <a:pt x="1092820" y="1260087"/>
                  </a:lnTo>
                  <a:lnTo>
                    <a:pt x="144966" y="836341"/>
                  </a:lnTo>
                  <a:lnTo>
                    <a:pt x="0" y="11151"/>
                  </a:lnTo>
                  <a:close/>
                </a:path>
              </a:pathLst>
            </a:custGeom>
            <a:noFill/>
            <a:ln w="317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D01D0AB7-3B95-409E-8A8E-F6E0842C7A0D}"/>
                </a:ext>
              </a:extLst>
            </p:cNvPr>
            <p:cNvSpPr/>
            <p:nvPr/>
          </p:nvSpPr>
          <p:spPr>
            <a:xfrm>
              <a:off x="5796137" y="2132856"/>
              <a:ext cx="144482" cy="144428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13330" name="组合 129">
              <a:extLst>
                <a:ext uri="{FF2B5EF4-FFF2-40B4-BE49-F238E27FC236}">
                  <a16:creationId xmlns:a16="http://schemas.microsoft.com/office/drawing/2014/main" id="{49937FD8-C200-428D-A476-6DB44BCE6B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2000" y="2204864"/>
              <a:ext cx="2448272" cy="1872208"/>
              <a:chOff x="4572000" y="2204864"/>
              <a:chExt cx="2448272" cy="1872208"/>
            </a:xfrm>
          </p:grpSpPr>
          <p:grpSp>
            <p:nvGrpSpPr>
              <p:cNvPr id="13331" name="组合 96">
                <a:extLst>
                  <a:ext uri="{FF2B5EF4-FFF2-40B4-BE49-F238E27FC236}">
                    <a16:creationId xmlns:a16="http://schemas.microsoft.com/office/drawing/2014/main" id="{4F80674A-1246-4BA1-B55A-634530F45B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44008" y="2204864"/>
                <a:ext cx="2304256" cy="1800201"/>
                <a:chOff x="1547664" y="1916832"/>
                <a:chExt cx="2304256" cy="1800201"/>
              </a:xfrm>
            </p:grpSpPr>
            <p:cxnSp>
              <p:nvCxnSpPr>
                <p:cNvPr id="100" name="直接连接符 9">
                  <a:extLst>
                    <a:ext uri="{FF2B5EF4-FFF2-40B4-BE49-F238E27FC236}">
                      <a16:creationId xmlns:a16="http://schemas.microsoft.com/office/drawing/2014/main" id="{D8EF0484-2AEF-416E-9C26-5BE4C897D0FE}"/>
                    </a:ext>
                  </a:extLst>
                </p:cNvPr>
                <p:cNvCxnSpPr/>
                <p:nvPr/>
              </p:nvCxnSpPr>
              <p:spPr>
                <a:xfrm>
                  <a:off x="2771240" y="1987665"/>
                  <a:ext cx="558879" cy="1631553"/>
                </a:xfrm>
                <a:prstGeom prst="line">
                  <a:avLst/>
                </a:prstGeom>
                <a:ln w="317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直接连接符 100">
                  <a:extLst>
                    <a:ext uri="{FF2B5EF4-FFF2-40B4-BE49-F238E27FC236}">
                      <a16:creationId xmlns:a16="http://schemas.microsoft.com/office/drawing/2014/main" id="{070ED170-65D3-4D21-8D7B-CF6D0E0E849B}"/>
                    </a:ext>
                  </a:extLst>
                </p:cNvPr>
                <p:cNvCxnSpPr/>
                <p:nvPr/>
              </p:nvCxnSpPr>
              <p:spPr>
                <a:xfrm flipV="1">
                  <a:off x="2512441" y="1987665"/>
                  <a:ext cx="258799" cy="1729954"/>
                </a:xfrm>
                <a:prstGeom prst="line">
                  <a:avLst/>
                </a:prstGeom>
                <a:ln w="317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直接连接符 101">
                  <a:extLst>
                    <a:ext uri="{FF2B5EF4-FFF2-40B4-BE49-F238E27FC236}">
                      <a16:creationId xmlns:a16="http://schemas.microsoft.com/office/drawing/2014/main" id="{4AE79339-8D32-491B-ADF7-C09BEAF7360C}"/>
                    </a:ext>
                  </a:extLst>
                </p:cNvPr>
                <p:cNvCxnSpPr/>
                <p:nvPr/>
              </p:nvCxnSpPr>
              <p:spPr>
                <a:xfrm flipV="1">
                  <a:off x="1691586" y="1967033"/>
                  <a:ext cx="1028846" cy="1410944"/>
                </a:xfrm>
                <a:prstGeom prst="line">
                  <a:avLst/>
                </a:prstGeom>
                <a:ln w="317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连接符 102">
                  <a:extLst>
                    <a:ext uri="{FF2B5EF4-FFF2-40B4-BE49-F238E27FC236}">
                      <a16:creationId xmlns:a16="http://schemas.microsoft.com/office/drawing/2014/main" id="{35CB0E05-3F53-4C4B-8E28-9CCE7F9E6027}"/>
                    </a:ext>
                  </a:extLst>
                </p:cNvPr>
                <p:cNvCxnSpPr/>
                <p:nvPr/>
              </p:nvCxnSpPr>
              <p:spPr>
                <a:xfrm>
                  <a:off x="2822047" y="1987665"/>
                  <a:ext cx="1030434" cy="1245885"/>
                </a:xfrm>
                <a:prstGeom prst="line">
                  <a:avLst/>
                </a:prstGeom>
                <a:ln w="317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连接符 103">
                  <a:extLst>
                    <a:ext uri="{FF2B5EF4-FFF2-40B4-BE49-F238E27FC236}">
                      <a16:creationId xmlns:a16="http://schemas.microsoft.com/office/drawing/2014/main" id="{C89B609E-BAA4-4CED-A588-CF47787BC960}"/>
                    </a:ext>
                  </a:extLst>
                </p:cNvPr>
                <p:cNvCxnSpPr/>
                <p:nvPr/>
              </p:nvCxnSpPr>
              <p:spPr>
                <a:xfrm flipH="1" flipV="1">
                  <a:off x="2822047" y="1967033"/>
                  <a:ext cx="1030434" cy="741182"/>
                </a:xfrm>
                <a:prstGeom prst="line">
                  <a:avLst/>
                </a:prstGeom>
                <a:ln w="317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直接连接符 104">
                  <a:extLst>
                    <a:ext uri="{FF2B5EF4-FFF2-40B4-BE49-F238E27FC236}">
                      <a16:creationId xmlns:a16="http://schemas.microsoft.com/office/drawing/2014/main" id="{E502FEAF-806F-4BC2-9475-4D30D024F2FE}"/>
                    </a:ext>
                  </a:extLst>
                </p:cNvPr>
                <p:cNvCxnSpPr/>
                <p:nvPr/>
              </p:nvCxnSpPr>
              <p:spPr>
                <a:xfrm flipV="1">
                  <a:off x="1547104" y="1916245"/>
                  <a:ext cx="1152689" cy="801492"/>
                </a:xfrm>
                <a:prstGeom prst="line">
                  <a:avLst/>
                </a:prstGeom>
                <a:ln w="317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1" name="椭圆 110">
                <a:extLst>
                  <a:ext uri="{FF2B5EF4-FFF2-40B4-BE49-F238E27FC236}">
                    <a16:creationId xmlns:a16="http://schemas.microsoft.com/office/drawing/2014/main" id="{8EA6B328-80BC-4CB4-9CE6-24342AF5C804}"/>
                  </a:ext>
                </a:extLst>
              </p:cNvPr>
              <p:cNvSpPr/>
              <p:nvPr/>
            </p:nvSpPr>
            <p:spPr>
              <a:xfrm>
                <a:off x="4716483" y="3572370"/>
                <a:ext cx="142895" cy="144427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3" name="椭圆 112">
                <a:extLst>
                  <a:ext uri="{FF2B5EF4-FFF2-40B4-BE49-F238E27FC236}">
                    <a16:creationId xmlns:a16="http://schemas.microsoft.com/office/drawing/2014/main" id="{38FB2AD8-3D31-4BB9-B6A1-67B5E4908F36}"/>
                  </a:ext>
                </a:extLst>
              </p:cNvPr>
              <p:cNvSpPr/>
              <p:nvPr/>
            </p:nvSpPr>
            <p:spPr>
              <a:xfrm>
                <a:off x="6875790" y="3429529"/>
                <a:ext cx="144482" cy="14284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4" name="椭圆 113">
                <a:extLst>
                  <a:ext uri="{FF2B5EF4-FFF2-40B4-BE49-F238E27FC236}">
                    <a16:creationId xmlns:a16="http://schemas.microsoft.com/office/drawing/2014/main" id="{D39365AF-E67D-4521-9A7B-7F92C5925614}"/>
                  </a:ext>
                </a:extLst>
              </p:cNvPr>
              <p:cNvSpPr/>
              <p:nvPr/>
            </p:nvSpPr>
            <p:spPr>
              <a:xfrm>
                <a:off x="6372480" y="3788217"/>
                <a:ext cx="144483" cy="144427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5" name="椭圆 114">
                <a:extLst>
                  <a:ext uri="{FF2B5EF4-FFF2-40B4-BE49-F238E27FC236}">
                    <a16:creationId xmlns:a16="http://schemas.microsoft.com/office/drawing/2014/main" id="{F7F109B0-BDBB-4316-B91B-9DFA18DD2923}"/>
                  </a:ext>
                </a:extLst>
              </p:cNvPr>
              <p:cNvSpPr/>
              <p:nvPr/>
            </p:nvSpPr>
            <p:spPr>
              <a:xfrm>
                <a:off x="6875790" y="2924827"/>
                <a:ext cx="144482" cy="144427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E5557A56-70F3-4AB0-B457-9625D142E815}"/>
                  </a:ext>
                </a:extLst>
              </p:cNvPr>
              <p:cNvSpPr/>
              <p:nvPr/>
            </p:nvSpPr>
            <p:spPr>
              <a:xfrm>
                <a:off x="4572000" y="2924827"/>
                <a:ext cx="144483" cy="144427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7" name="椭圆 116">
                <a:extLst>
                  <a:ext uri="{FF2B5EF4-FFF2-40B4-BE49-F238E27FC236}">
                    <a16:creationId xmlns:a16="http://schemas.microsoft.com/office/drawing/2014/main" id="{F2EA3107-EBC7-4323-B9B8-BCE5275C53C5}"/>
                  </a:ext>
                </a:extLst>
              </p:cNvPr>
              <p:cNvSpPr/>
              <p:nvPr/>
            </p:nvSpPr>
            <p:spPr>
              <a:xfrm>
                <a:off x="5508758" y="3932644"/>
                <a:ext cx="142895" cy="144428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sp>
        <p:nvSpPr>
          <p:cNvPr id="133" name="任意多边形 132">
            <a:extLst>
              <a:ext uri="{FF2B5EF4-FFF2-40B4-BE49-F238E27FC236}">
                <a16:creationId xmlns:a16="http://schemas.microsoft.com/office/drawing/2014/main" id="{C4D44DEE-C442-47EF-9777-FA7E0346AF04}"/>
              </a:ext>
            </a:extLst>
          </p:cNvPr>
          <p:cNvSpPr/>
          <p:nvPr/>
        </p:nvSpPr>
        <p:spPr>
          <a:xfrm>
            <a:off x="4757738" y="2781300"/>
            <a:ext cx="2117725" cy="836613"/>
          </a:xfrm>
          <a:custGeom>
            <a:avLst/>
            <a:gdLst>
              <a:gd name="connsiteX0" fmla="*/ 55756 w 2118731"/>
              <a:gd name="connsiteY0" fmla="*/ 591015 h 836342"/>
              <a:gd name="connsiteX1" fmla="*/ 2118731 w 2118731"/>
              <a:gd name="connsiteY1" fmla="*/ 0 h 836342"/>
              <a:gd name="connsiteX2" fmla="*/ 1661531 w 2118731"/>
              <a:gd name="connsiteY2" fmla="*/ 836342 h 836342"/>
              <a:gd name="connsiteX3" fmla="*/ 0 w 2118731"/>
              <a:gd name="connsiteY3" fmla="*/ 568712 h 836342"/>
              <a:gd name="connsiteX4" fmla="*/ 55756 w 2118731"/>
              <a:gd name="connsiteY4" fmla="*/ 591015 h 836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8731" h="836342">
                <a:moveTo>
                  <a:pt x="55756" y="591015"/>
                </a:moveTo>
                <a:lnTo>
                  <a:pt x="2118731" y="0"/>
                </a:lnTo>
                <a:lnTo>
                  <a:pt x="1661531" y="836342"/>
                </a:lnTo>
                <a:lnTo>
                  <a:pt x="0" y="568712"/>
                </a:lnTo>
                <a:lnTo>
                  <a:pt x="55756" y="591015"/>
                </a:lnTo>
                <a:close/>
              </a:path>
            </a:pathLst>
          </a:custGeom>
          <a:solidFill>
            <a:srgbClr val="00B0F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326" name="TextBox 133">
            <a:extLst>
              <a:ext uri="{FF2B5EF4-FFF2-40B4-BE49-F238E27FC236}">
                <a16:creationId xmlns:a16="http://schemas.microsoft.com/office/drawing/2014/main" id="{7230E66E-E096-45A2-9DC9-A80134413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1557338"/>
            <a:ext cx="4222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27" name="TextBox 134">
            <a:extLst>
              <a:ext uri="{FF2B5EF4-FFF2-40B4-BE49-F238E27FC236}">
                <a16:creationId xmlns:a16="http://schemas.microsoft.com/office/drawing/2014/main" id="{466800BA-4344-484B-9A4D-5809AD324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1557338"/>
            <a:ext cx="4238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FF71572C-E3E9-4FE7-8456-D3AC507369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Ramsey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2895853-983A-417C-94E4-3A06531542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268413"/>
            <a:ext cx="8424862" cy="194468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800000"/>
                </a:solidFill>
              </a:rPr>
              <a:t>定理</a:t>
            </a:r>
            <a:r>
              <a:rPr lang="zh-CN" altLang="en-US" sz="2800" b="1"/>
              <a:t>  </a:t>
            </a:r>
            <a:r>
              <a:rPr lang="zh-CN" altLang="en-US" sz="2800" b="1">
                <a:latin typeface="Times New Roman" panose="02020603050405020304" pitchFamily="18" charset="0"/>
              </a:rPr>
              <a:t>设 </a:t>
            </a:r>
            <a:r>
              <a:rPr lang="en-US" altLang="zh-CN" sz="2800" b="1" i="1">
                <a:latin typeface="Times New Roman" panose="02020603050405020304" pitchFamily="18" charset="0"/>
              </a:rPr>
              <a:t>p, q</a:t>
            </a:r>
            <a:r>
              <a:rPr lang="zh-CN" altLang="en-US" sz="2800" b="1">
                <a:latin typeface="Times New Roman" panose="02020603050405020304" pitchFamily="18" charset="0"/>
              </a:rPr>
              <a:t>为正整数，</a:t>
            </a:r>
            <a:r>
              <a:rPr lang="en-US" altLang="zh-CN" sz="2800" b="1" i="1">
                <a:latin typeface="Times New Roman" panose="02020603050405020304" pitchFamily="18" charset="0"/>
              </a:rPr>
              <a:t>p, q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</a:rPr>
              <a:t>，则存在最小正整数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p,q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</a:rPr>
              <a:t>，使得当 </a:t>
            </a:r>
            <a:r>
              <a:rPr lang="en-US" altLang="zh-CN" sz="2800" b="1" i="1">
                <a:latin typeface="Times New Roman" panose="02020603050405020304" pitchFamily="18" charset="0"/>
              </a:rPr>
              <a:t>n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p,q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</a:rPr>
              <a:t>时，用红蓝两色涂色 </a:t>
            </a:r>
            <a:r>
              <a:rPr lang="en-US" altLang="zh-CN" sz="2800" b="1" i="1">
                <a:latin typeface="Times New Roman" panose="02020603050405020304" pitchFamily="18" charset="0"/>
              </a:rPr>
              <a:t>K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</a:rPr>
              <a:t>的</a:t>
            </a:r>
            <a:endParaRPr lang="en-US" altLang="zh-CN" sz="2800" b="1" i="1" baseline="-25000">
              <a:latin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边，则或存在一个蓝色的 </a:t>
            </a:r>
            <a:r>
              <a:rPr lang="en-US" altLang="zh-CN" sz="2800" b="1" i="1">
                <a:latin typeface="Times New Roman" panose="02020603050405020304" pitchFamily="18" charset="0"/>
              </a:rPr>
              <a:t>K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latin typeface="Times New Roman" panose="02020603050405020304" pitchFamily="18" charset="0"/>
              </a:rPr>
              <a:t>，或存在一个红色的 </a:t>
            </a:r>
            <a:r>
              <a:rPr lang="en-US" altLang="zh-CN" sz="2800" b="1" i="1">
                <a:latin typeface="Times New Roman" panose="02020603050405020304" pitchFamily="18" charset="0"/>
              </a:rPr>
              <a:t>K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40965" name="灯片编号占位符 4">
            <a:extLst>
              <a:ext uri="{FF2B5EF4-FFF2-40B4-BE49-F238E27FC236}">
                <a16:creationId xmlns:a16="http://schemas.microsoft.com/office/drawing/2014/main" id="{A3809DE7-4AC6-4E6F-B4DE-6F5DF3C18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0B9C648-83E1-4029-92AE-BCEF88E4D4E2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55332" name="Rectangle 4">
            <a:extLst>
              <a:ext uri="{FF2B5EF4-FFF2-40B4-BE49-F238E27FC236}">
                <a16:creationId xmlns:a16="http://schemas.microsoft.com/office/drawing/2014/main" id="{E33944FB-AF8E-44EC-BC37-2068224A4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284538"/>
            <a:ext cx="7845425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证明思路：归纳法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/>
              <a:t>归纳基础  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, 2)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(2,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归纳步骤    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solidFill>
                  <a:schemeClr val="tx2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="1">
                <a:latin typeface="Times New Roman" panose="02020603050405020304" pitchFamily="18" charset="0"/>
              </a:rPr>
              <a:t>1,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solidFill>
                  <a:schemeClr val="tx2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="1">
                <a:latin typeface="Times New Roman" panose="02020603050405020304" pitchFamily="18" charset="0"/>
              </a:rPr>
              <a:t>1,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</a:rPr>
              <a:t>存在 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              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p,q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solidFill>
                  <a:schemeClr val="tx2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="1">
                <a:latin typeface="Times New Roman" panose="02020603050405020304" pitchFamily="18" charset="0"/>
              </a:rPr>
              <a:t>1,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</a:rPr>
              <a:t>) +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solidFill>
                  <a:schemeClr val="tx2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="1">
                <a:latin typeface="Times New Roman" panose="02020603050405020304" pitchFamily="18" charset="0"/>
              </a:rPr>
              <a:t>1,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31896939-278D-47A9-8304-B23D4C8FE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归纳步骤的证明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986DD90-AFEC-44E8-93D4-F85F34BE43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196975"/>
            <a:ext cx="7993062" cy="216058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假设对正整数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’,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</a:rPr>
              <a:t>’</a:t>
            </a:r>
            <a:r>
              <a:rPr lang="zh-CN" altLang="en-US" sz="2800" b="1">
                <a:latin typeface="Times New Roman" panose="02020603050405020304" pitchFamily="18" charset="0"/>
              </a:rPr>
              <a:t>命题为真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</a:rPr>
              <a:t>其中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’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</a:rPr>
              <a:t>’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’+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</a:rPr>
              <a:t>’&lt;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+</a:t>
            </a:r>
            <a:r>
              <a:rPr lang="en-US" altLang="zh-CN" sz="2800" b="1" i="1">
                <a:latin typeface="Times New Roman" panose="02020603050405020304" pitchFamily="18" charset="0"/>
              </a:rPr>
              <a:t>q 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则 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>
                <a:latin typeface="Times New Roman" panose="02020603050405020304" pitchFamily="18" charset="0"/>
              </a:rPr>
              <a:t>1,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</a:rPr>
              <a:t>),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>
                <a:latin typeface="Times New Roman" panose="02020603050405020304" pitchFamily="18" charset="0"/>
              </a:rPr>
              <a:t>1) </a:t>
            </a:r>
            <a:r>
              <a:rPr lang="zh-CN" altLang="en-US" sz="2800" b="1">
                <a:latin typeface="Times New Roman" panose="02020603050405020304" pitchFamily="18" charset="0"/>
              </a:rPr>
              <a:t>存在</a:t>
            </a:r>
            <a:r>
              <a:rPr lang="en-US" altLang="zh-CN" sz="2800" b="1">
                <a:latin typeface="Times New Roman" panose="02020603050405020304" pitchFamily="18" charset="0"/>
              </a:rPr>
              <a:t>. </a:t>
            </a:r>
            <a:r>
              <a:rPr lang="zh-CN" altLang="en-US" sz="2800" b="1">
                <a:latin typeface="Times New Roman" panose="02020603050405020304" pitchFamily="18" charset="0"/>
              </a:rPr>
              <a:t>令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             </a:t>
            </a:r>
            <a:r>
              <a:rPr lang="en-US" altLang="zh-CN" sz="2800" b="1" i="1">
                <a:latin typeface="Times New Roman" panose="02020603050405020304" pitchFamily="18" charset="0"/>
              </a:rPr>
              <a:t>n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>
                <a:latin typeface="Times New Roman" panose="02020603050405020304" pitchFamily="18" charset="0"/>
              </a:rPr>
              <a:t>1,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</a:rPr>
              <a:t>) +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>
                <a:latin typeface="Times New Roman" panose="02020603050405020304" pitchFamily="18" charset="0"/>
              </a:rPr>
              <a:t>1).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1990" name="灯片编号占位符 5">
            <a:extLst>
              <a:ext uri="{FF2B5EF4-FFF2-40B4-BE49-F238E27FC236}">
                <a16:creationId xmlns:a16="http://schemas.microsoft.com/office/drawing/2014/main" id="{25B7198F-D2E4-404A-B551-11B6896D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EBFAEA8-B444-4485-8D5F-B8134B2846EA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57380" name="Rectangle 4">
            <a:extLst>
              <a:ext uri="{FF2B5EF4-FFF2-40B4-BE49-F238E27FC236}">
                <a16:creationId xmlns:a16="http://schemas.microsoft.com/office/drawing/2014/main" id="{02AA0CEC-503D-4607-9F3D-859CF2C28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500438"/>
            <a:ext cx="7704138" cy="100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case1</a:t>
            </a:r>
            <a:r>
              <a:rPr lang="en-US" altLang="zh-CN" sz="28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 </a:t>
            </a:r>
            <a:r>
              <a:rPr lang="zh-CN" altLang="en-US" sz="2800" b="1">
                <a:latin typeface="Times New Roman" panose="02020603050405020304" pitchFamily="18" charset="0"/>
              </a:rPr>
              <a:t>关联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>
                <a:latin typeface="Times New Roman" panose="02020603050405020304" pitchFamily="18" charset="0"/>
              </a:rPr>
              <a:t>1,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</a:rPr>
              <a:t>条蓝边，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case2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 </a:t>
            </a:r>
            <a:r>
              <a:rPr lang="zh-CN" altLang="en-US" sz="2800" b="1">
                <a:latin typeface="Times New Roman" panose="02020603050405020304" pitchFamily="18" charset="0"/>
              </a:rPr>
              <a:t>关联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>
                <a:latin typeface="Times New Roman" panose="02020603050405020304" pitchFamily="18" charset="0"/>
              </a:rPr>
              <a:t>1) </a:t>
            </a:r>
            <a:r>
              <a:rPr lang="zh-CN" altLang="en-US" sz="2800" b="1">
                <a:latin typeface="Times New Roman" panose="02020603050405020304" pitchFamily="18" charset="0"/>
              </a:rPr>
              <a:t>条红边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57381" name="Rectangle 5">
            <a:extLst>
              <a:ext uri="{FF2B5EF4-FFF2-40B4-BE49-F238E27FC236}">
                <a16:creationId xmlns:a16="http://schemas.microsoft.com/office/drawing/2014/main" id="{DDD80D70-8E0D-4251-9C8C-209C3578E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724400"/>
            <a:ext cx="7993063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对于</a:t>
            </a:r>
            <a:r>
              <a:rPr lang="en-US" altLang="zh-CN" sz="2800" b="1">
                <a:latin typeface="Times New Roman" panose="02020603050405020304" pitchFamily="18" charset="0"/>
              </a:rPr>
              <a:t>case1</a:t>
            </a:r>
            <a:r>
              <a:rPr lang="zh-CN" altLang="en-US" sz="2800" b="1">
                <a:latin typeface="Times New Roman" panose="02020603050405020304" pitchFamily="18" charset="0"/>
              </a:rPr>
              <a:t>，如为蓝色 </a:t>
            </a:r>
            <a:r>
              <a:rPr lang="en-US" altLang="zh-CN" sz="2800" b="1" i="1">
                <a:latin typeface="Times New Roman" panose="02020603050405020304" pitchFamily="18" charset="0"/>
              </a:rPr>
              <a:t>K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-1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</a:rPr>
              <a:t>构成蓝色 </a:t>
            </a:r>
            <a:r>
              <a:rPr lang="en-US" altLang="zh-CN" sz="2800" b="1" i="1">
                <a:latin typeface="Times New Roman" panose="02020603050405020304" pitchFamily="18" charset="0"/>
              </a:rPr>
              <a:t>K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latin typeface="Times New Roman" panose="02020603050405020304" pitchFamily="18" charset="0"/>
              </a:rPr>
              <a:t>；如为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红色 </a:t>
            </a:r>
            <a:r>
              <a:rPr lang="en-US" altLang="zh-CN" sz="2800" b="1" i="1">
                <a:latin typeface="Times New Roman" panose="02020603050405020304" pitchFamily="18" charset="0"/>
              </a:rPr>
              <a:t>K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q</a:t>
            </a:r>
            <a:r>
              <a:rPr lang="zh-CN" altLang="en-US" sz="2800" b="1">
                <a:latin typeface="Times New Roman" panose="02020603050405020304" pitchFamily="18" charset="0"/>
              </a:rPr>
              <a:t>，则满足要求</a:t>
            </a:r>
            <a:r>
              <a:rPr lang="en-US" altLang="zh-CN" sz="2800" b="1">
                <a:latin typeface="Times New Roman" panose="02020603050405020304" pitchFamily="18" charset="0"/>
              </a:rPr>
              <a:t>. </a:t>
            </a:r>
            <a:r>
              <a:rPr lang="zh-CN" altLang="en-US" sz="2800" b="1">
                <a:latin typeface="Times New Roman" panose="02020603050405020304" pitchFamily="18" charset="0"/>
              </a:rPr>
              <a:t>对于 </a:t>
            </a:r>
            <a:r>
              <a:rPr lang="en-US" altLang="zh-CN" sz="2800" b="1">
                <a:latin typeface="Times New Roman" panose="02020603050405020304" pitchFamily="18" charset="0"/>
              </a:rPr>
              <a:t>case2 </a:t>
            </a:r>
            <a:r>
              <a:rPr lang="zh-CN" altLang="en-US" sz="2800" b="1">
                <a:latin typeface="Times New Roman" panose="02020603050405020304" pitchFamily="18" charset="0"/>
              </a:rPr>
              <a:t>可以类似分析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p, q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>
                <a:latin typeface="Times New Roman" panose="02020603050405020304" pitchFamily="18" charset="0"/>
              </a:rPr>
              <a:t>1,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</a:rPr>
              <a:t>) +</a:t>
            </a:r>
            <a:r>
              <a:rPr lang="en-US" altLang="zh-CN" sz="2800" b="1" i="1">
                <a:latin typeface="Times New Roman" panose="02020603050405020304" pitchFamily="18" charset="0"/>
              </a:rPr>
              <a:t> 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>
                <a:latin typeface="Times New Roman" panose="02020603050405020304" pitchFamily="18" charset="0"/>
              </a:rPr>
              <a:t>1,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7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7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7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7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80" grpId="0"/>
      <p:bldP spid="35738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72FB7E77-B28D-4B45-9B19-48408A80EE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304800" y="620713"/>
          <a:ext cx="9253538" cy="604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Document" r:id="rId4" imgW="6938014" imgH="4512782" progId="Word.Document.8">
                  <p:embed/>
                </p:oleObj>
              </mc:Choice>
              <mc:Fallback>
                <p:oleObj name="Document" r:id="rId4" imgW="6938014" imgH="451278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04800" y="620713"/>
                        <a:ext cx="9253538" cy="604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Rectangle 3">
            <a:extLst>
              <a:ext uri="{FF2B5EF4-FFF2-40B4-BE49-F238E27FC236}">
                <a16:creationId xmlns:a16="http://schemas.microsoft.com/office/drawing/2014/main" id="{6D6A39E1-3302-4CCA-AA7E-E7055727EB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9162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小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Ramsey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数的值</a:t>
            </a:r>
            <a:r>
              <a:rPr lang="zh-CN" altLang="en-US" dirty="0"/>
              <a:t>                    </a:t>
            </a:r>
            <a:br>
              <a:rPr lang="en-US" altLang="zh-CN" dirty="0"/>
            </a:br>
            <a:r>
              <a:rPr lang="en-US" altLang="zh-CN" sz="2400" dirty="0"/>
              <a:t>           http://mathworld.wolfram.com/RamseyNumber.html</a:t>
            </a:r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4A52D4CE-AFFC-4DC1-B6ED-3148498CE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173F0B1-CC9D-4771-80F8-CF65286DDDB8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BE2EC033-0463-4FE4-9353-F51FDC8A6E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68263" y="1125538"/>
          <a:ext cx="7735888" cy="493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文档" r:id="rId4" imgW="3742821" imgH="2384006" progId="Word.Document.8">
                  <p:embed/>
                </p:oleObj>
              </mc:Choice>
              <mc:Fallback>
                <p:oleObj name="文档" r:id="rId4" imgW="3742821" imgH="2384006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8263" y="1125538"/>
                        <a:ext cx="7735888" cy="493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1" name="Rectangle 3">
            <a:extLst>
              <a:ext uri="{FF2B5EF4-FFF2-40B4-BE49-F238E27FC236}">
                <a16:creationId xmlns:a16="http://schemas.microsoft.com/office/drawing/2014/main" id="{EF13F950-86D1-4212-BA37-C649D403D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046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Ramsey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数的性质</a:t>
            </a:r>
          </a:p>
        </p:txBody>
      </p:sp>
      <p:sp>
        <p:nvSpPr>
          <p:cNvPr id="12292" name="灯片编号占位符 3">
            <a:extLst>
              <a:ext uri="{FF2B5EF4-FFF2-40B4-BE49-F238E27FC236}">
                <a16:creationId xmlns:a16="http://schemas.microsoft.com/office/drawing/2014/main" id="{BCF425AA-482D-4474-B464-6476D1A49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8CEF0B4-95F0-4D0F-87B9-2ECF289F6A1D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D0815890-6DD9-4E63-8509-507077FF53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950" y="1196975"/>
          <a:ext cx="9272588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文档" r:id="rId4" imgW="4246436" imgH="1601338" progId="Word.Document.8">
                  <p:embed/>
                </p:oleObj>
              </mc:Choice>
              <mc:Fallback>
                <p:oleObj name="文档" r:id="rId4" imgW="4246436" imgH="160133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196975"/>
                        <a:ext cx="9272588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Rectangle 3">
            <a:extLst>
              <a:ext uri="{FF2B5EF4-FFF2-40B4-BE49-F238E27FC236}">
                <a16:creationId xmlns:a16="http://schemas.microsoft.com/office/drawing/2014/main" id="{C2999002-8A61-4848-85C4-0C88F8BC73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Ramsey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定理的推广</a:t>
            </a:r>
          </a:p>
        </p:txBody>
      </p:sp>
      <p:sp>
        <p:nvSpPr>
          <p:cNvPr id="13317" name="灯片编号占位符 4">
            <a:extLst>
              <a:ext uri="{FF2B5EF4-FFF2-40B4-BE49-F238E27FC236}">
                <a16:creationId xmlns:a16="http://schemas.microsoft.com/office/drawing/2014/main" id="{D411FE5F-129A-42E8-8B6A-1C23942B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5B646A1-2F48-4D11-8E34-C04796D7A2A3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63524" name="Rectangle 4">
            <a:extLst>
              <a:ext uri="{FF2B5EF4-FFF2-40B4-BE49-F238E27FC236}">
                <a16:creationId xmlns:a16="http://schemas.microsoft.com/office/drawing/2014/main" id="{D1FBC47D-4B71-4D83-AD78-320C63913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941888"/>
            <a:ext cx="80645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(2) </a:t>
            </a:r>
            <a:r>
              <a:rPr lang="zh-CN" altLang="en-US" sz="2400" b="1">
                <a:latin typeface="Times New Roman" panose="02020603050405020304" pitchFamily="18" charset="0"/>
              </a:rPr>
              <a:t>将</a:t>
            </a:r>
            <a:r>
              <a:rPr lang="en-US" altLang="zh-CN" sz="2400" b="1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元子集推广到  </a:t>
            </a:r>
            <a:r>
              <a:rPr lang="en-US" altLang="zh-CN" sz="2400" b="1" i="1">
                <a:latin typeface="Times New Roman" panose="02020603050405020304" pitchFamily="18" charset="0"/>
              </a:rPr>
              <a:t>r </a:t>
            </a:r>
            <a:r>
              <a:rPr lang="zh-CN" altLang="en-US" sz="2400" b="1">
                <a:latin typeface="Times New Roman" panose="02020603050405020304" pitchFamily="18" charset="0"/>
              </a:rPr>
              <a:t>元子集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(3) </a:t>
            </a:r>
            <a:r>
              <a:rPr lang="zh-CN" altLang="en-US" sz="2400" b="1">
                <a:latin typeface="Times New Roman" panose="02020603050405020304" pitchFamily="18" charset="0"/>
              </a:rPr>
              <a:t>将 </a:t>
            </a:r>
            <a:r>
              <a:rPr lang="en-US" altLang="zh-CN" sz="2400" b="1" i="1">
                <a:latin typeface="Times New Roman" panose="02020603050405020304" pitchFamily="18" charset="0"/>
              </a:rPr>
              <a:t>T </a:t>
            </a:r>
            <a:r>
              <a:rPr lang="zh-CN" altLang="en-US" sz="2400" b="1">
                <a:latin typeface="Times New Roman" panose="02020603050405020304" pitchFamily="18" charset="0"/>
              </a:rPr>
              <a:t>划分成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/>
              <a:t>…</a:t>
            </a:r>
            <a:r>
              <a:rPr lang="en-US" altLang="zh-CN" sz="2400" b="1">
                <a:latin typeface="Times New Roman" panose="02020603050405020304" pitchFamily="18" charset="0"/>
              </a:rPr>
              <a:t> ,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0CA7C60-4279-40D0-A961-16E816F2EE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推广的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Ramsey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8F6C402-8645-4A6B-B608-DD03CEADB5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341438"/>
            <a:ext cx="8229600" cy="45259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800000"/>
                </a:solidFill>
              </a:rPr>
              <a:t>定理 </a:t>
            </a:r>
            <a:r>
              <a:rPr lang="en-US" altLang="zh-CN" sz="2800" b="1">
                <a:solidFill>
                  <a:srgbClr val="800000"/>
                </a:solidFill>
              </a:rPr>
              <a:t>2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对于任意给定的正整数 </a:t>
            </a:r>
            <a:r>
              <a:rPr lang="en-US" altLang="zh-CN" sz="2800" b="1" i="1">
                <a:latin typeface="Times New Roman" panose="02020603050405020304" pitchFamily="18" charset="0"/>
              </a:rPr>
              <a:t>p,q,r</a:t>
            </a:r>
            <a:r>
              <a:rPr lang="en-US" altLang="zh-CN" sz="2800" b="1">
                <a:latin typeface="Times New Roman" panose="02020603050405020304" pitchFamily="18" charset="0"/>
              </a:rPr>
              <a:t>, (</a:t>
            </a:r>
            <a:r>
              <a:rPr lang="en-US" altLang="zh-CN" sz="2800" b="1" i="1">
                <a:latin typeface="Times New Roman" panose="02020603050405020304" pitchFamily="18" charset="0"/>
              </a:rPr>
              <a:t>p,q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</a:rPr>
              <a:t>存在一个最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小的正整数 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p,q</a:t>
            </a:r>
            <a:r>
              <a:rPr lang="en-US" altLang="zh-CN" sz="2800" b="1">
                <a:latin typeface="Times New Roman" panose="02020603050405020304" pitchFamily="18" charset="0"/>
              </a:rPr>
              <a:t>;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</a:rPr>
              <a:t>使得当集合 </a:t>
            </a:r>
            <a:r>
              <a:rPr lang="en-US" altLang="zh-CN" sz="2800" b="1" i="1">
                <a:latin typeface="Times New Roman" panose="02020603050405020304" pitchFamily="18" charset="0"/>
              </a:rPr>
              <a:t>S </a:t>
            </a:r>
            <a:r>
              <a:rPr lang="zh-CN" altLang="en-US" sz="2800" b="1">
                <a:latin typeface="Times New Roman" panose="02020603050405020304" pitchFamily="18" charset="0"/>
              </a:rPr>
              <a:t>的元素数大于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等于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p,q</a:t>
            </a:r>
            <a:r>
              <a:rPr lang="en-US" altLang="zh-CN" sz="2800" b="1">
                <a:latin typeface="Times New Roman" panose="02020603050405020304" pitchFamily="18" charset="0"/>
              </a:rPr>
              <a:t>;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</a:rPr>
              <a:t>时，将 </a:t>
            </a:r>
            <a:r>
              <a:rPr lang="en-US" altLang="zh-CN" sz="2800" b="1" i="1">
                <a:latin typeface="Times New Roman" panose="02020603050405020304" pitchFamily="18" charset="0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的 </a:t>
            </a:r>
            <a:r>
              <a:rPr lang="en-US" altLang="zh-CN" sz="2800" b="1" i="1">
                <a:latin typeface="Times New Roman" panose="02020603050405020304" pitchFamily="18" charset="0"/>
              </a:rPr>
              <a:t>r </a:t>
            </a:r>
            <a:r>
              <a:rPr lang="zh-CN" altLang="en-US" sz="2800" b="1">
                <a:latin typeface="Times New Roman" panose="02020603050405020304" pitchFamily="18" charset="0"/>
              </a:rPr>
              <a:t>子集族任意划分成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</a:rPr>
              <a:t>，则或者 </a:t>
            </a:r>
            <a:r>
              <a:rPr lang="en-US" altLang="zh-CN" sz="2800" b="1" i="1">
                <a:latin typeface="Times New Roman" panose="02020603050405020304" pitchFamily="18" charset="0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有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latin typeface="Times New Roman" panose="02020603050405020304" pitchFamily="18" charset="0"/>
              </a:rPr>
              <a:t>子集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zh-CN" altLang="en-US" sz="2800" b="1">
                <a:latin typeface="Times New Roman" panose="02020603050405020304" pitchFamily="18" charset="0"/>
              </a:rPr>
              <a:t>的所有 </a:t>
            </a:r>
            <a:r>
              <a:rPr lang="en-US" altLang="zh-CN" sz="2800" b="1" i="1">
                <a:latin typeface="Times New Roman" panose="02020603050405020304" pitchFamily="18" charset="0"/>
              </a:rPr>
              <a:t>r </a:t>
            </a:r>
            <a:r>
              <a:rPr lang="zh-CN" altLang="en-US" sz="2800" b="1">
                <a:latin typeface="Times New Roman" panose="02020603050405020304" pitchFamily="18" charset="0"/>
              </a:rPr>
              <a:t>元子集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属于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</a:rPr>
              <a:t>或者存在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zh-CN" altLang="en-US" sz="2800" b="1">
                <a:latin typeface="Times New Roman" panose="02020603050405020304" pitchFamily="18" charset="0"/>
              </a:rPr>
              <a:t>子集 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zh-CN" altLang="en-US" sz="2800" b="1">
                <a:latin typeface="Times New Roman" panose="02020603050405020304" pitchFamily="18" charset="0"/>
              </a:rPr>
              <a:t>的所有 </a:t>
            </a:r>
            <a:r>
              <a:rPr lang="en-US" altLang="zh-CN" sz="2800" b="1" i="1">
                <a:latin typeface="Times New Roman" panose="02020603050405020304" pitchFamily="18" charset="0"/>
              </a:rPr>
              <a:t>r </a:t>
            </a:r>
            <a:r>
              <a:rPr lang="zh-CN" altLang="en-US" sz="2800" b="1">
                <a:latin typeface="Times New Roman" panose="02020603050405020304" pitchFamily="18" charset="0"/>
              </a:rPr>
              <a:t>元子集属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于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04C32302-7530-49EC-BAAF-C0C6735FE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A877D14-F044-45AB-8591-1816F5D83A89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D7F4B79E-693D-4A47-9C56-6D3780F65B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推广的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Ramsey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270F70B-D932-49F8-8D67-90AD37D74C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196975"/>
            <a:ext cx="7993062" cy="47815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A50021"/>
                </a:solidFill>
              </a:rPr>
              <a:t>定理 </a:t>
            </a:r>
            <a:r>
              <a:rPr lang="en-US" altLang="zh-CN" sz="2800" b="1">
                <a:solidFill>
                  <a:srgbClr val="A50021"/>
                </a:solidFill>
              </a:rPr>
              <a:t>3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设 </a:t>
            </a:r>
            <a:r>
              <a:rPr lang="en-US" altLang="zh-CN" sz="2800" b="1" i="1">
                <a:latin typeface="Times New Roman" panose="02020603050405020304" pitchFamily="18" charset="0"/>
              </a:rPr>
              <a:t>r, k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 b="1">
                <a:latin typeface="Times New Roman" panose="02020603050405020304" pitchFamily="18" charset="0"/>
              </a:rPr>
              <a:t>1,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</a:rPr>
              <a:t>=1, 2, … , </a:t>
            </a:r>
            <a:r>
              <a:rPr lang="en-US" altLang="zh-CN" sz="2800" b="1" i="1">
                <a:latin typeface="Times New Roman" panose="02020603050405020304" pitchFamily="18" charset="0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</a:rPr>
              <a:t>是给定正整数，则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存在一个最小的正整数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, … ,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</a:rPr>
              <a:t>;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</a:rPr>
              <a:t>，使得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当 </a:t>
            </a:r>
            <a:r>
              <a:rPr lang="en-US" altLang="zh-CN" sz="2800" b="1" i="1">
                <a:latin typeface="Times New Roman" panose="02020603050405020304" pitchFamily="18" charset="0"/>
              </a:rPr>
              <a:t>n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,…,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</a:rPr>
              <a:t>;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</a:rPr>
              <a:t>时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</a:rPr>
              <a:t>当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</a:rPr>
              <a:t>元集 </a:t>
            </a:r>
            <a:r>
              <a:rPr lang="en-US" altLang="zh-CN" sz="2800" b="1" i="1">
                <a:latin typeface="Times New Roman" panose="02020603050405020304" pitchFamily="18" charset="0"/>
              </a:rPr>
              <a:t>S </a:t>
            </a:r>
            <a:r>
              <a:rPr lang="zh-CN" altLang="en-US" sz="2800" b="1">
                <a:latin typeface="Times New Roman" panose="02020603050405020304" pitchFamily="18" charset="0"/>
              </a:rPr>
              <a:t>的所有</a:t>
            </a:r>
            <a:r>
              <a:rPr lang="en-US" altLang="zh-CN" sz="2800" b="1" i="1">
                <a:latin typeface="Times New Roman" panose="02020603050405020304" pitchFamily="18" charset="0"/>
              </a:rPr>
              <a:t>r </a:t>
            </a:r>
            <a:r>
              <a:rPr lang="zh-CN" altLang="en-US" sz="2800" b="1">
                <a:latin typeface="Times New Roman" panose="02020603050405020304" pitchFamily="18" charset="0"/>
              </a:rPr>
              <a:t>元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子集划分成 </a:t>
            </a:r>
            <a:r>
              <a:rPr lang="en-US" altLang="zh-CN" sz="2800" b="1" i="1">
                <a:latin typeface="Times New Roman" panose="02020603050405020304" pitchFamily="18" charset="0"/>
              </a:rPr>
              <a:t>k </a:t>
            </a:r>
            <a:r>
              <a:rPr lang="zh-CN" altLang="en-US" sz="2800" b="1">
                <a:latin typeface="Times New Roman" panose="02020603050405020304" pitchFamily="18" charset="0"/>
              </a:rPr>
              <a:t>个子集族 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, … , 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</a:t>
            </a:r>
            <a:r>
              <a:rPr lang="zh-CN" altLang="en-US" sz="2800" b="1">
                <a:latin typeface="Times New Roman" panose="02020603050405020304" pitchFamily="18" charset="0"/>
              </a:rPr>
              <a:t>，那么存在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</a:rPr>
              <a:t>S </a:t>
            </a:r>
            <a:r>
              <a:rPr lang="zh-CN" altLang="en-US" sz="2800" b="1">
                <a:latin typeface="Times New Roman" panose="02020603050405020304" pitchFamily="18" charset="0"/>
              </a:rPr>
              <a:t>的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</a:rPr>
              <a:t>元子集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</a:rPr>
              <a:t>其所有的 </a:t>
            </a:r>
            <a:r>
              <a:rPr lang="en-US" altLang="zh-CN" sz="2800" b="1" i="1">
                <a:latin typeface="Times New Roman" panose="02020603050405020304" pitchFamily="18" charset="0"/>
              </a:rPr>
              <a:t>r </a:t>
            </a:r>
            <a:r>
              <a:rPr lang="zh-CN" altLang="en-US" sz="2800" b="1">
                <a:latin typeface="Times New Roman" panose="02020603050405020304" pitchFamily="18" charset="0"/>
              </a:rPr>
              <a:t>元子集属于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</a:rPr>
              <a:t>或者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在 </a:t>
            </a:r>
            <a:r>
              <a:rPr lang="en-US" altLang="zh-CN" sz="2800" b="1" i="1">
                <a:latin typeface="Times New Roman" panose="02020603050405020304" pitchFamily="18" charset="0"/>
              </a:rPr>
              <a:t>S </a:t>
            </a:r>
            <a:r>
              <a:rPr lang="zh-CN" altLang="en-US" sz="2800" b="1">
                <a:latin typeface="Times New Roman" panose="02020603050405020304" pitchFamily="18" charset="0"/>
              </a:rPr>
              <a:t>的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</a:rPr>
              <a:t>元子集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</a:rPr>
              <a:t>的所有</a:t>
            </a:r>
            <a:r>
              <a:rPr lang="en-US" altLang="zh-CN" sz="2800" b="1" i="1">
                <a:latin typeface="Times New Roman" panose="02020603050405020304" pitchFamily="18" charset="0"/>
              </a:rPr>
              <a:t>r </a:t>
            </a:r>
            <a:r>
              <a:rPr lang="zh-CN" altLang="en-US" sz="2800" b="1">
                <a:latin typeface="Times New Roman" panose="02020603050405020304" pitchFamily="18" charset="0"/>
              </a:rPr>
              <a:t>元子集属于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endParaRPr lang="zh-CN" altLang="en-US" sz="2800" b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… , </a:t>
            </a:r>
            <a:r>
              <a:rPr lang="zh-CN" altLang="en-US" sz="2800" b="1">
                <a:latin typeface="Times New Roman" panose="02020603050405020304" pitchFamily="18" charset="0"/>
              </a:rPr>
              <a:t>或者存在 </a:t>
            </a:r>
            <a:r>
              <a:rPr lang="en-US" altLang="zh-CN" sz="2800" b="1" i="1">
                <a:latin typeface="Times New Roman" panose="02020603050405020304" pitchFamily="18" charset="0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的 </a:t>
            </a:r>
            <a:r>
              <a:rPr lang="en-US" altLang="zh-CN" sz="2800" b="1" i="1">
                <a:latin typeface="Times New Roman" panose="02020603050405020304" pitchFamily="18" charset="0"/>
              </a:rPr>
              <a:t>q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 </a:t>
            </a:r>
            <a:r>
              <a:rPr lang="zh-CN" altLang="en-US" sz="2800" b="1">
                <a:latin typeface="Times New Roman" panose="02020603050405020304" pitchFamily="18" charset="0"/>
              </a:rPr>
              <a:t>元子集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</a:rPr>
              <a:t>其所有的</a:t>
            </a:r>
            <a:r>
              <a:rPr lang="zh-CN" altLang="en-US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r </a:t>
            </a:r>
            <a:r>
              <a:rPr lang="zh-CN" altLang="en-US" b="1">
                <a:latin typeface="Times New Roman" panose="02020603050405020304" pitchFamily="18" charset="0"/>
              </a:rPr>
              <a:t>元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子集属于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id="{C0DC4AF7-7148-4D8C-B2BD-C8096C52C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09F104D-B1C9-486D-82DE-D571DD967DA8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38432834-F7DB-4841-8FFC-131C555005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1557338"/>
          <a:ext cx="4537075" cy="235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位图图像" r:id="rId4" imgW="3552381" imgH="1848108" progId="Paint.Picture">
                  <p:embed/>
                </p:oleObj>
              </mc:Choice>
              <mc:Fallback>
                <p:oleObj name="位图图像" r:id="rId4" imgW="3552381" imgH="1848108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1557338"/>
                        <a:ext cx="4537075" cy="235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Rectangle 3">
            <a:extLst>
              <a:ext uri="{FF2B5EF4-FFF2-40B4-BE49-F238E27FC236}">
                <a16:creationId xmlns:a16="http://schemas.microsoft.com/office/drawing/2014/main" id="{12DA21BE-CC49-437F-AE47-5E8F8E2E33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altLang="zh-CN" sz="4000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altLang="zh-CN" sz="4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en-US" altLang="zh-CN" sz="4000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</a:t>
            </a:r>
            <a:r>
              <a:rPr lang="en-US" altLang="zh-CN" sz="4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;</a:t>
            </a:r>
            <a:r>
              <a:rPr lang="en-US" altLang="zh-CN" sz="4000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的存在性证明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66A831AE-09B5-45C4-A3EF-B389066420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196975"/>
            <a:ext cx="8156575" cy="20875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证明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p,q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) </a:t>
            </a:r>
            <a:r>
              <a:rPr lang="zh-CN" altLang="en-US" sz="2400" b="1">
                <a:latin typeface="Times New Roman" panose="02020603050405020304" pitchFamily="18" charset="0"/>
              </a:rPr>
              <a:t>存在：多重归纳法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（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）证明归纳基础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i="1">
                <a:latin typeface="Times New Roman" panose="02020603050405020304" pitchFamily="18" charset="0"/>
              </a:rPr>
              <a:t>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p,r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r,q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p,q</a:t>
            </a:r>
            <a:r>
              <a:rPr lang="en-US" altLang="zh-CN" sz="2400" b="1">
                <a:latin typeface="Times New Roman" panose="02020603050405020304" pitchFamily="18" charset="0"/>
              </a:rPr>
              <a:t>;1) = </a:t>
            </a:r>
            <a:r>
              <a:rPr lang="en-US" altLang="zh-CN" sz="2400" b="1" i="1">
                <a:latin typeface="Times New Roman" panose="02020603050405020304" pitchFamily="18" charset="0"/>
              </a:rPr>
              <a:t>p+q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1.</a:t>
            </a:r>
          </a:p>
        </p:txBody>
      </p:sp>
      <p:sp>
        <p:nvSpPr>
          <p:cNvPr id="14342" name="灯片编号占位符 5">
            <a:extLst>
              <a:ext uri="{FF2B5EF4-FFF2-40B4-BE49-F238E27FC236}">
                <a16:creationId xmlns:a16="http://schemas.microsoft.com/office/drawing/2014/main" id="{F61E1873-B7DC-4655-A71F-ADF1767B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817AB28-1E39-45DE-8782-BF97857AEFF1}" type="slidenum">
              <a:rPr lang="en-US" altLang="zh-CN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69669" name="Rectangle 5">
            <a:extLst>
              <a:ext uri="{FF2B5EF4-FFF2-40B4-BE49-F238E27FC236}">
                <a16:creationId xmlns:a16="http://schemas.microsoft.com/office/drawing/2014/main" id="{B57C82EF-36B0-4107-8CDE-926ED4D2A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573463"/>
            <a:ext cx="8208963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（</a:t>
            </a:r>
            <a:r>
              <a:rPr lang="en-US" altLang="zh-CN" sz="2400" b="1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）归纳步骤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假设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</a:rPr>
              <a:t>’,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>
                <a:latin typeface="Times New Roman" panose="02020603050405020304" pitchFamily="18" charset="0"/>
              </a:rPr>
              <a:t>’;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’)</a:t>
            </a:r>
            <a:r>
              <a:rPr lang="zh-CN" altLang="en-US" sz="2400" b="1">
                <a:latin typeface="Times New Roman" panose="02020603050405020304" pitchFamily="18" charset="0"/>
              </a:rPr>
              <a:t>存在，其中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</a:t>
            </a:r>
            <a:r>
              <a:rPr lang="zh-CN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’ =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1, </a:t>
            </a:r>
            <a:r>
              <a:rPr lang="en-US" altLang="zh-CN" sz="2400" b="1" i="1">
                <a:latin typeface="Times New Roman" panose="02020603050405020304" pitchFamily="18" charset="0"/>
              </a:rPr>
              <a:t>p’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q’</a:t>
            </a:r>
            <a:r>
              <a:rPr lang="zh-CN" altLang="en-US" sz="2400" b="1">
                <a:latin typeface="Times New Roman" panose="02020603050405020304" pitchFamily="18" charset="0"/>
              </a:rPr>
              <a:t>任意</a:t>
            </a:r>
            <a:r>
              <a:rPr lang="en-US" altLang="zh-CN" sz="2400" b="1">
                <a:latin typeface="Times New Roman" panose="02020603050405020304" pitchFamily="18" charset="0"/>
              </a:rPr>
              <a:t>;   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’=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</a:rPr>
              <a:t>’&lt; </a:t>
            </a:r>
            <a:r>
              <a:rPr lang="en-US" altLang="zh-CN" sz="2400" b="1" i="1">
                <a:latin typeface="Times New Roman" panose="02020603050405020304" pitchFamily="18" charset="0"/>
              </a:rPr>
              <a:t>p </a:t>
            </a:r>
            <a:r>
              <a:rPr lang="zh-CN" altLang="en-US" sz="2400" b="1">
                <a:latin typeface="Times New Roman" panose="02020603050405020304" pitchFamily="18" charset="0"/>
              </a:rPr>
              <a:t>或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>
                <a:latin typeface="Times New Roman" panose="02020603050405020304" pitchFamily="18" charset="0"/>
              </a:rPr>
              <a:t>’&lt;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1,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), 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1;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),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令 </a:t>
            </a:r>
            <a:r>
              <a:rPr lang="en-US" altLang="zh-CN" sz="2400" b="1" i="1">
                <a:latin typeface="Times New Roman" panose="02020603050405020304" pitchFamily="18" charset="0"/>
              </a:rPr>
              <a:t>n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1)+1 =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1,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),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1,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);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1)+1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9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9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val 6">
            <a:extLst>
              <a:ext uri="{FF2B5EF4-FFF2-40B4-BE49-F238E27FC236}">
                <a16:creationId xmlns:a16="http://schemas.microsoft.com/office/drawing/2014/main" id="{8CC0D653-F204-40B7-B51B-8ACE8FF5E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720850"/>
            <a:ext cx="2016125" cy="1295400"/>
          </a:xfrm>
          <a:prstGeom prst="ellipse">
            <a:avLst/>
          </a:prstGeom>
          <a:solidFill>
            <a:schemeClr val="accent1">
              <a:alpha val="0"/>
            </a:schemeClr>
          </a:solidFill>
          <a:ln w="254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35" name="Oval 5">
            <a:extLst>
              <a:ext uri="{FF2B5EF4-FFF2-40B4-BE49-F238E27FC236}">
                <a16:creationId xmlns:a16="http://schemas.microsoft.com/office/drawing/2014/main" id="{F99ECEE8-8C88-4352-A82E-376AF2DEC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297113"/>
            <a:ext cx="215900" cy="215900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4036" name="Rectangle 2">
            <a:extLst>
              <a:ext uri="{FF2B5EF4-FFF2-40B4-BE49-F238E27FC236}">
                <a16:creationId xmlns:a16="http://schemas.microsoft.com/office/drawing/2014/main" id="{90F38DB8-D0E3-4851-BCB9-49C77A8E31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8293" y="188640"/>
            <a:ext cx="8507413" cy="111442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r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元子集划分到</a:t>
            </a:r>
            <a:r>
              <a:rPr lang="en-US" altLang="zh-CN" sz="40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r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元子集划分</a:t>
            </a:r>
          </a:p>
        </p:txBody>
      </p:sp>
      <p:sp>
        <p:nvSpPr>
          <p:cNvPr id="45075" name="灯片编号占位符 24">
            <a:extLst>
              <a:ext uri="{FF2B5EF4-FFF2-40B4-BE49-F238E27FC236}">
                <a16:creationId xmlns:a16="http://schemas.microsoft.com/office/drawing/2014/main" id="{CE5DF478-94A2-48C9-8846-65E10A7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088063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5F0DD7F-DF85-4309-9EDD-A98027E1AADE}" type="slidenum">
              <a:rPr lang="en-US" altLang="zh-CN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8437" name="AutoShape 9">
            <a:extLst>
              <a:ext uri="{FF2B5EF4-FFF2-40B4-BE49-F238E27FC236}">
                <a16:creationId xmlns:a16="http://schemas.microsoft.com/office/drawing/2014/main" id="{6152858B-8B61-420B-ABAC-AA476C616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384675"/>
            <a:ext cx="1582737" cy="1152525"/>
          </a:xfrm>
          <a:prstGeom prst="can">
            <a:avLst>
              <a:gd name="adj" fmla="val 25000"/>
            </a:avLst>
          </a:prstGeom>
          <a:solidFill>
            <a:srgbClr val="FFFF99">
              <a:alpha val="45882"/>
            </a:srgb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38" name="Oval 4">
            <a:extLst>
              <a:ext uri="{FF2B5EF4-FFF2-40B4-BE49-F238E27FC236}">
                <a16:creationId xmlns:a16="http://schemas.microsoft.com/office/drawing/2014/main" id="{D0C07692-39C3-4F26-810A-2BD969AEB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1936750"/>
            <a:ext cx="1152525" cy="719138"/>
          </a:xfrm>
          <a:prstGeom prst="ellipse">
            <a:avLst/>
          </a:prstGeom>
          <a:solidFill>
            <a:srgbClr val="FFCC66">
              <a:alpha val="98822"/>
            </a:srgb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39" name="AutoShape 10">
            <a:extLst>
              <a:ext uri="{FF2B5EF4-FFF2-40B4-BE49-F238E27FC236}">
                <a16:creationId xmlns:a16="http://schemas.microsoft.com/office/drawing/2014/main" id="{930103A1-C5A8-4CFD-A563-FF42880EE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4386263"/>
            <a:ext cx="1655762" cy="1150937"/>
          </a:xfrm>
          <a:prstGeom prst="can">
            <a:avLst>
              <a:gd name="adj" fmla="val 31722"/>
            </a:avLst>
          </a:prstGeom>
          <a:solidFill>
            <a:srgbClr val="CC99FF">
              <a:alpha val="45882"/>
            </a:srgb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0" name="AutoShape 18">
            <a:extLst>
              <a:ext uri="{FF2B5EF4-FFF2-40B4-BE49-F238E27FC236}">
                <a16:creationId xmlns:a16="http://schemas.microsoft.com/office/drawing/2014/main" id="{A5CF38B7-00DE-499A-AC99-0DAB8245DFCA}"/>
              </a:ext>
            </a:extLst>
          </p:cNvPr>
          <p:cNvSpPr>
            <a:spLocks noChangeArrowheads="1"/>
          </p:cNvSpPr>
          <p:nvPr/>
        </p:nvSpPr>
        <p:spPr bwMode="auto">
          <a:xfrm rot="7032484">
            <a:off x="1494631" y="3645694"/>
            <a:ext cx="1081088" cy="254000"/>
          </a:xfrm>
          <a:prstGeom prst="rightArrow">
            <a:avLst>
              <a:gd name="adj1" fmla="val 50000"/>
              <a:gd name="adj2" fmla="val 106406"/>
            </a:avLst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1" name="AutoShape 21">
            <a:extLst>
              <a:ext uri="{FF2B5EF4-FFF2-40B4-BE49-F238E27FC236}">
                <a16:creationId xmlns:a16="http://schemas.microsoft.com/office/drawing/2014/main" id="{F7A17634-65A7-4B43-93FA-4065ED66F1A5}"/>
              </a:ext>
            </a:extLst>
          </p:cNvPr>
          <p:cNvSpPr>
            <a:spLocks noChangeArrowheads="1"/>
          </p:cNvSpPr>
          <p:nvPr/>
        </p:nvSpPr>
        <p:spPr bwMode="auto">
          <a:xfrm rot="7032484">
            <a:off x="5742781" y="3645694"/>
            <a:ext cx="1081088" cy="254000"/>
          </a:xfrm>
          <a:prstGeom prst="rightArrow">
            <a:avLst>
              <a:gd name="adj1" fmla="val 50000"/>
              <a:gd name="adj2" fmla="val 106406"/>
            </a:avLst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2" name="Text Box 22">
            <a:extLst>
              <a:ext uri="{FF2B5EF4-FFF2-40B4-BE49-F238E27FC236}">
                <a16:creationId xmlns:a16="http://schemas.microsoft.com/office/drawing/2014/main" id="{DD175F3C-C18F-49C3-9799-BF0B8B817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2055813"/>
            <a:ext cx="1327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/>
              <a:t> </a:t>
            </a:r>
            <a:r>
              <a:rPr lang="zh-CN" altLang="en-US" sz="2400" b="1"/>
              <a:t>元子集</a:t>
            </a:r>
          </a:p>
        </p:txBody>
      </p:sp>
      <p:sp>
        <p:nvSpPr>
          <p:cNvPr id="18443" name="Oval 12">
            <a:extLst>
              <a:ext uri="{FF2B5EF4-FFF2-40B4-BE49-F238E27FC236}">
                <a16:creationId xmlns:a16="http://schemas.microsoft.com/office/drawing/2014/main" id="{ED2D2730-B68B-4754-BB3D-7C07CCEA1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2081213"/>
            <a:ext cx="1152525" cy="719137"/>
          </a:xfrm>
          <a:prstGeom prst="ellipse">
            <a:avLst/>
          </a:prstGeom>
          <a:solidFill>
            <a:srgbClr val="FFCC66">
              <a:alpha val="98822"/>
            </a:srgb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4" name="Text Box 23">
            <a:extLst>
              <a:ext uri="{FF2B5EF4-FFF2-40B4-BE49-F238E27FC236}">
                <a16:creationId xmlns:a16="http://schemas.microsoft.com/office/drawing/2014/main" id="{F070F3E9-61D5-4CE9-8C04-A696F2B78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2159000"/>
            <a:ext cx="1476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-1</a:t>
            </a:r>
            <a:r>
              <a:rPr lang="zh-CN" altLang="en-US" sz="2400" b="1"/>
              <a:t>元子集</a:t>
            </a:r>
          </a:p>
        </p:txBody>
      </p:sp>
      <p:sp>
        <p:nvSpPr>
          <p:cNvPr id="18445" name="Text Box 24">
            <a:extLst>
              <a:ext uri="{FF2B5EF4-FFF2-40B4-BE49-F238E27FC236}">
                <a16:creationId xmlns:a16="http://schemas.microsoft.com/office/drawing/2014/main" id="{39E5E8B8-177B-403E-8EC3-13896C355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738" y="5691188"/>
            <a:ext cx="500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/>
              <a:t>1</a:t>
            </a:r>
          </a:p>
        </p:txBody>
      </p:sp>
      <p:sp>
        <p:nvSpPr>
          <p:cNvPr id="18446" name="Text Box 25">
            <a:extLst>
              <a:ext uri="{FF2B5EF4-FFF2-40B4-BE49-F238E27FC236}">
                <a16:creationId xmlns:a16="http://schemas.microsoft.com/office/drawing/2014/main" id="{DA05A1F9-843A-4456-9708-7B4AC2046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691188"/>
            <a:ext cx="500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/>
              <a:t>2</a:t>
            </a:r>
          </a:p>
        </p:txBody>
      </p:sp>
      <p:sp>
        <p:nvSpPr>
          <p:cNvPr id="18447" name="Text Box 27">
            <a:extLst>
              <a:ext uri="{FF2B5EF4-FFF2-40B4-BE49-F238E27FC236}">
                <a16:creationId xmlns:a16="http://schemas.microsoft.com/office/drawing/2014/main" id="{F0192549-6B5E-47E6-8CC1-F89F82135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19113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8448" name="AutoShape 19">
            <a:extLst>
              <a:ext uri="{FF2B5EF4-FFF2-40B4-BE49-F238E27FC236}">
                <a16:creationId xmlns:a16="http://schemas.microsoft.com/office/drawing/2014/main" id="{D6FCA723-C18B-4968-948E-F4B0FFCB1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288" y="4386263"/>
            <a:ext cx="1582737" cy="1079500"/>
          </a:xfrm>
          <a:prstGeom prst="can">
            <a:avLst>
              <a:gd name="adj" fmla="val 25000"/>
            </a:avLst>
          </a:prstGeom>
          <a:solidFill>
            <a:srgbClr val="FFCC99">
              <a:alpha val="39999"/>
            </a:srgb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9" name="AutoShape 20">
            <a:extLst>
              <a:ext uri="{FF2B5EF4-FFF2-40B4-BE49-F238E27FC236}">
                <a16:creationId xmlns:a16="http://schemas.microsoft.com/office/drawing/2014/main" id="{E4A7D635-19A7-466B-B20A-7F252F2FE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4386263"/>
            <a:ext cx="1655763" cy="1079500"/>
          </a:xfrm>
          <a:prstGeom prst="can">
            <a:avLst>
              <a:gd name="adj" fmla="val 31722"/>
            </a:avLst>
          </a:prstGeom>
          <a:solidFill>
            <a:srgbClr val="CCFF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50" name="Text Box 28">
            <a:extLst>
              <a:ext uri="{FF2B5EF4-FFF2-40B4-BE49-F238E27FC236}">
                <a16:creationId xmlns:a16="http://schemas.microsoft.com/office/drawing/2014/main" id="{B1EED0FA-C00B-4114-A53E-7432A816A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325" y="5608638"/>
            <a:ext cx="568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/>
              <a:t>1</a:t>
            </a:r>
            <a:r>
              <a:rPr lang="en-US" altLang="zh-CN" sz="2400"/>
              <a:t>’</a:t>
            </a:r>
            <a:endParaRPr lang="en-US" altLang="zh-CN"/>
          </a:p>
        </p:txBody>
      </p:sp>
      <p:sp>
        <p:nvSpPr>
          <p:cNvPr id="18451" name="Text Box 29">
            <a:extLst>
              <a:ext uri="{FF2B5EF4-FFF2-40B4-BE49-F238E27FC236}">
                <a16:creationId xmlns:a16="http://schemas.microsoft.com/office/drawing/2014/main" id="{4F155D45-E49C-4427-87E5-5FF64407B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8" y="5608638"/>
            <a:ext cx="568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/>
              <a:t>2</a:t>
            </a:r>
            <a:r>
              <a:rPr lang="en-US" altLang="zh-CN" sz="2400"/>
              <a:t>’</a:t>
            </a:r>
            <a:endParaRPr lang="en-US" altLang="zh-CN"/>
          </a:p>
        </p:txBody>
      </p:sp>
      <p:sp>
        <p:nvSpPr>
          <p:cNvPr id="18452" name="AutoShape 31">
            <a:extLst>
              <a:ext uri="{FF2B5EF4-FFF2-40B4-BE49-F238E27FC236}">
                <a16:creationId xmlns:a16="http://schemas.microsoft.com/office/drawing/2014/main" id="{AB3885D5-3F8A-4D3B-8D8C-63BB8FE5B98D}"/>
              </a:ext>
            </a:extLst>
          </p:cNvPr>
          <p:cNvSpPr>
            <a:spLocks noChangeArrowheads="1"/>
          </p:cNvSpPr>
          <p:nvPr/>
        </p:nvSpPr>
        <p:spPr bwMode="auto">
          <a:xfrm rot="3481532">
            <a:off x="2790031" y="3645694"/>
            <a:ext cx="1081088" cy="254000"/>
          </a:xfrm>
          <a:prstGeom prst="rightArrow">
            <a:avLst>
              <a:gd name="adj1" fmla="val 50000"/>
              <a:gd name="adj2" fmla="val 106406"/>
            </a:avLst>
          </a:prstGeom>
          <a:noFill/>
          <a:ln w="254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53" name="AutoShape 32">
            <a:extLst>
              <a:ext uri="{FF2B5EF4-FFF2-40B4-BE49-F238E27FC236}">
                <a16:creationId xmlns:a16="http://schemas.microsoft.com/office/drawing/2014/main" id="{E398CF1B-5C6D-49A7-89BC-3C35BCF6E0D5}"/>
              </a:ext>
            </a:extLst>
          </p:cNvPr>
          <p:cNvSpPr>
            <a:spLocks noChangeArrowheads="1"/>
          </p:cNvSpPr>
          <p:nvPr/>
        </p:nvSpPr>
        <p:spPr bwMode="auto">
          <a:xfrm rot="3481532">
            <a:off x="6966744" y="3645694"/>
            <a:ext cx="1081088" cy="254000"/>
          </a:xfrm>
          <a:prstGeom prst="rightArrow">
            <a:avLst>
              <a:gd name="adj1" fmla="val 50000"/>
              <a:gd name="adj2" fmla="val 106406"/>
            </a:avLst>
          </a:prstGeom>
          <a:noFill/>
          <a:ln w="254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54" name="AutoShape 34">
            <a:extLst>
              <a:ext uri="{FF2B5EF4-FFF2-40B4-BE49-F238E27FC236}">
                <a16:creationId xmlns:a16="http://schemas.microsoft.com/office/drawing/2014/main" id="{EC162111-FCEF-4656-8406-A116566C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3376613"/>
            <a:ext cx="1223962" cy="503237"/>
          </a:xfrm>
          <a:prstGeom prst="leftRightArrow">
            <a:avLst>
              <a:gd name="adj1" fmla="val 50000"/>
              <a:gd name="adj2" fmla="val 48644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74FF1D46-CC43-4CB5-BDF9-A3968A420D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106" y="264297"/>
            <a:ext cx="8459787" cy="6477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关于一般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Ramsey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数的说明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ABFD106-8BDB-4E44-B266-132EC4E51D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268413"/>
            <a:ext cx="8156575" cy="23764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 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, … , 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i="1" baseline="-25000">
                <a:solidFill>
                  <a:srgbClr val="A5002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(1) </a:t>
            </a:r>
            <a:r>
              <a:rPr lang="zh-CN" altLang="en-US" sz="2400" b="1">
                <a:latin typeface="Times New Roman" panose="02020603050405020304" pitchFamily="18" charset="0"/>
              </a:rPr>
              <a:t>条件：</a:t>
            </a:r>
            <a:r>
              <a:rPr lang="en-US" altLang="zh-CN" sz="2400" b="1" i="1">
                <a:latin typeface="Times New Roman" panose="02020603050405020304" pitchFamily="18" charset="0"/>
              </a:rPr>
              <a:t>r, k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>
                <a:latin typeface="Times New Roman" panose="02020603050405020304" pitchFamily="18" charset="0"/>
              </a:rPr>
              <a:t>1, 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</a:rPr>
              <a:t>=1, 2, … , 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都是给定正整数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(2) </a:t>
            </a:r>
            <a:r>
              <a:rPr lang="zh-CN" altLang="en-US" sz="2400" b="1">
                <a:latin typeface="Times New Roman" panose="02020603050405020304" pitchFamily="18" charset="0"/>
              </a:rPr>
              <a:t>当 </a:t>
            </a:r>
            <a:r>
              <a:rPr lang="en-US" altLang="zh-CN" sz="2400" b="1" i="1">
                <a:latin typeface="Times New Roman" panose="02020603050405020304" pitchFamily="18" charset="0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</a:rPr>
              <a:t>= 2</a:t>
            </a:r>
            <a:r>
              <a:rPr lang="zh-CN" altLang="en-US" sz="2400" b="1">
                <a:latin typeface="Times New Roman" panose="02020603050405020304" pitchFamily="18" charset="0"/>
              </a:rPr>
              <a:t>时，可以简记为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, … ,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(3) Ramsey</a:t>
            </a:r>
            <a:r>
              <a:rPr lang="zh-CN" altLang="en-US" sz="2400" b="1">
                <a:latin typeface="Times New Roman" panose="02020603050405020304" pitchFamily="18" charset="0"/>
              </a:rPr>
              <a:t>定理断定</a:t>
            </a:r>
            <a:r>
              <a:rPr lang="en-US" altLang="zh-CN" sz="2400" b="1">
                <a:latin typeface="Times New Roman" panose="02020603050405020304" pitchFamily="18" charset="0"/>
              </a:rPr>
              <a:t>Ramsey</a:t>
            </a:r>
            <a:r>
              <a:rPr lang="zh-CN" altLang="en-US" sz="2400" b="1">
                <a:latin typeface="Times New Roman" panose="02020603050405020304" pitchFamily="18" charset="0"/>
              </a:rPr>
              <a:t>数的存在性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Ramsey</a:t>
            </a:r>
            <a:r>
              <a:rPr lang="zh-CN" altLang="en-US" sz="2400" b="1">
                <a:latin typeface="Times New Roman" panose="02020603050405020304" pitchFamily="18" charset="0"/>
              </a:rPr>
              <a:t>数的确定是一个很困难的问题</a:t>
            </a:r>
            <a:r>
              <a:rPr lang="en-US" altLang="zh-CN" sz="2400" b="1">
                <a:latin typeface="Times New Roman" panose="02020603050405020304" pitchFamily="18" charset="0"/>
              </a:rPr>
              <a:t>.  </a:t>
            </a:r>
          </a:p>
        </p:txBody>
      </p:sp>
      <p:sp>
        <p:nvSpPr>
          <p:cNvPr id="46085" name="灯片编号占位符 4">
            <a:extLst>
              <a:ext uri="{FF2B5EF4-FFF2-40B4-BE49-F238E27FC236}">
                <a16:creationId xmlns:a16="http://schemas.microsoft.com/office/drawing/2014/main" id="{0CC7AAAB-7B97-48D9-B654-A34587B3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3220E3D-2C6F-4401-8C2C-77AA43FD479A}" type="slidenum">
              <a:rPr lang="en-US" altLang="zh-CN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71716" name="Rectangle 4">
            <a:extLst>
              <a:ext uri="{FF2B5EF4-FFF2-40B4-BE49-F238E27FC236}">
                <a16:creationId xmlns:a16="http://schemas.microsoft.com/office/drawing/2014/main" id="{2F95C1E8-9A52-4174-A520-B142CD7C4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644900"/>
            <a:ext cx="8497887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chemeClr val="tx2"/>
                </a:solidFill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(4) </a:t>
            </a:r>
            <a:r>
              <a:rPr lang="en-US" altLang="zh-CN" sz="2400" b="1" i="1">
                <a:latin typeface="Times New Roman" panose="02020603050405020304" pitchFamily="18" charset="0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</a:rPr>
              <a:t>= 1, </a:t>
            </a:r>
            <a:r>
              <a:rPr lang="zh-CN" altLang="en-US" sz="2400" b="1">
                <a:latin typeface="Times New Roman" panose="02020603050405020304" pitchFamily="18" charset="0"/>
              </a:rPr>
              <a:t>是鸽巢原理，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, …,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</a:rPr>
              <a:t>;1) =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+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+…+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+1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</a:t>
            </a:r>
            <a:r>
              <a:rPr lang="en-US" altLang="zh-CN" sz="2400" b="1" i="1">
                <a:latin typeface="Times New Roman" panose="02020603050405020304" pitchFamily="18" charset="0"/>
              </a:rPr>
              <a:t> r </a:t>
            </a:r>
            <a:r>
              <a:rPr lang="en-US" altLang="zh-CN" sz="2400" b="1">
                <a:latin typeface="Times New Roman" panose="02020603050405020304" pitchFamily="18" charset="0"/>
              </a:rPr>
              <a:t>= 2, </a:t>
            </a:r>
            <a:r>
              <a:rPr lang="en-US" altLang="zh-CN" sz="2400" b="1" i="1">
                <a:latin typeface="Times New Roman" panose="02020603050405020304" pitchFamily="18" charset="0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</a:rPr>
              <a:t>= 2, </a:t>
            </a:r>
            <a:r>
              <a:rPr lang="zh-CN" altLang="en-US" sz="2400" b="1">
                <a:latin typeface="Times New Roman" panose="02020603050405020304" pitchFamily="18" charset="0"/>
              </a:rPr>
              <a:t>是简单的</a:t>
            </a:r>
            <a:r>
              <a:rPr lang="en-US" altLang="zh-CN" sz="2400" b="1">
                <a:latin typeface="Times New Roman" panose="02020603050405020304" pitchFamily="18" charset="0"/>
              </a:rPr>
              <a:t>Ramsey</a:t>
            </a:r>
            <a:r>
              <a:rPr lang="zh-CN" altLang="en-US" sz="2400" b="1">
                <a:latin typeface="Times New Roman" panose="02020603050405020304" pitchFamily="18" charset="0"/>
              </a:rPr>
              <a:t>定理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</a:t>
            </a:r>
            <a:r>
              <a:rPr lang="zh-CN" altLang="en-US" sz="2400" b="1">
                <a:latin typeface="Times New Roman" panose="02020603050405020304" pitchFamily="18" charset="0"/>
              </a:rPr>
              <a:t>结果：</a:t>
            </a:r>
            <a:r>
              <a:rPr lang="en-US" altLang="zh-CN" sz="2400" b="1">
                <a:latin typeface="Times New Roman" panose="02020603050405020304" pitchFamily="18" charset="0"/>
              </a:rPr>
              <a:t>9</a:t>
            </a:r>
            <a:r>
              <a:rPr lang="zh-CN" altLang="en-US" sz="2400" b="1">
                <a:latin typeface="Times New Roman" panose="02020603050405020304" pitchFamily="18" charset="0"/>
              </a:rPr>
              <a:t>个</a:t>
            </a:r>
            <a:r>
              <a:rPr lang="en-US" altLang="zh-CN" sz="2400" b="1">
                <a:latin typeface="Times New Roman" panose="02020603050405020304" pitchFamily="18" charset="0"/>
              </a:rPr>
              <a:t>Ramsey</a:t>
            </a:r>
            <a:r>
              <a:rPr lang="zh-CN" altLang="en-US" sz="2400" b="1">
                <a:latin typeface="Times New Roman" panose="02020603050405020304" pitchFamily="18" charset="0"/>
              </a:rPr>
              <a:t>数的精确值，部分上界、下界 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</a:t>
            </a:r>
            <a:r>
              <a:rPr lang="zh-CN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</a:rPr>
              <a:t>= 2, </a:t>
            </a:r>
            <a:r>
              <a:rPr lang="en-US" altLang="zh-CN" sz="2400" b="1" i="1">
                <a:latin typeface="Times New Roman" panose="02020603050405020304" pitchFamily="18" charset="0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</a:rPr>
              <a:t>= 3,</a:t>
            </a:r>
            <a:r>
              <a:rPr lang="zh-CN" altLang="en-US" sz="2400" b="1">
                <a:latin typeface="Times New Roman" panose="02020603050405020304" pitchFamily="18" charset="0"/>
              </a:rPr>
              <a:t>只有一个精确值 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(3,3,3)=17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1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1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>
            <a:extLst>
              <a:ext uri="{FF2B5EF4-FFF2-40B4-BE49-F238E27FC236}">
                <a16:creationId xmlns:a16="http://schemas.microsoft.com/office/drawing/2014/main" id="{DB4ACE6E-4F42-4C17-A423-8A75513BF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2575" y="234950"/>
            <a:ext cx="857885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一般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Ramsey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数的上下界</a:t>
            </a:r>
          </a:p>
        </p:txBody>
      </p:sp>
      <p:sp>
        <p:nvSpPr>
          <p:cNvPr id="20483" name="内容占位符 4">
            <a:extLst>
              <a:ext uri="{FF2B5EF4-FFF2-40B4-BE49-F238E27FC236}">
                <a16:creationId xmlns:a16="http://schemas.microsoft.com/office/drawing/2014/main" id="{ADA3DC54-8D07-43EA-9B67-7631882C6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84313"/>
            <a:ext cx="7586663" cy="392906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51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(3,3,3,3)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62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65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162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(3,3,3,3,3)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307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322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307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538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(3,3,3,3,3,3)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1838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500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538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30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(3,3,4)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32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45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(3,3,5)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59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55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(3,4,4)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79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81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79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93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(3,3,3,4)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153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84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93,  159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153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128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(4,4,4)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236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242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236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47108" name="灯片编号占位符 3">
            <a:extLst>
              <a:ext uri="{FF2B5EF4-FFF2-40B4-BE49-F238E27FC236}">
                <a16:creationId xmlns:a16="http://schemas.microsoft.com/office/drawing/2014/main" id="{C3FA1057-802D-4735-91AD-F05529C1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8226B2C-73E4-4195-B80E-32ACA7FE70B7}" type="slidenum">
              <a:rPr lang="en-US" altLang="zh-CN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2C24B17E-F0C7-41DC-9664-A0B76318EC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Ramsey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定理的应用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EB28B4C-0F8C-4D37-8825-2AFC9C3F8A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1013" y="1125538"/>
            <a:ext cx="8156575" cy="2879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例 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CN" sz="2400" b="1">
                <a:latin typeface="Times New Roman" panose="02020603050405020304" pitchFamily="18" charset="0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</a:rPr>
              <a:t>对于任意 </a:t>
            </a:r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>
                <a:latin typeface="Times New Roman" panose="02020603050405020304" pitchFamily="18" charset="0"/>
              </a:rPr>
              <a:t>3,</a:t>
            </a:r>
            <a:r>
              <a:rPr lang="en-US" altLang="zh-CN" sz="2400" b="1" i="1">
                <a:latin typeface="Times New Roman" panose="02020603050405020304" pitchFamily="18" charset="0"/>
              </a:rPr>
              <a:t> m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latin typeface="Times New Roman" panose="02020603050405020304" pitchFamily="18" charset="0"/>
              </a:rPr>
              <a:t>Z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+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存在正整数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</a:rPr>
              <a:t>，使得当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</a:rPr>
              <a:t>) </a:t>
            </a:r>
            <a:r>
              <a:rPr lang="zh-CN" altLang="en-US" sz="2400" b="1">
                <a:latin typeface="Times New Roman" panose="02020603050405020304" pitchFamily="18" charset="0"/>
              </a:rPr>
              <a:t>时，若平面的 </a:t>
            </a:r>
            <a:r>
              <a:rPr lang="en-US" altLang="zh-CN" sz="2400" b="1" i="1">
                <a:latin typeface="Times New Roman" panose="02020603050405020304" pitchFamily="18" charset="0"/>
              </a:rPr>
              <a:t>n </a:t>
            </a:r>
            <a:r>
              <a:rPr lang="zh-CN" altLang="en-US" sz="2400" b="1">
                <a:latin typeface="Times New Roman" panose="02020603050405020304" pitchFamily="18" charset="0"/>
              </a:rPr>
              <a:t>个点没有三点共线，其中总有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zh-CN" altLang="en-US" sz="2400" b="1">
                <a:latin typeface="Times New Roman" panose="02020603050405020304" pitchFamily="18" charset="0"/>
              </a:rPr>
              <a:t>个点构成一个凸 </a:t>
            </a:r>
            <a:r>
              <a:rPr lang="en-US" altLang="zh-CN" sz="2400" b="1" i="1">
                <a:latin typeface="Times New Roman" panose="02020603050405020304" pitchFamily="18" charset="0"/>
              </a:rPr>
              <a:t>m </a:t>
            </a:r>
            <a:r>
              <a:rPr lang="zh-CN" altLang="en-US" sz="2400" b="1">
                <a:latin typeface="Times New Roman" panose="02020603050405020304" pitchFamily="18" charset="0"/>
              </a:rPr>
              <a:t>边形的顶点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实例：</a:t>
            </a:r>
            <a:r>
              <a:rPr lang="zh-CN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</a:rPr>
              <a:t>=3,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</a:rPr>
              <a:t>)=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(3)=3,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</a:rPr>
              <a:t>=4,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</a:rPr>
              <a:t>)=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(4)=5,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   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(5, 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; 4)</a:t>
            </a:r>
          </a:p>
        </p:txBody>
      </p:sp>
      <p:sp>
        <p:nvSpPr>
          <p:cNvPr id="48134" name="灯片编号占位符 5">
            <a:extLst>
              <a:ext uri="{FF2B5EF4-FFF2-40B4-BE49-F238E27FC236}">
                <a16:creationId xmlns:a16="http://schemas.microsoft.com/office/drawing/2014/main" id="{5BA1BEE2-0301-4922-BB28-D33DAB90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81694CB-06D4-4B05-B3B1-5C1DB9895DF4}" type="slidenum">
              <a:rPr lang="en-US" altLang="zh-CN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  <p:pic>
        <p:nvPicPr>
          <p:cNvPr id="21508" name="Picture 4">
            <a:extLst>
              <a:ext uri="{FF2B5EF4-FFF2-40B4-BE49-F238E27FC236}">
                <a16:creationId xmlns:a16="http://schemas.microsoft.com/office/drawing/2014/main" id="{765244CB-76E4-4D9A-B7A0-05DED7A9D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8" t="10236" b="7874"/>
          <a:stretch>
            <a:fillRect/>
          </a:stretch>
        </p:blipFill>
        <p:spPr bwMode="auto">
          <a:xfrm>
            <a:off x="5076825" y="2708275"/>
            <a:ext cx="3276600" cy="110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5813" name="Rectangle 5">
            <a:extLst>
              <a:ext uri="{FF2B5EF4-FFF2-40B4-BE49-F238E27FC236}">
                <a16:creationId xmlns:a16="http://schemas.microsoft.com/office/drawing/2014/main" id="{8513EF3F-8CA7-4CBD-859A-B9F032F59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292600"/>
            <a:ext cx="7920038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引理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平面上任给</a:t>
            </a:r>
            <a:r>
              <a:rPr lang="en-US" altLang="zh-CN" sz="2400" b="1">
                <a:latin typeface="Times New Roman" panose="02020603050405020304" pitchFamily="18" charset="0"/>
              </a:rPr>
              <a:t>5</a:t>
            </a:r>
            <a:r>
              <a:rPr lang="zh-CN" altLang="en-US" sz="2400" b="1">
                <a:latin typeface="Times New Roman" panose="02020603050405020304" pitchFamily="18" charset="0"/>
              </a:rPr>
              <a:t>点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没有</a:t>
            </a:r>
            <a:r>
              <a:rPr lang="en-US" altLang="zh-CN" sz="2400" b="1">
                <a:latin typeface="Times New Roman" panose="02020603050405020304" pitchFamily="18" charset="0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</a:rPr>
              <a:t>点共线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则必有</a:t>
            </a:r>
            <a:r>
              <a:rPr lang="en-US" altLang="zh-CN" sz="2400" b="1">
                <a:latin typeface="Times New Roman" panose="02020603050405020304" pitchFamily="18" charset="0"/>
              </a:rPr>
              <a:t>4</a:t>
            </a:r>
            <a:r>
              <a:rPr lang="zh-CN" altLang="en-US" sz="2400" b="1">
                <a:latin typeface="Times New Roman" panose="02020603050405020304" pitchFamily="18" charset="0"/>
              </a:rPr>
              <a:t>点是凸</a:t>
            </a:r>
            <a:r>
              <a:rPr lang="en-US" altLang="zh-CN" sz="2400" b="1">
                <a:latin typeface="Times New Roman" panose="02020603050405020304" pitchFamily="18" charset="0"/>
              </a:rPr>
              <a:t>4</a:t>
            </a:r>
            <a:r>
              <a:rPr lang="zh-CN" altLang="en-US" sz="2400" b="1">
                <a:latin typeface="Times New Roman" panose="02020603050405020304" pitchFamily="18" charset="0"/>
              </a:rPr>
              <a:t>边形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的顶点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引理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平面上</a:t>
            </a:r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zh-CN" altLang="en-US" sz="2400" b="1">
                <a:latin typeface="Times New Roman" panose="02020603050405020304" pitchFamily="18" charset="0"/>
              </a:rPr>
              <a:t>个点，若没有</a:t>
            </a:r>
            <a:r>
              <a:rPr lang="en-US" altLang="zh-CN" sz="2400" b="1">
                <a:latin typeface="Times New Roman" panose="02020603050405020304" pitchFamily="18" charset="0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</a:rPr>
              <a:t>点共线且任</a:t>
            </a:r>
            <a:r>
              <a:rPr lang="en-US" altLang="zh-CN" sz="2400" b="1">
                <a:latin typeface="Times New Roman" panose="02020603050405020304" pitchFamily="18" charset="0"/>
              </a:rPr>
              <a:t>4</a:t>
            </a:r>
            <a:r>
              <a:rPr lang="zh-CN" altLang="en-US" sz="2400" b="1">
                <a:latin typeface="Times New Roman" panose="02020603050405020304" pitchFamily="18" charset="0"/>
              </a:rPr>
              <a:t>点都是凸</a:t>
            </a:r>
            <a:r>
              <a:rPr lang="en-US" altLang="zh-CN" sz="2400" b="1">
                <a:latin typeface="Times New Roman" panose="02020603050405020304" pitchFamily="18" charset="0"/>
              </a:rPr>
              <a:t>4</a:t>
            </a:r>
            <a:r>
              <a:rPr lang="zh-CN" altLang="en-US" sz="2400" b="1">
                <a:latin typeface="Times New Roman" panose="02020603050405020304" pitchFamily="18" charset="0"/>
              </a:rPr>
              <a:t>边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形的顶点，则这 </a:t>
            </a:r>
            <a:r>
              <a:rPr lang="en-US" altLang="zh-CN" sz="2400" b="1" i="1">
                <a:latin typeface="Times New Roman" panose="02020603050405020304" pitchFamily="18" charset="0"/>
              </a:rPr>
              <a:t>m </a:t>
            </a:r>
            <a:r>
              <a:rPr lang="zh-CN" altLang="en-US" sz="2400" b="1">
                <a:latin typeface="Times New Roman" panose="02020603050405020304" pitchFamily="18" charset="0"/>
              </a:rPr>
              <a:t>个点构成凸 </a:t>
            </a:r>
            <a:r>
              <a:rPr lang="en-US" altLang="zh-CN" sz="2400" b="1" i="1">
                <a:latin typeface="Times New Roman" panose="02020603050405020304" pitchFamily="18" charset="0"/>
              </a:rPr>
              <a:t>m </a:t>
            </a:r>
            <a:r>
              <a:rPr lang="zh-CN" altLang="en-US" sz="2400" b="1">
                <a:latin typeface="Times New Roman" panose="02020603050405020304" pitchFamily="18" charset="0"/>
              </a:rPr>
              <a:t>边形的顶点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85FA3A38-4C31-4AF3-8E8B-0AA7A90804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8" y="1268413"/>
          <a:ext cx="7970837" cy="557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文档" r:id="rId4" imgW="4523051" imgH="3155873" progId="Word.Document.8">
                  <p:embed/>
                </p:oleObj>
              </mc:Choice>
              <mc:Fallback>
                <p:oleObj name="文档" r:id="rId4" imgW="4523051" imgH="315587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1268413"/>
                        <a:ext cx="7970837" cy="557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Rectangle 3">
            <a:extLst>
              <a:ext uri="{FF2B5EF4-FFF2-40B4-BE49-F238E27FC236}">
                <a16:creationId xmlns:a16="http://schemas.microsoft.com/office/drawing/2014/main" id="{88EE77F8-CCD4-401D-A267-27A7C24449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引理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的证明</a:t>
            </a:r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8A5FDB86-768D-469A-A6FE-5FF18D26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831397F-7F0C-4987-8AEB-C4DB29715C72}" type="slidenum">
              <a:rPr lang="en-US" altLang="zh-CN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>
            <a:extLst>
              <a:ext uri="{FF2B5EF4-FFF2-40B4-BE49-F238E27FC236}">
                <a16:creationId xmlns:a16="http://schemas.microsoft.com/office/drawing/2014/main" id="{F3E9A739-E08E-44E4-A372-076EAA1CCB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1195388"/>
          <a:ext cx="7983538" cy="540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Document" r:id="rId4" imgW="5028822" imgH="3399588" progId="Word.Document.8">
                  <p:embed/>
                </p:oleObj>
              </mc:Choice>
              <mc:Fallback>
                <p:oleObj name="Document" r:id="rId4" imgW="5028822" imgH="339958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195388"/>
                        <a:ext cx="7983538" cy="540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3">
            <a:extLst>
              <a:ext uri="{FF2B5EF4-FFF2-40B4-BE49-F238E27FC236}">
                <a16:creationId xmlns:a16="http://schemas.microsoft.com/office/drawing/2014/main" id="{ADFF2FA4-6DF3-4611-975A-E461474F65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引理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的证明</a:t>
            </a:r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692DD031-54F8-46D3-8024-DBDB01B6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0AF8F4C-2356-4B45-9D3F-90305E5EB8F6}" type="slidenum">
              <a:rPr lang="en-US" altLang="zh-CN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1DC104B-CF23-497A-AA42-CDF9981CDB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32656"/>
            <a:ext cx="86868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证明命题</a:t>
            </a:r>
            <a:r>
              <a:rPr lang="en-US" altLang="zh-CN" sz="4000" b="1" i="1" dirty="0">
                <a:solidFill>
                  <a:srgbClr val="A50021"/>
                </a:solidFill>
                <a:latin typeface="Times New Roman" pitchFamily="18" charset="0"/>
              </a:rPr>
              <a:t>N</a:t>
            </a:r>
            <a:r>
              <a:rPr lang="en-US" altLang="zh-CN" sz="4000" b="1" dirty="0">
                <a:solidFill>
                  <a:srgbClr val="A50021"/>
                </a:solidFill>
                <a:latin typeface="Times New Roman" pitchFamily="18" charset="0"/>
              </a:rPr>
              <a:t>(</a:t>
            </a:r>
            <a:r>
              <a:rPr lang="en-US" altLang="zh-CN" sz="4000" b="1" i="1" dirty="0">
                <a:solidFill>
                  <a:srgbClr val="A50021"/>
                </a:solidFill>
                <a:latin typeface="Times New Roman" pitchFamily="18" charset="0"/>
              </a:rPr>
              <a:t>m</a:t>
            </a:r>
            <a:r>
              <a:rPr lang="en-US" altLang="zh-CN" sz="4000" b="1" dirty="0">
                <a:solidFill>
                  <a:srgbClr val="A50021"/>
                </a:solidFill>
                <a:latin typeface="Times New Roman" pitchFamily="18" charset="0"/>
              </a:rPr>
              <a:t>) </a:t>
            </a:r>
            <a:r>
              <a:rPr lang="en-US" altLang="zh-CN" sz="4000" b="1" dirty="0">
                <a:solidFill>
                  <a:srgbClr val="A50021"/>
                </a:solidFill>
                <a:latin typeface="Times New Roman" pitchFamily="18" charset="0"/>
                <a:sym typeface="Symbol" pitchFamily="18" charset="2"/>
              </a:rPr>
              <a:t></a:t>
            </a:r>
            <a:r>
              <a:rPr lang="en-US" altLang="zh-CN" sz="4000" b="1" dirty="0">
                <a:solidFill>
                  <a:srgbClr val="A50021"/>
                </a:solidFill>
                <a:latin typeface="Times New Roman" pitchFamily="18" charset="0"/>
              </a:rPr>
              <a:t> </a:t>
            </a:r>
            <a:r>
              <a:rPr lang="en-US" altLang="zh-CN" sz="4000" b="1" i="1" dirty="0">
                <a:solidFill>
                  <a:srgbClr val="A50021"/>
                </a:solidFill>
                <a:latin typeface="Times New Roman" pitchFamily="18" charset="0"/>
              </a:rPr>
              <a:t>R</a:t>
            </a:r>
            <a:r>
              <a:rPr lang="en-US" altLang="zh-CN" sz="4000" b="1" dirty="0">
                <a:solidFill>
                  <a:srgbClr val="A50021"/>
                </a:solidFill>
                <a:latin typeface="Times New Roman" pitchFamily="18" charset="0"/>
              </a:rPr>
              <a:t>(5, </a:t>
            </a:r>
            <a:r>
              <a:rPr lang="en-US" altLang="zh-CN" sz="4000" b="1" i="1" dirty="0">
                <a:solidFill>
                  <a:srgbClr val="A50021"/>
                </a:solidFill>
                <a:latin typeface="Times New Roman" pitchFamily="18" charset="0"/>
              </a:rPr>
              <a:t>m</a:t>
            </a:r>
            <a:r>
              <a:rPr lang="en-US" altLang="zh-CN" sz="4000" b="1" dirty="0">
                <a:solidFill>
                  <a:srgbClr val="A50021"/>
                </a:solidFill>
                <a:latin typeface="Times New Roman" pitchFamily="18" charset="0"/>
              </a:rPr>
              <a:t>; 4)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156" name="灯片编号占位符 3">
            <a:extLst>
              <a:ext uri="{FF2B5EF4-FFF2-40B4-BE49-F238E27FC236}">
                <a16:creationId xmlns:a16="http://schemas.microsoft.com/office/drawing/2014/main" id="{B988C1E2-86C7-4D11-AEE0-8907FAA61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2CF9523-2922-464F-9EAD-BA37595123D3}" type="slidenum">
              <a:rPr lang="en-US" altLang="zh-CN">
                <a:solidFill>
                  <a:srgbClr val="898989"/>
                </a:solidFill>
              </a:rPr>
              <a:pPr eaLnBrk="1" hangingPunct="1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C4259B1-588D-4728-AF2C-C8E2AD504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268413"/>
            <a:ext cx="8064500" cy="504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证  不妨设</a:t>
            </a:r>
            <a:r>
              <a:rPr lang="en-US" altLang="zh-CN" sz="2800" b="1" i="1">
                <a:latin typeface="Times New Roman" panose="02020603050405020304" pitchFamily="18" charset="0"/>
              </a:rPr>
              <a:t>m</a:t>
            </a:r>
            <a:r>
              <a:rPr lang="en-US" altLang="zh-CN" sz="2800" b="1">
                <a:latin typeface="Times New Roman" panose="02020603050405020304" pitchFamily="18" charset="0"/>
              </a:rPr>
              <a:t>&gt;3</a:t>
            </a:r>
            <a:r>
              <a:rPr lang="zh-CN" altLang="en-US" sz="2800" b="1">
                <a:latin typeface="Times New Roman" panose="02020603050405020304" pitchFamily="18" charset="0"/>
              </a:rPr>
              <a:t>，令</a:t>
            </a:r>
            <a:r>
              <a:rPr lang="en-US" altLang="zh-CN" sz="2800" b="1" i="1">
                <a:latin typeface="Times New Roman" panose="02020603050405020304" pitchFamily="18" charset="0"/>
              </a:rPr>
              <a:t>n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 b="1" i="1">
                <a:latin typeface="Times New Roman" panose="02020603050405020304" pitchFamily="18" charset="0"/>
              </a:rPr>
              <a:t> R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(5,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;4)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个点的集合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将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的所有的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元子集划分成两个子集族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如果构成凹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边形，放到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如果构成凸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边形，则放到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根据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Ramsey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数定义，或有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个点，其所有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元子集都构成凹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边形；或有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个点，其所有的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子集都构成凸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边形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若为前者，与引理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矛盾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若为后者，根据引理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，这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个点构成凸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边形的顶点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zh-CN" sz="2800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7AB52A5C-B81C-4ED7-95AB-1B2644728F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组合存在性定理的应用</a:t>
            </a:r>
          </a:p>
        </p:txBody>
      </p:sp>
      <p:sp>
        <p:nvSpPr>
          <p:cNvPr id="50181" name="灯片编号占位符 4">
            <a:extLst>
              <a:ext uri="{FF2B5EF4-FFF2-40B4-BE49-F238E27FC236}">
                <a16:creationId xmlns:a16="http://schemas.microsoft.com/office/drawing/2014/main" id="{340F5C98-FB29-4D65-A808-CC003284E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ED560F3-32CB-4F28-A49E-B5B8AE820C1E}" type="slidenum">
              <a:rPr lang="en-US" altLang="zh-CN">
                <a:solidFill>
                  <a:srgbClr val="898989"/>
                </a:solidFill>
              </a:rPr>
              <a:pPr eaLnBrk="1" hangingPunct="1"/>
              <a:t>20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190A1A4-FA7B-4B76-B061-6A87AA1C8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268413"/>
            <a:ext cx="7829550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11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最少连接缆线问题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条件：</a:t>
            </a:r>
            <a:r>
              <a:rPr lang="en-US" altLang="zh-CN" sz="2400" b="1">
                <a:latin typeface="Times New Roman" panose="02020603050405020304" pitchFamily="18" charset="0"/>
              </a:rPr>
              <a:t>15 </a:t>
            </a:r>
            <a:r>
              <a:rPr lang="zh-CN" altLang="en-US" sz="2400" b="1">
                <a:latin typeface="Times New Roman" panose="02020603050405020304" pitchFamily="18" charset="0"/>
              </a:rPr>
              <a:t>台工作站和 </a:t>
            </a:r>
            <a:r>
              <a:rPr lang="en-US" altLang="zh-CN" sz="2400" b="1">
                <a:latin typeface="Times New Roman" panose="02020603050405020304" pitchFamily="18" charset="0"/>
              </a:rPr>
              <a:t>10 </a:t>
            </a:r>
            <a:r>
              <a:rPr lang="zh-CN" altLang="en-US" sz="2400" b="1">
                <a:latin typeface="Times New Roman" panose="02020603050405020304" pitchFamily="18" charset="0"/>
              </a:rPr>
              <a:t>台服务器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每个工作站可以用一条电缆直接连到某个服务器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同一时刻每个服务器只能接受一个工作站的访问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目标：任何时刻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zh-CN" altLang="en-US" sz="2400" b="1">
                <a:latin typeface="Times New Roman" panose="02020603050405020304" pitchFamily="18" charset="0"/>
              </a:rPr>
              <a:t>任意选一组工作站</a:t>
            </a:r>
            <a:r>
              <a:rPr lang="en-US" altLang="zh-CN" sz="2400" b="1">
                <a:latin typeface="Times New Roman" panose="02020603050405020304" pitchFamily="18" charset="0"/>
              </a:rPr>
              <a:t>W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, W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/>
              <a:t>…</a:t>
            </a:r>
            <a:r>
              <a:rPr lang="en-US" altLang="zh-CN" sz="2400" b="1">
                <a:latin typeface="Times New Roman" panose="02020603050405020304" pitchFamily="18" charset="0"/>
              </a:rPr>
              <a:t> , W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</a:rPr>
              <a:t>10.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保证这组工作站可以同时访问不同的服务器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问题：达到这个目标需要的最少缆线数目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是多少？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40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4004" name="Rectangle 4">
            <a:extLst>
              <a:ext uri="{FF2B5EF4-FFF2-40B4-BE49-F238E27FC236}">
                <a16:creationId xmlns:a16="http://schemas.microsoft.com/office/drawing/2014/main" id="{E0663479-629B-416B-ABFC-529CBC1C8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683036"/>
            <a:ext cx="777716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方案</a:t>
            </a:r>
            <a:r>
              <a:rPr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每个工作站都连到每个服务器，需要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10</a:t>
            </a:r>
            <a:r>
              <a:rPr lang="en-US" altLang="zh-CN" sz="2400" b="1" dirty="0">
                <a:latin typeface="Times New Roman" panose="02020603050405020304" pitchFamily="18" charset="0"/>
              </a:rPr>
              <a:t>15=150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缆线数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</a:t>
            </a:r>
            <a:r>
              <a:rPr lang="en-US" altLang="zh-CN" sz="2400" b="1" dirty="0">
                <a:latin typeface="Times New Roman" panose="02020603050405020304" pitchFamily="18" charset="0"/>
              </a:rPr>
              <a:t> 150.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4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4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>
            <a:extLst>
              <a:ext uri="{FF2B5EF4-FFF2-40B4-BE49-F238E27FC236}">
                <a16:creationId xmlns:a16="http://schemas.microsoft.com/office/drawing/2014/main" id="{C8D12B8C-5453-4544-89E5-610F805C24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0888" y="1125538"/>
          <a:ext cx="7537450" cy="540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Document" r:id="rId4" imgW="4682436" imgH="3351438" progId="Word.Document.8">
                  <p:embed/>
                </p:oleObj>
              </mc:Choice>
              <mc:Fallback>
                <p:oleObj name="Document" r:id="rId4" imgW="4682436" imgH="335143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8" y="1125538"/>
                        <a:ext cx="7537450" cy="540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1" name="Rectangle 3">
            <a:extLst>
              <a:ext uri="{FF2B5EF4-FFF2-40B4-BE49-F238E27FC236}">
                <a16:creationId xmlns:a16="http://schemas.microsoft.com/office/drawing/2014/main" id="{EDB06782-BCB2-4852-B586-43971FCA8C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的解决方案</a:t>
            </a:r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92A6A2C0-C02E-4EDC-B9C2-B406B92E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D8FA149-7B71-4DFF-A718-981718929E9B}" type="slidenum">
              <a:rPr lang="en-US" altLang="zh-CN">
                <a:solidFill>
                  <a:srgbClr val="898989"/>
                </a:solidFill>
              </a:rPr>
              <a:pPr eaLnBrk="1" hangingPunct="1"/>
              <a:t>21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FA7AC61A-D1B6-4D82-8D3D-0FD0BCF48A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26988"/>
            <a:ext cx="8229600" cy="935038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方案的最优性</a:t>
            </a:r>
          </a:p>
        </p:txBody>
      </p:sp>
      <p:sp>
        <p:nvSpPr>
          <p:cNvPr id="51205" name="灯片编号占位符 4">
            <a:extLst>
              <a:ext uri="{FF2B5EF4-FFF2-40B4-BE49-F238E27FC236}">
                <a16:creationId xmlns:a16="http://schemas.microsoft.com/office/drawing/2014/main" id="{053C3183-E43E-4E4B-A8C8-B588917B3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8129F62-D9B9-404D-9B7C-1062316268EA}" type="slidenum">
              <a:rPr lang="en-US" altLang="zh-CN">
                <a:solidFill>
                  <a:srgbClr val="898989"/>
                </a:solidFill>
              </a:rPr>
              <a:pPr eaLnBrk="1" hangingPunct="1"/>
              <a:t>22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B59BB8D-609D-4E67-81B9-6934341BE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25538"/>
            <a:ext cx="7848600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满足目标要求：</a:t>
            </a:r>
            <a:endParaRPr lang="zh-CN" altLang="en-US" sz="240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任取</a:t>
            </a:r>
            <a:r>
              <a:rPr lang="en-US" altLang="zh-CN" sz="2400" b="1">
                <a:latin typeface="Times New Roman" panose="02020603050405020304" pitchFamily="18" charset="0"/>
              </a:rPr>
              <a:t>10</a:t>
            </a:r>
            <a:r>
              <a:rPr lang="zh-CN" altLang="en-US" sz="2400" b="1">
                <a:latin typeface="Times New Roman" panose="02020603050405020304" pitchFamily="18" charset="0"/>
              </a:rPr>
              <a:t>个工作站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  <a:r>
              <a:rPr lang="zh-CN" altLang="en-US" sz="2400" b="1">
                <a:latin typeface="Times New Roman" panose="02020603050405020304" pitchFamily="18" charset="0"/>
              </a:rPr>
              <a:t>如果恰好为</a:t>
            </a:r>
            <a:r>
              <a:rPr lang="en-US" altLang="zh-CN" sz="2400" b="1">
                <a:latin typeface="Times New Roman" panose="02020603050405020304" pitchFamily="18" charset="0"/>
              </a:rPr>
              <a:t>W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,W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/>
              <a:t>…</a:t>
            </a:r>
            <a:r>
              <a:rPr lang="en-US" altLang="zh-CN" sz="2400" b="1">
                <a:latin typeface="Times New Roman" panose="02020603050405020304" pitchFamily="18" charset="0"/>
              </a:rPr>
              <a:t>,W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10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</a:rPr>
              <a:t>W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</a:rPr>
              <a:t>访问</a:t>
            </a:r>
            <a:r>
              <a:rPr lang="en-US" altLang="zh-CN" sz="2400" b="1">
                <a:latin typeface="Times New Roman" panose="02020603050405020304" pitchFamily="18" charset="0"/>
              </a:rPr>
              <a:t>S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</a:rPr>
              <a:t>=1,</a:t>
            </a:r>
            <a:r>
              <a:rPr lang="en-US" altLang="zh-CN" sz="2400" b="1"/>
              <a:t>…</a:t>
            </a:r>
            <a:r>
              <a:rPr lang="en-US" altLang="zh-CN" sz="2400" b="1">
                <a:latin typeface="Times New Roman" panose="02020603050405020304" pitchFamily="18" charset="0"/>
              </a:rPr>
              <a:t>10, </a:t>
            </a:r>
            <a:r>
              <a:rPr lang="zh-CN" altLang="en-US" sz="2400" b="1">
                <a:latin typeface="Times New Roman" panose="02020603050405020304" pitchFamily="18" charset="0"/>
              </a:rPr>
              <a:t>满足要求</a:t>
            </a:r>
            <a:r>
              <a:rPr lang="en-US" altLang="zh-CN" sz="2400" b="1">
                <a:latin typeface="Times New Roman" panose="02020603050405020304" pitchFamily="18" charset="0"/>
              </a:rPr>
              <a:t>; </a:t>
            </a:r>
            <a:r>
              <a:rPr lang="zh-CN" altLang="en-US" sz="2400" b="1">
                <a:latin typeface="Times New Roman" panose="02020603050405020304" pitchFamily="18" charset="0"/>
              </a:rPr>
              <a:t>如果</a:t>
            </a:r>
            <a:r>
              <a:rPr lang="en-US" altLang="zh-CN" sz="2400" b="1">
                <a:latin typeface="Times New Roman" panose="02020603050405020304" pitchFamily="18" charset="0"/>
              </a:rPr>
              <a:t>W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-W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10</a:t>
            </a:r>
            <a:r>
              <a:rPr lang="zh-CN" altLang="en-US" sz="2400" b="1">
                <a:latin typeface="Times New Roman" panose="02020603050405020304" pitchFamily="18" charset="0"/>
              </a:rPr>
              <a:t>中只选中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zh-CN" altLang="en-US" sz="2400" b="1">
                <a:latin typeface="Times New Roman" panose="02020603050405020304" pitchFamily="18" charset="0"/>
              </a:rPr>
              <a:t>个工作站，不妨设为</a:t>
            </a:r>
            <a:r>
              <a:rPr lang="en-US" altLang="zh-CN" sz="2400" b="1">
                <a:latin typeface="Times New Roman" panose="02020603050405020304" pitchFamily="18" charset="0"/>
              </a:rPr>
              <a:t>W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--W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剩下的</a:t>
            </a:r>
            <a:r>
              <a:rPr lang="en-US" altLang="zh-CN" sz="2400" b="1">
                <a:latin typeface="Times New Roman" panose="02020603050405020304" pitchFamily="18" charset="0"/>
              </a:rPr>
              <a:t>10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zh-CN" altLang="en-US" sz="2400" b="1">
                <a:latin typeface="Times New Roman" panose="02020603050405020304" pitchFamily="18" charset="0"/>
              </a:rPr>
              <a:t>个选自</a:t>
            </a:r>
            <a:r>
              <a:rPr lang="en-US" altLang="zh-CN" sz="2400" b="1">
                <a:latin typeface="Times New Roman" panose="02020603050405020304" pitchFamily="18" charset="0"/>
              </a:rPr>
              <a:t>W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11</a:t>
            </a:r>
            <a:r>
              <a:rPr lang="en-US" altLang="zh-CN" sz="2400" b="1">
                <a:latin typeface="Times New Roman" panose="02020603050405020304" pitchFamily="18" charset="0"/>
              </a:rPr>
              <a:t>-W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15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  <a:r>
              <a:rPr lang="zh-CN" altLang="en-US" sz="2400" b="1">
                <a:latin typeface="Times New Roman" panose="02020603050405020304" pitchFamily="18" charset="0"/>
              </a:rPr>
              <a:t>那么</a:t>
            </a:r>
            <a:r>
              <a:rPr lang="en-US" altLang="zh-CN" sz="2400" b="1">
                <a:latin typeface="Times New Roman" panose="02020603050405020304" pitchFamily="18" charset="0"/>
              </a:rPr>
              <a:t>W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</a:rPr>
              <a:t>访问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</a:rPr>
              <a:t>=1,</a:t>
            </a:r>
            <a:r>
              <a:rPr lang="en-US" altLang="zh-CN" sz="2400" b="1"/>
              <a:t>…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  <a:r>
              <a:rPr lang="zh-CN" altLang="en-US" sz="2400" b="1">
                <a:latin typeface="Times New Roman" panose="02020603050405020304" pitchFamily="18" charset="0"/>
              </a:rPr>
              <a:t>还剩下</a:t>
            </a:r>
            <a:r>
              <a:rPr lang="en-US" altLang="zh-CN" sz="2400" b="1">
                <a:latin typeface="Times New Roman" panose="02020603050405020304" pitchFamily="18" charset="0"/>
              </a:rPr>
              <a:t>10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zh-CN" altLang="en-US" sz="2400" b="1">
                <a:latin typeface="Times New Roman" panose="02020603050405020304" pitchFamily="18" charset="0"/>
              </a:rPr>
              <a:t>个服务器空闲，恰好分配给</a:t>
            </a:r>
            <a:r>
              <a:rPr lang="en-US" altLang="zh-CN" sz="2400" b="1">
                <a:latin typeface="Times New Roman" panose="02020603050405020304" pitchFamily="18" charset="0"/>
              </a:rPr>
              <a:t>10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zh-CN" altLang="en-US" sz="2400" b="1">
                <a:latin typeface="Times New Roman" panose="02020603050405020304" pitchFamily="18" charset="0"/>
              </a:rPr>
              <a:t>个工作站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结论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400" b="1" i="1">
                <a:latin typeface="Times New Roman" panose="02020603050405020304" pitchFamily="18" charset="0"/>
              </a:rPr>
              <a:t>N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>
                <a:latin typeface="Times New Roman" panose="02020603050405020304" pitchFamily="18" charset="0"/>
              </a:rPr>
              <a:t>60.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9EB55178-9B0E-4972-A758-0744E07D8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076700"/>
            <a:ext cx="7848600" cy="20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证明  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60.</a:t>
            </a:r>
            <a:r>
              <a:rPr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endParaRPr lang="en-US" altLang="zh-CN" sz="2400">
              <a:solidFill>
                <a:schemeClr val="hlink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假设在工作站和服务器之间缆线至多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59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条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那么某个服务器将至多连接 </a:t>
            </a:r>
            <a:r>
              <a:rPr lang="en-US" altLang="zh-CN" sz="2400" b="1">
                <a:latin typeface="Times New Roman" panose="02020603050405020304" pitchFamily="18" charset="0"/>
              </a:rPr>
              <a:t>59/10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</a:t>
            </a:r>
            <a:r>
              <a:rPr lang="en-US" altLang="zh-CN" sz="2400" b="1">
                <a:latin typeface="Times New Roman" panose="02020603050405020304" pitchFamily="18" charset="0"/>
              </a:rPr>
              <a:t> = 5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工作站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如果选择剩下的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个工作站作为一组，那么只有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个空闲的服务器，必有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个工作站连接同一服务器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与题目要求矛盾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9E48CCB7-A600-4EEC-B0B3-EBF29CFCC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7813"/>
            <a:ext cx="8229600" cy="71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itchFamily="18" charset="0"/>
              </a:rPr>
              <a:t>例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itchFamily="18" charset="0"/>
              </a:rPr>
              <a:t>12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itchFamily="18" charset="0"/>
              </a:rPr>
              <a:t>电路板排列问题</a:t>
            </a:r>
          </a:p>
        </p:txBody>
      </p:sp>
      <p:sp>
        <p:nvSpPr>
          <p:cNvPr id="25603" name="Rectangle 6">
            <a:extLst>
              <a:ext uri="{FF2B5EF4-FFF2-40B4-BE49-F238E27FC236}">
                <a16:creationId xmlns:a16="http://schemas.microsoft.com/office/drawing/2014/main" id="{B9F3438A-71D4-4F55-92A0-B586A51267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412875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电路板集合</a:t>
            </a:r>
            <a:r>
              <a:rPr lang="en-US" altLang="zh-CN" sz="2800" b="1">
                <a:latin typeface="Times New Roman" panose="02020603050405020304" pitchFamily="18" charset="0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={1, 2, … ,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}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连接块集合</a:t>
            </a:r>
            <a:r>
              <a:rPr lang="en-US" altLang="zh-CN" sz="2800" b="1">
                <a:latin typeface="Times New Roman" panose="02020603050405020304" pitchFamily="18" charset="0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L</a:t>
            </a:r>
            <a:r>
              <a:rPr lang="en-US" altLang="zh-CN" sz="2800" b="1">
                <a:latin typeface="Times New Roman" panose="02020603050405020304" pitchFamily="18" charset="0"/>
              </a:rPr>
              <a:t>={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, … ,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m</a:t>
            </a:r>
            <a:r>
              <a:rPr lang="en-US" altLang="zh-CN" sz="2800" b="1">
                <a:latin typeface="Times New Roman" panose="02020603050405020304" pitchFamily="18" charset="0"/>
              </a:rPr>
              <a:t>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   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j</a:t>
            </a:r>
            <a:r>
              <a:rPr lang="en-US" altLang="zh-CN" sz="2800" b="1" i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中所有电路板用一根导线连接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排列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… 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排列密度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density(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 跨越相邻电路板插槽的最大连线数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求具有最小排列密度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density(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的排列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2228" name="灯片编号占位符 3">
            <a:extLst>
              <a:ext uri="{FF2B5EF4-FFF2-40B4-BE49-F238E27FC236}">
                <a16:creationId xmlns:a16="http://schemas.microsoft.com/office/drawing/2014/main" id="{8668CD03-B846-4482-A515-D7A776ED1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81A38DC-93A8-4F54-A5CA-66D6B149A2EE}" type="slidenum">
              <a:rPr lang="en-US" altLang="zh-CN">
                <a:solidFill>
                  <a:srgbClr val="898989"/>
                </a:solidFill>
              </a:rPr>
              <a:pPr eaLnBrk="1" hangingPunct="1"/>
              <a:t>23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5766ED5-644B-4741-9796-CD3B13342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76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F6F9E9A-3496-4CAA-9AC3-C1FA892B6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25538"/>
            <a:ext cx="7127875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={ 1, 2, … , 8 },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={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… ,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},</a:t>
            </a:r>
            <a:endParaRPr lang="en-US" altLang="zh-CN" sz="2400" b="1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={4,5,6},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={2,3},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={1,3},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={3,6},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={7,8}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8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排列 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 </a:t>
            </a:r>
            <a:r>
              <a:rPr lang="en-US" altLang="zh-CN" sz="2400" b="1">
                <a:latin typeface="Times New Roman" panose="02020603050405020304" pitchFamily="18" charset="0"/>
              </a:rPr>
              <a:t>= &lt;3, 4, 6, 5, 1, 7, 8, 2&gt;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</a:rPr>
              <a:t>density(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) = 4  </a:t>
            </a:r>
          </a:p>
        </p:txBody>
      </p:sp>
      <p:grpSp>
        <p:nvGrpSpPr>
          <p:cNvPr id="26628" name="Group 4">
            <a:extLst>
              <a:ext uri="{FF2B5EF4-FFF2-40B4-BE49-F238E27FC236}">
                <a16:creationId xmlns:a16="http://schemas.microsoft.com/office/drawing/2014/main" id="{273C3451-E077-471F-821F-8B414E424F5E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2997200"/>
            <a:ext cx="6337300" cy="2830513"/>
            <a:chOff x="748" y="1933"/>
            <a:chExt cx="4355" cy="2015"/>
          </a:xfrm>
        </p:grpSpPr>
        <p:sp>
          <p:nvSpPr>
            <p:cNvPr id="26631" name="Text Box 5">
              <a:extLst>
                <a:ext uri="{FF2B5EF4-FFF2-40B4-BE49-F238E27FC236}">
                  <a16:creationId xmlns:a16="http://schemas.microsoft.com/office/drawing/2014/main" id="{6CF5A312-FF30-4028-80E4-B09512DEE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2704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9900"/>
                  </a:solidFill>
                </a:rPr>
                <a:t>N</a:t>
              </a:r>
              <a:r>
                <a:rPr lang="en-US" altLang="zh-CN" sz="2400" b="1" baseline="-25000">
                  <a:solidFill>
                    <a:srgbClr val="FF9900"/>
                  </a:solidFill>
                </a:rPr>
                <a:t>4</a:t>
              </a:r>
            </a:p>
          </p:txBody>
        </p:sp>
        <p:grpSp>
          <p:nvGrpSpPr>
            <p:cNvPr id="26632" name="Group 6">
              <a:extLst>
                <a:ext uri="{FF2B5EF4-FFF2-40B4-BE49-F238E27FC236}">
                  <a16:creationId xmlns:a16="http://schemas.microsoft.com/office/drawing/2014/main" id="{6F4BFE3D-66C2-4782-AD7A-0615936082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" y="1933"/>
              <a:ext cx="4355" cy="2015"/>
              <a:chOff x="748" y="1933"/>
              <a:chExt cx="4355" cy="2015"/>
            </a:xfrm>
          </p:grpSpPr>
          <p:grpSp>
            <p:nvGrpSpPr>
              <p:cNvPr id="26633" name="Group 7">
                <a:extLst>
                  <a:ext uri="{FF2B5EF4-FFF2-40B4-BE49-F238E27FC236}">
                    <a16:creationId xmlns:a16="http://schemas.microsoft.com/office/drawing/2014/main" id="{0C6F7F18-4590-4309-A595-60D0163956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74" y="2787"/>
                <a:ext cx="1043" cy="280"/>
                <a:chOff x="1474" y="2787"/>
                <a:chExt cx="1043" cy="280"/>
              </a:xfrm>
            </p:grpSpPr>
            <p:sp>
              <p:nvSpPr>
                <p:cNvPr id="26655" name="Freeform 8">
                  <a:extLst>
                    <a:ext uri="{FF2B5EF4-FFF2-40B4-BE49-F238E27FC236}">
                      <a16:creationId xmlns:a16="http://schemas.microsoft.com/office/drawing/2014/main" id="{C1B43565-12E3-4B22-B7E3-3EA96D3084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74" y="2787"/>
                  <a:ext cx="1043" cy="280"/>
                </a:xfrm>
                <a:custGeom>
                  <a:avLst/>
                  <a:gdLst>
                    <a:gd name="T0" fmla="*/ 0 w 1043"/>
                    <a:gd name="T1" fmla="*/ 280 h 280"/>
                    <a:gd name="T2" fmla="*/ 499 w 1043"/>
                    <a:gd name="T3" fmla="*/ 8 h 280"/>
                    <a:gd name="T4" fmla="*/ 1043 w 1043"/>
                    <a:gd name="T5" fmla="*/ 234 h 280"/>
                    <a:gd name="T6" fmla="*/ 0 60000 65536"/>
                    <a:gd name="T7" fmla="*/ 0 60000 65536"/>
                    <a:gd name="T8" fmla="*/ 0 60000 65536"/>
                    <a:gd name="T9" fmla="*/ 0 w 1043"/>
                    <a:gd name="T10" fmla="*/ 0 h 280"/>
                    <a:gd name="T11" fmla="*/ 1043 w 1043"/>
                    <a:gd name="T12" fmla="*/ 280 h 28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43" h="280">
                      <a:moveTo>
                        <a:pt x="0" y="280"/>
                      </a:moveTo>
                      <a:cubicBezTo>
                        <a:pt x="162" y="148"/>
                        <a:pt x="325" y="16"/>
                        <a:pt x="499" y="8"/>
                      </a:cubicBezTo>
                      <a:cubicBezTo>
                        <a:pt x="673" y="0"/>
                        <a:pt x="952" y="196"/>
                        <a:pt x="1043" y="234"/>
                      </a:cubicBezTo>
                    </a:path>
                  </a:pathLst>
                </a:custGeom>
                <a:noFill/>
                <a:ln w="28575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56" name="Line 9">
                  <a:extLst>
                    <a:ext uri="{FF2B5EF4-FFF2-40B4-BE49-F238E27FC236}">
                      <a16:creationId xmlns:a16="http://schemas.microsoft.com/office/drawing/2014/main" id="{E007C9E3-5CEB-4986-B487-E31AC581FE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73" y="2795"/>
                  <a:ext cx="0" cy="181"/>
                </a:xfrm>
                <a:prstGeom prst="line">
                  <a:avLst/>
                </a:prstGeom>
                <a:noFill/>
                <a:ln w="28575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634" name="Group 10">
                <a:extLst>
                  <a:ext uri="{FF2B5EF4-FFF2-40B4-BE49-F238E27FC236}">
                    <a16:creationId xmlns:a16="http://schemas.microsoft.com/office/drawing/2014/main" id="{66D74F39-A3FA-47EE-8B3D-BC66AB3B3C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8" y="1933"/>
                <a:ext cx="4355" cy="2015"/>
                <a:chOff x="748" y="1926"/>
                <a:chExt cx="4355" cy="2015"/>
              </a:xfrm>
            </p:grpSpPr>
            <p:sp>
              <p:nvSpPr>
                <p:cNvPr id="26635" name="Line 11">
                  <a:extLst>
                    <a:ext uri="{FF2B5EF4-FFF2-40B4-BE49-F238E27FC236}">
                      <a16:creationId xmlns:a16="http://schemas.microsoft.com/office/drawing/2014/main" id="{126CBA9D-9134-42BE-BAD1-D30303C1B9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48" y="3521"/>
                  <a:ext cx="430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636" name="Group 12">
                  <a:extLst>
                    <a:ext uri="{FF2B5EF4-FFF2-40B4-BE49-F238E27FC236}">
                      <a16:creationId xmlns:a16="http://schemas.microsoft.com/office/drawing/2014/main" id="{457A12C3-103E-4C68-9108-B7B691B899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48" y="1926"/>
                  <a:ext cx="4355" cy="2015"/>
                  <a:chOff x="748" y="1926"/>
                  <a:chExt cx="4355" cy="2015"/>
                </a:xfrm>
              </p:grpSpPr>
              <p:sp>
                <p:nvSpPr>
                  <p:cNvPr id="26637" name="Oval 13">
                    <a:extLst>
                      <a:ext uri="{FF2B5EF4-FFF2-40B4-BE49-F238E27FC236}">
                        <a16:creationId xmlns:a16="http://schemas.microsoft.com/office/drawing/2014/main" id="{6E07A841-F1F1-4E60-8035-3485066227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27" y="2992"/>
                    <a:ext cx="136" cy="13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6638" name="Text Box 14">
                    <a:extLst>
                      <a:ext uri="{FF2B5EF4-FFF2-40B4-BE49-F238E27FC236}">
                        <a16:creationId xmlns:a16="http://schemas.microsoft.com/office/drawing/2014/main" id="{81A56488-44D9-42A1-BC85-FB3C156CEE4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48" y="3612"/>
                    <a:ext cx="4355" cy="32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000"/>
                      <a:t>1         2          3          4          5         6         7         8   </a:t>
                    </a:r>
                    <a:r>
                      <a:rPr lang="en-US" altLang="zh-CN" sz="2400"/>
                      <a:t> </a:t>
                    </a:r>
                  </a:p>
                </p:txBody>
              </p:sp>
              <p:sp>
                <p:nvSpPr>
                  <p:cNvPr id="26639" name="Text Box 15">
                    <a:extLst>
                      <a:ext uri="{FF2B5EF4-FFF2-40B4-BE49-F238E27FC236}">
                        <a16:creationId xmlns:a16="http://schemas.microsoft.com/office/drawing/2014/main" id="{F1F0CF53-2888-4959-B9F1-AC0B954E914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48" y="3188"/>
                    <a:ext cx="4355" cy="32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000"/>
                      <a:t>3         4          6          5          1         7         8         2 </a:t>
                    </a:r>
                    <a:r>
                      <a:rPr lang="en-US" altLang="zh-CN" sz="2400"/>
                      <a:t>   </a:t>
                    </a:r>
                  </a:p>
                </p:txBody>
              </p:sp>
              <p:sp>
                <p:nvSpPr>
                  <p:cNvPr id="26640" name="Oval 16">
                    <a:extLst>
                      <a:ext uri="{FF2B5EF4-FFF2-40B4-BE49-F238E27FC236}">
                        <a16:creationId xmlns:a16="http://schemas.microsoft.com/office/drawing/2014/main" id="{4D9CF9E5-7770-4210-B24E-14801A0AEF4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3022"/>
                    <a:ext cx="136" cy="13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6641" name="Oval 17">
                    <a:extLst>
                      <a:ext uri="{FF2B5EF4-FFF2-40B4-BE49-F238E27FC236}">
                        <a16:creationId xmlns:a16="http://schemas.microsoft.com/office/drawing/2014/main" id="{34F94522-F833-4314-BFF6-1EC130D322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38" y="3022"/>
                    <a:ext cx="136" cy="13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6642" name="Oval 18">
                    <a:extLst>
                      <a:ext uri="{FF2B5EF4-FFF2-40B4-BE49-F238E27FC236}">
                        <a16:creationId xmlns:a16="http://schemas.microsoft.com/office/drawing/2014/main" id="{2FB0B957-D048-4CC4-B8F5-15BB224081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72" y="3022"/>
                    <a:ext cx="136" cy="13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6643" name="Oval 19">
                    <a:extLst>
                      <a:ext uri="{FF2B5EF4-FFF2-40B4-BE49-F238E27FC236}">
                        <a16:creationId xmlns:a16="http://schemas.microsoft.com/office/drawing/2014/main" id="{3494339C-A175-45F8-A69D-1F571D960D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16" y="3022"/>
                    <a:ext cx="136" cy="13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6644" name="Oval 20">
                    <a:extLst>
                      <a:ext uri="{FF2B5EF4-FFF2-40B4-BE49-F238E27FC236}">
                        <a16:creationId xmlns:a16="http://schemas.microsoft.com/office/drawing/2014/main" id="{89D642CA-0A71-47C9-A72E-886CFFE44B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60" y="3022"/>
                    <a:ext cx="136" cy="13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6645" name="Oval 21">
                    <a:extLst>
                      <a:ext uri="{FF2B5EF4-FFF2-40B4-BE49-F238E27FC236}">
                        <a16:creationId xmlns:a16="http://schemas.microsoft.com/office/drawing/2014/main" id="{784F5D88-C969-4E1E-BBD2-5D9E53F83A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05" y="3022"/>
                    <a:ext cx="136" cy="13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6646" name="Oval 22">
                    <a:extLst>
                      <a:ext uri="{FF2B5EF4-FFF2-40B4-BE49-F238E27FC236}">
                        <a16:creationId xmlns:a16="http://schemas.microsoft.com/office/drawing/2014/main" id="{DD9624C2-410C-4482-A65F-6CF7FFEB82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49" y="3022"/>
                    <a:ext cx="136" cy="13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6647" name="Text Box 23">
                    <a:extLst>
                      <a:ext uri="{FF2B5EF4-FFF2-40B4-BE49-F238E27FC236}">
                        <a16:creationId xmlns:a16="http://schemas.microsoft.com/office/drawing/2014/main" id="{1BDD6B80-9EC8-4219-9186-DE682536BEB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53" y="1933"/>
                    <a:ext cx="363" cy="294"/>
                  </a:xfrm>
                  <a:prstGeom prst="rect">
                    <a:avLst/>
                  </a:prstGeom>
                  <a:noFill/>
                  <a:ln w="9525">
                    <a:solidFill>
                      <a:srgbClr val="CCFFFF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>
                        <a:solidFill>
                          <a:schemeClr val="folHlink"/>
                        </a:solidFill>
                      </a:rPr>
                      <a:t>N</a:t>
                    </a:r>
                    <a:r>
                      <a:rPr lang="en-US" altLang="zh-CN" sz="2400" b="1" baseline="-25000">
                        <a:solidFill>
                          <a:schemeClr val="folHlink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6648" name="Text Box 24">
                    <a:extLst>
                      <a:ext uri="{FF2B5EF4-FFF2-40B4-BE49-F238E27FC236}">
                        <a16:creationId xmlns:a16="http://schemas.microsoft.com/office/drawing/2014/main" id="{B30AFF83-2977-4A96-8109-F432DC83AD7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82" y="2341"/>
                    <a:ext cx="408" cy="32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>
                        <a:solidFill>
                          <a:srgbClr val="002060"/>
                        </a:solidFill>
                      </a:rPr>
                      <a:t>N</a:t>
                    </a:r>
                    <a:r>
                      <a:rPr lang="en-US" altLang="zh-CN" sz="2400" b="1" baseline="-25000">
                        <a:solidFill>
                          <a:srgbClr val="002060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26649" name="Text Box 25">
                    <a:extLst>
                      <a:ext uri="{FF2B5EF4-FFF2-40B4-BE49-F238E27FC236}">
                        <a16:creationId xmlns:a16="http://schemas.microsoft.com/office/drawing/2014/main" id="{033E5D35-D32D-4115-A487-B752BD558F3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73" y="2750"/>
                    <a:ext cx="40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>
                        <a:solidFill>
                          <a:srgbClr val="990033"/>
                        </a:solidFill>
                      </a:rPr>
                      <a:t>N</a:t>
                    </a:r>
                    <a:r>
                      <a:rPr lang="en-US" altLang="zh-CN" sz="2400" b="1" baseline="-25000">
                        <a:solidFill>
                          <a:srgbClr val="990033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6650" name="Text Box 26">
                    <a:extLst>
                      <a:ext uri="{FF2B5EF4-FFF2-40B4-BE49-F238E27FC236}">
                        <a16:creationId xmlns:a16="http://schemas.microsoft.com/office/drawing/2014/main" id="{F48773B8-2A85-4C4E-8B13-4D9DC27D641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42" y="2568"/>
                    <a:ext cx="40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>
                        <a:solidFill>
                          <a:srgbClr val="990099"/>
                        </a:solidFill>
                      </a:rPr>
                      <a:t>N</a:t>
                    </a:r>
                    <a:r>
                      <a:rPr lang="en-US" altLang="zh-CN" sz="2400" b="1" baseline="-25000">
                        <a:solidFill>
                          <a:srgbClr val="990099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26651" name="Freeform 27">
                    <a:extLst>
                      <a:ext uri="{FF2B5EF4-FFF2-40B4-BE49-F238E27FC236}">
                        <a16:creationId xmlns:a16="http://schemas.microsoft.com/office/drawing/2014/main" id="{5A4449C9-7018-467A-BB08-87549AFBFC4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85" y="2750"/>
                    <a:ext cx="1088" cy="280"/>
                  </a:xfrm>
                  <a:custGeom>
                    <a:avLst/>
                    <a:gdLst>
                      <a:gd name="T0" fmla="*/ 0 w 1088"/>
                      <a:gd name="T1" fmla="*/ 280 h 280"/>
                      <a:gd name="T2" fmla="*/ 499 w 1088"/>
                      <a:gd name="T3" fmla="*/ 8 h 280"/>
                      <a:gd name="T4" fmla="*/ 1088 w 1088"/>
                      <a:gd name="T5" fmla="*/ 234 h 280"/>
                      <a:gd name="T6" fmla="*/ 0 60000 65536"/>
                      <a:gd name="T7" fmla="*/ 0 60000 65536"/>
                      <a:gd name="T8" fmla="*/ 0 60000 65536"/>
                      <a:gd name="T9" fmla="*/ 0 w 1088"/>
                      <a:gd name="T10" fmla="*/ 0 h 280"/>
                      <a:gd name="T11" fmla="*/ 1088 w 1088"/>
                      <a:gd name="T12" fmla="*/ 280 h 28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088" h="280">
                        <a:moveTo>
                          <a:pt x="0" y="280"/>
                        </a:moveTo>
                        <a:cubicBezTo>
                          <a:pt x="159" y="148"/>
                          <a:pt x="318" y="16"/>
                          <a:pt x="499" y="8"/>
                        </a:cubicBezTo>
                        <a:cubicBezTo>
                          <a:pt x="680" y="0"/>
                          <a:pt x="884" y="117"/>
                          <a:pt x="1088" y="234"/>
                        </a:cubicBezTo>
                      </a:path>
                    </a:pathLst>
                  </a:custGeom>
                  <a:noFill/>
                  <a:ln w="28575">
                    <a:solidFill>
                      <a:srgbClr val="FF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652" name="Freeform 28">
                    <a:extLst>
                      <a:ext uri="{FF2B5EF4-FFF2-40B4-BE49-F238E27FC236}">
                        <a16:creationId xmlns:a16="http://schemas.microsoft.com/office/drawing/2014/main" id="{3AC66B64-F3AD-43F8-901B-EE772EFE62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84" y="2363"/>
                    <a:ext cx="2177" cy="704"/>
                  </a:xfrm>
                  <a:custGeom>
                    <a:avLst/>
                    <a:gdLst>
                      <a:gd name="T0" fmla="*/ 0 w 2177"/>
                      <a:gd name="T1" fmla="*/ 704 h 704"/>
                      <a:gd name="T2" fmla="*/ 499 w 2177"/>
                      <a:gd name="T3" fmla="*/ 114 h 704"/>
                      <a:gd name="T4" fmla="*/ 1180 w 2177"/>
                      <a:gd name="T5" fmla="*/ 23 h 704"/>
                      <a:gd name="T6" fmla="*/ 1724 w 2177"/>
                      <a:gd name="T7" fmla="*/ 160 h 704"/>
                      <a:gd name="T8" fmla="*/ 2177 w 2177"/>
                      <a:gd name="T9" fmla="*/ 658 h 70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177"/>
                      <a:gd name="T16" fmla="*/ 0 h 704"/>
                      <a:gd name="T17" fmla="*/ 2177 w 2177"/>
                      <a:gd name="T18" fmla="*/ 704 h 70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177" h="704">
                        <a:moveTo>
                          <a:pt x="0" y="704"/>
                        </a:moveTo>
                        <a:cubicBezTo>
                          <a:pt x="151" y="466"/>
                          <a:pt x="302" y="228"/>
                          <a:pt x="499" y="114"/>
                        </a:cubicBezTo>
                        <a:cubicBezTo>
                          <a:pt x="696" y="0"/>
                          <a:pt x="976" y="15"/>
                          <a:pt x="1180" y="23"/>
                        </a:cubicBezTo>
                        <a:cubicBezTo>
                          <a:pt x="1384" y="31"/>
                          <a:pt x="1558" y="54"/>
                          <a:pt x="1724" y="160"/>
                        </a:cubicBezTo>
                        <a:cubicBezTo>
                          <a:pt x="1890" y="266"/>
                          <a:pt x="2033" y="462"/>
                          <a:pt x="2177" y="658"/>
                        </a:cubicBezTo>
                      </a:path>
                    </a:pathLst>
                  </a:custGeom>
                  <a:noFill/>
                  <a:ln w="28575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653" name="Freeform 29">
                    <a:extLst>
                      <a:ext uri="{FF2B5EF4-FFF2-40B4-BE49-F238E27FC236}">
                        <a16:creationId xmlns:a16="http://schemas.microsoft.com/office/drawing/2014/main" id="{4E849B6C-F25F-4ACB-8A84-7B8D12C8B2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51" y="2840"/>
                    <a:ext cx="499" cy="182"/>
                  </a:xfrm>
                  <a:custGeom>
                    <a:avLst/>
                    <a:gdLst>
                      <a:gd name="T0" fmla="*/ 0 w 499"/>
                      <a:gd name="T1" fmla="*/ 182 h 182"/>
                      <a:gd name="T2" fmla="*/ 227 w 499"/>
                      <a:gd name="T3" fmla="*/ 0 h 182"/>
                      <a:gd name="T4" fmla="*/ 499 w 499"/>
                      <a:gd name="T5" fmla="*/ 182 h 182"/>
                      <a:gd name="T6" fmla="*/ 0 60000 65536"/>
                      <a:gd name="T7" fmla="*/ 0 60000 65536"/>
                      <a:gd name="T8" fmla="*/ 0 60000 65536"/>
                      <a:gd name="T9" fmla="*/ 0 w 499"/>
                      <a:gd name="T10" fmla="*/ 0 h 182"/>
                      <a:gd name="T11" fmla="*/ 499 w 499"/>
                      <a:gd name="T12" fmla="*/ 182 h 18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99" h="182">
                        <a:moveTo>
                          <a:pt x="0" y="182"/>
                        </a:moveTo>
                        <a:cubicBezTo>
                          <a:pt x="72" y="91"/>
                          <a:pt x="144" y="0"/>
                          <a:pt x="227" y="0"/>
                        </a:cubicBezTo>
                        <a:cubicBezTo>
                          <a:pt x="310" y="0"/>
                          <a:pt x="454" y="152"/>
                          <a:pt x="499" y="182"/>
                        </a:cubicBezTo>
                      </a:path>
                    </a:pathLst>
                  </a:custGeom>
                  <a:noFill/>
                  <a:ln w="28575">
                    <a:solidFill>
                      <a:srgbClr val="9900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654" name="Freeform 30">
                    <a:extLst>
                      <a:ext uri="{FF2B5EF4-FFF2-40B4-BE49-F238E27FC236}">
                        <a16:creationId xmlns:a16="http://schemas.microsoft.com/office/drawing/2014/main" id="{662882A7-FAC9-43D0-B3BB-0FDD0C366A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84" y="1926"/>
                    <a:ext cx="3856" cy="1096"/>
                  </a:xfrm>
                  <a:custGeom>
                    <a:avLst/>
                    <a:gdLst>
                      <a:gd name="T0" fmla="*/ 0 w 3856"/>
                      <a:gd name="T1" fmla="*/ 1096 h 1096"/>
                      <a:gd name="T2" fmla="*/ 363 w 3856"/>
                      <a:gd name="T3" fmla="*/ 370 h 1096"/>
                      <a:gd name="T4" fmla="*/ 1542 w 3856"/>
                      <a:gd name="T5" fmla="*/ 53 h 1096"/>
                      <a:gd name="T6" fmla="*/ 2268 w 3856"/>
                      <a:gd name="T7" fmla="*/ 53 h 1096"/>
                      <a:gd name="T8" fmla="*/ 3357 w 3856"/>
                      <a:gd name="T9" fmla="*/ 279 h 1096"/>
                      <a:gd name="T10" fmla="*/ 3856 w 3856"/>
                      <a:gd name="T11" fmla="*/ 1096 h 1096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856"/>
                      <a:gd name="T19" fmla="*/ 0 h 1096"/>
                      <a:gd name="T20" fmla="*/ 3856 w 3856"/>
                      <a:gd name="T21" fmla="*/ 1096 h 109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856" h="1096">
                        <a:moveTo>
                          <a:pt x="0" y="1096"/>
                        </a:moveTo>
                        <a:cubicBezTo>
                          <a:pt x="53" y="820"/>
                          <a:pt x="106" y="544"/>
                          <a:pt x="363" y="370"/>
                        </a:cubicBezTo>
                        <a:cubicBezTo>
                          <a:pt x="620" y="196"/>
                          <a:pt x="1225" y="106"/>
                          <a:pt x="1542" y="53"/>
                        </a:cubicBezTo>
                        <a:cubicBezTo>
                          <a:pt x="1859" y="0"/>
                          <a:pt x="1966" y="15"/>
                          <a:pt x="2268" y="53"/>
                        </a:cubicBezTo>
                        <a:cubicBezTo>
                          <a:pt x="2570" y="91"/>
                          <a:pt x="3092" y="105"/>
                          <a:pt x="3357" y="279"/>
                        </a:cubicBezTo>
                        <a:cubicBezTo>
                          <a:pt x="3622" y="453"/>
                          <a:pt x="3739" y="774"/>
                          <a:pt x="3856" y="1096"/>
                        </a:cubicBezTo>
                      </a:path>
                    </a:pathLst>
                  </a:custGeom>
                  <a:noFill/>
                  <a:ln w="28575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52229" name="Rectangle 2">
            <a:extLst>
              <a:ext uri="{FF2B5EF4-FFF2-40B4-BE49-F238E27FC236}">
                <a16:creationId xmlns:a16="http://schemas.microsoft.com/office/drawing/2014/main" id="{C3E37C41-92E6-4B6D-B063-9F9D6A8E2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15134"/>
            <a:ext cx="8229600" cy="70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zh-CN" altLang="en-US" sz="4000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itchFamily="18" charset="0"/>
              </a:rPr>
              <a:t>实例：方案</a:t>
            </a:r>
            <a:r>
              <a:rPr lang="en-US" altLang="zh-CN" sz="4000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itchFamily="18" charset="0"/>
              </a:rPr>
              <a:t>1</a:t>
            </a:r>
            <a:endParaRPr lang="zh-CN" altLang="en-US" sz="4000" b="1" dirty="0">
              <a:solidFill>
                <a:srgbClr val="A5002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itchFamily="18" charset="0"/>
            </a:endParaRPr>
          </a:p>
        </p:txBody>
      </p:sp>
      <p:sp>
        <p:nvSpPr>
          <p:cNvPr id="53254" name="灯片编号占位符 31">
            <a:extLst>
              <a:ext uri="{FF2B5EF4-FFF2-40B4-BE49-F238E27FC236}">
                <a16:creationId xmlns:a16="http://schemas.microsoft.com/office/drawing/2014/main" id="{11D00CCB-4A85-4698-870C-425FE466B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FCA75C2-9DBF-4472-B71C-EE59EA04E318}" type="slidenum">
              <a:rPr lang="en-US" altLang="zh-CN">
                <a:solidFill>
                  <a:srgbClr val="898989"/>
                </a:solidFill>
              </a:rPr>
              <a:pPr eaLnBrk="1" hangingPunct="1"/>
              <a:t>24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3C5FB25-C0ED-4C36-A55C-F98843A00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1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BB2342F-79B5-43A3-80C8-771714819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062038"/>
            <a:ext cx="777875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650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排列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&lt;2, 1, 3, 4, 5, 6, 7, 8&gt;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density(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2</a:t>
            </a:r>
            <a:r>
              <a:rPr lang="en-US" altLang="zh-CN" sz="2400" b="1">
                <a:latin typeface="Times New Roman" panose="02020603050405020304" pitchFamily="18" charset="0"/>
              </a:rPr>
              <a:t>   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27652" name="Group 5">
            <a:extLst>
              <a:ext uri="{FF2B5EF4-FFF2-40B4-BE49-F238E27FC236}">
                <a16:creationId xmlns:a16="http://schemas.microsoft.com/office/drawing/2014/main" id="{BFF03F15-A43E-4C1A-89D2-78920CFB5A44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1844675"/>
            <a:ext cx="6553200" cy="2128838"/>
            <a:chOff x="748" y="2870"/>
            <a:chExt cx="4355" cy="1396"/>
          </a:xfrm>
        </p:grpSpPr>
        <p:sp>
          <p:nvSpPr>
            <p:cNvPr id="27656" name="Oval 6">
              <a:extLst>
                <a:ext uri="{FF2B5EF4-FFF2-40B4-BE49-F238E27FC236}">
                  <a16:creationId xmlns:a16="http://schemas.microsoft.com/office/drawing/2014/main" id="{44564FD7-4D4B-49FE-AEDB-5263C7ABE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3339"/>
              <a:ext cx="136" cy="136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7657" name="Group 7">
              <a:extLst>
                <a:ext uri="{FF2B5EF4-FFF2-40B4-BE49-F238E27FC236}">
                  <a16:creationId xmlns:a16="http://schemas.microsoft.com/office/drawing/2014/main" id="{87F71B9D-6209-4AC3-935E-0BB3457955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" y="2870"/>
              <a:ext cx="4355" cy="1396"/>
              <a:chOff x="748" y="2840"/>
              <a:chExt cx="4355" cy="1396"/>
            </a:xfrm>
          </p:grpSpPr>
          <p:sp>
            <p:nvSpPr>
              <p:cNvPr id="27658" name="Line 8">
                <a:extLst>
                  <a:ext uri="{FF2B5EF4-FFF2-40B4-BE49-F238E27FC236}">
                    <a16:creationId xmlns:a16="http://schemas.microsoft.com/office/drawing/2014/main" id="{45C17B06-78E5-43CD-83CC-49C39EC9C2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8" y="3884"/>
                <a:ext cx="43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59" name="Text Box 9">
                <a:extLst>
                  <a:ext uri="{FF2B5EF4-FFF2-40B4-BE49-F238E27FC236}">
                    <a16:creationId xmlns:a16="http://schemas.microsoft.com/office/drawing/2014/main" id="{3C3E45A8-A4D1-4CB9-AB40-F6B5438E27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8" y="3974"/>
                <a:ext cx="4355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/>
                  <a:t>1          2          3          4          5          6         7          8    </a:t>
                </a:r>
              </a:p>
            </p:txBody>
          </p:sp>
          <p:sp>
            <p:nvSpPr>
              <p:cNvPr id="27660" name="Text Box 10">
                <a:extLst>
                  <a:ext uri="{FF2B5EF4-FFF2-40B4-BE49-F238E27FC236}">
                    <a16:creationId xmlns:a16="http://schemas.microsoft.com/office/drawing/2014/main" id="{636E7ACF-3A5A-4086-879F-34E20FC4C8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8" y="3505"/>
                <a:ext cx="4355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/>
                  <a:t>2          1          3          4          5          6         7          8    </a:t>
                </a:r>
              </a:p>
            </p:txBody>
          </p:sp>
          <p:grpSp>
            <p:nvGrpSpPr>
              <p:cNvPr id="27661" name="Group 11">
                <a:extLst>
                  <a:ext uri="{FF2B5EF4-FFF2-40B4-BE49-F238E27FC236}">
                    <a16:creationId xmlns:a16="http://schemas.microsoft.com/office/drawing/2014/main" id="{793D095B-8803-4F26-A852-41045440BA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2840"/>
                <a:ext cx="3992" cy="635"/>
                <a:chOff x="793" y="2840"/>
                <a:chExt cx="3992" cy="635"/>
              </a:xfrm>
            </p:grpSpPr>
            <p:sp>
              <p:nvSpPr>
                <p:cNvPr id="27662" name="Oval 12">
                  <a:extLst>
                    <a:ext uri="{FF2B5EF4-FFF2-40B4-BE49-F238E27FC236}">
                      <a16:creationId xmlns:a16="http://schemas.microsoft.com/office/drawing/2014/main" id="{04CED271-BEE4-45EF-9FC8-37107777CE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3339"/>
                  <a:ext cx="136" cy="136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7663" name="Oval 13">
                  <a:extLst>
                    <a:ext uri="{FF2B5EF4-FFF2-40B4-BE49-F238E27FC236}">
                      <a16:creationId xmlns:a16="http://schemas.microsoft.com/office/drawing/2014/main" id="{F5C6E030-8743-40E8-9B18-331AA3E515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8" y="3339"/>
                  <a:ext cx="136" cy="136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7664" name="Oval 14">
                  <a:extLst>
                    <a:ext uri="{FF2B5EF4-FFF2-40B4-BE49-F238E27FC236}">
                      <a16:creationId xmlns:a16="http://schemas.microsoft.com/office/drawing/2014/main" id="{6F87C36B-1812-442F-8752-23FA57845C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72" y="3339"/>
                  <a:ext cx="136" cy="136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7665" name="Oval 15">
                  <a:extLst>
                    <a:ext uri="{FF2B5EF4-FFF2-40B4-BE49-F238E27FC236}">
                      <a16:creationId xmlns:a16="http://schemas.microsoft.com/office/drawing/2014/main" id="{6005AFC7-BC7C-4F4F-BFCF-B65712FC16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16" y="3339"/>
                  <a:ext cx="136" cy="136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7666" name="Oval 16">
                  <a:extLst>
                    <a:ext uri="{FF2B5EF4-FFF2-40B4-BE49-F238E27FC236}">
                      <a16:creationId xmlns:a16="http://schemas.microsoft.com/office/drawing/2014/main" id="{99CBE468-2CDB-4ADA-AB0B-0F53F3FE13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60" y="3339"/>
                  <a:ext cx="136" cy="136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7667" name="Oval 17">
                  <a:extLst>
                    <a:ext uri="{FF2B5EF4-FFF2-40B4-BE49-F238E27FC236}">
                      <a16:creationId xmlns:a16="http://schemas.microsoft.com/office/drawing/2014/main" id="{6E800066-6E02-41C0-88CE-E64E18AE38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5" y="3339"/>
                  <a:ext cx="136" cy="136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7668" name="Oval 18">
                  <a:extLst>
                    <a:ext uri="{FF2B5EF4-FFF2-40B4-BE49-F238E27FC236}">
                      <a16:creationId xmlns:a16="http://schemas.microsoft.com/office/drawing/2014/main" id="{847906A5-C931-43CA-B2F2-29CCA1EAB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9" y="3339"/>
                  <a:ext cx="136" cy="136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27669" name="Group 19">
                  <a:extLst>
                    <a:ext uri="{FF2B5EF4-FFF2-40B4-BE49-F238E27FC236}">
                      <a16:creationId xmlns:a16="http://schemas.microsoft.com/office/drawing/2014/main" id="{3D631F7C-680D-4986-BBDC-615CD514A5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9" y="2840"/>
                  <a:ext cx="1134" cy="606"/>
                  <a:chOff x="839" y="2840"/>
                  <a:chExt cx="1134" cy="606"/>
                </a:xfrm>
              </p:grpSpPr>
              <p:grpSp>
                <p:nvGrpSpPr>
                  <p:cNvPr id="27682" name="Group 20">
                    <a:extLst>
                      <a:ext uri="{FF2B5EF4-FFF2-40B4-BE49-F238E27FC236}">
                        <a16:creationId xmlns:a16="http://schemas.microsoft.com/office/drawing/2014/main" id="{DB443F4E-3963-43E1-9E84-30A08908929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9" y="2840"/>
                    <a:ext cx="1134" cy="499"/>
                    <a:chOff x="839" y="2840"/>
                    <a:chExt cx="1134" cy="499"/>
                  </a:xfrm>
                </p:grpSpPr>
                <p:sp>
                  <p:nvSpPr>
                    <p:cNvPr id="27686" name="Freeform 21">
                      <a:extLst>
                        <a:ext uri="{FF2B5EF4-FFF2-40B4-BE49-F238E27FC236}">
                          <a16:creationId xmlns:a16="http://schemas.microsoft.com/office/drawing/2014/main" id="{3352BBAC-1DC9-4E0A-B314-6D3F3B423FE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839" y="2863"/>
                      <a:ext cx="1134" cy="476"/>
                    </a:xfrm>
                    <a:custGeom>
                      <a:avLst/>
                      <a:gdLst>
                        <a:gd name="T0" fmla="*/ 0 w 1134"/>
                        <a:gd name="T1" fmla="*/ 476 h 476"/>
                        <a:gd name="T2" fmla="*/ 453 w 1134"/>
                        <a:gd name="T3" fmla="*/ 68 h 476"/>
                        <a:gd name="T4" fmla="*/ 771 w 1134"/>
                        <a:gd name="T5" fmla="*/ 68 h 476"/>
                        <a:gd name="T6" fmla="*/ 1134 w 1134"/>
                        <a:gd name="T7" fmla="*/ 476 h 476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134"/>
                        <a:gd name="T13" fmla="*/ 0 h 476"/>
                        <a:gd name="T14" fmla="*/ 1134 w 1134"/>
                        <a:gd name="T15" fmla="*/ 476 h 476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134" h="476">
                          <a:moveTo>
                            <a:pt x="0" y="476"/>
                          </a:moveTo>
                          <a:cubicBezTo>
                            <a:pt x="162" y="306"/>
                            <a:pt x="325" y="136"/>
                            <a:pt x="453" y="68"/>
                          </a:cubicBezTo>
                          <a:cubicBezTo>
                            <a:pt x="581" y="0"/>
                            <a:pt x="657" y="0"/>
                            <a:pt x="771" y="68"/>
                          </a:cubicBezTo>
                          <a:cubicBezTo>
                            <a:pt x="885" y="136"/>
                            <a:pt x="1009" y="306"/>
                            <a:pt x="1134" y="476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rgbClr val="3399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7687" name="Text Box 22">
                      <a:extLst>
                        <a:ext uri="{FF2B5EF4-FFF2-40B4-BE49-F238E27FC236}">
                          <a16:creationId xmlns:a16="http://schemas.microsoft.com/office/drawing/2014/main" id="{DEDC1486-F688-4162-AF21-D54953A74BA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38" y="2840"/>
                      <a:ext cx="363" cy="2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CFFFF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400">
                          <a:solidFill>
                            <a:schemeClr val="folHlink"/>
                          </a:solidFill>
                        </a:rPr>
                        <a:t>N</a:t>
                      </a:r>
                      <a:r>
                        <a:rPr lang="en-US" altLang="zh-CN" sz="2400" b="1" baseline="-25000">
                          <a:solidFill>
                            <a:schemeClr val="folHlink"/>
                          </a:solidFill>
                        </a:rPr>
                        <a:t>2</a:t>
                      </a:r>
                    </a:p>
                  </p:txBody>
                </p:sp>
              </p:grpSp>
              <p:grpSp>
                <p:nvGrpSpPr>
                  <p:cNvPr id="27683" name="Group 23">
                    <a:extLst>
                      <a:ext uri="{FF2B5EF4-FFF2-40B4-BE49-F238E27FC236}">
                        <a16:creationId xmlns:a16="http://schemas.microsoft.com/office/drawing/2014/main" id="{DB5E5C3D-0A96-4ECD-93B9-76045E4D16A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383" y="3158"/>
                    <a:ext cx="590" cy="288"/>
                    <a:chOff x="1383" y="3158"/>
                    <a:chExt cx="590" cy="288"/>
                  </a:xfrm>
                </p:grpSpPr>
                <p:sp>
                  <p:nvSpPr>
                    <p:cNvPr id="27684" name="Freeform 24">
                      <a:extLst>
                        <a:ext uri="{FF2B5EF4-FFF2-40B4-BE49-F238E27FC236}">
                          <a16:creationId xmlns:a16="http://schemas.microsoft.com/office/drawing/2014/main" id="{02B6ECF8-3883-40B7-950B-CB844BE9606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383" y="3203"/>
                      <a:ext cx="590" cy="136"/>
                    </a:xfrm>
                    <a:custGeom>
                      <a:avLst/>
                      <a:gdLst>
                        <a:gd name="T0" fmla="*/ 0 w 590"/>
                        <a:gd name="T1" fmla="*/ 19 h 181"/>
                        <a:gd name="T2" fmla="*/ 318 w 590"/>
                        <a:gd name="T3" fmla="*/ 0 h 181"/>
                        <a:gd name="T4" fmla="*/ 590 w 590"/>
                        <a:gd name="T5" fmla="*/ 19 h 181"/>
                        <a:gd name="T6" fmla="*/ 0 60000 65536"/>
                        <a:gd name="T7" fmla="*/ 0 60000 65536"/>
                        <a:gd name="T8" fmla="*/ 0 60000 65536"/>
                        <a:gd name="T9" fmla="*/ 0 w 590"/>
                        <a:gd name="T10" fmla="*/ 0 h 181"/>
                        <a:gd name="T11" fmla="*/ 590 w 590"/>
                        <a:gd name="T12" fmla="*/ 181 h 181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590" h="181">
                          <a:moveTo>
                            <a:pt x="0" y="181"/>
                          </a:moveTo>
                          <a:cubicBezTo>
                            <a:pt x="110" y="90"/>
                            <a:pt x="220" y="0"/>
                            <a:pt x="318" y="0"/>
                          </a:cubicBezTo>
                          <a:cubicBezTo>
                            <a:pt x="416" y="0"/>
                            <a:pt x="503" y="90"/>
                            <a:pt x="590" y="181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rgbClr val="00206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7685" name="Text Box 25">
                      <a:extLst>
                        <a:ext uri="{FF2B5EF4-FFF2-40B4-BE49-F238E27FC236}">
                          <a16:creationId xmlns:a16="http://schemas.microsoft.com/office/drawing/2014/main" id="{78043AF6-9523-45EA-8F7F-8052FD58DB0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565" y="3158"/>
                      <a:ext cx="40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400">
                          <a:solidFill>
                            <a:srgbClr val="002060"/>
                          </a:solidFill>
                        </a:rPr>
                        <a:t>N</a:t>
                      </a:r>
                      <a:r>
                        <a:rPr lang="en-US" altLang="zh-CN" sz="2400" b="1" baseline="-2500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p:txBody>
                </p:sp>
              </p:grpSp>
            </p:grpSp>
            <p:grpSp>
              <p:nvGrpSpPr>
                <p:cNvPr id="27670" name="Group 26">
                  <a:extLst>
                    <a:ext uri="{FF2B5EF4-FFF2-40B4-BE49-F238E27FC236}">
                      <a16:creationId xmlns:a16="http://schemas.microsoft.com/office/drawing/2014/main" id="{C173C1C6-78F2-4443-8D1D-E24E3EBB1C4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18" y="2886"/>
                  <a:ext cx="1588" cy="560"/>
                  <a:chOff x="2018" y="2886"/>
                  <a:chExt cx="1588" cy="560"/>
                </a:xfrm>
              </p:grpSpPr>
              <p:grpSp>
                <p:nvGrpSpPr>
                  <p:cNvPr id="27674" name="Group 27">
                    <a:extLst>
                      <a:ext uri="{FF2B5EF4-FFF2-40B4-BE49-F238E27FC236}">
                        <a16:creationId xmlns:a16="http://schemas.microsoft.com/office/drawing/2014/main" id="{0617DAA5-9EE0-4DE0-8091-CF718CD4686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17" y="3158"/>
                    <a:ext cx="1089" cy="181"/>
                    <a:chOff x="2517" y="3158"/>
                    <a:chExt cx="1089" cy="181"/>
                  </a:xfrm>
                </p:grpSpPr>
                <p:sp>
                  <p:nvSpPr>
                    <p:cNvPr id="27680" name="Freeform 28">
                      <a:extLst>
                        <a:ext uri="{FF2B5EF4-FFF2-40B4-BE49-F238E27FC236}">
                          <a16:creationId xmlns:a16="http://schemas.microsoft.com/office/drawing/2014/main" id="{5AC19141-6FD4-4169-989A-6BF49CCB899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517" y="3158"/>
                      <a:ext cx="1089" cy="181"/>
                    </a:xfrm>
                    <a:custGeom>
                      <a:avLst/>
                      <a:gdLst>
                        <a:gd name="T0" fmla="*/ 0 w 1089"/>
                        <a:gd name="T1" fmla="*/ 181 h 181"/>
                        <a:gd name="T2" fmla="*/ 499 w 1089"/>
                        <a:gd name="T3" fmla="*/ 0 h 181"/>
                        <a:gd name="T4" fmla="*/ 1089 w 1089"/>
                        <a:gd name="T5" fmla="*/ 181 h 181"/>
                        <a:gd name="T6" fmla="*/ 0 60000 65536"/>
                        <a:gd name="T7" fmla="*/ 0 60000 65536"/>
                        <a:gd name="T8" fmla="*/ 0 60000 65536"/>
                        <a:gd name="T9" fmla="*/ 0 w 1089"/>
                        <a:gd name="T10" fmla="*/ 0 h 181"/>
                        <a:gd name="T11" fmla="*/ 1089 w 1089"/>
                        <a:gd name="T12" fmla="*/ 181 h 181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1089" h="181">
                          <a:moveTo>
                            <a:pt x="0" y="181"/>
                          </a:moveTo>
                          <a:cubicBezTo>
                            <a:pt x="159" y="90"/>
                            <a:pt x="318" y="0"/>
                            <a:pt x="499" y="0"/>
                          </a:cubicBezTo>
                          <a:cubicBezTo>
                            <a:pt x="680" y="0"/>
                            <a:pt x="884" y="90"/>
                            <a:pt x="1089" y="181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rgbClr val="8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7681" name="Freeform 29">
                      <a:extLst>
                        <a:ext uri="{FF2B5EF4-FFF2-40B4-BE49-F238E27FC236}">
                          <a16:creationId xmlns:a16="http://schemas.microsoft.com/office/drawing/2014/main" id="{D0CB1739-4206-41A7-B8AC-75294FAA40B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061" y="3158"/>
                      <a:ext cx="1" cy="181"/>
                    </a:xfrm>
                    <a:custGeom>
                      <a:avLst/>
                      <a:gdLst>
                        <a:gd name="T0" fmla="*/ 0 w 1"/>
                        <a:gd name="T1" fmla="*/ 0 h 181"/>
                        <a:gd name="T2" fmla="*/ 0 w 1"/>
                        <a:gd name="T3" fmla="*/ 181 h 181"/>
                        <a:gd name="T4" fmla="*/ 0 60000 65536"/>
                        <a:gd name="T5" fmla="*/ 0 60000 65536"/>
                        <a:gd name="T6" fmla="*/ 0 w 1"/>
                        <a:gd name="T7" fmla="*/ 0 h 181"/>
                        <a:gd name="T8" fmla="*/ 1 w 1"/>
                        <a:gd name="T9" fmla="*/ 181 h 181"/>
                      </a:gdLst>
                      <a:ahLst/>
                      <a:cxnLst>
                        <a:cxn ang="T4">
                          <a:pos x="T0" y="T1"/>
                        </a:cxn>
                        <a:cxn ang="T5">
                          <a:pos x="T2" y="T3"/>
                        </a:cxn>
                      </a:cxnLst>
                      <a:rect l="T6" t="T7" r="T8" b="T9"/>
                      <a:pathLst>
                        <a:path w="1" h="181">
                          <a:moveTo>
                            <a:pt x="0" y="0"/>
                          </a:moveTo>
                          <a:cubicBezTo>
                            <a:pt x="0" y="75"/>
                            <a:pt x="0" y="151"/>
                            <a:pt x="0" y="181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rgbClr val="8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27675" name="Group 30">
                    <a:extLst>
                      <a:ext uri="{FF2B5EF4-FFF2-40B4-BE49-F238E27FC236}">
                        <a16:creationId xmlns:a16="http://schemas.microsoft.com/office/drawing/2014/main" id="{97300E15-49FE-4AB5-8935-C0ACB23B1BC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18" y="2886"/>
                    <a:ext cx="1588" cy="560"/>
                    <a:chOff x="2018" y="2886"/>
                    <a:chExt cx="1588" cy="560"/>
                  </a:xfrm>
                </p:grpSpPr>
                <p:grpSp>
                  <p:nvGrpSpPr>
                    <p:cNvPr id="27676" name="Group 31">
                      <a:extLst>
                        <a:ext uri="{FF2B5EF4-FFF2-40B4-BE49-F238E27FC236}">
                          <a16:creationId xmlns:a16="http://schemas.microsoft.com/office/drawing/2014/main" id="{096B4B4C-40E1-419B-A81B-3BC5408D5DC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18" y="2886"/>
                      <a:ext cx="1588" cy="453"/>
                      <a:chOff x="2018" y="2886"/>
                      <a:chExt cx="1588" cy="453"/>
                    </a:xfrm>
                  </p:grpSpPr>
                  <p:sp>
                    <p:nvSpPr>
                      <p:cNvPr id="27678" name="Freeform 32">
                        <a:extLst>
                          <a:ext uri="{FF2B5EF4-FFF2-40B4-BE49-F238E27FC236}">
                            <a16:creationId xmlns:a16="http://schemas.microsoft.com/office/drawing/2014/main" id="{972CD56D-0513-45CD-9BED-9430C7553C3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8" y="2923"/>
                        <a:ext cx="1588" cy="416"/>
                      </a:xfrm>
                      <a:custGeom>
                        <a:avLst/>
                        <a:gdLst>
                          <a:gd name="T0" fmla="*/ 0 w 1588"/>
                          <a:gd name="T1" fmla="*/ 416 h 416"/>
                          <a:gd name="T2" fmla="*/ 499 w 1588"/>
                          <a:gd name="T3" fmla="*/ 99 h 416"/>
                          <a:gd name="T4" fmla="*/ 1043 w 1588"/>
                          <a:gd name="T5" fmla="*/ 53 h 416"/>
                          <a:gd name="T6" fmla="*/ 1588 w 1588"/>
                          <a:gd name="T7" fmla="*/ 416 h 416"/>
                          <a:gd name="T8" fmla="*/ 0 60000 65536"/>
                          <a:gd name="T9" fmla="*/ 0 60000 65536"/>
                          <a:gd name="T10" fmla="*/ 0 60000 65536"/>
                          <a:gd name="T11" fmla="*/ 0 60000 65536"/>
                          <a:gd name="T12" fmla="*/ 0 w 1588"/>
                          <a:gd name="T13" fmla="*/ 0 h 416"/>
                          <a:gd name="T14" fmla="*/ 1588 w 1588"/>
                          <a:gd name="T15" fmla="*/ 416 h 416"/>
                        </a:gdLst>
                        <a:ahLst/>
                        <a:cxnLst>
                          <a:cxn ang="T8">
                            <a:pos x="T0" y="T1"/>
                          </a:cxn>
                          <a:cxn ang="T9">
                            <a:pos x="T2" y="T3"/>
                          </a:cxn>
                          <a:cxn ang="T10">
                            <a:pos x="T4" y="T5"/>
                          </a:cxn>
                          <a:cxn ang="T11">
                            <a:pos x="T6" y="T7"/>
                          </a:cxn>
                        </a:cxnLst>
                        <a:rect l="T12" t="T13" r="T14" b="T15"/>
                        <a:pathLst>
                          <a:path w="1588" h="416">
                            <a:moveTo>
                              <a:pt x="0" y="416"/>
                            </a:moveTo>
                            <a:cubicBezTo>
                              <a:pt x="162" y="287"/>
                              <a:pt x="325" y="159"/>
                              <a:pt x="499" y="99"/>
                            </a:cubicBezTo>
                            <a:cubicBezTo>
                              <a:pt x="673" y="39"/>
                              <a:pt x="862" y="0"/>
                              <a:pt x="1043" y="53"/>
                            </a:cubicBezTo>
                            <a:cubicBezTo>
                              <a:pt x="1224" y="106"/>
                              <a:pt x="1406" y="261"/>
                              <a:pt x="1588" y="416"/>
                            </a:cubicBezTo>
                          </a:path>
                        </a:pathLst>
                      </a:custGeom>
                      <a:noFill/>
                      <a:ln w="28575">
                        <a:solidFill>
                          <a:srgbClr val="FF99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7679" name="Text Box 33">
                        <a:extLst>
                          <a:ext uri="{FF2B5EF4-FFF2-40B4-BE49-F238E27FC236}">
                            <a16:creationId xmlns:a16="http://schemas.microsoft.com/office/drawing/2014/main" id="{4EB9CFDD-2197-49C7-9B27-34933FC39787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744" y="2886"/>
                        <a:ext cx="363" cy="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</a:pPr>
                        <a:r>
                          <a:rPr lang="en-US" altLang="zh-CN" sz="2400">
                            <a:solidFill>
                              <a:srgbClr val="FF9900"/>
                            </a:solidFill>
                          </a:rPr>
                          <a:t>N</a:t>
                        </a:r>
                        <a:r>
                          <a:rPr lang="en-US" altLang="zh-CN" sz="2400" b="1" baseline="-25000">
                            <a:solidFill>
                              <a:srgbClr val="FF9900"/>
                            </a:solidFill>
                          </a:rPr>
                          <a:t>4</a:t>
                        </a:r>
                      </a:p>
                    </p:txBody>
                  </p:sp>
                </p:grpSp>
                <p:sp>
                  <p:nvSpPr>
                    <p:cNvPr id="27677" name="Text Box 34">
                      <a:extLst>
                        <a:ext uri="{FF2B5EF4-FFF2-40B4-BE49-F238E27FC236}">
                          <a16:creationId xmlns:a16="http://schemas.microsoft.com/office/drawing/2014/main" id="{A13F6B3D-A274-4D17-A7E1-4301C9990E88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107" y="3158"/>
                      <a:ext cx="40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400">
                          <a:solidFill>
                            <a:srgbClr val="990033"/>
                          </a:solidFill>
                        </a:rPr>
                        <a:t>N</a:t>
                      </a:r>
                      <a:r>
                        <a:rPr lang="en-US" altLang="zh-CN" sz="2400" b="1" baseline="-25000">
                          <a:solidFill>
                            <a:srgbClr val="990033"/>
                          </a:solidFill>
                        </a:rPr>
                        <a:t>1</a:t>
                      </a:r>
                    </a:p>
                  </p:txBody>
                </p:sp>
              </p:grpSp>
            </p:grpSp>
            <p:grpSp>
              <p:nvGrpSpPr>
                <p:cNvPr id="27671" name="Group 35">
                  <a:extLst>
                    <a:ext uri="{FF2B5EF4-FFF2-40B4-BE49-F238E27FC236}">
                      <a16:creationId xmlns:a16="http://schemas.microsoft.com/office/drawing/2014/main" id="{6EBA7D04-A9C2-43D9-A492-A20D82CED4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50" y="2886"/>
                  <a:ext cx="544" cy="453"/>
                  <a:chOff x="4150" y="2886"/>
                  <a:chExt cx="544" cy="453"/>
                </a:xfrm>
              </p:grpSpPr>
              <p:sp>
                <p:nvSpPr>
                  <p:cNvPr id="27672" name="Freeform 36">
                    <a:extLst>
                      <a:ext uri="{FF2B5EF4-FFF2-40B4-BE49-F238E27FC236}">
                        <a16:creationId xmlns:a16="http://schemas.microsoft.com/office/drawing/2014/main" id="{6896E714-28B0-4357-A9F2-230C9ECE9B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50" y="3158"/>
                    <a:ext cx="544" cy="181"/>
                  </a:xfrm>
                  <a:custGeom>
                    <a:avLst/>
                    <a:gdLst>
                      <a:gd name="T0" fmla="*/ 0 w 544"/>
                      <a:gd name="T1" fmla="*/ 181 h 181"/>
                      <a:gd name="T2" fmla="*/ 272 w 544"/>
                      <a:gd name="T3" fmla="*/ 0 h 181"/>
                      <a:gd name="T4" fmla="*/ 544 w 544"/>
                      <a:gd name="T5" fmla="*/ 181 h 181"/>
                      <a:gd name="T6" fmla="*/ 0 60000 65536"/>
                      <a:gd name="T7" fmla="*/ 0 60000 65536"/>
                      <a:gd name="T8" fmla="*/ 0 60000 65536"/>
                      <a:gd name="T9" fmla="*/ 0 w 544"/>
                      <a:gd name="T10" fmla="*/ 0 h 181"/>
                      <a:gd name="T11" fmla="*/ 544 w 544"/>
                      <a:gd name="T12" fmla="*/ 181 h 18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544" h="181">
                        <a:moveTo>
                          <a:pt x="0" y="181"/>
                        </a:moveTo>
                        <a:cubicBezTo>
                          <a:pt x="90" y="90"/>
                          <a:pt x="181" y="0"/>
                          <a:pt x="272" y="0"/>
                        </a:cubicBezTo>
                        <a:cubicBezTo>
                          <a:pt x="363" y="0"/>
                          <a:pt x="453" y="90"/>
                          <a:pt x="544" y="181"/>
                        </a:cubicBezTo>
                      </a:path>
                    </a:pathLst>
                  </a:custGeom>
                  <a:noFill/>
                  <a:ln w="28575">
                    <a:solidFill>
                      <a:srgbClr val="9900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673" name="Text Box 37">
                    <a:extLst>
                      <a:ext uri="{FF2B5EF4-FFF2-40B4-BE49-F238E27FC236}">
                        <a16:creationId xmlns:a16="http://schemas.microsoft.com/office/drawing/2014/main" id="{691062A4-BAD9-409E-AE2C-233F1D84540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86" y="2886"/>
                    <a:ext cx="40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>
                        <a:solidFill>
                          <a:srgbClr val="990099"/>
                        </a:solidFill>
                      </a:rPr>
                      <a:t>N</a:t>
                    </a:r>
                    <a:r>
                      <a:rPr lang="en-US" altLang="zh-CN" sz="2400" b="1" baseline="-25000">
                        <a:solidFill>
                          <a:srgbClr val="990099"/>
                        </a:solidFill>
                      </a:rPr>
                      <a:t>5</a:t>
                    </a:r>
                  </a:p>
                </p:txBody>
              </p:sp>
            </p:grpSp>
          </p:grpSp>
        </p:grpSp>
      </p:grpSp>
      <p:sp>
        <p:nvSpPr>
          <p:cNvPr id="53253" name="Rectangle 2">
            <a:extLst>
              <a:ext uri="{FF2B5EF4-FFF2-40B4-BE49-F238E27FC236}">
                <a16:creationId xmlns:a16="http://schemas.microsoft.com/office/drawing/2014/main" id="{F4CF15E6-C4DB-42D2-873E-2EA5D79B9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53379"/>
            <a:ext cx="8229600" cy="63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zh-CN" altLang="en-US" sz="4000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itchFamily="18" charset="0"/>
              </a:rPr>
              <a:t>方案</a:t>
            </a:r>
            <a:r>
              <a:rPr lang="en-US" altLang="zh-CN" sz="4000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itchFamily="18" charset="0"/>
              </a:rPr>
              <a:t>2</a:t>
            </a:r>
          </a:p>
        </p:txBody>
      </p:sp>
      <p:sp>
        <p:nvSpPr>
          <p:cNvPr id="27654" name="Rectangle 39">
            <a:extLst>
              <a:ext uri="{FF2B5EF4-FFF2-40B4-BE49-F238E27FC236}">
                <a16:creationId xmlns:a16="http://schemas.microsoft.com/office/drawing/2014/main" id="{170E8628-F25D-4DA4-B1D4-02F0D19A7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292600"/>
            <a:ext cx="8043863" cy="151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因为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3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出现在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个连接块中，以横跨电路板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2-3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为一边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3-4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为另一边。根据鸽巢原理，无论怎样排列，都存在某一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边至少有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条线，因此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density(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 2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，这是一个最优方案。</a:t>
            </a:r>
          </a:p>
        </p:txBody>
      </p:sp>
      <p:sp>
        <p:nvSpPr>
          <p:cNvPr id="54279" name="灯片编号占位符 38">
            <a:extLst>
              <a:ext uri="{FF2B5EF4-FFF2-40B4-BE49-F238E27FC236}">
                <a16:creationId xmlns:a16="http://schemas.microsoft.com/office/drawing/2014/main" id="{59D1F9B5-D003-4D90-BA7B-AD32746F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051550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7E1A163-D60A-4C5A-8FF8-BC004F9D9B02}" type="slidenum">
              <a:rPr lang="en-US" altLang="zh-CN">
                <a:solidFill>
                  <a:srgbClr val="898989"/>
                </a:solidFill>
              </a:rPr>
              <a:pPr eaLnBrk="1" hangingPunct="1"/>
              <a:t>25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3">
            <a:extLst>
              <a:ext uri="{FF2B5EF4-FFF2-40B4-BE49-F238E27FC236}">
                <a16:creationId xmlns:a16="http://schemas.microsoft.com/office/drawing/2014/main" id="{E86FD5BE-460F-4560-BCB7-201AD1813C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3488" y="1052513"/>
          <a:ext cx="2830512" cy="324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位图图像" r:id="rId4" imgW="1905266" imgH="2180952" progId="Paint.Picture">
                  <p:embed/>
                </p:oleObj>
              </mc:Choice>
              <mc:Fallback>
                <p:oleObj name="位图图像" r:id="rId4" imgW="1905266" imgH="2180952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3488" y="1052513"/>
                        <a:ext cx="2830512" cy="324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Rectangle 4">
            <a:extLst>
              <a:ext uri="{FF2B5EF4-FFF2-40B4-BE49-F238E27FC236}">
                <a16:creationId xmlns:a16="http://schemas.microsoft.com/office/drawing/2014/main" id="{564CB4A0-BB14-42A1-A109-41E6CBFCD0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2488" y="214854"/>
            <a:ext cx="7499176" cy="8493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通信抗噪音编码问题</a:t>
            </a:r>
            <a:endParaRPr lang="en-US" altLang="zh-CN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437" name="灯片编号占位符 4">
            <a:extLst>
              <a:ext uri="{FF2B5EF4-FFF2-40B4-BE49-F238E27FC236}">
                <a16:creationId xmlns:a16="http://schemas.microsoft.com/office/drawing/2014/main" id="{AA025CAE-FDAE-4174-8603-C8DAC3C74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30DCF9E-6F87-4457-8F60-C54D314B83CD}" type="slidenum">
              <a:rPr lang="en-US" altLang="zh-CN">
                <a:solidFill>
                  <a:srgbClr val="898989"/>
                </a:solidFill>
              </a:rPr>
              <a:pPr eaLnBrk="1" hangingPunct="1"/>
              <a:t>26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8196" name="Rectangle 6">
            <a:extLst>
              <a:ext uri="{FF2B5EF4-FFF2-40B4-BE49-F238E27FC236}">
                <a16:creationId xmlns:a16="http://schemas.microsoft.com/office/drawing/2014/main" id="{DAEBBB21-D9F8-48B3-B2EC-80D93D70A3B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52488" y="1268413"/>
            <a:ext cx="8291512" cy="511333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混淆图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=&lt;</a:t>
            </a:r>
            <a:r>
              <a:rPr lang="en-US" altLang="zh-CN" sz="2400" b="1" i="1">
                <a:latin typeface="Times New Roman" panose="02020603050405020304" pitchFamily="18" charset="0"/>
              </a:rPr>
              <a:t>V,E</a:t>
            </a:r>
            <a:r>
              <a:rPr lang="en-US" altLang="zh-CN" sz="2400" b="1">
                <a:latin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zh-CN" altLang="en-US" sz="2400" b="1">
                <a:latin typeface="Times New Roman" panose="02020603050405020304" pitchFamily="18" charset="0"/>
              </a:rPr>
              <a:t>为有穷字符集，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{</a:t>
            </a:r>
            <a:r>
              <a:rPr lang="en-US" altLang="zh-CN" sz="2400" b="1" i="1">
                <a:latin typeface="Times New Roman" panose="02020603050405020304" pitchFamily="18" charset="0"/>
              </a:rPr>
              <a:t>u,v</a:t>
            </a:r>
            <a:r>
              <a:rPr lang="en-US" altLang="zh-CN" sz="2400" b="1">
                <a:latin typeface="Times New Roman" panose="02020603050405020304" pitchFamily="18" charset="0"/>
              </a:rPr>
              <a:t>}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u</a:t>
            </a:r>
            <a:r>
              <a:rPr lang="zh-CN" altLang="en-US" sz="2400" b="1">
                <a:latin typeface="Times New Roman" panose="02020603050405020304" pitchFamily="18" charset="0"/>
              </a:rPr>
              <a:t>和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zh-CN" altLang="en-US" sz="2400" b="1">
                <a:latin typeface="Times New Roman" panose="02020603050405020304" pitchFamily="18" charset="0"/>
              </a:rPr>
              <a:t>易混淆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  <a:endParaRPr lang="en-US" altLang="zh-CN" sz="2400" b="1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</a:rPr>
              <a:t>：点独立数，最大不混淆字符集大小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编码是字符串的集合</a:t>
            </a:r>
            <a:endParaRPr lang="zh-CN" altLang="en-US" sz="2400" b="1" i="1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        xy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uv</a:t>
            </a:r>
            <a:r>
              <a:rPr lang="zh-CN" altLang="en-US" sz="2400" b="1">
                <a:latin typeface="Times New Roman" panose="02020603050405020304" pitchFamily="18" charset="0"/>
              </a:rPr>
              <a:t>混淆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u</a:t>
            </a:r>
            <a:r>
              <a:rPr lang="zh-CN" altLang="en-US" sz="2400" b="1">
                <a:latin typeface="Times New Roman" panose="02020603050405020304" pitchFamily="18" charset="0"/>
              </a:rPr>
              <a:t>混淆且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zh-CN" altLang="en-US" sz="2400" b="1">
                <a:latin typeface="Times New Roman" panose="02020603050405020304" pitchFamily="18" charset="0"/>
              </a:rPr>
              <a:t>混淆</a:t>
            </a:r>
            <a:endParaRPr lang="zh-CN" altLang="en-US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  </a:t>
            </a: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x=u</a:t>
            </a:r>
            <a:r>
              <a:rPr lang="zh-CN" altLang="en-US" sz="2400" b="1">
                <a:latin typeface="Times New Roman" panose="02020603050405020304" pitchFamily="18" charset="0"/>
              </a:rPr>
              <a:t>且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zh-CN" altLang="en-US" sz="2400" b="1">
                <a:latin typeface="Times New Roman" panose="02020603050405020304" pitchFamily="18" charset="0"/>
              </a:rPr>
              <a:t>混淆</a:t>
            </a:r>
            <a:endParaRPr lang="zh-CN" altLang="en-US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  </a:t>
            </a: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u</a:t>
            </a:r>
            <a:r>
              <a:rPr lang="zh-CN" altLang="en-US" sz="2400" b="1">
                <a:latin typeface="Times New Roman" panose="02020603050405020304" pitchFamily="18" charset="0"/>
              </a:rPr>
              <a:t>混淆且</a:t>
            </a:r>
            <a:r>
              <a:rPr lang="en-US" altLang="zh-CN" sz="2400" b="1" i="1">
                <a:latin typeface="Times New Roman" panose="02020603050405020304" pitchFamily="18" charset="0"/>
              </a:rPr>
              <a:t>y=v 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 </a:t>
            </a:r>
            <a:r>
              <a:rPr lang="zh-CN" altLang="en-US" sz="2400" b="1">
                <a:latin typeface="Times New Roman" panose="02020603050405020304" pitchFamily="18" charset="0"/>
              </a:rPr>
              <a:t>的混淆图是两个混淆图 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zh-CN" altLang="en-US" sz="2400" b="1">
                <a:latin typeface="Times New Roman" panose="02020603050405020304" pitchFamily="18" charset="0"/>
              </a:rPr>
              <a:t>的正规积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定理   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)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 i="1">
                <a:latin typeface="Times New Roman" panose="02020603050405020304" pitchFamily="18" charset="0"/>
              </a:rPr>
              <a:t> R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)+1,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)+1)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实例：</a:t>
            </a:r>
            <a:r>
              <a:rPr lang="en-US" altLang="zh-CN" sz="2400" b="1">
                <a:latin typeface="Times New Roman" panose="02020603050405020304" pitchFamily="18" charset="0"/>
              </a:rPr>
              <a:t>|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|=5,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)=3,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)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)+1,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)+1)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                      =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(4,4)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1=17 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F7D483A5-A305-4F23-9940-D7397165AA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0525" y="136525"/>
            <a:ext cx="8362950" cy="77946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Ramsey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定理的应用推广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82B400F-5BDB-4F4D-81E7-5E7F333551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268413"/>
            <a:ext cx="8686800" cy="4525962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C00000"/>
                </a:solidFill>
              </a:rPr>
              <a:t>应用及推广</a:t>
            </a:r>
          </a:p>
          <a:p>
            <a:pPr lvl="1" eaLnBrk="1" hangingPunct="1"/>
            <a:r>
              <a:rPr lang="zh-CN" altLang="en-US" b="1" dirty="0"/>
              <a:t>数论、代数、几何、拓扑学、集合论、逻辑等；</a:t>
            </a:r>
          </a:p>
          <a:p>
            <a:pPr lvl="1" eaLnBrk="1" hangingPunct="1"/>
            <a:r>
              <a:rPr lang="zh-CN" altLang="en-US" b="1" dirty="0"/>
              <a:t>信息论、理论计算机科学</a:t>
            </a:r>
          </a:p>
          <a:p>
            <a:pPr eaLnBrk="1" hangingPunct="1">
              <a:spcBef>
                <a:spcPct val="80000"/>
              </a:spcBef>
            </a:pPr>
            <a:r>
              <a:rPr lang="zh-CN" altLang="en-US" b="1" dirty="0">
                <a:solidFill>
                  <a:srgbClr val="C00000"/>
                </a:solidFill>
              </a:rPr>
              <a:t>参考资料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/>
              <a:t>  Vera </a:t>
            </a:r>
            <a:r>
              <a:rPr lang="en-US" altLang="zh-CN" sz="2800" b="1" dirty="0" err="1"/>
              <a:t>Rosta</a:t>
            </a:r>
            <a:r>
              <a:rPr lang="en-US" altLang="zh-CN" sz="2800" b="1" dirty="0"/>
              <a:t>, Dept of Math, McGill University, Canada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Ramsey Theory Applications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2004</a:t>
            </a:r>
          </a:p>
          <a:p>
            <a:pPr eaLnBrk="1" hangingPunct="1"/>
            <a:endParaRPr lang="en-US" altLang="zh-CN" sz="2400" dirty="0"/>
          </a:p>
        </p:txBody>
      </p:sp>
      <p:sp>
        <p:nvSpPr>
          <p:cNvPr id="55300" name="灯片编号占位符 3">
            <a:extLst>
              <a:ext uri="{FF2B5EF4-FFF2-40B4-BE49-F238E27FC236}">
                <a16:creationId xmlns:a16="http://schemas.microsoft.com/office/drawing/2014/main" id="{6FE0C70F-1774-446E-9BD9-C28BA4BA1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B3A59BF-442C-48AD-BA94-D7A7A0E46C16}" type="slidenum">
              <a:rPr lang="en-US" altLang="zh-CN">
                <a:solidFill>
                  <a:srgbClr val="898989"/>
                </a:solidFill>
              </a:rPr>
              <a:pPr eaLnBrk="1" hangingPunct="1"/>
              <a:t>27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3599</TotalTime>
  <Words>2545</Words>
  <Application>Microsoft Office PowerPoint</Application>
  <PresentationFormat>全屏显示(4:3)</PresentationFormat>
  <Paragraphs>251</Paragraphs>
  <Slides>27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Arial</vt:lpstr>
      <vt:lpstr>宋体</vt:lpstr>
      <vt:lpstr>Calibri</vt:lpstr>
      <vt:lpstr>Times New Roman</vt:lpstr>
      <vt:lpstr>Symbol</vt:lpstr>
      <vt:lpstr>Wingdings</vt:lpstr>
      <vt:lpstr>Garamond</vt:lpstr>
      <vt:lpstr>代数结构PPT</vt:lpstr>
      <vt:lpstr>Microsoft Office Word 97 - 2003 文档</vt:lpstr>
      <vt:lpstr>Microsoft Word 文档</vt:lpstr>
      <vt:lpstr>位图图像</vt:lpstr>
      <vt:lpstr>Ramsey定理</vt:lpstr>
      <vt:lpstr>Ramsey定理的简单形式</vt:lpstr>
      <vt:lpstr>命题2的证明</vt:lpstr>
      <vt:lpstr>命题2的证明</vt:lpstr>
      <vt:lpstr>Ramsey定理</vt:lpstr>
      <vt:lpstr>归纳步骤的证明</vt:lpstr>
      <vt:lpstr>小Ramsey数的值                                http://mathworld.wolfram.com/RamseyNumber.html</vt:lpstr>
      <vt:lpstr>Ramsey数的性质</vt:lpstr>
      <vt:lpstr>Ramsey定理的推广</vt:lpstr>
      <vt:lpstr>推广的Ramsey定理</vt:lpstr>
      <vt:lpstr>推广的Ramsey定理</vt:lpstr>
      <vt:lpstr>R(p,q;r)的存在性证明</vt:lpstr>
      <vt:lpstr>r元子集划分到r-1元子集划分</vt:lpstr>
      <vt:lpstr>关于一般Ramsey数的说明</vt:lpstr>
      <vt:lpstr>一般Ramsey数的上下界</vt:lpstr>
      <vt:lpstr>Ramsey定理的应用</vt:lpstr>
      <vt:lpstr>引理1的证明</vt:lpstr>
      <vt:lpstr>引理2的证明</vt:lpstr>
      <vt:lpstr>证明命题N(m)  R(5, m; 4)</vt:lpstr>
      <vt:lpstr>组合存在性定理的应用</vt:lpstr>
      <vt:lpstr>例11的解决方案</vt:lpstr>
      <vt:lpstr>方案的最优性</vt:lpstr>
      <vt:lpstr>PowerPoint 演示文稿</vt:lpstr>
      <vt:lpstr>PowerPoint 演示文稿</vt:lpstr>
      <vt:lpstr>PowerPoint 演示文稿</vt:lpstr>
      <vt:lpstr>例13 通信抗噪音编码问题</vt:lpstr>
      <vt:lpstr>Ramsey定理的应用推广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326</cp:revision>
  <dcterms:created xsi:type="dcterms:W3CDTF">2005-12-02T07:25:32Z</dcterms:created>
  <dcterms:modified xsi:type="dcterms:W3CDTF">2020-07-31T07:03:44Z</dcterms:modified>
</cp:coreProperties>
</file>