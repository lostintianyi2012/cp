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CC00"/>
    <a:srgbClr val="FF0000"/>
    <a:srgbClr val="006600"/>
    <a:srgbClr val="FF9900"/>
    <a:srgbClr val="B2DE82"/>
    <a:srgbClr val="CCFFFF"/>
    <a:srgbClr val="BCE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7" autoAdjust="0"/>
    <p:restoredTop sz="91822" autoAdjust="0"/>
  </p:normalViewPr>
  <p:slideViewPr>
    <p:cSldViewPr>
      <p:cViewPr varScale="1">
        <p:scale>
          <a:sx n="79" d="100"/>
          <a:sy n="79" d="100"/>
        </p:scale>
        <p:origin x="134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8BDF037-2A49-47DC-9F5F-5DB8152DB3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165036-4BE6-44AE-B873-980A26059A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FE0740F-3AA6-4946-A05E-40F9AB5E53CE}" type="datetimeFigureOut">
              <a:rPr lang="zh-CN" altLang="en-US"/>
              <a:pPr>
                <a:defRPr/>
              </a:pPr>
              <a:t>2020/7/30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9B90C08-4635-440E-AA3D-E0BC54F033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7BCED18-73D1-4B61-91FA-C563E69EC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F84C60-CDC7-464A-A110-3EA7955C01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5EE9F-590F-4A4B-B6B7-67F7071E7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A82A8F5-7FC6-4F7C-991E-9B3A7D51E5E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0F0D04B-A89B-486B-8CD3-F550D35E3D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A7FF3C-057C-4BD7-89C4-4C2ADE2617F4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2EDB874-4C36-4ECB-AACF-58973EC5C9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C612BA4-834D-40ED-B3F2-4A68C8C37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CB09A1B0-E0BE-4082-88E1-E70C072902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EF18FE-B2D9-476C-BC1C-D9A49C5464C8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4673B496-3396-4E0A-B95F-98A12BCAA3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B054A6CF-3394-4FD8-A5EA-5EB465737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5AB3994E-DCD1-4D05-8D4F-1C393AE24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67733C6-FEB5-4BAC-A5AC-B979BABC9337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E7D32C80-C522-44A1-8E64-209F7A9EF2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FD2FDFA-11C8-43FA-B7D0-EC608F2C8F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EC14B9B-9AA8-4B04-AA34-379161195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A15E11-F8C9-4D06-9964-228933FC5DCB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22DB998-BCD5-480D-B8D9-9E7F240FB8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2FA0253-721F-449C-95BD-326EC34FCD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91B4C07-FE9E-4777-8A27-97BDD3679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9C9C42-48FB-4B23-A2CA-089C5D6FB8DD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B03B2D8-CDD1-4ED6-8599-473B59FF62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FBAA3E6-E421-4607-88A7-AD96A6A36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A044457C-E862-48F4-9D9B-B9DAD4E72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6ADAD6-0DD0-4607-83DA-7F647696D74D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BE8BC5B-AC09-4A5F-A4D7-8132D0DD6F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5D9B1CE-EDEA-4122-9EED-17265E345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F69F51D-866A-44B8-8D51-5E99144F22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012F88-58E9-414E-9547-527C691A5BDE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F959184-C960-4295-93F8-81F8DDE1D07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D1CC873-3D28-41CB-B2E9-D17EDD134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1DBD45E-CAC6-43BD-84E5-2B0BCE596C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E5124B-8B48-42B4-B914-9BF4FA33C08A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416622A-5E63-4A3C-A827-9ECA30ED6B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4E3934A-4B90-427F-B857-326FA253D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5DA186E0-42B8-4BD6-9D0D-5D700D957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B73DEE-B808-448D-B17F-631467532447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E047A69-326C-41AA-AAE5-F571A7530E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2822822-2FE3-4B41-8AF9-90841E155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F097F56-7825-48BD-AEAA-59C8187087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5A25AF-6359-4E08-A0A5-E7E434466D1D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C3C31B2-851F-42F9-A2AE-6580757984F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4AB0AAD-C473-4E25-9057-C85C80051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F963EED-2675-4D88-9871-EF0E38EC96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DA785B-C23E-406E-A569-D3418CCDB888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7363ED2-25B4-4D54-A230-0E7E0468069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A6EDE81-64ED-47D1-B618-B837AC5BB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7940394-1174-40B5-A804-DEDD5D4CC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69B467-26CE-4B40-88DB-E87CB68450AA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8628DBB-D44F-4897-B3DE-1080C15109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1D8D8E9-DCBD-490B-B127-710B1C474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C9DFA6E-921A-45CB-9159-45170A868E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A0EDAF-6331-49EF-9C78-66F0041E34E9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E5803A2-09E6-42D1-B595-0EA4246B2A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FE81DC2-65CA-4007-A537-FA4729D8F7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20864A7-C8C9-4CE3-B44E-2A065E982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7D450D6-C0C2-4791-846E-3161ADC6F92B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1CAF111-2F51-4631-8280-AB98348EA8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64BC721-27E0-4345-ACC2-CA552DD7DE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491268D2-D6FA-4677-893F-58418B3076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BC0C04-342D-46B8-BBE7-56C46B0460AF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0D093C7-E4D3-45D0-B347-DFE76A327F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ED4B763-E520-4F60-8DC7-AC95465AB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5788F1-5F57-4C88-BA2E-9BE80888141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43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DC321-D72A-47BD-A876-D45DF28F222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777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F1D3AA-A55D-4C1D-9C40-1305BE27C14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51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7103F-1F6A-4C0E-8575-C7DF88D103A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276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711BA-C6CB-44B4-BCDE-7BE4C886812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115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AAEEB4-E242-45AE-8F53-ACDCD52ADDB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874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46EB9-C1A7-4E3C-A4CA-DF3934E7E6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00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0C370-33FF-440D-A792-6357CE5258B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7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CD03E1-3682-4D05-98AA-2B74B2EC6FB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048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815C96-C3AD-4D9B-95E0-DA088D1A759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344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78D96-3E0A-46DD-94EC-329362E6840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46537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78D96-3E0A-46DD-94EC-329362E6840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01209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81778D96-3E0A-46DD-94EC-329362E6840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34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C84E050-AABA-4157-9888-0C77D8D44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9568" y="260648"/>
            <a:ext cx="8424863" cy="8493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第二十章  组合存在性定理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0DFB2A1-6214-4D9C-AE71-7C386CD4E5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137525" cy="4708525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A50021"/>
                </a:solidFill>
              </a:rPr>
              <a:t>有限偏序集的分解定理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如最大链长度为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则偏序集最少可分解成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条不相交的反链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如最大反链长度为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，则偏序集最少可分解为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zh-CN" altLang="en-US" sz="2800" b="1" dirty="0">
                <a:latin typeface="Times New Roman" panose="02020603050405020304" pitchFamily="18" charset="0"/>
              </a:rPr>
              <a:t>条不相交的链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A50021"/>
                </a:solidFill>
              </a:rPr>
              <a:t>Ramsey</a:t>
            </a:r>
            <a:r>
              <a:rPr lang="zh-CN" altLang="en-US" sz="2800" b="1" dirty="0">
                <a:solidFill>
                  <a:srgbClr val="A50021"/>
                </a:solidFill>
              </a:rPr>
              <a:t>定理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鸽巢原理的推广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A50021"/>
                </a:solidFill>
              </a:rPr>
              <a:t>相异代表系存在定理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Hall</a:t>
            </a:r>
            <a:r>
              <a:rPr lang="zh-CN" altLang="en-US" sz="2800" b="1" dirty="0"/>
              <a:t>定理（完备匹配存在条件）的推广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985218C-AA63-4463-BA9B-8E151B4F9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Ramsey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定理主要内容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C6A8E6C-3A43-40EB-8EF6-F53B1F139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27952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</a:rPr>
              <a:t>鸽巢原理</a:t>
            </a:r>
          </a:p>
          <a:p>
            <a:pPr lvl="1" eaLnBrk="1" hangingPunct="1"/>
            <a:r>
              <a:rPr lang="zh-CN" altLang="en-US" b="1" dirty="0"/>
              <a:t>简单形式</a:t>
            </a:r>
          </a:p>
          <a:p>
            <a:pPr lvl="1" eaLnBrk="1" hangingPunct="1"/>
            <a:r>
              <a:rPr lang="zh-CN" altLang="en-US" b="1" dirty="0"/>
              <a:t>一般形式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Ramsey</a:t>
            </a:r>
            <a:r>
              <a:rPr lang="zh-CN" altLang="en-US" b="1" dirty="0">
                <a:solidFill>
                  <a:srgbClr val="C00000"/>
                </a:solidFill>
              </a:rPr>
              <a:t>定理</a:t>
            </a:r>
          </a:p>
          <a:p>
            <a:pPr lvl="1" eaLnBrk="1" hangingPunct="1"/>
            <a:r>
              <a:rPr lang="zh-CN" altLang="en-US" b="1" dirty="0"/>
              <a:t>简单形式</a:t>
            </a:r>
          </a:p>
          <a:p>
            <a:pPr lvl="1" eaLnBrk="1" hangingPunct="1"/>
            <a:r>
              <a:rPr lang="zh-CN" altLang="en-US" b="1" dirty="0"/>
              <a:t>小</a:t>
            </a:r>
            <a:r>
              <a:rPr lang="en-US" altLang="zh-CN" b="1" dirty="0"/>
              <a:t>Ramsey</a:t>
            </a:r>
            <a:r>
              <a:rPr lang="zh-CN" altLang="en-US" b="1" dirty="0"/>
              <a:t>数的相关结果</a:t>
            </a:r>
          </a:p>
          <a:p>
            <a:pPr lvl="1" eaLnBrk="1" hangingPunct="1"/>
            <a:r>
              <a:rPr lang="zh-CN" altLang="en-US" b="1" dirty="0"/>
              <a:t>一般形式</a:t>
            </a:r>
          </a:p>
          <a:p>
            <a:pPr lvl="1" eaLnBrk="1" hangingPunct="1"/>
            <a:r>
              <a:rPr lang="zh-CN" altLang="en-US" b="1" dirty="0"/>
              <a:t>关于</a:t>
            </a:r>
            <a:r>
              <a:rPr lang="en-US" altLang="zh-CN" b="1" dirty="0"/>
              <a:t>Ramsey</a:t>
            </a:r>
            <a:r>
              <a:rPr lang="zh-CN" altLang="en-US" b="1" dirty="0"/>
              <a:t>数的若干已知结果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A2D274C-E6C6-4685-8A7E-8C24AD3D9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鸽巢原理的简单形式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5573253-E432-4D82-B929-56876A2F26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229600" cy="1223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</a:rPr>
              <a:t>鸽巢原理</a:t>
            </a:r>
            <a:r>
              <a:rPr lang="zh-CN" altLang="en-US" sz="2800" b="1"/>
              <a:t>：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+1</a:t>
            </a:r>
            <a:r>
              <a:rPr lang="zh-CN" altLang="en-US" sz="2800" b="1">
                <a:latin typeface="Times New Roman" panose="02020603050405020304" pitchFamily="18" charset="0"/>
              </a:rPr>
              <a:t>个物体放到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</a:rPr>
              <a:t>个盒子里，则存在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一个盒子至少含有 </a:t>
            </a:r>
            <a:r>
              <a:rPr lang="en-US" altLang="zh-CN" sz="2800" b="1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个或者 </a:t>
            </a:r>
            <a:r>
              <a:rPr lang="en-US" altLang="zh-CN" sz="2800" b="1">
                <a:latin typeface="Times New Roman" panose="02020603050405020304" pitchFamily="18" charset="0"/>
              </a:rPr>
              <a:t>2 </a:t>
            </a:r>
            <a:r>
              <a:rPr lang="zh-CN" altLang="en-US" sz="2800" b="1">
                <a:latin typeface="Times New Roman" panose="02020603050405020304" pitchFamily="18" charset="0"/>
              </a:rPr>
              <a:t>个以上的物体</a:t>
            </a:r>
            <a:r>
              <a:rPr lang="en-US" altLang="zh-CN" sz="2800" b="1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369668" name="Picture 4">
            <a:extLst>
              <a:ext uri="{FF2B5EF4-FFF2-40B4-BE49-F238E27FC236}">
                <a16:creationId xmlns:a16="http://schemas.microsoft.com/office/drawing/2014/main" id="{CFBC0729-A7F4-4FC3-9758-5A921E7CC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064"/>
          <a:stretch>
            <a:fillRect/>
          </a:stretch>
        </p:blipFill>
        <p:spPr bwMode="auto">
          <a:xfrm>
            <a:off x="2411413" y="3644900"/>
            <a:ext cx="3240087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669" name="Rectangle 5">
            <a:extLst>
              <a:ext uri="{FF2B5EF4-FFF2-40B4-BE49-F238E27FC236}">
                <a16:creationId xmlns:a16="http://schemas.microsoft.com/office/drawing/2014/main" id="{673A92C6-8FE7-4F55-8CC4-ADDC8DA1C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08275"/>
            <a:ext cx="7920037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边长为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的正三角形中 </a:t>
            </a:r>
            <a:r>
              <a:rPr lang="en-US" altLang="zh-CN" sz="2800" b="1">
                <a:latin typeface="Times New Roman" panose="02020603050405020304" pitchFamily="18" charset="0"/>
              </a:rPr>
              <a:t>5</a:t>
            </a:r>
            <a:r>
              <a:rPr lang="zh-CN" altLang="en-US" sz="2800" b="1">
                <a:latin typeface="Times New Roman" panose="02020603050405020304" pitchFamily="18" charset="0"/>
              </a:rPr>
              <a:t>个点，则存在</a:t>
            </a: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</a:rPr>
              <a:t>个点距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离小于</a:t>
            </a:r>
            <a:r>
              <a:rPr lang="en-US" altLang="zh-CN" sz="2800" b="1">
                <a:latin typeface="Times New Roman" panose="02020603050405020304" pitchFamily="18" charset="0"/>
              </a:rPr>
              <a:t>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DABA9B5-83EB-47A7-BBF3-CF689CF83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鸽巢原理的简单形式</a:t>
            </a:r>
          </a:p>
        </p:txBody>
      </p:sp>
      <p:pic>
        <p:nvPicPr>
          <p:cNvPr id="371715" name="Picture 3">
            <a:extLst>
              <a:ext uri="{FF2B5EF4-FFF2-40B4-BE49-F238E27FC236}">
                <a16:creationId xmlns:a16="http://schemas.microsoft.com/office/drawing/2014/main" id="{42D4F643-A4BB-4581-88A8-ADB85EE3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91"/>
          <a:stretch>
            <a:fillRect/>
          </a:stretch>
        </p:blipFill>
        <p:spPr bwMode="auto">
          <a:xfrm>
            <a:off x="2627313" y="1989138"/>
            <a:ext cx="4103687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4">
            <a:extLst>
              <a:ext uri="{FF2B5EF4-FFF2-40B4-BE49-F238E27FC236}">
                <a16:creationId xmlns:a16="http://schemas.microsoft.com/office/drawing/2014/main" id="{D1D555F5-0EC9-45CE-9C59-3AC765B00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78470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9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的方格用黑、白两色涂色，则存在两列涂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色方案相同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1717" name="Rectangle 5">
            <a:extLst>
              <a:ext uri="{FF2B5EF4-FFF2-40B4-BE49-F238E27FC236}">
                <a16:creationId xmlns:a16="http://schemas.microsoft.com/office/drawing/2014/main" id="{AF12A4F5-6EBD-4612-8FAA-A1F3EED0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860800"/>
            <a:ext cx="8064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空间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个格点，证明所有两点连线的中点中有一个是格点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71718" name="Rectangle 6">
            <a:extLst>
              <a:ext uri="{FF2B5EF4-FFF2-40B4-BE49-F238E27FC236}">
                <a16:creationId xmlns:a16="http://schemas.microsoft.com/office/drawing/2014/main" id="{3F05385F-7509-4FD1-A3A8-FD018526B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013325"/>
            <a:ext cx="8064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证：（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）与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’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’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b="1">
                <a:sym typeface="Symbol" panose="05050102010706020507" pitchFamily="18" charset="2"/>
              </a:rPr>
              <a:t>’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的奇偶性相同，连线中点为格点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奇偶模式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种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7" grpId="0"/>
      <p:bldP spid="3717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CB4998F1-EED9-477F-B95A-315306719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</a:t>
            </a: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E2B67CC4-009C-40EB-9572-B149F6B04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1773238"/>
          <a:ext cx="2760663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公式" r:id="rId4" imgW="1104840" imgH="634680" progId="Equation.3">
                  <p:embed/>
                </p:oleObj>
              </mc:Choice>
              <mc:Fallback>
                <p:oleObj name="公式" r:id="rId4" imgW="1104840" imgH="634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73238"/>
                        <a:ext cx="2760663" cy="159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>
            <a:extLst>
              <a:ext uri="{FF2B5EF4-FFF2-40B4-BE49-F238E27FC236}">
                <a16:creationId xmlns:a16="http://schemas.microsoft.com/office/drawing/2014/main" id="{17EF02C3-3AC6-467F-B211-847AF1884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292600"/>
          <a:ext cx="247332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公式" r:id="rId6" imgW="1002960" imgH="685800" progId="Equation.3">
                  <p:embed/>
                </p:oleObj>
              </mc:Choice>
              <mc:Fallback>
                <p:oleObj name="公式" r:id="rId6" imgW="100296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292600"/>
                        <a:ext cx="2473325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>
            <a:extLst>
              <a:ext uri="{FF2B5EF4-FFF2-40B4-BE49-F238E27FC236}">
                <a16:creationId xmlns:a16="http://schemas.microsoft.com/office/drawing/2014/main" id="{F054ABEA-886D-43A3-94D0-D3AF4B928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6119812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b="1"/>
              <a:t>  </a:t>
            </a:r>
            <a:r>
              <a:rPr lang="zh-CN" altLang="en-US" sz="2800" b="1">
                <a:latin typeface="Times New Roman" panose="02020603050405020304" pitchFamily="18" charset="0"/>
              </a:rPr>
              <a:t>设有 </a:t>
            </a:r>
            <a:r>
              <a:rPr lang="en-US" altLang="zh-CN" sz="2800" b="1"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latin typeface="Times New Roman" panose="02020603050405020304" pitchFamily="18" charset="0"/>
              </a:rPr>
              <a:t>个</a:t>
            </a:r>
            <a:r>
              <a:rPr lang="en-US" altLang="zh-CN" sz="2800" b="1">
                <a:latin typeface="Times New Roman" panose="02020603050405020304" pitchFamily="18" charset="0"/>
              </a:rPr>
              <a:t>7 </a:t>
            </a:r>
            <a:r>
              <a:rPr lang="zh-CN" altLang="en-US" sz="2800" b="1">
                <a:latin typeface="Times New Roman" panose="02020603050405020304" pitchFamily="18" charset="0"/>
              </a:rPr>
              <a:t>位二进制数</a:t>
            </a:r>
            <a:endParaRPr lang="zh-CN" altLang="en-US" sz="2800">
              <a:latin typeface="Times New Roman" panose="02020603050405020304" pitchFamily="18" charset="0"/>
            </a:endParaRPr>
          </a:p>
          <a:p>
            <a:r>
              <a:rPr lang="zh-CN" altLang="en-US" b="1"/>
              <a:t>      </a:t>
            </a: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524F69D-8C78-41EB-89ED-15AAB96C7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429000"/>
            <a:ext cx="7848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证明存在整数 </a:t>
            </a:r>
            <a:r>
              <a:rPr lang="en-US" altLang="zh-CN" sz="2800" b="1" i="1">
                <a:latin typeface="Times New Roman" panose="02020603050405020304" pitchFamily="18" charset="0"/>
              </a:rPr>
              <a:t>i </a:t>
            </a:r>
            <a:r>
              <a:rPr lang="zh-CN" altLang="en-US" sz="2800" b="1">
                <a:latin typeface="Times New Roman" panose="02020603050405020304" pitchFamily="18" charset="0"/>
              </a:rPr>
              <a:t>和 </a:t>
            </a:r>
            <a:r>
              <a:rPr lang="en-US" altLang="zh-CN" sz="2800" b="1" i="1">
                <a:latin typeface="Times New Roman" panose="02020603050405020304" pitchFamily="18" charset="0"/>
              </a:rPr>
              <a:t>j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&lt;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j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 7, </a:t>
            </a:r>
            <a:r>
              <a:rPr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使得下列之一必然成立</a:t>
            </a:r>
            <a:r>
              <a:rPr lang="zh-CN" altLang="en-US" sz="4200" b="1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F82BDC5A-F2E4-4C41-A0DF-7E23FC9132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981075"/>
          <a:ext cx="8193088" cy="554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文档" r:id="rId4" imgW="4962963" imgH="3361113" progId="Word.Document.8">
                  <p:embed/>
                </p:oleObj>
              </mc:Choice>
              <mc:Fallback>
                <p:oleObj name="文档" r:id="rId4" imgW="4962963" imgH="336111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81075"/>
                        <a:ext cx="8193088" cy="554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5811" name="Group 3">
            <a:extLst>
              <a:ext uri="{FF2B5EF4-FFF2-40B4-BE49-F238E27FC236}">
                <a16:creationId xmlns:a16="http://schemas.microsoft.com/office/drawing/2014/main" id="{D9CB1597-970B-4D1F-A333-A56EAF01FCB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341438"/>
          <a:ext cx="3527425" cy="1403350"/>
        </p:xfrm>
        <a:graphic>
          <a:graphicData uri="http://schemas.openxmlformats.org/drawingml/2006/table">
            <a:tbl>
              <a:tblPr/>
              <a:tblGrid>
                <a:gridCol w="365125">
                  <a:extLst>
                    <a:ext uri="{9D8B030D-6E8A-4147-A177-3AD203B41FA5}">
                      <a16:colId xmlns:a16="http://schemas.microsoft.com/office/drawing/2014/main" val="2521236838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491072575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7930944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1490400088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1401404271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1457195322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3725926871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1602504452"/>
                    </a:ext>
                  </a:extLst>
                </a:gridCol>
              </a:tblGrid>
              <a:tr h="466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032703"/>
                  </a:ext>
                </a:extLst>
              </a:tr>
              <a:tr h="4699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95876"/>
                  </a:ext>
                </a:extLst>
              </a:tr>
              <a:tr h="466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61278"/>
                  </a:ext>
                </a:extLst>
              </a:tr>
            </a:tbl>
          </a:graphicData>
        </a:graphic>
      </p:graphicFrame>
      <p:sp>
        <p:nvSpPr>
          <p:cNvPr id="2089" name="Rectangle 41">
            <a:extLst>
              <a:ext uri="{FF2B5EF4-FFF2-40B4-BE49-F238E27FC236}">
                <a16:creationId xmlns:a16="http://schemas.microsoft.com/office/drawing/2014/main" id="{BA706B3A-50F9-4905-8FA1-BFDF633E6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应用实例（续）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B957482D-BC04-4887-B429-89DB002503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268413"/>
          <a:ext cx="7629525" cy="485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文档" r:id="rId4" imgW="4399260" imgH="2799066" progId="Word.Document.8">
                  <p:embed/>
                </p:oleObj>
              </mc:Choice>
              <mc:Fallback>
                <p:oleObj name="文档" r:id="rId4" imgW="4399260" imgH="279906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68413"/>
                        <a:ext cx="7629525" cy="485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3">
            <a:extLst>
              <a:ext uri="{FF2B5EF4-FFF2-40B4-BE49-F238E27FC236}">
                <a16:creationId xmlns:a16="http://schemas.microsoft.com/office/drawing/2014/main" id="{09C9A67A-7BDB-4D85-9D69-8935D25CA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175" y="260648"/>
            <a:ext cx="8229600" cy="7921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应用实例（续）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1DFC48C3-972A-498E-96BD-EA216C350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应用实例（续）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85B1FACF-0794-4201-A116-912609E5B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504950"/>
            <a:ext cx="7848600" cy="419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0" hangingPunct="0">
              <a:lnSpc>
                <a:spcPts val="3800"/>
              </a:lnSpc>
              <a:defRPr/>
            </a:pPr>
            <a:r>
              <a:rPr lang="zh-CN" sz="2600" b="1" dirty="0">
                <a:solidFill>
                  <a:srgbClr val="993300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600" b="1" dirty="0">
                <a:solidFill>
                  <a:srgbClr val="993300"/>
                </a:solidFill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个小于等于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的正整数中，必有两个数互素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600" dirty="0"/>
          </a:p>
          <a:p>
            <a:pPr eaLnBrk="0" hangingPunct="0">
              <a:lnSpc>
                <a:spcPts val="3800"/>
              </a:lnSpc>
              <a:spcBef>
                <a:spcPts val="1800"/>
              </a:spcBef>
              <a:defRPr/>
            </a:pP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证  相邻的数互素，若不然，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是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与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的公因子，且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1&lt;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那么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pq</a:t>
            </a:r>
            <a:r>
              <a:rPr lang="en-US" altLang="zh-CN" sz="2600" b="1" i="1" baseline="-30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,  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+1 = 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pq</a:t>
            </a:r>
            <a:r>
              <a:rPr lang="en-US" altLang="zh-CN" sz="2600" b="1" i="1" baseline="-30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600" b="1" i="1" baseline="-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,  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</a:rPr>
              <a:t>因此</a:t>
            </a:r>
            <a:endParaRPr lang="zh-CN" altLang="en-US" sz="2600" dirty="0"/>
          </a:p>
          <a:p>
            <a:pPr indent="304800" eaLnBrk="0" hangingPunct="0">
              <a:lnSpc>
                <a:spcPts val="38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pq</a:t>
            </a:r>
            <a:r>
              <a:rPr lang="en-US" altLang="zh-CN" sz="2600" b="1" i="1" baseline="-30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600" b="1" i="1" baseline="-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+1 = 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</a:rPr>
              <a:t>pq</a:t>
            </a:r>
            <a:r>
              <a:rPr lang="en-US" altLang="zh-CN" sz="2600" b="1" i="1" baseline="-30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600" b="1" i="1" baseline="-30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altLang="zh-CN" sz="2600" b="1" i="1" baseline="-30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j</a:t>
            </a:r>
            <a:r>
              <a:rPr lang="en-US" altLang="zh-CN" sz="2600" b="1" i="1" baseline="-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600" b="1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altLang="zh-CN" sz="2600" b="1" i="1" baseline="-30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=1,   </a:t>
            </a:r>
          </a:p>
          <a:p>
            <a:pPr eaLnBrk="0" hangingPunct="0">
              <a:lnSpc>
                <a:spcPts val="38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矛盾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</a:t>
            </a:r>
            <a:endParaRPr lang="en-US" altLang="zh-CN" sz="2600" dirty="0">
              <a:sym typeface="Symbol" pitchFamily="18" charset="2"/>
            </a:endParaRPr>
          </a:p>
          <a:p>
            <a:pPr eaLnBrk="0" hangingPunct="0">
              <a:lnSpc>
                <a:spcPts val="3800"/>
              </a:lnSpc>
              <a:defRPr/>
            </a:pP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构造 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 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个组：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{1,2}, {3,4}, … , {2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-1, 2</a:t>
            </a: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 </a:t>
            </a:r>
            <a:endParaRPr lang="en-US" altLang="zh-CN" sz="2600" dirty="0">
              <a:sym typeface="Symbol" pitchFamily="18" charset="2"/>
            </a:endParaRPr>
          </a:p>
          <a:p>
            <a:pPr eaLnBrk="0" hangingPunct="0">
              <a:lnSpc>
                <a:spcPts val="3800"/>
              </a:lnSpc>
              <a:defRPr/>
            </a:pPr>
            <a:r>
              <a:rPr lang="en-US" altLang="zh-CN" sz="2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+1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个数必有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个取自同一个组</a:t>
            </a:r>
            <a:r>
              <a:rPr lang="en-US" altLang="zh-CN" sz="2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A91F9DCA-7316-4FC2-ABB7-5029CB6C9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223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应用实例（续）</a:t>
            </a:r>
          </a:p>
        </p:txBody>
      </p:sp>
      <p:sp>
        <p:nvSpPr>
          <p:cNvPr id="4101" name="TextBox 9">
            <a:extLst>
              <a:ext uri="{FF2B5EF4-FFF2-40B4-BE49-F238E27FC236}">
                <a16:creationId xmlns:a16="http://schemas.microsoft.com/office/drawing/2014/main" id="{8579C3FD-4F07-4021-8B90-AEF3D799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975"/>
            <a:ext cx="828040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600"/>
              </a:lnSpc>
            </a:pPr>
            <a:r>
              <a:rPr lang="zh-CN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是正整数序列，则至少存在整数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使得和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的倍数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  <a:spcBef>
                <a:spcPts val="1800"/>
              </a:spcBef>
            </a:pP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证  设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除以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的余数为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1, 2, …,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，则命题得证；否则由鸽巢原理有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因此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被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整除。取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+1,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命题得证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/>
          </a:p>
        </p:txBody>
      </p:sp>
      <p:graphicFrame>
        <p:nvGraphicFramePr>
          <p:cNvPr id="4098" name="Object 11">
            <a:extLst>
              <a:ext uri="{FF2B5EF4-FFF2-40B4-BE49-F238E27FC236}">
                <a16:creationId xmlns:a16="http://schemas.microsoft.com/office/drawing/2014/main" id="{C78411E3-1D10-4162-9F2C-EFE49DE885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628775"/>
          <a:ext cx="2832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公式" r:id="rId4" imgW="1066337" imgH="203112" progId="Equation.3">
                  <p:embed/>
                </p:oleObj>
              </mc:Choice>
              <mc:Fallback>
                <p:oleObj name="公式" r:id="rId4" imgW="1066337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628775"/>
                        <a:ext cx="28321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0">
            <a:extLst>
              <a:ext uri="{FF2B5EF4-FFF2-40B4-BE49-F238E27FC236}">
                <a16:creationId xmlns:a16="http://schemas.microsoft.com/office/drawing/2014/main" id="{019F4A8C-75A0-4969-82FA-5E7EC75879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565400"/>
          <a:ext cx="2808287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公式" r:id="rId6" imgW="1155700" imgH="838200" progId="Equation.3">
                  <p:embed/>
                </p:oleObj>
              </mc:Choice>
              <mc:Fallback>
                <p:oleObj name="公式" r:id="rId6" imgW="1155700" imgH="838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65400"/>
                        <a:ext cx="2808287" cy="196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BB1D8D94-F226-46F3-B214-CA8942834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196975"/>
          <a:ext cx="7837487" cy="529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文档" r:id="rId4" imgW="4244286" imgH="2876143" progId="Word.Document.8">
                  <p:embed/>
                </p:oleObj>
              </mc:Choice>
              <mc:Fallback>
                <p:oleObj name="文档" r:id="rId4" imgW="4244286" imgH="287614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96975"/>
                        <a:ext cx="7837487" cy="529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3">
            <a:extLst>
              <a:ext uri="{FF2B5EF4-FFF2-40B4-BE49-F238E27FC236}">
                <a16:creationId xmlns:a16="http://schemas.microsoft.com/office/drawing/2014/main" id="{BB20E140-2F55-47C0-83C4-DD52B50A5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应用实例（续）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D466F0E-1608-48E2-8972-27FBA68B0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鸽巢原理的一般形式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89FB6BD-9B4E-427B-AFB7-8888C76AE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87450"/>
            <a:ext cx="76327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588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鸽巢原理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设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是给定正整数，若把 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+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</a:rPr>
              <a:t>+ 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+1</a:t>
            </a:r>
            <a:r>
              <a:rPr lang="zh-CN" altLang="en-US" sz="2400" b="1">
                <a:latin typeface="Times New Roman" panose="02020603050405020304" pitchFamily="18" charset="0"/>
              </a:rPr>
              <a:t>个物体放入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个盒子里，则或第一个盒子至少包含了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个物体，或者第二个盒子至少包含了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个物体，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或者第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个盒子至少包含了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个物体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86052" name="Rectangle 4">
            <a:extLst>
              <a:ext uri="{FF2B5EF4-FFF2-40B4-BE49-F238E27FC236}">
                <a16:creationId xmlns:a16="http://schemas.microsoft.com/office/drawing/2014/main" id="{C343F4DA-AD75-4C5C-8A0F-91FFD9C66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41663"/>
            <a:ext cx="76327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588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说明</a:t>
            </a:r>
            <a:r>
              <a:rPr lang="zh-CN" altLang="en-US" sz="2400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buFontTx/>
              <a:buChar char="•"/>
            </a:pP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</a:rPr>
              <a:t>证明用反证法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400" b="1">
                <a:latin typeface="Times New Roman" panose="02020603050405020304" pitchFamily="18" charset="0"/>
              </a:rPr>
              <a:t>  这是存在这种配置的最小个数</a:t>
            </a:r>
          </a:p>
          <a:p>
            <a:pPr eaLnBrk="1" hangingPunct="1">
              <a:buFontTx/>
              <a:buChar char="•"/>
            </a:pPr>
            <a:r>
              <a:rPr lang="zh-CN" altLang="en-US" sz="2400" b="1">
                <a:latin typeface="Times New Roman" panose="02020603050405020304" pitchFamily="18" charset="0"/>
              </a:rPr>
              <a:t>  令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=2, </a:t>
            </a:r>
            <a:r>
              <a:rPr lang="zh-CN" altLang="en-US" sz="2400" b="1">
                <a:latin typeface="Times New Roman" panose="02020603050405020304" pitchFamily="18" charset="0"/>
              </a:rPr>
              <a:t>则变成简单形式</a:t>
            </a:r>
          </a:p>
        </p:txBody>
      </p:sp>
      <p:sp>
        <p:nvSpPr>
          <p:cNvPr id="386053" name="Rectangle 5">
            <a:extLst>
              <a:ext uri="{FF2B5EF4-FFF2-40B4-BE49-F238E27FC236}">
                <a16:creationId xmlns:a16="http://schemas.microsoft.com/office/drawing/2014/main" id="{E5F8F5B7-3472-431E-9083-CA45AA539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941888"/>
            <a:ext cx="76327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588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推论  </a:t>
            </a:r>
            <a:r>
              <a:rPr lang="zh-CN" altLang="en-US" sz="2400" b="1">
                <a:latin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1)+1</a:t>
            </a:r>
            <a:r>
              <a:rPr lang="zh-CN" altLang="en-US" sz="2400" b="1">
                <a:latin typeface="Times New Roman" panose="02020603050405020304" pitchFamily="18" charset="0"/>
              </a:rPr>
              <a:t>个物体放到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个盒子里，则存在一个盒子至少包含了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个物体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</a:rPr>
              <a:t>令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q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即可</a:t>
            </a:r>
            <a:r>
              <a:rPr lang="en-US" altLang="zh-CN" sz="2400">
                <a:latin typeface="Times New Roman" panose="02020603050405020304" pitchFamily="18" charset="0"/>
              </a:rPr>
              <a:t>. 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2" grpId="0"/>
      <p:bldP spid="3860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4B8F2AD8-D279-4CAB-98AE-D492B7E15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鸽巢原理的算术平均形式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B8CA665-9FAD-4F70-806E-128E21E11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027238"/>
            <a:ext cx="799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11096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 sz="2400">
              <a:latin typeface="Times New Roman" panose="02020603050405020304" pitchFamily="18" charset="0"/>
            </a:endParaRPr>
          </a:p>
        </p:txBody>
      </p:sp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383F7C0D-ECC0-4E9B-ABC6-29D5911DA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844675"/>
          <a:ext cx="324008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公式" r:id="rId4" imgW="1511300" imgH="368300" progId="Equation.3">
                  <p:embed/>
                </p:oleObj>
              </mc:Choice>
              <mc:Fallback>
                <p:oleObj name="公式" r:id="rId4" imgW="1511300" imgH="36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844675"/>
                        <a:ext cx="3240087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1" name="Rectangle 5">
            <a:extLst>
              <a:ext uri="{FF2B5EF4-FFF2-40B4-BE49-F238E27FC236}">
                <a16:creationId xmlns:a16="http://schemas.microsoft.com/office/drawing/2014/main" id="{188031ED-1B6B-4F33-9304-98787479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429000"/>
            <a:ext cx="7559675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证：令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…,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是放入盒子的物体数，则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 … +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&gt; 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1)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 … +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1)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+1 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25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满足鸽巢原理条件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9BDD6B4F-7BA7-4FA8-8655-4CF9757FF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68413"/>
            <a:ext cx="7777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solidFill>
                  <a:srgbClr val="000000"/>
                </a:solidFill>
              </a:rPr>
              <a:t>…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个正整数，如果它们的算术平均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BE240F-570E-4A1C-ABE2-AF523D56C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611438"/>
            <a:ext cx="2195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则存在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C9B7B72F-9817-4458-9A4F-37D0E07DF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288" y="1268413"/>
          <a:ext cx="7489825" cy="499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文档" r:id="rId4" imgW="3426738" imgH="2276362" progId="Word.Document.8">
                  <p:embed/>
                </p:oleObj>
              </mc:Choice>
              <mc:Fallback>
                <p:oleObj name="文档" r:id="rId4" imgW="3426738" imgH="227636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1268413"/>
                        <a:ext cx="7489825" cy="499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Rectangle 3">
            <a:extLst>
              <a:ext uri="{FF2B5EF4-FFF2-40B4-BE49-F238E27FC236}">
                <a16:creationId xmlns:a16="http://schemas.microsoft.com/office/drawing/2014/main" id="{EE5985BB-5FA3-43B4-9CBB-3BA3256CE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15888"/>
            <a:ext cx="7772400" cy="8651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顶函数与底函数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61526E13-CB1C-4603-9BE1-8035B0AFC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鸽巢原理的函数形式</a:t>
            </a:r>
          </a:p>
        </p:txBody>
      </p:sp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id="{0A27B590-8414-4771-88EB-2DEC9B654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2133600"/>
          <a:ext cx="43211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公式" r:id="rId4" imgW="1790700" imgH="228600" progId="Equation.3">
                  <p:embed/>
                </p:oleObj>
              </mc:Choice>
              <mc:Fallback>
                <p:oleObj name="公式" r:id="rId4" imgW="17907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133600"/>
                        <a:ext cx="4321175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4">
            <a:extLst>
              <a:ext uri="{FF2B5EF4-FFF2-40B4-BE49-F238E27FC236}">
                <a16:creationId xmlns:a16="http://schemas.microsoft.com/office/drawing/2014/main" id="{46A24BFB-C8F6-4774-870A-20BF75FC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25538"/>
            <a:ext cx="770413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|=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|=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则存在至少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个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元素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en-US" altLang="zh-CN" sz="2400" b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endParaRPr lang="zh-CN" altLang="en-US" sz="2400" b="1" baseline="-3000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730B9737-710F-421A-B242-5FB4611D4598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892425"/>
            <a:ext cx="7488237" cy="2578100"/>
            <a:chOff x="521" y="1822"/>
            <a:chExt cx="4717" cy="1624"/>
          </a:xfrm>
        </p:grpSpPr>
        <p:graphicFrame>
          <p:nvGraphicFramePr>
            <p:cNvPr id="8195" name="Object 6">
              <a:extLst>
                <a:ext uri="{FF2B5EF4-FFF2-40B4-BE49-F238E27FC236}">
                  <a16:creationId xmlns:a16="http://schemas.microsoft.com/office/drawing/2014/main" id="{A449F5B7-79E5-4395-B118-3070C1EB00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7" y="2568"/>
            <a:ext cx="2676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Microsoft 公式 3.0" r:id="rId6" imgW="1993035" imgH="406224" progId="Equation.3">
                    <p:embed/>
                  </p:oleObj>
                </mc:Choice>
                <mc:Fallback>
                  <p:oleObj name="Microsoft 公式 3.0" r:id="rId6" imgW="1993035" imgH="40622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568"/>
                          <a:ext cx="2676" cy="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9" name="Rectangle 7">
              <a:extLst>
                <a:ext uri="{FF2B5EF4-FFF2-40B4-BE49-F238E27FC236}">
                  <a16:creationId xmlns:a16="http://schemas.microsoft.com/office/drawing/2014/main" id="{B6D27811-44C6-461E-BF77-939D1841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822"/>
              <a:ext cx="4717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 b="1">
                  <a:latin typeface="Times New Roman" panose="02020603050405020304" pitchFamily="18" charset="0"/>
                </a:rPr>
                <a:t>证：令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B </a:t>
              </a:r>
              <a:r>
                <a:rPr lang="en-US" altLang="zh-CN" sz="2400" b="1">
                  <a:latin typeface="Times New Roman" panose="02020603050405020304" pitchFamily="18" charset="0"/>
                </a:rPr>
                <a:t>= {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300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baseline="-30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, …,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3000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</a:rPr>
                <a:t>},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i="1" baseline="-30000">
                  <a:latin typeface="Times New Roman" panose="02020603050405020304" pitchFamily="18" charset="0"/>
                </a:rPr>
                <a:t>i </a:t>
              </a:r>
              <a:r>
                <a:rPr lang="zh-CN" altLang="en-US" sz="2400" b="1">
                  <a:latin typeface="Times New Roman" panose="02020603050405020304" pitchFamily="18" charset="0"/>
                </a:rPr>
                <a:t>表示函数值为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="1" i="1" baseline="-30000">
                  <a:latin typeface="Times New Roman" panose="02020603050405020304" pitchFamily="18" charset="0"/>
                </a:rPr>
                <a:t>i 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的自变量个数，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</a:rPr>
                <a:t>=1, 2, … ,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</a:rPr>
                <a:t>. </a:t>
              </a:r>
              <a:r>
                <a:rPr lang="en-US" altLang="zh-CN" sz="2400" b="1"/>
                <a:t>          </a:t>
              </a:r>
              <a:endParaRPr lang="en-US" altLang="zh-CN" sz="2400"/>
            </a:p>
          </p:txBody>
        </p:sp>
        <p:sp>
          <p:nvSpPr>
            <p:cNvPr id="8200" name="Rectangle 8">
              <a:extLst>
                <a:ext uri="{FF2B5EF4-FFF2-40B4-BE49-F238E27FC236}">
                  <a16:creationId xmlns:a16="http://schemas.microsoft.com/office/drawing/2014/main" id="{D71FADA4-F24C-409A-9EB2-2CEC37F2D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" y="3158"/>
              <a:ext cx="19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必存在某个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i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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/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</a:t>
              </a:r>
              <a:r>
                <a:rPr lang="en-US" altLang="zh-CN" sz="2400" b="1">
                  <a:latin typeface="Times New Roman" panose="02020603050405020304" pitchFamily="18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Rectangle 2">
            <a:extLst>
              <a:ext uri="{FF2B5EF4-FFF2-40B4-BE49-F238E27FC236}">
                <a16:creationId xmlns:a16="http://schemas.microsoft.com/office/drawing/2014/main" id="{53236650-ABAC-4E20-A84C-139776D72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鸽巢原理应用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1766C8CF-23FE-47B3-A825-8F806C4EF932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933825"/>
            <a:ext cx="6792912" cy="987425"/>
            <a:chOff x="476" y="2523"/>
            <a:chExt cx="4279" cy="622"/>
          </a:xfrm>
        </p:grpSpPr>
        <p:graphicFrame>
          <p:nvGraphicFramePr>
            <p:cNvPr id="9223" name="Object 4">
              <a:extLst>
                <a:ext uri="{FF2B5EF4-FFF2-40B4-BE49-F238E27FC236}">
                  <a16:creationId xmlns:a16="http://schemas.microsoft.com/office/drawing/2014/main" id="{18C11869-8C88-4996-BE33-13CD5F59FB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2" y="2840"/>
            <a:ext cx="208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4" name="公式" r:id="rId4" imgW="1549400" imgH="228600" progId="Equation.3">
                    <p:embed/>
                  </p:oleObj>
                </mc:Choice>
                <mc:Fallback>
                  <p:oleObj name="公式" r:id="rId4" imgW="15494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2840"/>
                          <a:ext cx="2087" cy="3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7" name="Rectangle 5">
              <a:extLst>
                <a:ext uri="{FF2B5EF4-FFF2-40B4-BE49-F238E27FC236}">
                  <a16:creationId xmlns:a16="http://schemas.microsoft.com/office/drawing/2014/main" id="{52005249-2B78-4BE8-80B3-101E547E3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523"/>
              <a:ext cx="42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必存在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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 baseline="30000"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+1)/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</a:t>
              </a: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+1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个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sz="2400" b="1" i="1" baseline="-30000">
                  <a:latin typeface="Times New Roman" panose="02020603050405020304" pitchFamily="18" charset="0"/>
                  <a:sym typeface="Symbol" panose="05050102010706020507" pitchFamily="18" charset="2"/>
                </a:rPr>
                <a:t>k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取值相等，都等于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lang="en-US" altLang="zh-CN" sz="1200" b="1">
                  <a:latin typeface="Times New Roman" panose="02020603050405020304" pitchFamily="18" charset="0"/>
                  <a:sym typeface="Symbol" panose="05050102010706020507" pitchFamily="18" charset="2"/>
                </a:rPr>
                <a:t>           </a:t>
              </a: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3BCA1EA9-723F-4716-B8E1-65BDC85B00CA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5013325"/>
            <a:ext cx="8048625" cy="1130300"/>
            <a:chOff x="476" y="3470"/>
            <a:chExt cx="5070" cy="712"/>
          </a:xfrm>
        </p:grpSpPr>
        <p:graphicFrame>
          <p:nvGraphicFramePr>
            <p:cNvPr id="9221" name="Object 7">
              <a:extLst>
                <a:ext uri="{FF2B5EF4-FFF2-40B4-BE49-F238E27FC236}">
                  <a16:creationId xmlns:a16="http://schemas.microsoft.com/office/drawing/2014/main" id="{0608ACAB-6E92-4B57-A20A-EA7EDB8B7E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8" y="3470"/>
            <a:ext cx="86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5" name="公式" r:id="rId6" imgW="622030" imgH="228501" progId="Equation.3">
                    <p:embed/>
                  </p:oleObj>
                </mc:Choice>
                <mc:Fallback>
                  <p:oleObj name="公式" r:id="rId6" imgW="622030" imgH="228501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470"/>
                          <a:ext cx="862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8">
              <a:extLst>
                <a:ext uri="{FF2B5EF4-FFF2-40B4-BE49-F238E27FC236}">
                  <a16:creationId xmlns:a16="http://schemas.microsoft.com/office/drawing/2014/main" id="{C640BBA1-BD9B-48F3-BD82-6E766876B0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1" y="3884"/>
            <a:ext cx="1633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6" name="公式" r:id="rId8" imgW="1219200" imgH="228600" progId="Equation.3">
                    <p:embed/>
                  </p:oleObj>
                </mc:Choice>
                <mc:Fallback>
                  <p:oleObj name="公式" r:id="rId8" imgW="121920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884"/>
                          <a:ext cx="1633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4" name="Rectangle 9">
              <a:extLst>
                <a:ext uri="{FF2B5EF4-FFF2-40B4-BE49-F238E27FC236}">
                  <a16:creationId xmlns:a16="http://schemas.microsoft.com/office/drawing/2014/main" id="{ED17AC3D-25BE-42FD-8D2D-945DCC865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475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若</a:t>
              </a:r>
              <a:endParaRPr lang="zh-CN" altLang="en-US" sz="2400"/>
            </a:p>
          </p:txBody>
        </p:sp>
        <p:sp>
          <p:nvSpPr>
            <p:cNvPr id="9235" name="Rectangle 10">
              <a:extLst>
                <a:ext uri="{FF2B5EF4-FFF2-40B4-BE49-F238E27FC236}">
                  <a16:creationId xmlns:a16="http://schemas.microsoft.com/office/drawing/2014/main" id="{1D131459-07FB-4454-8B3B-033084524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473"/>
              <a:ext cx="3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则从前者开始的递增子序列长度为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l</a:t>
              </a:r>
              <a:r>
                <a:rPr lang="en-US" altLang="zh-CN" sz="2400" b="1">
                  <a:latin typeface="Times New Roman" panose="02020603050405020304" pitchFamily="18" charset="0"/>
                </a:rPr>
                <a:t>+1</a:t>
              </a:r>
              <a:r>
                <a:rPr lang="en-US" altLang="zh-CN" sz="2400" b="1"/>
                <a:t>, </a:t>
              </a:r>
              <a:r>
                <a:rPr lang="zh-CN" altLang="en-US" sz="2400" b="1">
                  <a:latin typeface="Times New Roman" panose="02020603050405020304" pitchFamily="18" charset="0"/>
                </a:rPr>
                <a:t>矛盾</a:t>
              </a:r>
              <a:r>
                <a:rPr lang="en-US" altLang="zh-CN" sz="2400" b="1">
                  <a:latin typeface="Times New Roman" panose="02020603050405020304" pitchFamily="18" charset="0"/>
                </a:rPr>
                <a:t>. </a:t>
              </a:r>
              <a:endParaRPr lang="en-US" altLang="zh-CN"/>
            </a:p>
          </p:txBody>
        </p:sp>
        <p:sp>
          <p:nvSpPr>
            <p:cNvPr id="9236" name="Rectangle 11">
              <a:extLst>
                <a:ext uri="{FF2B5EF4-FFF2-40B4-BE49-F238E27FC236}">
                  <a16:creationId xmlns:a16="http://schemas.microsoft.com/office/drawing/2014/main" id="{326D6B17-8F79-4A36-9234-5FBD62C76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884"/>
              <a:ext cx="22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是长为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</a:rPr>
                <a:t>+1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的递减子序列</a:t>
              </a:r>
              <a:r>
                <a:rPr lang="en-US" altLang="zh-CN" sz="2400" b="1">
                  <a:latin typeface="Times New Roman" panose="02020603050405020304" pitchFamily="18" charset="0"/>
                </a:rPr>
                <a:t>.</a:t>
              </a:r>
              <a:endParaRPr lang="en-US" altLang="zh-CN" sz="240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33A475A7-ACBE-431E-8C16-86F2A2DE8A5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420938"/>
            <a:ext cx="7639050" cy="1454150"/>
            <a:chOff x="476" y="1525"/>
            <a:chExt cx="4812" cy="916"/>
          </a:xfrm>
        </p:grpSpPr>
        <p:graphicFrame>
          <p:nvGraphicFramePr>
            <p:cNvPr id="9220" name="Object 13">
              <a:extLst>
                <a:ext uri="{FF2B5EF4-FFF2-40B4-BE49-F238E27FC236}">
                  <a16:creationId xmlns:a16="http://schemas.microsoft.com/office/drawing/2014/main" id="{AB330ED7-1B96-406E-BECC-C7B6D1F2EF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11" y="2069"/>
            <a:ext cx="2812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7" name="公式" r:id="rId10" imgW="1752600" imgH="228600" progId="Equation.3">
                    <p:embed/>
                  </p:oleObj>
                </mc:Choice>
                <mc:Fallback>
                  <p:oleObj name="公式" r:id="rId10" imgW="17526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069"/>
                          <a:ext cx="2812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3" name="Rectangle 14">
              <a:extLst>
                <a:ext uri="{FF2B5EF4-FFF2-40B4-BE49-F238E27FC236}">
                  <a16:creationId xmlns:a16="http://schemas.microsoft.com/office/drawing/2014/main" id="{6F014A08-9C72-481E-996A-24B3B5E40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525"/>
              <a:ext cx="48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>
                  <a:latin typeface="Times New Roman" panose="02020603050405020304" pitchFamily="18" charset="0"/>
                </a:rPr>
                <a:t>证   假设没有长为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</a:rPr>
                <a:t>+1</a:t>
              </a:r>
              <a:r>
                <a:rPr lang="zh-CN" altLang="en-US" sz="2400" b="1">
                  <a:latin typeface="Times New Roman" panose="02020603050405020304" pitchFamily="18" charset="0"/>
                </a:rPr>
                <a:t>的递增子序列，设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i="1" baseline="-30000">
                  <a:latin typeface="Times New Roman" panose="02020603050405020304" pitchFamily="18" charset="0"/>
                </a:rPr>
                <a:t>k </a:t>
              </a:r>
              <a:r>
                <a:rPr lang="zh-CN" altLang="en-US" sz="2400" b="1">
                  <a:latin typeface="Times New Roman" panose="02020603050405020304" pitchFamily="18" charset="0"/>
                </a:rPr>
                <a:t>表示从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i="1" baseline="-30000"/>
                <a:t>k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开</a:t>
              </a:r>
            </a:p>
            <a:p>
              <a:r>
                <a:rPr lang="zh-CN" altLang="en-US" sz="2400" b="1">
                  <a:latin typeface="Times New Roman" panose="02020603050405020304" pitchFamily="18" charset="0"/>
                </a:rPr>
                <a:t>始的最长递增子序列长度，则</a:t>
              </a:r>
              <a:endParaRPr lang="zh-CN" altLang="en-US" sz="2400"/>
            </a:p>
          </p:txBody>
        </p:sp>
      </p:grpSp>
      <p:grpSp>
        <p:nvGrpSpPr>
          <p:cNvPr id="9228" name="Group 15">
            <a:extLst>
              <a:ext uri="{FF2B5EF4-FFF2-40B4-BE49-F238E27FC236}">
                <a16:creationId xmlns:a16="http://schemas.microsoft.com/office/drawing/2014/main" id="{7C67E4D4-8CD8-4B31-A330-563E8B8F7411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981075"/>
            <a:ext cx="8137525" cy="1062038"/>
            <a:chOff x="476" y="981"/>
            <a:chExt cx="5126" cy="669"/>
          </a:xfrm>
        </p:grpSpPr>
        <p:graphicFrame>
          <p:nvGraphicFramePr>
            <p:cNvPr id="9218" name="Object 16">
              <a:extLst>
                <a:ext uri="{FF2B5EF4-FFF2-40B4-BE49-F238E27FC236}">
                  <a16:creationId xmlns:a16="http://schemas.microsoft.com/office/drawing/2014/main" id="{8746A63F-5D4E-4EE6-A667-EDA505507E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" y="981"/>
            <a:ext cx="113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8" name="公式" r:id="rId12" imgW="812520" imgH="228600" progId="Equation.3">
                    <p:embed/>
                  </p:oleObj>
                </mc:Choice>
                <mc:Fallback>
                  <p:oleObj name="公式" r:id="rId12" imgW="812520" imgH="2286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981"/>
                          <a:ext cx="1134" cy="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" name="Object 17">
              <a:extLst>
                <a:ext uri="{FF2B5EF4-FFF2-40B4-BE49-F238E27FC236}">
                  <a16:creationId xmlns:a16="http://schemas.microsoft.com/office/drawing/2014/main" id="{E806EA18-CA9B-4813-9FD7-D71814CB27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6" y="1298"/>
            <a:ext cx="145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9" name="公式" r:id="rId14" imgW="939800" imgH="228600" progId="Equation.3">
                    <p:embed/>
                  </p:oleObj>
                </mc:Choice>
                <mc:Fallback>
                  <p:oleObj name="公式" r:id="rId14" imgW="9398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1298"/>
                          <a:ext cx="1452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9" name="Rectangle 18">
              <a:extLst>
                <a:ext uri="{FF2B5EF4-FFF2-40B4-BE49-F238E27FC236}">
                  <a16:creationId xmlns:a16="http://schemas.microsoft.com/office/drawing/2014/main" id="{5DAE77E6-5507-4BBC-B9D1-08A0BD491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014"/>
              <a:ext cx="5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993300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 sz="2400" b="1">
                  <a:solidFill>
                    <a:srgbClr val="993300"/>
                  </a:solidFill>
                  <a:latin typeface="Times New Roman" panose="02020603050405020304" pitchFamily="18" charset="0"/>
                </a:rPr>
                <a:t>9 </a:t>
              </a:r>
              <a:r>
                <a:rPr lang="en-US" altLang="zh-CN" sz="2400" b="1">
                  <a:solidFill>
                    <a:schemeClr val="tx2"/>
                  </a:solidFill>
                </a:rPr>
                <a:t> </a:t>
              </a:r>
              <a:endParaRPr lang="en-US" altLang="zh-CN" sz="2400"/>
            </a:p>
          </p:txBody>
        </p:sp>
        <p:sp>
          <p:nvSpPr>
            <p:cNvPr id="9230" name="Rectangle 19">
              <a:extLst>
                <a:ext uri="{FF2B5EF4-FFF2-40B4-BE49-F238E27FC236}">
                  <a16:creationId xmlns:a16="http://schemas.microsoft.com/office/drawing/2014/main" id="{BA951ABC-CAE7-42E6-9059-28D6C8633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1010"/>
              <a:ext cx="34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是实数序列，证明可以选出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</a:rPr>
                <a:t>+1</a:t>
              </a:r>
              <a:r>
                <a:rPr lang="zh-CN" altLang="en-US" sz="2400" b="1">
                  <a:latin typeface="Times New Roman" panose="02020603050405020304" pitchFamily="18" charset="0"/>
                </a:rPr>
                <a:t>个数的</a:t>
              </a:r>
            </a:p>
          </p:txBody>
        </p:sp>
        <p:sp>
          <p:nvSpPr>
            <p:cNvPr id="9231" name="Rectangle 20">
              <a:extLst>
                <a:ext uri="{FF2B5EF4-FFF2-40B4-BE49-F238E27FC236}">
                  <a16:creationId xmlns:a16="http://schemas.microsoft.com/office/drawing/2014/main" id="{440518CB-91EC-4D2B-BA13-740DD7DAD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344"/>
              <a:ext cx="7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子序列 </a:t>
              </a:r>
            </a:p>
          </p:txBody>
        </p:sp>
        <p:sp>
          <p:nvSpPr>
            <p:cNvPr id="9232" name="Rectangle 21">
              <a:extLst>
                <a:ext uri="{FF2B5EF4-FFF2-40B4-BE49-F238E27FC236}">
                  <a16:creationId xmlns:a16="http://schemas.microsoft.com/office/drawing/2014/main" id="{4D5650B6-02BF-447A-A205-61F5CF7EA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1344"/>
              <a:ext cx="30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latin typeface="Times New Roman" panose="02020603050405020304" pitchFamily="18" charset="0"/>
                </a:rPr>
                <a:t>使得其为递增子序列或递减子序列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3594</TotalTime>
  <Words>999</Words>
  <Application>Microsoft Office PowerPoint</Application>
  <PresentationFormat>全屏显示(4:3)</PresentationFormat>
  <Paragraphs>119</Paragraphs>
  <Slides>15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Calibri</vt:lpstr>
      <vt:lpstr>Times New Roman</vt:lpstr>
      <vt:lpstr>Wingdings</vt:lpstr>
      <vt:lpstr>Symbol</vt:lpstr>
      <vt:lpstr>Verdana</vt:lpstr>
      <vt:lpstr>代数结构PPT</vt:lpstr>
      <vt:lpstr>Microsoft 公式 3.0</vt:lpstr>
      <vt:lpstr>Microsoft Word 文档</vt:lpstr>
      <vt:lpstr>第二十章  组合存在性定理</vt:lpstr>
      <vt:lpstr>Ramsey定理主要内容</vt:lpstr>
      <vt:lpstr>鸽巢原理的简单形式</vt:lpstr>
      <vt:lpstr>鸽巢原理的简单形式</vt:lpstr>
      <vt:lpstr>应用实例</vt:lpstr>
      <vt:lpstr>应用实例（续）</vt:lpstr>
      <vt:lpstr>应用实例（续）</vt:lpstr>
      <vt:lpstr>应用实例（续）</vt:lpstr>
      <vt:lpstr>应用实例（续）</vt:lpstr>
      <vt:lpstr>应用实例（续）</vt:lpstr>
      <vt:lpstr>鸽巢原理的一般形式</vt:lpstr>
      <vt:lpstr>鸽巢原理的算术平均形式</vt:lpstr>
      <vt:lpstr>顶函数与底函数</vt:lpstr>
      <vt:lpstr>鸽巢原理的函数形式</vt:lpstr>
      <vt:lpstr>鸽巢原理应用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325</cp:revision>
  <dcterms:created xsi:type="dcterms:W3CDTF">2005-12-02T07:25:32Z</dcterms:created>
  <dcterms:modified xsi:type="dcterms:W3CDTF">2020-07-30T05:35:52Z</dcterms:modified>
</cp:coreProperties>
</file>