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6"/>
  </p:notesMasterIdLst>
  <p:sldIdLst>
    <p:sldId id="318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5" r:id="rId18"/>
    <p:sldId id="336" r:id="rId19"/>
    <p:sldId id="337" r:id="rId20"/>
    <p:sldId id="338" r:id="rId21"/>
    <p:sldId id="339" r:id="rId22"/>
    <p:sldId id="340" r:id="rId23"/>
    <p:sldId id="341" r:id="rId24"/>
    <p:sldId id="342" r:id="rId25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2157" autoAdjust="0"/>
  </p:normalViewPr>
  <p:slideViewPr>
    <p:cSldViewPr>
      <p:cViewPr>
        <p:scale>
          <a:sx n="60" d="100"/>
          <a:sy n="60" d="100"/>
        </p:scale>
        <p:origin x="1877" y="4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E5D2158-4FF0-4E29-87C1-B359328217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1A0A85-41A1-48B1-BC8E-2310DB13AD3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99F8A2C9-4CBE-4D4E-BA59-45C38E731D58}" type="datetimeFigureOut">
              <a:rPr lang="zh-CN" altLang="en-US"/>
              <a:pPr>
                <a:defRPr/>
              </a:pPr>
              <a:t>2020/7/20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122F0746-8A74-403B-AE09-030851A0B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22A82F8A-9CEB-423E-AE4A-F326BC1CC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61A1F5-6D29-4561-B75B-72EADA296E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85B8B-A0D7-4F3C-AA69-3E3146FC2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5F3F993-2738-4AA9-83B5-DD38837A0D2E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C02AD9DC-D051-498C-989E-73224AB909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BE2DD18-5D02-4E2F-BE9F-BD32F831FC48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BD557116-9DFA-42E3-9C59-09CBEFED405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824962F0-D0A5-47B0-8A78-A923A57B60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FB17FC8-0172-4666-A25C-8BD9E01C56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F0F706-EE1B-43C6-9BA2-F097FEF4FAC2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54AC076-7B22-4465-AEA9-B5208396FD2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DFB96714-DFEB-4A53-B234-1C26E72ED6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D192CB28-8039-4069-910D-BAE577570C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F76920-4EFF-46B5-8E66-25E19F844C0E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41109FDB-BA3A-47A9-8AAA-F9D648ABE99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5F529452-1246-4529-B1B6-69436782C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8E675720-8A39-4E39-BC34-AD4377ED04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41BC390-EA38-4DAF-86BB-C39E0719492D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AD784A8-A198-43FE-927B-69BFA5F1B11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14944F12-FD01-4A8C-A2E5-742CF11E89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68ED1EFC-4559-4372-8455-9399CF6A72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989F51-83AB-4EA0-801C-41D537A41223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45D45BF8-1EB6-4CC8-A567-A6A1A71E2BE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6ADAC1C-9BD1-46F7-803E-96B86B746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B863A08-BF94-4E61-981B-F82CF645E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9D42FB0-55A5-4C9E-B699-B70F259A6236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977380B1-728B-4CA5-8FEC-0997AC2618D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38E35177-3AC7-43D7-8D21-3276C8AFD2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9D25CD96-4F99-46CD-A202-4418EFD900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9F3F64-0627-46AF-A020-175028AB8373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EA16CC23-761F-4300-9B8A-8B4649C9E69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DBA1AFF-F869-45A3-B5EC-189D6CC363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FF6D8482-9810-4683-871C-B59C077785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1EE8AF5-396D-4CAF-9F53-F61CA47E0676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B30653A-93E6-4165-9B9F-2C3FEDE3D5E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8B25301-DD6A-4D1F-AF76-0B63CA1294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A21FA78-69A7-404E-A2BB-C014D2C644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9AC7D4A-F088-40F9-8C94-04862925A879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5D3446F-7374-4F86-9B01-B5085B72CE1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F5F4BF8A-353E-4B5C-AFD7-47A9DE549A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035B900D-1797-41F2-A24B-8FAC082D0E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CE209F-9E41-46DB-B9F9-DAB07570E4EB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3045B5BA-3814-458D-A507-5E5F29406EA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93B613C2-460F-4495-8667-A834DC923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AB5A2CA1-6978-4E41-A22A-EC84BCFD04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1357DB-C116-47E6-A6DF-D320CEA4111A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AF70BB9-8CC6-4D9F-8A6B-FA2E0B5E333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B29CD6F-8AF0-446B-BF6E-0945B15FE0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2D6B4737-AC35-4F93-AFB5-752C6044E5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5D5A4F9-911B-424A-888C-645EAA600906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E28CF8C-1C40-46D4-B9A1-1C2F10846D8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42645D2C-6388-4D38-A14B-D50E40055A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924FC058-447F-435D-8934-68B5DB79DA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56F8C29-A22B-4D44-9DCB-4F996F904729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10B19868-56D2-4F8A-A33A-5951A2D7970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B536AB85-4AB7-44BC-BA4A-916E3A30E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2E2404AD-8059-430D-8C22-2467B99CAB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ABFC55E-1A17-4D2D-B951-7CD0A99B5C4E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FABBE974-09D2-423D-A887-CEA6D0ED403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76B1165E-600F-4AF2-998F-A6A47B184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710BD047-00E3-433A-8ADD-7ACD3139CC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39B154A-33A1-4810-BF58-9D1A07ABD87D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901592BF-A973-4D27-B05D-EE1029180C1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3BEFD15C-EA28-4859-9A9B-5607A1140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C2F7483F-35EF-4D98-ADFE-5BFE1EF33D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41AAEC4-3F23-439C-A962-86E11B7E5E13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3BAD231-45F1-4948-88F5-73D7CD44ADD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D8BDE2A6-1FA6-470A-BBB3-83F1116ED2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A56F31F9-C31D-4EC7-BAF6-0B1C8EBDE3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D8E8FE3-D61D-4C17-8D04-80395A082A94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ED303579-9061-478A-B41C-6D96EA0FE08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87092D2-92D3-4077-934D-144F3DE6C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34AF0116-9768-4699-BD4E-AB7F725792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F82B546-9689-400C-AB95-F34C5A0B7057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156D20A-C499-4DA8-80D5-90CDA384FE1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109AFEAF-370D-4BF5-8081-E89AB84E7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AA55BD8B-2CDE-405A-B704-2DAC38D870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3303311-7E78-43C0-9573-FB9566BAA1AC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12603605-4AB3-4151-91BE-9235A5A94DB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2FF6AE2A-835D-43C1-9361-A549A4C99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9EFA08FC-9971-41E8-90CA-7613943317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DDF6CF-52D7-471D-A9AD-3F92CF1F827B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6A0932D9-FDF5-450F-A3CD-ED34885B00D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7DB201E2-6CA2-42D6-9EC7-8DF11D4B81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6AB0D1C0-8E80-4B11-8489-52F4FD427E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2F0AAE-04C6-4F67-BA71-D2F8D247F3F1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E38DA36E-C007-41CC-BC03-81C87EC58DA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B8EB10DB-8271-48C9-A12A-972F31CDBF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A1E28FAF-9268-48C1-9DCB-15049C3E31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E1A0F6-A32A-4CA2-B9F2-54655B575838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1AB6B4FE-911A-4B43-A6AC-12E625D4D33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A18E7B4-6BEC-4AA7-93DC-F8F345393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60F51FB0-5EE5-46EF-B948-C31DBD343E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49CED8-958E-4AAA-A90F-67237A186045}" type="slidenum">
              <a:rPr lang="en-US" altLang="zh-CN"/>
              <a:pPr eaLnBrk="1" hangingPunct="1"/>
              <a:t>23</a:t>
            </a:fld>
            <a:endParaRPr lang="en-US" altLang="zh-CN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F883AFE-F3D1-437F-A16F-A79F03376EE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4C980CBF-DFA2-4B53-89BF-377630678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E261A09A-6445-473E-A535-8060FC0D3D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CA4C34-013A-494A-AB8D-CC8EF9E1539C}" type="slidenum">
              <a:rPr lang="en-US" altLang="zh-CN"/>
              <a:pPr eaLnBrk="1" hangingPunct="1"/>
              <a:t>24</a:t>
            </a:fld>
            <a:endParaRPr lang="en-US" altLang="zh-CN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AE364ADE-18D1-4A24-AC28-90A6FAE123D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AB1011AF-7CD4-4BC5-80A9-C882849328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5B678-211E-4B36-A61A-C99A782C361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049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D369A6-4686-4BD6-87F0-2222C4022DB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4226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100038-1C1B-415A-BCEE-D8E32AC76E9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4383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05EADF-5C0A-496D-B362-4731FD479AD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6880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D2DA39-E6DA-45EE-AA2B-85F7D8319F2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803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8E6C93-0C12-4031-B44C-5D588C2BA15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5801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5CA244-B9A3-46B7-8328-0C343730590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3342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797630-6EAC-4DF1-A4B7-2252474287C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833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CC4409-4F3E-4206-A880-B6983E62D12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1304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C868CC-ED86-40E6-8310-58FEC2523E4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5939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6FBA9-4179-4BBB-9024-E4B7A89E669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579681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6FBA9-4179-4BBB-9024-E4B7A89E669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93027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8606FBA9-4179-4BBB-9024-E4B7A89E669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1631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>
            <a:extLst>
              <a:ext uri="{FF2B5EF4-FFF2-40B4-BE49-F238E27FC236}">
                <a16:creationId xmlns:a16="http://schemas.microsoft.com/office/drawing/2014/main" id="{2629556F-E514-465F-9595-CC53CAC8C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17.5 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群的分解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3F95461D-4670-4CA5-AC99-6C412BFC1E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b="1" dirty="0"/>
              <a:t>陪集及其性质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Lagrange</a:t>
            </a:r>
            <a:r>
              <a:rPr lang="zh-CN" altLang="en-US" b="1" dirty="0"/>
              <a:t>定理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Lagrange</a:t>
            </a:r>
            <a:r>
              <a:rPr lang="zh-CN" altLang="en-US" b="1" dirty="0"/>
              <a:t>定理的应用</a:t>
            </a:r>
          </a:p>
          <a:p>
            <a:pPr eaLnBrk="1" hangingPunct="1"/>
            <a:r>
              <a:rPr lang="zh-CN" altLang="en-US" b="1" dirty="0"/>
              <a:t>共轭关系与共轭类</a:t>
            </a:r>
          </a:p>
          <a:p>
            <a:pPr eaLnBrk="1" hangingPunct="1"/>
            <a:r>
              <a:rPr lang="zh-CN" altLang="en-US" b="1" dirty="0"/>
              <a:t>群的分类方程</a:t>
            </a:r>
          </a:p>
        </p:txBody>
      </p:sp>
      <p:sp>
        <p:nvSpPr>
          <p:cNvPr id="5122" name="灯片编号占位符 5">
            <a:extLst>
              <a:ext uri="{FF2B5EF4-FFF2-40B4-BE49-F238E27FC236}">
                <a16:creationId xmlns:a16="http://schemas.microsoft.com/office/drawing/2014/main" id="{9E2DFAA5-FE45-42DA-96A3-3A78369DA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942266F-8C1A-4B87-9AB2-50317E132698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>
            <a:extLst>
              <a:ext uri="{FF2B5EF4-FFF2-40B4-BE49-F238E27FC236}">
                <a16:creationId xmlns:a16="http://schemas.microsoft.com/office/drawing/2014/main" id="{24EE2B62-FA76-4E35-B229-B2BDE0357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72072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陪集定义及其实例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828687AD-D728-44EC-A0FD-EBD3A9EB93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341438"/>
            <a:ext cx="8229600" cy="168433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陪集定义  </a:t>
            </a:r>
            <a:r>
              <a:rPr lang="en-US" altLang="zh-CN" sz="2800" b="1" i="1">
                <a:latin typeface="Times New Roman" panose="02020603050405020304" pitchFamily="18" charset="0"/>
              </a:rPr>
              <a:t>G </a:t>
            </a:r>
            <a:r>
              <a:rPr lang="zh-CN" altLang="en-US" sz="2800" b="1">
                <a:latin typeface="Times New Roman" panose="02020603050405020304" pitchFamily="18" charset="0"/>
              </a:rPr>
              <a:t>为群，</a:t>
            </a:r>
            <a:r>
              <a:rPr lang="en-US" altLang="zh-CN" sz="2800" b="1" i="1">
                <a:latin typeface="Times New Roman" panose="02020603050405020304" pitchFamily="18" charset="0"/>
              </a:rPr>
              <a:t>H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</a:rPr>
              <a:t>,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右陪集</a:t>
            </a:r>
            <a:r>
              <a:rPr lang="zh-CN" altLang="en-US" sz="2800" b="1">
                <a:latin typeface="Times New Roman" panose="02020603050405020304" pitchFamily="18" charset="0"/>
              </a:rPr>
              <a:t>  </a:t>
            </a:r>
            <a:r>
              <a:rPr lang="en-US" altLang="zh-CN" sz="2800" b="1" i="1">
                <a:latin typeface="Times New Roman" panose="02020603050405020304" pitchFamily="18" charset="0"/>
              </a:rPr>
              <a:t>Ha</a:t>
            </a:r>
            <a:r>
              <a:rPr lang="en-US" altLang="zh-CN" sz="2800" b="1">
                <a:latin typeface="Times New Roman" panose="02020603050405020304" pitchFamily="18" charset="0"/>
              </a:rPr>
              <a:t> = { </a:t>
            </a:r>
            <a:r>
              <a:rPr lang="en-US" altLang="zh-CN" sz="2800" b="1" i="1">
                <a:latin typeface="Times New Roman" panose="02020603050405020304" pitchFamily="18" charset="0"/>
              </a:rPr>
              <a:t>ha</a:t>
            </a:r>
            <a:r>
              <a:rPr lang="en-US" altLang="zh-CN" sz="2800" b="1">
                <a:latin typeface="Times New Roman" panose="02020603050405020304" pitchFamily="18" charset="0"/>
              </a:rPr>
              <a:t> |</a:t>
            </a:r>
            <a:r>
              <a:rPr lang="en-US" altLang="zh-CN" sz="2800" b="1" i="1">
                <a:latin typeface="Times New Roman" panose="02020603050405020304" pitchFamily="18" charset="0"/>
              </a:rPr>
              <a:t> h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</a:t>
            </a:r>
            <a:r>
              <a:rPr lang="en-US" altLang="zh-CN" sz="2800" b="1">
                <a:latin typeface="Times New Roman" panose="02020603050405020304" pitchFamily="18" charset="0"/>
              </a:rPr>
              <a:t> }       </a:t>
            </a:r>
            <a:endParaRPr lang="en-US" altLang="zh-CN" sz="2800" b="1" i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Ha </a:t>
            </a:r>
            <a:r>
              <a:rPr lang="zh-CN" altLang="en-US" sz="2800" b="1">
                <a:latin typeface="Times New Roman" panose="02020603050405020304" pitchFamily="18" charset="0"/>
              </a:rPr>
              <a:t>中的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zh-CN" altLang="en-US" sz="2800" b="1">
                <a:latin typeface="Times New Roman" panose="02020603050405020304" pitchFamily="18" charset="0"/>
              </a:rPr>
              <a:t>称为该陪集的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代表元素</a:t>
            </a:r>
          </a:p>
        </p:txBody>
      </p:sp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6CC3CF36-0089-45B6-BB5E-B572EB174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AD05E43-C0DC-422D-9CA1-1E8E5A66CBA1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939E6AA6-B4F4-44C7-8B98-4DDAE3C4C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3068638"/>
            <a:ext cx="8229600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实例：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</a:rPr>
              <a:t>H </a:t>
            </a:r>
            <a:r>
              <a:rPr lang="en-US" altLang="zh-CN" sz="2800" b="1">
                <a:latin typeface="Times New Roman" panose="02020603050405020304" pitchFamily="18" charset="0"/>
              </a:rPr>
              <a:t>= { (1), (12) }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</a:t>
            </a:r>
            <a:r>
              <a:rPr lang="en-US" altLang="zh-CN" sz="2800" b="1" i="1">
                <a:latin typeface="Times New Roman" panose="02020603050405020304" pitchFamily="18" charset="0"/>
              </a:rPr>
              <a:t>H </a:t>
            </a:r>
            <a:r>
              <a:rPr lang="en-US" altLang="zh-CN" sz="2800" b="1">
                <a:latin typeface="Times New Roman" panose="02020603050405020304" pitchFamily="18" charset="0"/>
              </a:rPr>
              <a:t>(1) = </a:t>
            </a:r>
            <a:r>
              <a:rPr lang="en-US" altLang="zh-CN" sz="2800" b="1" i="1">
                <a:latin typeface="Times New Roman" panose="02020603050405020304" pitchFamily="18" charset="0"/>
              </a:rPr>
              <a:t>H </a:t>
            </a:r>
            <a:r>
              <a:rPr lang="en-US" altLang="zh-CN" sz="2800" b="1">
                <a:latin typeface="Times New Roman" panose="02020603050405020304" pitchFamily="18" charset="0"/>
              </a:rPr>
              <a:t>(12)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</a:t>
            </a:r>
            <a:r>
              <a:rPr lang="en-US" altLang="zh-CN" sz="2800" b="1" i="1">
                <a:latin typeface="Times New Roman" panose="02020603050405020304" pitchFamily="18" charset="0"/>
              </a:rPr>
              <a:t>H </a:t>
            </a:r>
            <a:r>
              <a:rPr lang="en-US" altLang="zh-CN" sz="2800" b="1">
                <a:latin typeface="Times New Roman" panose="02020603050405020304" pitchFamily="18" charset="0"/>
              </a:rPr>
              <a:t>(13) = </a:t>
            </a:r>
            <a:r>
              <a:rPr lang="en-US" altLang="zh-CN" sz="2800" b="1" i="1">
                <a:latin typeface="Times New Roman" panose="02020603050405020304" pitchFamily="18" charset="0"/>
              </a:rPr>
              <a:t>H </a:t>
            </a:r>
            <a:r>
              <a:rPr lang="en-US" altLang="zh-CN" sz="2800" b="1">
                <a:latin typeface="Times New Roman" panose="02020603050405020304" pitchFamily="18" charset="0"/>
              </a:rPr>
              <a:t>(132) = { (13), (132) }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</a:t>
            </a:r>
            <a:r>
              <a:rPr lang="en-US" altLang="zh-CN" sz="2800" b="1" i="1">
                <a:latin typeface="Times New Roman" panose="02020603050405020304" pitchFamily="18" charset="0"/>
              </a:rPr>
              <a:t>H </a:t>
            </a:r>
            <a:r>
              <a:rPr lang="en-US" altLang="zh-CN" sz="2800" b="1">
                <a:latin typeface="Times New Roman" panose="02020603050405020304" pitchFamily="18" charset="0"/>
              </a:rPr>
              <a:t>(23) = </a:t>
            </a:r>
            <a:r>
              <a:rPr lang="en-US" altLang="zh-CN" sz="2800" b="1" i="1">
                <a:latin typeface="Times New Roman" panose="02020603050405020304" pitchFamily="18" charset="0"/>
              </a:rPr>
              <a:t>H </a:t>
            </a:r>
            <a:r>
              <a:rPr lang="en-US" altLang="zh-CN" sz="2800" b="1">
                <a:latin typeface="Times New Roman" panose="02020603050405020304" pitchFamily="18" charset="0"/>
              </a:rPr>
              <a:t>(123) = { (23), (123) }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>
            <a:extLst>
              <a:ext uri="{FF2B5EF4-FFF2-40B4-BE49-F238E27FC236}">
                <a16:creationId xmlns:a16="http://schemas.microsoft.com/office/drawing/2014/main" id="{736FE77B-A843-4D34-AC6A-1CB90DBC3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陪集的性质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EAB020E3-B48F-4660-816B-8C96698DED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268413"/>
            <a:ext cx="8229600" cy="511333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定理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为群，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的子群，则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</a:t>
            </a:r>
            <a:r>
              <a:rPr lang="en-US" altLang="zh-CN" sz="2400" b="1">
                <a:latin typeface="Times New Roman" panose="02020603050405020304" pitchFamily="18" charset="0"/>
              </a:rPr>
              <a:t>(1)  </a:t>
            </a:r>
            <a:r>
              <a:rPr lang="en-US" altLang="zh-CN" sz="2400" b="1" i="1">
                <a:latin typeface="Times New Roman" panose="02020603050405020304" pitchFamily="18" charset="0"/>
              </a:rPr>
              <a:t>He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</a:rPr>
              <a:t>(2)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Ha</a:t>
            </a:r>
            <a:r>
              <a:rPr lang="zh-CN" altLang="en-US" sz="2400" b="1">
                <a:latin typeface="Times New Roman" panose="02020603050405020304" pitchFamily="18" charset="0"/>
              </a:rPr>
              <a:t>； 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(3)  </a:t>
            </a:r>
            <a:r>
              <a:rPr lang="en-US" altLang="zh-CN" sz="2400" b="1" i="1">
                <a:latin typeface="Times New Roman" panose="02020603050405020304" pitchFamily="18" charset="0"/>
              </a:rPr>
              <a:t>Ha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 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(4)</a:t>
            </a:r>
            <a:r>
              <a:rPr lang="en-US" altLang="zh-CN" sz="2400" b="1" i="1">
                <a:latin typeface="Times New Roman" panose="02020603050405020304" pitchFamily="18" charset="0"/>
              </a:rPr>
              <a:t>  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Hb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</a:rPr>
              <a:t>Ha = Hb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</a:rPr>
              <a:t>ab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  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>
              <a:buClr>
                <a:schemeClr val="bg2"/>
              </a:buClr>
              <a:buSzPct val="75000"/>
              <a:buFont typeface="Arial" panose="020B0604020202020204" pitchFamily="34" charset="0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(5)  </a:t>
            </a:r>
            <a:r>
              <a:rPr lang="zh-CN" altLang="en-US" sz="2400" b="1">
                <a:latin typeface="Times New Roman" panose="02020603050405020304" pitchFamily="18" charset="0"/>
              </a:rPr>
              <a:t>在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</a:rPr>
              <a:t>上定义二元关系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</a:rPr>
              <a:t>aRb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i="1">
                <a:latin typeface="Times New Roman" panose="02020603050405020304" pitchFamily="18" charset="0"/>
              </a:rPr>
              <a:t>ab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zh-CN" altLang="en-US" sz="2400" b="1">
                <a:latin typeface="Times New Roman" panose="02020603050405020304" pitchFamily="18" charset="0"/>
              </a:rPr>
              <a:t>，则 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</a:p>
          <a:p>
            <a:pPr>
              <a:buClr>
                <a:schemeClr val="bg2"/>
              </a:buClr>
              <a:buSzPct val="75000"/>
              <a:buFont typeface="Arial" panose="020B0604020202020204" pitchFamily="34" charset="0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          </a:t>
            </a:r>
            <a:r>
              <a:rPr lang="zh-CN" altLang="en-US" sz="2400" b="1">
                <a:latin typeface="Times New Roman" panose="02020603050405020304" pitchFamily="18" charset="0"/>
              </a:rPr>
              <a:t>为等价关系，且 </a:t>
            </a:r>
            <a:r>
              <a:rPr lang="en-US" altLang="zh-CN" sz="2400" b="1">
                <a:latin typeface="Times New Roman" panose="02020603050405020304" pitchFamily="18" charset="0"/>
              </a:rPr>
              <a:t>[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]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Ha</a:t>
            </a:r>
            <a:r>
              <a:rPr lang="en-US" altLang="zh-CN" sz="2400" b="1">
                <a:latin typeface="Times New Roman" panose="02020603050405020304" pitchFamily="18" charset="0"/>
              </a:rPr>
              <a:t>  </a:t>
            </a:r>
          </a:p>
          <a:p>
            <a:pPr>
              <a:buClr>
                <a:schemeClr val="bg2"/>
              </a:buClr>
              <a:buSzPct val="75000"/>
              <a:buFont typeface="Arial" panose="020B0604020202020204" pitchFamily="34" charset="0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(6)  </a:t>
            </a:r>
            <a:r>
              <a:rPr lang="en-US" altLang="zh-CN" sz="2400" b="1" i="1">
                <a:latin typeface="Times New Roman" panose="02020603050405020304" pitchFamily="18" charset="0"/>
              </a:rPr>
              <a:t>a,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</a:rPr>
              <a:t>Ha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 </a:t>
            </a:r>
            <a:r>
              <a:rPr lang="en-US" altLang="zh-CN" sz="2400" b="1" i="1">
                <a:latin typeface="Times New Roman" panose="02020603050405020304" pitchFamily="18" charset="0"/>
              </a:rPr>
              <a:t>Hb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或 </a:t>
            </a:r>
            <a:r>
              <a:rPr lang="en-US" altLang="zh-CN" sz="2400" b="1" i="1">
                <a:latin typeface="Times New Roman" panose="02020603050405020304" pitchFamily="18" charset="0"/>
              </a:rPr>
              <a:t>Ha = Hb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 </a:t>
            </a:r>
            <a:r>
              <a:rPr lang="en-US" altLang="zh-CN" sz="2400" b="1" i="1">
                <a:latin typeface="Times New Roman" panose="02020603050405020304" pitchFamily="18" charset="0"/>
              </a:rPr>
              <a:t>Ha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170" name="灯片编号占位符 5">
            <a:extLst>
              <a:ext uri="{FF2B5EF4-FFF2-40B4-BE49-F238E27FC236}">
                <a16:creationId xmlns:a16="http://schemas.microsoft.com/office/drawing/2014/main" id="{81D4B9A8-A325-4FF5-8D0A-D92032AC1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8766A9-1C6F-466D-814E-1B954F5747B9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71717" name="Rectangle 5">
            <a:extLst>
              <a:ext uri="{FF2B5EF4-FFF2-40B4-BE49-F238E27FC236}">
                <a16:creationId xmlns:a16="http://schemas.microsoft.com/office/drawing/2014/main" id="{7AB90086-47FE-4FC7-89B1-66A3A0FFB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" y="5156200"/>
            <a:ext cx="8229600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说明：定义左陪集 </a:t>
            </a:r>
            <a:r>
              <a:rPr lang="en-US" altLang="zh-CN" sz="2400" b="1" i="1">
                <a:latin typeface="Times New Roman" panose="02020603050405020304" pitchFamily="18" charset="0"/>
              </a:rPr>
              <a:t>aH </a:t>
            </a:r>
            <a:r>
              <a:rPr lang="en-US" altLang="zh-CN" sz="2400" b="1">
                <a:latin typeface="Times New Roman" panose="02020603050405020304" pitchFamily="18" charset="0"/>
              </a:rPr>
              <a:t>= { </a:t>
            </a:r>
            <a:r>
              <a:rPr lang="en-US" altLang="zh-CN" sz="2400" b="1" i="1">
                <a:latin typeface="Times New Roman" panose="02020603050405020304" pitchFamily="18" charset="0"/>
              </a:rPr>
              <a:t>ah</a:t>
            </a:r>
            <a:r>
              <a:rPr lang="en-US" altLang="zh-CN" sz="2400" b="1">
                <a:latin typeface="Times New Roman" panose="02020603050405020304" pitchFamily="18" charset="0"/>
              </a:rPr>
              <a:t> | 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  </a:t>
            </a:r>
            <a:r>
              <a:rPr lang="zh-CN" altLang="en-US" sz="2400" b="1">
                <a:latin typeface="Times New Roman" panose="02020603050405020304" pitchFamily="18" charset="0"/>
              </a:rPr>
              <a:t>性质类似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bH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aH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bH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371718" name="Rectangle 6">
            <a:extLst>
              <a:ext uri="{FF2B5EF4-FFF2-40B4-BE49-F238E27FC236}">
                <a16:creationId xmlns:a16="http://schemas.microsoft.com/office/drawing/2014/main" id="{C8312A9C-3734-4B8C-9F90-1F835C74B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476250"/>
            <a:ext cx="82296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</a:t>
            </a:r>
          </a:p>
        </p:txBody>
      </p:sp>
      <p:sp>
        <p:nvSpPr>
          <p:cNvPr id="371719" name="Rectangle 7">
            <a:extLst>
              <a:ext uri="{FF2B5EF4-FFF2-40B4-BE49-F238E27FC236}">
                <a16:creationId xmlns:a16="http://schemas.microsoft.com/office/drawing/2014/main" id="{1A53699A-588A-4181-A158-8CE45D047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732463"/>
            <a:ext cx="822960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1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1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1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1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7" grpId="0"/>
      <p:bldP spid="371718" grpId="0"/>
      <p:bldP spid="3717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>
            <a:extLst>
              <a:ext uri="{FF2B5EF4-FFF2-40B4-BE49-F238E27FC236}">
                <a16:creationId xmlns:a16="http://schemas.microsoft.com/office/drawing/2014/main" id="{9E160D19-85AC-4948-9ECC-678474DBDB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陪集性质的证明</a:t>
            </a:r>
          </a:p>
        </p:txBody>
      </p:sp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A49C1DFF-A555-4260-BDA9-77613FCB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3DD51EF-1D31-4A1A-99EA-672D6236EBB3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73763" name="Rectangle 3">
            <a:extLst>
              <a:ext uri="{FF2B5EF4-FFF2-40B4-BE49-F238E27FC236}">
                <a16:creationId xmlns:a16="http://schemas.microsoft.com/office/drawing/2014/main" id="{DD1A2A07-CE9D-4FB7-ADCC-3664EBDB4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860800"/>
            <a:ext cx="76327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(5)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Ha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[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]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证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>
                <a:latin typeface="Times New Roman" panose="02020603050405020304" pitchFamily="18" charset="0"/>
              </a:rPr>
              <a:t>[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] </a:t>
            </a:r>
            <a:r>
              <a:rPr lang="en-US" altLang="zh-CN" sz="2800" b="1" i="1">
                <a:latin typeface="Times New Roman" panose="02020603050405020304" pitchFamily="18" charset="0"/>
              </a:rPr>
              <a:t> aRb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ab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</a:t>
            </a:r>
            <a:r>
              <a:rPr lang="en-US" altLang="zh-CN" sz="2800" b="1" i="1">
                <a:latin typeface="Times New Roman" panose="02020603050405020304" pitchFamily="18" charset="0"/>
              </a:rPr>
              <a:t> Ha = Hb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Ha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73764" name="Rectangle 4">
            <a:extLst>
              <a:ext uri="{FF2B5EF4-FFF2-40B4-BE49-F238E27FC236}">
                <a16:creationId xmlns:a16="http://schemas.microsoft.com/office/drawing/2014/main" id="{060A57AA-5AF1-4BA1-8E36-A0185A057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41438"/>
            <a:ext cx="82804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5349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(4) </a:t>
            </a:r>
            <a:r>
              <a:rPr lang="en-US" altLang="zh-CN" sz="2800" b="1" i="1">
                <a:latin typeface="Times New Roman" panose="02020603050405020304" pitchFamily="18" charset="0"/>
              </a:rPr>
              <a:t> 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Ha = Hb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证 必要性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 i="1">
                <a:latin typeface="Times New Roman" panose="02020603050405020304" pitchFamily="18" charset="0"/>
              </a:rPr>
              <a:t> a = h</a:t>
            </a:r>
            <a:r>
              <a:rPr lang="en-US" altLang="zh-CN" sz="2800" b="1" i="1"/>
              <a:t>’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= h</a:t>
            </a:r>
            <a:r>
              <a:rPr lang="en-US" altLang="zh-CN" sz="2800" b="1" i="1">
                <a:sym typeface="Symbol" panose="05050102010706020507" pitchFamily="18" charset="2"/>
              </a:rPr>
              <a:t>’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endParaRPr lang="en-US" altLang="zh-CN" sz="2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3765" name="Rectangle 5">
            <a:extLst>
              <a:ext uri="{FF2B5EF4-FFF2-40B4-BE49-F238E27FC236}">
                <a16:creationId xmlns:a16="http://schemas.microsoft.com/office/drawing/2014/main" id="{5517B824-A66D-4E8B-8992-9B19F9996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565400"/>
            <a:ext cx="7920037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5349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ha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ha = hh</a:t>
            </a:r>
            <a:r>
              <a:rPr lang="en-US" altLang="zh-CN" sz="2800" b="1" i="1">
                <a:sym typeface="Symbol" panose="05050102010706020507" pitchFamily="18" charset="2"/>
              </a:rPr>
              <a:t>’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hb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hb = hh</a:t>
            </a:r>
            <a:r>
              <a:rPr lang="en-US" altLang="zh-CN" sz="2800" b="1">
                <a:sym typeface="Symbol" panose="05050102010706020507" pitchFamily="18" charset="2"/>
              </a:rPr>
              <a:t>’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Ha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endParaRPr lang="en-US" altLang="zh-CN" sz="2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3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3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3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3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3" grpId="0"/>
      <p:bldP spid="373764" grpId="0"/>
      <p:bldP spid="3737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5F30D315-0448-4682-A569-288E92F22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Lagrange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定理的引理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B9239D50-A0F4-42AE-98CE-80B198CD27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268413"/>
            <a:ext cx="8229600" cy="5048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引理</a:t>
            </a:r>
            <a:r>
              <a:rPr lang="zh-CN" altLang="en-US" sz="2800" b="1">
                <a:latin typeface="Times New Roman" panose="02020603050405020304" pitchFamily="18" charset="0"/>
              </a:rPr>
              <a:t>     </a:t>
            </a:r>
            <a:r>
              <a:rPr lang="en-US" altLang="zh-CN" sz="2800" b="1" i="1">
                <a:latin typeface="Times New Roman" panose="02020603050405020304" pitchFamily="18" charset="0"/>
              </a:rPr>
              <a:t>H </a:t>
            </a:r>
            <a:r>
              <a:rPr lang="zh-CN" altLang="en-US" sz="2800" b="1">
                <a:latin typeface="Times New Roman" panose="02020603050405020304" pitchFamily="18" charset="0"/>
              </a:rPr>
              <a:t>的左陪集和右陪集数相等</a:t>
            </a:r>
            <a:r>
              <a:rPr lang="zh-CN" altLang="en-US" sz="2800" b="1" i="1">
                <a:latin typeface="Times New Roman" panose="02020603050405020304" pitchFamily="18" charset="0"/>
              </a:rPr>
              <a:t>        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9218" name="灯片编号占位符 5">
            <a:extLst>
              <a:ext uri="{FF2B5EF4-FFF2-40B4-BE49-F238E27FC236}">
                <a16:creationId xmlns:a16="http://schemas.microsoft.com/office/drawing/2014/main" id="{45BA0306-D7BD-4E11-AD9E-66B27476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2DEFAA-A0F8-478D-8BEB-331378B976BD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75814" name="Rectangle 6">
            <a:extLst>
              <a:ext uri="{FF2B5EF4-FFF2-40B4-BE49-F238E27FC236}">
                <a16:creationId xmlns:a16="http://schemas.microsoft.com/office/drawing/2014/main" id="{397C0E4F-CAFD-4E4F-9E3A-57C1050AB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141663"/>
            <a:ext cx="8229600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   f  </a:t>
            </a:r>
            <a:r>
              <a:rPr lang="zh-CN" altLang="en-US" sz="2800" b="1">
                <a:latin typeface="Times New Roman" panose="02020603050405020304" pitchFamily="18" charset="0"/>
              </a:rPr>
              <a:t>的良定义性与单射性：</a:t>
            </a:r>
            <a:endParaRPr lang="zh-CN" altLang="en-US" sz="28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 i="1"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Ha = Hb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ab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>
                <a:latin typeface="Times New Roman" panose="02020603050405020304" pitchFamily="18" charset="0"/>
              </a:rPr>
              <a:t> 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endParaRPr lang="en-US" altLang="zh-CN" sz="28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  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</a:rPr>
              <a:t>H </a:t>
            </a:r>
            <a:r>
              <a:rPr lang="en-US" altLang="zh-CN" sz="2800" b="1"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</a:rPr>
              <a:t>H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Ha</a:t>
            </a:r>
            <a:r>
              <a:rPr lang="en-US" altLang="zh-CN" sz="2800" b="1">
                <a:latin typeface="Times New Roman" panose="02020603050405020304" pitchFamily="18" charset="0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Hb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en-US" altLang="zh-CN" sz="2800" b="1" i="1">
                <a:latin typeface="Times New Roman" panose="02020603050405020304" pitchFamily="18" charset="0"/>
              </a:rPr>
              <a:t>   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375815" name="Rectangle 7">
            <a:extLst>
              <a:ext uri="{FF2B5EF4-FFF2-40B4-BE49-F238E27FC236}">
                <a16:creationId xmlns:a16="http://schemas.microsoft.com/office/drawing/2014/main" id="{A1B5F103-F356-48DD-A57D-B773AD6E3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44675"/>
            <a:ext cx="7704137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                f </a:t>
            </a:r>
            <a:r>
              <a:rPr lang="en-US" altLang="zh-CN" sz="2800" b="1">
                <a:latin typeface="Times New Roman" panose="02020603050405020304" pitchFamily="18" charset="0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T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Ha</a:t>
            </a:r>
            <a:r>
              <a:rPr lang="en-US" altLang="zh-CN" sz="2800" b="1">
                <a:latin typeface="Times New Roman" panose="02020603050405020304" pitchFamily="18" charset="0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</a:rPr>
              <a:t>H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endParaRPr lang="en-US" altLang="zh-CN" sz="2800" b="1" i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 T, S </a:t>
            </a:r>
            <a:r>
              <a:rPr lang="zh-CN" altLang="en-US" sz="2800" b="1">
                <a:latin typeface="Times New Roman" panose="02020603050405020304" pitchFamily="18" charset="0"/>
              </a:rPr>
              <a:t>分别为右和左陪集的集合  </a:t>
            </a:r>
            <a:r>
              <a:rPr lang="zh-CN" altLang="en-US" sz="2800" b="1" i="1">
                <a:latin typeface="Times New Roman" panose="02020603050405020304" pitchFamily="18" charset="0"/>
              </a:rPr>
              <a:t>   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375816" name="Rectangle 8">
            <a:extLst>
              <a:ext uri="{FF2B5EF4-FFF2-40B4-BE49-F238E27FC236}">
                <a16:creationId xmlns:a16="http://schemas.microsoft.com/office/drawing/2014/main" id="{EDF2249E-3975-485C-A1B1-D0D560FA0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868863"/>
            <a:ext cx="82296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   H </a:t>
            </a:r>
            <a:r>
              <a:rPr lang="zh-CN" altLang="en-US" sz="2800" b="1">
                <a:latin typeface="Times New Roman" panose="02020603050405020304" pitchFamily="18" charset="0"/>
              </a:rPr>
              <a:t>在 </a:t>
            </a:r>
            <a:r>
              <a:rPr lang="en-US" altLang="zh-CN" sz="2800" b="1" i="1">
                <a:latin typeface="Times New Roman" panose="02020603050405020304" pitchFamily="18" charset="0"/>
              </a:rPr>
              <a:t>G </a:t>
            </a:r>
            <a:r>
              <a:rPr lang="zh-CN" altLang="en-US" sz="2800" b="1">
                <a:latin typeface="Times New Roman" panose="02020603050405020304" pitchFamily="18" charset="0"/>
              </a:rPr>
              <a:t>中的 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指数  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[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G 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H 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]</a:t>
            </a:r>
            <a:r>
              <a:rPr lang="en-US" altLang="zh-CN" sz="2800" b="1">
                <a:latin typeface="Times New Roman" panose="02020603050405020304" pitchFamily="18" charset="0"/>
              </a:rPr>
              <a:t>:</a:t>
            </a:r>
            <a:endParaRPr lang="en-US" altLang="zh-CN" sz="28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          H </a:t>
            </a:r>
            <a:r>
              <a:rPr lang="zh-CN" altLang="en-US" sz="2800" b="1">
                <a:latin typeface="Times New Roman" panose="02020603050405020304" pitchFamily="18" charset="0"/>
              </a:rPr>
              <a:t>在 </a:t>
            </a:r>
            <a:r>
              <a:rPr lang="en-US" altLang="zh-CN" sz="2800" b="1" i="1">
                <a:latin typeface="Times New Roman" panose="02020603050405020304" pitchFamily="18" charset="0"/>
              </a:rPr>
              <a:t>G </a:t>
            </a:r>
            <a:r>
              <a:rPr lang="zh-CN" altLang="en-US" sz="2800" b="1">
                <a:latin typeface="Times New Roman" panose="02020603050405020304" pitchFamily="18" charset="0"/>
              </a:rPr>
              <a:t>中的右（或者左）陪集数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5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5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5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5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58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58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4" grpId="0"/>
      <p:bldP spid="3758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>
            <a:extLst>
              <a:ext uri="{FF2B5EF4-FFF2-40B4-BE49-F238E27FC236}">
                <a16:creationId xmlns:a16="http://schemas.microsoft.com/office/drawing/2014/main" id="{BB10E64E-BE12-48DA-9A22-638CB3D3F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Lagrange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定理及推论</a:t>
            </a:r>
          </a:p>
        </p:txBody>
      </p:sp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4A15C5D2-CB60-44BC-B331-95F0F28A2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D7866E0-3F32-4604-8F87-BFDD2F5D0576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ED616785-29BD-419E-8CB7-BB1B415E1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96975"/>
            <a:ext cx="7993062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lagrange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：  </a:t>
            </a:r>
            <a:r>
              <a:rPr lang="en-US" altLang="zh-CN" sz="2400" b="1">
                <a:latin typeface="Times New Roman" panose="02020603050405020304" pitchFamily="18" charset="0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</a:rPr>
              <a:t>| = | 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</a:rPr>
              <a:t>| [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</a:rPr>
              <a:t>]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证明：令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的不同的陪集为 </a:t>
            </a:r>
            <a:r>
              <a:rPr lang="en-US" altLang="zh-CN" sz="2400" b="1" i="1">
                <a:latin typeface="Times New Roman" panose="02020603050405020304" pitchFamily="18" charset="0"/>
              </a:rPr>
              <a:t>Ha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Ha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/>
              <a:t>…</a:t>
            </a:r>
            <a:r>
              <a:rPr lang="en-US" altLang="zh-CN" sz="2400" b="1">
                <a:latin typeface="Times New Roman" panose="02020603050405020304" pitchFamily="18" charset="0"/>
              </a:rPr>
              <a:t> , </a:t>
            </a:r>
            <a:r>
              <a:rPr lang="en-US" altLang="zh-CN" sz="2400" b="1" i="1">
                <a:latin typeface="Times New Roman" panose="02020603050405020304" pitchFamily="18" charset="0"/>
              </a:rPr>
              <a:t>Ha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     |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</a:rPr>
              <a:t>| = |</a:t>
            </a:r>
            <a:r>
              <a:rPr lang="en-US" altLang="zh-CN" sz="2400" b="1" i="1">
                <a:latin typeface="Times New Roman" panose="02020603050405020304" pitchFamily="18" charset="0"/>
              </a:rPr>
              <a:t>Ha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| + |</a:t>
            </a:r>
            <a:r>
              <a:rPr lang="en-US" altLang="zh-CN" sz="2400" b="1" i="1">
                <a:latin typeface="Times New Roman" panose="02020603050405020304" pitchFamily="18" charset="0"/>
              </a:rPr>
              <a:t>Ha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| +</a:t>
            </a:r>
            <a:r>
              <a:rPr lang="en-US" altLang="zh-CN" sz="2400" b="1"/>
              <a:t>…</a:t>
            </a:r>
            <a:r>
              <a:rPr lang="en-US" altLang="zh-CN" sz="2400" b="1">
                <a:latin typeface="Times New Roman" panose="02020603050405020304" pitchFamily="18" charset="0"/>
              </a:rPr>
              <a:t>+ |</a:t>
            </a:r>
            <a:r>
              <a:rPr lang="en-US" altLang="zh-CN" sz="2400" b="1" i="1">
                <a:latin typeface="Times New Roman" panose="02020603050405020304" pitchFamily="18" charset="0"/>
              </a:rPr>
              <a:t>Ha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| = |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</a:rPr>
              <a:t>= |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| [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</a:rPr>
              <a:t>]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说明：适用于有限群，逆不一定为真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77860" name="Rectangle 4">
            <a:extLst>
              <a:ext uri="{FF2B5EF4-FFF2-40B4-BE49-F238E27FC236}">
                <a16:creationId xmlns:a16="http://schemas.microsoft.com/office/drawing/2014/main" id="{7C410583-1D88-407F-9527-9E63005A7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284538"/>
            <a:ext cx="7920037" cy="139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推论 </a:t>
            </a:r>
            <a:r>
              <a:rPr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</a:rPr>
              <a:t>群的元素的阶是群的阶的因子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ts val="3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</a:rPr>
              <a:t>证明：构造子群 </a:t>
            </a:r>
            <a:r>
              <a:rPr lang="en-US" altLang="zh-CN" sz="2400" b="1">
                <a:latin typeface="Times New Roman" panose="02020603050405020304" pitchFamily="18" charset="0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</a:rPr>
              <a:t>| &lt; 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</a:rPr>
              <a:t>&gt; | = | 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</a:rPr>
              <a:t>|.  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77861" name="Rectangle 5">
            <a:extLst>
              <a:ext uri="{FF2B5EF4-FFF2-40B4-BE49-F238E27FC236}">
                <a16:creationId xmlns:a16="http://schemas.microsoft.com/office/drawing/2014/main" id="{5A484265-401F-4AB4-8F84-F27055DE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4797425"/>
            <a:ext cx="7959725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(2) </a:t>
            </a:r>
            <a:r>
              <a:rPr lang="zh-CN" altLang="en-US" sz="2400" b="1">
                <a:latin typeface="Times New Roman" panose="02020603050405020304" pitchFamily="18" charset="0"/>
              </a:rPr>
              <a:t>素数阶群一定是循环群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</a:rPr>
              <a:t>证明：</a:t>
            </a:r>
            <a:r>
              <a:rPr lang="en-US" altLang="zh-CN" sz="2400" b="1">
                <a:latin typeface="Times New Roman" panose="02020603050405020304" pitchFamily="18" charset="0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</a:rPr>
              <a:t>| =</a:t>
            </a:r>
            <a:r>
              <a:rPr lang="en-US" altLang="zh-CN" sz="2400" b="1" i="1">
                <a:latin typeface="Times New Roman" panose="02020603050405020304" pitchFamily="18" charset="0"/>
              </a:rPr>
              <a:t> p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</a:rPr>
              <a:t>&gt;1, </a:t>
            </a:r>
            <a:r>
              <a:rPr lang="zh-CN" altLang="en-US" sz="2400" b="1">
                <a:latin typeface="Times New Roman" panose="02020603050405020304" pitchFamily="18" charset="0"/>
              </a:rPr>
              <a:t>存在非单位元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      | </a:t>
            </a:r>
            <a:r>
              <a:rPr lang="en-US" altLang="zh-CN" sz="2400" b="1" i="1">
                <a:latin typeface="Times New Roman" panose="02020603050405020304" pitchFamily="18" charset="0"/>
              </a:rPr>
              <a:t>a | </a:t>
            </a:r>
            <a:r>
              <a:rPr lang="zh-CN" altLang="en-US" sz="2400" b="1">
                <a:latin typeface="Times New Roman" panose="02020603050405020304" pitchFamily="18" charset="0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zh-CN" altLang="en-US" sz="2400" b="1">
                <a:latin typeface="Times New Roman" panose="02020603050405020304" pitchFamily="18" charset="0"/>
              </a:rPr>
              <a:t>的因子，只能是 </a:t>
            </a:r>
            <a:r>
              <a:rPr lang="en-US" altLang="zh-CN" sz="2400" b="1">
                <a:latin typeface="Times New Roman" panose="02020603050405020304" pitchFamily="18" charset="0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| =</a:t>
            </a:r>
            <a:r>
              <a:rPr lang="en-US" altLang="zh-CN" sz="2400" b="1" i="1">
                <a:latin typeface="Times New Roman" panose="02020603050405020304" pitchFamily="18" charset="0"/>
              </a:rPr>
              <a:t> p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</a:rPr>
              <a:t>故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</a:rPr>
              <a:t>= &lt; 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</a:rPr>
              <a:t>&gt;.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7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7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60" grpId="0"/>
      <p:bldP spid="3778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3">
            <a:extLst>
              <a:ext uri="{FF2B5EF4-FFF2-40B4-BE49-F238E27FC236}">
                <a16:creationId xmlns:a16="http://schemas.microsoft.com/office/drawing/2014/main" id="{7AD5E58B-68B3-4377-A36D-5E95E3ABD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84931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Lagrange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定理的应用</a:t>
            </a:r>
          </a:p>
        </p:txBody>
      </p:sp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D7643C65-261E-4B05-835C-966D793AD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C7D85C-C842-4E90-891A-6F7F6FCB2DE8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79906" name="Rectangle 2">
            <a:extLst>
              <a:ext uri="{FF2B5EF4-FFF2-40B4-BE49-F238E27FC236}">
                <a16:creationId xmlns:a16="http://schemas.microsoft.com/office/drawing/2014/main" id="{3B5368F3-4662-46B8-8C78-89F4142EF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354138"/>
            <a:ext cx="86423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794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>
                <a:latin typeface="Times New Roman" panose="02020603050405020304" pitchFamily="18" charset="0"/>
              </a:rPr>
              <a:t>6 </a:t>
            </a:r>
            <a:r>
              <a:rPr lang="zh-CN" altLang="en-US" sz="2800" b="1">
                <a:latin typeface="Times New Roman" panose="02020603050405020304" pitchFamily="18" charset="0"/>
              </a:rPr>
              <a:t>阶群必含</a:t>
            </a:r>
            <a:r>
              <a:rPr lang="en-US" altLang="zh-CN" sz="2800" b="1">
                <a:latin typeface="Times New Roman" panose="02020603050405020304" pitchFamily="18" charset="0"/>
              </a:rPr>
              <a:t>3 </a:t>
            </a:r>
            <a:r>
              <a:rPr lang="zh-CN" altLang="en-US" sz="2800" b="1">
                <a:latin typeface="Times New Roman" panose="02020603050405020304" pitchFamily="18" charset="0"/>
              </a:rPr>
              <a:t>阶元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79908" name="Rectangle 4">
            <a:extLst>
              <a:ext uri="{FF2B5EF4-FFF2-40B4-BE49-F238E27FC236}">
                <a16:creationId xmlns:a16="http://schemas.microsoft.com/office/drawing/2014/main" id="{A893BED1-8E7C-4792-8415-31D8220FA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060575"/>
            <a:ext cx="8459788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794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证   若存在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| 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</a:rPr>
              <a:t>| = 6, </a:t>
            </a:r>
            <a:r>
              <a:rPr lang="zh-CN" altLang="en-US" sz="2800" b="1">
                <a:latin typeface="Times New Roman" panose="02020603050405020304" pitchFamily="18" charset="0"/>
              </a:rPr>
              <a:t>则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为</a:t>
            </a:r>
            <a:r>
              <a:rPr lang="en-US" altLang="zh-CN" sz="2800" b="1">
                <a:latin typeface="Times New Roman" panose="02020603050405020304" pitchFamily="18" charset="0"/>
              </a:rPr>
              <a:t>3 </a:t>
            </a:r>
            <a:r>
              <a:rPr lang="zh-CN" altLang="en-US" sz="2800" b="1">
                <a:latin typeface="Times New Roman" panose="02020603050405020304" pitchFamily="18" charset="0"/>
              </a:rPr>
              <a:t>阶元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假若没有</a:t>
            </a:r>
            <a:r>
              <a:rPr lang="en-US" altLang="zh-CN" sz="2800" b="1">
                <a:latin typeface="Times New Roman" panose="02020603050405020304" pitchFamily="18" charset="0"/>
              </a:rPr>
              <a:t>6 </a:t>
            </a:r>
            <a:r>
              <a:rPr lang="zh-CN" altLang="en-US" sz="2800" b="1">
                <a:latin typeface="Times New Roman" panose="02020603050405020304" pitchFamily="18" charset="0"/>
              </a:rPr>
              <a:t>阶元</a:t>
            </a:r>
            <a:r>
              <a:rPr lang="en-US" altLang="zh-CN" sz="2800" b="1">
                <a:latin typeface="Times New Roman" panose="02020603050405020304" pitchFamily="18" charset="0"/>
              </a:rPr>
              <a:t>.   </a:t>
            </a:r>
            <a:r>
              <a:rPr lang="zh-CN" altLang="en-US" sz="2800" b="1">
                <a:latin typeface="Times New Roman" panose="02020603050405020304" pitchFamily="18" charset="0"/>
              </a:rPr>
              <a:t>如果没有</a:t>
            </a:r>
            <a:r>
              <a:rPr lang="en-US" altLang="zh-CN" sz="2800" b="1">
                <a:latin typeface="Times New Roman" panose="02020603050405020304" pitchFamily="18" charset="0"/>
              </a:rPr>
              <a:t>3 </a:t>
            </a:r>
            <a:r>
              <a:rPr lang="zh-CN" altLang="en-US" sz="2800" b="1">
                <a:latin typeface="Times New Roman" panose="02020603050405020304" pitchFamily="18" charset="0"/>
              </a:rPr>
              <a:t>阶元，则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 = 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zh-CN" altLang="en-US" sz="2800" b="1">
                <a:latin typeface="Times New Roman" panose="02020603050405020304" pitchFamily="18" charset="0"/>
              </a:rPr>
              <a:t>则 </a:t>
            </a:r>
            <a:r>
              <a:rPr lang="en-US" altLang="zh-CN" sz="2800" b="1" i="1">
                <a:latin typeface="Times New Roman" panose="02020603050405020304" pitchFamily="18" charset="0"/>
              </a:rPr>
              <a:t>G </a:t>
            </a:r>
            <a:r>
              <a:rPr lang="zh-CN" altLang="en-US" sz="2800" b="1">
                <a:latin typeface="Times New Roman" panose="02020603050405020304" pitchFamily="18" charset="0"/>
              </a:rPr>
              <a:t>为</a:t>
            </a:r>
            <a:r>
              <a:rPr lang="en-US" altLang="zh-CN" sz="2800" b="1">
                <a:latin typeface="Times New Roman" panose="02020603050405020304" pitchFamily="18" charset="0"/>
              </a:rPr>
              <a:t>Abel </a:t>
            </a:r>
            <a:r>
              <a:rPr lang="zh-CN" altLang="en-US" sz="2800" b="1">
                <a:latin typeface="Times New Roman" panose="02020603050405020304" pitchFamily="18" charset="0"/>
              </a:rPr>
              <a:t>群，</a:t>
            </a:r>
            <a:r>
              <a:rPr lang="en-US" altLang="zh-CN" sz="2800" b="1">
                <a:latin typeface="Times New Roman" panose="02020603050405020304" pitchFamily="18" charset="0"/>
              </a:rPr>
              <a:t>{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ab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e </a:t>
            </a:r>
            <a:r>
              <a:rPr lang="en-US" altLang="zh-CN" sz="2800" b="1">
                <a:latin typeface="Times New Roman" panose="02020603050405020304" pitchFamily="18" charset="0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</a:rPr>
              <a:t>为子群，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与 </a:t>
            </a:r>
            <a:r>
              <a:rPr lang="en-US" altLang="zh-CN" sz="2800" b="1">
                <a:latin typeface="Times New Roman" panose="02020603050405020304" pitchFamily="18" charset="0"/>
              </a:rPr>
              <a:t>Lagrange </a:t>
            </a:r>
            <a:r>
              <a:rPr lang="zh-CN" altLang="en-US" sz="2800" b="1">
                <a:latin typeface="Times New Roman" panose="02020603050405020304" pitchFamily="18" charset="0"/>
              </a:rPr>
              <a:t>定理矛盾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6" grpId="0"/>
      <p:bldP spid="37990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3E16113F-8B57-4CA2-B959-BF8B49D0AC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29600" cy="8509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Lagrange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定理的应用</a:t>
            </a:r>
          </a:p>
        </p:txBody>
      </p:sp>
      <p:sp>
        <p:nvSpPr>
          <p:cNvPr id="12290" name="灯片编号占位符 4">
            <a:extLst>
              <a:ext uri="{FF2B5EF4-FFF2-40B4-BE49-F238E27FC236}">
                <a16:creationId xmlns:a16="http://schemas.microsoft.com/office/drawing/2014/main" id="{4868976B-BBBA-42DB-ACA3-72C00E459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CECE884-CA23-4F11-A99C-9D42B12EA644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81955" name="Rectangle 3">
            <a:extLst>
              <a:ext uri="{FF2B5EF4-FFF2-40B4-BE49-F238E27FC236}">
                <a16:creationId xmlns:a16="http://schemas.microsoft.com/office/drawing/2014/main" id="{E3F6C459-2C37-4650-B453-619D5E28D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413" y="1341438"/>
            <a:ext cx="8964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>
                <a:latin typeface="Times New Roman" panose="02020603050405020304" pitchFamily="18" charset="0"/>
              </a:rPr>
              <a:t>6 </a:t>
            </a:r>
            <a:r>
              <a:rPr lang="zh-CN" altLang="en-US" sz="2800" b="1">
                <a:latin typeface="Times New Roman" panose="02020603050405020304" pitchFamily="18" charset="0"/>
              </a:rPr>
              <a:t>阶群在同构意义上只有 </a:t>
            </a:r>
            <a:r>
              <a:rPr lang="en-US" altLang="zh-CN" sz="2800" b="1">
                <a:latin typeface="Times New Roman" panose="02020603050405020304" pitchFamily="18" charset="0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</a:rPr>
              <a:t>个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381956" name="Rectangle 4">
            <a:extLst>
              <a:ext uri="{FF2B5EF4-FFF2-40B4-BE49-F238E27FC236}">
                <a16:creationId xmlns:a16="http://schemas.microsoft.com/office/drawing/2014/main" id="{C7F58D19-7E32-477C-8F95-0BEF23B84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1844675"/>
            <a:ext cx="9144000" cy="265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800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证明思路：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若 </a:t>
            </a:r>
            <a:r>
              <a:rPr lang="en-US" altLang="zh-CN" sz="2800" b="1" i="1">
                <a:latin typeface="Times New Roman" panose="02020603050405020304" pitchFamily="18" charset="0"/>
              </a:rPr>
              <a:t>G </a:t>
            </a:r>
            <a:r>
              <a:rPr lang="zh-CN" altLang="en-US" sz="2800" b="1">
                <a:latin typeface="Times New Roman" panose="02020603050405020304" pitchFamily="18" charset="0"/>
              </a:rPr>
              <a:t>含</a:t>
            </a:r>
            <a:r>
              <a:rPr lang="en-US" altLang="zh-CN" sz="2800" b="1">
                <a:latin typeface="Times New Roman" panose="02020603050405020304" pitchFamily="18" charset="0"/>
              </a:rPr>
              <a:t>6 </a:t>
            </a:r>
            <a:r>
              <a:rPr lang="zh-CN" altLang="en-US" sz="2800" b="1">
                <a:latin typeface="Times New Roman" panose="02020603050405020304" pitchFamily="18" charset="0"/>
              </a:rPr>
              <a:t>阶元，是循环群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若不含 </a:t>
            </a:r>
            <a:r>
              <a:rPr lang="en-US" altLang="zh-CN" sz="2800" b="1">
                <a:latin typeface="Times New Roman" panose="02020603050405020304" pitchFamily="18" charset="0"/>
              </a:rPr>
              <a:t>6 </a:t>
            </a:r>
            <a:r>
              <a:rPr lang="zh-CN" altLang="en-US" sz="2800" b="1">
                <a:latin typeface="Times New Roman" panose="02020603050405020304" pitchFamily="18" charset="0"/>
              </a:rPr>
              <a:t>阶元，则含 </a:t>
            </a:r>
            <a:r>
              <a:rPr lang="en-US" altLang="zh-CN" sz="2800" b="1">
                <a:latin typeface="Times New Roman" panose="02020603050405020304" pitchFamily="18" charset="0"/>
              </a:rPr>
              <a:t>3 </a:t>
            </a:r>
            <a:r>
              <a:rPr lang="zh-CN" altLang="en-US" sz="2800" b="1">
                <a:latin typeface="Times New Roman" panose="02020603050405020304" pitchFamily="18" charset="0"/>
              </a:rPr>
              <a:t>阶元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取 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800" b="1">
                <a:latin typeface="Times New Roman" panose="02020603050405020304" pitchFamily="18" charset="0"/>
              </a:rPr>
              <a:t>{ </a:t>
            </a:r>
            <a:r>
              <a:rPr lang="en-US" altLang="zh-CN" sz="2800" b="1" i="1">
                <a:latin typeface="Times New Roman" panose="02020603050405020304" pitchFamily="18" charset="0"/>
              </a:rPr>
              <a:t>e, a,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},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则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两两不等（消去律）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可以证明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= {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}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同构于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1957" name="Rectangle 5">
            <a:extLst>
              <a:ext uri="{FF2B5EF4-FFF2-40B4-BE49-F238E27FC236}">
                <a16:creationId xmlns:a16="http://schemas.microsoft.com/office/drawing/2014/main" id="{73510186-6760-4D34-8A64-4F91FCDA8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4652963"/>
            <a:ext cx="8135938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推广 </a:t>
            </a: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10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阶群只有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个，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阶群只有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4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阶群只有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个：循环群和 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Klein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四元群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1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1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5" grpId="0"/>
      <p:bldP spid="381956" grpId="0"/>
      <p:bldP spid="3819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>
            <a:extLst>
              <a:ext uri="{FF2B5EF4-FFF2-40B4-BE49-F238E27FC236}">
                <a16:creationId xmlns:a16="http://schemas.microsoft.com/office/drawing/2014/main" id="{B4A2FDA8-75AD-4745-81AA-8818EF1D1E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共轭关系与共轭类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9A9B93DB-60B8-473E-870B-616C02A752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268413"/>
            <a:ext cx="8229600" cy="16129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zh-CN" altLang="en-US" sz="2600" b="1">
                <a:latin typeface="Times New Roman" panose="02020603050405020304" pitchFamily="18" charset="0"/>
              </a:rPr>
              <a:t> 设 </a:t>
            </a:r>
            <a:r>
              <a:rPr lang="en-US" altLang="zh-CN" sz="2600" b="1" i="1">
                <a:latin typeface="Times New Roman" panose="02020603050405020304" pitchFamily="18" charset="0"/>
              </a:rPr>
              <a:t>G </a:t>
            </a:r>
            <a:r>
              <a:rPr lang="zh-CN" altLang="en-US" sz="2600" b="1">
                <a:latin typeface="Times New Roman" panose="02020603050405020304" pitchFamily="18" charset="0"/>
              </a:rPr>
              <a:t>为群，定义 </a:t>
            </a:r>
            <a:r>
              <a:rPr lang="en-US" altLang="zh-CN" sz="2600" b="1" i="1">
                <a:latin typeface="Times New Roman" panose="02020603050405020304" pitchFamily="18" charset="0"/>
              </a:rPr>
              <a:t>G </a:t>
            </a:r>
            <a:r>
              <a:rPr lang="zh-CN" altLang="en-US" sz="2600" b="1">
                <a:latin typeface="Times New Roman" panose="02020603050405020304" pitchFamily="18" charset="0"/>
              </a:rPr>
              <a:t>上二元关系 </a:t>
            </a:r>
            <a:r>
              <a:rPr lang="en-US" altLang="zh-CN" sz="2600" b="1" i="1">
                <a:latin typeface="Times New Roman" panose="02020603050405020304" pitchFamily="18" charset="0"/>
              </a:rPr>
              <a:t>R </a:t>
            </a:r>
            <a:r>
              <a:rPr lang="zh-CN" altLang="en-US" sz="2600" b="1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>
                <a:latin typeface="Times New Roman" panose="02020603050405020304" pitchFamily="18" charset="0"/>
              </a:rPr>
              <a:t>                     </a:t>
            </a:r>
            <a:r>
              <a:rPr lang="zh-CN" altLang="en-US" sz="2600" b="1" i="1">
                <a:latin typeface="Times New Roman" panose="02020603050405020304" pitchFamily="18" charset="0"/>
              </a:rPr>
              <a:t> </a:t>
            </a:r>
            <a:r>
              <a:rPr lang="en-US" altLang="zh-CN" sz="2600" b="1" i="1">
                <a:latin typeface="Times New Roman" panose="02020603050405020304" pitchFamily="18" charset="0"/>
              </a:rPr>
              <a:t>a R b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600" b="1">
                <a:latin typeface="Times New Roman" panose="02020603050405020304" pitchFamily="18" charset="0"/>
              </a:rPr>
              <a:t>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 </a:t>
            </a:r>
            <a:r>
              <a:rPr lang="en-US" altLang="zh-CN" sz="2600" b="1" i="1">
                <a:latin typeface="Times New Roman" panose="02020603050405020304" pitchFamily="18" charset="0"/>
              </a:rPr>
              <a:t>x </a:t>
            </a:r>
            <a:r>
              <a:rPr lang="en-US" altLang="zh-CN" sz="2600" b="1">
                <a:latin typeface="Times New Roman" panose="02020603050405020304" pitchFamily="18" charset="0"/>
              </a:rPr>
              <a:t>( </a:t>
            </a: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G</a:t>
            </a:r>
            <a:r>
              <a:rPr lang="en-US" altLang="zh-CN" sz="2600" b="1">
                <a:latin typeface="Times New Roman" panose="02020603050405020304" pitchFamily="18" charset="0"/>
              </a:rPr>
              <a:t>,  </a:t>
            </a:r>
            <a:r>
              <a:rPr lang="en-US" altLang="zh-CN" sz="2600" b="1" i="1">
                <a:latin typeface="Times New Roman" panose="02020603050405020304" pitchFamily="18" charset="0"/>
              </a:rPr>
              <a:t>b </a:t>
            </a:r>
            <a:r>
              <a:rPr lang="en-US" altLang="zh-CN" sz="2600" b="1">
                <a:latin typeface="Times New Roman" panose="02020603050405020304" pitchFamily="18" charset="0"/>
              </a:rPr>
              <a:t>= </a:t>
            </a:r>
            <a:r>
              <a:rPr lang="en-US" altLang="zh-CN" sz="2600" b="1" i="1">
                <a:latin typeface="Times New Roman" panose="02020603050405020304" pitchFamily="18" charset="0"/>
              </a:rPr>
              <a:t>x a x</a:t>
            </a:r>
            <a:r>
              <a:rPr lang="en-US" altLang="zh-CN" sz="26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6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600" b="1" i="1">
                <a:latin typeface="Times New Roman" panose="02020603050405020304" pitchFamily="18" charset="0"/>
              </a:rPr>
              <a:t> </a:t>
            </a:r>
            <a:r>
              <a:rPr lang="en-US" altLang="zh-CN" sz="2600" b="1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 b="1">
                <a:latin typeface="Times New Roman" panose="02020603050405020304" pitchFamily="18" charset="0"/>
              </a:rPr>
              <a:t> </a:t>
            </a:r>
            <a:r>
              <a:rPr lang="zh-CN" altLang="en-US" sz="2600" b="1">
                <a:latin typeface="Times New Roman" panose="02020603050405020304" pitchFamily="18" charset="0"/>
              </a:rPr>
              <a:t>称 </a:t>
            </a:r>
            <a:r>
              <a:rPr lang="en-US" altLang="zh-CN" sz="2600" b="1" i="1">
                <a:latin typeface="Times New Roman" panose="02020603050405020304" pitchFamily="18" charset="0"/>
              </a:rPr>
              <a:t>R </a:t>
            </a:r>
            <a:r>
              <a:rPr lang="zh-CN" altLang="en-US" sz="2600" b="1">
                <a:latin typeface="Times New Roman" panose="02020603050405020304" pitchFamily="18" charset="0"/>
              </a:rPr>
              <a:t>为 </a:t>
            </a:r>
            <a:r>
              <a:rPr lang="en-US" altLang="zh-CN" sz="2600" b="1" i="1">
                <a:latin typeface="Times New Roman" panose="02020603050405020304" pitchFamily="18" charset="0"/>
              </a:rPr>
              <a:t>G </a:t>
            </a:r>
            <a:r>
              <a:rPr lang="zh-CN" altLang="en-US" sz="2600" b="1">
                <a:latin typeface="Times New Roman" panose="02020603050405020304" pitchFamily="18" charset="0"/>
              </a:rPr>
              <a:t>上的</a:t>
            </a:r>
            <a:r>
              <a:rPr lang="zh-CN" altLang="en-US" sz="2600" b="1">
                <a:solidFill>
                  <a:srgbClr val="A50021"/>
                </a:solidFill>
                <a:latin typeface="Times New Roman" panose="02020603050405020304" pitchFamily="18" charset="0"/>
              </a:rPr>
              <a:t>共轭关系</a:t>
            </a:r>
            <a:endParaRPr lang="zh-CN" altLang="en-US" sz="2600" b="1">
              <a:latin typeface="Times New Roman" panose="02020603050405020304" pitchFamily="18" charset="0"/>
            </a:endParaRPr>
          </a:p>
        </p:txBody>
      </p:sp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54C31FF0-1F26-4BCC-B157-51C07FC5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97F9E65-62EC-4C76-B3EE-6A7F705B88F6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84006" name="Rectangle 6">
            <a:extLst>
              <a:ext uri="{FF2B5EF4-FFF2-40B4-BE49-F238E27FC236}">
                <a16:creationId xmlns:a16="http://schemas.microsoft.com/office/drawing/2014/main" id="{FB8700E6-9E02-4ABB-AAB9-A7C7890E3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068638"/>
            <a:ext cx="8229600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>
                <a:latin typeface="Times New Roman" panose="02020603050405020304" pitchFamily="18" charset="0"/>
              </a:rPr>
              <a:t>共轭关系是 </a:t>
            </a:r>
            <a:r>
              <a:rPr lang="en-US" altLang="zh-CN" sz="2600" b="1" i="1">
                <a:latin typeface="Times New Roman" panose="02020603050405020304" pitchFamily="18" charset="0"/>
              </a:rPr>
              <a:t>G</a:t>
            </a:r>
            <a:r>
              <a:rPr lang="zh-CN" altLang="en-US" sz="2600" b="1">
                <a:latin typeface="Times New Roman" panose="02020603050405020304" pitchFamily="18" charset="0"/>
              </a:rPr>
              <a:t>上等价关系，等价类为</a:t>
            </a:r>
            <a:r>
              <a:rPr lang="zh-CN" altLang="en-US" sz="2600" b="1">
                <a:solidFill>
                  <a:srgbClr val="A50021"/>
                </a:solidFill>
                <a:latin typeface="Times New Roman" panose="02020603050405020304" pitchFamily="18" charset="0"/>
              </a:rPr>
              <a:t>共轭类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>
                <a:latin typeface="Times New Roman" panose="02020603050405020304" pitchFamily="18" charset="0"/>
              </a:rPr>
              <a:t> 共轭类的性质：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>
                <a:latin typeface="Times New Roman" panose="02020603050405020304" pitchFamily="18" charset="0"/>
              </a:rPr>
              <a:t>                       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C</a:t>
            </a:r>
            <a:r>
              <a:rPr lang="en-US" altLang="zh-CN" sz="2600" b="1">
                <a:latin typeface="Times New Roman" panose="02020603050405020304" pitchFamily="18" charset="0"/>
              </a:rPr>
              <a:t>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600" b="1">
                <a:latin typeface="Times New Roman" panose="02020603050405020304" pitchFamily="18" charset="0"/>
              </a:rPr>
              <a:t> </a:t>
            </a:r>
            <a:r>
              <a:rPr lang="en-US" altLang="zh-CN" sz="2600" b="1" i="1">
                <a:latin typeface="Times New Roman" panose="02020603050405020304" pitchFamily="18" charset="0"/>
              </a:rPr>
              <a:t>ā </a:t>
            </a:r>
            <a:r>
              <a:rPr lang="en-US" altLang="zh-CN" sz="2600" b="1">
                <a:latin typeface="Times New Roman" panose="02020603050405020304" pitchFamily="18" charset="0"/>
              </a:rPr>
              <a:t>={ </a:t>
            </a:r>
            <a:r>
              <a:rPr lang="en-US" altLang="zh-CN" sz="2600" b="1" i="1">
                <a:latin typeface="Times New Roman" panose="02020603050405020304" pitchFamily="18" charset="0"/>
              </a:rPr>
              <a:t>a </a:t>
            </a:r>
            <a:r>
              <a:rPr lang="en-US" altLang="zh-CN" sz="2600" b="1">
                <a:latin typeface="Times New Roman" panose="02020603050405020304" pitchFamily="18" charset="0"/>
              </a:rPr>
              <a:t>}  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600" b="1">
                <a:latin typeface="Times New Roman" panose="02020603050405020304" pitchFamily="18" charset="0"/>
              </a:rPr>
              <a:t>                       | </a:t>
            </a:r>
            <a:r>
              <a:rPr lang="en-US" altLang="zh-CN" sz="2600" b="1" i="1">
                <a:latin typeface="Times New Roman" panose="02020603050405020304" pitchFamily="18" charset="0"/>
              </a:rPr>
              <a:t>ā </a:t>
            </a:r>
            <a:r>
              <a:rPr lang="en-US" altLang="zh-CN" sz="2600" b="1">
                <a:latin typeface="Times New Roman" panose="02020603050405020304" pitchFamily="18" charset="0"/>
              </a:rPr>
              <a:t>| = [ </a:t>
            </a:r>
            <a:r>
              <a:rPr lang="en-US" altLang="zh-CN" sz="2600" b="1" i="1">
                <a:latin typeface="Times New Roman" panose="02020603050405020304" pitchFamily="18" charset="0"/>
              </a:rPr>
              <a:t>G </a:t>
            </a:r>
            <a:r>
              <a:rPr lang="en-US" altLang="zh-CN" sz="2600" b="1">
                <a:latin typeface="Times New Roman" panose="02020603050405020304" pitchFamily="18" charset="0"/>
              </a:rPr>
              <a:t>: 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en-US" altLang="zh-CN" sz="2600" b="1">
                <a:latin typeface="Times New Roman" panose="02020603050405020304" pitchFamily="18" charset="0"/>
              </a:rPr>
              <a:t>) ],  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>
                <a:latin typeface="Times New Roman" panose="02020603050405020304" pitchFamily="18" charset="0"/>
              </a:rPr>
              <a:t>其中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>
                <a:latin typeface="Times New Roman" panose="02020603050405020304" pitchFamily="18" charset="0"/>
              </a:rPr>
              <a:t>                 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en-US" altLang="zh-CN" sz="2600" b="1">
                <a:latin typeface="Times New Roman" panose="02020603050405020304" pitchFamily="18" charset="0"/>
              </a:rPr>
              <a:t>) = { </a:t>
            </a:r>
            <a:r>
              <a:rPr lang="en-US" altLang="zh-CN" sz="2600" b="1" i="1">
                <a:latin typeface="Times New Roman" panose="02020603050405020304" pitchFamily="18" charset="0"/>
              </a:rPr>
              <a:t>x </a:t>
            </a:r>
            <a:r>
              <a:rPr lang="en-US" altLang="zh-CN" sz="2600" b="1">
                <a:latin typeface="Times New Roman" panose="02020603050405020304" pitchFamily="18" charset="0"/>
              </a:rPr>
              <a:t>| </a:t>
            </a: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G</a:t>
            </a:r>
            <a:r>
              <a:rPr lang="en-US" altLang="zh-CN" sz="2600" b="1">
                <a:latin typeface="Times New Roman" panose="02020603050405020304" pitchFamily="18" charset="0"/>
              </a:rPr>
              <a:t>,  </a:t>
            </a:r>
            <a:r>
              <a:rPr lang="en-US" altLang="zh-CN" sz="2600" b="1" i="1">
                <a:latin typeface="Times New Roman" panose="02020603050405020304" pitchFamily="18" charset="0"/>
              </a:rPr>
              <a:t>xa = ax</a:t>
            </a:r>
            <a:r>
              <a:rPr lang="en-US" altLang="zh-CN" sz="2600" b="1">
                <a:latin typeface="Times New Roman" panose="02020603050405020304" pitchFamily="18" charset="0"/>
              </a:rPr>
              <a:t> }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4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4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>
            <a:extLst>
              <a:ext uri="{FF2B5EF4-FFF2-40B4-BE49-F238E27FC236}">
                <a16:creationId xmlns:a16="http://schemas.microsoft.com/office/drawing/2014/main" id="{F69831ED-CB2B-404C-919A-B4CA9D12E8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10356"/>
            <a:ext cx="6553200" cy="7921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D4F5FF9-260A-450D-83B7-608978E47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268413"/>
            <a:ext cx="8229600" cy="4525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证明   </a:t>
            </a:r>
            <a:r>
              <a:rPr lang="en-US" altLang="zh-CN" sz="2800" b="1">
                <a:latin typeface="Times New Roman" panose="02020603050405020304" pitchFamily="18" charset="0"/>
              </a:rPr>
              <a:t>| </a:t>
            </a:r>
            <a:r>
              <a:rPr lang="en-US" altLang="zh-CN" sz="2800" b="1" i="1">
                <a:latin typeface="Times New Roman" panose="02020603050405020304" pitchFamily="18" charset="0"/>
              </a:rPr>
              <a:t>ā </a:t>
            </a:r>
            <a:r>
              <a:rPr lang="en-US" altLang="zh-CN" sz="2800" b="1">
                <a:latin typeface="Times New Roman" panose="02020603050405020304" pitchFamily="18" charset="0"/>
              </a:rPr>
              <a:t>| = [</a:t>
            </a:r>
            <a:r>
              <a:rPr lang="en-US" altLang="zh-CN" sz="2800" b="1" i="1">
                <a:latin typeface="Times New Roman" panose="02020603050405020304" pitchFamily="18" charset="0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)]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   </a:t>
            </a:r>
            <a:r>
              <a:rPr lang="zh-CN" altLang="en-US" sz="2800" b="1">
                <a:latin typeface="Times New Roman" panose="02020603050405020304" pitchFamily="18" charset="0"/>
              </a:rPr>
              <a:t>其中 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) = { </a:t>
            </a:r>
            <a:r>
              <a:rPr lang="en-US" altLang="zh-CN" sz="2800" b="1" i="1">
                <a:latin typeface="Times New Roman" panose="02020603050405020304" pitchFamily="18" charset="0"/>
              </a:rPr>
              <a:t>x </a:t>
            </a:r>
            <a:r>
              <a:rPr lang="en-US" altLang="zh-CN" sz="2800" b="1">
                <a:latin typeface="Times New Roman" panose="02020603050405020304" pitchFamily="18" charset="0"/>
              </a:rPr>
              <a:t>|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</a:rPr>
              <a:t>xa = ax</a:t>
            </a:r>
            <a:r>
              <a:rPr lang="en-US" altLang="zh-CN" sz="2800" b="1">
                <a:latin typeface="Times New Roman" panose="02020603050405020304" pitchFamily="18" charset="0"/>
              </a:rPr>
              <a:t> }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证 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x, 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x a x</a:t>
            </a:r>
            <a:r>
              <a:rPr lang="en-US" altLang="zh-CN" sz="28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y a y</a:t>
            </a:r>
            <a:r>
              <a:rPr lang="en-US" altLang="zh-CN" sz="28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 1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x</a:t>
            </a:r>
            <a:r>
              <a:rPr lang="en-US" altLang="zh-CN" sz="28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 1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 1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y a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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 1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 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 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y 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  </a:t>
            </a:r>
            <a:endParaRPr lang="en-US" altLang="en-US" sz="2800" b="1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DDACACAD-4B43-4BFE-B2F8-5094993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335863F-B66F-4B99-A8AA-A6890F3C6211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>
            <a:extLst>
              <a:ext uri="{FF2B5EF4-FFF2-40B4-BE49-F238E27FC236}">
                <a16:creationId xmlns:a16="http://schemas.microsoft.com/office/drawing/2014/main" id="{6E4A22CE-F9DD-4C36-9754-439A790B6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两种分解的实例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6A84C72D-3EDD-4EE5-870E-8D0A766455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229600" cy="27638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={ (1), (12), (13), (23), (123), (132) }, 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={ (1), (12) }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按照陪集分解：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</a:rPr>
              <a:t>(13) = { (13), (132) }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</a:rPr>
              <a:t>(23) = { (23), (123)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 { { (1), (12) }, { (13), (132) }, { (23), (123) }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按照共轭类分解：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</a:t>
            </a:r>
            <a:r>
              <a:rPr lang="en-US" altLang="zh-CN" sz="2400" b="1">
                <a:latin typeface="Times New Roman" panose="02020603050405020304" pitchFamily="18" charset="0"/>
              </a:rPr>
              <a:t>{ { (1) }, { (12), (13), (23) }, { (123), (132) } }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F12ABCDE-A9DF-434A-9E05-AB89D7E69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078148-B74D-4E47-B216-243ED4860F0E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35204" name="Rectangle 4">
            <a:extLst>
              <a:ext uri="{FF2B5EF4-FFF2-40B4-BE49-F238E27FC236}">
                <a16:creationId xmlns:a16="http://schemas.microsoft.com/office/drawing/2014/main" id="{F93A977D-D5A1-4CB7-98FD-CB3D42239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716338"/>
            <a:ext cx="822960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区别：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</a:rPr>
              <a:t>陪集分解等价类等势，共轭类分解不等势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(2) </a:t>
            </a:r>
            <a:r>
              <a:rPr lang="zh-CN" altLang="en-US" sz="2400" b="1">
                <a:latin typeface="Times New Roman" panose="02020603050405020304" pitchFamily="18" charset="0"/>
              </a:rPr>
              <a:t>共轭类中置换的轮换结构相同，陪集分解不是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(3) </a:t>
            </a:r>
            <a:r>
              <a:rPr lang="zh-CN" altLang="en-US" sz="2400" b="1">
                <a:latin typeface="Times New Roman" panose="02020603050405020304" pitchFamily="18" charset="0"/>
              </a:rPr>
              <a:t>陪集分解计数导致 </a:t>
            </a:r>
            <a:r>
              <a:rPr lang="en-US" altLang="zh-CN" sz="2400" b="1">
                <a:latin typeface="Times New Roman" panose="02020603050405020304" pitchFamily="18" charset="0"/>
              </a:rPr>
              <a:t>Lagrange</a:t>
            </a:r>
            <a:r>
              <a:rPr lang="zh-CN" altLang="en-US" sz="2400" b="1">
                <a:latin typeface="Times New Roman" panose="02020603050405020304" pitchFamily="18" charset="0"/>
              </a:rPr>
              <a:t>定理，共轭类分解计数导致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群的分类方程          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5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5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0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>
            <a:extLst>
              <a:ext uri="{FF2B5EF4-FFF2-40B4-BE49-F238E27FC236}">
                <a16:creationId xmlns:a16="http://schemas.microsoft.com/office/drawing/2014/main" id="{60FFCA54-1C18-4BD6-B8FA-C91AFA9FE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群的分类方程</a:t>
            </a:r>
          </a:p>
        </p:txBody>
      </p:sp>
      <p:sp>
        <p:nvSpPr>
          <p:cNvPr id="1027" name="灯片编号占位符 4">
            <a:extLst>
              <a:ext uri="{FF2B5EF4-FFF2-40B4-BE49-F238E27FC236}">
                <a16:creationId xmlns:a16="http://schemas.microsoft.com/office/drawing/2014/main" id="{3F2B52D4-92B2-41F0-B30E-5D1A713B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C121AEF-DA0E-4648-B96D-3C0967E8AAB9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6C116E3-7EE5-4E9A-A3FD-355DCC078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268413"/>
            <a:ext cx="79914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群的分类方程</a:t>
            </a:r>
            <a:endParaRPr lang="zh-CN" altLang="en-US" sz="2800" b="1"/>
          </a:p>
          <a:p>
            <a:pPr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为群，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为中心，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中至少含两个元素的</a:t>
            </a:r>
            <a:endParaRPr lang="zh-CN" altLang="en-US" sz="2800"/>
          </a:p>
          <a:p>
            <a:pPr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共轭类有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个，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... 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为代表元素，则</a:t>
            </a:r>
            <a:endParaRPr lang="zh-CN" altLang="en-US" sz="2800"/>
          </a:p>
          <a:p>
            <a:pPr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= |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+ [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)] + [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)] + </a:t>
            </a:r>
            <a:r>
              <a:rPr lang="en-US" altLang="zh-CN" sz="2800" b="1">
                <a:cs typeface="Times New Roman" panose="02020603050405020304" pitchFamily="18" charset="0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+ [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)] </a:t>
            </a:r>
            <a:endParaRPr lang="en-US" altLang="zh-CN" sz="2800"/>
          </a:p>
        </p:txBody>
      </p:sp>
      <p:graphicFrame>
        <p:nvGraphicFramePr>
          <p:cNvPr id="388100" name="Object 4">
            <a:extLst>
              <a:ext uri="{FF2B5EF4-FFF2-40B4-BE49-F238E27FC236}">
                <a16:creationId xmlns:a16="http://schemas.microsoft.com/office/drawing/2014/main" id="{626D1A4C-D072-42C3-A264-48EAB1C619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419600"/>
          <a:ext cx="7088187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Microsoft 公式 3.0" r:id="rId4" imgW="3098800" imgH="457200" progId="Equation.3">
                  <p:embed/>
                </p:oleObj>
              </mc:Choice>
              <mc:Fallback>
                <p:oleObj name="Microsoft 公式 3.0" r:id="rId4" imgW="30988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419600"/>
                        <a:ext cx="7088187" cy="105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02" name="Rectangle 6">
            <a:extLst>
              <a:ext uri="{FF2B5EF4-FFF2-40B4-BE49-F238E27FC236}">
                <a16:creationId xmlns:a16="http://schemas.microsoft.com/office/drawing/2014/main" id="{447D16EA-5980-4B89-BEF2-1117E3304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589588"/>
            <a:ext cx="3530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注：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/>
          </a:p>
        </p:txBody>
      </p:sp>
      <p:sp>
        <p:nvSpPr>
          <p:cNvPr id="388103" name="Rectangle 7">
            <a:extLst>
              <a:ext uri="{FF2B5EF4-FFF2-40B4-BE49-F238E27FC236}">
                <a16:creationId xmlns:a16="http://schemas.microsoft.com/office/drawing/2014/main" id="{C5962583-96EE-4D71-A417-C00459115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644900"/>
            <a:ext cx="6840537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证明：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>
                <a:cs typeface="Times New Roman" panose="02020603050405020304" pitchFamily="18" charset="0"/>
              </a:rPr>
              <a:t>…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8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8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02" grpId="0"/>
      <p:bldP spid="38810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>
            <a:extLst>
              <a:ext uri="{FF2B5EF4-FFF2-40B4-BE49-F238E27FC236}">
                <a16:creationId xmlns:a16="http://schemas.microsoft.com/office/drawing/2014/main" id="{E5FABEBE-EAB7-4D64-8282-C669B1718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群分类方程的应用</a:t>
            </a:r>
          </a:p>
        </p:txBody>
      </p:sp>
      <p:sp>
        <p:nvSpPr>
          <p:cNvPr id="15363" name="内容占位符 4">
            <a:extLst>
              <a:ext uri="{FF2B5EF4-FFF2-40B4-BE49-F238E27FC236}">
                <a16:creationId xmlns:a16="http://schemas.microsoft.com/office/drawing/2014/main" id="{AF3D192A-44FC-419A-A797-2CDE55547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341438"/>
            <a:ext cx="840105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为素数，则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 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|.   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= 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|+[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]+[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]+…+[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]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对于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1, 2, …,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[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]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的因子，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[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] =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8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或者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[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] = 1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[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] = 1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ā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，矛盾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p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| [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]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| 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灯片编号占位符 4">
            <a:extLst>
              <a:ext uri="{FF2B5EF4-FFF2-40B4-BE49-F238E27FC236}">
                <a16:creationId xmlns:a16="http://schemas.microsoft.com/office/drawing/2014/main" id="{122FE8E5-E97A-4C63-8F0B-5D6E8DA2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3EDED08-C75B-41D3-A18E-2B381C87117C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C408E0DC-EC1C-4A93-9DD8-B6A313D9E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17.6 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正规子群与商群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9E2CD37-7698-485A-A430-94BBC79156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b="1"/>
              <a:t>正规子群及判定</a:t>
            </a:r>
          </a:p>
          <a:p>
            <a:pPr lvl="1" eaLnBrk="1" hangingPunct="1"/>
            <a:r>
              <a:rPr lang="zh-CN" altLang="en-US" b="1"/>
              <a:t>定义</a:t>
            </a:r>
          </a:p>
          <a:p>
            <a:pPr lvl="1" eaLnBrk="1" hangingPunct="1"/>
            <a:r>
              <a:rPr lang="zh-CN" altLang="en-US" b="1"/>
              <a:t>判别定理</a:t>
            </a:r>
          </a:p>
          <a:p>
            <a:pPr lvl="1" eaLnBrk="1" hangingPunct="1"/>
            <a:r>
              <a:rPr lang="zh-CN" altLang="en-US" b="1"/>
              <a:t>判别法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b="1"/>
              <a:t>商群</a:t>
            </a:r>
          </a:p>
          <a:p>
            <a:pPr lvl="1" eaLnBrk="1" hangingPunct="1"/>
            <a:r>
              <a:rPr lang="zh-CN" altLang="en-US" b="1"/>
              <a:t>定义及其实例</a:t>
            </a:r>
          </a:p>
          <a:p>
            <a:pPr lvl="1" eaLnBrk="1" hangingPunct="1"/>
            <a:r>
              <a:rPr lang="zh-CN" altLang="en-US" b="1"/>
              <a:t>性质</a:t>
            </a:r>
          </a:p>
        </p:txBody>
      </p:sp>
      <p:sp>
        <p:nvSpPr>
          <p:cNvPr id="17412" name="灯片编号占位符 5">
            <a:extLst>
              <a:ext uri="{FF2B5EF4-FFF2-40B4-BE49-F238E27FC236}">
                <a16:creationId xmlns:a16="http://schemas.microsoft.com/office/drawing/2014/main" id="{DBF91B09-73EC-494D-85A0-F0BF16C33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9BCA39A-B0EC-4C10-9AC8-790FC3765872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>
            <a:extLst>
              <a:ext uri="{FF2B5EF4-FFF2-40B4-BE49-F238E27FC236}">
                <a16:creationId xmlns:a16="http://schemas.microsoft.com/office/drawing/2014/main" id="{BDAD146E-43DE-484E-9977-0F7F1A9A5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正规子群及其判定</a:t>
            </a:r>
          </a:p>
        </p:txBody>
      </p:sp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08A45CD5-5B5D-48EE-B7CF-EB860CB4D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934C638-9B68-4464-9A28-17A707519EC6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09604" name="Rectangle 4">
            <a:extLst>
              <a:ext uri="{FF2B5EF4-FFF2-40B4-BE49-F238E27FC236}">
                <a16:creationId xmlns:a16="http://schemas.microsoft.com/office/drawing/2014/main" id="{CEC00F61-A01F-4191-B3E4-CF272E5A4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86163"/>
            <a:ext cx="76327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证：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(1) </a:t>
            </a:r>
            <a:r>
              <a:rPr lang="en-US" altLang="zh-CN" sz="2600" b="1">
                <a:latin typeface="Times New Roman" panose="02020603050405020304" pitchFamily="18" charset="0"/>
              </a:rPr>
              <a:t>(2):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gN = Ng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600" b="1">
                <a:latin typeface="Times New Roman" panose="02020603050405020304" pitchFamily="18" charset="0"/>
              </a:rPr>
              <a:t>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gNg</a:t>
            </a:r>
            <a:r>
              <a:rPr lang="en-US" altLang="zh-CN" sz="26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6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endParaRPr lang="en-US" altLang="zh-CN" sz="26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09965B55-5406-4AF0-AB3C-8B903D099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216025"/>
            <a:ext cx="8247062" cy="225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600" b="1">
                <a:solidFill>
                  <a:srgbClr val="A50021"/>
                </a:solidFill>
                <a:latin typeface="Times New Roman" panose="02020603050405020304" pitchFamily="18" charset="0"/>
              </a:rPr>
              <a:t>正规子群</a:t>
            </a:r>
            <a:r>
              <a:rPr lang="zh-CN" altLang="en-US" sz="2600" b="1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600" b="1" i="1">
                <a:latin typeface="Times New Roman" panose="02020603050405020304" pitchFamily="18" charset="0"/>
              </a:rPr>
              <a:t>H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600" b="1" i="1">
                <a:latin typeface="Times New Roman" panose="02020603050405020304" pitchFamily="18" charset="0"/>
              </a:rPr>
              <a:t>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，且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G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aH = Ha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记为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⊴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6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endParaRPr lang="en-US" altLang="zh-CN" sz="26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6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判定定理</a:t>
            </a:r>
            <a:r>
              <a:rPr lang="zh-CN" altLang="en-US" sz="26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：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600" b="1" i="1">
                <a:latin typeface="Times New Roman" panose="02020603050405020304" pitchFamily="18" charset="0"/>
              </a:rPr>
              <a:t>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则下述条件等价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的正规子群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(2) </a:t>
            </a:r>
            <a:r>
              <a:rPr lang="en-US" altLang="zh-CN" sz="2600" b="1" i="1">
                <a:latin typeface="Times New Roman" panose="02020603050405020304" pitchFamily="18" charset="0"/>
              </a:rPr>
              <a:t>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 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gNg</a:t>
            </a:r>
            <a:r>
              <a:rPr lang="en-US" altLang="zh-CN" sz="26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6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zh-CN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 (3) </a:t>
            </a:r>
            <a:r>
              <a:rPr lang="en-US" altLang="zh-CN" sz="2600" b="1" i="1">
                <a:latin typeface="Times New Roman" panose="02020603050405020304" pitchFamily="18" charset="0"/>
              </a:rPr>
              <a:t>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 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gng</a:t>
            </a:r>
            <a:r>
              <a:rPr lang="en-US" altLang="zh-CN" sz="26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6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6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09606" name="Rectangle 6">
            <a:extLst>
              <a:ext uri="{FF2B5EF4-FFF2-40B4-BE49-F238E27FC236}">
                <a16:creationId xmlns:a16="http://schemas.microsoft.com/office/drawing/2014/main" id="{AEE81780-22AD-44F2-B3ED-7E41D5F86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090988"/>
            <a:ext cx="76327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(2) </a:t>
            </a:r>
            <a:r>
              <a:rPr lang="en-US" altLang="zh-CN" sz="2600" b="1">
                <a:latin typeface="Times New Roman" panose="02020603050405020304" pitchFamily="18" charset="0"/>
              </a:rPr>
              <a:t>(3):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gng</a:t>
            </a:r>
            <a:r>
              <a:rPr lang="en-US" altLang="zh-CN" sz="26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6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gNg</a:t>
            </a:r>
            <a:r>
              <a:rPr lang="en-US" altLang="zh-CN" sz="26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6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</a:rPr>
              <a:t>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endParaRPr lang="en-US" altLang="zh-CN" sz="26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09607" name="Rectangle 7">
            <a:extLst>
              <a:ext uri="{FF2B5EF4-FFF2-40B4-BE49-F238E27FC236}">
                <a16:creationId xmlns:a16="http://schemas.microsoft.com/office/drawing/2014/main" id="{66D93BEF-E570-4C68-818C-3F8DCD3F4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678363"/>
            <a:ext cx="7848600" cy="129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(3)</a:t>
            </a:r>
            <a:r>
              <a:rPr lang="en-US" altLang="zh-CN" sz="2600" b="1">
                <a:latin typeface="Times New Roman" panose="02020603050405020304" pitchFamily="18" charset="0"/>
              </a:rPr>
              <a:t>(1):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</a:p>
          <a:p>
            <a:pPr eaLnBrk="1" hangingPunct="1"/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Ng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6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6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G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600" b="1" i="1">
                <a:latin typeface="Times New Roman" panose="02020603050405020304" pitchFamily="18" charset="0"/>
              </a:rPr>
              <a:t>g</a:t>
            </a:r>
            <a:r>
              <a:rPr lang="en-US" altLang="zh-CN" sz="26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6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600" b="1" i="1">
                <a:latin typeface="Times New Roman" panose="02020603050405020304" pitchFamily="18" charset="0"/>
              </a:rPr>
              <a:t>ng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gN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</a:t>
            </a:r>
          </a:p>
          <a:p>
            <a:pPr eaLnBrk="1" hangingPunct="1"/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gN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G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600" b="1" i="1">
                <a:latin typeface="Times New Roman" panose="02020603050405020304" pitchFamily="18" charset="0"/>
              </a:rPr>
              <a:t>gng</a:t>
            </a:r>
            <a:r>
              <a:rPr lang="en-US" altLang="zh-CN" sz="26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6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N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600" b="1" i="1">
                <a:latin typeface="Times New Roman" panose="02020603050405020304" pitchFamily="18" charset="0"/>
              </a:rPr>
              <a:t>gn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</a:rPr>
              <a:t>Ng</a:t>
            </a:r>
            <a:endParaRPr lang="en-US" altLang="zh-CN" sz="26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4" grpId="0"/>
      <p:bldP spid="409606" grpId="0"/>
      <p:bldP spid="40960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>
            <a:extLst>
              <a:ext uri="{FF2B5EF4-FFF2-40B4-BE49-F238E27FC236}">
                <a16:creationId xmlns:a16="http://schemas.microsoft.com/office/drawing/2014/main" id="{21DA4B0A-D0BB-4053-AF6E-DC0F4DA85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正规子群及其判定</a:t>
            </a:r>
          </a:p>
        </p:txBody>
      </p:sp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8730333F-0912-4BA5-99B1-1449FBFD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E8D763-610A-4EE3-9898-0EB5A4ABC0B6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8E467ABC-BF6E-4CC5-8968-ED988323E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55700"/>
            <a:ext cx="7416800" cy="20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判定方法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判定定理 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(2) |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| =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的唯一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阶子群</a:t>
            </a:r>
            <a:endParaRPr lang="en-US" altLang="zh-CN" sz="26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指数为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的子群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1A148603-B0BD-4891-8FB0-4BBDBF790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284538"/>
            <a:ext cx="7993063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>
                <a:latin typeface="Times New Roman" panose="02020603050405020304" pitchFamily="18" charset="0"/>
              </a:rPr>
              <a:t>证  </a:t>
            </a:r>
            <a:r>
              <a:rPr lang="en-US" altLang="zh-CN" sz="2600" b="1">
                <a:latin typeface="Times New Roman" panose="02020603050405020304" pitchFamily="18" charset="0"/>
              </a:rPr>
              <a:t>(2)</a:t>
            </a:r>
            <a:r>
              <a:rPr lang="en-US" altLang="zh-CN" sz="2600" b="1" i="1">
                <a:latin typeface="Times New Roman" panose="02020603050405020304" pitchFamily="18" charset="0"/>
              </a:rPr>
              <a:t> </a:t>
            </a:r>
            <a:r>
              <a:rPr lang="zh-CN" altLang="en-US" sz="2600" b="1">
                <a:latin typeface="Times New Roman" panose="02020603050405020304" pitchFamily="18" charset="0"/>
              </a:rPr>
              <a:t>任取 </a:t>
            </a:r>
            <a:r>
              <a:rPr lang="en-US" altLang="zh-CN" sz="2600" b="1" i="1">
                <a:latin typeface="Times New Roman" panose="02020603050405020304" pitchFamily="18" charset="0"/>
              </a:rPr>
              <a:t>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gNg</a:t>
            </a:r>
            <a:r>
              <a:rPr lang="en-US" altLang="zh-CN" sz="26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gNg</a:t>
            </a:r>
            <a:r>
              <a:rPr lang="en-US" altLang="zh-CN" sz="26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| = |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，从</a:t>
            </a:r>
            <a:endParaRPr lang="en-US" altLang="zh-CN" sz="26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而得到 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gNg</a:t>
            </a:r>
            <a:r>
              <a:rPr lang="en-US" altLang="zh-CN" sz="26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，因此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是正规的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C7DB033-AF56-482D-B5C9-6DB6EE381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365625"/>
            <a:ext cx="7993062" cy="187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bg2"/>
              </a:buClr>
              <a:buSzPct val="75000"/>
              <a:defRPr/>
            </a:pPr>
            <a:r>
              <a:rPr lang="zh-CN" altLang="en-US" sz="2600" b="1" dirty="0">
                <a:latin typeface="Times New Roman" pitchFamily="18" charset="0"/>
              </a:rPr>
              <a:t> </a:t>
            </a:r>
            <a:r>
              <a:rPr lang="en-US" altLang="zh-CN" sz="2600" b="1" dirty="0">
                <a:latin typeface="Times New Roman" pitchFamily="18" charset="0"/>
                <a:sym typeface="Symbol" pitchFamily="18" charset="2"/>
              </a:rPr>
              <a:t>(3) </a:t>
            </a:r>
            <a:r>
              <a:rPr lang="zh-CN" altLang="en-US" sz="2600" b="1" dirty="0">
                <a:latin typeface="Times New Roman" pitchFamily="18" charset="0"/>
              </a:rPr>
              <a:t>任取 </a:t>
            </a:r>
            <a:r>
              <a:rPr lang="en-US" altLang="zh-CN" sz="2600" b="1" i="1" dirty="0" err="1">
                <a:latin typeface="Times New Roman" pitchFamily="18" charset="0"/>
              </a:rPr>
              <a:t>g</a:t>
            </a:r>
            <a:r>
              <a:rPr lang="en-US" altLang="zh-CN" sz="26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600" b="1" i="1" dirty="0" err="1">
                <a:latin typeface="Times New Roman" pitchFamily="18" charset="0"/>
                <a:sym typeface="Symbol" pitchFamily="18" charset="2"/>
              </a:rPr>
              <a:t>G</a:t>
            </a:r>
            <a:r>
              <a:rPr lang="en-US" altLang="zh-CN" sz="2600" b="1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zh-CN" altLang="en-US" sz="2600" b="1" dirty="0">
                <a:latin typeface="Times New Roman" pitchFamily="18" charset="0"/>
                <a:sym typeface="Symbol" pitchFamily="18" charset="2"/>
              </a:rPr>
              <a:t>若 </a:t>
            </a:r>
            <a:r>
              <a:rPr lang="en-US" altLang="zh-CN" sz="2600" b="1" i="1" dirty="0" err="1">
                <a:latin typeface="Times New Roman" pitchFamily="18" charset="0"/>
                <a:sym typeface="Symbol" pitchFamily="18" charset="2"/>
              </a:rPr>
              <a:t>g</a:t>
            </a:r>
            <a:r>
              <a:rPr lang="en-US" altLang="zh-CN" sz="26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600" b="1" i="1" dirty="0" err="1">
                <a:latin typeface="Times New Roman" pitchFamily="18" charset="0"/>
                <a:sym typeface="Symbol" pitchFamily="18" charset="2"/>
              </a:rPr>
              <a:t>N</a:t>
            </a:r>
            <a:r>
              <a:rPr lang="en-US" altLang="zh-CN" sz="2600" b="1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zh-CN" altLang="en-US" sz="2600" b="1" dirty="0">
                <a:latin typeface="Times New Roman" pitchFamily="18" charset="0"/>
                <a:sym typeface="Symbol" pitchFamily="18" charset="2"/>
              </a:rPr>
              <a:t>则 </a:t>
            </a:r>
            <a:r>
              <a:rPr lang="en-US" altLang="zh-CN" sz="2600" b="1" i="1" dirty="0" err="1">
                <a:latin typeface="Times New Roman" pitchFamily="18" charset="0"/>
                <a:sym typeface="Symbol" pitchFamily="18" charset="2"/>
              </a:rPr>
              <a:t>gN</a:t>
            </a:r>
            <a:r>
              <a:rPr lang="en-US" altLang="zh-CN" sz="2600" b="1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600" b="1" dirty="0">
                <a:latin typeface="Times New Roman" pitchFamily="18" charset="0"/>
                <a:sym typeface="Symbol" pitchFamily="18" charset="2"/>
              </a:rPr>
              <a:t>= </a:t>
            </a:r>
            <a:r>
              <a:rPr lang="en-US" altLang="zh-CN" sz="2600" b="1" i="1" dirty="0">
                <a:latin typeface="Times New Roman" pitchFamily="18" charset="0"/>
                <a:sym typeface="Symbol" pitchFamily="18" charset="2"/>
              </a:rPr>
              <a:t>N </a:t>
            </a:r>
            <a:r>
              <a:rPr lang="en-US" altLang="zh-CN" sz="2600" b="1" dirty="0">
                <a:latin typeface="Times New Roman" pitchFamily="18" charset="0"/>
                <a:sym typeface="Symbol" pitchFamily="18" charset="2"/>
              </a:rPr>
              <a:t>= </a:t>
            </a:r>
            <a:r>
              <a:rPr lang="en-US" altLang="zh-CN" sz="2600" b="1" i="1" dirty="0">
                <a:latin typeface="Times New Roman" pitchFamily="18" charset="0"/>
                <a:sym typeface="Symbol" pitchFamily="18" charset="2"/>
              </a:rPr>
              <a:t>Ng</a:t>
            </a:r>
            <a:r>
              <a:rPr lang="zh-CN" altLang="en-US" sz="2600" b="1" dirty="0">
                <a:latin typeface="Times New Roman" pitchFamily="18" charset="0"/>
                <a:sym typeface="Symbol" pitchFamily="18" charset="2"/>
              </a:rPr>
              <a:t>；若 </a:t>
            </a:r>
            <a:r>
              <a:rPr lang="en-US" altLang="zh-CN" sz="2600" b="1" i="1" dirty="0">
                <a:latin typeface="Times New Roman" pitchFamily="18" charset="0"/>
                <a:sym typeface="Symbol" pitchFamily="18" charset="2"/>
              </a:rPr>
              <a:t>g </a:t>
            </a:r>
            <a:r>
              <a:rPr lang="en-US" altLang="zh-CN" sz="2600" b="1" dirty="0">
                <a:latin typeface="Times New Roman" pitchFamily="18" charset="0"/>
                <a:sym typeface="Symbol" pitchFamily="18" charset="2"/>
              </a:rPr>
              <a:t> </a:t>
            </a:r>
            <a:r>
              <a:rPr lang="en-US" altLang="zh-CN" sz="2600" b="1" i="1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altLang="zh-CN" sz="2600" b="1" dirty="0">
                <a:latin typeface="Times New Roman" pitchFamily="18" charset="0"/>
                <a:sym typeface="Symbol" pitchFamily="18" charset="2"/>
              </a:rPr>
              <a:t>,  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zh-CN" altLang="en-US" sz="2600" b="1" dirty="0">
                <a:latin typeface="Times New Roman" pitchFamily="18" charset="0"/>
                <a:sym typeface="Symbol" pitchFamily="18" charset="2"/>
              </a:rPr>
              <a:t>则  </a:t>
            </a:r>
            <a:r>
              <a:rPr lang="en-US" altLang="zh-CN" sz="2600" b="1" i="1" dirty="0" err="1">
                <a:latin typeface="Times New Roman" pitchFamily="18" charset="0"/>
                <a:sym typeface="Symbol" pitchFamily="18" charset="2"/>
              </a:rPr>
              <a:t>gN</a:t>
            </a:r>
            <a:r>
              <a:rPr lang="en-US" altLang="zh-CN" sz="2600" b="1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600" b="1" dirty="0">
                <a:latin typeface="Times New Roman" pitchFamily="18" charset="0"/>
                <a:sym typeface="Symbol" pitchFamily="18" charset="2"/>
              </a:rPr>
              <a:t>= </a:t>
            </a:r>
            <a:r>
              <a:rPr lang="en-US" altLang="zh-CN" sz="2600" b="1" i="1" dirty="0">
                <a:latin typeface="Times New Roman" pitchFamily="18" charset="0"/>
                <a:sym typeface="Symbol" pitchFamily="18" charset="2"/>
              </a:rPr>
              <a:t>G</a:t>
            </a:r>
            <a:r>
              <a:rPr lang="en-US" altLang="zh-CN" sz="2600" b="1" dirty="0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600" b="1" i="1" dirty="0">
                <a:latin typeface="Times New Roman" pitchFamily="18" charset="0"/>
                <a:sym typeface="Symbol" pitchFamily="18" charset="2"/>
              </a:rPr>
              <a:t>N </a:t>
            </a:r>
            <a:r>
              <a:rPr lang="en-US" altLang="zh-CN" sz="2600" b="1" dirty="0">
                <a:latin typeface="Times New Roman" pitchFamily="18" charset="0"/>
                <a:sym typeface="Symbol" pitchFamily="18" charset="2"/>
              </a:rPr>
              <a:t>= </a:t>
            </a:r>
            <a:r>
              <a:rPr lang="en-US" altLang="zh-CN" sz="2600" b="1" i="1" dirty="0">
                <a:latin typeface="Times New Roman" pitchFamily="18" charset="0"/>
                <a:sym typeface="Symbol" pitchFamily="18" charset="2"/>
              </a:rPr>
              <a:t>Ng</a:t>
            </a:r>
            <a:r>
              <a:rPr lang="en-US" altLang="zh-CN" sz="2600" b="1" dirty="0">
                <a:latin typeface="Times New Roman" pitchFamily="18" charset="0"/>
                <a:sym typeface="Symbol" pitchFamily="18" charset="2"/>
              </a:rPr>
              <a:t>,  </a:t>
            </a:r>
            <a:r>
              <a:rPr lang="zh-CN" altLang="en-US" sz="2600" b="1" dirty="0">
                <a:latin typeface="Times New Roman" pitchFamily="18" charset="0"/>
                <a:sym typeface="Symbol" pitchFamily="18" charset="2"/>
              </a:rPr>
              <a:t>因此 </a:t>
            </a:r>
            <a:r>
              <a:rPr lang="en-US" altLang="zh-CN" sz="2600" b="1" i="1" dirty="0">
                <a:latin typeface="Times New Roman" pitchFamily="18" charset="0"/>
                <a:sym typeface="Symbol" pitchFamily="18" charset="2"/>
              </a:rPr>
              <a:t>N </a:t>
            </a:r>
            <a:r>
              <a:rPr lang="zh-CN" altLang="en-US" sz="2600" b="1" dirty="0">
                <a:latin typeface="Times New Roman" pitchFamily="18" charset="0"/>
                <a:sym typeface="Symbol" pitchFamily="18" charset="2"/>
              </a:rPr>
              <a:t>是正规的</a:t>
            </a:r>
            <a:r>
              <a:rPr lang="en-US" altLang="zh-CN" sz="2600" b="1" dirty="0">
                <a:latin typeface="Times New Roman" pitchFamily="18" charset="0"/>
                <a:sym typeface="Symbol" pitchFamily="18" charset="2"/>
              </a:rPr>
              <a:t>.  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endParaRPr lang="en-US" altLang="zh-CN" sz="2400" b="1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>
            <a:extLst>
              <a:ext uri="{FF2B5EF4-FFF2-40B4-BE49-F238E27FC236}">
                <a16:creationId xmlns:a16="http://schemas.microsoft.com/office/drawing/2014/main" id="{D936FB58-F3CC-4489-9B54-E639DE2E2A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商群定义</a:t>
            </a:r>
          </a:p>
        </p:txBody>
      </p:sp>
      <p:sp>
        <p:nvSpPr>
          <p:cNvPr id="21506" name="灯片编号占位符 4">
            <a:extLst>
              <a:ext uri="{FF2B5EF4-FFF2-40B4-BE49-F238E27FC236}">
                <a16:creationId xmlns:a16="http://schemas.microsoft.com/office/drawing/2014/main" id="{7D6D9BE2-7C20-4371-90A1-8797D69E3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D306005-8B4F-40DD-84C5-A233AEF6EB79}" type="slidenum">
              <a:rPr lang="en-US" altLang="zh-CN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9BD20669-69E1-4518-8D47-2944D2CE3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341438"/>
            <a:ext cx="79200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商群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800" b="1" i="1">
                <a:latin typeface="Times New Roman" panose="02020603050405020304" pitchFamily="18" charset="0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</a:rPr>
              <a:t>/ </a:t>
            </a:r>
            <a:r>
              <a:rPr lang="en-US" altLang="zh-CN" sz="2800" b="1" i="1">
                <a:latin typeface="Times New Roman" panose="02020603050405020304" pitchFamily="18" charset="0"/>
              </a:rPr>
              <a:t>H</a:t>
            </a:r>
            <a:r>
              <a:rPr lang="en-US" altLang="zh-CN" sz="2800" b="1">
                <a:latin typeface="Times New Roman" panose="02020603050405020304" pitchFamily="18" charset="0"/>
              </a:rPr>
              <a:t> = {</a:t>
            </a:r>
            <a:r>
              <a:rPr lang="en-US" altLang="zh-CN" sz="2800" b="1" i="1">
                <a:latin typeface="Times New Roman" panose="02020603050405020304" pitchFamily="18" charset="0"/>
              </a:rPr>
              <a:t> Ha</a:t>
            </a:r>
            <a:r>
              <a:rPr lang="en-US" altLang="zh-CN" sz="2800" b="1">
                <a:latin typeface="Times New Roman" panose="02020603050405020304" pitchFamily="18" charset="0"/>
              </a:rPr>
              <a:t> |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}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Ha Hb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Hab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13700" name="Rectangle 4">
            <a:extLst>
              <a:ext uri="{FF2B5EF4-FFF2-40B4-BE49-F238E27FC236}">
                <a16:creationId xmlns:a16="http://schemas.microsoft.com/office/drawing/2014/main" id="{2C2D70F8-B2EF-439D-90E1-6BD2C75D7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3" y="2420938"/>
            <a:ext cx="77057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说明：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良定义性质：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Ha = Hx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Hb = Hy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800" b="1" i="1">
                <a:latin typeface="Times New Roman" panose="02020603050405020304" pitchFamily="18" charset="0"/>
              </a:rPr>
              <a:t> Hab = Hxy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13701" name="Rectangle 5">
            <a:extLst>
              <a:ext uri="{FF2B5EF4-FFF2-40B4-BE49-F238E27FC236}">
                <a16:creationId xmlns:a16="http://schemas.microsoft.com/office/drawing/2014/main" id="{2B9A32CB-DE08-4BFC-95D6-6B278B028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902075"/>
            <a:ext cx="7704137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商群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/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就是商代数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ts val="6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R 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Ha = Hb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ab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a R 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 R d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ac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bd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ac R bd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 baseline="300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a R 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ab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H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R b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00" grpId="0"/>
      <p:bldP spid="41370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>
            <a:extLst>
              <a:ext uri="{FF2B5EF4-FFF2-40B4-BE49-F238E27FC236}">
                <a16:creationId xmlns:a16="http://schemas.microsoft.com/office/drawing/2014/main" id="{295AAF00-94EE-4320-9459-EA572AB36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商群实例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9B29313-2703-4A1F-B411-034FCCA704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91513" cy="44926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</a:rPr>
              <a:t>= &lt; Z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12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 &gt;,  </a:t>
            </a:r>
            <a:r>
              <a:rPr lang="en-US" altLang="zh-CN" sz="2400" b="1">
                <a:latin typeface="Times New Roman" panose="02020603050405020304" pitchFamily="18" charset="0"/>
              </a:rPr>
              <a:t>Z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12 </a:t>
            </a:r>
            <a:r>
              <a:rPr lang="en-US" altLang="zh-CN" sz="2400" b="1">
                <a:latin typeface="Times New Roman" panose="02020603050405020304" pitchFamily="18" charset="0"/>
              </a:rPr>
              <a:t>= { 0, 1, … , 11},  </a:t>
            </a:r>
            <a:r>
              <a:rPr lang="zh-CN" altLang="en-US" sz="2400" b="1">
                <a:latin typeface="Times New Roman" panose="02020603050405020304" pitchFamily="18" charset="0"/>
              </a:rPr>
              <a:t>模</a:t>
            </a:r>
            <a:r>
              <a:rPr lang="en-US" altLang="zh-CN" sz="2400" b="1">
                <a:latin typeface="Times New Roman" panose="02020603050405020304" pitchFamily="18" charset="0"/>
              </a:rPr>
              <a:t>12</a:t>
            </a:r>
            <a:r>
              <a:rPr lang="zh-CN" altLang="en-US" sz="2400" b="1">
                <a:latin typeface="Times New Roman" panose="02020603050405020304" pitchFamily="18" charset="0"/>
              </a:rPr>
              <a:t>加群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子群 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</a:rPr>
              <a:t>= &lt; 3 &gt; = { 0, 3, 6, 9 }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商群  </a:t>
            </a:r>
            <a:r>
              <a:rPr lang="en-US" altLang="zh-CN" sz="2400" b="1" i="1">
                <a:latin typeface="Times New Roman" panose="02020603050405020304" pitchFamily="18" charset="0"/>
              </a:rPr>
              <a:t>G / H</a:t>
            </a:r>
            <a:r>
              <a:rPr lang="en-US" altLang="zh-CN" sz="2400" b="1">
                <a:latin typeface="Times New Roman" panose="02020603050405020304" pitchFamily="18" charset="0"/>
              </a:rPr>
              <a:t> = { 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+1, 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+2 }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          H</a:t>
            </a:r>
            <a:r>
              <a:rPr lang="en-US" altLang="zh-CN" sz="2400" b="1">
                <a:latin typeface="Times New Roman" panose="02020603050405020304" pitchFamily="18" charset="0"/>
              </a:rPr>
              <a:t>+1 = { 1, 4, 7, 10 },  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+2 = { 2, 5, 8, 11 }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 = { (1),  (12),  (13),  (23),  (123),  (132) }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 = { (1), (123),  (132) }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/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 = {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(12) },  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(12) = { (12),  (13),  (23) }</a:t>
            </a:r>
          </a:p>
        </p:txBody>
      </p:sp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509A0840-6FBE-4FE7-B440-1C60E024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87C4896-F4B1-4A91-AE00-417A09621EE3}" type="slidenum">
              <a:rPr lang="en-US" altLang="zh-CN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3">
            <a:extLst>
              <a:ext uri="{FF2B5EF4-FFF2-40B4-BE49-F238E27FC236}">
                <a16:creationId xmlns:a16="http://schemas.microsoft.com/office/drawing/2014/main" id="{CC4E95AA-2701-4261-9160-C75B30C67D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8208962" cy="7921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商群的性质</a:t>
            </a:r>
          </a:p>
        </p:txBody>
      </p:sp>
      <p:sp>
        <p:nvSpPr>
          <p:cNvPr id="2051" name="灯片编号占位符 4">
            <a:extLst>
              <a:ext uri="{FF2B5EF4-FFF2-40B4-BE49-F238E27FC236}">
                <a16:creationId xmlns:a16="http://schemas.microsoft.com/office/drawing/2014/main" id="{ECB1D28F-8250-4240-A7E0-116292741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04AC665-D333-470A-95BC-AB82C7A921F2}" type="slidenum">
              <a:rPr lang="en-US" altLang="zh-CN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5746" name="Rectangle 2">
            <a:extLst>
              <a:ext uri="{FF2B5EF4-FFF2-40B4-BE49-F238E27FC236}">
                <a16:creationId xmlns:a16="http://schemas.microsoft.com/office/drawing/2014/main" id="{2DA06485-DE35-43C9-AA27-0CFE2F3DE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670175"/>
            <a:ext cx="8135938" cy="830263"/>
          </a:xfrm>
          <a:prstGeom prst="rect">
            <a:avLst/>
          </a:prstGeom>
          <a:noFill/>
          <a:ln w="19050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证明思路：归纳法</a:t>
            </a:r>
            <a:r>
              <a:rPr lang="en-US" altLang="zh-CN" sz="2400" b="1">
                <a:latin typeface="Times New Roman" panose="02020603050405020304" pitchFamily="18" charset="0"/>
              </a:rPr>
              <a:t>.  </a:t>
            </a:r>
            <a:r>
              <a:rPr lang="zh-CN" altLang="en-US" sz="2400" b="1">
                <a:latin typeface="Times New Roman" panose="02020603050405020304" pitchFamily="18" charset="0"/>
              </a:rPr>
              <a:t>归纳基础是显然的</a:t>
            </a:r>
            <a:r>
              <a:rPr lang="en-US" altLang="zh-CN" sz="2400" b="1">
                <a:latin typeface="Times New Roman" panose="02020603050405020304" pitchFamily="18" charset="0"/>
              </a:rPr>
              <a:t>.  </a:t>
            </a:r>
            <a:r>
              <a:rPr lang="zh-CN" altLang="en-US" sz="2400" b="1">
                <a:latin typeface="Times New Roman" panose="02020603050405020304" pitchFamily="18" charset="0"/>
              </a:rPr>
              <a:t>假设对一切 </a:t>
            </a:r>
            <a:r>
              <a:rPr lang="en-US" altLang="zh-CN" sz="2400" b="1" i="1">
                <a:latin typeface="Times New Roman" panose="02020603050405020304" pitchFamily="18" charset="0"/>
              </a:rPr>
              <a:t>m </a:t>
            </a:r>
            <a:r>
              <a:rPr lang="en-US" altLang="zh-CN" sz="2400" b="1">
                <a:latin typeface="Times New Roman" panose="02020603050405020304" pitchFamily="18" charset="0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</a:rPr>
              <a:t>命题为真，证明对于 </a:t>
            </a:r>
            <a:r>
              <a:rPr lang="en-US" altLang="zh-CN" sz="2400" b="1" i="1">
                <a:latin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</a:rPr>
              <a:t>为真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C6E8FAC6-19B0-44C2-ADD4-5C991AD2ABB1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860800"/>
            <a:ext cx="5172075" cy="738188"/>
            <a:chOff x="567" y="2606"/>
            <a:chExt cx="3123" cy="465"/>
          </a:xfrm>
        </p:grpSpPr>
        <p:sp>
          <p:nvSpPr>
            <p:cNvPr id="2059" name="Rectangle 5">
              <a:extLst>
                <a:ext uri="{FF2B5EF4-FFF2-40B4-BE49-F238E27FC236}">
                  <a16:creationId xmlns:a16="http://schemas.microsoft.com/office/drawing/2014/main" id="{2091356A-C668-4DBA-B09E-788B24A8B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2606"/>
              <a:ext cx="3123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① 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zh-CN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整除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| 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a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|, </a:t>
              </a:r>
              <a:r>
                <a:rPr lang="zh-CN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则           </a:t>
              </a:r>
              <a:r>
                <a:rPr lang="zh-CN" altLang="en-US" sz="2400" b="1">
                  <a:latin typeface="Times New Roman" panose="02020603050405020304" pitchFamily="18" charset="0"/>
                </a:rPr>
                <a:t>为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p </a:t>
              </a:r>
              <a:r>
                <a:rPr lang="zh-CN" altLang="en-US" sz="2400" b="1">
                  <a:latin typeface="Times New Roman" panose="02020603050405020304" pitchFamily="18" charset="0"/>
                </a:rPr>
                <a:t>阶元</a:t>
              </a:r>
              <a:r>
                <a:rPr lang="en-US" altLang="zh-CN" sz="2400" b="1">
                  <a:latin typeface="Times New Roman" panose="02020603050405020304" pitchFamily="18" charset="0"/>
                </a:rPr>
                <a:t>.</a:t>
              </a:r>
              <a:r>
                <a:rPr lang="en-US" altLang="zh-CN" sz="420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2050" name="Object 6">
              <a:extLst>
                <a:ext uri="{FF2B5EF4-FFF2-40B4-BE49-F238E27FC236}">
                  <a16:creationId xmlns:a16="http://schemas.microsoft.com/office/drawing/2014/main" id="{DE41315A-D3E8-4649-A082-524FC630C4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7" y="2732"/>
            <a:ext cx="45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" name="公式" r:id="rId4" imgW="317160" imgH="203040" progId="Equation.3">
                    <p:embed/>
                  </p:oleObj>
                </mc:Choice>
                <mc:Fallback>
                  <p:oleObj name="公式" r:id="rId4" imgW="317160" imgH="2030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2732"/>
                          <a:ext cx="450" cy="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5751" name="Rectangle 7">
            <a:extLst>
              <a:ext uri="{FF2B5EF4-FFF2-40B4-BE49-F238E27FC236}">
                <a16:creationId xmlns:a16="http://schemas.microsoft.com/office/drawing/2014/main" id="{53E57501-65A2-421B-AE5E-1A202C802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467225"/>
            <a:ext cx="7900988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②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zh-CN" altLang="en-US" sz="2400" b="1">
                <a:latin typeface="Times New Roman" panose="02020603050405020304" pitchFamily="18" charset="0"/>
              </a:rPr>
              <a:t>不整除 </a:t>
            </a:r>
            <a:r>
              <a:rPr lang="en-US" altLang="zh-CN" sz="2400" b="1">
                <a:latin typeface="Times New Roman" panose="02020603050405020304" pitchFamily="18" charset="0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</a:rPr>
              <a:t>|, </a:t>
            </a:r>
            <a:r>
              <a:rPr lang="zh-CN" altLang="en-US" sz="2400" b="1">
                <a:latin typeface="Times New Roman" panose="02020603050405020304" pitchFamily="18" charset="0"/>
              </a:rPr>
              <a:t>令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</a:rPr>
              <a:t>= &lt;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&gt;, </a:t>
            </a:r>
            <a:r>
              <a:rPr lang="zh-CN" altLang="en-US" sz="2400" b="1">
                <a:latin typeface="Times New Roman" panose="02020603050405020304" pitchFamily="18" charset="0"/>
              </a:rPr>
              <a:t>构造</a:t>
            </a:r>
            <a:r>
              <a:rPr lang="en-US" altLang="zh-CN" sz="2400" b="1" i="1">
                <a:latin typeface="Times New Roman" panose="02020603050405020304" pitchFamily="18" charset="0"/>
              </a:rPr>
              <a:t>G/H</a:t>
            </a:r>
            <a:r>
              <a:rPr lang="en-US" altLang="zh-CN" sz="2400" b="1">
                <a:latin typeface="Times New Roman" panose="02020603050405020304" pitchFamily="18" charset="0"/>
              </a:rPr>
              <a:t>, |</a:t>
            </a:r>
            <a:r>
              <a:rPr lang="en-US" altLang="zh-CN" sz="2400" b="1" i="1">
                <a:latin typeface="Times New Roman" panose="02020603050405020304" pitchFamily="18" charset="0"/>
              </a:rPr>
              <a:t>G/H</a:t>
            </a:r>
            <a:r>
              <a:rPr lang="en-US" altLang="zh-CN" sz="2400" b="1">
                <a:latin typeface="Times New Roman" panose="02020603050405020304" pitchFamily="18" charset="0"/>
              </a:rPr>
              <a:t>| = 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p </a:t>
            </a:r>
            <a:r>
              <a:rPr lang="zh-CN" altLang="en-US" sz="2400" b="1">
                <a:latin typeface="Times New Roman" panose="02020603050405020304" pitchFamily="18" charset="0"/>
              </a:rPr>
              <a:t>整除 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i="1">
                <a:latin typeface="Times New Roman" panose="02020603050405020304" pitchFamily="18" charset="0"/>
              </a:rPr>
              <a:t>    G/H </a:t>
            </a:r>
            <a:r>
              <a:rPr lang="zh-CN" altLang="en-US" sz="2400" b="1">
                <a:latin typeface="Times New Roman" panose="02020603050405020304" pitchFamily="18" charset="0"/>
              </a:rPr>
              <a:t>中有 </a:t>
            </a:r>
            <a:r>
              <a:rPr lang="en-US" altLang="zh-CN" sz="2400" b="1" i="1">
                <a:latin typeface="Times New Roman" panose="02020603050405020304" pitchFamily="18" charset="0"/>
              </a:rPr>
              <a:t>p </a:t>
            </a:r>
            <a:r>
              <a:rPr lang="zh-CN" altLang="en-US" sz="2400" b="1">
                <a:latin typeface="Times New Roman" panose="02020603050405020304" pitchFamily="18" charset="0"/>
              </a:rPr>
              <a:t>阶元 </a:t>
            </a:r>
            <a:r>
              <a:rPr lang="en-US" altLang="zh-CN" sz="2400" b="1" i="1">
                <a:latin typeface="Times New Roman" panose="02020603050405020304" pitchFamily="18" charset="0"/>
              </a:rPr>
              <a:t>Hb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导出 </a:t>
            </a:r>
            <a:r>
              <a:rPr lang="en-US" altLang="zh-CN" sz="2400" b="1" i="1">
                <a:latin typeface="Times New Roman" panose="02020603050405020304" pitchFamily="18" charset="0"/>
              </a:rPr>
              <a:t>b </a:t>
            </a:r>
            <a:r>
              <a:rPr lang="zh-CN" altLang="en-US" sz="2400" b="1">
                <a:latin typeface="Times New Roman" panose="02020603050405020304" pitchFamily="18" charset="0"/>
              </a:rPr>
              <a:t>与 </a:t>
            </a:r>
            <a:r>
              <a:rPr lang="en-US" altLang="zh-CN" sz="2400" b="1" i="1">
                <a:latin typeface="Times New Roman" panose="02020603050405020304" pitchFamily="18" charset="0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</a:rPr>
              <a:t>的关系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              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Hb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  <a:r>
              <a:rPr lang="en-US" altLang="zh-CN" sz="2400" b="1" i="1" baseline="30000">
                <a:latin typeface="Times New Roman" panose="02020603050405020304" pitchFamily="18" charset="0"/>
              </a:rPr>
              <a:t>p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i="1">
                <a:latin typeface="Times New Roman" panose="02020603050405020304" pitchFamily="18" charset="0"/>
              </a:rPr>
              <a:t> b 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= a 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阶元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 |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 ) </a:t>
            </a:r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580BF6A0-F547-40D3-BE38-D5489F5E8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133600"/>
            <a:ext cx="8228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</a:rPr>
              <a:t>为</a:t>
            </a:r>
            <a:r>
              <a:rPr lang="en-US" altLang="zh-CN" sz="2400" b="1">
                <a:latin typeface="Times New Roman" panose="02020603050405020304" pitchFamily="18" charset="0"/>
              </a:rPr>
              <a:t>Abel </a:t>
            </a:r>
            <a:r>
              <a:rPr lang="zh-CN" altLang="en-US" sz="2400" b="1">
                <a:latin typeface="Times New Roman" panose="02020603050405020304" pitchFamily="18" charset="0"/>
              </a:rPr>
              <a:t>群，</a:t>
            </a:r>
            <a:r>
              <a:rPr lang="en-US" altLang="zh-CN" sz="2400" b="1">
                <a:latin typeface="Times New Roman" panose="02020603050405020304" pitchFamily="18" charset="0"/>
              </a:rPr>
              <a:t>|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</a:rPr>
              <a:t>| =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素数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整除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则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中有 </a:t>
            </a:r>
            <a:r>
              <a:rPr lang="en-US" altLang="zh-CN" sz="2400" b="1" i="1">
                <a:latin typeface="Times New Roman" panose="02020603050405020304" pitchFamily="18" charset="0"/>
              </a:rPr>
              <a:t>p </a:t>
            </a:r>
            <a:r>
              <a:rPr lang="zh-CN" altLang="en-US" sz="2400" b="1">
                <a:latin typeface="Times New Roman" panose="02020603050405020304" pitchFamily="18" charset="0"/>
              </a:rPr>
              <a:t>阶元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057" name="Rectangle 9">
            <a:extLst>
              <a:ext uri="{FF2B5EF4-FFF2-40B4-BE49-F238E27FC236}">
                <a16:creationId xmlns:a16="http://schemas.microsoft.com/office/drawing/2014/main" id="{33E247C0-5CCE-4EB9-97ED-CC915E8E6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25538"/>
            <a:ext cx="7831138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性质：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</a:rPr>
              <a:t>G / H </a:t>
            </a:r>
            <a:r>
              <a:rPr lang="en-US" altLang="zh-CN" sz="2400" b="1">
                <a:latin typeface="Times New Roman" panose="02020603050405020304" pitchFamily="18" charset="0"/>
              </a:rPr>
              <a:t>| = [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</a:rPr>
              <a:t>]</a:t>
            </a:r>
            <a:r>
              <a:rPr lang="zh-CN" altLang="en-US" sz="2400" b="1">
                <a:latin typeface="Times New Roman" panose="02020603050405020304" pitchFamily="18" charset="0"/>
              </a:rPr>
              <a:t>，商群的阶是 </a:t>
            </a:r>
            <a:r>
              <a:rPr lang="en-US" altLang="zh-CN" sz="2400" b="1">
                <a:latin typeface="Times New Roman" panose="02020603050405020304" pitchFamily="18" charset="0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</a:rPr>
              <a:t>| </a:t>
            </a:r>
            <a:r>
              <a:rPr lang="zh-CN" altLang="en-US" sz="2400" b="1">
                <a:latin typeface="Times New Roman" panose="02020603050405020304" pitchFamily="18" charset="0"/>
              </a:rPr>
              <a:t>的因子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10000"/>
              </a:spcBef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             </a:t>
            </a:r>
            <a:r>
              <a:rPr lang="zh-CN" altLang="en-US" sz="2400" b="1">
                <a:latin typeface="Times New Roman" panose="02020603050405020304" pitchFamily="18" charset="0"/>
              </a:rPr>
              <a:t>保持群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的性质：交换性，循环性等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15754" name="Rectangle 10">
            <a:extLst>
              <a:ext uri="{FF2B5EF4-FFF2-40B4-BE49-F238E27FC236}">
                <a16:creationId xmlns:a16="http://schemas.microsoft.com/office/drawing/2014/main" id="{CEB63D67-1535-4D9C-A067-8DD8DE07A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573463"/>
            <a:ext cx="799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设 </a:t>
            </a:r>
            <a:r>
              <a:rPr lang="en-US" altLang="zh-CN" sz="2400" b="1">
                <a:latin typeface="Times New Roman" panose="02020603050405020304" pitchFamily="18" charset="0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</a:rPr>
              <a:t>| =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取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寻找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阶元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>
                <a:sym typeface="Symbol" panose="05050102010706020507" pitchFamily="18" charset="2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5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5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5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5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6" grpId="0" animBg="1"/>
      <p:bldP spid="415751" grpId="0"/>
      <p:bldP spid="41575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F5FF0765-849C-4356-B29C-6CBD343DC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77813"/>
            <a:ext cx="8208963" cy="63023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17.7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群的同态与同构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0DB0FD1-FC6E-493F-9ABA-4CAFDEC3B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8532812" cy="489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zh-CN" altLang="en-US" sz="2800" b="1">
                <a:latin typeface="Times New Roman" panose="02020603050405020304" pitchFamily="18" charset="0"/>
              </a:rPr>
              <a:t>为 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</a:rPr>
              <a:t>到 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</a:rPr>
              <a:t>的同态当且仅当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i="1"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</a:rPr>
              <a:t>: 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且</a:t>
            </a:r>
            <a:r>
              <a:rPr lang="en-US" altLang="zh-CN" sz="2800" b="1" i="1">
                <a:latin typeface="Times New Roman" panose="02020603050405020304" pitchFamily="18" charset="0"/>
              </a:rPr>
              <a:t>x, 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 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5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实例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(1)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整数加群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&lt;Z,+&gt;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的自同态：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 x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为给定整数   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模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加群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&lt;Z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,</a:t>
            </a:r>
            <a:r>
              <a:rPr lang="en-US" altLang="zh-CN" sz="2800" b="1">
                <a:latin typeface="Times New Roman" panose="02020603050405020304" pitchFamily="18" charset="0"/>
              </a:rPr>
              <a:t>&gt;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的自同态：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mod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0, 1, </a:t>
            </a:r>
            <a:r>
              <a:rPr lang="en-US" altLang="zh-CN" sz="2800" b="1">
                <a:sym typeface="Symbol" panose="05050102010706020507" pitchFamily="18" charset="2"/>
              </a:rPr>
              <a:t>…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  (3)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&lt;Z,+&gt;,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=&lt;Z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,</a:t>
            </a:r>
            <a:r>
              <a:rPr lang="en-US" altLang="zh-CN" sz="2800" b="1">
                <a:latin typeface="Times New Roman" panose="02020603050405020304" pitchFamily="18" charset="0"/>
              </a:rPr>
              <a:t>&gt;,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的满同态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Z</a:t>
            </a:r>
            <a:r>
              <a:rPr lang="en-US" altLang="zh-CN" sz="2800" b="1">
                <a:latin typeface="Times New Roman" panose="02020603050405020304" pitchFamily="18" charset="0"/>
              </a:rPr>
              <a:t>Z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mod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说明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将群看成代数系统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∘,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，则同态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满足：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161DD9B3-D620-4171-BCAC-B7042B653A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同态映射的性质</a:t>
            </a:r>
          </a:p>
        </p:txBody>
      </p:sp>
      <p:sp>
        <p:nvSpPr>
          <p:cNvPr id="400387" name="Rectangle 3">
            <a:extLst>
              <a:ext uri="{FF2B5EF4-FFF2-40B4-BE49-F238E27FC236}">
                <a16:creationId xmlns:a16="http://schemas.microsoft.com/office/drawing/2014/main" id="{103E3936-930D-44B1-91E3-FD41E61D7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868863"/>
            <a:ext cx="80645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同态基本定理</a:t>
            </a:r>
            <a:endParaRPr lang="zh-CN" altLang="en-US" sz="2400">
              <a:solidFill>
                <a:srgbClr val="A5002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的正规子群，则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G/H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的同态像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若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i="1">
                <a:sym typeface="Symbol" panose="05050102010706020507" pitchFamily="18" charset="2"/>
              </a:rPr>
              <a:t>’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的同态像（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i="1">
                <a:sym typeface="Symbol" panose="05050102010706020507" pitchFamily="18" charset="2"/>
              </a:rPr>
              <a:t>’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），则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/ker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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 i="1">
                <a:sym typeface="Symbol" panose="05050102010706020507" pitchFamily="18" charset="2"/>
              </a:rPr>
              <a:t>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400388" name="Rectangle 4">
            <a:extLst>
              <a:ext uri="{FF2B5EF4-FFF2-40B4-BE49-F238E27FC236}">
                <a16:creationId xmlns:a16="http://schemas.microsoft.com/office/drawing/2014/main" id="{FB6B76EB-4912-4AB5-AAF1-6713FFF6E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052513"/>
            <a:ext cx="82089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同态保持元素的性质</a:t>
            </a:r>
            <a:endParaRPr lang="zh-CN" altLang="en-US" sz="240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)=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，满同态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将生成元映到生成元  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)|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整除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，同构条件下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)| = |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00389" name="Rectangle 5">
            <a:extLst>
              <a:ext uri="{FF2B5EF4-FFF2-40B4-BE49-F238E27FC236}">
                <a16:creationId xmlns:a16="http://schemas.microsoft.com/office/drawing/2014/main" id="{521D8680-E872-4BBE-8B7B-77C5F564B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76475"/>
            <a:ext cx="79930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同态保持子代数的性质</a:t>
            </a:r>
            <a:r>
              <a:rPr lang="zh-CN" altLang="en-US" sz="2400" b="1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400">
              <a:solidFill>
                <a:schemeClr val="hlink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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endParaRPr lang="en-US" altLang="zh-CN" sz="2400" baseline="-250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H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⊴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为满同态，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⊴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</a:p>
        </p:txBody>
      </p:sp>
      <p:sp>
        <p:nvSpPr>
          <p:cNvPr id="400390" name="Rectangle 6">
            <a:extLst>
              <a:ext uri="{FF2B5EF4-FFF2-40B4-BE49-F238E27FC236}">
                <a16:creationId xmlns:a16="http://schemas.microsoft.com/office/drawing/2014/main" id="{71F7C39F-50FE-4ECA-A23E-86ECD1A3C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73463"/>
            <a:ext cx="79930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同态核的性质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ker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{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}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ker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{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} </a:t>
            </a:r>
            <a:r>
              <a:rPr lang="en-US" altLang="zh-CN" sz="2400" b="1" i="1">
                <a:latin typeface="Times New Roman" panose="02020603050405020304" pitchFamily="18" charset="0"/>
              </a:rPr>
              <a:t> f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为单同态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ker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⊴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，</a:t>
            </a:r>
            <a:r>
              <a:rPr lang="en-US" altLang="zh-CN" sz="2400" b="1" i="1">
                <a:latin typeface="Times New Roman" panose="02020603050405020304" pitchFamily="18" charset="0"/>
              </a:rPr>
              <a:t>a,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ker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ker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7" grpId="0"/>
      <p:bldP spid="400388" grpId="0"/>
      <p:bldP spid="400389" grpId="0"/>
      <p:bldP spid="40039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A02D2EE1-4F07-4FF0-8B2D-A1880D289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175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同态性质的证明</a:t>
            </a:r>
          </a:p>
        </p:txBody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F8CCC4B0-29DB-453C-8CEC-7CF2E37A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716338"/>
            <a:ext cx="790257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正规性证明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 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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>
                <a:latin typeface="Times New Roman" panose="02020603050405020304" pitchFamily="18" charset="0"/>
              </a:rPr>
              <a:t>ker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 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gag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  <a:p>
            <a:pPr eaLnBrk="1" hangingPunct="1"/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gag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>
                <a:latin typeface="Times New Roman" panose="02020603050405020304" pitchFamily="18" charset="0"/>
              </a:rPr>
              <a:t>ker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C90A5069-1E27-4E20-8993-10EC38815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25538"/>
            <a:ext cx="72739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证明 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  </a:t>
            </a:r>
            <a:r>
              <a:rPr lang="en-US" altLang="zh-CN" sz="2800" b="1">
                <a:latin typeface="Times New Roman" panose="02020603050405020304" pitchFamily="18" charset="0"/>
              </a:rPr>
              <a:t>(1) ker</a:t>
            </a:r>
            <a:r>
              <a:rPr lang="en-US" altLang="zh-CN" sz="2800" b="1" i="1"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</a:rPr>
              <a:t>⊴ 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  (2)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b="1" i="1">
                <a:latin typeface="Times New Roman" panose="02020603050405020304" pitchFamily="18" charset="0"/>
              </a:rPr>
              <a:t>a,b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ker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ker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02437" name="Rectangle 5">
            <a:extLst>
              <a:ext uri="{FF2B5EF4-FFF2-40B4-BE49-F238E27FC236}">
                <a16:creationId xmlns:a16="http://schemas.microsoft.com/office/drawing/2014/main" id="{7CF1EA46-80B6-487E-B627-1D55BC190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157788"/>
            <a:ext cx="74707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>
                <a:sym typeface="Symbol" panose="05050102010706020507" pitchFamily="18" charset="2"/>
              </a:rPr>
              <a:t>–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endParaRPr lang="en-US" altLang="zh-CN" sz="2800" baseline="-250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>
                <a:latin typeface="Times New Roman" panose="02020603050405020304" pitchFamily="18" charset="0"/>
              </a:rPr>
              <a:t>ker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ker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ker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402438" name="Rectangle 6">
            <a:extLst>
              <a:ext uri="{FF2B5EF4-FFF2-40B4-BE49-F238E27FC236}">
                <a16:creationId xmlns:a16="http://schemas.microsoft.com/office/drawing/2014/main" id="{72F655D1-3CD9-4ACA-BAD5-FF525B7BD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" y="2636838"/>
            <a:ext cx="79025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证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: (1)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证子群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显然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ker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非空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 </a:t>
            </a:r>
            <a:r>
              <a:rPr lang="en-US" altLang="zh-CN" sz="2800" b="1" i="1">
                <a:latin typeface="Times New Roman" panose="02020603050405020304" pitchFamily="18" charset="0"/>
              </a:rPr>
              <a:t>a, 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>
                <a:latin typeface="Times New Roman" panose="02020603050405020304" pitchFamily="18" charset="0"/>
              </a:rPr>
              <a:t>ker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ab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800" b="1" i="1">
                <a:latin typeface="Times New Roman" panose="02020603050405020304" pitchFamily="18" charset="0"/>
              </a:rPr>
              <a:t> ab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>
                <a:latin typeface="Times New Roman" panose="02020603050405020304" pitchFamily="18" charset="0"/>
              </a:rPr>
              <a:t>ker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2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2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5" grpId="0"/>
      <p:bldP spid="402437" grpId="0"/>
      <p:bldP spid="4024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CB4483C0-37F4-4931-9BC4-2A51AAD72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自同态与自同构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5F44614-8426-4050-B79E-3D4B25BE1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196975"/>
            <a:ext cx="7929562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End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en-US" altLang="zh-CN" sz="2800" b="1" i="1">
                <a:latin typeface="Times New Roman" panose="02020603050405020304" pitchFamily="18" charset="0"/>
              </a:rPr>
              <a:t>G </a:t>
            </a:r>
            <a:r>
              <a:rPr lang="zh-CN" altLang="en-US" sz="2800" b="1">
                <a:latin typeface="Times New Roman" panose="02020603050405020304" pitchFamily="18" charset="0"/>
              </a:rPr>
              <a:t>的自同态的集合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Aut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zh-CN" altLang="en-US" sz="2800" b="1">
                <a:latin typeface="Times New Roman" panose="02020603050405020304" pitchFamily="18" charset="0"/>
              </a:rPr>
              <a:t>： </a:t>
            </a:r>
            <a:r>
              <a:rPr lang="en-US" altLang="zh-CN" sz="2800" b="1" i="1">
                <a:latin typeface="Times New Roman" panose="02020603050405020304" pitchFamily="18" charset="0"/>
              </a:rPr>
              <a:t>G </a:t>
            </a:r>
            <a:r>
              <a:rPr lang="zh-CN" altLang="en-US" sz="2800" b="1">
                <a:latin typeface="Times New Roman" panose="02020603050405020304" pitchFamily="18" charset="0"/>
              </a:rPr>
              <a:t>的自同构的集合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Inn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zh-CN" altLang="en-US" sz="2800" b="1">
                <a:latin typeface="Times New Roman" panose="02020603050405020304" pitchFamily="18" charset="0"/>
              </a:rPr>
              <a:t>： </a:t>
            </a:r>
            <a:r>
              <a:rPr lang="en-US" altLang="zh-CN" sz="2800" b="1" i="1">
                <a:latin typeface="Times New Roman" panose="02020603050405020304" pitchFamily="18" charset="0"/>
              </a:rPr>
              <a:t>G </a:t>
            </a:r>
            <a:r>
              <a:rPr lang="zh-CN" altLang="en-US" sz="2800" b="1">
                <a:latin typeface="Times New Roman" panose="02020603050405020304" pitchFamily="18" charset="0"/>
              </a:rPr>
              <a:t>的内自同构的集合 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pitchFamily="18" charset="0"/>
              </a:rPr>
              <a:t>              </a:t>
            </a:r>
            <a:r>
              <a:rPr lang="zh-CN" altLang="en-US" sz="2800" b="1">
                <a:latin typeface="Times New Roman" panose="02020603050405020304" pitchFamily="18" charset="0"/>
              </a:rPr>
              <a:t>内自同构</a:t>
            </a:r>
            <a:r>
              <a:rPr lang="zh-CN" altLang="en-US" sz="2800" b="1" i="1">
                <a:latin typeface="Times New Roman" panose="02020603050405020304" pitchFamily="18" charset="0"/>
              </a:rPr>
              <a:t> 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>
                <a:latin typeface="Times New Roman" panose="02020603050405020304" pitchFamily="18" charset="0"/>
              </a:rPr>
              <a:t>G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 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 a x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96771066-3C8F-4D60-9B9F-5B00A2949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500438"/>
            <a:ext cx="8072438" cy="2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关系：  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Inn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 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Aut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End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endParaRPr lang="zh-CN" altLang="en-US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End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为独异点 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Aut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为群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Inn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为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Aut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的正规子群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I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属于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Inn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57E05B9-FE92-4417-B037-5EFFEFCB7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7921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D6A5D90-80B2-4DE1-9F5C-E2F952789E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268413"/>
            <a:ext cx="7834312" cy="49244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Z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800" b="1" dirty="0">
                <a:latin typeface="Times New Roman" panose="02020603050405020304" pitchFamily="18" charset="0"/>
              </a:rPr>
              <a:t>={ 0, 1, 2, 3, 4, 5 }</a:t>
            </a:r>
            <a:r>
              <a:rPr lang="zh-CN" altLang="en-US" sz="2800" b="1" dirty="0">
                <a:latin typeface="Times New Roman" panose="02020603050405020304" pitchFamily="18" charset="0"/>
              </a:rPr>
              <a:t>，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2800" b="1" dirty="0">
                <a:latin typeface="Times New Roman" panose="02020603050405020304" pitchFamily="18" charset="0"/>
              </a:rPr>
              <a:t>= &lt; Z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 &gt;,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: Z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Z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  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mod 6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 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)=0, 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(0)=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(3)=0, 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(1)=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(4)=2, 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(2)=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(5)=4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(0)=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(2)=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(4)=0, 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(1)=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(3)=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(5)=3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 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(0)=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(3)=0,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 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(1)=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(4)=4,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 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(2)=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(5)=2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(0)=0,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(1)=5,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(2)=4,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(3)=3,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(4)=2,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(5)=1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End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= {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… 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5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Aut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= { 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5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 err="1">
                <a:latin typeface="Times New Roman" panose="02020603050405020304" pitchFamily="18" charset="0"/>
              </a:rPr>
              <a:t>Inn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 {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sz="2800" b="1" dirty="0">
                <a:latin typeface="Times New Roman" panose="02020603050405020304" pitchFamily="18" charset="0"/>
              </a:rPr>
              <a:t>}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3390</TotalTime>
  <Words>3085</Words>
  <Application>Microsoft Office PowerPoint</Application>
  <PresentationFormat>全屏显示(4:3)</PresentationFormat>
  <Paragraphs>275</Paragraphs>
  <Slides>24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Calibri</vt:lpstr>
      <vt:lpstr>Times New Roman</vt:lpstr>
      <vt:lpstr>Symbol</vt:lpstr>
      <vt:lpstr>Wingdings</vt:lpstr>
      <vt:lpstr>代数结构PPT</vt:lpstr>
      <vt:lpstr>Microsoft 公式 3.0</vt:lpstr>
      <vt:lpstr>17.5  群的分解</vt:lpstr>
      <vt:lpstr>陪集定义及其实例</vt:lpstr>
      <vt:lpstr>陪集的性质</vt:lpstr>
      <vt:lpstr>陪集性质的证明</vt:lpstr>
      <vt:lpstr>Lagrange定理的引理</vt:lpstr>
      <vt:lpstr>Lagrange定理及推论</vt:lpstr>
      <vt:lpstr>Lagrange定理的应用</vt:lpstr>
      <vt:lpstr>Lagrange定理的应用</vt:lpstr>
      <vt:lpstr>共轭关系与共轭类</vt:lpstr>
      <vt:lpstr>证明</vt:lpstr>
      <vt:lpstr>两种分解的实例</vt:lpstr>
      <vt:lpstr>群的分类方程</vt:lpstr>
      <vt:lpstr>群分类方程的应用</vt:lpstr>
      <vt:lpstr>17.6  正规子群与商群</vt:lpstr>
      <vt:lpstr>正规子群及其判定</vt:lpstr>
      <vt:lpstr>正规子群及其判定</vt:lpstr>
      <vt:lpstr>商群定义</vt:lpstr>
      <vt:lpstr>商群实例</vt:lpstr>
      <vt:lpstr>商群的性质</vt:lpstr>
      <vt:lpstr>17.7 群的同态与同构</vt:lpstr>
      <vt:lpstr>同态映射的性质</vt:lpstr>
      <vt:lpstr>同态性质的证明</vt:lpstr>
      <vt:lpstr>自同态与自同构</vt:lpstr>
      <vt:lpstr>实例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327</cp:revision>
  <dcterms:created xsi:type="dcterms:W3CDTF">2005-12-02T07:25:32Z</dcterms:created>
  <dcterms:modified xsi:type="dcterms:W3CDTF">2020-07-20T04:24:47Z</dcterms:modified>
</cp:coreProperties>
</file>