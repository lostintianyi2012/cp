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8331" y="471551"/>
            <a:ext cx="230733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070" y="1573728"/>
            <a:ext cx="8633460" cy="4273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98002" y="6473078"/>
            <a:ext cx="2540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6366" y="2493086"/>
            <a:ext cx="48310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单元</a:t>
            </a:r>
            <a:r>
              <a:rPr dirty="0">
                <a:latin typeface="Calibri"/>
                <a:cs typeface="Calibri"/>
              </a:rPr>
              <a:t>1.5</a:t>
            </a:r>
            <a:r>
              <a:rPr dirty="0" spc="-80">
                <a:latin typeface="Calibri"/>
                <a:cs typeface="Calibri"/>
              </a:rPr>
              <a:t> </a:t>
            </a:r>
            <a:r>
              <a:rPr dirty="0" spc="55"/>
              <a:t>集合的运算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40482" y="4052887"/>
            <a:ext cx="4464685" cy="11772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566035" algn="l"/>
              </a:tabLst>
            </a:pPr>
            <a:r>
              <a:rPr dirty="0" sz="2800" spc="70" b="1">
                <a:solidFill>
                  <a:srgbClr val="888888"/>
                </a:solidFill>
                <a:latin typeface="微软雅黑"/>
                <a:cs typeface="微软雅黑"/>
              </a:rPr>
              <a:t>第一</a:t>
            </a:r>
            <a:r>
              <a:rPr dirty="0" sz="2800" spc="500" b="1">
                <a:solidFill>
                  <a:srgbClr val="888888"/>
                </a:solidFill>
                <a:latin typeface="微软雅黑"/>
                <a:cs typeface="微软雅黑"/>
              </a:rPr>
              <a:t>编</a:t>
            </a:r>
            <a:r>
              <a:rPr dirty="0" sz="2800" spc="70" b="1">
                <a:solidFill>
                  <a:srgbClr val="888888"/>
                </a:solidFill>
                <a:latin typeface="微软雅黑"/>
                <a:cs typeface="微软雅黑"/>
              </a:rPr>
              <a:t>集合</a:t>
            </a:r>
            <a:r>
              <a:rPr dirty="0" sz="2800" spc="-50" b="1">
                <a:solidFill>
                  <a:srgbClr val="888888"/>
                </a:solidFill>
                <a:latin typeface="微软雅黑"/>
                <a:cs typeface="微软雅黑"/>
              </a:rPr>
              <a:t>论</a:t>
            </a:r>
            <a:r>
              <a:rPr dirty="0" sz="2800" b="1">
                <a:solidFill>
                  <a:srgbClr val="888888"/>
                </a:solidFill>
                <a:latin typeface="微软雅黑"/>
                <a:cs typeface="微软雅黑"/>
              </a:rPr>
              <a:t>	</a:t>
            </a:r>
            <a:r>
              <a:rPr dirty="0" sz="2800" spc="70" b="1">
                <a:solidFill>
                  <a:srgbClr val="888888"/>
                </a:solidFill>
                <a:latin typeface="微软雅黑"/>
                <a:cs typeface="微软雅黑"/>
              </a:rPr>
              <a:t>第一</a:t>
            </a:r>
            <a:r>
              <a:rPr dirty="0" sz="2800" spc="500" b="1">
                <a:solidFill>
                  <a:srgbClr val="888888"/>
                </a:solidFill>
                <a:latin typeface="微软雅黑"/>
                <a:cs typeface="微软雅黑"/>
              </a:rPr>
              <a:t>章</a:t>
            </a:r>
            <a:r>
              <a:rPr dirty="0" sz="2800" spc="70" b="1">
                <a:solidFill>
                  <a:srgbClr val="888888"/>
                </a:solidFill>
                <a:latin typeface="微软雅黑"/>
                <a:cs typeface="微软雅黑"/>
              </a:rPr>
              <a:t>集</a:t>
            </a:r>
            <a:r>
              <a:rPr dirty="0" sz="2800" spc="20" b="1">
                <a:solidFill>
                  <a:srgbClr val="888888"/>
                </a:solidFill>
                <a:latin typeface="微软雅黑"/>
                <a:cs typeface="微软雅黑"/>
              </a:rPr>
              <a:t>合</a:t>
            </a:r>
            <a:endParaRPr sz="2800">
              <a:latin typeface="微软雅黑"/>
              <a:cs typeface="微软雅黑"/>
            </a:endParaRPr>
          </a:p>
          <a:p>
            <a:pPr marL="1056005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solidFill>
                  <a:srgbClr val="888888"/>
                </a:solidFill>
                <a:latin typeface="Calibri"/>
                <a:cs typeface="Calibri"/>
              </a:rPr>
              <a:t>1.3</a:t>
            </a:r>
            <a:r>
              <a:rPr dirty="0" sz="2800" spc="10" b="1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800" spc="30" b="1">
                <a:solidFill>
                  <a:srgbClr val="888888"/>
                </a:solidFill>
                <a:latin typeface="微软雅黑"/>
                <a:cs typeface="微软雅黑"/>
              </a:rPr>
              <a:t>集合的运算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内</a:t>
            </a:r>
            <a:r>
              <a:rPr dirty="0"/>
              <a:t>容</a:t>
            </a:r>
            <a:r>
              <a:rPr dirty="0"/>
              <a:t>提</a:t>
            </a:r>
            <a:r>
              <a:rPr dirty="0" spc="-50"/>
              <a:t>要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1837689" cy="190118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5" b="1">
                <a:latin typeface="微软雅黑"/>
                <a:cs typeface="微软雅黑"/>
              </a:rPr>
              <a:t>集合的运算</a:t>
            </a:r>
            <a:endParaRPr sz="2800">
              <a:latin typeface="微软雅黑"/>
              <a:cs typeface="微软雅黑"/>
            </a:endParaRPr>
          </a:p>
          <a:p>
            <a:pPr marL="12700" marR="352425">
              <a:lnSpc>
                <a:spcPct val="169500"/>
              </a:lnSpc>
            </a:pPr>
            <a:r>
              <a:rPr dirty="0" sz="2800" spc="45" b="1">
                <a:latin typeface="微软雅黑"/>
                <a:cs typeface="微软雅黑"/>
              </a:rPr>
              <a:t>文氏图</a:t>
            </a:r>
            <a:r>
              <a:rPr dirty="0" sz="2800" spc="15" b="1">
                <a:latin typeface="微软雅黑"/>
                <a:cs typeface="微软雅黑"/>
              </a:rPr>
              <a:t> </a:t>
            </a:r>
            <a:r>
              <a:rPr dirty="0" sz="2800" spc="50" b="1">
                <a:latin typeface="微软雅黑"/>
                <a:cs typeface="微软雅黑"/>
              </a:rPr>
              <a:t>容斥原理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071" y="471551"/>
            <a:ext cx="11601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并</a:t>
            </a:r>
            <a:r>
              <a:rPr dirty="0" spc="-50"/>
              <a:t>集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98475" y="1550493"/>
            <a:ext cx="8275320" cy="3872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>
              <a:lnSpc>
                <a:spcPct val="150200"/>
              </a:lnSpc>
              <a:spcBef>
                <a:spcPts val="100"/>
              </a:spcBef>
            </a:pPr>
            <a:r>
              <a:rPr dirty="0" sz="2800" spc="100" b="1">
                <a:latin typeface="Microsoft JhengHei"/>
                <a:cs typeface="Microsoft JhengHei"/>
              </a:rPr>
              <a:t>定义</a:t>
            </a:r>
            <a:r>
              <a:rPr dirty="0" sz="2800" spc="45" b="1">
                <a:latin typeface="Microsoft JhengHei"/>
                <a:cs typeface="Microsoft JhengHei"/>
              </a:rPr>
              <a:t>1.8</a:t>
            </a:r>
            <a:r>
              <a:rPr dirty="0" sz="2800" spc="-23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latin typeface="微软雅黑"/>
                <a:cs typeface="微软雅黑"/>
              </a:rPr>
              <a:t>设</a:t>
            </a:r>
            <a:r>
              <a:rPr dirty="0" sz="2800" spc="20" b="1">
                <a:latin typeface="Calibri"/>
                <a:cs typeface="Calibri"/>
              </a:rPr>
              <a:t>A</a:t>
            </a:r>
            <a:r>
              <a:rPr dirty="0" sz="2800" b="1">
                <a:latin typeface="Calibri"/>
                <a:cs typeface="Calibri"/>
              </a:rPr>
              <a:t>,</a:t>
            </a:r>
            <a:r>
              <a:rPr dirty="0" sz="2800" spc="5" b="1">
                <a:latin typeface="Calibri"/>
                <a:cs typeface="Calibri"/>
              </a:rPr>
              <a:t>B</a:t>
            </a:r>
            <a:r>
              <a:rPr dirty="0" sz="2800" spc="5" b="1">
                <a:latin typeface="微软雅黑"/>
                <a:cs typeface="微软雅黑"/>
              </a:rPr>
              <a:t>为二集合，称由</a:t>
            </a:r>
            <a:r>
              <a:rPr dirty="0" sz="2800" spc="20" b="1">
                <a:latin typeface="Calibri"/>
                <a:cs typeface="Calibri"/>
              </a:rPr>
              <a:t>A</a:t>
            </a:r>
            <a:r>
              <a:rPr dirty="0" sz="2800" spc="-5" b="1">
                <a:latin typeface="微软雅黑"/>
                <a:cs typeface="微软雅黑"/>
              </a:rPr>
              <a:t>和</a:t>
            </a:r>
            <a:r>
              <a:rPr dirty="0" sz="2800" spc="5" b="1">
                <a:latin typeface="Calibri"/>
                <a:cs typeface="Calibri"/>
              </a:rPr>
              <a:t>B</a:t>
            </a:r>
            <a:r>
              <a:rPr dirty="0" sz="2800" spc="-5" b="1">
                <a:latin typeface="微软雅黑"/>
                <a:cs typeface="微软雅黑"/>
              </a:rPr>
              <a:t>的所有元素组成</a:t>
            </a:r>
            <a:r>
              <a:rPr dirty="0" sz="2800" spc="15" b="1">
                <a:latin typeface="微软雅黑"/>
                <a:cs typeface="微软雅黑"/>
              </a:rPr>
              <a:t>的集合为</a:t>
            </a:r>
            <a:r>
              <a:rPr dirty="0" sz="2800" spc="-45" b="1">
                <a:latin typeface="Calibri"/>
                <a:cs typeface="Calibri"/>
              </a:rPr>
              <a:t>A</a:t>
            </a:r>
            <a:r>
              <a:rPr dirty="0" sz="2800" spc="70" b="1">
                <a:latin typeface="微软雅黑"/>
                <a:cs typeface="微软雅黑"/>
              </a:rPr>
              <a:t>与</a:t>
            </a:r>
            <a:r>
              <a:rPr dirty="0" sz="2800" spc="-65" b="1">
                <a:latin typeface="Calibri"/>
                <a:cs typeface="Calibri"/>
              </a:rPr>
              <a:t>B</a:t>
            </a:r>
            <a:r>
              <a:rPr dirty="0" sz="2800" b="1">
                <a:latin typeface="微软雅黑"/>
                <a:cs typeface="微软雅黑"/>
              </a:rPr>
              <a:t>的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并集</a:t>
            </a:r>
            <a:r>
              <a:rPr dirty="0" sz="2800" spc="20" b="1">
                <a:latin typeface="微软雅黑"/>
                <a:cs typeface="微软雅黑"/>
              </a:rPr>
              <a:t>，记作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5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spc="-6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微软雅黑"/>
                <a:cs typeface="微软雅黑"/>
              </a:rPr>
              <a:t>，称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b="1">
                <a:latin typeface="微软雅黑"/>
                <a:cs typeface="微软雅黑"/>
              </a:rPr>
              <a:t>为并元算符， </a:t>
            </a:r>
            <a:r>
              <a:rPr dirty="0" sz="2800" spc="2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5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spc="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10" b="1">
                <a:latin typeface="微软雅黑"/>
                <a:cs typeface="微软雅黑"/>
              </a:rPr>
              <a:t>的描述法表示为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40" b="1">
                <a:solidFill>
                  <a:srgbClr val="006FC0"/>
                </a:solidFill>
                <a:latin typeface="Calibri"/>
                <a:cs typeface="Calibri"/>
              </a:rPr>
              <a:t> = {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|</a:t>
            </a:r>
            <a:r>
              <a:rPr dirty="0" sz="2800" spc="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85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</a:t>
            </a:r>
            <a:r>
              <a:rPr dirty="0" sz="2800" spc="-9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85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80" b="1">
                <a:solidFill>
                  <a:srgbClr val="006FC0"/>
                </a:solidFill>
                <a:latin typeface="Calibri"/>
                <a:cs typeface="Calibri"/>
              </a:rPr>
              <a:t> }</a:t>
            </a:r>
            <a:r>
              <a:rPr dirty="0" sz="2800" spc="50" b="1">
                <a:latin typeface="微软雅黑"/>
                <a:cs typeface="微软雅黑"/>
              </a:rPr>
              <a:t>。集合的</a:t>
            </a:r>
            <a:r>
              <a:rPr dirty="0" sz="2800" spc="-5" b="1">
                <a:latin typeface="微软雅黑"/>
                <a:cs typeface="微软雅黑"/>
              </a:rPr>
              <a:t>并运算可以推广到有限个或可数个集合</a:t>
            </a:r>
            <a:r>
              <a:rPr dirty="0" sz="2800" spc="-85" b="1">
                <a:latin typeface="Calibri"/>
                <a:cs typeface="Calibri"/>
              </a:rPr>
              <a:t>(</a:t>
            </a:r>
            <a:r>
              <a:rPr dirty="0" sz="2800" spc="20" b="1">
                <a:solidFill>
                  <a:srgbClr val="FF0000"/>
                </a:solidFill>
                <a:latin typeface="微软雅黑"/>
                <a:cs typeface="微软雅黑"/>
              </a:rPr>
              <a:t>初级并</a:t>
            </a:r>
            <a:r>
              <a:rPr dirty="0" sz="2800" spc="-15" b="1">
                <a:latin typeface="Calibri"/>
                <a:cs typeface="Calibri"/>
              </a:rPr>
              <a:t>)</a:t>
            </a:r>
            <a:r>
              <a:rPr dirty="0" sz="2800" spc="30" b="1">
                <a:latin typeface="微软雅黑"/>
                <a:cs typeface="微软雅黑"/>
              </a:rPr>
              <a:t>。设</a:t>
            </a:r>
            <a:r>
              <a:rPr dirty="0" sz="2800" spc="-5" b="1" i="1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dirty="0" baseline="-19519" sz="2775" spc="-7" b="1" i="1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dirty="0" sz="2800" spc="-100" b="1" i="1">
                <a:solidFill>
                  <a:srgbClr val="006FC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dirty="0" sz="2800" spc="-50" b="1" i="1">
                <a:solidFill>
                  <a:srgbClr val="006FC0"/>
                </a:solidFill>
                <a:latin typeface="Times New Roman"/>
                <a:cs typeface="Times New Roman"/>
              </a:rPr>
              <a:t>,…, </a:t>
            </a:r>
            <a:r>
              <a:rPr dirty="0" sz="2800" spc="5" b="1" i="1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dirty="0" baseline="-19519" sz="2775" spc="7" b="1" i="1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dirty="0" baseline="-19519" sz="2775" spc="337" b="1" i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70" b="1">
                <a:latin typeface="微软雅黑"/>
                <a:cs typeface="微软雅黑"/>
              </a:rPr>
              <a:t>为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60" b="1">
                <a:latin typeface="微软雅黑"/>
                <a:cs typeface="微软雅黑"/>
              </a:rPr>
              <a:t>个集合， </a:t>
            </a:r>
            <a:r>
              <a:rPr dirty="0" sz="2800" b="1" i="1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dirty="0" sz="2800" spc="-55" b="1" i="1">
                <a:solidFill>
                  <a:srgbClr val="006FC0"/>
                </a:solidFill>
                <a:latin typeface="Times New Roman"/>
                <a:cs typeface="Times New Roman"/>
              </a:rPr>
              <a:t>, </a:t>
            </a:r>
            <a:r>
              <a:rPr dirty="0" sz="2800" b="1" i="1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dirty="0" sz="2800" spc="-50" b="1" i="1">
                <a:solidFill>
                  <a:srgbClr val="006FC0"/>
                </a:solidFill>
                <a:latin typeface="Times New Roman"/>
                <a:cs typeface="Times New Roman"/>
              </a:rPr>
              <a:t>,…, </a:t>
            </a:r>
            <a:r>
              <a:rPr dirty="0" sz="2800" spc="5" b="1" i="1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dirty="0" baseline="-19519" sz="2775" spc="7" b="1" i="1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dirty="0" baseline="-19519" sz="2775" spc="337" b="1" i="1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15" b="1" i="1">
                <a:solidFill>
                  <a:srgbClr val="006FC0"/>
                </a:solidFill>
                <a:latin typeface="Times New Roman"/>
                <a:cs typeface="Times New Roman"/>
              </a:rPr>
              <a:t>, </a:t>
            </a:r>
            <a:r>
              <a:rPr dirty="0" sz="2800" spc="15" b="1">
                <a:solidFill>
                  <a:srgbClr val="006FC0"/>
                </a:solidFill>
                <a:latin typeface="Calibri"/>
                <a:cs typeface="Calibri"/>
              </a:rPr>
              <a:t>…</a:t>
            </a:r>
            <a:r>
              <a:rPr dirty="0" sz="2800" spc="65" b="1">
                <a:latin typeface="微软雅黑"/>
                <a:cs typeface="微软雅黑"/>
              </a:rPr>
              <a:t>为可数个集</a:t>
            </a:r>
            <a:r>
              <a:rPr dirty="0" sz="2800" spc="20" b="1">
                <a:latin typeface="微软雅黑"/>
                <a:cs typeface="微软雅黑"/>
              </a:rPr>
              <a:t>合，则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3499" y="4928611"/>
          <a:ext cx="8367395" cy="1306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4189"/>
                <a:gridCol w="2121535"/>
                <a:gridCol w="713104"/>
                <a:gridCol w="3227704"/>
                <a:gridCol w="521334"/>
              </a:tblGrid>
              <a:tr h="424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FFFFFF"/>
                      </a:solidFill>
                      <a:prstDash val="dot"/>
                    </a:lnR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ts val="3210"/>
                        </a:lnSpc>
                        <a:spcBef>
                          <a:spcPts val="35"/>
                        </a:spcBef>
                        <a:tabLst>
                          <a:tab pos="2670810" algn="l"/>
                        </a:tabLst>
                      </a:pPr>
                      <a:r>
                        <a:rPr dirty="0" sz="3000" spc="-254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3809" sz="2625" spc="-382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baseline="-23809" sz="2625" spc="217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3000" spc="-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3809" sz="2625" spc="-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baseline="-23809" sz="2625" spc="4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25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3000" spc="-3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330">
                          <a:latin typeface="MT Extra"/>
                          <a:cs typeface="MT Extra"/>
                        </a:rPr>
                        <a:t></a:t>
                      </a:r>
                      <a:r>
                        <a:rPr dirty="0" sz="3000" spc="-3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3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3809" sz="2625" spc="-37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23809" sz="2625" i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3000" spc="-19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3000" spc="-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05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3000" spc="-105" i="1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dirty="0" sz="3000" spc="-70"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dirty="0" sz="3000" spc="-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50">
                          <a:latin typeface="Symbol"/>
                          <a:cs typeface="Symbol"/>
                        </a:rPr>
                        <a:t></a:t>
                      </a:r>
                      <a:r>
                        <a:rPr dirty="0" sz="3000" spc="-150" i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3000" spc="-150">
                          <a:latin typeface="Times New Roman"/>
                          <a:cs typeface="Times New Roman"/>
                        </a:rPr>
                        <a:t>(1</a:t>
                      </a:r>
                      <a:r>
                        <a:rPr dirty="0" sz="3000" spc="-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85">
                          <a:latin typeface="Symbol"/>
                          <a:cs typeface="Symbol"/>
                        </a:rPr>
                        <a:t></a:t>
                      </a:r>
                      <a:r>
                        <a:rPr dirty="0" sz="3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i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3000" spc="-19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latin typeface="Symbol"/>
                          <a:cs typeface="Symbol"/>
                        </a:rPr>
                        <a:t></a:t>
                      </a:r>
                      <a:r>
                        <a:rPr dirty="0" sz="3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65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3000" spc="-13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>
                          <a:latin typeface="Symbol"/>
                          <a:cs typeface="Symbol"/>
                        </a:rPr>
                        <a:t></a:t>
                      </a:r>
                      <a:r>
                        <a:rPr dirty="0" sz="3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55" i="1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dirty="0" sz="3000" spc="-24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245">
                          <a:latin typeface="Symbol"/>
                          <a:cs typeface="Symbol"/>
                        </a:rPr>
                        <a:t></a:t>
                      </a:r>
                      <a:r>
                        <a:rPr dirty="0" sz="30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175" i="1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baseline="-23809" sz="2625" spc="-262" i="1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baseline="-23809" sz="2625" spc="52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000" spc="-35">
                          <a:latin typeface="Times New Roman"/>
                          <a:cs typeface="Times New Roman"/>
                        </a:rPr>
                        <a:t>)}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T w="9525">
                      <a:solidFill>
                        <a:srgbClr val="FFFFFF"/>
                      </a:solidFill>
                      <a:prstDash val="dot"/>
                    </a:lnT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T w="9525">
                      <a:solidFill>
                        <a:srgbClr val="FFFFFF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T w="9525">
                      <a:solidFill>
                        <a:srgbClr val="FFFFFF"/>
                      </a:solidFill>
                      <a:prstDash val="dot"/>
                    </a:lnT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T w="9525">
                      <a:solidFill>
                        <a:srgbClr val="FFFFFF"/>
                      </a:solidFill>
                      <a:prstDash val="dot"/>
                    </a:lnT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</a:tr>
              <a:tr h="749300">
                <a:tc gridSpan="2">
                  <a:txBody>
                    <a:bodyPr/>
                    <a:lstStyle/>
                    <a:p>
                      <a:pPr algn="ctr" marR="3479800">
                        <a:lnSpc>
                          <a:spcPts val="1090"/>
                        </a:lnSpc>
                      </a:pPr>
                      <a:r>
                        <a:rPr dirty="0" sz="1550">
                          <a:latin typeface="宋体"/>
                          <a:cs typeface="宋体"/>
                        </a:rPr>
                        <a:t>n</a:t>
                      </a:r>
                      <a:endParaRPr sz="1550">
                        <a:latin typeface="宋体"/>
                        <a:cs typeface="宋体"/>
                      </a:endParaRPr>
                    </a:p>
                    <a:p>
                      <a:pPr marL="100330">
                        <a:lnSpc>
                          <a:spcPts val="2810"/>
                        </a:lnSpc>
                        <a:tabLst>
                          <a:tab pos="467359" algn="l"/>
                          <a:tab pos="937260" algn="l"/>
                          <a:tab pos="1292225" algn="l"/>
                          <a:tab pos="1685925" algn="l"/>
                          <a:tab pos="2450465" algn="l"/>
                        </a:tabLst>
                      </a:pPr>
                      <a:r>
                        <a:rPr dirty="0" sz="2500" spc="65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25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650" spc="-25">
                          <a:latin typeface="宋体"/>
                          <a:cs typeface="宋体"/>
                        </a:rPr>
                        <a:t>A</a:t>
                      </a:r>
                      <a:r>
                        <a:rPr dirty="0" baseline="-23297" sz="2325" spc="-37">
                          <a:latin typeface="宋体"/>
                          <a:cs typeface="宋体"/>
                        </a:rPr>
                        <a:t>i</a:t>
                      </a:r>
                      <a:r>
                        <a:rPr dirty="0" baseline="-23297" sz="2325">
                          <a:latin typeface="宋体"/>
                          <a:cs typeface="宋体"/>
                        </a:rPr>
                        <a:t>	</a:t>
                      </a:r>
                      <a:r>
                        <a:rPr dirty="0" sz="2500" spc="45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5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650" spc="-25">
                          <a:latin typeface="宋体"/>
                          <a:cs typeface="宋体"/>
                        </a:rPr>
                        <a:t>A</a:t>
                      </a:r>
                      <a:r>
                        <a:rPr dirty="0" baseline="-24904" sz="2175" spc="-37">
                          <a:latin typeface="宋体"/>
                          <a:cs typeface="宋体"/>
                        </a:rPr>
                        <a:t>1</a:t>
                      </a:r>
                      <a:r>
                        <a:rPr dirty="0" baseline="-24904" sz="2175">
                          <a:latin typeface="宋体"/>
                          <a:cs typeface="宋体"/>
                        </a:rPr>
                        <a:t>	</a:t>
                      </a:r>
                      <a:r>
                        <a:rPr dirty="0" sz="2500" spc="114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2500" spc="3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650" spc="-25">
                          <a:latin typeface="宋体"/>
                          <a:cs typeface="宋体"/>
                        </a:rPr>
                        <a:t>A</a:t>
                      </a:r>
                      <a:r>
                        <a:rPr dirty="0" baseline="-24904" sz="2175" spc="-37">
                          <a:latin typeface="宋体"/>
                          <a:cs typeface="宋体"/>
                        </a:rPr>
                        <a:t>2</a:t>
                      </a:r>
                      <a:r>
                        <a:rPr dirty="0" baseline="-24904" sz="2175">
                          <a:latin typeface="宋体"/>
                          <a:cs typeface="宋体"/>
                        </a:rPr>
                        <a:t>	</a:t>
                      </a:r>
                      <a:r>
                        <a:rPr dirty="0" sz="2500" spc="114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25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500" spc="175">
                          <a:latin typeface="MT Extra"/>
                          <a:cs typeface="MT Extra"/>
                        </a:rPr>
                        <a:t></a:t>
                      </a:r>
                      <a:r>
                        <a:rPr dirty="0" sz="25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500" spc="114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2500" spc="3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650" spc="-25">
                          <a:latin typeface="宋体"/>
                          <a:cs typeface="宋体"/>
                        </a:rPr>
                        <a:t>A</a:t>
                      </a:r>
                      <a:r>
                        <a:rPr dirty="0" baseline="-23297" sz="2325" spc="-37">
                          <a:latin typeface="宋体"/>
                          <a:cs typeface="宋体"/>
                        </a:rPr>
                        <a:t>n</a:t>
                      </a:r>
                      <a:endParaRPr baseline="-23297" sz="2325">
                        <a:latin typeface="宋体"/>
                        <a:cs typeface="宋体"/>
                      </a:endParaRPr>
                    </a:p>
                    <a:p>
                      <a:pPr algn="ctr" marR="3462020">
                        <a:lnSpc>
                          <a:spcPts val="1695"/>
                        </a:lnSpc>
                      </a:pPr>
                      <a:r>
                        <a:rPr dirty="0" sz="1550">
                          <a:latin typeface="宋体"/>
                          <a:cs typeface="宋体"/>
                        </a:rPr>
                        <a:t>i</a:t>
                      </a:r>
                      <a:r>
                        <a:rPr dirty="0" sz="1550" spc="-50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450" spc="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450" spc="40">
                          <a:latin typeface="宋体"/>
                          <a:cs typeface="宋体"/>
                        </a:rPr>
                        <a:t>1</a:t>
                      </a:r>
                      <a:endParaRPr sz="145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T w="9525">
                      <a:solidFill>
                        <a:srgbClr val="FFFFFF"/>
                      </a:solidFill>
                      <a:prstDash val="dot"/>
                    </a:lnT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919"/>
                        </a:lnSpc>
                      </a:pPr>
                      <a:r>
                        <a:rPr dirty="0" sz="1500">
                          <a:latin typeface="Symbol"/>
                          <a:cs typeface="Symbol"/>
                        </a:rPr>
                        <a:t></a:t>
                      </a:r>
                      <a:endParaRPr sz="1500">
                        <a:latin typeface="Symbol"/>
                        <a:cs typeface="Symbol"/>
                      </a:endParaRPr>
                    </a:p>
                    <a:p>
                      <a:pPr marL="102870">
                        <a:lnSpc>
                          <a:spcPts val="2920"/>
                        </a:lnSpc>
                        <a:tabLst>
                          <a:tab pos="479425" algn="l"/>
                          <a:tab pos="962025" algn="l"/>
                          <a:tab pos="1325245" algn="l"/>
                          <a:tab pos="1729739" algn="l"/>
                          <a:tab pos="2514600" algn="l"/>
                        </a:tabLst>
                      </a:pPr>
                      <a:r>
                        <a:rPr dirty="0" sz="2600" spc="70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2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750" spc="-25">
                          <a:latin typeface="宋体"/>
                          <a:cs typeface="宋体"/>
                        </a:rPr>
                        <a:t>A</a:t>
                      </a:r>
                      <a:r>
                        <a:rPr dirty="0" baseline="-22569" sz="2400" spc="-37">
                          <a:latin typeface="宋体"/>
                          <a:cs typeface="宋体"/>
                        </a:rPr>
                        <a:t>i</a:t>
                      </a:r>
                      <a:r>
                        <a:rPr dirty="0" baseline="-22569" sz="2400">
                          <a:latin typeface="宋体"/>
                          <a:cs typeface="宋体"/>
                        </a:rPr>
                        <a:t>	</a:t>
                      </a:r>
                      <a:r>
                        <a:rPr dirty="0" sz="2600" spc="35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26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750" spc="-25">
                          <a:latin typeface="宋体"/>
                          <a:cs typeface="宋体"/>
                        </a:rPr>
                        <a:t>A</a:t>
                      </a:r>
                      <a:r>
                        <a:rPr dirty="0" baseline="-24074" sz="2250" spc="-37">
                          <a:latin typeface="宋体"/>
                          <a:cs typeface="宋体"/>
                        </a:rPr>
                        <a:t>1</a:t>
                      </a:r>
                      <a:r>
                        <a:rPr dirty="0" baseline="-24074" sz="2250">
                          <a:latin typeface="宋体"/>
                          <a:cs typeface="宋体"/>
                        </a:rPr>
                        <a:t>	</a:t>
                      </a:r>
                      <a:r>
                        <a:rPr dirty="0" sz="2600" spc="120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2600" spc="3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750" spc="-25">
                          <a:latin typeface="宋体"/>
                          <a:cs typeface="宋体"/>
                        </a:rPr>
                        <a:t>A</a:t>
                      </a:r>
                      <a:r>
                        <a:rPr dirty="0" baseline="-24074" sz="2250" spc="-37">
                          <a:latin typeface="宋体"/>
                          <a:cs typeface="宋体"/>
                        </a:rPr>
                        <a:t>2</a:t>
                      </a:r>
                      <a:r>
                        <a:rPr dirty="0" baseline="-24074" sz="2250">
                          <a:latin typeface="宋体"/>
                          <a:cs typeface="宋体"/>
                        </a:rPr>
                        <a:t>	</a:t>
                      </a:r>
                      <a:r>
                        <a:rPr dirty="0" sz="2600" spc="120">
                          <a:latin typeface="MT Extra"/>
                          <a:cs typeface="MT Extra"/>
                        </a:rPr>
                        <a:t></a:t>
                      </a:r>
                      <a:r>
                        <a:rPr dirty="0" sz="26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600" spc="130">
                          <a:latin typeface="MT Extra"/>
                          <a:cs typeface="MT Extra"/>
                        </a:rPr>
                        <a:t></a:t>
                      </a:r>
                      <a:endParaRPr sz="2600">
                        <a:latin typeface="MT Extra"/>
                        <a:cs typeface="MT Extra"/>
                      </a:endParaRPr>
                    </a:p>
                    <a:p>
                      <a:pPr marL="40640">
                        <a:lnSpc>
                          <a:spcPts val="175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i</a:t>
                      </a:r>
                      <a:r>
                        <a:rPr dirty="0" sz="1600" spc="-5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500" spc="40">
                          <a:latin typeface="Symbol"/>
                          <a:cs typeface="Symbol"/>
                        </a:rPr>
                        <a:t></a:t>
                      </a:r>
                      <a:r>
                        <a:rPr dirty="0" sz="1500" spc="40">
                          <a:latin typeface="宋体"/>
                          <a:cs typeface="宋体"/>
                        </a:rPr>
                        <a:t>1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R w="9525">
                      <a:solidFill>
                        <a:srgbClr val="FFFFFF"/>
                      </a:solidFill>
                      <a:prstDash val="dot"/>
                    </a:lnR>
                    <a:lnT w="9525">
                      <a:solidFill>
                        <a:srgbClr val="FFFFFF"/>
                      </a:solidFill>
                      <a:prstDash val="dot"/>
                    </a:lnT>
                    <a:lnB w="9525">
                      <a:solidFill>
                        <a:srgbClr val="FFFFFF"/>
                      </a:solidFill>
                      <a:prstDash val="dot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dot"/>
                    </a:lnL>
                    <a:lnT w="9525">
                      <a:solidFill>
                        <a:srgbClr val="FFFFFF"/>
                      </a:solidFill>
                      <a:prstDash val="dot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789" y="471551"/>
            <a:ext cx="286321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并</a:t>
            </a:r>
            <a:r>
              <a:rPr dirty="0"/>
              <a:t>集</a:t>
            </a:r>
            <a:r>
              <a:rPr dirty="0"/>
              <a:t>的</a:t>
            </a:r>
            <a:r>
              <a:rPr dirty="0"/>
              <a:t>例</a:t>
            </a:r>
            <a:r>
              <a:rPr dirty="0" spc="-50"/>
              <a:t>子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8475" y="1763395"/>
            <a:ext cx="8131175" cy="190118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62610" indent="-512445">
              <a:lnSpc>
                <a:spcPct val="100000"/>
              </a:lnSpc>
              <a:spcBef>
                <a:spcPts val="110"/>
              </a:spcBef>
              <a:buFont typeface="Calibri"/>
              <a:buAutoNum type="arabicParenBoth"/>
              <a:tabLst>
                <a:tab pos="563245" algn="l"/>
              </a:tabLst>
            </a:pPr>
            <a:r>
              <a:rPr dirty="0" sz="2800" spc="70" b="1">
                <a:latin typeface="微软雅黑"/>
                <a:cs typeface="微软雅黑"/>
              </a:rPr>
              <a:t>设</a:t>
            </a:r>
            <a:r>
              <a:rPr dirty="0" sz="2800" b="1">
                <a:latin typeface="Calibri"/>
                <a:cs typeface="Calibri"/>
              </a:rPr>
              <a:t>A={x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N|5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10}</a:t>
            </a:r>
            <a:r>
              <a:rPr dirty="0" sz="2800" spc="-90" b="1">
                <a:latin typeface="微软雅黑"/>
                <a:cs typeface="微软雅黑"/>
              </a:rPr>
              <a:t>， </a:t>
            </a:r>
            <a:r>
              <a:rPr dirty="0" sz="2800" b="1">
                <a:latin typeface="Calibri"/>
                <a:cs typeface="Calibri"/>
              </a:rPr>
              <a:t>B={x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N|x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10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10" b="1">
                <a:latin typeface="微软雅黑"/>
                <a:cs typeface="微软雅黑"/>
              </a:rPr>
              <a:t>为素数</a:t>
            </a:r>
            <a:r>
              <a:rPr dirty="0" sz="2800" spc="-25" b="1">
                <a:latin typeface="Calibri"/>
                <a:cs typeface="Calibri"/>
              </a:rPr>
              <a:t>}</a:t>
            </a:r>
            <a:r>
              <a:rPr dirty="0" sz="2800" spc="-40" b="1">
                <a:latin typeface="微软雅黑"/>
                <a:cs typeface="微软雅黑"/>
              </a:rPr>
              <a:t>，则</a:t>
            </a:r>
            <a:endParaRPr sz="2800">
              <a:latin typeface="微软雅黑"/>
              <a:cs typeface="微软雅黑"/>
            </a:endParaRPr>
          </a:p>
          <a:p>
            <a:pPr algn="ctr" marL="15875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B={2,3,5,6,7,8,9,10}</a:t>
            </a:r>
            <a:r>
              <a:rPr dirty="0" sz="2800" spc="-50" b="1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535305" indent="-485140">
              <a:lnSpc>
                <a:spcPct val="100000"/>
              </a:lnSpc>
              <a:spcBef>
                <a:spcPts val="2340"/>
              </a:spcBef>
              <a:buFont typeface="Calibri"/>
              <a:buAutoNum type="arabicParenBoth" startAt="2"/>
              <a:tabLst>
                <a:tab pos="535940" algn="l"/>
              </a:tabLst>
            </a:pPr>
            <a:r>
              <a:rPr dirty="0" sz="2800" spc="65" b="1">
                <a:latin typeface="微软雅黑"/>
                <a:cs typeface="微软雅黑"/>
              </a:rPr>
              <a:t>设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n</a:t>
            </a:r>
            <a:r>
              <a:rPr dirty="0" sz="2800" b="1">
                <a:latin typeface="Calibri"/>
                <a:cs typeface="Calibri"/>
              </a:rPr>
              <a:t>={x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R|n-</a:t>
            </a:r>
            <a:r>
              <a:rPr dirty="0" sz="2800" spc="-10" b="1">
                <a:latin typeface="Calibri"/>
                <a:cs typeface="Calibri"/>
              </a:rPr>
              <a:t>1</a:t>
            </a:r>
            <a:r>
              <a:rPr dirty="0" sz="2800" spc="-10" b="1">
                <a:latin typeface="Symbol"/>
                <a:cs typeface="Symbol"/>
              </a:rPr>
              <a:t></a:t>
            </a: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spc="-10" b="1">
                <a:latin typeface="Symbol"/>
                <a:cs typeface="Symbol"/>
              </a:rPr>
              <a:t></a:t>
            </a:r>
            <a:r>
              <a:rPr dirty="0" sz="2800" spc="-10" b="1">
                <a:latin typeface="Calibri"/>
                <a:cs typeface="Calibri"/>
              </a:rPr>
              <a:t>n}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-10" b="1">
                <a:latin typeface="Calibri"/>
                <a:cs typeface="Calibri"/>
              </a:rPr>
              <a:t>n=1,2,…,10</a:t>
            </a:r>
            <a:r>
              <a:rPr dirty="0" sz="2800" spc="-30" b="1">
                <a:latin typeface="微软雅黑"/>
                <a:cs typeface="微软雅黑"/>
              </a:rPr>
              <a:t>，则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1175" y="4665853"/>
            <a:ext cx="599821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(3</a:t>
            </a:r>
            <a:r>
              <a:rPr dirty="0" sz="2800" spc="5" b="1">
                <a:latin typeface="Calibri"/>
                <a:cs typeface="Calibri"/>
              </a:rPr>
              <a:t>) </a:t>
            </a:r>
            <a:r>
              <a:rPr dirty="0" sz="2800" spc="65" b="1">
                <a:latin typeface="微软雅黑"/>
                <a:cs typeface="微软雅黑"/>
              </a:rPr>
              <a:t>设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n</a:t>
            </a:r>
            <a:r>
              <a:rPr dirty="0" sz="2800" b="1">
                <a:latin typeface="Calibri"/>
                <a:cs typeface="Calibri"/>
              </a:rPr>
              <a:t>={x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R|0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1/n}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b="1">
                <a:latin typeface="Calibri"/>
                <a:cs typeface="Calibri"/>
              </a:rPr>
              <a:t>n=1,2,…</a:t>
            </a:r>
            <a:r>
              <a:rPr dirty="0" sz="2800" spc="-25" b="1">
                <a:latin typeface="微软雅黑"/>
                <a:cs typeface="微软雅黑"/>
              </a:rPr>
              <a:t>，则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60543" y="3622986"/>
            <a:ext cx="23876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-25">
                <a:latin typeface="宋体"/>
                <a:cs typeface="宋体"/>
              </a:rPr>
              <a:t>10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89153" y="4249054"/>
            <a:ext cx="409575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800" spc="-10">
                <a:latin typeface="宋体"/>
                <a:cs typeface="宋体"/>
              </a:rPr>
              <a:t>n</a:t>
            </a:r>
            <a:r>
              <a:rPr dirty="0" sz="1800" spc="-580">
                <a:latin typeface="宋体"/>
                <a:cs typeface="宋体"/>
              </a:rPr>
              <a:t> </a:t>
            </a:r>
            <a:r>
              <a:rPr dirty="0" sz="1700" spc="-25">
                <a:latin typeface="Symbol"/>
                <a:cs typeface="Symbol"/>
              </a:rPr>
              <a:t></a:t>
            </a:r>
            <a:r>
              <a:rPr dirty="0" sz="1700" spc="-25">
                <a:latin typeface="宋体"/>
                <a:cs typeface="宋体"/>
              </a:rPr>
              <a:t>1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13812" y="3823099"/>
            <a:ext cx="6655434" cy="503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64184" algn="l"/>
                <a:tab pos="1015365" algn="l"/>
                <a:tab pos="2342515" algn="l"/>
                <a:tab pos="3790315" algn="l"/>
                <a:tab pos="4594860" algn="l"/>
              </a:tabLst>
            </a:pPr>
            <a:r>
              <a:rPr dirty="0" sz="2950" spc="25">
                <a:latin typeface="MT Extra"/>
                <a:cs typeface="MT Extra"/>
              </a:rPr>
              <a:t>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3100" spc="-25">
                <a:latin typeface="宋体"/>
                <a:cs typeface="宋体"/>
              </a:rPr>
              <a:t>A</a:t>
            </a:r>
            <a:r>
              <a:rPr dirty="0" baseline="-23148" sz="2700" spc="-37">
                <a:latin typeface="宋体"/>
                <a:cs typeface="宋体"/>
              </a:rPr>
              <a:t>n</a:t>
            </a:r>
            <a:r>
              <a:rPr dirty="0" baseline="-23148" sz="2700">
                <a:latin typeface="宋体"/>
                <a:cs typeface="宋体"/>
              </a:rPr>
              <a:t>	</a:t>
            </a:r>
            <a:r>
              <a:rPr dirty="0" sz="2950" spc="60">
                <a:latin typeface="Symbol"/>
                <a:cs typeface="Symbol"/>
              </a:rPr>
              <a:t></a:t>
            </a:r>
            <a:r>
              <a:rPr dirty="0" sz="2950" spc="175">
                <a:latin typeface="Times New Roman"/>
                <a:cs typeface="Times New Roman"/>
              </a:rPr>
              <a:t> </a:t>
            </a:r>
            <a:r>
              <a:rPr dirty="0" sz="2950">
                <a:latin typeface="宋体"/>
                <a:cs typeface="宋体"/>
              </a:rPr>
              <a:t>{</a:t>
            </a:r>
            <a:r>
              <a:rPr dirty="0" sz="3100">
                <a:latin typeface="宋体"/>
                <a:cs typeface="宋体"/>
              </a:rPr>
              <a:t>x</a:t>
            </a:r>
            <a:r>
              <a:rPr dirty="0" sz="3100" spc="-50">
                <a:latin typeface="宋体"/>
                <a:cs typeface="宋体"/>
              </a:rPr>
              <a:t> </a:t>
            </a:r>
            <a:r>
              <a:rPr dirty="0" sz="2950" spc="30">
                <a:latin typeface="Symbol"/>
                <a:cs typeface="Symbol"/>
              </a:rPr>
              <a:t>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3100">
                <a:latin typeface="宋体"/>
                <a:cs typeface="宋体"/>
              </a:rPr>
              <a:t>R</a:t>
            </a:r>
            <a:r>
              <a:rPr dirty="0" sz="3100" spc="-160">
                <a:latin typeface="宋体"/>
                <a:cs typeface="宋体"/>
              </a:rPr>
              <a:t> </a:t>
            </a:r>
            <a:r>
              <a:rPr dirty="0" sz="2950" spc="55">
                <a:latin typeface="宋体"/>
                <a:cs typeface="宋体"/>
              </a:rPr>
              <a:t>|</a:t>
            </a:r>
            <a:r>
              <a:rPr dirty="0" sz="2950" spc="-655">
                <a:latin typeface="宋体"/>
                <a:cs typeface="宋体"/>
              </a:rPr>
              <a:t> </a:t>
            </a:r>
            <a:r>
              <a:rPr dirty="0" sz="2950" spc="55">
                <a:latin typeface="宋体"/>
                <a:cs typeface="宋体"/>
              </a:rPr>
              <a:t>0</a:t>
            </a:r>
            <a:r>
              <a:rPr dirty="0" sz="2950" spc="-35">
                <a:latin typeface="宋体"/>
                <a:cs typeface="宋体"/>
              </a:rPr>
              <a:t> </a:t>
            </a:r>
            <a:r>
              <a:rPr dirty="0" sz="2950" spc="10">
                <a:latin typeface="Symbol"/>
                <a:cs typeface="Symbol"/>
              </a:rPr>
              <a:t>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3100">
                <a:latin typeface="宋体"/>
                <a:cs typeface="宋体"/>
              </a:rPr>
              <a:t>x</a:t>
            </a:r>
            <a:r>
              <a:rPr dirty="0" sz="3100" spc="295">
                <a:latin typeface="宋体"/>
                <a:cs typeface="宋体"/>
              </a:rPr>
              <a:t> </a:t>
            </a:r>
            <a:r>
              <a:rPr dirty="0" sz="2950" spc="10">
                <a:latin typeface="Symbol"/>
                <a:cs typeface="Symbol"/>
              </a:rPr>
              <a:t>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spc="-10">
                <a:latin typeface="宋体"/>
                <a:cs typeface="宋体"/>
              </a:rPr>
              <a:t>10}</a:t>
            </a:r>
            <a:r>
              <a:rPr dirty="0" sz="2950" spc="-459">
                <a:latin typeface="宋体"/>
                <a:cs typeface="宋体"/>
              </a:rPr>
              <a:t> </a:t>
            </a:r>
            <a:r>
              <a:rPr dirty="0" sz="2950" spc="60">
                <a:latin typeface="Symbol"/>
                <a:cs typeface="Symbol"/>
              </a:rPr>
              <a:t></a:t>
            </a:r>
            <a:r>
              <a:rPr dirty="0" sz="2950" spc="229">
                <a:latin typeface="Times New Roman"/>
                <a:cs typeface="Times New Roman"/>
              </a:rPr>
              <a:t> </a:t>
            </a:r>
            <a:r>
              <a:rPr dirty="0" sz="2950" spc="-20">
                <a:latin typeface="宋体"/>
                <a:cs typeface="宋体"/>
              </a:rPr>
              <a:t>[0</a:t>
            </a:r>
            <a:r>
              <a:rPr dirty="0" sz="2950" spc="-885">
                <a:latin typeface="宋体"/>
                <a:cs typeface="宋体"/>
              </a:rPr>
              <a:t>,</a:t>
            </a:r>
            <a:r>
              <a:rPr dirty="0" sz="2950" spc="120">
                <a:latin typeface="宋体"/>
                <a:cs typeface="宋体"/>
              </a:rPr>
              <a:t>1</a:t>
            </a:r>
            <a:r>
              <a:rPr dirty="0" sz="2950" spc="-65">
                <a:latin typeface="宋体"/>
                <a:cs typeface="宋体"/>
              </a:rPr>
              <a:t>0</a:t>
            </a:r>
            <a:r>
              <a:rPr dirty="0" sz="2950" spc="100">
                <a:latin typeface="宋体"/>
                <a:cs typeface="宋体"/>
              </a:rPr>
              <a:t>]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330452" y="3570732"/>
            <a:ext cx="6703059" cy="1015365"/>
          </a:xfrm>
          <a:custGeom>
            <a:avLst/>
            <a:gdLst/>
            <a:ahLst/>
            <a:cxnLst/>
            <a:rect l="l" t="t" r="r" b="b"/>
            <a:pathLst>
              <a:path w="6703059" h="1015364">
                <a:moveTo>
                  <a:pt x="0" y="1014983"/>
                </a:moveTo>
                <a:lnTo>
                  <a:pt x="6702552" y="1014983"/>
                </a:lnTo>
                <a:lnTo>
                  <a:pt x="6702552" y="0"/>
                </a:lnTo>
                <a:lnTo>
                  <a:pt x="0" y="0"/>
                </a:lnTo>
                <a:lnTo>
                  <a:pt x="0" y="1014983"/>
                </a:lnTo>
                <a:close/>
              </a:path>
            </a:pathLst>
          </a:custGeom>
          <a:ln w="915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498777" y="5177466"/>
            <a:ext cx="17653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700" spc="70">
                <a:latin typeface="Symbol"/>
                <a:cs typeface="Symbol"/>
              </a:rPr>
              <a:t>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9345" y="5803446"/>
            <a:ext cx="410209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800">
                <a:latin typeface="宋体"/>
                <a:cs typeface="宋体"/>
              </a:rPr>
              <a:t>n</a:t>
            </a:r>
            <a:r>
              <a:rPr dirty="0" sz="1800" spc="-585">
                <a:latin typeface="宋体"/>
                <a:cs typeface="宋体"/>
              </a:rPr>
              <a:t> </a:t>
            </a:r>
            <a:r>
              <a:rPr dirty="0" sz="1700" spc="30">
                <a:latin typeface="Symbol"/>
                <a:cs typeface="Symbol"/>
              </a:rPr>
              <a:t></a:t>
            </a:r>
            <a:r>
              <a:rPr dirty="0" sz="1700" spc="30">
                <a:latin typeface="宋体"/>
                <a:cs typeface="宋体"/>
              </a:rPr>
              <a:t>1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14227" y="5377428"/>
            <a:ext cx="6235065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65455" algn="l"/>
                <a:tab pos="1017269" algn="l"/>
                <a:tab pos="2346960" algn="l"/>
                <a:tab pos="3797935" algn="l"/>
                <a:tab pos="4605020" algn="l"/>
              </a:tabLst>
            </a:pPr>
            <a:r>
              <a:rPr dirty="0" sz="2950" spc="25">
                <a:latin typeface="MT Extra"/>
                <a:cs typeface="MT Extra"/>
              </a:rPr>
              <a:t>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3100" spc="-35">
                <a:latin typeface="宋体"/>
                <a:cs typeface="宋体"/>
              </a:rPr>
              <a:t>A</a:t>
            </a:r>
            <a:r>
              <a:rPr dirty="0" baseline="-23148" sz="2700" spc="-52">
                <a:latin typeface="宋体"/>
                <a:cs typeface="宋体"/>
              </a:rPr>
              <a:t>n</a:t>
            </a:r>
            <a:r>
              <a:rPr dirty="0" baseline="-23148" sz="2700">
                <a:latin typeface="宋体"/>
                <a:cs typeface="宋体"/>
              </a:rPr>
              <a:t>	</a:t>
            </a:r>
            <a:r>
              <a:rPr dirty="0" sz="2950" spc="60">
                <a:latin typeface="Symbol"/>
                <a:cs typeface="Symbol"/>
              </a:rPr>
              <a:t></a:t>
            </a:r>
            <a:r>
              <a:rPr dirty="0" sz="2950" spc="175">
                <a:latin typeface="Times New Roman"/>
                <a:cs typeface="Times New Roman"/>
              </a:rPr>
              <a:t> </a:t>
            </a:r>
            <a:r>
              <a:rPr dirty="0" sz="2950">
                <a:latin typeface="宋体"/>
                <a:cs typeface="宋体"/>
              </a:rPr>
              <a:t>{</a:t>
            </a:r>
            <a:r>
              <a:rPr dirty="0" sz="3100">
                <a:latin typeface="宋体"/>
                <a:cs typeface="宋体"/>
              </a:rPr>
              <a:t>x</a:t>
            </a:r>
            <a:r>
              <a:rPr dirty="0" sz="3100" spc="-50">
                <a:latin typeface="宋体"/>
                <a:cs typeface="宋体"/>
              </a:rPr>
              <a:t> </a:t>
            </a:r>
            <a:r>
              <a:rPr dirty="0" sz="2950" spc="30">
                <a:latin typeface="Symbol"/>
                <a:cs typeface="Symbol"/>
              </a:rPr>
              <a:t>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3100">
                <a:latin typeface="宋体"/>
                <a:cs typeface="宋体"/>
              </a:rPr>
              <a:t>R</a:t>
            </a:r>
            <a:r>
              <a:rPr dirty="0" sz="3100" spc="-165">
                <a:latin typeface="宋体"/>
                <a:cs typeface="宋体"/>
              </a:rPr>
              <a:t> </a:t>
            </a:r>
            <a:r>
              <a:rPr dirty="0" sz="2950" spc="55">
                <a:latin typeface="宋体"/>
                <a:cs typeface="宋体"/>
              </a:rPr>
              <a:t>|</a:t>
            </a:r>
            <a:r>
              <a:rPr dirty="0" sz="2950" spc="-645">
                <a:latin typeface="宋体"/>
                <a:cs typeface="宋体"/>
              </a:rPr>
              <a:t> </a:t>
            </a:r>
            <a:r>
              <a:rPr dirty="0" sz="2950" spc="55">
                <a:latin typeface="宋体"/>
                <a:cs typeface="宋体"/>
              </a:rPr>
              <a:t>0</a:t>
            </a:r>
            <a:r>
              <a:rPr dirty="0" sz="2950" spc="-45">
                <a:latin typeface="宋体"/>
                <a:cs typeface="宋体"/>
              </a:rPr>
              <a:t> </a:t>
            </a:r>
            <a:r>
              <a:rPr dirty="0" sz="2950" spc="10">
                <a:latin typeface="Symbol"/>
                <a:cs typeface="Symbol"/>
              </a:rPr>
              <a:t>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3100">
                <a:latin typeface="宋体"/>
                <a:cs typeface="宋体"/>
              </a:rPr>
              <a:t>x</a:t>
            </a:r>
            <a:r>
              <a:rPr dirty="0" sz="3100" spc="300">
                <a:latin typeface="宋体"/>
                <a:cs typeface="宋体"/>
              </a:rPr>
              <a:t> </a:t>
            </a:r>
            <a:r>
              <a:rPr dirty="0" sz="2950" spc="10">
                <a:latin typeface="Symbol"/>
                <a:cs typeface="Symbol"/>
              </a:rPr>
              <a:t>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spc="-130">
                <a:latin typeface="宋体"/>
                <a:cs typeface="宋体"/>
              </a:rPr>
              <a:t>1}</a:t>
            </a:r>
            <a:r>
              <a:rPr dirty="0" sz="2950" spc="-459">
                <a:latin typeface="宋体"/>
                <a:cs typeface="宋体"/>
              </a:rPr>
              <a:t> </a:t>
            </a:r>
            <a:r>
              <a:rPr dirty="0" sz="2950" spc="60">
                <a:latin typeface="Symbol"/>
                <a:cs typeface="Symbol"/>
              </a:rPr>
              <a:t></a:t>
            </a:r>
            <a:r>
              <a:rPr dirty="0" sz="2950" spc="235">
                <a:latin typeface="Times New Roman"/>
                <a:cs typeface="Times New Roman"/>
              </a:rPr>
              <a:t> </a:t>
            </a:r>
            <a:r>
              <a:rPr dirty="0" sz="2950" spc="-85">
                <a:latin typeface="宋体"/>
                <a:cs typeface="宋体"/>
              </a:rPr>
              <a:t>[0</a:t>
            </a:r>
            <a:r>
              <a:rPr dirty="0" sz="2950" spc="-944">
                <a:latin typeface="宋体"/>
                <a:cs typeface="宋体"/>
              </a:rPr>
              <a:t>,</a:t>
            </a:r>
            <a:r>
              <a:rPr dirty="0" sz="2950" spc="-270">
                <a:latin typeface="宋体"/>
                <a:cs typeface="宋体"/>
              </a:rPr>
              <a:t>1</a:t>
            </a:r>
            <a:r>
              <a:rPr dirty="0" sz="2950" spc="40">
                <a:latin typeface="宋体"/>
                <a:cs typeface="宋体"/>
              </a:rPr>
              <a:t>]</a:t>
            </a:r>
            <a:endParaRPr sz="2950">
              <a:latin typeface="宋体"/>
              <a:cs typeface="宋体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330452" y="5125211"/>
            <a:ext cx="6273165" cy="1015365"/>
          </a:xfrm>
          <a:custGeom>
            <a:avLst/>
            <a:gdLst/>
            <a:ahLst/>
            <a:cxnLst/>
            <a:rect l="l" t="t" r="r" b="b"/>
            <a:pathLst>
              <a:path w="6273165" h="1015364">
                <a:moveTo>
                  <a:pt x="0" y="1014983"/>
                </a:moveTo>
                <a:lnTo>
                  <a:pt x="6272784" y="1014983"/>
                </a:lnTo>
                <a:lnTo>
                  <a:pt x="6272784" y="0"/>
                </a:lnTo>
                <a:lnTo>
                  <a:pt x="0" y="0"/>
                </a:lnTo>
                <a:lnTo>
                  <a:pt x="0" y="1014983"/>
                </a:lnTo>
                <a:close/>
              </a:path>
            </a:pathLst>
          </a:custGeom>
          <a:ln w="915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071" y="471551"/>
            <a:ext cx="11601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交</a:t>
            </a:r>
            <a:r>
              <a:rPr dirty="0" spc="-50"/>
              <a:t>集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8475" y="1550493"/>
            <a:ext cx="8275320" cy="3885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43180">
              <a:lnSpc>
                <a:spcPct val="150200"/>
              </a:lnSpc>
              <a:spcBef>
                <a:spcPts val="100"/>
              </a:spcBef>
            </a:pPr>
            <a:r>
              <a:rPr dirty="0" sz="2800" spc="100" b="1">
                <a:latin typeface="Microsoft JhengHei"/>
                <a:cs typeface="Microsoft JhengHei"/>
              </a:rPr>
              <a:t>定义</a:t>
            </a:r>
            <a:r>
              <a:rPr dirty="0" sz="2800" spc="45" b="1">
                <a:latin typeface="Microsoft JhengHei"/>
                <a:cs typeface="Microsoft JhengHei"/>
              </a:rPr>
              <a:t>1.9</a:t>
            </a:r>
            <a:r>
              <a:rPr dirty="0" sz="2800" spc="-23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latin typeface="微软雅黑"/>
                <a:cs typeface="微软雅黑"/>
              </a:rPr>
              <a:t>设</a:t>
            </a:r>
            <a:r>
              <a:rPr dirty="0" sz="2800" spc="20" b="1">
                <a:latin typeface="Calibri"/>
                <a:cs typeface="Calibri"/>
              </a:rPr>
              <a:t>A</a:t>
            </a:r>
            <a:r>
              <a:rPr dirty="0" sz="2800" b="1">
                <a:latin typeface="Calibri"/>
                <a:cs typeface="Calibri"/>
              </a:rPr>
              <a:t>,</a:t>
            </a:r>
            <a:r>
              <a:rPr dirty="0" sz="2800" spc="5" b="1">
                <a:latin typeface="Calibri"/>
                <a:cs typeface="Calibri"/>
              </a:rPr>
              <a:t>B</a:t>
            </a:r>
            <a:r>
              <a:rPr dirty="0" sz="2800" spc="5" b="1">
                <a:latin typeface="微软雅黑"/>
                <a:cs typeface="微软雅黑"/>
              </a:rPr>
              <a:t>为二集合，称由</a:t>
            </a:r>
            <a:r>
              <a:rPr dirty="0" sz="2800" spc="20" b="1">
                <a:latin typeface="Calibri"/>
                <a:cs typeface="Calibri"/>
              </a:rPr>
              <a:t>A</a:t>
            </a:r>
            <a:r>
              <a:rPr dirty="0" sz="2800" spc="-5" b="1">
                <a:latin typeface="微软雅黑"/>
                <a:cs typeface="微软雅黑"/>
              </a:rPr>
              <a:t>和</a:t>
            </a:r>
            <a:r>
              <a:rPr dirty="0" sz="2800" spc="5" b="1">
                <a:latin typeface="Calibri"/>
                <a:cs typeface="Calibri"/>
              </a:rPr>
              <a:t>B</a:t>
            </a:r>
            <a:r>
              <a:rPr dirty="0" sz="2800" spc="-5" b="1">
                <a:latin typeface="微软雅黑"/>
                <a:cs typeface="微软雅黑"/>
              </a:rPr>
              <a:t>的公共元素组成</a:t>
            </a:r>
            <a:r>
              <a:rPr dirty="0" sz="2800" spc="15" b="1">
                <a:latin typeface="微软雅黑"/>
                <a:cs typeface="微软雅黑"/>
              </a:rPr>
              <a:t>的集合为</a:t>
            </a:r>
            <a:r>
              <a:rPr dirty="0" sz="2800" spc="-45" b="1">
                <a:latin typeface="Calibri"/>
                <a:cs typeface="Calibri"/>
              </a:rPr>
              <a:t>A</a:t>
            </a:r>
            <a:r>
              <a:rPr dirty="0" sz="2800" spc="70" b="1">
                <a:latin typeface="微软雅黑"/>
                <a:cs typeface="微软雅黑"/>
              </a:rPr>
              <a:t>与</a:t>
            </a:r>
            <a:r>
              <a:rPr dirty="0" sz="2800" spc="-65" b="1">
                <a:latin typeface="Calibri"/>
                <a:cs typeface="Calibri"/>
              </a:rPr>
              <a:t>B</a:t>
            </a:r>
            <a:r>
              <a:rPr dirty="0" sz="2800" b="1">
                <a:latin typeface="微软雅黑"/>
                <a:cs typeface="微软雅黑"/>
              </a:rPr>
              <a:t>的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交集</a:t>
            </a:r>
            <a:r>
              <a:rPr dirty="0" sz="2800" spc="20" b="1">
                <a:latin typeface="微软雅黑"/>
                <a:cs typeface="微软雅黑"/>
              </a:rPr>
              <a:t>，记作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5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spc="-6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微软雅黑"/>
                <a:cs typeface="微软雅黑"/>
              </a:rPr>
              <a:t>，称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b="1">
                <a:latin typeface="微软雅黑"/>
                <a:cs typeface="微软雅黑"/>
              </a:rPr>
              <a:t>为并元算符， </a:t>
            </a:r>
            <a:r>
              <a:rPr dirty="0" sz="2800" spc="2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5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spc="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10" b="1">
                <a:latin typeface="微软雅黑"/>
                <a:cs typeface="微软雅黑"/>
              </a:rPr>
              <a:t>的描述法表示为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40" b="1">
                <a:solidFill>
                  <a:srgbClr val="006FC0"/>
                </a:solidFill>
                <a:latin typeface="Calibri"/>
                <a:cs typeface="Calibri"/>
              </a:rPr>
              <a:t> = {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|</a:t>
            </a:r>
            <a:r>
              <a:rPr dirty="0" sz="2800" spc="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85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9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85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80" b="1">
                <a:solidFill>
                  <a:srgbClr val="006FC0"/>
                </a:solidFill>
                <a:latin typeface="Calibri"/>
                <a:cs typeface="Calibri"/>
              </a:rPr>
              <a:t> }</a:t>
            </a:r>
            <a:r>
              <a:rPr dirty="0" sz="2800" spc="50" b="1">
                <a:latin typeface="微软雅黑"/>
                <a:cs typeface="微软雅黑"/>
              </a:rPr>
              <a:t>。集合的</a:t>
            </a:r>
            <a:r>
              <a:rPr dirty="0" sz="2800" spc="-5" b="1">
                <a:latin typeface="微软雅黑"/>
                <a:cs typeface="微软雅黑"/>
              </a:rPr>
              <a:t>交运算可以推广到有限个或可数个集合</a:t>
            </a:r>
            <a:r>
              <a:rPr dirty="0" sz="2800" spc="-85" b="1">
                <a:latin typeface="Calibri"/>
                <a:cs typeface="Calibri"/>
              </a:rPr>
              <a:t>(</a:t>
            </a:r>
            <a:r>
              <a:rPr dirty="0" sz="2800" spc="20" b="1">
                <a:solidFill>
                  <a:srgbClr val="FF0000"/>
                </a:solidFill>
                <a:latin typeface="微软雅黑"/>
                <a:cs typeface="微软雅黑"/>
              </a:rPr>
              <a:t>初级交</a:t>
            </a:r>
            <a:r>
              <a:rPr dirty="0" sz="2800" spc="-15" b="1">
                <a:latin typeface="Calibri"/>
                <a:cs typeface="Calibri"/>
              </a:rPr>
              <a:t>)</a:t>
            </a:r>
            <a:r>
              <a:rPr dirty="0" sz="2800" spc="30" b="1">
                <a:latin typeface="微软雅黑"/>
                <a:cs typeface="微软雅黑"/>
              </a:rPr>
              <a:t>。设</a:t>
            </a:r>
            <a:r>
              <a:rPr dirty="0" sz="2800" spc="-5" b="1" i="1">
                <a:latin typeface="Times New Roman"/>
                <a:cs typeface="Times New Roman"/>
              </a:rPr>
              <a:t>A</a:t>
            </a:r>
            <a:r>
              <a:rPr dirty="0" baseline="-19519" sz="2775" spc="-7" b="1" i="1">
                <a:latin typeface="Times New Roman"/>
                <a:cs typeface="Times New Roman"/>
              </a:rPr>
              <a:t>1</a:t>
            </a:r>
            <a:r>
              <a:rPr dirty="0" sz="2800" spc="-100" b="1" i="1">
                <a:latin typeface="Times New Roman"/>
                <a:cs typeface="Times New Roman"/>
              </a:rPr>
              <a:t>,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latin typeface="Times New Roman"/>
                <a:cs typeface="Times New Roman"/>
              </a:rPr>
              <a:t>2</a:t>
            </a:r>
            <a:r>
              <a:rPr dirty="0" sz="2800" spc="-50" b="1" i="1">
                <a:latin typeface="Times New Roman"/>
                <a:cs typeface="Times New Roman"/>
              </a:rPr>
              <a:t>,…, </a:t>
            </a:r>
            <a:r>
              <a:rPr dirty="0" sz="2800" spc="5" b="1" i="1">
                <a:latin typeface="Times New Roman"/>
                <a:cs typeface="Times New Roman"/>
              </a:rPr>
              <a:t>A</a:t>
            </a:r>
            <a:r>
              <a:rPr dirty="0" baseline="-19519" sz="2775" spc="7" b="1" i="1">
                <a:latin typeface="Times New Roman"/>
                <a:cs typeface="Times New Roman"/>
              </a:rPr>
              <a:t>n</a:t>
            </a:r>
            <a:r>
              <a:rPr dirty="0" baseline="-19519" sz="2775" spc="337" b="1" i="1">
                <a:latin typeface="Times New Roman"/>
                <a:cs typeface="Times New Roman"/>
              </a:rPr>
              <a:t> </a:t>
            </a:r>
            <a:r>
              <a:rPr dirty="0" sz="2800" spc="15" b="1" i="1">
                <a:latin typeface="Times New Roman"/>
                <a:cs typeface="Times New Roman"/>
              </a:rPr>
              <a:t>, </a:t>
            </a:r>
            <a:r>
              <a:rPr dirty="0" sz="2800" spc="10" b="1">
                <a:latin typeface="Calibri"/>
                <a:cs typeface="Calibri"/>
              </a:rPr>
              <a:t>…</a:t>
            </a:r>
            <a:r>
              <a:rPr dirty="0" sz="2800" spc="10" b="1">
                <a:latin typeface="微软雅黑"/>
                <a:cs typeface="微软雅黑"/>
              </a:rPr>
              <a:t>为可数个集合，则</a:t>
            </a:r>
            <a:endParaRPr sz="2800">
              <a:latin typeface="微软雅黑"/>
              <a:cs typeface="微软雅黑"/>
            </a:endParaRPr>
          </a:p>
          <a:p>
            <a:pPr marL="762635">
              <a:lnSpc>
                <a:spcPct val="100000"/>
              </a:lnSpc>
              <a:spcBef>
                <a:spcPts val="1555"/>
              </a:spcBef>
              <a:tabLst>
                <a:tab pos="3362960" algn="l"/>
              </a:tabLst>
            </a:pPr>
            <a:r>
              <a:rPr dirty="0" sz="3000" spc="-254" i="1">
                <a:latin typeface="Times New Roman"/>
                <a:cs typeface="Times New Roman"/>
              </a:rPr>
              <a:t>A</a:t>
            </a:r>
            <a:r>
              <a:rPr dirty="0" baseline="-23809" sz="2625" spc="-382">
                <a:latin typeface="Times New Roman"/>
                <a:cs typeface="Times New Roman"/>
              </a:rPr>
              <a:t>1</a:t>
            </a:r>
            <a:r>
              <a:rPr dirty="0" baseline="-23809" sz="2625" spc="217">
                <a:latin typeface="Times New Roman"/>
                <a:cs typeface="Times New Roman"/>
              </a:rPr>
              <a:t> </a:t>
            </a:r>
            <a:r>
              <a:rPr dirty="0" sz="3000">
                <a:latin typeface="MT Extra"/>
                <a:cs typeface="MT Extra"/>
              </a:rPr>
              <a:t></a:t>
            </a:r>
            <a:r>
              <a:rPr dirty="0" sz="3000" spc="-110">
                <a:latin typeface="Times New Roman"/>
                <a:cs typeface="Times New Roman"/>
              </a:rPr>
              <a:t> </a:t>
            </a:r>
            <a:r>
              <a:rPr dirty="0" sz="3000" spc="-10" i="1">
                <a:latin typeface="Times New Roman"/>
                <a:cs typeface="Times New Roman"/>
              </a:rPr>
              <a:t>A</a:t>
            </a:r>
            <a:r>
              <a:rPr dirty="0" baseline="-23809" sz="2625" spc="-15">
                <a:latin typeface="Times New Roman"/>
                <a:cs typeface="Times New Roman"/>
              </a:rPr>
              <a:t>2</a:t>
            </a:r>
            <a:r>
              <a:rPr dirty="0" baseline="-23809" sz="2625" spc="480">
                <a:latin typeface="Times New Roman"/>
                <a:cs typeface="Times New Roman"/>
              </a:rPr>
              <a:t> </a:t>
            </a:r>
            <a:r>
              <a:rPr dirty="0" sz="3000" spc="-225">
                <a:latin typeface="MT Extra"/>
                <a:cs typeface="MT Extra"/>
              </a:rPr>
              <a:t></a:t>
            </a:r>
            <a:r>
              <a:rPr dirty="0" sz="3000" spc="-380">
                <a:latin typeface="Times New Roman"/>
                <a:cs typeface="Times New Roman"/>
              </a:rPr>
              <a:t> </a:t>
            </a:r>
            <a:r>
              <a:rPr dirty="0" sz="3000" spc="-330">
                <a:latin typeface="MT Extra"/>
                <a:cs typeface="MT Extra"/>
              </a:rPr>
              <a:t></a:t>
            </a:r>
            <a:r>
              <a:rPr dirty="0" sz="3000" spc="-330">
                <a:latin typeface="Times New Roman"/>
                <a:cs typeface="Times New Roman"/>
              </a:rPr>
              <a:t> </a:t>
            </a:r>
            <a:r>
              <a:rPr dirty="0" sz="3000">
                <a:latin typeface="MT Extra"/>
                <a:cs typeface="MT Extra"/>
              </a:rPr>
              <a:t>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 spc="-25" i="1">
                <a:latin typeface="Times New Roman"/>
                <a:cs typeface="Times New Roman"/>
              </a:rPr>
              <a:t>A</a:t>
            </a:r>
            <a:r>
              <a:rPr dirty="0" baseline="-23809" sz="2625" spc="-37" i="1">
                <a:latin typeface="Times New Roman"/>
                <a:cs typeface="Times New Roman"/>
              </a:rPr>
              <a:t>n</a:t>
            </a:r>
            <a:r>
              <a:rPr dirty="0" baseline="-23809" sz="2625" i="1">
                <a:latin typeface="Times New Roman"/>
                <a:cs typeface="Times New Roman"/>
              </a:rPr>
              <a:t>	</a:t>
            </a:r>
            <a:r>
              <a:rPr dirty="0" sz="3000" spc="-190">
                <a:latin typeface="Symbol"/>
                <a:cs typeface="Symbol"/>
              </a:rPr>
              <a:t></a:t>
            </a:r>
            <a:r>
              <a:rPr dirty="0" sz="3000" spc="-210">
                <a:latin typeface="Times New Roman"/>
                <a:cs typeface="Times New Roman"/>
              </a:rPr>
              <a:t> </a:t>
            </a:r>
            <a:r>
              <a:rPr dirty="0" sz="3000" spc="-105">
                <a:latin typeface="Times New Roman"/>
                <a:cs typeface="Times New Roman"/>
              </a:rPr>
              <a:t>{</a:t>
            </a:r>
            <a:r>
              <a:rPr dirty="0" sz="3000" spc="-105" i="1">
                <a:latin typeface="Times New Roman"/>
                <a:cs typeface="Times New Roman"/>
              </a:rPr>
              <a:t>x</a:t>
            </a:r>
            <a:r>
              <a:rPr dirty="0" sz="3000" spc="-100" i="1">
                <a:latin typeface="Times New Roman"/>
                <a:cs typeface="Times New Roman"/>
              </a:rPr>
              <a:t> </a:t>
            </a:r>
            <a:r>
              <a:rPr dirty="0" sz="3000" spc="-75">
                <a:latin typeface="Times New Roman"/>
                <a:cs typeface="Times New Roman"/>
              </a:rPr>
              <a:t>|</a:t>
            </a:r>
            <a:r>
              <a:rPr dirty="0" sz="3000" spc="-195">
                <a:latin typeface="Times New Roman"/>
                <a:cs typeface="Times New Roman"/>
              </a:rPr>
              <a:t> </a:t>
            </a:r>
            <a:r>
              <a:rPr dirty="0" sz="3000" spc="-160">
                <a:latin typeface="Symbol"/>
                <a:cs typeface="Symbol"/>
              </a:rPr>
              <a:t></a:t>
            </a:r>
            <a:r>
              <a:rPr dirty="0" sz="3000" spc="-160" i="1">
                <a:latin typeface="Times New Roman"/>
                <a:cs typeface="Times New Roman"/>
              </a:rPr>
              <a:t>i</a:t>
            </a:r>
            <a:r>
              <a:rPr dirty="0" sz="3000" spc="-160">
                <a:latin typeface="Times New Roman"/>
                <a:cs typeface="Times New Roman"/>
              </a:rPr>
              <a:t>(1</a:t>
            </a:r>
            <a:r>
              <a:rPr dirty="0" sz="3000" spc="-254">
                <a:latin typeface="Times New Roman"/>
                <a:cs typeface="Times New Roman"/>
              </a:rPr>
              <a:t> </a:t>
            </a:r>
            <a:r>
              <a:rPr dirty="0" sz="3000" spc="-190">
                <a:latin typeface="Symbol"/>
                <a:cs typeface="Symbol"/>
              </a:rPr>
              <a:t></a:t>
            </a:r>
            <a:r>
              <a:rPr dirty="0" sz="3000" spc="-40">
                <a:latin typeface="Times New Roman"/>
                <a:cs typeface="Times New Roman"/>
              </a:rPr>
              <a:t> </a:t>
            </a:r>
            <a:r>
              <a:rPr dirty="0" sz="3000" i="1">
                <a:latin typeface="Times New Roman"/>
                <a:cs typeface="Times New Roman"/>
              </a:rPr>
              <a:t>i</a:t>
            </a:r>
            <a:r>
              <a:rPr dirty="0" sz="3000" spc="-190" i="1">
                <a:latin typeface="Times New Roman"/>
                <a:cs typeface="Times New Roman"/>
              </a:rPr>
              <a:t> </a:t>
            </a:r>
            <a:r>
              <a:rPr dirty="0" sz="3000">
                <a:latin typeface="Symbol"/>
                <a:cs typeface="Symbol"/>
              </a:rPr>
              <a:t>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i="1">
                <a:latin typeface="Times New Roman"/>
                <a:cs typeface="Times New Roman"/>
              </a:rPr>
              <a:t>n</a:t>
            </a:r>
            <a:r>
              <a:rPr dirty="0" sz="3000" spc="-20" i="1">
                <a:latin typeface="Times New Roman"/>
                <a:cs typeface="Times New Roman"/>
              </a:rPr>
              <a:t> </a:t>
            </a:r>
            <a:r>
              <a:rPr dirty="0" sz="3000" spc="-330">
                <a:latin typeface="Symbol"/>
                <a:cs typeface="Symbol"/>
              </a:rPr>
              <a:t></a:t>
            </a:r>
            <a:r>
              <a:rPr dirty="0" sz="3000" spc="140">
                <a:latin typeface="Times New Roman"/>
                <a:cs typeface="Times New Roman"/>
              </a:rPr>
              <a:t> </a:t>
            </a:r>
            <a:r>
              <a:rPr dirty="0" sz="3000" spc="-155" i="1">
                <a:latin typeface="Times New Roman"/>
                <a:cs typeface="Times New Roman"/>
              </a:rPr>
              <a:t>x</a:t>
            </a:r>
            <a:r>
              <a:rPr dirty="0" sz="3000" spc="-235" i="1">
                <a:latin typeface="Times New Roman"/>
                <a:cs typeface="Times New Roman"/>
              </a:rPr>
              <a:t> </a:t>
            </a:r>
            <a:r>
              <a:rPr dirty="0" sz="3000" spc="-245">
                <a:latin typeface="Symbol"/>
                <a:cs typeface="Symbol"/>
              </a:rPr>
              <a:t>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 spc="-170" i="1">
                <a:latin typeface="Times New Roman"/>
                <a:cs typeface="Times New Roman"/>
              </a:rPr>
              <a:t>A</a:t>
            </a:r>
            <a:r>
              <a:rPr dirty="0" baseline="-23809" sz="2625" spc="-254" i="1">
                <a:latin typeface="Times New Roman"/>
                <a:cs typeface="Times New Roman"/>
              </a:rPr>
              <a:t>i</a:t>
            </a:r>
            <a:r>
              <a:rPr dirty="0" baseline="-23809" sz="2625" spc="52" i="1">
                <a:latin typeface="Times New Roman"/>
                <a:cs typeface="Times New Roman"/>
              </a:rPr>
              <a:t> </a:t>
            </a:r>
            <a:r>
              <a:rPr dirty="0" sz="3000" spc="-25">
                <a:latin typeface="Times New Roman"/>
                <a:cs typeface="Times New Roman"/>
              </a:rPr>
              <a:t>)}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175003" y="4960620"/>
            <a:ext cx="6858000" cy="558165"/>
          </a:xfrm>
          <a:custGeom>
            <a:avLst/>
            <a:gdLst/>
            <a:ahLst/>
            <a:cxnLst/>
            <a:rect l="l" t="t" r="r" b="b"/>
            <a:pathLst>
              <a:path w="6858000" h="558164">
                <a:moveTo>
                  <a:pt x="0" y="557783"/>
                </a:moveTo>
                <a:lnTo>
                  <a:pt x="6858000" y="557783"/>
                </a:lnTo>
                <a:lnTo>
                  <a:pt x="6858000" y="0"/>
                </a:lnTo>
                <a:lnTo>
                  <a:pt x="0" y="0"/>
                </a:lnTo>
                <a:lnTo>
                  <a:pt x="0" y="557783"/>
                </a:lnTo>
                <a:close/>
              </a:path>
            </a:pathLst>
          </a:custGeom>
          <a:ln w="915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02905" y="5494038"/>
            <a:ext cx="145415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spc="15">
                <a:latin typeface="宋体"/>
                <a:cs typeface="宋体"/>
              </a:rPr>
              <a:t>n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2256" y="5709702"/>
            <a:ext cx="45205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85775" algn="l"/>
                <a:tab pos="1041400" algn="l"/>
                <a:tab pos="1461135" algn="l"/>
                <a:tab pos="1926589" algn="l"/>
                <a:tab pos="2832100" algn="l"/>
              </a:tabLst>
            </a:pPr>
            <a:r>
              <a:rPr dirty="0" sz="3000" spc="85">
                <a:latin typeface="MT Extra"/>
                <a:cs typeface="MT Extra"/>
              </a:rPr>
              <a:t></a:t>
            </a:r>
            <a:r>
              <a:rPr dirty="0" sz="30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宋体"/>
                <a:cs typeface="宋体"/>
              </a:rPr>
              <a:t>A</a:t>
            </a:r>
            <a:r>
              <a:rPr dirty="0" baseline="-22522" sz="2775" spc="-37">
                <a:latin typeface="宋体"/>
                <a:cs typeface="宋体"/>
              </a:rPr>
              <a:t>i</a:t>
            </a:r>
            <a:r>
              <a:rPr dirty="0" baseline="-22522" sz="2775">
                <a:latin typeface="宋体"/>
                <a:cs typeface="宋体"/>
              </a:rPr>
              <a:t>	</a:t>
            </a:r>
            <a:r>
              <a:rPr dirty="0" sz="3000" spc="65">
                <a:latin typeface="Symbol"/>
                <a:cs typeface="Symbol"/>
              </a:rPr>
              <a:t></a:t>
            </a:r>
            <a:r>
              <a:rPr dirty="0" sz="30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宋体"/>
                <a:cs typeface="宋体"/>
              </a:rPr>
              <a:t>A</a:t>
            </a:r>
            <a:r>
              <a:rPr dirty="0" baseline="-23809" sz="2625" spc="-37">
                <a:latin typeface="宋体"/>
                <a:cs typeface="宋体"/>
              </a:rPr>
              <a:t>1</a:t>
            </a:r>
            <a:r>
              <a:rPr dirty="0" baseline="-23809" sz="2625">
                <a:latin typeface="宋体"/>
                <a:cs typeface="宋体"/>
              </a:rPr>
              <a:t>	</a:t>
            </a:r>
            <a:r>
              <a:rPr dirty="0" sz="3000" spc="135">
                <a:latin typeface="MT Extra"/>
                <a:cs typeface="MT Extra"/>
              </a:rPr>
              <a:t></a:t>
            </a:r>
            <a:r>
              <a:rPr dirty="0" sz="3000" spc="36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宋体"/>
                <a:cs typeface="宋体"/>
              </a:rPr>
              <a:t>A</a:t>
            </a:r>
            <a:r>
              <a:rPr dirty="0" baseline="-23809" sz="2625" spc="-37">
                <a:latin typeface="宋体"/>
                <a:cs typeface="宋体"/>
              </a:rPr>
              <a:t>2</a:t>
            </a:r>
            <a:r>
              <a:rPr dirty="0" baseline="-23809" sz="2625">
                <a:latin typeface="宋体"/>
                <a:cs typeface="宋体"/>
              </a:rPr>
              <a:t>	</a:t>
            </a:r>
            <a:r>
              <a:rPr dirty="0" sz="3000" spc="135">
                <a:latin typeface="MT Extra"/>
                <a:cs typeface="MT Extra"/>
              </a:rPr>
              <a:t></a:t>
            </a:r>
            <a:r>
              <a:rPr dirty="0" sz="3000" spc="120">
                <a:latin typeface="Times New Roman"/>
                <a:cs typeface="Times New Roman"/>
              </a:rPr>
              <a:t> </a:t>
            </a:r>
            <a:r>
              <a:rPr dirty="0" sz="3000" spc="210">
                <a:latin typeface="MT Extra"/>
                <a:cs typeface="MT Extra"/>
              </a:rPr>
              <a:t></a:t>
            </a:r>
            <a:r>
              <a:rPr dirty="0" sz="3000" spc="105">
                <a:latin typeface="Times New Roman"/>
                <a:cs typeface="Times New Roman"/>
              </a:rPr>
              <a:t> </a:t>
            </a:r>
            <a:r>
              <a:rPr dirty="0" sz="3000" spc="135">
                <a:latin typeface="MT Extra"/>
                <a:cs typeface="MT Extra"/>
              </a:rPr>
              <a:t></a:t>
            </a:r>
            <a:r>
              <a:rPr dirty="0" sz="3000" spc="36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宋体"/>
                <a:cs typeface="宋体"/>
              </a:rPr>
              <a:t>A</a:t>
            </a:r>
            <a:r>
              <a:rPr dirty="0" baseline="-22522" sz="2775" spc="-37">
                <a:latin typeface="宋体"/>
                <a:cs typeface="宋体"/>
              </a:rPr>
              <a:t>n</a:t>
            </a:r>
            <a:endParaRPr baseline="-22522" sz="2775">
              <a:latin typeface="宋体"/>
              <a:cs typeface="宋体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68698" y="6143612"/>
            <a:ext cx="436245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>
                <a:latin typeface="宋体"/>
                <a:cs typeface="宋体"/>
              </a:rPr>
              <a:t>i</a:t>
            </a:r>
            <a:r>
              <a:rPr dirty="0" sz="1850" spc="-610">
                <a:latin typeface="宋体"/>
                <a:cs typeface="宋体"/>
              </a:rPr>
              <a:t> </a:t>
            </a:r>
            <a:r>
              <a:rPr dirty="0" sz="1750" spc="40">
                <a:latin typeface="Symbol"/>
                <a:cs typeface="Symbol"/>
              </a:rPr>
              <a:t></a:t>
            </a:r>
            <a:r>
              <a:rPr dirty="0" sz="1750" spc="40">
                <a:latin typeface="宋体"/>
                <a:cs typeface="宋体"/>
              </a:rPr>
              <a:t>1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34923" y="5454396"/>
            <a:ext cx="4590415" cy="1005840"/>
          </a:xfrm>
          <a:custGeom>
            <a:avLst/>
            <a:gdLst/>
            <a:ahLst/>
            <a:cxnLst/>
            <a:rect l="l" t="t" r="r" b="b"/>
            <a:pathLst>
              <a:path w="4590415" h="1005839">
                <a:moveTo>
                  <a:pt x="0" y="1005839"/>
                </a:moveTo>
                <a:lnTo>
                  <a:pt x="4590288" y="1005839"/>
                </a:lnTo>
                <a:lnTo>
                  <a:pt x="4590288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ln w="915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466465" y="5719982"/>
            <a:ext cx="325056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62330" algn="l"/>
                <a:tab pos="1219200" algn="l"/>
                <a:tab pos="2499995" algn="l"/>
              </a:tabLst>
            </a:pPr>
            <a:r>
              <a:rPr dirty="0" sz="2950" spc="75">
                <a:latin typeface="MT Extra"/>
                <a:cs typeface="MT Extra"/>
              </a:rPr>
              <a:t></a:t>
            </a:r>
            <a:r>
              <a:rPr dirty="0" sz="2950" spc="130">
                <a:latin typeface="Times New Roman"/>
                <a:cs typeface="Times New Roman"/>
              </a:rPr>
              <a:t> </a:t>
            </a:r>
            <a:r>
              <a:rPr dirty="0" sz="2950" spc="-25" i="1">
                <a:latin typeface="Times New Roman"/>
                <a:cs typeface="Times New Roman"/>
              </a:rPr>
              <a:t>A</a:t>
            </a:r>
            <a:r>
              <a:rPr dirty="0" baseline="-24509" sz="2550" spc="-37" i="1">
                <a:latin typeface="Times New Roman"/>
                <a:cs typeface="Times New Roman"/>
              </a:rPr>
              <a:t>i</a:t>
            </a:r>
            <a:r>
              <a:rPr dirty="0" baseline="-24509" sz="2550" i="1">
                <a:latin typeface="Times New Roman"/>
                <a:cs typeface="Times New Roman"/>
              </a:rPr>
              <a:t>	</a:t>
            </a:r>
            <a:r>
              <a:rPr dirty="0" sz="2950" spc="10">
                <a:latin typeface="Symbol"/>
                <a:cs typeface="Symbol"/>
              </a:rPr>
              <a:t>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i="1">
                <a:latin typeface="Times New Roman"/>
                <a:cs typeface="Times New Roman"/>
              </a:rPr>
              <a:t>A</a:t>
            </a:r>
            <a:r>
              <a:rPr dirty="0" baseline="-24509" sz="2550">
                <a:latin typeface="Times New Roman"/>
                <a:cs typeface="Times New Roman"/>
              </a:rPr>
              <a:t>1</a:t>
            </a:r>
            <a:r>
              <a:rPr dirty="0" baseline="-24509" sz="2550" spc="555">
                <a:latin typeface="Times New Roman"/>
                <a:cs typeface="Times New Roman"/>
              </a:rPr>
              <a:t> </a:t>
            </a:r>
            <a:r>
              <a:rPr dirty="0" sz="2950" spc="75">
                <a:latin typeface="MT Extra"/>
                <a:cs typeface="MT Extra"/>
              </a:rPr>
              <a:t></a:t>
            </a:r>
            <a:r>
              <a:rPr dirty="0" sz="2950" spc="110">
                <a:latin typeface="Times New Roman"/>
                <a:cs typeface="Times New Roman"/>
              </a:rPr>
              <a:t> </a:t>
            </a:r>
            <a:r>
              <a:rPr dirty="0" sz="2950" spc="-25" i="1">
                <a:latin typeface="Times New Roman"/>
                <a:cs typeface="Times New Roman"/>
              </a:rPr>
              <a:t>A</a:t>
            </a:r>
            <a:r>
              <a:rPr dirty="0" baseline="-24509" sz="2550" spc="-37">
                <a:latin typeface="Times New Roman"/>
                <a:cs typeface="Times New Roman"/>
              </a:rPr>
              <a:t>2</a:t>
            </a:r>
            <a:r>
              <a:rPr dirty="0" baseline="-24509" sz="2550">
                <a:latin typeface="Times New Roman"/>
                <a:cs typeface="Times New Roman"/>
              </a:rPr>
              <a:t>	</a:t>
            </a:r>
            <a:r>
              <a:rPr dirty="0" sz="2950" spc="260">
                <a:latin typeface="MT Extra"/>
                <a:cs typeface="MT Extra"/>
              </a:rPr>
              <a:t></a:t>
            </a:r>
            <a:endParaRPr sz="2950">
              <a:latin typeface="MT Extra"/>
              <a:cs typeface="MT Extr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52431" y="5533989"/>
            <a:ext cx="175895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700" spc="70">
                <a:latin typeface="Symbol"/>
                <a:cs typeface="Symbol"/>
              </a:rPr>
              <a:t>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87995" y="6135392"/>
            <a:ext cx="32639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700" i="1">
                <a:latin typeface="Times New Roman"/>
                <a:cs typeface="Times New Roman"/>
              </a:rPr>
              <a:t>i</a:t>
            </a:r>
            <a:r>
              <a:rPr dirty="0" sz="1700" spc="-245" i="1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Symbol"/>
                <a:cs typeface="Symbol"/>
              </a:rPr>
              <a:t></a:t>
            </a:r>
            <a:r>
              <a:rPr dirty="0" sz="1700" spc="-25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426964" y="5509259"/>
            <a:ext cx="3255645" cy="923925"/>
          </a:xfrm>
          <a:custGeom>
            <a:avLst/>
            <a:gdLst/>
            <a:ahLst/>
            <a:cxnLst/>
            <a:rect l="l" t="t" r="r" b="b"/>
            <a:pathLst>
              <a:path w="3255645" h="923925">
                <a:moveTo>
                  <a:pt x="0" y="923544"/>
                </a:moveTo>
                <a:lnTo>
                  <a:pt x="3255264" y="923544"/>
                </a:lnTo>
                <a:lnTo>
                  <a:pt x="3255264" y="0"/>
                </a:lnTo>
                <a:lnTo>
                  <a:pt x="0" y="0"/>
                </a:lnTo>
                <a:lnTo>
                  <a:pt x="0" y="923544"/>
                </a:lnTo>
                <a:close/>
              </a:path>
            </a:pathLst>
          </a:custGeom>
          <a:ln w="915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789" y="471551"/>
            <a:ext cx="286321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交</a:t>
            </a:r>
            <a:r>
              <a:rPr dirty="0"/>
              <a:t>集</a:t>
            </a:r>
            <a:r>
              <a:rPr dirty="0"/>
              <a:t>的</a:t>
            </a:r>
            <a:r>
              <a:rPr dirty="0"/>
              <a:t>例</a:t>
            </a:r>
            <a:r>
              <a:rPr dirty="0" spc="-50"/>
              <a:t>子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7482" y="1763395"/>
            <a:ext cx="6172200" cy="2633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23240" indent="-485775">
              <a:lnSpc>
                <a:spcPct val="100000"/>
              </a:lnSpc>
              <a:spcBef>
                <a:spcPts val="110"/>
              </a:spcBef>
              <a:buFont typeface="Calibri"/>
              <a:buAutoNum type="arabicParenBoth"/>
              <a:tabLst>
                <a:tab pos="523875" algn="l"/>
              </a:tabLst>
            </a:pPr>
            <a:r>
              <a:rPr dirty="0" sz="2800" spc="65" b="1">
                <a:latin typeface="微软雅黑"/>
                <a:cs typeface="微软雅黑"/>
              </a:rPr>
              <a:t>设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5" b="1">
                <a:latin typeface="Calibri"/>
                <a:cs typeface="Calibri"/>
              </a:rPr>
              <a:t> = {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N|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210" b="1">
                <a:latin typeface="微软雅黑"/>
                <a:cs typeface="微软雅黑"/>
              </a:rPr>
              <a:t>为奇数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0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20</a:t>
            </a:r>
            <a:r>
              <a:rPr dirty="0" sz="2800" spc="-55" b="1">
                <a:latin typeface="Calibri"/>
                <a:cs typeface="Calibri"/>
              </a:rPr>
              <a:t> }</a:t>
            </a:r>
            <a:r>
              <a:rPr dirty="0" sz="2800" spc="-25" b="1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  <a:p>
            <a:pPr marL="523240" marR="30480" indent="328930">
              <a:lnSpc>
                <a:spcPct val="169500"/>
              </a:lnSpc>
            </a:pP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20" b="1">
                <a:latin typeface="Calibri"/>
                <a:cs typeface="Calibri"/>
              </a:rPr>
              <a:t> = {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N|</a:t>
            </a:r>
            <a:r>
              <a:rPr dirty="0" sz="2800" spc="-1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210" b="1">
                <a:latin typeface="微软雅黑"/>
                <a:cs typeface="微软雅黑"/>
              </a:rPr>
              <a:t>为素数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0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20</a:t>
            </a:r>
            <a:r>
              <a:rPr dirty="0" sz="2800" spc="-80" b="1">
                <a:latin typeface="Calibri"/>
                <a:cs typeface="Calibri"/>
              </a:rPr>
              <a:t> }</a:t>
            </a:r>
            <a:r>
              <a:rPr dirty="0" sz="2800" spc="5" b="1">
                <a:latin typeface="微软雅黑"/>
                <a:cs typeface="微软雅黑"/>
              </a:rPr>
              <a:t>，则</a:t>
            </a:r>
            <a:r>
              <a:rPr dirty="0" sz="2800" spc="15" b="1">
                <a:latin typeface="微软雅黑"/>
                <a:cs typeface="微软雅黑"/>
              </a:rPr>
              <a:t>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15" b="1">
                <a:latin typeface="Calibri"/>
                <a:cs typeface="Calibri"/>
              </a:rPr>
              <a:t> = { </a:t>
            </a:r>
            <a:r>
              <a:rPr dirty="0" sz="2800" b="1">
                <a:latin typeface="Calibri"/>
                <a:cs typeface="Calibri"/>
              </a:rPr>
              <a:t>3</a:t>
            </a:r>
            <a:r>
              <a:rPr dirty="0" sz="2800" spc="10" b="1">
                <a:latin typeface="Calibri"/>
                <a:cs typeface="Calibri"/>
              </a:rPr>
              <a:t>, </a:t>
            </a:r>
            <a:r>
              <a:rPr dirty="0" sz="2800" b="1">
                <a:latin typeface="Calibri"/>
                <a:cs typeface="Calibri"/>
              </a:rPr>
              <a:t>5</a:t>
            </a:r>
            <a:r>
              <a:rPr dirty="0" sz="2800" spc="-20" b="1">
                <a:latin typeface="Calibri"/>
                <a:cs typeface="Calibri"/>
              </a:rPr>
              <a:t>, </a:t>
            </a:r>
            <a:r>
              <a:rPr dirty="0" sz="2800" b="1">
                <a:latin typeface="Calibri"/>
                <a:cs typeface="Calibri"/>
              </a:rPr>
              <a:t>7</a:t>
            </a:r>
            <a:r>
              <a:rPr dirty="0" sz="2800" spc="10" b="1">
                <a:latin typeface="Calibri"/>
                <a:cs typeface="Calibri"/>
              </a:rPr>
              <a:t>, </a:t>
            </a:r>
            <a:r>
              <a:rPr dirty="0" sz="2800" b="1">
                <a:latin typeface="Calibri"/>
                <a:cs typeface="Calibri"/>
              </a:rPr>
              <a:t>11</a:t>
            </a:r>
            <a:r>
              <a:rPr dirty="0" sz="2800" spc="10" b="1">
                <a:latin typeface="Calibri"/>
                <a:cs typeface="Calibri"/>
              </a:rPr>
              <a:t>, </a:t>
            </a:r>
            <a:r>
              <a:rPr dirty="0" sz="2800" b="1">
                <a:latin typeface="Calibri"/>
                <a:cs typeface="Calibri"/>
              </a:rPr>
              <a:t>13</a:t>
            </a:r>
            <a:r>
              <a:rPr dirty="0" sz="2800" spc="-20" b="1">
                <a:latin typeface="Calibri"/>
                <a:cs typeface="Calibri"/>
              </a:rPr>
              <a:t>, </a:t>
            </a:r>
            <a:r>
              <a:rPr dirty="0" sz="2800" b="1">
                <a:latin typeface="Calibri"/>
                <a:cs typeface="Calibri"/>
              </a:rPr>
              <a:t>17</a:t>
            </a:r>
            <a:r>
              <a:rPr dirty="0" sz="2800" spc="10" b="1">
                <a:latin typeface="Calibri"/>
                <a:cs typeface="Calibri"/>
              </a:rPr>
              <a:t>, </a:t>
            </a:r>
            <a:r>
              <a:rPr dirty="0" sz="2800" b="1">
                <a:latin typeface="Calibri"/>
                <a:cs typeface="Calibri"/>
              </a:rPr>
              <a:t>19</a:t>
            </a:r>
            <a:r>
              <a:rPr dirty="0" sz="2800" spc="-10" b="1">
                <a:latin typeface="Calibri"/>
                <a:cs typeface="Calibri"/>
              </a:rPr>
              <a:t> }</a:t>
            </a:r>
            <a:r>
              <a:rPr dirty="0" sz="2800" spc="-50" b="1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523240" indent="-485775">
              <a:lnSpc>
                <a:spcPct val="100000"/>
              </a:lnSpc>
              <a:spcBef>
                <a:spcPts val="2410"/>
              </a:spcBef>
              <a:buFont typeface="Calibri"/>
              <a:buAutoNum type="arabicParenBoth" startAt="2"/>
              <a:tabLst>
                <a:tab pos="523875" algn="l"/>
              </a:tabLst>
            </a:pPr>
            <a:r>
              <a:rPr dirty="0" sz="2800" spc="65" b="1">
                <a:latin typeface="微软雅黑"/>
                <a:cs typeface="微软雅黑"/>
              </a:rPr>
              <a:t>设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n</a:t>
            </a:r>
            <a:r>
              <a:rPr dirty="0" baseline="-19519" sz="2775" spc="-150" b="1">
                <a:latin typeface="Calibri"/>
                <a:cs typeface="Calibri"/>
              </a:rPr>
              <a:t> </a:t>
            </a:r>
            <a:r>
              <a:rPr dirty="0" sz="2800" spc="40" b="1">
                <a:latin typeface="Calibri"/>
                <a:cs typeface="Calibri"/>
              </a:rPr>
              <a:t>= {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R|0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n}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b="1">
                <a:latin typeface="Calibri"/>
                <a:cs typeface="Calibri"/>
              </a:rPr>
              <a:t>n=1,2,…</a:t>
            </a:r>
            <a:r>
              <a:rPr dirty="0" sz="2800" spc="-25" b="1">
                <a:latin typeface="微软雅黑"/>
                <a:cs typeface="微软雅黑"/>
              </a:rPr>
              <a:t>，则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0667" y="4339512"/>
            <a:ext cx="184150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800" spc="60">
                <a:latin typeface="Symbol"/>
                <a:cs typeface="Symbol"/>
              </a:rPr>
              <a:t>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26122" y="4999832"/>
            <a:ext cx="42862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latin typeface="宋体"/>
                <a:cs typeface="宋体"/>
              </a:rPr>
              <a:t>n</a:t>
            </a:r>
            <a:r>
              <a:rPr dirty="0" sz="1900" spc="-620">
                <a:latin typeface="宋体"/>
                <a:cs typeface="宋体"/>
              </a:rPr>
              <a:t> </a:t>
            </a:r>
            <a:r>
              <a:rPr dirty="0" sz="1800" spc="-25">
                <a:latin typeface="Symbol"/>
                <a:cs typeface="Symbol"/>
              </a:rPr>
              <a:t></a:t>
            </a:r>
            <a:r>
              <a:rPr dirty="0" sz="1800" spc="-25"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3947" y="4550715"/>
            <a:ext cx="652272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85140" algn="l"/>
                <a:tab pos="1062990" algn="l"/>
                <a:tab pos="2454910" algn="l"/>
                <a:tab pos="3973829" algn="l"/>
                <a:tab pos="4818380" algn="l"/>
              </a:tabLst>
            </a:pPr>
            <a:r>
              <a:rPr dirty="0" sz="3100" spc="30">
                <a:latin typeface="MT Extra"/>
                <a:cs typeface="MT Extra"/>
              </a:rPr>
              <a:t>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300" spc="-25">
                <a:latin typeface="宋体"/>
                <a:cs typeface="宋体"/>
              </a:rPr>
              <a:t>A</a:t>
            </a:r>
            <a:r>
              <a:rPr dirty="0" baseline="-23391" sz="2850" spc="-37">
                <a:latin typeface="宋体"/>
                <a:cs typeface="宋体"/>
              </a:rPr>
              <a:t>n</a:t>
            </a:r>
            <a:r>
              <a:rPr dirty="0" baseline="-23391" sz="2850">
                <a:latin typeface="宋体"/>
                <a:cs typeface="宋体"/>
              </a:rPr>
              <a:t>	</a:t>
            </a:r>
            <a:r>
              <a:rPr dirty="0" sz="3100" spc="65">
                <a:latin typeface="Symbol"/>
                <a:cs typeface="Symbol"/>
              </a:rPr>
              <a:t></a:t>
            </a:r>
            <a:r>
              <a:rPr dirty="0" sz="3100" spc="160">
                <a:latin typeface="Times New Roman"/>
                <a:cs typeface="Times New Roman"/>
              </a:rPr>
              <a:t> </a:t>
            </a:r>
            <a:r>
              <a:rPr dirty="0" sz="3100">
                <a:latin typeface="宋体"/>
                <a:cs typeface="宋体"/>
              </a:rPr>
              <a:t>{</a:t>
            </a:r>
            <a:r>
              <a:rPr dirty="0" sz="3300">
                <a:latin typeface="宋体"/>
                <a:cs typeface="宋体"/>
              </a:rPr>
              <a:t>x</a:t>
            </a:r>
            <a:r>
              <a:rPr dirty="0" sz="3300" spc="-100">
                <a:latin typeface="宋体"/>
                <a:cs typeface="宋体"/>
              </a:rPr>
              <a:t> </a:t>
            </a:r>
            <a:r>
              <a:rPr dirty="0" sz="3100" spc="35">
                <a:latin typeface="Symbol"/>
                <a:cs typeface="Symbol"/>
              </a:rPr>
              <a:t>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300">
                <a:latin typeface="宋体"/>
                <a:cs typeface="宋体"/>
              </a:rPr>
              <a:t>R</a:t>
            </a:r>
            <a:r>
              <a:rPr dirty="0" sz="3300" spc="-225">
                <a:latin typeface="宋体"/>
                <a:cs typeface="宋体"/>
              </a:rPr>
              <a:t> </a:t>
            </a:r>
            <a:r>
              <a:rPr dirty="0" sz="3100" spc="60">
                <a:latin typeface="宋体"/>
                <a:cs typeface="宋体"/>
              </a:rPr>
              <a:t>|</a:t>
            </a:r>
            <a:r>
              <a:rPr dirty="0" sz="3100" spc="-685">
                <a:latin typeface="宋体"/>
                <a:cs typeface="宋体"/>
              </a:rPr>
              <a:t> </a:t>
            </a:r>
            <a:r>
              <a:rPr dirty="0" sz="3100" spc="60">
                <a:latin typeface="宋体"/>
                <a:cs typeface="宋体"/>
              </a:rPr>
              <a:t>0</a:t>
            </a:r>
            <a:r>
              <a:rPr dirty="0" sz="3100" spc="-65">
                <a:latin typeface="宋体"/>
                <a:cs typeface="宋体"/>
              </a:rPr>
              <a:t> </a:t>
            </a:r>
            <a:r>
              <a:rPr dirty="0" sz="3100" spc="15">
                <a:latin typeface="Symbol"/>
                <a:cs typeface="Symbol"/>
              </a:rPr>
              <a:t>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300">
                <a:latin typeface="宋体"/>
                <a:cs typeface="宋体"/>
              </a:rPr>
              <a:t>x</a:t>
            </a:r>
            <a:r>
              <a:rPr dirty="0" sz="3300" spc="254">
                <a:latin typeface="宋体"/>
                <a:cs typeface="宋体"/>
              </a:rPr>
              <a:t> </a:t>
            </a:r>
            <a:r>
              <a:rPr dirty="0" sz="3100" spc="15">
                <a:latin typeface="Symbol"/>
                <a:cs typeface="Symbol"/>
              </a:rPr>
              <a:t>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-135">
                <a:latin typeface="宋体"/>
                <a:cs typeface="宋体"/>
              </a:rPr>
              <a:t>1}</a:t>
            </a:r>
            <a:r>
              <a:rPr dirty="0" sz="3100" spc="-484">
                <a:latin typeface="宋体"/>
                <a:cs typeface="宋体"/>
              </a:rPr>
              <a:t> </a:t>
            </a:r>
            <a:r>
              <a:rPr dirty="0" sz="3100" spc="65">
                <a:latin typeface="Symbol"/>
                <a:cs typeface="Symbol"/>
              </a:rPr>
              <a:t></a:t>
            </a:r>
            <a:r>
              <a:rPr dirty="0" sz="3100" spc="235">
                <a:latin typeface="Times New Roman"/>
                <a:cs typeface="Times New Roman"/>
              </a:rPr>
              <a:t> </a:t>
            </a:r>
            <a:r>
              <a:rPr dirty="0" sz="3100" spc="-85">
                <a:latin typeface="宋体"/>
                <a:cs typeface="宋体"/>
              </a:rPr>
              <a:t>[</a:t>
            </a:r>
            <a:r>
              <a:rPr dirty="0" sz="3100" spc="-90">
                <a:latin typeface="宋体"/>
                <a:cs typeface="宋体"/>
              </a:rPr>
              <a:t>0</a:t>
            </a:r>
            <a:r>
              <a:rPr dirty="0" sz="3100" spc="-985">
                <a:latin typeface="宋体"/>
                <a:cs typeface="宋体"/>
              </a:rPr>
              <a:t>,</a:t>
            </a:r>
            <a:r>
              <a:rPr dirty="0" sz="3100" spc="-285">
                <a:latin typeface="宋体"/>
                <a:cs typeface="宋体"/>
              </a:rPr>
              <a:t>1</a:t>
            </a:r>
            <a:r>
              <a:rPr dirty="0" sz="3100" spc="40">
                <a:latin typeface="宋体"/>
                <a:cs typeface="宋体"/>
              </a:rPr>
              <a:t>]</a:t>
            </a:r>
            <a:endParaRPr sz="3100">
              <a:latin typeface="宋体"/>
              <a:cs typeface="宋体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64691" y="4283964"/>
            <a:ext cx="6565900" cy="1069975"/>
          </a:xfrm>
          <a:custGeom>
            <a:avLst/>
            <a:gdLst/>
            <a:ahLst/>
            <a:cxnLst/>
            <a:rect l="l" t="t" r="r" b="b"/>
            <a:pathLst>
              <a:path w="6565900" h="1069975">
                <a:moveTo>
                  <a:pt x="0" y="1069848"/>
                </a:moveTo>
                <a:lnTo>
                  <a:pt x="6565392" y="1069848"/>
                </a:lnTo>
                <a:lnTo>
                  <a:pt x="6565392" y="0"/>
                </a:lnTo>
                <a:lnTo>
                  <a:pt x="0" y="0"/>
                </a:lnTo>
                <a:lnTo>
                  <a:pt x="0" y="1069848"/>
                </a:lnTo>
                <a:close/>
              </a:path>
            </a:pathLst>
          </a:custGeom>
          <a:ln w="9153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不</a:t>
            </a:r>
            <a:r>
              <a:rPr dirty="0"/>
              <a:t>相</a:t>
            </a:r>
            <a:r>
              <a:rPr dirty="0" spc="-50"/>
              <a:t>交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49059" y="1550493"/>
            <a:ext cx="8616315" cy="33134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50200"/>
              </a:lnSpc>
              <a:spcBef>
                <a:spcPts val="100"/>
              </a:spcBef>
              <a:tabLst>
                <a:tab pos="1712595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70" b="1">
                <a:latin typeface="Microsoft JhengHei"/>
                <a:cs typeface="Microsoft JhengHei"/>
              </a:rPr>
              <a:t>义</a:t>
            </a:r>
            <a:r>
              <a:rPr dirty="0" sz="2800" spc="-20" b="1">
                <a:latin typeface="Microsoft JhengHei"/>
                <a:cs typeface="Microsoft JhengHei"/>
              </a:rPr>
              <a:t>1.10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70" b="1">
                <a:latin typeface="微软雅黑"/>
                <a:cs typeface="微软雅黑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800" spc="65" b="1">
                <a:latin typeface="微软雅黑"/>
                <a:cs typeface="微软雅黑"/>
              </a:rPr>
              <a:t>为二</a:t>
            </a:r>
            <a:r>
              <a:rPr dirty="0" sz="2800" b="1">
                <a:latin typeface="微软雅黑"/>
                <a:cs typeface="微软雅黑"/>
              </a:rPr>
              <a:t>集</a:t>
            </a:r>
            <a:r>
              <a:rPr dirty="0" sz="2800" spc="60" b="1">
                <a:latin typeface="微软雅黑"/>
                <a:cs typeface="微软雅黑"/>
              </a:rPr>
              <a:t>合</a:t>
            </a:r>
            <a:r>
              <a:rPr dirty="0" sz="2800" b="1">
                <a:latin typeface="微软雅黑"/>
                <a:cs typeface="微软雅黑"/>
              </a:rPr>
              <a:t>，若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B=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-10" b="1">
                <a:latin typeface="微软雅黑"/>
                <a:cs typeface="微软雅黑"/>
              </a:rPr>
              <a:t>则</a:t>
            </a:r>
            <a:r>
              <a:rPr dirty="0" sz="2800" spc="-10" b="1">
                <a:latin typeface="微软雅黑"/>
                <a:cs typeface="微软雅黑"/>
              </a:rPr>
              <a:t>称</a:t>
            </a:r>
            <a:r>
              <a:rPr dirty="0" sz="2800" spc="-50" b="1">
                <a:latin typeface="Calibri"/>
                <a:cs typeface="Calibri"/>
              </a:rPr>
              <a:t>A</a:t>
            </a:r>
            <a:r>
              <a:rPr dirty="0" sz="2800" spc="-10" b="1">
                <a:latin typeface="微软雅黑"/>
                <a:cs typeface="微软雅黑"/>
              </a:rPr>
              <a:t>和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50" b="1">
                <a:latin typeface="微软雅黑"/>
                <a:cs typeface="微软雅黑"/>
              </a:rPr>
              <a:t>是</a:t>
            </a:r>
            <a:r>
              <a:rPr dirty="0" sz="2800" spc="700" b="1">
                <a:latin typeface="微软雅黑"/>
                <a:cs typeface="微软雅黑"/>
              </a:rPr>
              <a:t> 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不交的</a:t>
            </a:r>
            <a:r>
              <a:rPr dirty="0" sz="2800" b="1">
                <a:latin typeface="微软雅黑"/>
                <a:cs typeface="微软雅黑"/>
              </a:rPr>
              <a:t>。</a:t>
            </a:r>
            <a:r>
              <a:rPr dirty="0" sz="2800" spc="-170" b="1">
                <a:latin typeface="微软雅黑"/>
                <a:cs typeface="微软雅黑"/>
              </a:rPr>
              <a:t> </a:t>
            </a:r>
            <a:r>
              <a:rPr dirty="0" sz="2800" spc="70" b="1">
                <a:latin typeface="微软雅黑"/>
                <a:cs typeface="微软雅黑"/>
              </a:rPr>
              <a:t>设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,A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,…</a:t>
            </a:r>
            <a:r>
              <a:rPr dirty="0" sz="2800" b="1">
                <a:latin typeface="微软雅黑"/>
                <a:cs typeface="微软雅黑"/>
              </a:rPr>
              <a:t>是可数多个</a:t>
            </a:r>
            <a:r>
              <a:rPr dirty="0" sz="2800" spc="70" b="1">
                <a:latin typeface="微软雅黑"/>
                <a:cs typeface="微软雅黑"/>
              </a:rPr>
              <a:t>集</a:t>
            </a:r>
            <a:r>
              <a:rPr dirty="0" sz="2800" spc="75" b="1">
                <a:latin typeface="微软雅黑"/>
                <a:cs typeface="微软雅黑"/>
              </a:rPr>
              <a:t>合</a:t>
            </a:r>
            <a:r>
              <a:rPr dirty="0" sz="2800" b="1">
                <a:latin typeface="Calibri"/>
                <a:cs typeface="Calibri"/>
              </a:rPr>
              <a:t>,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b="1">
                <a:latin typeface="微软雅黑"/>
                <a:cs typeface="微软雅黑"/>
              </a:rPr>
              <a:t>若对于任意的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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j</a:t>
            </a:r>
            <a:r>
              <a:rPr dirty="0" sz="2800" spc="-20" b="1">
                <a:latin typeface="微软雅黑"/>
                <a:cs typeface="微软雅黑"/>
              </a:rPr>
              <a:t>，</a:t>
            </a:r>
            <a:r>
              <a:rPr dirty="0" sz="2800" spc="70" b="1">
                <a:latin typeface="微软雅黑"/>
                <a:cs typeface="微软雅黑"/>
              </a:rPr>
              <a:t>都有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j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spc="-210" b="1">
                <a:latin typeface="微软雅黑"/>
                <a:cs typeface="微软雅黑"/>
              </a:rPr>
              <a:t> </a:t>
            </a:r>
            <a:r>
              <a:rPr dirty="0" sz="2800" spc="70" b="1">
                <a:latin typeface="微软雅黑"/>
                <a:cs typeface="微软雅黑"/>
              </a:rPr>
              <a:t>则称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,…</a:t>
            </a:r>
            <a:r>
              <a:rPr dirty="0" sz="2800" spc="-10" b="1">
                <a:latin typeface="微软雅黑"/>
                <a:cs typeface="微软雅黑"/>
              </a:rPr>
              <a:t>是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互不相交的</a:t>
            </a:r>
            <a:r>
              <a:rPr dirty="0" sz="2800" spc="-50" b="1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38100" marR="250190">
              <a:lnSpc>
                <a:spcPct val="150100"/>
              </a:lnSpc>
              <a:spcBef>
                <a:spcPts val="655"/>
              </a:spcBef>
            </a:pPr>
            <a:r>
              <a:rPr dirty="0" sz="2800" spc="70" b="1">
                <a:latin typeface="微软雅黑"/>
                <a:cs typeface="微软雅黑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={x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R|n-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1&lt;x&lt;n}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n=1,2,…</a:t>
            </a:r>
            <a:r>
              <a:rPr dirty="0" sz="2800" spc="-10" b="1">
                <a:latin typeface="微软雅黑"/>
                <a:cs typeface="微软雅黑"/>
              </a:rPr>
              <a:t>，则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spc="-37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,…</a:t>
            </a:r>
            <a:r>
              <a:rPr dirty="0" sz="2800" spc="-15" b="1">
                <a:latin typeface="微软雅黑"/>
                <a:cs typeface="微软雅黑"/>
              </a:rPr>
              <a:t>是互不相交</a:t>
            </a:r>
            <a:r>
              <a:rPr dirty="0" sz="2800" spc="40" b="1">
                <a:latin typeface="微软雅黑"/>
                <a:cs typeface="微软雅黑"/>
              </a:rPr>
              <a:t>的。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相</a:t>
            </a:r>
            <a:r>
              <a:rPr dirty="0"/>
              <a:t>对</a:t>
            </a:r>
            <a:r>
              <a:rPr dirty="0"/>
              <a:t>补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7860665" cy="275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2800" spc="100" b="1">
                <a:latin typeface="Microsoft JhengHei"/>
                <a:cs typeface="Microsoft JhengHei"/>
              </a:rPr>
              <a:t>定义</a:t>
            </a:r>
            <a:r>
              <a:rPr dirty="0" sz="2800" spc="-30" b="1">
                <a:latin typeface="Microsoft JhengHei"/>
                <a:cs typeface="Microsoft JhengHei"/>
              </a:rPr>
              <a:t>1.11</a:t>
            </a:r>
            <a:r>
              <a:rPr dirty="0" sz="2800" spc="-200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latin typeface="微软雅黑"/>
                <a:cs typeface="微软雅黑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800" spc="15" b="1">
                <a:latin typeface="微软雅黑"/>
                <a:cs typeface="微软雅黑"/>
              </a:rPr>
              <a:t>为二集合，称属于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10" b="1">
                <a:latin typeface="微软雅黑"/>
                <a:cs typeface="微软雅黑"/>
              </a:rPr>
              <a:t>而不属于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30" b="1">
                <a:latin typeface="微软雅黑"/>
                <a:cs typeface="微软雅黑"/>
              </a:rPr>
              <a:t>的全</a:t>
            </a:r>
            <a:r>
              <a:rPr dirty="0" sz="2800" spc="25" b="1">
                <a:latin typeface="微软雅黑"/>
                <a:cs typeface="微软雅黑"/>
              </a:rPr>
              <a:t>体元素组成的集合为</a:t>
            </a:r>
            <a:r>
              <a:rPr dirty="0" sz="2800" spc="-65" b="1">
                <a:latin typeface="Calibri"/>
                <a:cs typeface="Calibri"/>
              </a:rPr>
              <a:t>B</a:t>
            </a:r>
            <a:r>
              <a:rPr dirty="0" sz="2800" spc="70" b="1">
                <a:latin typeface="微软雅黑"/>
                <a:cs typeface="微软雅黑"/>
              </a:rPr>
              <a:t>对</a:t>
            </a:r>
            <a:r>
              <a:rPr dirty="0" sz="2800" spc="-50" b="1">
                <a:latin typeface="Calibri"/>
                <a:cs typeface="Calibri"/>
              </a:rPr>
              <a:t>A</a:t>
            </a:r>
            <a:r>
              <a:rPr dirty="0" sz="2800" b="1">
                <a:latin typeface="微软雅黑"/>
                <a:cs typeface="微软雅黑"/>
              </a:rPr>
              <a:t>的</a:t>
            </a: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相对补集</a:t>
            </a:r>
            <a:r>
              <a:rPr dirty="0" sz="2800" spc="20" b="1">
                <a:latin typeface="微软雅黑"/>
                <a:cs typeface="微软雅黑"/>
              </a:rPr>
              <a:t>，记作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A-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50" b="1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A-B</a:t>
            </a:r>
            <a:r>
              <a:rPr dirty="0" sz="2800" spc="15" b="1">
                <a:latin typeface="微软雅黑"/>
                <a:cs typeface="微软雅黑"/>
              </a:rPr>
              <a:t>的描述法表示为</a:t>
            </a:r>
            <a:endParaRPr sz="2800">
              <a:latin typeface="微软雅黑"/>
              <a:cs typeface="微软雅黑"/>
            </a:endParaRPr>
          </a:p>
          <a:p>
            <a:pPr algn="ctr" marL="201295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A-B</a:t>
            </a:r>
            <a:r>
              <a:rPr dirty="0" sz="2800" spc="10" b="1">
                <a:solidFill>
                  <a:srgbClr val="006FC0"/>
                </a:solidFill>
                <a:latin typeface="Calibri"/>
                <a:cs typeface="Calibri"/>
              </a:rPr>
              <a:t> = {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| 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8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7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 }</a:t>
            </a:r>
            <a:r>
              <a:rPr dirty="0" sz="2800" spc="-50" b="1">
                <a:solidFill>
                  <a:srgbClr val="006FC0"/>
                </a:solidFill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对</a:t>
            </a:r>
            <a:r>
              <a:rPr dirty="0"/>
              <a:t>称</a:t>
            </a:r>
            <a:r>
              <a:rPr dirty="0" spc="-50"/>
              <a:t>差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8034655" cy="3872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2800" spc="100" b="1">
                <a:latin typeface="Microsoft JhengHei"/>
                <a:cs typeface="Microsoft JhengHei"/>
              </a:rPr>
              <a:t>定义</a:t>
            </a:r>
            <a:r>
              <a:rPr dirty="0" sz="2800" spc="-30" b="1">
                <a:latin typeface="Microsoft JhengHei"/>
                <a:cs typeface="Microsoft JhengHei"/>
              </a:rPr>
              <a:t>1.12</a:t>
            </a:r>
            <a:r>
              <a:rPr dirty="0" sz="2800" spc="-210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latin typeface="微软雅黑"/>
                <a:cs typeface="微软雅黑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800" spc="15" b="1">
                <a:latin typeface="微软雅黑"/>
                <a:cs typeface="微软雅黑"/>
              </a:rPr>
              <a:t>为二集合，称属于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微软雅黑"/>
                <a:cs typeface="微软雅黑"/>
              </a:rPr>
              <a:t>而不属于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25" b="1">
                <a:latin typeface="微软雅黑"/>
                <a:cs typeface="微软雅黑"/>
              </a:rPr>
              <a:t>，或</a:t>
            </a:r>
            <a:r>
              <a:rPr dirty="0" sz="2800" spc="70" b="1">
                <a:latin typeface="微软雅黑"/>
                <a:cs typeface="微软雅黑"/>
              </a:rPr>
              <a:t>属于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15" b="1">
                <a:latin typeface="微软雅黑"/>
                <a:cs typeface="微软雅黑"/>
              </a:rPr>
              <a:t>而不属于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微软雅黑"/>
                <a:cs typeface="微软雅黑"/>
              </a:rPr>
              <a:t>的全体元素组成的集合为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微软雅黑"/>
                <a:cs typeface="微软雅黑"/>
              </a:rPr>
              <a:t>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微软雅黑"/>
                <a:cs typeface="微软雅黑"/>
              </a:rPr>
              <a:t>的</a:t>
            </a:r>
            <a:r>
              <a:rPr dirty="0" sz="2800" spc="-50" b="1">
                <a:solidFill>
                  <a:srgbClr val="FF0000"/>
                </a:solidFill>
                <a:latin typeface="微软雅黑"/>
                <a:cs typeface="微软雅黑"/>
              </a:rPr>
              <a:t>对</a:t>
            </a:r>
            <a:r>
              <a:rPr dirty="0" sz="2800" spc="70" b="1">
                <a:solidFill>
                  <a:srgbClr val="FF0000"/>
                </a:solidFill>
                <a:latin typeface="微软雅黑"/>
                <a:cs typeface="微软雅黑"/>
              </a:rPr>
              <a:t>称差</a:t>
            </a:r>
            <a:r>
              <a:rPr dirty="0" sz="2800" spc="20" b="1">
                <a:latin typeface="微软雅黑"/>
                <a:cs typeface="微软雅黑"/>
              </a:rPr>
              <a:t>，记作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微软雅黑"/>
                <a:cs typeface="微软雅黑"/>
              </a:rPr>
              <a:t>。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微软雅黑"/>
                <a:cs typeface="微软雅黑"/>
              </a:rPr>
              <a:t>的描述法表示为</a:t>
            </a:r>
            <a:endParaRPr sz="2800">
              <a:latin typeface="微软雅黑"/>
              <a:cs typeface="微软雅黑"/>
            </a:endParaRPr>
          </a:p>
          <a:p>
            <a:pPr algn="ctr" marL="4064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9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z="2800" spc="10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{x|(x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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(x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B)}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 sz="2800" spc="50" b="1">
                <a:latin typeface="微软雅黑"/>
                <a:cs typeface="微软雅黑"/>
              </a:rPr>
              <a:t>容易看出</a:t>
            </a:r>
            <a:endParaRPr sz="2800">
              <a:latin typeface="微软雅黑"/>
              <a:cs typeface="微软雅黑"/>
            </a:endParaRPr>
          </a:p>
          <a:p>
            <a:pPr algn="ctr" marL="3873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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6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z="2800" spc="1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(A-B)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(B-A)</a:t>
            </a:r>
            <a:r>
              <a:rPr dirty="0" sz="2800" spc="-8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z="2800" spc="7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B)-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绝</a:t>
            </a:r>
            <a:r>
              <a:rPr dirty="0"/>
              <a:t>对</a:t>
            </a:r>
            <a:r>
              <a:rPr dirty="0"/>
              <a:t>补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60080"/>
            <a:ext cx="7994650" cy="4276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9500"/>
              </a:lnSpc>
              <a:spcBef>
                <a:spcPts val="95"/>
              </a:spcBef>
            </a:pPr>
            <a:r>
              <a:rPr dirty="0" sz="2800" spc="100" b="1">
                <a:latin typeface="Microsoft JhengHei"/>
                <a:cs typeface="Microsoft JhengHei"/>
              </a:rPr>
              <a:t>定义</a:t>
            </a:r>
            <a:r>
              <a:rPr dirty="0" sz="2800" spc="-30" b="1">
                <a:latin typeface="Microsoft JhengHei"/>
                <a:cs typeface="Microsoft JhengHei"/>
              </a:rPr>
              <a:t>1.13</a:t>
            </a:r>
            <a:r>
              <a:rPr dirty="0" sz="2800" spc="-220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latin typeface="微软雅黑"/>
                <a:cs typeface="微软雅黑"/>
              </a:rPr>
              <a:t>设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50" b="1">
                <a:latin typeface="微软雅黑"/>
                <a:cs typeface="微软雅黑"/>
              </a:rPr>
              <a:t>为全集，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-5" b="1">
                <a:latin typeface="微软雅黑"/>
                <a:cs typeface="微软雅黑"/>
              </a:rPr>
              <a:t>，称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微软雅黑"/>
                <a:cs typeface="微软雅黑"/>
              </a:rPr>
              <a:t>对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-5" b="1">
                <a:latin typeface="微软雅黑"/>
                <a:cs typeface="微软雅黑"/>
              </a:rPr>
              <a:t>的相对补集为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微软雅黑"/>
                <a:cs typeface="微软雅黑"/>
              </a:rPr>
              <a:t>的</a:t>
            </a:r>
            <a:r>
              <a:rPr dirty="0" sz="2800" spc="30" b="1">
                <a:solidFill>
                  <a:srgbClr val="FF0000"/>
                </a:solidFill>
                <a:latin typeface="微软雅黑"/>
                <a:cs typeface="微软雅黑"/>
              </a:rPr>
              <a:t>绝对补集</a:t>
            </a:r>
            <a:r>
              <a:rPr dirty="0" sz="2800" spc="20" b="1">
                <a:latin typeface="微软雅黑"/>
                <a:cs typeface="微软雅黑"/>
              </a:rPr>
              <a:t>，记作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~A</a:t>
            </a:r>
            <a:r>
              <a:rPr dirty="0" sz="2800" spc="-50" b="1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~A</a:t>
            </a:r>
            <a:r>
              <a:rPr dirty="0" sz="2800" spc="10" b="1">
                <a:latin typeface="微软雅黑"/>
                <a:cs typeface="微软雅黑"/>
              </a:rPr>
              <a:t>的描述法表示为</a:t>
            </a:r>
            <a:endParaRPr sz="2800">
              <a:latin typeface="微软雅黑"/>
              <a:cs typeface="微软雅黑"/>
            </a:endParaRPr>
          </a:p>
          <a:p>
            <a:pPr marL="12700" marR="1823085" indent="2269490">
              <a:lnSpc>
                <a:spcPct val="139400"/>
              </a:lnSpc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~A</a:t>
            </a:r>
            <a:r>
              <a:rPr dirty="0" sz="2800" spc="5" b="1">
                <a:solidFill>
                  <a:srgbClr val="006FC0"/>
                </a:solidFill>
                <a:latin typeface="Calibri"/>
                <a:cs typeface="Calibri"/>
              </a:rPr>
              <a:t> = {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x|</a:t>
            </a:r>
            <a:r>
              <a:rPr dirty="0" sz="2800" spc="9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-1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spc="-7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60" b="1">
                <a:solidFill>
                  <a:srgbClr val="006FC0"/>
                </a:solidFill>
                <a:latin typeface="Calibri"/>
                <a:cs typeface="Calibri"/>
              </a:rPr>
              <a:t> }</a:t>
            </a:r>
            <a:r>
              <a:rPr dirty="0" sz="2800" spc="-50" b="1">
                <a:solidFill>
                  <a:srgbClr val="006FC0"/>
                </a:solidFill>
                <a:latin typeface="微软雅黑"/>
                <a:cs typeface="微软雅黑"/>
              </a:rPr>
              <a:t>。</a:t>
            </a:r>
            <a:r>
              <a:rPr dirty="0" sz="2800" spc="-50" b="1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dirty="0" sz="2800" spc="65" b="1">
                <a:latin typeface="微软雅黑"/>
                <a:cs typeface="微软雅黑"/>
              </a:rPr>
              <a:t>因为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b="1">
                <a:latin typeface="微软雅黑"/>
                <a:cs typeface="微软雅黑"/>
              </a:rPr>
              <a:t>是全集，所以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-20" b="1">
                <a:latin typeface="微软雅黑"/>
                <a:cs typeface="微软雅黑"/>
              </a:rPr>
              <a:t>是真命题，于是</a:t>
            </a:r>
            <a:endParaRPr sz="2800">
              <a:latin typeface="微软雅黑"/>
              <a:cs typeface="微软雅黑"/>
            </a:endParaRPr>
          </a:p>
          <a:p>
            <a:pPr algn="ctr" marL="76200">
              <a:lnSpc>
                <a:spcPct val="100000"/>
              </a:lnSpc>
              <a:spcBef>
                <a:spcPts val="1400"/>
              </a:spcBef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~A</a:t>
            </a:r>
            <a:r>
              <a:rPr dirty="0" sz="2800" spc="10" b="1">
                <a:solidFill>
                  <a:srgbClr val="006FC0"/>
                </a:solidFill>
                <a:latin typeface="Calibri"/>
                <a:cs typeface="Calibri"/>
              </a:rPr>
              <a:t> = {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x|x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60" b="1">
                <a:solidFill>
                  <a:srgbClr val="006FC0"/>
                </a:solidFill>
                <a:latin typeface="Calibri"/>
                <a:cs typeface="Calibri"/>
              </a:rPr>
              <a:t> }</a:t>
            </a:r>
            <a:r>
              <a:rPr dirty="0" sz="2800" spc="-50" b="1">
                <a:solidFill>
                  <a:srgbClr val="006FC0"/>
                </a:solidFill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algn="ctr" marL="67310">
              <a:lnSpc>
                <a:spcPct val="100000"/>
              </a:lnSpc>
              <a:spcBef>
                <a:spcPts val="885"/>
              </a:spcBef>
            </a:pPr>
            <a:r>
              <a:rPr dirty="0" sz="3600" spc="5" b="1">
                <a:solidFill>
                  <a:srgbClr val="006FC0"/>
                </a:solidFill>
                <a:latin typeface="微软雅黑"/>
                <a:cs typeface="微软雅黑"/>
              </a:rPr>
              <a:t>。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广</a:t>
            </a:r>
            <a:r>
              <a:rPr dirty="0"/>
              <a:t>义</a:t>
            </a:r>
            <a:r>
              <a:rPr dirty="0"/>
              <a:t>并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38100" marR="30480">
              <a:lnSpc>
                <a:spcPct val="139800"/>
              </a:lnSpc>
              <a:spcBef>
                <a:spcPts val="60"/>
              </a:spcBef>
              <a:tabLst>
                <a:tab pos="1520190" algn="l"/>
              </a:tabLst>
            </a:pPr>
            <a:r>
              <a:rPr dirty="0">
                <a:latin typeface="Microsoft JhengHei"/>
                <a:cs typeface="Microsoft JhengHei"/>
              </a:rPr>
              <a:t>定</a:t>
            </a:r>
            <a:r>
              <a:rPr dirty="0">
                <a:latin typeface="Microsoft JhengHei"/>
                <a:cs typeface="Microsoft JhengHei"/>
              </a:rPr>
              <a:t>义</a:t>
            </a:r>
            <a:r>
              <a:rPr dirty="0" spc="-20">
                <a:latin typeface="Microsoft JhengHei"/>
                <a:cs typeface="Microsoft JhengHei"/>
              </a:rPr>
              <a:t>1.14</a:t>
            </a:r>
            <a:r>
              <a:rPr dirty="0">
                <a:latin typeface="Microsoft JhengHei"/>
                <a:cs typeface="Microsoft JhengHei"/>
              </a:rPr>
              <a:t>	</a:t>
            </a:r>
            <a:r>
              <a:rPr dirty="0"/>
              <a:t>设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为</a:t>
            </a:r>
            <a:r>
              <a:rPr dirty="0"/>
              <a:t>一</a:t>
            </a:r>
            <a:r>
              <a:rPr dirty="0" spc="-35"/>
              <a:t>个</a:t>
            </a:r>
            <a:r>
              <a:rPr dirty="0"/>
              <a:t>集</a:t>
            </a:r>
            <a:r>
              <a:rPr dirty="0" spc="-35"/>
              <a:t>族</a:t>
            </a:r>
            <a:r>
              <a:rPr dirty="0" spc="-35"/>
              <a:t>，</a:t>
            </a:r>
            <a:r>
              <a:rPr dirty="0" spc="-35"/>
              <a:t>称</a:t>
            </a:r>
            <a:r>
              <a:rPr dirty="0"/>
              <a:t>由</a:t>
            </a:r>
            <a:r>
              <a:rPr dirty="0" spc="-5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-35"/>
              <a:t>中</a:t>
            </a:r>
            <a:r>
              <a:rPr dirty="0"/>
              <a:t>全</a:t>
            </a:r>
            <a:r>
              <a:rPr dirty="0" spc="-35"/>
              <a:t>体</a:t>
            </a:r>
            <a:r>
              <a:rPr dirty="0" spc="-35"/>
              <a:t>元</a:t>
            </a:r>
            <a:r>
              <a:rPr dirty="0"/>
              <a:t>素</a:t>
            </a:r>
            <a:r>
              <a:rPr dirty="0" spc="-35"/>
              <a:t>的</a:t>
            </a:r>
            <a:r>
              <a:rPr dirty="0" spc="-35"/>
              <a:t>元</a:t>
            </a:r>
            <a:r>
              <a:rPr dirty="0" spc="-35"/>
              <a:t>素</a:t>
            </a:r>
            <a:r>
              <a:rPr dirty="0"/>
              <a:t>组</a:t>
            </a:r>
            <a:r>
              <a:rPr dirty="0" spc="-35"/>
              <a:t>成</a:t>
            </a:r>
            <a:r>
              <a:rPr dirty="0" spc="-50"/>
              <a:t>的</a:t>
            </a:r>
            <a:r>
              <a:rPr dirty="0"/>
              <a:t>集</a:t>
            </a:r>
            <a:r>
              <a:rPr dirty="0"/>
              <a:t>合</a:t>
            </a:r>
            <a:r>
              <a:rPr dirty="0"/>
              <a:t>为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的</a:t>
            </a:r>
            <a:r>
              <a:rPr dirty="0" spc="-40">
                <a:solidFill>
                  <a:srgbClr val="FF0000"/>
                </a:solidFill>
              </a:rPr>
              <a:t>广</a:t>
            </a:r>
            <a:r>
              <a:rPr dirty="0" spc="-40">
                <a:solidFill>
                  <a:srgbClr val="FF0000"/>
                </a:solidFill>
              </a:rPr>
              <a:t>义</a:t>
            </a:r>
            <a:r>
              <a:rPr dirty="0" spc="-40">
                <a:solidFill>
                  <a:srgbClr val="FF0000"/>
                </a:solidFill>
              </a:rPr>
              <a:t>并</a:t>
            </a:r>
            <a:r>
              <a:rPr dirty="0" spc="-35"/>
              <a:t>，</a:t>
            </a:r>
            <a:r>
              <a:rPr dirty="0" spc="-204"/>
              <a:t> </a:t>
            </a:r>
            <a:r>
              <a:rPr dirty="0"/>
              <a:t>记</a:t>
            </a:r>
            <a:r>
              <a:rPr dirty="0"/>
              <a:t>作</a:t>
            </a:r>
            <a:r>
              <a:rPr dirty="0">
                <a:solidFill>
                  <a:srgbClr val="006FC0"/>
                </a:solidFill>
              </a:rPr>
              <a:t>∪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（“</a:t>
            </a:r>
            <a:r>
              <a:rPr dirty="0" spc="-305"/>
              <a:t> </a:t>
            </a:r>
            <a:r>
              <a:rPr dirty="0"/>
              <a:t>大</a:t>
            </a:r>
            <a:r>
              <a:rPr dirty="0"/>
              <a:t>并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”</a:t>
            </a:r>
            <a:r>
              <a:rPr dirty="0" spc="-110"/>
              <a:t> </a:t>
            </a:r>
            <a:r>
              <a:rPr dirty="0"/>
              <a:t>）</a:t>
            </a:r>
            <a:r>
              <a:rPr dirty="0" spc="-35"/>
              <a:t>。</a:t>
            </a:r>
            <a:r>
              <a:rPr dirty="0" spc="-110"/>
              <a:t> </a:t>
            </a:r>
            <a:r>
              <a:rPr dirty="0">
                <a:solidFill>
                  <a:srgbClr val="006FC0"/>
                </a:solidFill>
              </a:rPr>
              <a:t>∪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的</a:t>
            </a:r>
            <a:r>
              <a:rPr dirty="0"/>
              <a:t>描</a:t>
            </a:r>
            <a:r>
              <a:rPr dirty="0" spc="-50"/>
              <a:t>述</a:t>
            </a:r>
            <a:r>
              <a:rPr dirty="0"/>
              <a:t>法</a:t>
            </a:r>
            <a:r>
              <a:rPr dirty="0"/>
              <a:t>表</a:t>
            </a:r>
            <a:r>
              <a:rPr dirty="0"/>
              <a:t>示</a:t>
            </a:r>
            <a:r>
              <a:rPr dirty="0" spc="-50"/>
              <a:t>为</a:t>
            </a:r>
          </a:p>
          <a:p>
            <a:pPr algn="just" marL="38100" marR="2266315" indent="2370455">
              <a:lnSpc>
                <a:spcPct val="139800"/>
              </a:lnSpc>
              <a:spcBef>
                <a:spcPts val="35"/>
              </a:spcBef>
            </a:pPr>
            <a:r>
              <a:rPr dirty="0">
                <a:solidFill>
                  <a:srgbClr val="006FC0"/>
                </a:solidFill>
              </a:rPr>
              <a:t>∪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-25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pc="-5">
                <a:solidFill>
                  <a:srgbClr val="006FC0"/>
                </a:solidFill>
                <a:latin typeface="Calibri"/>
                <a:cs typeface="Calibri"/>
              </a:rPr>
              <a:t>= {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pc="-6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| 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 spc="-40">
                <a:solidFill>
                  <a:srgbClr val="006FC0"/>
                </a:solidFill>
                <a:latin typeface="Calibri"/>
                <a:cs typeface="Calibri"/>
              </a:rPr>
              <a:t> (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 spc="-11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pc="-60" b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 </a:t>
            </a:r>
            <a:r>
              <a:rPr dirty="0" spc="-20">
                <a:solidFill>
                  <a:srgbClr val="006FC0"/>
                </a:solidFill>
                <a:latin typeface="Calibri"/>
                <a:cs typeface="Calibri"/>
              </a:rPr>
              <a:t>) }</a:t>
            </a:r>
            <a:r>
              <a:rPr dirty="0"/>
              <a:t>设</a:t>
            </a:r>
            <a:r>
              <a:rPr dirty="0" spc="-3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-30">
                <a:solidFill>
                  <a:srgbClr val="006FC0"/>
                </a:solidFill>
                <a:latin typeface="Calibri"/>
                <a:cs typeface="Calibri"/>
              </a:rPr>
              <a:t>={{a,b},{c,d},{d,e,f}}</a:t>
            </a:r>
            <a:r>
              <a:rPr dirty="0" spc="-30"/>
              <a:t>，</a:t>
            </a:r>
            <a:r>
              <a:rPr dirty="0"/>
              <a:t>则</a:t>
            </a:r>
            <a:r>
              <a:rPr dirty="0">
                <a:solidFill>
                  <a:srgbClr val="006FC0"/>
                </a:solidFill>
              </a:rPr>
              <a:t>∪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A= 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{a,b,c,d,e,f}</a:t>
            </a:r>
            <a:r>
              <a:rPr dirty="0" spc="-10">
                <a:latin typeface="Calibri"/>
                <a:cs typeface="Calibri"/>
              </a:rPr>
              <a:t>.</a:t>
            </a:r>
            <a:r>
              <a:rPr dirty="0"/>
              <a:t>当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是</a:t>
            </a:r>
            <a:r>
              <a:rPr dirty="0"/>
              <a:t>以</a:t>
            </a:r>
            <a:r>
              <a:rPr dirty="0" spc="-25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/>
              <a:t>为</a:t>
            </a:r>
            <a:r>
              <a:rPr dirty="0" spc="-35"/>
              <a:t>指</a:t>
            </a:r>
            <a:r>
              <a:rPr dirty="0" spc="-35"/>
              <a:t>标</a:t>
            </a:r>
            <a:r>
              <a:rPr dirty="0" spc="-35"/>
              <a:t>集</a:t>
            </a:r>
            <a:r>
              <a:rPr dirty="0"/>
              <a:t>的</a:t>
            </a:r>
            <a:r>
              <a:rPr dirty="0" spc="-35"/>
              <a:t>集</a:t>
            </a:r>
            <a:r>
              <a:rPr dirty="0" spc="-35"/>
              <a:t>族</a:t>
            </a:r>
            <a:r>
              <a:rPr dirty="0" spc="-50"/>
              <a:t>时</a:t>
            </a:r>
          </a:p>
          <a:p>
            <a:pPr algn="just" marL="2518410">
              <a:lnSpc>
                <a:spcPct val="100000"/>
              </a:lnSpc>
              <a:spcBef>
                <a:spcPts val="340"/>
              </a:spcBef>
            </a:pPr>
            <a:r>
              <a:rPr dirty="0">
                <a:solidFill>
                  <a:srgbClr val="006FC0"/>
                </a:solidFill>
              </a:rPr>
              <a:t>∪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-15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pc="-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</a:rPr>
              <a:t>∪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{A</a:t>
            </a:r>
            <a:r>
              <a:rPr dirty="0" baseline="-19607" sz="2550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sz="2600">
                <a:solidFill>
                  <a:srgbClr val="006FC0"/>
                </a:solidFill>
                <a:latin typeface="Calibri"/>
                <a:cs typeface="Calibri"/>
              </a:rPr>
              <a:t>|</a:t>
            </a:r>
            <a:r>
              <a:rPr dirty="0" sz="2600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sz="2600">
                <a:solidFill>
                  <a:srgbClr val="006FC0"/>
                </a:solidFill>
                <a:latin typeface="Calibri"/>
                <a:cs typeface="Calibri"/>
              </a:rPr>
              <a:t>S}</a:t>
            </a:r>
            <a:r>
              <a:rPr dirty="0" sz="2600" spc="47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z="2600" spc="7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spc="-35">
                <a:solidFill>
                  <a:srgbClr val="006FC0"/>
                </a:solidFill>
              </a:rPr>
              <a:t>∪</a:t>
            </a:r>
            <a:r>
              <a:rPr dirty="0" sz="2600" spc="-195">
                <a:solidFill>
                  <a:srgbClr val="006FC0"/>
                </a:solidFill>
              </a:rPr>
              <a:t> </a:t>
            </a:r>
            <a:r>
              <a:rPr dirty="0" sz="2600" spc="-25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607" sz="2550" spc="-37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endParaRPr baseline="-19607" sz="2550">
              <a:latin typeface="Symbol"/>
              <a:cs typeface="Symbol"/>
            </a:endParaRPr>
          </a:p>
          <a:p>
            <a:pPr marL="5392420">
              <a:lnSpc>
                <a:spcPct val="100000"/>
              </a:lnSpc>
              <a:spcBef>
                <a:spcPts val="160"/>
              </a:spcBef>
            </a:pPr>
            <a:r>
              <a:rPr dirty="0" sz="1700" spc="25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sz="1700" spc="25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95"/>
              </a:spcBef>
            </a:pPr>
            <a:r>
              <a:rPr dirty="0"/>
              <a:t>广</a:t>
            </a:r>
            <a:r>
              <a:rPr dirty="0"/>
              <a:t>义</a:t>
            </a:r>
            <a:r>
              <a:rPr dirty="0"/>
              <a:t>交</a:t>
            </a:r>
            <a:r>
              <a:rPr dirty="0" spc="-50"/>
              <a:t>集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38600"/>
              </a:lnSpc>
              <a:spcBef>
                <a:spcPts val="95"/>
              </a:spcBef>
              <a:tabLst>
                <a:tab pos="1520190" algn="l"/>
              </a:tabLst>
            </a:pPr>
            <a:r>
              <a:rPr dirty="0">
                <a:latin typeface="Microsoft JhengHei"/>
                <a:cs typeface="Microsoft JhengHei"/>
              </a:rPr>
              <a:t>定</a:t>
            </a:r>
            <a:r>
              <a:rPr dirty="0">
                <a:latin typeface="Microsoft JhengHei"/>
                <a:cs typeface="Microsoft JhengHei"/>
              </a:rPr>
              <a:t>义</a:t>
            </a:r>
            <a:r>
              <a:rPr dirty="0" spc="-20">
                <a:latin typeface="Microsoft JhengHei"/>
                <a:cs typeface="Microsoft JhengHei"/>
              </a:rPr>
              <a:t>1.15</a:t>
            </a:r>
            <a:r>
              <a:rPr dirty="0">
                <a:latin typeface="Microsoft JhengHei"/>
                <a:cs typeface="Microsoft JhengHei"/>
              </a:rPr>
              <a:t>	</a:t>
            </a:r>
            <a:r>
              <a:rPr dirty="0"/>
              <a:t>设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为</a:t>
            </a:r>
            <a:r>
              <a:rPr dirty="0"/>
              <a:t>一</a:t>
            </a:r>
            <a:r>
              <a:rPr dirty="0" spc="-35"/>
              <a:t>个</a:t>
            </a:r>
            <a:r>
              <a:rPr dirty="0"/>
              <a:t>集</a:t>
            </a:r>
            <a:r>
              <a:rPr dirty="0" spc="-35"/>
              <a:t>族</a:t>
            </a:r>
            <a:r>
              <a:rPr dirty="0" spc="-35"/>
              <a:t>，</a:t>
            </a:r>
            <a:r>
              <a:rPr dirty="0" spc="-35"/>
              <a:t>称</a:t>
            </a:r>
            <a:r>
              <a:rPr dirty="0"/>
              <a:t>由</a:t>
            </a:r>
            <a:r>
              <a:rPr dirty="0" spc="-5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-35"/>
              <a:t>中</a:t>
            </a:r>
            <a:r>
              <a:rPr dirty="0"/>
              <a:t>全</a:t>
            </a:r>
            <a:r>
              <a:rPr dirty="0" spc="-35"/>
              <a:t>体</a:t>
            </a:r>
            <a:r>
              <a:rPr dirty="0" spc="-35"/>
              <a:t>元</a:t>
            </a:r>
            <a:r>
              <a:rPr dirty="0"/>
              <a:t>素</a:t>
            </a:r>
            <a:r>
              <a:rPr dirty="0" spc="-35"/>
              <a:t>的</a:t>
            </a:r>
            <a:r>
              <a:rPr dirty="0" spc="-35"/>
              <a:t>公</a:t>
            </a:r>
            <a:r>
              <a:rPr dirty="0" spc="-35"/>
              <a:t>共</a:t>
            </a:r>
            <a:r>
              <a:rPr dirty="0"/>
              <a:t>元</a:t>
            </a:r>
            <a:r>
              <a:rPr dirty="0" spc="-35"/>
              <a:t>素</a:t>
            </a:r>
            <a:r>
              <a:rPr dirty="0" spc="-50"/>
              <a:t>组</a:t>
            </a:r>
            <a:r>
              <a:rPr dirty="0"/>
              <a:t>成</a:t>
            </a:r>
            <a:r>
              <a:rPr dirty="0"/>
              <a:t>的</a:t>
            </a:r>
            <a:r>
              <a:rPr dirty="0"/>
              <a:t>集</a:t>
            </a:r>
            <a:r>
              <a:rPr dirty="0"/>
              <a:t>合</a:t>
            </a:r>
            <a:r>
              <a:rPr dirty="0" spc="-40"/>
              <a:t>为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-40"/>
              <a:t>的</a:t>
            </a:r>
            <a:r>
              <a:rPr dirty="0" spc="-35">
                <a:solidFill>
                  <a:srgbClr val="FF0000"/>
                </a:solidFill>
              </a:rPr>
              <a:t>广</a:t>
            </a:r>
            <a:r>
              <a:rPr dirty="0">
                <a:solidFill>
                  <a:srgbClr val="FF0000"/>
                </a:solidFill>
              </a:rPr>
              <a:t>义</a:t>
            </a:r>
            <a:r>
              <a:rPr dirty="0" spc="-40">
                <a:solidFill>
                  <a:srgbClr val="FF0000"/>
                </a:solidFill>
              </a:rPr>
              <a:t>交</a:t>
            </a:r>
            <a:r>
              <a:rPr dirty="0" spc="-35"/>
              <a:t>，</a:t>
            </a:r>
            <a:r>
              <a:rPr dirty="0" spc="-135"/>
              <a:t> </a:t>
            </a:r>
            <a:r>
              <a:rPr dirty="0"/>
              <a:t>记作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∩A</a:t>
            </a:r>
            <a:r>
              <a:rPr dirty="0" spc="400"/>
              <a:t>。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∩A</a:t>
            </a:r>
            <a:r>
              <a:rPr dirty="0" spc="300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/>
              <a:t>的</a:t>
            </a:r>
            <a:r>
              <a:rPr dirty="0"/>
              <a:t>描</a:t>
            </a:r>
            <a:r>
              <a:rPr dirty="0"/>
              <a:t>述</a:t>
            </a:r>
            <a:r>
              <a:rPr dirty="0"/>
              <a:t>法</a:t>
            </a:r>
            <a:r>
              <a:rPr dirty="0" spc="-35"/>
              <a:t>表</a:t>
            </a:r>
            <a:r>
              <a:rPr dirty="0"/>
              <a:t>示</a:t>
            </a:r>
            <a:r>
              <a:rPr dirty="0" spc="-50"/>
              <a:t>为</a:t>
            </a:r>
          </a:p>
          <a:p>
            <a:pPr algn="ctr" marL="49530">
              <a:lnSpc>
                <a:spcPct val="100000"/>
              </a:lnSpc>
              <a:spcBef>
                <a:spcPts val="1280"/>
              </a:spcBef>
            </a:pP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∩A</a:t>
            </a:r>
            <a:r>
              <a:rPr dirty="0" spc="-105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pc="5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{</a:t>
            </a:r>
            <a:r>
              <a:rPr dirty="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pc="1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|</a:t>
            </a:r>
            <a:r>
              <a:rPr dirty="0" spc="-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 spc="2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(</a:t>
            </a:r>
            <a:r>
              <a:rPr dirty="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45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pc="-125" b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 spc="-4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r>
              <a:rPr dirty="0" spc="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pc="-50">
                <a:solidFill>
                  <a:srgbClr val="006FC0"/>
                </a:solidFill>
                <a:latin typeface="Calibri"/>
                <a:cs typeface="Calibri"/>
              </a:rPr>
              <a:t>}</a:t>
            </a:r>
          </a:p>
          <a:p>
            <a:pPr marL="38100">
              <a:lnSpc>
                <a:spcPct val="100000"/>
              </a:lnSpc>
              <a:spcBef>
                <a:spcPts val="1280"/>
              </a:spcBef>
            </a:pPr>
            <a:r>
              <a:rPr dirty="0"/>
              <a:t>设</a:t>
            </a:r>
            <a:r>
              <a:rPr dirty="0" spc="-25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pc="-25">
                <a:solidFill>
                  <a:srgbClr val="006FC0"/>
                </a:solidFill>
                <a:latin typeface="Calibri"/>
                <a:cs typeface="Calibri"/>
              </a:rPr>
              <a:t>={{1,2,3},{1,a,b},{1,6,7}}</a:t>
            </a:r>
            <a:r>
              <a:rPr dirty="0" spc="-25"/>
              <a:t>，</a:t>
            </a:r>
            <a:r>
              <a:rPr dirty="0"/>
              <a:t>则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∩A</a:t>
            </a:r>
            <a:r>
              <a:rPr dirty="0" spc="210" i="1">
                <a:solidFill>
                  <a:srgbClr val="006FC0"/>
                </a:solidFill>
                <a:latin typeface="Monotype Corsiva"/>
                <a:cs typeface="Monotype Corsiva"/>
              </a:rPr>
              <a:t>= </a:t>
            </a:r>
            <a:r>
              <a:rPr dirty="0" spc="-45">
                <a:solidFill>
                  <a:srgbClr val="006FC0"/>
                </a:solidFill>
                <a:latin typeface="Calibri"/>
                <a:cs typeface="Calibri"/>
              </a:rPr>
              <a:t>{1}</a:t>
            </a:r>
            <a:r>
              <a:rPr dirty="0" spc="-50"/>
              <a:t>。</a:t>
            </a:r>
          </a:p>
          <a:p>
            <a:pPr marL="38100">
              <a:lnSpc>
                <a:spcPct val="100000"/>
              </a:lnSpc>
              <a:spcBef>
                <a:spcPts val="1205"/>
              </a:spcBef>
            </a:pPr>
            <a:r>
              <a:rPr dirty="0"/>
              <a:t>当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/>
              <a:t>是</a:t>
            </a:r>
            <a:r>
              <a:rPr dirty="0"/>
              <a:t>以</a:t>
            </a:r>
            <a:r>
              <a:rPr dirty="0" spc="-25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/>
              <a:t>为</a:t>
            </a:r>
            <a:r>
              <a:rPr dirty="0" spc="-35"/>
              <a:t>指</a:t>
            </a:r>
            <a:r>
              <a:rPr dirty="0" spc="-35"/>
              <a:t>标</a:t>
            </a:r>
            <a:r>
              <a:rPr dirty="0" spc="-35"/>
              <a:t>集</a:t>
            </a:r>
            <a:r>
              <a:rPr dirty="0"/>
              <a:t>的</a:t>
            </a:r>
            <a:r>
              <a:rPr dirty="0" spc="-35"/>
              <a:t>集</a:t>
            </a:r>
            <a:r>
              <a:rPr dirty="0" spc="-35"/>
              <a:t>族</a:t>
            </a:r>
            <a:r>
              <a:rPr dirty="0" spc="-50"/>
              <a:t>时</a:t>
            </a:r>
          </a:p>
          <a:p>
            <a:pPr algn="ctr" marL="38735">
              <a:lnSpc>
                <a:spcPct val="100000"/>
              </a:lnSpc>
              <a:spcBef>
                <a:spcPts val="1280"/>
              </a:spcBef>
              <a:tabLst>
                <a:tab pos="633730" algn="l"/>
                <a:tab pos="2656205" algn="l"/>
              </a:tabLst>
            </a:pPr>
            <a:r>
              <a:rPr dirty="0" spc="-25" i="1">
                <a:solidFill>
                  <a:srgbClr val="006FC0"/>
                </a:solidFill>
                <a:latin typeface="Monotype Corsiva"/>
                <a:cs typeface="Monotype Corsiva"/>
              </a:rPr>
              <a:t>∩A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	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∩</a:t>
            </a:r>
            <a:r>
              <a:rPr dirty="0" spc="-5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{A</a:t>
            </a:r>
            <a:r>
              <a:rPr dirty="0" baseline="-19607" sz="2550" spc="-15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sz="2600" spc="-10">
                <a:solidFill>
                  <a:srgbClr val="006FC0"/>
                </a:solidFill>
                <a:latin typeface="Calibri"/>
                <a:cs typeface="Calibri"/>
              </a:rPr>
              <a:t>|</a:t>
            </a:r>
            <a:r>
              <a:rPr dirty="0" sz="2600" spc="-10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sz="2600" spc="-10">
                <a:solidFill>
                  <a:srgbClr val="006FC0"/>
                </a:solidFill>
                <a:latin typeface="Calibri"/>
                <a:cs typeface="Calibri"/>
              </a:rPr>
              <a:t>S}</a:t>
            </a:r>
            <a:r>
              <a:rPr dirty="0" sz="2600">
                <a:solidFill>
                  <a:srgbClr val="006FC0"/>
                </a:solidFill>
                <a:latin typeface="Calibri"/>
                <a:cs typeface="Calibri"/>
              </a:rPr>
              <a:t>	=</a:t>
            </a:r>
            <a:r>
              <a:rPr dirty="0" sz="2600" spc="-3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i="1">
                <a:solidFill>
                  <a:srgbClr val="006FC0"/>
                </a:solidFill>
                <a:latin typeface="Monotype Corsiva"/>
                <a:cs typeface="Monotype Corsiva"/>
              </a:rPr>
              <a:t>∩</a:t>
            </a:r>
            <a:r>
              <a:rPr dirty="0" sz="2600" spc="-5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600" spc="-35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baseline="-19607" sz="2550" spc="-52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endParaRPr baseline="-19607" sz="2550">
              <a:latin typeface="Symbol"/>
              <a:cs typeface="Symbol"/>
            </a:endParaRPr>
          </a:p>
          <a:p>
            <a:pPr marL="5365115">
              <a:lnSpc>
                <a:spcPct val="100000"/>
              </a:lnSpc>
              <a:spcBef>
                <a:spcPts val="229"/>
              </a:spcBef>
            </a:pPr>
            <a:r>
              <a:rPr dirty="0" sz="1700" spc="25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sz="1700" spc="25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dirty="0"/>
              <a:t>注</a:t>
            </a:r>
            <a:r>
              <a:rPr dirty="0"/>
              <a:t>意</a:t>
            </a:r>
            <a:r>
              <a:rPr dirty="0" spc="-5"/>
              <a:t>： 当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A=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pc="-25" b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/>
              <a:t>时</a:t>
            </a:r>
            <a:r>
              <a:rPr dirty="0"/>
              <a:t>，</a:t>
            </a:r>
            <a:r>
              <a:rPr dirty="0" i="1">
                <a:solidFill>
                  <a:srgbClr val="006FC0"/>
                </a:solidFill>
                <a:latin typeface="Monotype Corsiva"/>
                <a:cs typeface="Monotype Corsiva"/>
              </a:rPr>
              <a:t>∩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/>
              <a:t>无</a:t>
            </a:r>
            <a:r>
              <a:rPr dirty="0" spc="-35"/>
              <a:t>意</a:t>
            </a:r>
            <a:r>
              <a:rPr dirty="0" spc="-35"/>
              <a:t>义</a:t>
            </a:r>
            <a:r>
              <a:rPr dirty="0"/>
              <a:t>。</a:t>
            </a:r>
            <a:r>
              <a:rPr dirty="0" spc="-30">
                <a:latin typeface="Calibri"/>
                <a:cs typeface="Calibri"/>
              </a:rPr>
              <a:t>(</a:t>
            </a:r>
            <a:r>
              <a:rPr dirty="0" spc="-35"/>
              <a:t>为</a:t>
            </a:r>
            <a:r>
              <a:rPr dirty="0" spc="-35"/>
              <a:t>什</a:t>
            </a:r>
            <a:r>
              <a:rPr dirty="0"/>
              <a:t>么</a:t>
            </a:r>
            <a:r>
              <a:rPr dirty="0" spc="-25">
                <a:latin typeface="Calibri"/>
                <a:cs typeface="Calibri"/>
              </a:rPr>
              <a:t>?)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071" y="471551"/>
            <a:ext cx="11601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例</a:t>
            </a:r>
            <a:r>
              <a:rPr dirty="0" spc="-50"/>
              <a:t>子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39382" y="1550493"/>
            <a:ext cx="8392795" cy="4512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 marR="55880">
              <a:lnSpc>
                <a:spcPct val="150200"/>
              </a:lnSpc>
              <a:spcBef>
                <a:spcPts val="100"/>
              </a:spcBef>
              <a:tabLst>
                <a:tab pos="1696085" algn="l"/>
              </a:tabLst>
            </a:pPr>
            <a:r>
              <a:rPr dirty="0" sz="2800" spc="70" b="1">
                <a:latin typeface="微软雅黑"/>
                <a:cs typeface="微软雅黑"/>
              </a:rPr>
              <a:t>在广义</a:t>
            </a:r>
            <a:r>
              <a:rPr dirty="0" sz="2800" b="1">
                <a:latin typeface="微软雅黑"/>
                <a:cs typeface="微软雅黑"/>
              </a:rPr>
              <a:t>并与广义</a:t>
            </a:r>
            <a:r>
              <a:rPr dirty="0" sz="2800" spc="70" b="1">
                <a:latin typeface="微软雅黑"/>
                <a:cs typeface="微软雅黑"/>
              </a:rPr>
              <a:t>交</a:t>
            </a:r>
            <a:r>
              <a:rPr dirty="0" sz="2800" b="1">
                <a:latin typeface="微软雅黑"/>
                <a:cs typeface="微软雅黑"/>
              </a:rPr>
              <a:t>的运算中，将集族的元素还看成</a:t>
            </a:r>
            <a:r>
              <a:rPr dirty="0" sz="2800" spc="-50" b="1">
                <a:latin typeface="微软雅黑"/>
                <a:cs typeface="微软雅黑"/>
              </a:rPr>
              <a:t>集</a:t>
            </a:r>
            <a:r>
              <a:rPr dirty="0" sz="2800" spc="70" b="1">
                <a:latin typeface="微软雅黑"/>
                <a:cs typeface="微软雅黑"/>
              </a:rPr>
              <a:t>族，给</a:t>
            </a:r>
            <a:r>
              <a:rPr dirty="0" sz="2800" b="1">
                <a:latin typeface="微软雅黑"/>
                <a:cs typeface="微软雅黑"/>
              </a:rPr>
              <a:t>定下列集</a:t>
            </a:r>
            <a:r>
              <a:rPr dirty="0" sz="2800" spc="70" b="1">
                <a:latin typeface="微软雅黑"/>
                <a:cs typeface="微软雅黑"/>
              </a:rPr>
              <a:t>族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spc="-490" b="1">
                <a:latin typeface="微软雅黑"/>
                <a:cs typeface="微软雅黑"/>
              </a:rPr>
              <a:t> </a:t>
            </a:r>
            <a:r>
              <a:rPr dirty="0" sz="2800" spc="-10" b="1" i="1">
                <a:latin typeface="Monotype Corsiva"/>
                <a:cs typeface="Monotype Corsiva"/>
              </a:rPr>
              <a:t>A</a:t>
            </a:r>
            <a:r>
              <a:rPr dirty="0" baseline="-19519" sz="2775" spc="-15" b="1">
                <a:latin typeface="Calibri"/>
                <a:cs typeface="Calibri"/>
              </a:rPr>
              <a:t>1</a:t>
            </a:r>
            <a:r>
              <a:rPr dirty="0" sz="2800" spc="-10" b="1">
                <a:latin typeface="Calibri"/>
                <a:cs typeface="Calibri"/>
              </a:rPr>
              <a:t>={a,b,{c,d}}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-10" b="1" i="1">
                <a:latin typeface="Monotype Corsiva"/>
                <a:cs typeface="Monotype Corsiva"/>
              </a:rPr>
              <a:t>A</a:t>
            </a:r>
            <a:r>
              <a:rPr dirty="0" baseline="-19519" sz="2775" spc="-15" b="1">
                <a:latin typeface="Calibri"/>
                <a:cs typeface="Calibri"/>
              </a:rPr>
              <a:t>2</a:t>
            </a:r>
            <a:r>
              <a:rPr dirty="0" sz="2800" spc="-10" b="1">
                <a:latin typeface="Calibri"/>
                <a:cs typeface="Calibri"/>
              </a:rPr>
              <a:t>={{a,b}}</a:t>
            </a:r>
            <a:r>
              <a:rPr dirty="0" sz="2800" spc="-10" b="1">
                <a:latin typeface="微软雅黑"/>
                <a:cs typeface="微软雅黑"/>
              </a:rPr>
              <a:t>， </a:t>
            </a:r>
            <a:r>
              <a:rPr dirty="0" sz="2800" spc="-10" b="1" i="1">
                <a:latin typeface="Monotype Corsiva"/>
                <a:cs typeface="Monotype Corsiva"/>
              </a:rPr>
              <a:t>A</a:t>
            </a:r>
            <a:r>
              <a:rPr dirty="0" baseline="-19519" sz="2775" spc="-15" b="1">
                <a:latin typeface="Calibri"/>
                <a:cs typeface="Calibri"/>
              </a:rPr>
              <a:t>3</a:t>
            </a:r>
            <a:r>
              <a:rPr dirty="0" sz="2800" spc="-10" b="1">
                <a:latin typeface="Calibri"/>
                <a:cs typeface="Calibri"/>
              </a:rPr>
              <a:t>={a}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b="1">
                <a:latin typeface="微软雅黑"/>
                <a:cs typeface="微软雅黑"/>
              </a:rPr>
              <a:t>	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4</a:t>
            </a:r>
            <a:r>
              <a:rPr dirty="0" sz="2800" b="1">
                <a:latin typeface="Calibri"/>
                <a:cs typeface="Calibri"/>
              </a:rPr>
              <a:t>={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Calibri"/>
                <a:cs typeface="Calibri"/>
              </a:rPr>
              <a:t>,{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Calibri"/>
                <a:cs typeface="Calibri"/>
              </a:rPr>
              <a:t>}}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5</a:t>
            </a:r>
            <a:r>
              <a:rPr dirty="0" sz="2800" b="1">
                <a:latin typeface="Calibri"/>
                <a:cs typeface="Calibri"/>
              </a:rPr>
              <a:t>=a</a:t>
            </a:r>
            <a:r>
              <a:rPr dirty="0" sz="2800" b="1">
                <a:latin typeface="微软雅黑"/>
                <a:cs typeface="微软雅黑"/>
              </a:rPr>
              <a:t>（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</a:t>
            </a:r>
            <a:r>
              <a:rPr dirty="0" sz="2800" b="1">
                <a:latin typeface="微软雅黑"/>
                <a:cs typeface="微软雅黑"/>
              </a:rPr>
              <a:t>），</a:t>
            </a:r>
            <a:r>
              <a:rPr dirty="0" sz="2800" spc="-30" b="1">
                <a:latin typeface="微软雅黑"/>
                <a:cs typeface="微软雅黑"/>
              </a:rPr>
              <a:t> 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6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spc="20" b="1">
                <a:latin typeface="微软雅黑"/>
                <a:cs typeface="微软雅黑"/>
              </a:rPr>
              <a:t>则</a:t>
            </a:r>
            <a:endParaRPr sz="2800">
              <a:latin typeface="微软雅黑"/>
              <a:cs typeface="微软雅黑"/>
            </a:endParaRPr>
          </a:p>
          <a:p>
            <a:pPr marL="76200">
              <a:lnSpc>
                <a:spcPct val="100000"/>
              </a:lnSpc>
              <a:spcBef>
                <a:spcPts val="1685"/>
              </a:spcBef>
              <a:tabLst>
                <a:tab pos="3398520" algn="l"/>
              </a:tabLst>
            </a:pPr>
            <a:r>
              <a:rPr dirty="0" sz="2800" b="1">
                <a:latin typeface="微软雅黑"/>
                <a:cs typeface="微软雅黑"/>
              </a:rPr>
              <a:t>∪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1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微软雅黑"/>
                <a:cs typeface="微软雅黑"/>
              </a:rPr>
              <a:t>∪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-10" b="1">
                <a:latin typeface="微软雅黑"/>
                <a:cs typeface="微软雅黑"/>
              </a:rPr>
              <a:t>∪</a:t>
            </a:r>
            <a:r>
              <a:rPr dirty="0" sz="2800" spc="-10" b="1">
                <a:latin typeface="Calibri"/>
                <a:cs typeface="Calibri"/>
              </a:rPr>
              <a:t>{c,d}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b="1">
                <a:latin typeface="微软雅黑"/>
                <a:cs typeface="微软雅黑"/>
              </a:rPr>
              <a:t>	</a:t>
            </a:r>
            <a:r>
              <a:rPr dirty="0" sz="2800" b="1" i="1">
                <a:latin typeface="Monotype Corsiva"/>
                <a:cs typeface="Monotype Corsiva"/>
              </a:rPr>
              <a:t>∩A</a:t>
            </a:r>
            <a:r>
              <a:rPr dirty="0" baseline="-19519" sz="2775" b="1">
                <a:latin typeface="Calibri"/>
                <a:cs typeface="Calibri"/>
              </a:rPr>
              <a:t>1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 i="1">
                <a:latin typeface="Monotype Corsiva"/>
                <a:cs typeface="Monotype Corsiva"/>
              </a:rPr>
              <a:t>∩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-10" b="1" i="1">
                <a:latin typeface="Monotype Corsiva"/>
                <a:cs typeface="Monotype Corsiva"/>
              </a:rPr>
              <a:t>∩</a:t>
            </a:r>
            <a:r>
              <a:rPr dirty="0" sz="2800" spc="-10" b="1">
                <a:latin typeface="Calibri"/>
                <a:cs typeface="Calibri"/>
              </a:rPr>
              <a:t>{c,d}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  <a:p>
            <a:pPr marL="76200">
              <a:lnSpc>
                <a:spcPct val="100000"/>
              </a:lnSpc>
              <a:spcBef>
                <a:spcPts val="1689"/>
              </a:spcBef>
            </a:pPr>
            <a:r>
              <a:rPr dirty="0" sz="2800" spc="-10" b="1">
                <a:latin typeface="微软雅黑"/>
                <a:cs typeface="微软雅黑"/>
              </a:rPr>
              <a:t>∪</a:t>
            </a:r>
            <a:r>
              <a:rPr dirty="0" sz="2800" spc="-10" b="1" i="1">
                <a:latin typeface="Monotype Corsiva"/>
                <a:cs typeface="Monotype Corsiva"/>
              </a:rPr>
              <a:t>A</a:t>
            </a:r>
            <a:r>
              <a:rPr dirty="0" baseline="-19519" sz="2775" spc="-15" b="1">
                <a:latin typeface="Calibri"/>
                <a:cs typeface="Calibri"/>
              </a:rPr>
              <a:t>2</a:t>
            </a:r>
            <a:r>
              <a:rPr dirty="0" sz="2800" spc="-10" b="1">
                <a:latin typeface="Calibri"/>
                <a:cs typeface="Calibri"/>
              </a:rPr>
              <a:t>={a,b}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-10" b="1" i="1">
                <a:latin typeface="Monotype Corsiva"/>
                <a:cs typeface="Monotype Corsiva"/>
              </a:rPr>
              <a:t>∩A</a:t>
            </a:r>
            <a:r>
              <a:rPr dirty="0" baseline="-19519" sz="2775" spc="-15" b="1">
                <a:latin typeface="Calibri"/>
                <a:cs typeface="Calibri"/>
              </a:rPr>
              <a:t>2</a:t>
            </a:r>
            <a:r>
              <a:rPr dirty="0" sz="2800" spc="-10" b="1">
                <a:latin typeface="Calibri"/>
                <a:cs typeface="Calibri"/>
              </a:rPr>
              <a:t>={a,b}</a:t>
            </a:r>
            <a:r>
              <a:rPr dirty="0" sz="2800" spc="-10" b="1">
                <a:latin typeface="微软雅黑"/>
                <a:cs typeface="微软雅黑"/>
              </a:rPr>
              <a:t>，∪</a:t>
            </a:r>
            <a:r>
              <a:rPr dirty="0" sz="2800" spc="-10" b="1" i="1">
                <a:latin typeface="Monotype Corsiva"/>
                <a:cs typeface="Monotype Corsiva"/>
              </a:rPr>
              <a:t>A</a:t>
            </a:r>
            <a:r>
              <a:rPr dirty="0" baseline="-19519" sz="2775" spc="-15" b="1">
                <a:latin typeface="Calibri"/>
                <a:cs typeface="Calibri"/>
              </a:rPr>
              <a:t>3</a:t>
            </a:r>
            <a:r>
              <a:rPr dirty="0" sz="2800" spc="-10" b="1">
                <a:latin typeface="Calibri"/>
                <a:cs typeface="Calibri"/>
              </a:rPr>
              <a:t>=a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-10" b="1" i="1">
                <a:latin typeface="Monotype Corsiva"/>
                <a:cs typeface="Monotype Corsiva"/>
              </a:rPr>
              <a:t>∩A</a:t>
            </a:r>
            <a:r>
              <a:rPr dirty="0" baseline="-19519" sz="2775" spc="-15" b="1">
                <a:latin typeface="Calibri"/>
                <a:cs typeface="Calibri"/>
              </a:rPr>
              <a:t>3</a:t>
            </a:r>
            <a:r>
              <a:rPr dirty="0" sz="2800" spc="-10" b="1">
                <a:latin typeface="Calibri"/>
                <a:cs typeface="Calibri"/>
              </a:rPr>
              <a:t>=a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  <a:p>
            <a:pPr marL="762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微软雅黑"/>
                <a:cs typeface="微软雅黑"/>
              </a:rPr>
              <a:t>∪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4</a:t>
            </a:r>
            <a:r>
              <a:rPr dirty="0" sz="2800" b="1">
                <a:latin typeface="Calibri"/>
                <a:cs typeface="Calibri"/>
              </a:rPr>
              <a:t>={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Calibri"/>
                <a:cs typeface="Calibri"/>
              </a:rPr>
              <a:t>}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b="1" i="1">
                <a:latin typeface="Monotype Corsiva"/>
                <a:cs typeface="Monotype Corsiva"/>
              </a:rPr>
              <a:t>∩A</a:t>
            </a:r>
            <a:r>
              <a:rPr dirty="0" baseline="-19519" sz="2775" b="1">
                <a:latin typeface="Calibri"/>
                <a:cs typeface="Calibri"/>
              </a:rPr>
              <a:t>4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微软雅黑"/>
                <a:cs typeface="微软雅黑"/>
              </a:rPr>
              <a:t>，∪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5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-10" b="1">
                <a:latin typeface="Calibri"/>
                <a:cs typeface="Calibri"/>
              </a:rPr>
              <a:t> </a:t>
            </a:r>
            <a:r>
              <a:rPr dirty="0" sz="2800" b="1">
                <a:latin typeface="微软雅黑"/>
                <a:cs typeface="微软雅黑"/>
              </a:rPr>
              <a:t>∪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b="1" i="1">
                <a:latin typeface="Monotype Corsiva"/>
                <a:cs typeface="Monotype Corsiva"/>
              </a:rPr>
              <a:t>∩A</a:t>
            </a:r>
            <a:r>
              <a:rPr dirty="0" baseline="-19519" sz="2775" b="1">
                <a:latin typeface="Calibri"/>
                <a:cs typeface="Calibri"/>
              </a:rPr>
              <a:t>5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-10" b="1">
                <a:latin typeface="Calibri"/>
                <a:cs typeface="Calibri"/>
              </a:rPr>
              <a:t> </a:t>
            </a:r>
            <a:r>
              <a:rPr dirty="0" sz="2800" spc="-25" b="1" i="1">
                <a:latin typeface="Monotype Corsiva"/>
                <a:cs typeface="Monotype Corsiva"/>
              </a:rPr>
              <a:t>∩</a:t>
            </a:r>
            <a:r>
              <a:rPr dirty="0" sz="2800" spc="-25" b="1">
                <a:latin typeface="Calibri"/>
                <a:cs typeface="Calibri"/>
              </a:rPr>
              <a:t>a</a:t>
            </a:r>
            <a:r>
              <a:rPr dirty="0" sz="2800" spc="-25" b="1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  <a:p>
            <a:pPr marL="76200">
              <a:lnSpc>
                <a:spcPct val="100000"/>
              </a:lnSpc>
              <a:spcBef>
                <a:spcPts val="1689"/>
              </a:spcBef>
            </a:pPr>
            <a:r>
              <a:rPr dirty="0" sz="2800" b="1">
                <a:latin typeface="微软雅黑"/>
                <a:cs typeface="微软雅黑"/>
              </a:rPr>
              <a:t>∪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baseline="-19519" sz="2775" b="1">
                <a:latin typeface="Calibri"/>
                <a:cs typeface="Calibri"/>
              </a:rPr>
              <a:t>6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b="1" i="1">
                <a:latin typeface="Monotype Corsiva"/>
                <a:cs typeface="Monotype Corsiva"/>
              </a:rPr>
              <a:t>∩A</a:t>
            </a:r>
            <a:r>
              <a:rPr dirty="0" baseline="-19519" sz="2775" b="1">
                <a:latin typeface="Calibri"/>
                <a:cs typeface="Calibri"/>
              </a:rPr>
              <a:t>6</a:t>
            </a:r>
            <a:r>
              <a:rPr dirty="0" baseline="-19519" sz="2775" spc="82" b="1">
                <a:latin typeface="Calibri"/>
                <a:cs typeface="Calibri"/>
              </a:rPr>
              <a:t> </a:t>
            </a:r>
            <a:r>
              <a:rPr dirty="0" sz="2800" spc="20" b="1">
                <a:latin typeface="微软雅黑"/>
                <a:cs typeface="微软雅黑"/>
              </a:rPr>
              <a:t>无意义。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3526" y="471551"/>
            <a:ext cx="45351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运</a:t>
            </a:r>
            <a:r>
              <a:rPr dirty="0"/>
              <a:t>算</a:t>
            </a:r>
            <a:r>
              <a:rPr dirty="0" spc="-25"/>
              <a:t>的优</a:t>
            </a:r>
            <a:r>
              <a:rPr dirty="0" spc="-50"/>
              <a:t>先</a:t>
            </a:r>
            <a:r>
              <a:rPr dirty="0" spc="-50"/>
              <a:t>级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60080"/>
            <a:ext cx="7918450" cy="421068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800" spc="25" b="1">
                <a:latin typeface="微软雅黑"/>
                <a:cs typeface="微软雅黑"/>
              </a:rPr>
              <a:t>第一类运算：</a:t>
            </a:r>
            <a:endParaRPr sz="2800">
              <a:latin typeface="微软雅黑"/>
              <a:cs typeface="微软雅黑"/>
            </a:endParaRPr>
          </a:p>
          <a:p>
            <a:pPr marL="744855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solidFill>
                  <a:srgbClr val="006FC0"/>
                </a:solidFill>
                <a:latin typeface="微软雅黑"/>
                <a:cs typeface="微软雅黑"/>
              </a:rPr>
              <a:t>绝对补、幂集、广义交、广义并</a:t>
            </a:r>
            <a:r>
              <a:rPr dirty="0" sz="2800" spc="-25" b="1">
                <a:latin typeface="微软雅黑"/>
                <a:cs typeface="微软雅黑"/>
              </a:rPr>
              <a:t>等。</a:t>
            </a:r>
            <a:endParaRPr sz="2800">
              <a:latin typeface="微软雅黑"/>
              <a:cs typeface="微软雅黑"/>
            </a:endParaRPr>
          </a:p>
          <a:p>
            <a:pPr marL="12700" marR="1792605">
              <a:lnSpc>
                <a:spcPct val="139500"/>
              </a:lnSpc>
              <a:spcBef>
                <a:spcPts val="70"/>
              </a:spcBef>
            </a:pPr>
            <a:r>
              <a:rPr dirty="0" sz="2800" spc="20" b="1">
                <a:latin typeface="微软雅黑"/>
                <a:cs typeface="微软雅黑"/>
              </a:rPr>
              <a:t>第一类运算按照</a:t>
            </a:r>
            <a:r>
              <a:rPr dirty="0" sz="2800" spc="10" b="1">
                <a:solidFill>
                  <a:srgbClr val="FF0000"/>
                </a:solidFill>
                <a:latin typeface="微软雅黑"/>
                <a:cs typeface="微软雅黑"/>
              </a:rPr>
              <a:t>从右向左</a:t>
            </a:r>
            <a:r>
              <a:rPr dirty="0" sz="2800" spc="-20" b="1">
                <a:latin typeface="微软雅黑"/>
                <a:cs typeface="微软雅黑"/>
              </a:rPr>
              <a:t>的顺序运算。</a:t>
            </a:r>
            <a:r>
              <a:rPr dirty="0" sz="2800" spc="25" b="1">
                <a:latin typeface="微软雅黑"/>
                <a:cs typeface="微软雅黑"/>
              </a:rPr>
              <a:t>第二类运算：</a:t>
            </a:r>
            <a:endParaRPr sz="2800">
              <a:latin typeface="微软雅黑"/>
              <a:cs typeface="微软雅黑"/>
            </a:endParaRPr>
          </a:p>
          <a:p>
            <a:pPr marL="744855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solidFill>
                  <a:srgbClr val="006FC0"/>
                </a:solidFill>
                <a:latin typeface="微软雅黑"/>
                <a:cs typeface="微软雅黑"/>
              </a:rPr>
              <a:t>初级并、初级交、相对补、对称差</a:t>
            </a:r>
            <a:r>
              <a:rPr dirty="0" sz="2800" spc="-30" b="1">
                <a:latin typeface="微软雅黑"/>
                <a:cs typeface="微软雅黑"/>
              </a:rPr>
              <a:t>等。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ct val="139400"/>
              </a:lnSpc>
              <a:spcBef>
                <a:spcPts val="80"/>
              </a:spcBef>
            </a:pPr>
            <a:r>
              <a:rPr dirty="0" sz="2800" spc="-5" b="1">
                <a:latin typeface="微软雅黑"/>
                <a:cs typeface="微软雅黑"/>
              </a:rPr>
              <a:t>第二类运算按照括号决定的顺序运算，多个括号并</a:t>
            </a:r>
            <a:r>
              <a:rPr dirty="0" sz="2800" spc="5" b="1">
                <a:latin typeface="微软雅黑"/>
                <a:cs typeface="微软雅黑"/>
              </a:rPr>
              <a:t>排或没有括号的部分按照</a:t>
            </a:r>
            <a:r>
              <a:rPr dirty="0" sz="2800" spc="-10" b="1">
                <a:solidFill>
                  <a:srgbClr val="FF0000"/>
                </a:solidFill>
                <a:latin typeface="微软雅黑"/>
                <a:cs typeface="微软雅黑"/>
              </a:rPr>
              <a:t>从左向右</a:t>
            </a:r>
            <a:r>
              <a:rPr dirty="0" sz="2800" spc="-20" b="1">
                <a:latin typeface="微软雅黑"/>
                <a:cs typeface="微软雅黑"/>
              </a:rPr>
              <a:t>的顺序运算。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文</a:t>
            </a:r>
            <a:r>
              <a:rPr dirty="0"/>
              <a:t>氏</a:t>
            </a:r>
            <a:r>
              <a:rPr dirty="0" spc="-50"/>
              <a:t>图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7914640" cy="2590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2800" spc="-15" b="1">
                <a:latin typeface="微软雅黑"/>
                <a:cs typeface="微软雅黑"/>
              </a:rPr>
              <a:t>集合与集合之间的关系以及一些运算的结果可以用</a:t>
            </a:r>
            <a:r>
              <a:rPr dirty="0" sz="2800" spc="70" b="1">
                <a:solidFill>
                  <a:srgbClr val="FF0000"/>
                </a:solidFill>
                <a:latin typeface="微软雅黑"/>
                <a:cs typeface="微软雅黑"/>
              </a:rPr>
              <a:t>文氏图</a:t>
            </a:r>
            <a:r>
              <a:rPr dirty="0" sz="2800" spc="-5" b="1">
                <a:latin typeface="微软雅黑"/>
                <a:cs typeface="微软雅黑"/>
              </a:rPr>
              <a:t>给予直观的表示。在文氏图中，用矩形代表</a:t>
            </a:r>
            <a:r>
              <a:rPr dirty="0" sz="2800" spc="25" b="1">
                <a:latin typeface="微软雅黑"/>
                <a:cs typeface="微软雅黑"/>
              </a:rPr>
              <a:t>全集，用圆或其他闭曲线的内部代表</a:t>
            </a:r>
            <a:r>
              <a:rPr dirty="0" sz="2800" b="1">
                <a:latin typeface="Calibri"/>
                <a:cs typeface="Calibri"/>
              </a:rPr>
              <a:t>E </a:t>
            </a:r>
            <a:r>
              <a:rPr dirty="0" sz="2800" spc="30" b="1">
                <a:latin typeface="微软雅黑"/>
                <a:cs typeface="微软雅黑"/>
              </a:rPr>
              <a:t>的子集，并</a:t>
            </a:r>
            <a:r>
              <a:rPr dirty="0" sz="2800" spc="-10" b="1">
                <a:latin typeface="微软雅黑"/>
                <a:cs typeface="微软雅黑"/>
              </a:rPr>
              <a:t>将运算结果得到的集合用阴影部分表示。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15183" y="4562855"/>
            <a:ext cx="1600200" cy="1069975"/>
          </a:xfrm>
          <a:custGeom>
            <a:avLst/>
            <a:gdLst/>
            <a:ahLst/>
            <a:cxnLst/>
            <a:rect l="l" t="t" r="r" b="b"/>
            <a:pathLst>
              <a:path w="1600200" h="1069975">
                <a:moveTo>
                  <a:pt x="228600" y="571500"/>
                </a:moveTo>
                <a:lnTo>
                  <a:pt x="232064" y="524975"/>
                </a:lnTo>
                <a:lnTo>
                  <a:pt x="242157" y="480351"/>
                </a:lnTo>
                <a:lnTo>
                  <a:pt x="258425" y="438036"/>
                </a:lnTo>
                <a:lnTo>
                  <a:pt x="280415" y="398441"/>
                </a:lnTo>
                <a:lnTo>
                  <a:pt x="307677" y="361973"/>
                </a:lnTo>
                <a:lnTo>
                  <a:pt x="339756" y="329041"/>
                </a:lnTo>
                <a:lnTo>
                  <a:pt x="376201" y="300054"/>
                </a:lnTo>
                <a:lnTo>
                  <a:pt x="416560" y="275420"/>
                </a:lnTo>
                <a:lnTo>
                  <a:pt x="460378" y="255549"/>
                </a:lnTo>
                <a:lnTo>
                  <a:pt x="507206" y="240850"/>
                </a:lnTo>
                <a:lnTo>
                  <a:pt x="556589" y="231730"/>
                </a:lnTo>
                <a:lnTo>
                  <a:pt x="608076" y="228600"/>
                </a:lnTo>
                <a:lnTo>
                  <a:pt x="659562" y="231730"/>
                </a:lnTo>
                <a:lnTo>
                  <a:pt x="708945" y="240850"/>
                </a:lnTo>
                <a:lnTo>
                  <a:pt x="755773" y="255549"/>
                </a:lnTo>
                <a:lnTo>
                  <a:pt x="799592" y="275420"/>
                </a:lnTo>
                <a:lnTo>
                  <a:pt x="839950" y="300054"/>
                </a:lnTo>
                <a:lnTo>
                  <a:pt x="876395" y="329041"/>
                </a:lnTo>
                <a:lnTo>
                  <a:pt x="908474" y="361973"/>
                </a:lnTo>
                <a:lnTo>
                  <a:pt x="935736" y="398441"/>
                </a:lnTo>
                <a:lnTo>
                  <a:pt x="957726" y="438036"/>
                </a:lnTo>
                <a:lnTo>
                  <a:pt x="973994" y="480351"/>
                </a:lnTo>
                <a:lnTo>
                  <a:pt x="984087" y="524975"/>
                </a:lnTo>
                <a:lnTo>
                  <a:pt x="987552" y="571500"/>
                </a:lnTo>
                <a:lnTo>
                  <a:pt x="984087" y="618024"/>
                </a:lnTo>
                <a:lnTo>
                  <a:pt x="973994" y="662648"/>
                </a:lnTo>
                <a:lnTo>
                  <a:pt x="957726" y="704963"/>
                </a:lnTo>
                <a:lnTo>
                  <a:pt x="935736" y="744558"/>
                </a:lnTo>
                <a:lnTo>
                  <a:pt x="908474" y="781026"/>
                </a:lnTo>
                <a:lnTo>
                  <a:pt x="876395" y="813958"/>
                </a:lnTo>
                <a:lnTo>
                  <a:pt x="839950" y="842945"/>
                </a:lnTo>
                <a:lnTo>
                  <a:pt x="799592" y="867579"/>
                </a:lnTo>
                <a:lnTo>
                  <a:pt x="755773" y="887450"/>
                </a:lnTo>
                <a:lnTo>
                  <a:pt x="708945" y="902149"/>
                </a:lnTo>
                <a:lnTo>
                  <a:pt x="659562" y="911269"/>
                </a:lnTo>
                <a:lnTo>
                  <a:pt x="608076" y="914400"/>
                </a:lnTo>
                <a:lnTo>
                  <a:pt x="556589" y="911269"/>
                </a:lnTo>
                <a:lnTo>
                  <a:pt x="507206" y="902149"/>
                </a:lnTo>
                <a:lnTo>
                  <a:pt x="460378" y="887450"/>
                </a:lnTo>
                <a:lnTo>
                  <a:pt x="416560" y="867579"/>
                </a:lnTo>
                <a:lnTo>
                  <a:pt x="376201" y="842945"/>
                </a:lnTo>
                <a:lnTo>
                  <a:pt x="339756" y="813958"/>
                </a:lnTo>
                <a:lnTo>
                  <a:pt x="307677" y="781026"/>
                </a:lnTo>
                <a:lnTo>
                  <a:pt x="280416" y="744558"/>
                </a:lnTo>
                <a:lnTo>
                  <a:pt x="258425" y="704963"/>
                </a:lnTo>
                <a:lnTo>
                  <a:pt x="242157" y="662648"/>
                </a:lnTo>
                <a:lnTo>
                  <a:pt x="232064" y="618024"/>
                </a:lnTo>
                <a:lnTo>
                  <a:pt x="228600" y="571500"/>
                </a:lnTo>
                <a:close/>
              </a:path>
              <a:path w="1600200" h="1069975">
                <a:moveTo>
                  <a:pt x="603504" y="571500"/>
                </a:moveTo>
                <a:lnTo>
                  <a:pt x="607010" y="524975"/>
                </a:lnTo>
                <a:lnTo>
                  <a:pt x="617223" y="480351"/>
                </a:lnTo>
                <a:lnTo>
                  <a:pt x="633686" y="438036"/>
                </a:lnTo>
                <a:lnTo>
                  <a:pt x="655940" y="398441"/>
                </a:lnTo>
                <a:lnTo>
                  <a:pt x="683529" y="361973"/>
                </a:lnTo>
                <a:lnTo>
                  <a:pt x="715994" y="329041"/>
                </a:lnTo>
                <a:lnTo>
                  <a:pt x="752877" y="300054"/>
                </a:lnTo>
                <a:lnTo>
                  <a:pt x="793721" y="275420"/>
                </a:lnTo>
                <a:lnTo>
                  <a:pt x="838069" y="255549"/>
                </a:lnTo>
                <a:lnTo>
                  <a:pt x="885461" y="240850"/>
                </a:lnTo>
                <a:lnTo>
                  <a:pt x="935441" y="231730"/>
                </a:lnTo>
                <a:lnTo>
                  <a:pt x="987552" y="228600"/>
                </a:lnTo>
                <a:lnTo>
                  <a:pt x="1039662" y="231730"/>
                </a:lnTo>
                <a:lnTo>
                  <a:pt x="1089642" y="240850"/>
                </a:lnTo>
                <a:lnTo>
                  <a:pt x="1137034" y="255549"/>
                </a:lnTo>
                <a:lnTo>
                  <a:pt x="1181382" y="275420"/>
                </a:lnTo>
                <a:lnTo>
                  <a:pt x="1222226" y="300054"/>
                </a:lnTo>
                <a:lnTo>
                  <a:pt x="1259109" y="329041"/>
                </a:lnTo>
                <a:lnTo>
                  <a:pt x="1291574" y="361973"/>
                </a:lnTo>
                <a:lnTo>
                  <a:pt x="1319163" y="398441"/>
                </a:lnTo>
                <a:lnTo>
                  <a:pt x="1341417" y="438036"/>
                </a:lnTo>
                <a:lnTo>
                  <a:pt x="1357880" y="480351"/>
                </a:lnTo>
                <a:lnTo>
                  <a:pt x="1368093" y="524975"/>
                </a:lnTo>
                <a:lnTo>
                  <a:pt x="1371600" y="571500"/>
                </a:lnTo>
                <a:lnTo>
                  <a:pt x="1368093" y="618024"/>
                </a:lnTo>
                <a:lnTo>
                  <a:pt x="1357880" y="662648"/>
                </a:lnTo>
                <a:lnTo>
                  <a:pt x="1341417" y="704963"/>
                </a:lnTo>
                <a:lnTo>
                  <a:pt x="1319163" y="744558"/>
                </a:lnTo>
                <a:lnTo>
                  <a:pt x="1291574" y="781026"/>
                </a:lnTo>
                <a:lnTo>
                  <a:pt x="1259109" y="813958"/>
                </a:lnTo>
                <a:lnTo>
                  <a:pt x="1222226" y="842945"/>
                </a:lnTo>
                <a:lnTo>
                  <a:pt x="1181382" y="867579"/>
                </a:lnTo>
                <a:lnTo>
                  <a:pt x="1137034" y="887450"/>
                </a:lnTo>
                <a:lnTo>
                  <a:pt x="1089642" y="902149"/>
                </a:lnTo>
                <a:lnTo>
                  <a:pt x="1039662" y="911269"/>
                </a:lnTo>
                <a:lnTo>
                  <a:pt x="987552" y="914400"/>
                </a:lnTo>
                <a:lnTo>
                  <a:pt x="935441" y="911269"/>
                </a:lnTo>
                <a:lnTo>
                  <a:pt x="885461" y="902149"/>
                </a:lnTo>
                <a:lnTo>
                  <a:pt x="838069" y="887450"/>
                </a:lnTo>
                <a:lnTo>
                  <a:pt x="793721" y="867579"/>
                </a:lnTo>
                <a:lnTo>
                  <a:pt x="752877" y="842945"/>
                </a:lnTo>
                <a:lnTo>
                  <a:pt x="715994" y="813958"/>
                </a:lnTo>
                <a:lnTo>
                  <a:pt x="683529" y="781026"/>
                </a:lnTo>
                <a:lnTo>
                  <a:pt x="655940" y="744558"/>
                </a:lnTo>
                <a:lnTo>
                  <a:pt x="633686" y="704963"/>
                </a:lnTo>
                <a:lnTo>
                  <a:pt x="617223" y="662648"/>
                </a:lnTo>
                <a:lnTo>
                  <a:pt x="607010" y="618024"/>
                </a:lnTo>
                <a:lnTo>
                  <a:pt x="603504" y="571500"/>
                </a:lnTo>
                <a:close/>
              </a:path>
              <a:path w="1600200" h="1069975">
                <a:moveTo>
                  <a:pt x="0" y="1069848"/>
                </a:moveTo>
                <a:lnTo>
                  <a:pt x="1600199" y="1069848"/>
                </a:lnTo>
                <a:lnTo>
                  <a:pt x="1600199" y="0"/>
                </a:lnTo>
                <a:lnTo>
                  <a:pt x="0" y="0"/>
                </a:lnTo>
                <a:lnTo>
                  <a:pt x="0" y="1069848"/>
                </a:lnTo>
                <a:close/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226816" y="5667616"/>
            <a:ext cx="41973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latin typeface="Arial"/>
                <a:cs typeface="Arial"/>
              </a:rPr>
              <a:t>A-</a:t>
            </a:r>
            <a:r>
              <a:rPr dirty="0" sz="1800" spc="-50" b="1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843783" y="4864608"/>
            <a:ext cx="530860" cy="539750"/>
          </a:xfrm>
          <a:custGeom>
            <a:avLst/>
            <a:gdLst/>
            <a:ahLst/>
            <a:cxnLst/>
            <a:rect l="l" t="t" r="r" b="b"/>
            <a:pathLst>
              <a:path w="530860" h="539750">
                <a:moveTo>
                  <a:pt x="0" y="228600"/>
                </a:moveTo>
                <a:lnTo>
                  <a:pt x="374904" y="228600"/>
                </a:lnTo>
              </a:path>
              <a:path w="530860" h="539750">
                <a:moveTo>
                  <a:pt x="73152" y="73152"/>
                </a:moveTo>
                <a:lnTo>
                  <a:pt x="374904" y="73152"/>
                </a:lnTo>
              </a:path>
              <a:path w="530860" h="539750">
                <a:moveTo>
                  <a:pt x="146304" y="539496"/>
                </a:moveTo>
                <a:lnTo>
                  <a:pt x="530352" y="539496"/>
                </a:lnTo>
              </a:path>
              <a:path w="530860" h="539750">
                <a:moveTo>
                  <a:pt x="146304" y="0"/>
                </a:moveTo>
                <a:lnTo>
                  <a:pt x="530352" y="0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843783" y="5018341"/>
            <a:ext cx="3879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u="heavy" sz="1800" spc="2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800" spc="5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621023" y="5043614"/>
            <a:ext cx="1784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928615" y="4800600"/>
            <a:ext cx="1143000" cy="685800"/>
          </a:xfrm>
          <a:custGeom>
            <a:avLst/>
            <a:gdLst/>
            <a:ahLst/>
            <a:cxnLst/>
            <a:rect l="l" t="t" r="r" b="b"/>
            <a:pathLst>
              <a:path w="1143000" h="685800">
                <a:moveTo>
                  <a:pt x="0" y="342900"/>
                </a:moveTo>
                <a:lnTo>
                  <a:pt x="3464" y="296375"/>
                </a:lnTo>
                <a:lnTo>
                  <a:pt x="13557" y="251751"/>
                </a:lnTo>
                <a:lnTo>
                  <a:pt x="29825" y="209436"/>
                </a:lnTo>
                <a:lnTo>
                  <a:pt x="51815" y="169841"/>
                </a:lnTo>
                <a:lnTo>
                  <a:pt x="79077" y="133373"/>
                </a:lnTo>
                <a:lnTo>
                  <a:pt x="111156" y="100441"/>
                </a:lnTo>
                <a:lnTo>
                  <a:pt x="147601" y="71454"/>
                </a:lnTo>
                <a:lnTo>
                  <a:pt x="187960" y="46820"/>
                </a:lnTo>
                <a:lnTo>
                  <a:pt x="231778" y="26949"/>
                </a:lnTo>
                <a:lnTo>
                  <a:pt x="278606" y="12250"/>
                </a:lnTo>
                <a:lnTo>
                  <a:pt x="327989" y="3130"/>
                </a:lnTo>
                <a:lnTo>
                  <a:pt x="379475" y="0"/>
                </a:lnTo>
                <a:lnTo>
                  <a:pt x="430962" y="3130"/>
                </a:lnTo>
                <a:lnTo>
                  <a:pt x="480345" y="12250"/>
                </a:lnTo>
                <a:lnTo>
                  <a:pt x="527173" y="26949"/>
                </a:lnTo>
                <a:lnTo>
                  <a:pt x="570991" y="46820"/>
                </a:lnTo>
                <a:lnTo>
                  <a:pt x="611350" y="71454"/>
                </a:lnTo>
                <a:lnTo>
                  <a:pt x="647795" y="100441"/>
                </a:lnTo>
                <a:lnTo>
                  <a:pt x="679874" y="133373"/>
                </a:lnTo>
                <a:lnTo>
                  <a:pt x="707136" y="169841"/>
                </a:lnTo>
                <a:lnTo>
                  <a:pt x="729126" y="209436"/>
                </a:lnTo>
                <a:lnTo>
                  <a:pt x="745394" y="251751"/>
                </a:lnTo>
                <a:lnTo>
                  <a:pt x="755487" y="296375"/>
                </a:lnTo>
                <a:lnTo>
                  <a:pt x="758951" y="342900"/>
                </a:lnTo>
                <a:lnTo>
                  <a:pt x="755487" y="389424"/>
                </a:lnTo>
                <a:lnTo>
                  <a:pt x="745394" y="434048"/>
                </a:lnTo>
                <a:lnTo>
                  <a:pt x="729126" y="476363"/>
                </a:lnTo>
                <a:lnTo>
                  <a:pt x="707136" y="515958"/>
                </a:lnTo>
                <a:lnTo>
                  <a:pt x="679874" y="552426"/>
                </a:lnTo>
                <a:lnTo>
                  <a:pt x="647795" y="585358"/>
                </a:lnTo>
                <a:lnTo>
                  <a:pt x="611350" y="614345"/>
                </a:lnTo>
                <a:lnTo>
                  <a:pt x="570991" y="638979"/>
                </a:lnTo>
                <a:lnTo>
                  <a:pt x="527173" y="658850"/>
                </a:lnTo>
                <a:lnTo>
                  <a:pt x="480345" y="673549"/>
                </a:lnTo>
                <a:lnTo>
                  <a:pt x="430962" y="682669"/>
                </a:lnTo>
                <a:lnTo>
                  <a:pt x="379475" y="685800"/>
                </a:lnTo>
                <a:lnTo>
                  <a:pt x="327989" y="682669"/>
                </a:lnTo>
                <a:lnTo>
                  <a:pt x="278606" y="673549"/>
                </a:lnTo>
                <a:lnTo>
                  <a:pt x="231778" y="658850"/>
                </a:lnTo>
                <a:lnTo>
                  <a:pt x="187960" y="638979"/>
                </a:lnTo>
                <a:lnTo>
                  <a:pt x="147601" y="614345"/>
                </a:lnTo>
                <a:lnTo>
                  <a:pt x="111156" y="585358"/>
                </a:lnTo>
                <a:lnTo>
                  <a:pt x="79077" y="552426"/>
                </a:lnTo>
                <a:lnTo>
                  <a:pt x="51815" y="515958"/>
                </a:lnTo>
                <a:lnTo>
                  <a:pt x="29825" y="476363"/>
                </a:lnTo>
                <a:lnTo>
                  <a:pt x="13557" y="434048"/>
                </a:lnTo>
                <a:lnTo>
                  <a:pt x="3464" y="389424"/>
                </a:lnTo>
                <a:lnTo>
                  <a:pt x="0" y="342900"/>
                </a:lnTo>
                <a:close/>
              </a:path>
              <a:path w="1143000" h="685800">
                <a:moveTo>
                  <a:pt x="384048" y="342900"/>
                </a:moveTo>
                <a:lnTo>
                  <a:pt x="387512" y="296375"/>
                </a:lnTo>
                <a:lnTo>
                  <a:pt x="397605" y="251751"/>
                </a:lnTo>
                <a:lnTo>
                  <a:pt x="413873" y="209436"/>
                </a:lnTo>
                <a:lnTo>
                  <a:pt x="435863" y="169841"/>
                </a:lnTo>
                <a:lnTo>
                  <a:pt x="463125" y="133373"/>
                </a:lnTo>
                <a:lnTo>
                  <a:pt x="495204" y="100441"/>
                </a:lnTo>
                <a:lnTo>
                  <a:pt x="531649" y="71454"/>
                </a:lnTo>
                <a:lnTo>
                  <a:pt x="572008" y="46820"/>
                </a:lnTo>
                <a:lnTo>
                  <a:pt x="615826" y="26949"/>
                </a:lnTo>
                <a:lnTo>
                  <a:pt x="662654" y="12250"/>
                </a:lnTo>
                <a:lnTo>
                  <a:pt x="712037" y="3130"/>
                </a:lnTo>
                <a:lnTo>
                  <a:pt x="763524" y="0"/>
                </a:lnTo>
                <a:lnTo>
                  <a:pt x="815010" y="3130"/>
                </a:lnTo>
                <a:lnTo>
                  <a:pt x="864393" y="12250"/>
                </a:lnTo>
                <a:lnTo>
                  <a:pt x="911221" y="26949"/>
                </a:lnTo>
                <a:lnTo>
                  <a:pt x="955039" y="46820"/>
                </a:lnTo>
                <a:lnTo>
                  <a:pt x="995398" y="71454"/>
                </a:lnTo>
                <a:lnTo>
                  <a:pt x="1031843" y="100441"/>
                </a:lnTo>
                <a:lnTo>
                  <a:pt x="1063922" y="133373"/>
                </a:lnTo>
                <a:lnTo>
                  <a:pt x="1091184" y="169841"/>
                </a:lnTo>
                <a:lnTo>
                  <a:pt x="1113174" y="209436"/>
                </a:lnTo>
                <a:lnTo>
                  <a:pt x="1129442" y="251751"/>
                </a:lnTo>
                <a:lnTo>
                  <a:pt x="1139535" y="296375"/>
                </a:lnTo>
                <a:lnTo>
                  <a:pt x="1143000" y="342900"/>
                </a:lnTo>
                <a:lnTo>
                  <a:pt x="1139535" y="389424"/>
                </a:lnTo>
                <a:lnTo>
                  <a:pt x="1129442" y="434048"/>
                </a:lnTo>
                <a:lnTo>
                  <a:pt x="1113174" y="476363"/>
                </a:lnTo>
                <a:lnTo>
                  <a:pt x="1091184" y="515958"/>
                </a:lnTo>
                <a:lnTo>
                  <a:pt x="1063922" y="552426"/>
                </a:lnTo>
                <a:lnTo>
                  <a:pt x="1031843" y="585358"/>
                </a:lnTo>
                <a:lnTo>
                  <a:pt x="995398" y="614345"/>
                </a:lnTo>
                <a:lnTo>
                  <a:pt x="955039" y="638979"/>
                </a:lnTo>
                <a:lnTo>
                  <a:pt x="911221" y="658850"/>
                </a:lnTo>
                <a:lnTo>
                  <a:pt x="864393" y="673549"/>
                </a:lnTo>
                <a:lnTo>
                  <a:pt x="815010" y="682669"/>
                </a:lnTo>
                <a:lnTo>
                  <a:pt x="763524" y="685800"/>
                </a:lnTo>
                <a:lnTo>
                  <a:pt x="712037" y="682669"/>
                </a:lnTo>
                <a:lnTo>
                  <a:pt x="662654" y="673549"/>
                </a:lnTo>
                <a:lnTo>
                  <a:pt x="615826" y="658850"/>
                </a:lnTo>
                <a:lnTo>
                  <a:pt x="572008" y="638979"/>
                </a:lnTo>
                <a:lnTo>
                  <a:pt x="531649" y="614345"/>
                </a:lnTo>
                <a:lnTo>
                  <a:pt x="495204" y="585358"/>
                </a:lnTo>
                <a:lnTo>
                  <a:pt x="463125" y="552426"/>
                </a:lnTo>
                <a:lnTo>
                  <a:pt x="435863" y="515958"/>
                </a:lnTo>
                <a:lnTo>
                  <a:pt x="413873" y="476363"/>
                </a:lnTo>
                <a:lnTo>
                  <a:pt x="397605" y="434048"/>
                </a:lnTo>
                <a:lnTo>
                  <a:pt x="387512" y="389424"/>
                </a:lnTo>
                <a:lnTo>
                  <a:pt x="384048" y="342900"/>
                </a:lnTo>
                <a:close/>
              </a:path>
              <a:path w="1143000" h="685800">
                <a:moveTo>
                  <a:pt x="0" y="301751"/>
                </a:moveTo>
                <a:lnTo>
                  <a:pt x="384048" y="301751"/>
                </a:lnTo>
              </a:path>
              <a:path w="1143000" h="685800">
                <a:moveTo>
                  <a:pt x="73151" y="155448"/>
                </a:moveTo>
                <a:lnTo>
                  <a:pt x="457200" y="155448"/>
                </a:lnTo>
              </a:path>
              <a:path w="1143000" h="685800">
                <a:moveTo>
                  <a:pt x="155448" y="612647"/>
                </a:moveTo>
                <a:lnTo>
                  <a:pt x="530351" y="612647"/>
                </a:lnTo>
              </a:path>
              <a:path w="1143000" h="685800">
                <a:moveTo>
                  <a:pt x="685800" y="612647"/>
                </a:moveTo>
                <a:lnTo>
                  <a:pt x="987551" y="612647"/>
                </a:lnTo>
              </a:path>
              <a:path w="1143000" h="685800">
                <a:moveTo>
                  <a:pt x="758951" y="301751"/>
                </a:moveTo>
                <a:lnTo>
                  <a:pt x="1143000" y="301751"/>
                </a:lnTo>
              </a:path>
              <a:path w="1143000" h="685800">
                <a:moveTo>
                  <a:pt x="685800" y="155448"/>
                </a:moveTo>
                <a:lnTo>
                  <a:pt x="1069848" y="155448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146421" y="5670765"/>
            <a:ext cx="5295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Arial"/>
                <a:cs typeface="Arial"/>
              </a:rPr>
              <a:t>A</a:t>
            </a:r>
            <a:r>
              <a:rPr dirty="0" sz="1800" spc="-25" b="1">
                <a:latin typeface="Symbol"/>
                <a:cs typeface="Symbol"/>
              </a:rPr>
              <a:t></a:t>
            </a:r>
            <a:r>
              <a:rPr dirty="0" sz="1800" spc="-25" b="1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700015" y="4572000"/>
            <a:ext cx="1600200" cy="1069975"/>
          </a:xfrm>
          <a:prstGeom prst="rect">
            <a:avLst/>
          </a:prstGeom>
          <a:ln w="365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1320"/>
              </a:spcBef>
              <a:tabLst>
                <a:tab pos="987425" algn="l"/>
              </a:tabLst>
            </a:pPr>
            <a:r>
              <a:rPr dirty="0" u="heavy" sz="1800" spc="5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800" spc="5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	</a:t>
            </a:r>
            <a:r>
              <a:rPr dirty="0" u="heavy" sz="1800" spc="5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heavy" sz="1800" spc="5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784847" y="4562855"/>
            <a:ext cx="1600200" cy="1069975"/>
          </a:xfrm>
          <a:custGeom>
            <a:avLst/>
            <a:gdLst/>
            <a:ahLst/>
            <a:cxnLst/>
            <a:rect l="l" t="t" r="r" b="b"/>
            <a:pathLst>
              <a:path w="1600200" h="1069975">
                <a:moveTo>
                  <a:pt x="457200" y="571500"/>
                </a:moveTo>
                <a:lnTo>
                  <a:pt x="460706" y="524975"/>
                </a:lnTo>
                <a:lnTo>
                  <a:pt x="470919" y="480351"/>
                </a:lnTo>
                <a:lnTo>
                  <a:pt x="487382" y="438036"/>
                </a:lnTo>
                <a:lnTo>
                  <a:pt x="509636" y="398441"/>
                </a:lnTo>
                <a:lnTo>
                  <a:pt x="537225" y="361973"/>
                </a:lnTo>
                <a:lnTo>
                  <a:pt x="569690" y="329041"/>
                </a:lnTo>
                <a:lnTo>
                  <a:pt x="606573" y="300054"/>
                </a:lnTo>
                <a:lnTo>
                  <a:pt x="647417" y="275420"/>
                </a:lnTo>
                <a:lnTo>
                  <a:pt x="691765" y="255549"/>
                </a:lnTo>
                <a:lnTo>
                  <a:pt x="739157" y="240850"/>
                </a:lnTo>
                <a:lnTo>
                  <a:pt x="789137" y="231730"/>
                </a:lnTo>
                <a:lnTo>
                  <a:pt x="841248" y="228600"/>
                </a:lnTo>
                <a:lnTo>
                  <a:pt x="893358" y="231730"/>
                </a:lnTo>
                <a:lnTo>
                  <a:pt x="943338" y="240850"/>
                </a:lnTo>
                <a:lnTo>
                  <a:pt x="990730" y="255549"/>
                </a:lnTo>
                <a:lnTo>
                  <a:pt x="1035078" y="275420"/>
                </a:lnTo>
                <a:lnTo>
                  <a:pt x="1075922" y="300054"/>
                </a:lnTo>
                <a:lnTo>
                  <a:pt x="1112805" y="329041"/>
                </a:lnTo>
                <a:lnTo>
                  <a:pt x="1145270" y="361973"/>
                </a:lnTo>
                <a:lnTo>
                  <a:pt x="1172859" y="398441"/>
                </a:lnTo>
                <a:lnTo>
                  <a:pt x="1195113" y="438036"/>
                </a:lnTo>
                <a:lnTo>
                  <a:pt x="1211576" y="480351"/>
                </a:lnTo>
                <a:lnTo>
                  <a:pt x="1221789" y="524975"/>
                </a:lnTo>
                <a:lnTo>
                  <a:pt x="1225296" y="571500"/>
                </a:lnTo>
                <a:lnTo>
                  <a:pt x="1221789" y="618024"/>
                </a:lnTo>
                <a:lnTo>
                  <a:pt x="1211576" y="662648"/>
                </a:lnTo>
                <a:lnTo>
                  <a:pt x="1195113" y="704963"/>
                </a:lnTo>
                <a:lnTo>
                  <a:pt x="1172859" y="744558"/>
                </a:lnTo>
                <a:lnTo>
                  <a:pt x="1145270" y="781026"/>
                </a:lnTo>
                <a:lnTo>
                  <a:pt x="1112805" y="813958"/>
                </a:lnTo>
                <a:lnTo>
                  <a:pt x="1075922" y="842945"/>
                </a:lnTo>
                <a:lnTo>
                  <a:pt x="1035078" y="867579"/>
                </a:lnTo>
                <a:lnTo>
                  <a:pt x="990730" y="887450"/>
                </a:lnTo>
                <a:lnTo>
                  <a:pt x="943338" y="902149"/>
                </a:lnTo>
                <a:lnTo>
                  <a:pt x="893358" y="911269"/>
                </a:lnTo>
                <a:lnTo>
                  <a:pt x="841248" y="914400"/>
                </a:lnTo>
                <a:lnTo>
                  <a:pt x="789137" y="911269"/>
                </a:lnTo>
                <a:lnTo>
                  <a:pt x="739157" y="902149"/>
                </a:lnTo>
                <a:lnTo>
                  <a:pt x="691765" y="887450"/>
                </a:lnTo>
                <a:lnTo>
                  <a:pt x="647417" y="867579"/>
                </a:lnTo>
                <a:lnTo>
                  <a:pt x="606573" y="842945"/>
                </a:lnTo>
                <a:lnTo>
                  <a:pt x="569690" y="813958"/>
                </a:lnTo>
                <a:lnTo>
                  <a:pt x="537225" y="781026"/>
                </a:lnTo>
                <a:lnTo>
                  <a:pt x="509636" y="744558"/>
                </a:lnTo>
                <a:lnTo>
                  <a:pt x="487382" y="704963"/>
                </a:lnTo>
                <a:lnTo>
                  <a:pt x="470919" y="662648"/>
                </a:lnTo>
                <a:lnTo>
                  <a:pt x="460706" y="618024"/>
                </a:lnTo>
                <a:lnTo>
                  <a:pt x="457200" y="571500"/>
                </a:lnTo>
                <a:close/>
              </a:path>
              <a:path w="1600200" h="1069975">
                <a:moveTo>
                  <a:pt x="0" y="1069848"/>
                </a:moveTo>
                <a:lnTo>
                  <a:pt x="1600200" y="1069848"/>
                </a:lnTo>
                <a:lnTo>
                  <a:pt x="1600200" y="0"/>
                </a:lnTo>
                <a:lnTo>
                  <a:pt x="0" y="0"/>
                </a:lnTo>
                <a:lnTo>
                  <a:pt x="0" y="1069848"/>
                </a:lnTo>
                <a:close/>
              </a:path>
              <a:path w="1600200" h="1069975">
                <a:moveTo>
                  <a:pt x="0" y="155448"/>
                </a:moveTo>
                <a:lnTo>
                  <a:pt x="1600200" y="155448"/>
                </a:lnTo>
              </a:path>
              <a:path w="1600200" h="1069975">
                <a:moveTo>
                  <a:pt x="0" y="384048"/>
                </a:moveTo>
                <a:lnTo>
                  <a:pt x="539496" y="384048"/>
                </a:lnTo>
              </a:path>
              <a:path w="1600200" h="1069975">
                <a:moveTo>
                  <a:pt x="0" y="612648"/>
                </a:moveTo>
                <a:lnTo>
                  <a:pt x="457200" y="612648"/>
                </a:lnTo>
              </a:path>
              <a:path w="1600200" h="1069975">
                <a:moveTo>
                  <a:pt x="0" y="841248"/>
                </a:moveTo>
                <a:lnTo>
                  <a:pt x="457200" y="841248"/>
                </a:lnTo>
              </a:path>
              <a:path w="1600200" h="1069975">
                <a:moveTo>
                  <a:pt x="0" y="996696"/>
                </a:moveTo>
                <a:lnTo>
                  <a:pt x="1600200" y="996696"/>
                </a:lnTo>
              </a:path>
              <a:path w="1600200" h="1069975">
                <a:moveTo>
                  <a:pt x="1225296" y="612648"/>
                </a:moveTo>
                <a:lnTo>
                  <a:pt x="1600200" y="612648"/>
                </a:lnTo>
              </a:path>
              <a:path w="1600200" h="1069975">
                <a:moveTo>
                  <a:pt x="1143000" y="384048"/>
                </a:moveTo>
                <a:lnTo>
                  <a:pt x="1600200" y="384048"/>
                </a:lnTo>
              </a:path>
              <a:path w="1600200" h="1069975">
                <a:moveTo>
                  <a:pt x="1143000" y="841248"/>
                </a:moveTo>
                <a:lnTo>
                  <a:pt x="1600200" y="841248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312279" y="5667616"/>
            <a:ext cx="3321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Arial"/>
                <a:cs typeface="Arial"/>
              </a:rPr>
              <a:t>~A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538339" y="5018341"/>
            <a:ext cx="1911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19212" y="5683377"/>
            <a:ext cx="5295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Arial"/>
                <a:cs typeface="Arial"/>
              </a:rPr>
              <a:t>A</a:t>
            </a:r>
            <a:r>
              <a:rPr dirty="0" sz="1800" spc="-25" b="1">
                <a:latin typeface="Symbol"/>
                <a:cs typeface="Symbol"/>
              </a:rPr>
              <a:t></a:t>
            </a:r>
            <a:r>
              <a:rPr dirty="0" sz="1800" spc="-25" b="1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41247" y="4809744"/>
            <a:ext cx="1143000" cy="685800"/>
          </a:xfrm>
          <a:custGeom>
            <a:avLst/>
            <a:gdLst/>
            <a:ahLst/>
            <a:cxnLst/>
            <a:rect l="l" t="t" r="r" b="b"/>
            <a:pathLst>
              <a:path w="1143000" h="685800">
                <a:moveTo>
                  <a:pt x="0" y="342899"/>
                </a:moveTo>
                <a:lnTo>
                  <a:pt x="3464" y="296375"/>
                </a:lnTo>
                <a:lnTo>
                  <a:pt x="13555" y="251751"/>
                </a:lnTo>
                <a:lnTo>
                  <a:pt x="29821" y="209436"/>
                </a:lnTo>
                <a:lnTo>
                  <a:pt x="51810" y="169841"/>
                </a:lnTo>
                <a:lnTo>
                  <a:pt x="79069" y="133373"/>
                </a:lnTo>
                <a:lnTo>
                  <a:pt x="111147" y="100441"/>
                </a:lnTo>
                <a:lnTo>
                  <a:pt x="147590" y="71454"/>
                </a:lnTo>
                <a:lnTo>
                  <a:pt x="187948" y="46820"/>
                </a:lnTo>
                <a:lnTo>
                  <a:pt x="231768" y="26949"/>
                </a:lnTo>
                <a:lnTo>
                  <a:pt x="278597" y="12250"/>
                </a:lnTo>
                <a:lnTo>
                  <a:pt x="327984" y="3130"/>
                </a:lnTo>
                <a:lnTo>
                  <a:pt x="379476" y="0"/>
                </a:lnTo>
                <a:lnTo>
                  <a:pt x="430962" y="3130"/>
                </a:lnTo>
                <a:lnTo>
                  <a:pt x="480345" y="12250"/>
                </a:lnTo>
                <a:lnTo>
                  <a:pt x="527173" y="26949"/>
                </a:lnTo>
                <a:lnTo>
                  <a:pt x="570991" y="46820"/>
                </a:lnTo>
                <a:lnTo>
                  <a:pt x="611350" y="71454"/>
                </a:lnTo>
                <a:lnTo>
                  <a:pt x="647795" y="100441"/>
                </a:lnTo>
                <a:lnTo>
                  <a:pt x="679874" y="133373"/>
                </a:lnTo>
                <a:lnTo>
                  <a:pt x="707135" y="169841"/>
                </a:lnTo>
                <a:lnTo>
                  <a:pt x="729126" y="209436"/>
                </a:lnTo>
                <a:lnTo>
                  <a:pt x="745394" y="251751"/>
                </a:lnTo>
                <a:lnTo>
                  <a:pt x="755487" y="296375"/>
                </a:lnTo>
                <a:lnTo>
                  <a:pt x="758952" y="342899"/>
                </a:lnTo>
                <a:lnTo>
                  <a:pt x="755487" y="389424"/>
                </a:lnTo>
                <a:lnTo>
                  <a:pt x="745394" y="434048"/>
                </a:lnTo>
                <a:lnTo>
                  <a:pt x="729126" y="476363"/>
                </a:lnTo>
                <a:lnTo>
                  <a:pt x="707136" y="515958"/>
                </a:lnTo>
                <a:lnTo>
                  <a:pt x="679874" y="552426"/>
                </a:lnTo>
                <a:lnTo>
                  <a:pt x="647795" y="585358"/>
                </a:lnTo>
                <a:lnTo>
                  <a:pt x="611350" y="614345"/>
                </a:lnTo>
                <a:lnTo>
                  <a:pt x="570992" y="638979"/>
                </a:lnTo>
                <a:lnTo>
                  <a:pt x="527173" y="658850"/>
                </a:lnTo>
                <a:lnTo>
                  <a:pt x="480345" y="673549"/>
                </a:lnTo>
                <a:lnTo>
                  <a:pt x="430962" y="682669"/>
                </a:lnTo>
                <a:lnTo>
                  <a:pt x="379476" y="685799"/>
                </a:lnTo>
                <a:lnTo>
                  <a:pt x="327984" y="682669"/>
                </a:lnTo>
                <a:lnTo>
                  <a:pt x="278597" y="673549"/>
                </a:lnTo>
                <a:lnTo>
                  <a:pt x="231768" y="658850"/>
                </a:lnTo>
                <a:lnTo>
                  <a:pt x="187948" y="638979"/>
                </a:lnTo>
                <a:lnTo>
                  <a:pt x="147590" y="614345"/>
                </a:lnTo>
                <a:lnTo>
                  <a:pt x="111147" y="585358"/>
                </a:lnTo>
                <a:lnTo>
                  <a:pt x="79069" y="552426"/>
                </a:lnTo>
                <a:lnTo>
                  <a:pt x="51810" y="515958"/>
                </a:lnTo>
                <a:lnTo>
                  <a:pt x="29821" y="476363"/>
                </a:lnTo>
                <a:lnTo>
                  <a:pt x="13555" y="434048"/>
                </a:lnTo>
                <a:lnTo>
                  <a:pt x="3464" y="389424"/>
                </a:lnTo>
                <a:lnTo>
                  <a:pt x="0" y="342899"/>
                </a:lnTo>
                <a:close/>
              </a:path>
              <a:path w="1143000" h="685800">
                <a:moveTo>
                  <a:pt x="384048" y="342899"/>
                </a:moveTo>
                <a:lnTo>
                  <a:pt x="387512" y="296375"/>
                </a:lnTo>
                <a:lnTo>
                  <a:pt x="397605" y="251751"/>
                </a:lnTo>
                <a:lnTo>
                  <a:pt x="413873" y="209436"/>
                </a:lnTo>
                <a:lnTo>
                  <a:pt x="435863" y="169841"/>
                </a:lnTo>
                <a:lnTo>
                  <a:pt x="463125" y="133373"/>
                </a:lnTo>
                <a:lnTo>
                  <a:pt x="495204" y="100441"/>
                </a:lnTo>
                <a:lnTo>
                  <a:pt x="531649" y="71454"/>
                </a:lnTo>
                <a:lnTo>
                  <a:pt x="572007" y="46820"/>
                </a:lnTo>
                <a:lnTo>
                  <a:pt x="615826" y="26949"/>
                </a:lnTo>
                <a:lnTo>
                  <a:pt x="662654" y="12250"/>
                </a:lnTo>
                <a:lnTo>
                  <a:pt x="712037" y="3130"/>
                </a:lnTo>
                <a:lnTo>
                  <a:pt x="763524" y="0"/>
                </a:lnTo>
                <a:lnTo>
                  <a:pt x="815010" y="3130"/>
                </a:lnTo>
                <a:lnTo>
                  <a:pt x="864393" y="12250"/>
                </a:lnTo>
                <a:lnTo>
                  <a:pt x="911221" y="26949"/>
                </a:lnTo>
                <a:lnTo>
                  <a:pt x="955040" y="46820"/>
                </a:lnTo>
                <a:lnTo>
                  <a:pt x="995398" y="71454"/>
                </a:lnTo>
                <a:lnTo>
                  <a:pt x="1031843" y="100441"/>
                </a:lnTo>
                <a:lnTo>
                  <a:pt x="1063922" y="133373"/>
                </a:lnTo>
                <a:lnTo>
                  <a:pt x="1091184" y="169841"/>
                </a:lnTo>
                <a:lnTo>
                  <a:pt x="1113174" y="209436"/>
                </a:lnTo>
                <a:lnTo>
                  <a:pt x="1129442" y="251751"/>
                </a:lnTo>
                <a:lnTo>
                  <a:pt x="1139535" y="296375"/>
                </a:lnTo>
                <a:lnTo>
                  <a:pt x="1143000" y="342899"/>
                </a:lnTo>
                <a:lnTo>
                  <a:pt x="1139535" y="389424"/>
                </a:lnTo>
                <a:lnTo>
                  <a:pt x="1129442" y="434048"/>
                </a:lnTo>
                <a:lnTo>
                  <a:pt x="1113174" y="476363"/>
                </a:lnTo>
                <a:lnTo>
                  <a:pt x="1091184" y="515958"/>
                </a:lnTo>
                <a:lnTo>
                  <a:pt x="1063922" y="552426"/>
                </a:lnTo>
                <a:lnTo>
                  <a:pt x="1031843" y="585358"/>
                </a:lnTo>
                <a:lnTo>
                  <a:pt x="995398" y="614345"/>
                </a:lnTo>
                <a:lnTo>
                  <a:pt x="955040" y="638979"/>
                </a:lnTo>
                <a:lnTo>
                  <a:pt x="911221" y="658850"/>
                </a:lnTo>
                <a:lnTo>
                  <a:pt x="864393" y="673549"/>
                </a:lnTo>
                <a:lnTo>
                  <a:pt x="815010" y="682669"/>
                </a:lnTo>
                <a:lnTo>
                  <a:pt x="763524" y="685799"/>
                </a:lnTo>
                <a:lnTo>
                  <a:pt x="712037" y="682669"/>
                </a:lnTo>
                <a:lnTo>
                  <a:pt x="662654" y="673549"/>
                </a:lnTo>
                <a:lnTo>
                  <a:pt x="615826" y="658850"/>
                </a:lnTo>
                <a:lnTo>
                  <a:pt x="572008" y="638979"/>
                </a:lnTo>
                <a:lnTo>
                  <a:pt x="531649" y="614345"/>
                </a:lnTo>
                <a:lnTo>
                  <a:pt x="495204" y="585358"/>
                </a:lnTo>
                <a:lnTo>
                  <a:pt x="463125" y="552426"/>
                </a:lnTo>
                <a:lnTo>
                  <a:pt x="435864" y="515958"/>
                </a:lnTo>
                <a:lnTo>
                  <a:pt x="413873" y="476363"/>
                </a:lnTo>
                <a:lnTo>
                  <a:pt x="397605" y="434048"/>
                </a:lnTo>
                <a:lnTo>
                  <a:pt x="387512" y="389424"/>
                </a:lnTo>
                <a:lnTo>
                  <a:pt x="384048" y="342899"/>
                </a:lnTo>
                <a:close/>
              </a:path>
              <a:path w="1143000" h="685800">
                <a:moveTo>
                  <a:pt x="0" y="310895"/>
                </a:moveTo>
                <a:lnTo>
                  <a:pt x="758952" y="310895"/>
                </a:lnTo>
              </a:path>
              <a:path w="1143000" h="685800">
                <a:moveTo>
                  <a:pt x="0" y="457199"/>
                </a:moveTo>
                <a:lnTo>
                  <a:pt x="758952" y="457199"/>
                </a:lnTo>
              </a:path>
              <a:path w="1143000" h="685800">
                <a:moveTo>
                  <a:pt x="73152" y="155447"/>
                </a:moveTo>
                <a:lnTo>
                  <a:pt x="685800" y="155447"/>
                </a:lnTo>
              </a:path>
              <a:path w="1143000" h="685800">
                <a:moveTo>
                  <a:pt x="155448" y="612647"/>
                </a:moveTo>
                <a:lnTo>
                  <a:pt x="530352" y="612647"/>
                </a:lnTo>
              </a:path>
              <a:path w="1143000" h="685800">
                <a:moveTo>
                  <a:pt x="685800" y="612647"/>
                </a:moveTo>
                <a:lnTo>
                  <a:pt x="987552" y="612647"/>
                </a:lnTo>
              </a:path>
              <a:path w="1143000" h="685800">
                <a:moveTo>
                  <a:pt x="758952" y="457199"/>
                </a:moveTo>
                <a:lnTo>
                  <a:pt x="1143000" y="457199"/>
                </a:lnTo>
              </a:path>
              <a:path w="1143000" h="685800">
                <a:moveTo>
                  <a:pt x="758952" y="310895"/>
                </a:moveTo>
                <a:lnTo>
                  <a:pt x="1143000" y="310895"/>
                </a:lnTo>
              </a:path>
              <a:path w="1143000" h="685800">
                <a:moveTo>
                  <a:pt x="685800" y="155447"/>
                </a:moveTo>
                <a:lnTo>
                  <a:pt x="1069848" y="155447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12648" y="4581144"/>
            <a:ext cx="1600200" cy="1069975"/>
          </a:xfrm>
          <a:prstGeom prst="rect">
            <a:avLst/>
          </a:prstGeom>
          <a:ln w="3657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  <a:tabLst>
                <a:tab pos="1078230" algn="l"/>
              </a:tabLst>
            </a:pPr>
            <a:r>
              <a:rPr dirty="0" u="heavy" sz="18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heavy" sz="1800" spc="-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baseline="-6172" sz="2700" spc="-75" b="1">
                <a:latin typeface="Arial"/>
                <a:cs typeface="Arial"/>
              </a:rPr>
              <a:t>B</a:t>
            </a:r>
            <a:endParaRPr baseline="-6172" sz="27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1371" y="471551"/>
            <a:ext cx="60115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容</a:t>
            </a:r>
            <a:r>
              <a:rPr dirty="0"/>
              <a:t>斥</a:t>
            </a:r>
            <a:r>
              <a:rPr dirty="0"/>
              <a:t>原</a:t>
            </a:r>
            <a:r>
              <a:rPr dirty="0"/>
              <a:t>理</a:t>
            </a:r>
            <a:r>
              <a:rPr dirty="0" spc="-20">
                <a:latin typeface="Calibri"/>
                <a:cs typeface="Calibri"/>
              </a:rPr>
              <a:t>(</a:t>
            </a:r>
            <a:r>
              <a:rPr dirty="0"/>
              <a:t>包</a:t>
            </a:r>
            <a:r>
              <a:rPr dirty="0" spc="-50"/>
              <a:t>含</a:t>
            </a:r>
            <a:r>
              <a:rPr dirty="0" spc="-50"/>
              <a:t>排</a:t>
            </a:r>
            <a:r>
              <a:rPr dirty="0" spc="-50"/>
              <a:t>斥</a:t>
            </a:r>
            <a:r>
              <a:rPr dirty="0" spc="-20"/>
              <a:t>原理</a:t>
            </a:r>
            <a:r>
              <a:rPr dirty="0" spc="-50">
                <a:latin typeface="Calibri"/>
                <a:cs typeface="Calibri"/>
              </a:rPr>
              <a:t>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3875" y="1617408"/>
            <a:ext cx="637476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  <a:tabLst>
                <a:tab pos="1461770" algn="l"/>
              </a:tabLst>
            </a:pPr>
            <a:r>
              <a:rPr dirty="0" sz="2800" spc="140" b="1">
                <a:latin typeface="Microsoft JhengHei"/>
                <a:cs typeface="Microsoft JhengHei"/>
              </a:rPr>
              <a:t>定</a:t>
            </a:r>
            <a:r>
              <a:rPr dirty="0" sz="2800" spc="70" b="1">
                <a:latin typeface="Microsoft JhengHei"/>
                <a:cs typeface="Microsoft JhengHei"/>
              </a:rPr>
              <a:t>理</a:t>
            </a:r>
            <a:r>
              <a:rPr dirty="0" sz="2800" spc="25" b="1">
                <a:latin typeface="Microsoft JhengHei"/>
                <a:cs typeface="Microsoft JhengHei"/>
              </a:rPr>
              <a:t>1.3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微软雅黑"/>
                <a:cs typeface="微软雅黑"/>
              </a:rPr>
              <a:t>设</a:t>
            </a:r>
            <a:r>
              <a:rPr dirty="0" sz="2800" spc="-180" b="1">
                <a:latin typeface="微软雅黑"/>
                <a:cs typeface="微软雅黑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latin typeface="Times New Roman"/>
                <a:cs typeface="Times New Roman"/>
              </a:rPr>
              <a:t>1</a:t>
            </a:r>
            <a:r>
              <a:rPr dirty="0" sz="2800" b="1" i="1">
                <a:latin typeface="Times New Roman"/>
                <a:cs typeface="Times New Roman"/>
              </a:rPr>
              <a:t>,</a:t>
            </a:r>
            <a:r>
              <a:rPr dirty="0" sz="2800" spc="-1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latin typeface="Times New Roman"/>
                <a:cs typeface="Times New Roman"/>
              </a:rPr>
              <a:t>2</a:t>
            </a:r>
            <a:r>
              <a:rPr dirty="0" sz="2800" b="1" i="1">
                <a:latin typeface="Times New Roman"/>
                <a:cs typeface="Times New Roman"/>
              </a:rPr>
              <a:t>,…,</a:t>
            </a:r>
            <a:r>
              <a:rPr dirty="0" sz="2800" spc="-1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latin typeface="Times New Roman"/>
                <a:cs typeface="Times New Roman"/>
              </a:rPr>
              <a:t>n</a:t>
            </a:r>
            <a:r>
              <a:rPr dirty="0" baseline="-19519" sz="2775" spc="22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微软雅黑"/>
                <a:cs typeface="微软雅黑"/>
              </a:rPr>
              <a:t>为</a:t>
            </a:r>
            <a:r>
              <a:rPr dirty="0" sz="2800" spc="-185" b="1">
                <a:latin typeface="微软雅黑"/>
                <a:cs typeface="微软雅黑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spc="70" b="1">
                <a:latin typeface="微软雅黑"/>
                <a:cs typeface="微软雅黑"/>
              </a:rPr>
              <a:t>个集合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spc="-50" b="1">
                <a:latin typeface="微软雅黑"/>
                <a:cs typeface="微软雅黑"/>
              </a:rPr>
              <a:t>则</a:t>
            </a:r>
            <a:endParaRPr sz="2800">
              <a:latin typeface="微软雅黑"/>
              <a:cs typeface="微软雅黑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344" y="2496311"/>
            <a:ext cx="4581144" cy="104241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773043" y="3729816"/>
            <a:ext cx="19494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spc="-204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2014479" y="4221409"/>
            <a:ext cx="495934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20" i="1">
                <a:latin typeface="Times New Roman"/>
                <a:cs typeface="Times New Roman"/>
              </a:rPr>
              <a:t>i</a:t>
            </a:r>
            <a:r>
              <a:rPr dirty="0" sz="1650" spc="-20">
                <a:latin typeface="Symbol"/>
                <a:cs typeface="Symbol"/>
              </a:rPr>
              <a:t></a:t>
            </a:r>
            <a:r>
              <a:rPr dirty="0" sz="1650" spc="-85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j</a:t>
            </a:r>
            <a:r>
              <a:rPr dirty="0" sz="1650" spc="-25">
                <a:latin typeface="Symbol"/>
                <a:cs typeface="Symbol"/>
              </a:rPr>
              <a:t></a:t>
            </a:r>
            <a:r>
              <a:rPr dirty="0" sz="1650" spc="-25" i="1">
                <a:latin typeface="Times New Roman"/>
                <a:cs typeface="Times New Roman"/>
              </a:rPr>
              <a:t>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451987" y="3968526"/>
            <a:ext cx="11557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14" i="1">
                <a:latin typeface="Times New Roman"/>
                <a:cs typeface="Times New Roman"/>
              </a:rPr>
              <a:t>n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90224" y="3640244"/>
            <a:ext cx="2133600" cy="670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15645" algn="l"/>
                <a:tab pos="1393190" algn="l"/>
                <a:tab pos="2040255" algn="l"/>
              </a:tabLst>
            </a:pPr>
            <a:r>
              <a:rPr dirty="0" sz="4200" spc="-470">
                <a:latin typeface="Symbol"/>
                <a:cs typeface="Symbol"/>
              </a:rPr>
              <a:t></a:t>
            </a:r>
            <a:r>
              <a:rPr dirty="0" sz="4200">
                <a:latin typeface="Times New Roman"/>
                <a:cs typeface="Times New Roman"/>
              </a:rPr>
              <a:t>	</a:t>
            </a:r>
            <a:r>
              <a:rPr dirty="0" sz="1650" spc="-50" i="1">
                <a:latin typeface="Times New Roman"/>
                <a:cs typeface="Times New Roman"/>
              </a:rPr>
              <a:t>i</a:t>
            </a:r>
            <a:r>
              <a:rPr dirty="0" sz="1650" i="1">
                <a:latin typeface="Times New Roman"/>
                <a:cs typeface="Times New Roman"/>
              </a:rPr>
              <a:t>	</a:t>
            </a:r>
            <a:r>
              <a:rPr dirty="0" sz="1650" spc="-60" i="1">
                <a:latin typeface="Times New Roman"/>
                <a:cs typeface="Times New Roman"/>
              </a:rPr>
              <a:t>j</a:t>
            </a:r>
            <a:r>
              <a:rPr dirty="0" sz="1650" i="1">
                <a:latin typeface="Times New Roman"/>
                <a:cs typeface="Times New Roman"/>
              </a:rPr>
              <a:t>	</a:t>
            </a:r>
            <a:r>
              <a:rPr dirty="0" sz="1650" spc="-50" i="1">
                <a:latin typeface="Times New Roman"/>
                <a:cs typeface="Times New Roman"/>
              </a:rPr>
              <a:t>k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174473" y="3968526"/>
            <a:ext cx="11557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14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9774" y="3968526"/>
            <a:ext cx="11557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114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04006" y="3718474"/>
            <a:ext cx="31369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85" i="1">
                <a:latin typeface="Times New Roman"/>
                <a:cs typeface="Times New Roman"/>
              </a:rPr>
              <a:t>n</a:t>
            </a:r>
            <a:r>
              <a:rPr dirty="0" sz="1650" spc="-85">
                <a:latin typeface="Symbol"/>
                <a:cs typeface="Symbol"/>
              </a:rPr>
              <a:t></a:t>
            </a:r>
            <a:r>
              <a:rPr dirty="0" sz="1650" spc="-85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86239" y="3729816"/>
            <a:ext cx="255587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5620" algn="l"/>
                <a:tab pos="1194435" algn="l"/>
                <a:tab pos="2480310" algn="l"/>
              </a:tabLst>
            </a:pPr>
            <a:r>
              <a:rPr dirty="0" sz="2800">
                <a:latin typeface="Times New Roman"/>
                <a:cs typeface="Times New Roman"/>
              </a:rPr>
              <a:t>|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0" i="1">
                <a:latin typeface="Times New Roman"/>
                <a:cs typeface="Times New Roman"/>
              </a:rPr>
              <a:t>A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 spc="-260">
                <a:latin typeface="MT Extra"/>
                <a:cs typeface="MT Extra"/>
              </a:rPr>
              <a:t>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-50" i="1">
                <a:latin typeface="Times New Roman"/>
                <a:cs typeface="Times New Roman"/>
              </a:rPr>
              <a:t>A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 spc="-260">
                <a:latin typeface="MT Extra"/>
                <a:cs typeface="MT Extra"/>
              </a:rPr>
              <a:t></a:t>
            </a:r>
            <a:r>
              <a:rPr dirty="0" sz="2800" spc="-385">
                <a:latin typeface="Times New Roman"/>
                <a:cs typeface="Times New Roman"/>
              </a:rPr>
              <a:t> </a:t>
            </a:r>
            <a:r>
              <a:rPr dirty="0" sz="2800" spc="-395">
                <a:latin typeface="MT Extra"/>
                <a:cs typeface="MT Extra"/>
              </a:rPr>
              <a:t></a:t>
            </a:r>
            <a:r>
              <a:rPr dirty="0" sz="2800" spc="-340">
                <a:latin typeface="Times New Roman"/>
                <a:cs typeface="Times New Roman"/>
              </a:rPr>
              <a:t> </a:t>
            </a:r>
            <a:r>
              <a:rPr dirty="0" sz="2800" spc="-260">
                <a:latin typeface="MT Extra"/>
                <a:cs typeface="MT Extra"/>
              </a:rPr>
              <a:t>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 spc="-50" i="1">
                <a:latin typeface="Times New Roman"/>
                <a:cs typeface="Times New Roman"/>
              </a:rPr>
              <a:t>A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 spc="-50">
                <a:latin typeface="Times New Roman"/>
                <a:cs typeface="Times New Roman"/>
              </a:rPr>
              <a:t>|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454807" y="3729816"/>
            <a:ext cx="3345179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0540" algn="l"/>
                <a:tab pos="1191260" algn="l"/>
                <a:tab pos="1880235" algn="l"/>
              </a:tabLst>
            </a:pPr>
            <a:r>
              <a:rPr dirty="0" sz="2800">
                <a:latin typeface="Times New Roman"/>
                <a:cs typeface="Times New Roman"/>
              </a:rPr>
              <a:t>|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0" i="1">
                <a:latin typeface="Times New Roman"/>
                <a:cs typeface="Times New Roman"/>
              </a:rPr>
              <a:t>A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 spc="-260">
                <a:latin typeface="MT Extra"/>
                <a:cs typeface="MT Extra"/>
              </a:rPr>
              <a:t>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-50" i="1">
                <a:latin typeface="Times New Roman"/>
                <a:cs typeface="Times New Roman"/>
              </a:rPr>
              <a:t>A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 spc="-260">
                <a:latin typeface="MT Extra"/>
                <a:cs typeface="MT Extra"/>
              </a:rPr>
              <a:t>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-50" i="1">
                <a:latin typeface="Times New Roman"/>
                <a:cs typeface="Times New Roman"/>
              </a:rPr>
              <a:t>A</a:t>
            </a:r>
            <a:r>
              <a:rPr dirty="0" sz="2800" i="1">
                <a:latin typeface="Times New Roman"/>
                <a:cs typeface="Times New Roman"/>
              </a:rPr>
              <a:t>	</a:t>
            </a:r>
            <a:r>
              <a:rPr dirty="0" sz="2800" spc="-85">
                <a:latin typeface="Times New Roman"/>
                <a:cs typeface="Times New Roman"/>
              </a:rPr>
              <a:t>|</a:t>
            </a:r>
            <a:r>
              <a:rPr dirty="0" sz="2800" spc="-114">
                <a:latin typeface="Times New Roman"/>
                <a:cs typeface="Times New Roman"/>
              </a:rPr>
              <a:t> </a:t>
            </a:r>
            <a:r>
              <a:rPr dirty="0" sz="2800" spc="-229">
                <a:latin typeface="Symbol"/>
                <a:cs typeface="Symbol"/>
              </a:rPr>
              <a:t></a:t>
            </a:r>
            <a:r>
              <a:rPr dirty="0" sz="2800" spc="-229">
                <a:latin typeface="MT Extra"/>
                <a:cs typeface="MT Extra"/>
              </a:rPr>
              <a:t></a:t>
            </a:r>
            <a:r>
              <a:rPr dirty="0" sz="2800" spc="-295">
                <a:latin typeface="Times New Roman"/>
                <a:cs typeface="Times New Roman"/>
              </a:rPr>
              <a:t> </a:t>
            </a:r>
            <a:r>
              <a:rPr dirty="0" sz="2800" spc="-225">
                <a:latin typeface="Symbol"/>
                <a:cs typeface="Symbol"/>
              </a:rPr>
              <a:t></a:t>
            </a:r>
            <a:r>
              <a:rPr dirty="0" sz="2800" spc="-140">
                <a:latin typeface="Times New Roman"/>
                <a:cs typeface="Times New Roman"/>
              </a:rPr>
              <a:t> (</a:t>
            </a:r>
            <a:r>
              <a:rPr dirty="0" sz="2800" spc="-140">
                <a:latin typeface="Symbol"/>
                <a:cs typeface="Symbol"/>
              </a:rPr>
              <a:t></a:t>
            </a:r>
            <a:r>
              <a:rPr dirty="0" sz="2800" spc="-140"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3063" y="471551"/>
            <a:ext cx="128778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5" b="0">
                <a:latin typeface="宋体"/>
                <a:cs typeface="宋体"/>
              </a:rPr>
              <a:t>例</a:t>
            </a:r>
            <a:r>
              <a:rPr dirty="0" spc="-25" b="0">
                <a:latin typeface="Calibri"/>
                <a:cs typeface="Calibri"/>
              </a:rPr>
              <a:t>1.1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148218"/>
            <a:ext cx="7906384" cy="1947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dirty="0" sz="2800" spc="-10">
                <a:latin typeface="宋体"/>
                <a:cs typeface="宋体"/>
              </a:rPr>
              <a:t>在</a:t>
            </a:r>
            <a:r>
              <a:rPr dirty="0" sz="2800">
                <a:latin typeface="Calibri"/>
                <a:cs typeface="Calibri"/>
              </a:rPr>
              <a:t>1</a:t>
            </a:r>
            <a:r>
              <a:rPr dirty="0" sz="2800">
                <a:latin typeface="宋体"/>
                <a:cs typeface="宋体"/>
              </a:rPr>
              <a:t>到</a:t>
            </a:r>
            <a:r>
              <a:rPr dirty="0" sz="2800">
                <a:latin typeface="Calibri"/>
                <a:cs typeface="Calibri"/>
              </a:rPr>
              <a:t>10000</a:t>
            </a:r>
            <a:r>
              <a:rPr dirty="0" sz="2800" spc="-10">
                <a:latin typeface="宋体"/>
                <a:cs typeface="宋体"/>
              </a:rPr>
              <a:t>之间既不是某个整数的平方，也不是某</a:t>
            </a:r>
            <a:r>
              <a:rPr dirty="0" sz="2800" spc="-15">
                <a:latin typeface="宋体"/>
                <a:cs typeface="宋体"/>
              </a:rPr>
              <a:t>个整数的立方的数有多少？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spc="-65">
                <a:latin typeface="宋体"/>
                <a:cs typeface="宋体"/>
              </a:rPr>
              <a:t>解设 </a:t>
            </a:r>
            <a:r>
              <a:rPr dirty="0" sz="2800" spc="-10">
                <a:latin typeface="Calibri"/>
                <a:cs typeface="Calibri"/>
              </a:rPr>
              <a:t>E={x</a:t>
            </a:r>
            <a:r>
              <a:rPr dirty="0" sz="2800" spc="-10">
                <a:latin typeface="Symbol"/>
                <a:cs typeface="Symbol"/>
              </a:rPr>
              <a:t></a:t>
            </a:r>
            <a:r>
              <a:rPr dirty="0" sz="2800" spc="-10">
                <a:latin typeface="Calibri"/>
                <a:cs typeface="Calibri"/>
              </a:rPr>
              <a:t>N|1</a:t>
            </a:r>
            <a:r>
              <a:rPr dirty="0" sz="2800" spc="-10">
                <a:latin typeface="Symbol"/>
                <a:cs typeface="Symbol"/>
              </a:rPr>
              <a:t></a:t>
            </a:r>
            <a:r>
              <a:rPr dirty="0" sz="2800" spc="-10">
                <a:latin typeface="Calibri"/>
                <a:cs typeface="Calibri"/>
              </a:rPr>
              <a:t>x</a:t>
            </a:r>
            <a:r>
              <a:rPr dirty="0" sz="2800" spc="-10">
                <a:latin typeface="Symbol"/>
                <a:cs typeface="Symbol"/>
              </a:rPr>
              <a:t></a:t>
            </a:r>
            <a:r>
              <a:rPr dirty="0" sz="2800" spc="-10">
                <a:latin typeface="Calibri"/>
                <a:cs typeface="Calibri"/>
              </a:rPr>
              <a:t>10000}</a:t>
            </a:r>
            <a:r>
              <a:rPr dirty="0" sz="2800" spc="-10">
                <a:latin typeface="宋体"/>
                <a:cs typeface="宋体"/>
              </a:rPr>
              <a:t>，</a:t>
            </a:r>
            <a:r>
              <a:rPr dirty="0" sz="2800" spc="-10">
                <a:latin typeface="Calibri"/>
                <a:cs typeface="Calibri"/>
              </a:rPr>
              <a:t>|E|=10000</a:t>
            </a:r>
            <a:r>
              <a:rPr dirty="0" sz="2800" spc="-1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3470" y="3070110"/>
            <a:ext cx="5476875" cy="19488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50200"/>
              </a:lnSpc>
              <a:spcBef>
                <a:spcPts val="100"/>
              </a:spcBef>
            </a:pPr>
            <a:r>
              <a:rPr dirty="0" sz="2800" spc="-10">
                <a:latin typeface="Calibri"/>
                <a:cs typeface="Calibri"/>
              </a:rPr>
              <a:t>A={x</a:t>
            </a:r>
            <a:r>
              <a:rPr dirty="0" sz="2800" spc="-10">
                <a:latin typeface="Symbol"/>
                <a:cs typeface="Symbol"/>
              </a:rPr>
              <a:t></a:t>
            </a:r>
            <a:r>
              <a:rPr dirty="0" sz="2800" spc="-10">
                <a:latin typeface="Calibri"/>
                <a:cs typeface="Calibri"/>
              </a:rPr>
              <a:t>E|x=k</a:t>
            </a:r>
            <a:r>
              <a:rPr dirty="0" baseline="25525" sz="2775" spc="-15">
                <a:latin typeface="Calibri"/>
                <a:cs typeface="Calibri"/>
              </a:rPr>
              <a:t>2</a:t>
            </a:r>
            <a:r>
              <a:rPr dirty="0" sz="2800" spc="-10">
                <a:latin typeface="Symbol"/>
                <a:cs typeface="Symbol"/>
              </a:rPr>
              <a:t></a:t>
            </a:r>
            <a:r>
              <a:rPr dirty="0" sz="2800" spc="-10">
                <a:latin typeface="Calibri"/>
                <a:cs typeface="Calibri"/>
              </a:rPr>
              <a:t>k</a:t>
            </a:r>
            <a:r>
              <a:rPr dirty="0" sz="2800" spc="-10">
                <a:latin typeface="Symbol"/>
                <a:cs typeface="Symbol"/>
              </a:rPr>
              <a:t></a:t>
            </a:r>
            <a:r>
              <a:rPr dirty="0" sz="2800" spc="-10">
                <a:latin typeface="Calibri"/>
                <a:cs typeface="Calibri"/>
              </a:rPr>
              <a:t>Z}</a:t>
            </a:r>
            <a:r>
              <a:rPr dirty="0" sz="2800" spc="-10">
                <a:latin typeface="宋体"/>
                <a:cs typeface="宋体"/>
              </a:rPr>
              <a:t>，</a:t>
            </a:r>
            <a:r>
              <a:rPr dirty="0" sz="2800" spc="-10">
                <a:latin typeface="Calibri"/>
                <a:cs typeface="Calibri"/>
              </a:rPr>
              <a:t>|A|=100</a:t>
            </a:r>
            <a:r>
              <a:rPr dirty="0" sz="2800" spc="-10">
                <a:latin typeface="宋体"/>
                <a:cs typeface="宋体"/>
              </a:rPr>
              <a:t>， </a:t>
            </a:r>
            <a:r>
              <a:rPr dirty="0" sz="2800" spc="-10">
                <a:latin typeface="Calibri"/>
                <a:cs typeface="Calibri"/>
              </a:rPr>
              <a:t>B={x</a:t>
            </a:r>
            <a:r>
              <a:rPr dirty="0" sz="2800" spc="-10">
                <a:latin typeface="Symbol"/>
                <a:cs typeface="Symbol"/>
              </a:rPr>
              <a:t></a:t>
            </a:r>
            <a:r>
              <a:rPr dirty="0" sz="2800" spc="-10">
                <a:latin typeface="Calibri"/>
                <a:cs typeface="Calibri"/>
              </a:rPr>
              <a:t>E|x=k</a:t>
            </a:r>
            <a:r>
              <a:rPr dirty="0" baseline="25525" sz="2775" spc="-15">
                <a:latin typeface="Calibri"/>
                <a:cs typeface="Calibri"/>
              </a:rPr>
              <a:t>3</a:t>
            </a:r>
            <a:r>
              <a:rPr dirty="0" sz="2800" spc="-10">
                <a:latin typeface="Symbol"/>
                <a:cs typeface="Symbol"/>
              </a:rPr>
              <a:t></a:t>
            </a:r>
            <a:r>
              <a:rPr dirty="0" sz="2800" spc="-10">
                <a:latin typeface="Calibri"/>
                <a:cs typeface="Calibri"/>
              </a:rPr>
              <a:t>k</a:t>
            </a:r>
            <a:r>
              <a:rPr dirty="0" sz="2800" spc="-10">
                <a:latin typeface="Symbol"/>
                <a:cs typeface="Symbol"/>
              </a:rPr>
              <a:t></a:t>
            </a:r>
            <a:r>
              <a:rPr dirty="0" sz="2800" spc="-10">
                <a:latin typeface="Calibri"/>
                <a:cs typeface="Calibri"/>
              </a:rPr>
              <a:t>Z}</a:t>
            </a:r>
            <a:r>
              <a:rPr dirty="0" sz="2800" spc="-10">
                <a:latin typeface="宋体"/>
                <a:cs typeface="宋体"/>
              </a:rPr>
              <a:t>，</a:t>
            </a:r>
            <a:r>
              <a:rPr dirty="0" sz="2800" spc="-10">
                <a:latin typeface="Calibri"/>
                <a:cs typeface="Calibri"/>
              </a:rPr>
              <a:t>|B|=21</a:t>
            </a:r>
            <a:r>
              <a:rPr dirty="0" sz="2800" spc="-10">
                <a:latin typeface="宋体"/>
                <a:cs typeface="宋体"/>
              </a:rPr>
              <a:t>，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>
                <a:latin typeface="Symbol"/>
                <a:cs typeface="Symbol"/>
              </a:rPr>
              <a:t></a:t>
            </a:r>
            <a:r>
              <a:rPr dirty="0" sz="2800">
                <a:latin typeface="Calibri"/>
                <a:cs typeface="Calibri"/>
              </a:rPr>
              <a:t>B=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{x</a:t>
            </a:r>
            <a:r>
              <a:rPr dirty="0" sz="2800" spc="-10">
                <a:latin typeface="Symbol"/>
                <a:cs typeface="Symbol"/>
              </a:rPr>
              <a:t></a:t>
            </a:r>
            <a:r>
              <a:rPr dirty="0" sz="2800" spc="-10">
                <a:latin typeface="Calibri"/>
                <a:cs typeface="Calibri"/>
              </a:rPr>
              <a:t>E|x=k</a:t>
            </a:r>
            <a:r>
              <a:rPr dirty="0" baseline="25525" sz="2775" spc="-15">
                <a:latin typeface="Calibri"/>
                <a:cs typeface="Calibri"/>
              </a:rPr>
              <a:t>6</a:t>
            </a:r>
            <a:r>
              <a:rPr dirty="0" sz="2800" spc="-10">
                <a:latin typeface="Symbol"/>
                <a:cs typeface="Symbol"/>
              </a:rPr>
              <a:t></a:t>
            </a:r>
            <a:r>
              <a:rPr dirty="0" sz="2800" spc="-10">
                <a:latin typeface="Calibri"/>
                <a:cs typeface="Calibri"/>
              </a:rPr>
              <a:t>k</a:t>
            </a:r>
            <a:r>
              <a:rPr dirty="0" sz="2800" spc="-10">
                <a:latin typeface="Symbol"/>
                <a:cs typeface="Symbol"/>
              </a:rPr>
              <a:t></a:t>
            </a:r>
            <a:r>
              <a:rPr dirty="0" sz="2800" spc="-10">
                <a:latin typeface="Calibri"/>
                <a:cs typeface="Calibri"/>
              </a:rPr>
              <a:t>Z}</a:t>
            </a:r>
            <a:r>
              <a:rPr dirty="0" sz="2800" spc="-10">
                <a:latin typeface="宋体"/>
                <a:cs typeface="宋体"/>
              </a:rPr>
              <a:t>，</a:t>
            </a:r>
            <a:r>
              <a:rPr dirty="0" sz="2800" spc="-10">
                <a:latin typeface="Calibri"/>
                <a:cs typeface="Calibri"/>
              </a:rPr>
              <a:t>|A</a:t>
            </a:r>
            <a:r>
              <a:rPr dirty="0" sz="2800" spc="-10">
                <a:latin typeface="Symbol"/>
                <a:cs typeface="Symbol"/>
              </a:rPr>
              <a:t></a:t>
            </a:r>
            <a:r>
              <a:rPr dirty="0" sz="2800" spc="-10">
                <a:latin typeface="Calibri"/>
                <a:cs typeface="Calibri"/>
              </a:rPr>
              <a:t>B|=4</a:t>
            </a:r>
            <a:r>
              <a:rPr dirty="0" sz="2800" spc="-1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8870" y="4992941"/>
            <a:ext cx="7082155" cy="1308100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800" spc="645">
                <a:latin typeface="宋体"/>
                <a:cs typeface="宋体"/>
              </a:rPr>
              <a:t>则</a:t>
            </a:r>
            <a:r>
              <a:rPr dirty="0" sz="2800" spc="-10">
                <a:latin typeface="Calibri"/>
                <a:cs typeface="Calibri"/>
              </a:rPr>
              <a:t>|~(A</a:t>
            </a:r>
            <a:r>
              <a:rPr dirty="0" sz="2800" spc="-10">
                <a:latin typeface="Symbol"/>
                <a:cs typeface="Symbol"/>
              </a:rPr>
              <a:t></a:t>
            </a:r>
            <a:r>
              <a:rPr dirty="0" sz="2800" spc="-10">
                <a:latin typeface="Calibri"/>
                <a:cs typeface="Calibri"/>
              </a:rPr>
              <a:t>B)|=|E|-</a:t>
            </a:r>
            <a:r>
              <a:rPr dirty="0" sz="2800">
                <a:latin typeface="Calibri"/>
                <a:cs typeface="Calibri"/>
              </a:rPr>
              <a:t>|A</a:t>
            </a:r>
            <a:r>
              <a:rPr dirty="0" sz="2800">
                <a:latin typeface="Symbol"/>
                <a:cs typeface="Symbol"/>
              </a:rPr>
              <a:t></a:t>
            </a:r>
            <a:r>
              <a:rPr dirty="0" sz="2800">
                <a:latin typeface="Calibri"/>
                <a:cs typeface="Calibri"/>
              </a:rPr>
              <a:t>B|</a:t>
            </a:r>
            <a:r>
              <a:rPr dirty="0" sz="2800" spc="25">
                <a:latin typeface="Calibri"/>
                <a:cs typeface="Calibri"/>
              </a:rPr>
              <a:t> =</a:t>
            </a:r>
            <a:r>
              <a:rPr dirty="0" sz="2800" spc="-10">
                <a:latin typeface="Calibri"/>
                <a:cs typeface="Calibri"/>
              </a:rPr>
              <a:t>|E|-(|A|+|B|-|A</a:t>
            </a:r>
            <a:r>
              <a:rPr dirty="0" sz="2800" spc="-10">
                <a:latin typeface="Symbol"/>
                <a:cs typeface="Symbol"/>
              </a:rPr>
              <a:t></a:t>
            </a:r>
            <a:r>
              <a:rPr dirty="0" sz="2800" spc="-10">
                <a:latin typeface="Calibri"/>
                <a:cs typeface="Calibri"/>
              </a:rPr>
              <a:t>B|)</a:t>
            </a:r>
            <a:endParaRPr sz="2800">
              <a:latin typeface="Calibri"/>
              <a:cs typeface="Calibri"/>
            </a:endParaRPr>
          </a:p>
          <a:p>
            <a:pPr marL="278130">
              <a:lnSpc>
                <a:spcPct val="100000"/>
              </a:lnSpc>
              <a:spcBef>
                <a:spcPts val="1685"/>
              </a:spcBef>
            </a:pPr>
            <a:r>
              <a:rPr dirty="0" sz="2800">
                <a:latin typeface="Calibri"/>
                <a:cs typeface="Calibri"/>
              </a:rPr>
              <a:t>=10000-100-21+4=9883</a:t>
            </a:r>
            <a:r>
              <a:rPr dirty="0" sz="2800" spc="-10">
                <a:latin typeface="宋体"/>
                <a:cs typeface="宋体"/>
              </a:rPr>
              <a:t>。</a:t>
            </a:r>
            <a:r>
              <a:rPr dirty="0" sz="2800" spc="-50">
                <a:latin typeface="Symbol"/>
                <a:cs typeface="Symbol"/>
              </a:rPr>
              <a:t>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02169" y="4526216"/>
            <a:ext cx="508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A</a:t>
            </a:r>
            <a:r>
              <a:rPr dirty="0" sz="1800" spc="-25">
                <a:latin typeface="Symbol"/>
                <a:cs typeface="Symbol"/>
              </a:rPr>
              <a:t></a:t>
            </a:r>
            <a:r>
              <a:rPr dirty="0" sz="1800" spc="-25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812280" y="3657600"/>
            <a:ext cx="1143000" cy="685800"/>
          </a:xfrm>
          <a:custGeom>
            <a:avLst/>
            <a:gdLst/>
            <a:ahLst/>
            <a:cxnLst/>
            <a:rect l="l" t="t" r="r" b="b"/>
            <a:pathLst>
              <a:path w="1143000" h="685800">
                <a:moveTo>
                  <a:pt x="0" y="342900"/>
                </a:moveTo>
                <a:lnTo>
                  <a:pt x="3506" y="296375"/>
                </a:lnTo>
                <a:lnTo>
                  <a:pt x="13719" y="251751"/>
                </a:lnTo>
                <a:lnTo>
                  <a:pt x="30182" y="209436"/>
                </a:lnTo>
                <a:lnTo>
                  <a:pt x="52436" y="169841"/>
                </a:lnTo>
                <a:lnTo>
                  <a:pt x="80025" y="133373"/>
                </a:lnTo>
                <a:lnTo>
                  <a:pt x="112490" y="100441"/>
                </a:lnTo>
                <a:lnTo>
                  <a:pt x="149373" y="71454"/>
                </a:lnTo>
                <a:lnTo>
                  <a:pt x="190217" y="46820"/>
                </a:lnTo>
                <a:lnTo>
                  <a:pt x="234565" y="26949"/>
                </a:lnTo>
                <a:lnTo>
                  <a:pt x="281957" y="12250"/>
                </a:lnTo>
                <a:lnTo>
                  <a:pt x="331937" y="3130"/>
                </a:lnTo>
                <a:lnTo>
                  <a:pt x="384048" y="0"/>
                </a:lnTo>
                <a:lnTo>
                  <a:pt x="436158" y="3130"/>
                </a:lnTo>
                <a:lnTo>
                  <a:pt x="486138" y="12250"/>
                </a:lnTo>
                <a:lnTo>
                  <a:pt x="533530" y="26949"/>
                </a:lnTo>
                <a:lnTo>
                  <a:pt x="577878" y="46820"/>
                </a:lnTo>
                <a:lnTo>
                  <a:pt x="618722" y="71454"/>
                </a:lnTo>
                <a:lnTo>
                  <a:pt x="655605" y="100441"/>
                </a:lnTo>
                <a:lnTo>
                  <a:pt x="688070" y="133373"/>
                </a:lnTo>
                <a:lnTo>
                  <a:pt x="715659" y="169841"/>
                </a:lnTo>
                <a:lnTo>
                  <a:pt x="737913" y="209436"/>
                </a:lnTo>
                <a:lnTo>
                  <a:pt x="754376" y="251751"/>
                </a:lnTo>
                <a:lnTo>
                  <a:pt x="764589" y="296375"/>
                </a:lnTo>
                <a:lnTo>
                  <a:pt x="768096" y="342900"/>
                </a:lnTo>
                <a:lnTo>
                  <a:pt x="764589" y="389424"/>
                </a:lnTo>
                <a:lnTo>
                  <a:pt x="754376" y="434048"/>
                </a:lnTo>
                <a:lnTo>
                  <a:pt x="737913" y="476363"/>
                </a:lnTo>
                <a:lnTo>
                  <a:pt x="715659" y="515958"/>
                </a:lnTo>
                <a:lnTo>
                  <a:pt x="688070" y="552426"/>
                </a:lnTo>
                <a:lnTo>
                  <a:pt x="655605" y="585358"/>
                </a:lnTo>
                <a:lnTo>
                  <a:pt x="618722" y="614345"/>
                </a:lnTo>
                <a:lnTo>
                  <a:pt x="577878" y="638979"/>
                </a:lnTo>
                <a:lnTo>
                  <a:pt x="533530" y="658850"/>
                </a:lnTo>
                <a:lnTo>
                  <a:pt x="486138" y="673549"/>
                </a:lnTo>
                <a:lnTo>
                  <a:pt x="436158" y="682669"/>
                </a:lnTo>
                <a:lnTo>
                  <a:pt x="384048" y="685800"/>
                </a:lnTo>
                <a:lnTo>
                  <a:pt x="331937" y="682669"/>
                </a:lnTo>
                <a:lnTo>
                  <a:pt x="281957" y="673549"/>
                </a:lnTo>
                <a:lnTo>
                  <a:pt x="234565" y="658850"/>
                </a:lnTo>
                <a:lnTo>
                  <a:pt x="190217" y="638979"/>
                </a:lnTo>
                <a:lnTo>
                  <a:pt x="149373" y="614345"/>
                </a:lnTo>
                <a:lnTo>
                  <a:pt x="112490" y="585358"/>
                </a:lnTo>
                <a:lnTo>
                  <a:pt x="80025" y="552426"/>
                </a:lnTo>
                <a:lnTo>
                  <a:pt x="52436" y="515958"/>
                </a:lnTo>
                <a:lnTo>
                  <a:pt x="30182" y="476363"/>
                </a:lnTo>
                <a:lnTo>
                  <a:pt x="13719" y="434048"/>
                </a:lnTo>
                <a:lnTo>
                  <a:pt x="3506" y="389424"/>
                </a:lnTo>
                <a:lnTo>
                  <a:pt x="0" y="342900"/>
                </a:lnTo>
                <a:close/>
              </a:path>
              <a:path w="1143000" h="685800">
                <a:moveTo>
                  <a:pt x="384048" y="342900"/>
                </a:moveTo>
                <a:lnTo>
                  <a:pt x="387512" y="296375"/>
                </a:lnTo>
                <a:lnTo>
                  <a:pt x="397605" y="251751"/>
                </a:lnTo>
                <a:lnTo>
                  <a:pt x="413873" y="209436"/>
                </a:lnTo>
                <a:lnTo>
                  <a:pt x="435864" y="169841"/>
                </a:lnTo>
                <a:lnTo>
                  <a:pt x="463125" y="133373"/>
                </a:lnTo>
                <a:lnTo>
                  <a:pt x="495204" y="100441"/>
                </a:lnTo>
                <a:lnTo>
                  <a:pt x="531649" y="71454"/>
                </a:lnTo>
                <a:lnTo>
                  <a:pt x="572008" y="46820"/>
                </a:lnTo>
                <a:lnTo>
                  <a:pt x="615826" y="26949"/>
                </a:lnTo>
                <a:lnTo>
                  <a:pt x="662654" y="12250"/>
                </a:lnTo>
                <a:lnTo>
                  <a:pt x="712037" y="3130"/>
                </a:lnTo>
                <a:lnTo>
                  <a:pt x="763524" y="0"/>
                </a:lnTo>
                <a:lnTo>
                  <a:pt x="815010" y="3130"/>
                </a:lnTo>
                <a:lnTo>
                  <a:pt x="864393" y="12250"/>
                </a:lnTo>
                <a:lnTo>
                  <a:pt x="911221" y="26949"/>
                </a:lnTo>
                <a:lnTo>
                  <a:pt x="955040" y="46820"/>
                </a:lnTo>
                <a:lnTo>
                  <a:pt x="995398" y="71454"/>
                </a:lnTo>
                <a:lnTo>
                  <a:pt x="1031843" y="100441"/>
                </a:lnTo>
                <a:lnTo>
                  <a:pt x="1063922" y="133373"/>
                </a:lnTo>
                <a:lnTo>
                  <a:pt x="1091184" y="169841"/>
                </a:lnTo>
                <a:lnTo>
                  <a:pt x="1113174" y="209436"/>
                </a:lnTo>
                <a:lnTo>
                  <a:pt x="1129442" y="251751"/>
                </a:lnTo>
                <a:lnTo>
                  <a:pt x="1139535" y="296375"/>
                </a:lnTo>
                <a:lnTo>
                  <a:pt x="1143000" y="342900"/>
                </a:lnTo>
                <a:lnTo>
                  <a:pt x="1139535" y="389424"/>
                </a:lnTo>
                <a:lnTo>
                  <a:pt x="1129442" y="434048"/>
                </a:lnTo>
                <a:lnTo>
                  <a:pt x="1113174" y="476363"/>
                </a:lnTo>
                <a:lnTo>
                  <a:pt x="1091183" y="515958"/>
                </a:lnTo>
                <a:lnTo>
                  <a:pt x="1063922" y="552426"/>
                </a:lnTo>
                <a:lnTo>
                  <a:pt x="1031843" y="585358"/>
                </a:lnTo>
                <a:lnTo>
                  <a:pt x="995398" y="614345"/>
                </a:lnTo>
                <a:lnTo>
                  <a:pt x="955039" y="638979"/>
                </a:lnTo>
                <a:lnTo>
                  <a:pt x="911221" y="658850"/>
                </a:lnTo>
                <a:lnTo>
                  <a:pt x="864393" y="673549"/>
                </a:lnTo>
                <a:lnTo>
                  <a:pt x="815010" y="682669"/>
                </a:lnTo>
                <a:lnTo>
                  <a:pt x="763524" y="685800"/>
                </a:lnTo>
                <a:lnTo>
                  <a:pt x="712037" y="682669"/>
                </a:lnTo>
                <a:lnTo>
                  <a:pt x="662654" y="673549"/>
                </a:lnTo>
                <a:lnTo>
                  <a:pt x="615826" y="658850"/>
                </a:lnTo>
                <a:lnTo>
                  <a:pt x="572007" y="638979"/>
                </a:lnTo>
                <a:lnTo>
                  <a:pt x="531649" y="614345"/>
                </a:lnTo>
                <a:lnTo>
                  <a:pt x="495204" y="585358"/>
                </a:lnTo>
                <a:lnTo>
                  <a:pt x="463125" y="552426"/>
                </a:lnTo>
                <a:lnTo>
                  <a:pt x="435863" y="515958"/>
                </a:lnTo>
                <a:lnTo>
                  <a:pt x="413873" y="476363"/>
                </a:lnTo>
                <a:lnTo>
                  <a:pt x="397605" y="434048"/>
                </a:lnTo>
                <a:lnTo>
                  <a:pt x="387512" y="389424"/>
                </a:lnTo>
                <a:lnTo>
                  <a:pt x="384048" y="342900"/>
                </a:lnTo>
                <a:close/>
              </a:path>
              <a:path w="1143000" h="685800">
                <a:moveTo>
                  <a:pt x="0" y="301751"/>
                </a:moveTo>
                <a:lnTo>
                  <a:pt x="768096" y="301751"/>
                </a:lnTo>
              </a:path>
              <a:path w="1143000" h="685800">
                <a:moveTo>
                  <a:pt x="82296" y="155448"/>
                </a:moveTo>
                <a:lnTo>
                  <a:pt x="685800" y="155448"/>
                </a:lnTo>
              </a:path>
              <a:path w="1143000" h="685800">
                <a:moveTo>
                  <a:pt x="155448" y="612648"/>
                </a:moveTo>
                <a:lnTo>
                  <a:pt x="539496" y="612648"/>
                </a:lnTo>
              </a:path>
              <a:path w="1143000" h="685800">
                <a:moveTo>
                  <a:pt x="685800" y="612648"/>
                </a:moveTo>
                <a:lnTo>
                  <a:pt x="996696" y="612648"/>
                </a:lnTo>
              </a:path>
              <a:path w="1143000" h="685800">
                <a:moveTo>
                  <a:pt x="768096" y="301751"/>
                </a:moveTo>
                <a:lnTo>
                  <a:pt x="1143000" y="301751"/>
                </a:lnTo>
              </a:path>
              <a:path w="1143000" h="685800">
                <a:moveTo>
                  <a:pt x="685800" y="155448"/>
                </a:moveTo>
                <a:lnTo>
                  <a:pt x="1069848" y="155448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583680" y="3429000"/>
            <a:ext cx="1600200" cy="1069975"/>
          </a:xfrm>
          <a:prstGeom prst="rect">
            <a:avLst/>
          </a:prstGeom>
          <a:ln w="36576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30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tabLst>
                <a:tab pos="1090295" algn="l"/>
                <a:tab pos="1370965" algn="l"/>
              </a:tabLst>
            </a:pPr>
            <a:r>
              <a:rPr dirty="0" u="heavy" sz="1800" spc="4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heavy" sz="180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8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heavy" baseline="-6172" sz="2700" spc="-75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dirty="0" u="heavy" baseline="-6172" sz="27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baseline="-6172" sz="2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18159">
              <a:lnSpc>
                <a:spcPct val="100000"/>
              </a:lnSpc>
              <a:spcBef>
                <a:spcPts val="95"/>
              </a:spcBef>
            </a:pPr>
            <a:r>
              <a:rPr dirty="0"/>
              <a:t>例</a:t>
            </a:r>
            <a:r>
              <a:rPr dirty="0" spc="-25">
                <a:latin typeface="Calibri"/>
                <a:cs typeface="Calibri"/>
              </a:rPr>
              <a:t>1.2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292047"/>
            <a:ext cx="8427085" cy="4512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35609">
              <a:lnSpc>
                <a:spcPct val="150200"/>
              </a:lnSpc>
              <a:spcBef>
                <a:spcPts val="95"/>
              </a:spcBef>
            </a:pPr>
            <a:r>
              <a:rPr dirty="0" sz="2800" spc="65" b="1">
                <a:latin typeface="微软雅黑"/>
                <a:cs typeface="微软雅黑"/>
              </a:rPr>
              <a:t>在</a:t>
            </a:r>
            <a:r>
              <a:rPr dirty="0" sz="2800" b="1">
                <a:latin typeface="Calibri"/>
                <a:cs typeface="Calibri"/>
              </a:rPr>
              <a:t>24</a:t>
            </a:r>
            <a:r>
              <a:rPr dirty="0" sz="2800" spc="-15" b="1">
                <a:latin typeface="微软雅黑"/>
                <a:cs typeface="微软雅黑"/>
              </a:rPr>
              <a:t>名科技人员中，会说英、日、德、法语的人数</a:t>
            </a:r>
            <a:r>
              <a:rPr dirty="0" sz="2800" spc="65" b="1">
                <a:latin typeface="微软雅黑"/>
                <a:cs typeface="微软雅黑"/>
              </a:rPr>
              <a:t>分别为</a:t>
            </a:r>
            <a:r>
              <a:rPr dirty="0" sz="2800" b="1">
                <a:latin typeface="Calibri"/>
                <a:cs typeface="Calibri"/>
              </a:rPr>
              <a:t>13</a:t>
            </a:r>
            <a:r>
              <a:rPr dirty="0" sz="2800" spc="430" b="1">
                <a:latin typeface="微软雅黑"/>
                <a:cs typeface="微软雅黑"/>
              </a:rPr>
              <a:t>、</a:t>
            </a:r>
            <a:r>
              <a:rPr dirty="0" sz="2800" b="1">
                <a:latin typeface="Calibri"/>
                <a:cs typeface="Calibri"/>
              </a:rPr>
              <a:t>5</a:t>
            </a:r>
            <a:r>
              <a:rPr dirty="0" sz="2800" spc="-114" b="1">
                <a:latin typeface="微软雅黑"/>
                <a:cs typeface="微软雅黑"/>
              </a:rPr>
              <a:t>、 </a:t>
            </a:r>
            <a:r>
              <a:rPr dirty="0" sz="2800" b="1">
                <a:latin typeface="Calibri"/>
                <a:cs typeface="Calibri"/>
              </a:rPr>
              <a:t>10</a:t>
            </a:r>
            <a:r>
              <a:rPr dirty="0" sz="2800" spc="65" b="1">
                <a:latin typeface="微软雅黑"/>
                <a:cs typeface="微软雅黑"/>
              </a:rPr>
              <a:t>、和</a:t>
            </a:r>
            <a:r>
              <a:rPr dirty="0" sz="2800" b="1">
                <a:latin typeface="Calibri"/>
                <a:cs typeface="Calibri"/>
              </a:rPr>
              <a:t>9</a:t>
            </a:r>
            <a:r>
              <a:rPr dirty="0" sz="2800" spc="-30" b="1">
                <a:latin typeface="微软雅黑"/>
                <a:cs typeface="微软雅黑"/>
              </a:rPr>
              <a:t>， 其中同时会说英语、日</a:t>
            </a:r>
            <a:r>
              <a:rPr dirty="0" sz="2800" spc="40" b="1">
                <a:latin typeface="微软雅黑"/>
                <a:cs typeface="微软雅黑"/>
              </a:rPr>
              <a:t>语的人数为</a:t>
            </a:r>
            <a:r>
              <a:rPr dirty="0" sz="2800" b="1">
                <a:latin typeface="Calibri"/>
                <a:cs typeface="Calibri"/>
              </a:rPr>
              <a:t>2</a:t>
            </a:r>
            <a:r>
              <a:rPr dirty="0" sz="2800" spc="-25" b="1">
                <a:latin typeface="微软雅黑"/>
                <a:cs typeface="微软雅黑"/>
              </a:rPr>
              <a:t>，同时会说英语、德语， 或同时会说</a:t>
            </a:r>
            <a:r>
              <a:rPr dirty="0" sz="2800" spc="-10" b="1">
                <a:latin typeface="微软雅黑"/>
                <a:cs typeface="微软雅黑"/>
              </a:rPr>
              <a:t>英语、法语， 或同时会说德语、法语两种语言的人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ts val="5050"/>
              </a:lnSpc>
              <a:spcBef>
                <a:spcPts val="445"/>
              </a:spcBef>
            </a:pPr>
            <a:r>
              <a:rPr dirty="0" sz="2800" spc="15" b="1">
                <a:latin typeface="微软雅黑"/>
                <a:cs typeface="微软雅黑"/>
              </a:rPr>
              <a:t>数均为</a:t>
            </a:r>
            <a:r>
              <a:rPr dirty="0" sz="2800" spc="-55" b="1">
                <a:latin typeface="Calibri"/>
                <a:cs typeface="Calibri"/>
              </a:rPr>
              <a:t>4</a:t>
            </a:r>
            <a:r>
              <a:rPr dirty="0" sz="2800" spc="-15" b="1">
                <a:latin typeface="微软雅黑"/>
                <a:cs typeface="微软雅黑"/>
              </a:rPr>
              <a:t>。会说日语的人既不会说法语也不会说德语。</a:t>
            </a:r>
            <a:r>
              <a:rPr dirty="0" sz="2800" spc="-15" b="1">
                <a:latin typeface="微软雅黑"/>
                <a:cs typeface="微软雅黑"/>
              </a:rPr>
              <a:t>试求只会说一种语言的人数各为多少？又同时会说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2800" spc="5" b="1">
                <a:latin typeface="微软雅黑"/>
                <a:cs typeface="微软雅黑"/>
              </a:rPr>
              <a:t>英、德、法语的人数有多少？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071" y="471551"/>
            <a:ext cx="11601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解</a:t>
            </a:r>
            <a:r>
              <a:rPr dirty="0" spc="-50"/>
              <a:t>答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836422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65" b="1">
                <a:latin typeface="微软雅黑"/>
                <a:cs typeface="微软雅黑"/>
              </a:rPr>
              <a:t>设</a:t>
            </a:r>
            <a:r>
              <a:rPr dirty="0" sz="2800" spc="-50" b="1">
                <a:latin typeface="Calibri"/>
                <a:cs typeface="Calibri"/>
              </a:rPr>
              <a:t>A</a:t>
            </a:r>
            <a:r>
              <a:rPr dirty="0" sz="2800" spc="65" b="1">
                <a:latin typeface="微软雅黑"/>
                <a:cs typeface="微软雅黑"/>
              </a:rPr>
              <a:t>、</a:t>
            </a:r>
            <a:r>
              <a:rPr dirty="0" sz="2800" spc="-65" b="1">
                <a:latin typeface="Calibri"/>
                <a:cs typeface="Calibri"/>
              </a:rPr>
              <a:t>B</a:t>
            </a:r>
            <a:r>
              <a:rPr dirty="0" sz="2800" spc="-10" b="1">
                <a:latin typeface="微软雅黑"/>
                <a:cs typeface="微软雅黑"/>
              </a:rPr>
              <a:t>、</a:t>
            </a:r>
            <a:r>
              <a:rPr dirty="0" sz="2800" spc="-50" b="1">
                <a:latin typeface="Calibri"/>
                <a:cs typeface="Calibri"/>
              </a:rPr>
              <a:t>C</a:t>
            </a:r>
            <a:r>
              <a:rPr dirty="0" sz="2800" spc="70" b="1">
                <a:latin typeface="微软雅黑"/>
                <a:cs typeface="微软雅黑"/>
              </a:rPr>
              <a:t>、</a:t>
            </a:r>
            <a:r>
              <a:rPr dirty="0" sz="2800" spc="-45" b="1">
                <a:latin typeface="Calibri"/>
                <a:cs typeface="Calibri"/>
              </a:rPr>
              <a:t>D</a:t>
            </a:r>
            <a:r>
              <a:rPr dirty="0" sz="2800" spc="-20" b="1">
                <a:latin typeface="微软雅黑"/>
                <a:cs typeface="微软雅黑"/>
              </a:rPr>
              <a:t>分别为会说英、日、德、法语的集合。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2192159"/>
            <a:ext cx="5617845" cy="1948180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800" spc="20" b="1">
                <a:latin typeface="微软雅黑"/>
                <a:cs typeface="微软雅黑"/>
              </a:rPr>
              <a:t>由已知条件可知，</a:t>
            </a:r>
            <a:r>
              <a:rPr dirty="0" sz="2800" spc="-10" b="1">
                <a:latin typeface="Calibri"/>
                <a:cs typeface="Calibri"/>
              </a:rPr>
              <a:t>|A|=13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-10" b="1">
                <a:latin typeface="Calibri"/>
                <a:cs typeface="Calibri"/>
              </a:rPr>
              <a:t>|B|=5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  <a:p>
            <a:pPr marL="12700" marR="920115">
              <a:lnSpc>
                <a:spcPct val="150100"/>
              </a:lnSpc>
            </a:pPr>
            <a:r>
              <a:rPr dirty="0" sz="2800" b="1">
                <a:latin typeface="Calibri"/>
                <a:cs typeface="Calibri"/>
              </a:rPr>
              <a:t>|C|=10</a:t>
            </a:r>
            <a:r>
              <a:rPr dirty="0" sz="2800" b="1">
                <a:latin typeface="微软雅黑"/>
                <a:cs typeface="微软雅黑"/>
              </a:rPr>
              <a:t>，</a:t>
            </a:r>
            <a:r>
              <a:rPr dirty="0" sz="2800" b="1">
                <a:latin typeface="Calibri"/>
                <a:cs typeface="Calibri"/>
              </a:rPr>
              <a:t>|D|=9</a:t>
            </a:r>
            <a:r>
              <a:rPr dirty="0" sz="2800" spc="-130" b="1">
                <a:latin typeface="微软雅黑"/>
                <a:cs typeface="微软雅黑"/>
              </a:rPr>
              <a:t>， </a:t>
            </a:r>
            <a:r>
              <a:rPr dirty="0" sz="2800" spc="-10" b="1">
                <a:latin typeface="Calibri"/>
                <a:cs typeface="Calibri"/>
              </a:rPr>
              <a:t>|A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B|=2</a:t>
            </a:r>
            <a:r>
              <a:rPr dirty="0" sz="2800" spc="-10" b="1">
                <a:latin typeface="微软雅黑"/>
                <a:cs typeface="微软雅黑"/>
              </a:rPr>
              <a:t>，</a:t>
            </a:r>
            <a:r>
              <a:rPr dirty="0" sz="2800" spc="645" b="1">
                <a:latin typeface="微软雅黑"/>
                <a:cs typeface="微软雅黑"/>
              </a:rPr>
              <a:t>而</a:t>
            </a:r>
            <a:r>
              <a:rPr dirty="0" sz="2800" b="1">
                <a:latin typeface="Calibri"/>
                <a:cs typeface="Calibri"/>
              </a:rPr>
              <a:t>|A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C|=|A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D|=|C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D|=4</a:t>
            </a:r>
            <a:r>
              <a:rPr dirty="0" sz="2800" spc="-185" b="1">
                <a:latin typeface="Calibri"/>
                <a:cs typeface="Calibri"/>
              </a:rPr>
              <a:t> </a:t>
            </a:r>
            <a:r>
              <a:rPr dirty="0" sz="2800" spc="-50" b="1">
                <a:latin typeface="微软雅黑"/>
                <a:cs typeface="微软雅黑"/>
              </a:rPr>
              <a:t>，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4114496"/>
            <a:ext cx="5855970" cy="1308100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800" spc="-10" b="1">
                <a:latin typeface="Calibri"/>
                <a:cs typeface="Calibri"/>
              </a:rPr>
              <a:t>|B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C|=|B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D|=|A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C|=|A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B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D|=</a:t>
            </a:r>
            <a:endParaRPr sz="2800">
              <a:latin typeface="Calibri"/>
              <a:cs typeface="Calibri"/>
            </a:endParaRPr>
          </a:p>
          <a:p>
            <a:pPr marL="94615">
              <a:lnSpc>
                <a:spcPct val="100000"/>
              </a:lnSpc>
              <a:spcBef>
                <a:spcPts val="1689"/>
              </a:spcBef>
            </a:pPr>
            <a:r>
              <a:rPr dirty="0" sz="2800" b="1">
                <a:latin typeface="Calibri"/>
                <a:cs typeface="Calibri"/>
              </a:rPr>
              <a:t>|A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D|=0</a:t>
            </a:r>
            <a:r>
              <a:rPr dirty="0" sz="2800" spc="-145" b="1">
                <a:latin typeface="微软雅黑"/>
                <a:cs typeface="微软雅黑"/>
              </a:rPr>
              <a:t>， </a:t>
            </a:r>
            <a:r>
              <a:rPr dirty="0" sz="2800" b="1">
                <a:latin typeface="Calibri"/>
                <a:cs typeface="Calibri"/>
              </a:rPr>
              <a:t>|A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D|=24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50" b="1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318503" y="2496311"/>
            <a:ext cx="2212975" cy="1746885"/>
          </a:xfrm>
          <a:custGeom>
            <a:avLst/>
            <a:gdLst/>
            <a:ahLst/>
            <a:cxnLst/>
            <a:rect l="l" t="t" r="r" b="b"/>
            <a:pathLst>
              <a:path w="2212975" h="1746885">
                <a:moveTo>
                  <a:pt x="0" y="1746504"/>
                </a:moveTo>
                <a:lnTo>
                  <a:pt x="2212848" y="1746504"/>
                </a:lnTo>
                <a:lnTo>
                  <a:pt x="2212848" y="0"/>
                </a:lnTo>
                <a:lnTo>
                  <a:pt x="0" y="0"/>
                </a:lnTo>
                <a:lnTo>
                  <a:pt x="0" y="1746504"/>
                </a:lnTo>
                <a:close/>
              </a:path>
              <a:path w="2212975" h="1746885">
                <a:moveTo>
                  <a:pt x="82296" y="1138427"/>
                </a:moveTo>
                <a:lnTo>
                  <a:pt x="84394" y="1092276"/>
                </a:lnTo>
                <a:lnTo>
                  <a:pt x="90573" y="1047214"/>
                </a:lnTo>
                <a:lnTo>
                  <a:pt x="100663" y="1003403"/>
                </a:lnTo>
                <a:lnTo>
                  <a:pt x="114491" y="961001"/>
                </a:lnTo>
                <a:lnTo>
                  <a:pt x="131885" y="920172"/>
                </a:lnTo>
                <a:lnTo>
                  <a:pt x="152675" y="881074"/>
                </a:lnTo>
                <a:lnTo>
                  <a:pt x="176688" y="843868"/>
                </a:lnTo>
                <a:lnTo>
                  <a:pt x="203753" y="808716"/>
                </a:lnTo>
                <a:lnTo>
                  <a:pt x="233698" y="775778"/>
                </a:lnTo>
                <a:lnTo>
                  <a:pt x="266352" y="745215"/>
                </a:lnTo>
                <a:lnTo>
                  <a:pt x="301542" y="717186"/>
                </a:lnTo>
                <a:lnTo>
                  <a:pt x="339098" y="691854"/>
                </a:lnTo>
                <a:lnTo>
                  <a:pt x="378847" y="669378"/>
                </a:lnTo>
                <a:lnTo>
                  <a:pt x="420618" y="649919"/>
                </a:lnTo>
                <a:lnTo>
                  <a:pt x="464240" y="633638"/>
                </a:lnTo>
                <a:lnTo>
                  <a:pt x="509540" y="620695"/>
                </a:lnTo>
                <a:lnTo>
                  <a:pt x="556347" y="611251"/>
                </a:lnTo>
                <a:lnTo>
                  <a:pt x="604489" y="605467"/>
                </a:lnTo>
                <a:lnTo>
                  <a:pt x="653796" y="603503"/>
                </a:lnTo>
                <a:lnTo>
                  <a:pt x="703102" y="605467"/>
                </a:lnTo>
                <a:lnTo>
                  <a:pt x="751244" y="611251"/>
                </a:lnTo>
                <a:lnTo>
                  <a:pt x="798051" y="620695"/>
                </a:lnTo>
                <a:lnTo>
                  <a:pt x="843351" y="633638"/>
                </a:lnTo>
                <a:lnTo>
                  <a:pt x="886973" y="649919"/>
                </a:lnTo>
                <a:lnTo>
                  <a:pt x="928744" y="669378"/>
                </a:lnTo>
                <a:lnTo>
                  <a:pt x="968493" y="691854"/>
                </a:lnTo>
                <a:lnTo>
                  <a:pt x="1006049" y="717186"/>
                </a:lnTo>
                <a:lnTo>
                  <a:pt x="1041239" y="745215"/>
                </a:lnTo>
                <a:lnTo>
                  <a:pt x="1073893" y="775778"/>
                </a:lnTo>
                <a:lnTo>
                  <a:pt x="1103838" y="808716"/>
                </a:lnTo>
                <a:lnTo>
                  <a:pt x="1130903" y="843868"/>
                </a:lnTo>
                <a:lnTo>
                  <a:pt x="1154916" y="881074"/>
                </a:lnTo>
                <a:lnTo>
                  <a:pt x="1175706" y="920172"/>
                </a:lnTo>
                <a:lnTo>
                  <a:pt x="1193100" y="961001"/>
                </a:lnTo>
                <a:lnTo>
                  <a:pt x="1206928" y="1003403"/>
                </a:lnTo>
                <a:lnTo>
                  <a:pt x="1217018" y="1047214"/>
                </a:lnTo>
                <a:lnTo>
                  <a:pt x="1223197" y="1092276"/>
                </a:lnTo>
                <a:lnTo>
                  <a:pt x="1225296" y="1138427"/>
                </a:lnTo>
                <a:lnTo>
                  <a:pt x="1223197" y="1184579"/>
                </a:lnTo>
                <a:lnTo>
                  <a:pt x="1217018" y="1229641"/>
                </a:lnTo>
                <a:lnTo>
                  <a:pt x="1206928" y="1273452"/>
                </a:lnTo>
                <a:lnTo>
                  <a:pt x="1193100" y="1315854"/>
                </a:lnTo>
                <a:lnTo>
                  <a:pt x="1175706" y="1356683"/>
                </a:lnTo>
                <a:lnTo>
                  <a:pt x="1154916" y="1395781"/>
                </a:lnTo>
                <a:lnTo>
                  <a:pt x="1130903" y="1432987"/>
                </a:lnTo>
                <a:lnTo>
                  <a:pt x="1103838" y="1468139"/>
                </a:lnTo>
                <a:lnTo>
                  <a:pt x="1073893" y="1501077"/>
                </a:lnTo>
                <a:lnTo>
                  <a:pt x="1041239" y="1531640"/>
                </a:lnTo>
                <a:lnTo>
                  <a:pt x="1006049" y="1559669"/>
                </a:lnTo>
                <a:lnTo>
                  <a:pt x="968493" y="1585001"/>
                </a:lnTo>
                <a:lnTo>
                  <a:pt x="928744" y="1607477"/>
                </a:lnTo>
                <a:lnTo>
                  <a:pt x="886973" y="1626936"/>
                </a:lnTo>
                <a:lnTo>
                  <a:pt x="843351" y="1643217"/>
                </a:lnTo>
                <a:lnTo>
                  <a:pt x="798051" y="1656160"/>
                </a:lnTo>
                <a:lnTo>
                  <a:pt x="751244" y="1665604"/>
                </a:lnTo>
                <a:lnTo>
                  <a:pt x="703102" y="1671388"/>
                </a:lnTo>
                <a:lnTo>
                  <a:pt x="653796" y="1673352"/>
                </a:lnTo>
                <a:lnTo>
                  <a:pt x="604489" y="1671388"/>
                </a:lnTo>
                <a:lnTo>
                  <a:pt x="556347" y="1665604"/>
                </a:lnTo>
                <a:lnTo>
                  <a:pt x="509540" y="1656160"/>
                </a:lnTo>
                <a:lnTo>
                  <a:pt x="464240" y="1643217"/>
                </a:lnTo>
                <a:lnTo>
                  <a:pt x="420618" y="1626936"/>
                </a:lnTo>
                <a:lnTo>
                  <a:pt x="378847" y="1607477"/>
                </a:lnTo>
                <a:lnTo>
                  <a:pt x="339098" y="1585001"/>
                </a:lnTo>
                <a:lnTo>
                  <a:pt x="301542" y="1559669"/>
                </a:lnTo>
                <a:lnTo>
                  <a:pt x="266352" y="1531640"/>
                </a:lnTo>
                <a:lnTo>
                  <a:pt x="233698" y="1501077"/>
                </a:lnTo>
                <a:lnTo>
                  <a:pt x="203753" y="1468139"/>
                </a:lnTo>
                <a:lnTo>
                  <a:pt x="176688" y="1432987"/>
                </a:lnTo>
                <a:lnTo>
                  <a:pt x="152675" y="1395781"/>
                </a:lnTo>
                <a:lnTo>
                  <a:pt x="131885" y="1356683"/>
                </a:lnTo>
                <a:lnTo>
                  <a:pt x="114491" y="1315854"/>
                </a:lnTo>
                <a:lnTo>
                  <a:pt x="100663" y="1273452"/>
                </a:lnTo>
                <a:lnTo>
                  <a:pt x="90573" y="1229641"/>
                </a:lnTo>
                <a:lnTo>
                  <a:pt x="84394" y="1184579"/>
                </a:lnTo>
                <a:lnTo>
                  <a:pt x="82296" y="1138427"/>
                </a:lnTo>
                <a:close/>
              </a:path>
              <a:path w="2212975" h="1746885">
                <a:moveTo>
                  <a:pt x="612648" y="1138427"/>
                </a:moveTo>
                <a:lnTo>
                  <a:pt x="614746" y="1092276"/>
                </a:lnTo>
                <a:lnTo>
                  <a:pt x="620925" y="1047214"/>
                </a:lnTo>
                <a:lnTo>
                  <a:pt x="631015" y="1003403"/>
                </a:lnTo>
                <a:lnTo>
                  <a:pt x="644843" y="961001"/>
                </a:lnTo>
                <a:lnTo>
                  <a:pt x="662237" y="920172"/>
                </a:lnTo>
                <a:lnTo>
                  <a:pt x="683027" y="881074"/>
                </a:lnTo>
                <a:lnTo>
                  <a:pt x="707040" y="843868"/>
                </a:lnTo>
                <a:lnTo>
                  <a:pt x="734105" y="808716"/>
                </a:lnTo>
                <a:lnTo>
                  <a:pt x="764050" y="775778"/>
                </a:lnTo>
                <a:lnTo>
                  <a:pt x="796704" y="745215"/>
                </a:lnTo>
                <a:lnTo>
                  <a:pt x="831894" y="717186"/>
                </a:lnTo>
                <a:lnTo>
                  <a:pt x="869450" y="691854"/>
                </a:lnTo>
                <a:lnTo>
                  <a:pt x="909199" y="669378"/>
                </a:lnTo>
                <a:lnTo>
                  <a:pt x="950970" y="649919"/>
                </a:lnTo>
                <a:lnTo>
                  <a:pt x="994592" y="633638"/>
                </a:lnTo>
                <a:lnTo>
                  <a:pt x="1039892" y="620695"/>
                </a:lnTo>
                <a:lnTo>
                  <a:pt x="1086699" y="611251"/>
                </a:lnTo>
                <a:lnTo>
                  <a:pt x="1134841" y="605467"/>
                </a:lnTo>
                <a:lnTo>
                  <a:pt x="1184148" y="603503"/>
                </a:lnTo>
                <a:lnTo>
                  <a:pt x="1233454" y="605467"/>
                </a:lnTo>
                <a:lnTo>
                  <a:pt x="1281596" y="611251"/>
                </a:lnTo>
                <a:lnTo>
                  <a:pt x="1328403" y="620695"/>
                </a:lnTo>
                <a:lnTo>
                  <a:pt x="1373703" y="633638"/>
                </a:lnTo>
                <a:lnTo>
                  <a:pt x="1417325" y="649919"/>
                </a:lnTo>
                <a:lnTo>
                  <a:pt x="1459096" y="669378"/>
                </a:lnTo>
                <a:lnTo>
                  <a:pt x="1498845" y="691854"/>
                </a:lnTo>
                <a:lnTo>
                  <a:pt x="1536401" y="717186"/>
                </a:lnTo>
                <a:lnTo>
                  <a:pt x="1571591" y="745215"/>
                </a:lnTo>
                <a:lnTo>
                  <a:pt x="1604245" y="775778"/>
                </a:lnTo>
                <a:lnTo>
                  <a:pt x="1634190" y="808716"/>
                </a:lnTo>
                <a:lnTo>
                  <a:pt x="1661255" y="843868"/>
                </a:lnTo>
                <a:lnTo>
                  <a:pt x="1685268" y="881074"/>
                </a:lnTo>
                <a:lnTo>
                  <a:pt x="1706058" y="920172"/>
                </a:lnTo>
                <a:lnTo>
                  <a:pt x="1723452" y="961001"/>
                </a:lnTo>
                <a:lnTo>
                  <a:pt x="1737280" y="1003403"/>
                </a:lnTo>
                <a:lnTo>
                  <a:pt x="1747370" y="1047214"/>
                </a:lnTo>
                <a:lnTo>
                  <a:pt x="1753549" y="1092276"/>
                </a:lnTo>
                <a:lnTo>
                  <a:pt x="1755648" y="1138427"/>
                </a:lnTo>
                <a:lnTo>
                  <a:pt x="1753549" y="1184579"/>
                </a:lnTo>
                <a:lnTo>
                  <a:pt x="1747370" y="1229641"/>
                </a:lnTo>
                <a:lnTo>
                  <a:pt x="1737280" y="1273452"/>
                </a:lnTo>
                <a:lnTo>
                  <a:pt x="1723452" y="1315854"/>
                </a:lnTo>
                <a:lnTo>
                  <a:pt x="1706058" y="1356683"/>
                </a:lnTo>
                <a:lnTo>
                  <a:pt x="1685268" y="1395781"/>
                </a:lnTo>
                <a:lnTo>
                  <a:pt x="1661255" y="1432987"/>
                </a:lnTo>
                <a:lnTo>
                  <a:pt x="1634190" y="1468139"/>
                </a:lnTo>
                <a:lnTo>
                  <a:pt x="1604245" y="1501077"/>
                </a:lnTo>
                <a:lnTo>
                  <a:pt x="1571591" y="1531640"/>
                </a:lnTo>
                <a:lnTo>
                  <a:pt x="1536401" y="1559669"/>
                </a:lnTo>
                <a:lnTo>
                  <a:pt x="1498845" y="1585001"/>
                </a:lnTo>
                <a:lnTo>
                  <a:pt x="1459096" y="1607477"/>
                </a:lnTo>
                <a:lnTo>
                  <a:pt x="1417325" y="1626936"/>
                </a:lnTo>
                <a:lnTo>
                  <a:pt x="1373703" y="1643217"/>
                </a:lnTo>
                <a:lnTo>
                  <a:pt x="1328403" y="1656160"/>
                </a:lnTo>
                <a:lnTo>
                  <a:pt x="1281596" y="1665604"/>
                </a:lnTo>
                <a:lnTo>
                  <a:pt x="1233454" y="1671388"/>
                </a:lnTo>
                <a:lnTo>
                  <a:pt x="1184148" y="1673352"/>
                </a:lnTo>
                <a:lnTo>
                  <a:pt x="1134841" y="1671388"/>
                </a:lnTo>
                <a:lnTo>
                  <a:pt x="1086699" y="1665604"/>
                </a:lnTo>
                <a:lnTo>
                  <a:pt x="1039892" y="1656160"/>
                </a:lnTo>
                <a:lnTo>
                  <a:pt x="994592" y="1643217"/>
                </a:lnTo>
                <a:lnTo>
                  <a:pt x="950970" y="1626936"/>
                </a:lnTo>
                <a:lnTo>
                  <a:pt x="909199" y="1607477"/>
                </a:lnTo>
                <a:lnTo>
                  <a:pt x="869450" y="1585001"/>
                </a:lnTo>
                <a:lnTo>
                  <a:pt x="831894" y="1559669"/>
                </a:lnTo>
                <a:lnTo>
                  <a:pt x="796704" y="1531640"/>
                </a:lnTo>
                <a:lnTo>
                  <a:pt x="764050" y="1501077"/>
                </a:lnTo>
                <a:lnTo>
                  <a:pt x="734105" y="1468139"/>
                </a:lnTo>
                <a:lnTo>
                  <a:pt x="707040" y="1432987"/>
                </a:lnTo>
                <a:lnTo>
                  <a:pt x="683027" y="1395781"/>
                </a:lnTo>
                <a:lnTo>
                  <a:pt x="662237" y="1356683"/>
                </a:lnTo>
                <a:lnTo>
                  <a:pt x="644843" y="1315854"/>
                </a:lnTo>
                <a:lnTo>
                  <a:pt x="631015" y="1273452"/>
                </a:lnTo>
                <a:lnTo>
                  <a:pt x="620925" y="1229641"/>
                </a:lnTo>
                <a:lnTo>
                  <a:pt x="614746" y="1184579"/>
                </a:lnTo>
                <a:lnTo>
                  <a:pt x="612648" y="1138427"/>
                </a:lnTo>
                <a:close/>
              </a:path>
              <a:path w="2212975" h="1746885">
                <a:moveTo>
                  <a:pt x="310896" y="608076"/>
                </a:moveTo>
                <a:lnTo>
                  <a:pt x="312994" y="561924"/>
                </a:lnTo>
                <a:lnTo>
                  <a:pt x="319173" y="516862"/>
                </a:lnTo>
                <a:lnTo>
                  <a:pt x="329263" y="473051"/>
                </a:lnTo>
                <a:lnTo>
                  <a:pt x="343091" y="430649"/>
                </a:lnTo>
                <a:lnTo>
                  <a:pt x="360485" y="389820"/>
                </a:lnTo>
                <a:lnTo>
                  <a:pt x="381275" y="350722"/>
                </a:lnTo>
                <a:lnTo>
                  <a:pt x="405288" y="313516"/>
                </a:lnTo>
                <a:lnTo>
                  <a:pt x="432353" y="278364"/>
                </a:lnTo>
                <a:lnTo>
                  <a:pt x="462298" y="245426"/>
                </a:lnTo>
                <a:lnTo>
                  <a:pt x="494952" y="214863"/>
                </a:lnTo>
                <a:lnTo>
                  <a:pt x="530142" y="186834"/>
                </a:lnTo>
                <a:lnTo>
                  <a:pt x="567698" y="161502"/>
                </a:lnTo>
                <a:lnTo>
                  <a:pt x="607447" y="139026"/>
                </a:lnTo>
                <a:lnTo>
                  <a:pt x="649218" y="119567"/>
                </a:lnTo>
                <a:lnTo>
                  <a:pt x="692840" y="103286"/>
                </a:lnTo>
                <a:lnTo>
                  <a:pt x="738140" y="90343"/>
                </a:lnTo>
                <a:lnTo>
                  <a:pt x="784947" y="80899"/>
                </a:lnTo>
                <a:lnTo>
                  <a:pt x="833089" y="75115"/>
                </a:lnTo>
                <a:lnTo>
                  <a:pt x="882396" y="73151"/>
                </a:lnTo>
                <a:lnTo>
                  <a:pt x="931702" y="75115"/>
                </a:lnTo>
                <a:lnTo>
                  <a:pt x="979844" y="80899"/>
                </a:lnTo>
                <a:lnTo>
                  <a:pt x="1026651" y="90343"/>
                </a:lnTo>
                <a:lnTo>
                  <a:pt x="1071951" y="103286"/>
                </a:lnTo>
                <a:lnTo>
                  <a:pt x="1115573" y="119567"/>
                </a:lnTo>
                <a:lnTo>
                  <a:pt x="1157344" y="139026"/>
                </a:lnTo>
                <a:lnTo>
                  <a:pt x="1197093" y="161502"/>
                </a:lnTo>
                <a:lnTo>
                  <a:pt x="1234649" y="186834"/>
                </a:lnTo>
                <a:lnTo>
                  <a:pt x="1269839" y="214863"/>
                </a:lnTo>
                <a:lnTo>
                  <a:pt x="1302493" y="245426"/>
                </a:lnTo>
                <a:lnTo>
                  <a:pt x="1332438" y="278364"/>
                </a:lnTo>
                <a:lnTo>
                  <a:pt x="1359503" y="313516"/>
                </a:lnTo>
                <a:lnTo>
                  <a:pt x="1383516" y="350722"/>
                </a:lnTo>
                <a:lnTo>
                  <a:pt x="1404306" y="389820"/>
                </a:lnTo>
                <a:lnTo>
                  <a:pt x="1421700" y="430649"/>
                </a:lnTo>
                <a:lnTo>
                  <a:pt x="1435528" y="473051"/>
                </a:lnTo>
                <a:lnTo>
                  <a:pt x="1445618" y="516862"/>
                </a:lnTo>
                <a:lnTo>
                  <a:pt x="1451797" y="561924"/>
                </a:lnTo>
                <a:lnTo>
                  <a:pt x="1453896" y="608076"/>
                </a:lnTo>
                <a:lnTo>
                  <a:pt x="1451797" y="654227"/>
                </a:lnTo>
                <a:lnTo>
                  <a:pt x="1445618" y="699289"/>
                </a:lnTo>
                <a:lnTo>
                  <a:pt x="1435528" y="743100"/>
                </a:lnTo>
                <a:lnTo>
                  <a:pt x="1421700" y="785502"/>
                </a:lnTo>
                <a:lnTo>
                  <a:pt x="1404306" y="826331"/>
                </a:lnTo>
                <a:lnTo>
                  <a:pt x="1383516" y="865429"/>
                </a:lnTo>
                <a:lnTo>
                  <a:pt x="1359503" y="902635"/>
                </a:lnTo>
                <a:lnTo>
                  <a:pt x="1332438" y="937787"/>
                </a:lnTo>
                <a:lnTo>
                  <a:pt x="1302493" y="970725"/>
                </a:lnTo>
                <a:lnTo>
                  <a:pt x="1269839" y="1001288"/>
                </a:lnTo>
                <a:lnTo>
                  <a:pt x="1234649" y="1029317"/>
                </a:lnTo>
                <a:lnTo>
                  <a:pt x="1197093" y="1054649"/>
                </a:lnTo>
                <a:lnTo>
                  <a:pt x="1157344" y="1077125"/>
                </a:lnTo>
                <a:lnTo>
                  <a:pt x="1115573" y="1096584"/>
                </a:lnTo>
                <a:lnTo>
                  <a:pt x="1071951" y="1112865"/>
                </a:lnTo>
                <a:lnTo>
                  <a:pt x="1026651" y="1125808"/>
                </a:lnTo>
                <a:lnTo>
                  <a:pt x="979844" y="1135252"/>
                </a:lnTo>
                <a:lnTo>
                  <a:pt x="931702" y="1141036"/>
                </a:lnTo>
                <a:lnTo>
                  <a:pt x="882396" y="1143000"/>
                </a:lnTo>
                <a:lnTo>
                  <a:pt x="833089" y="1141036"/>
                </a:lnTo>
                <a:lnTo>
                  <a:pt x="784947" y="1135252"/>
                </a:lnTo>
                <a:lnTo>
                  <a:pt x="738140" y="1125808"/>
                </a:lnTo>
                <a:lnTo>
                  <a:pt x="692840" y="1112865"/>
                </a:lnTo>
                <a:lnTo>
                  <a:pt x="649218" y="1096584"/>
                </a:lnTo>
                <a:lnTo>
                  <a:pt x="607447" y="1077125"/>
                </a:lnTo>
                <a:lnTo>
                  <a:pt x="567698" y="1054649"/>
                </a:lnTo>
                <a:lnTo>
                  <a:pt x="530142" y="1029317"/>
                </a:lnTo>
                <a:lnTo>
                  <a:pt x="494952" y="1001288"/>
                </a:lnTo>
                <a:lnTo>
                  <a:pt x="462298" y="970725"/>
                </a:lnTo>
                <a:lnTo>
                  <a:pt x="432353" y="937787"/>
                </a:lnTo>
                <a:lnTo>
                  <a:pt x="405288" y="902635"/>
                </a:lnTo>
                <a:lnTo>
                  <a:pt x="381275" y="865429"/>
                </a:lnTo>
                <a:lnTo>
                  <a:pt x="360485" y="826331"/>
                </a:lnTo>
                <a:lnTo>
                  <a:pt x="343091" y="785502"/>
                </a:lnTo>
                <a:lnTo>
                  <a:pt x="329263" y="743100"/>
                </a:lnTo>
                <a:lnTo>
                  <a:pt x="319173" y="699289"/>
                </a:lnTo>
                <a:lnTo>
                  <a:pt x="312994" y="654227"/>
                </a:lnTo>
                <a:lnTo>
                  <a:pt x="310896" y="608076"/>
                </a:lnTo>
                <a:close/>
              </a:path>
              <a:path w="2212975" h="1746885">
                <a:moveTo>
                  <a:pt x="1143000" y="338327"/>
                </a:moveTo>
                <a:lnTo>
                  <a:pt x="1156965" y="273041"/>
                </a:lnTo>
                <a:lnTo>
                  <a:pt x="1196573" y="213677"/>
                </a:lnTo>
                <a:lnTo>
                  <a:pt x="1224922" y="186836"/>
                </a:lnTo>
                <a:lnTo>
                  <a:pt x="1258396" y="162222"/>
                </a:lnTo>
                <a:lnTo>
                  <a:pt x="1296566" y="140083"/>
                </a:lnTo>
                <a:lnTo>
                  <a:pt x="1339004" y="120668"/>
                </a:lnTo>
                <a:lnTo>
                  <a:pt x="1385280" y="104225"/>
                </a:lnTo>
                <a:lnTo>
                  <a:pt x="1434967" y="91004"/>
                </a:lnTo>
                <a:lnTo>
                  <a:pt x="1487634" y="81252"/>
                </a:lnTo>
                <a:lnTo>
                  <a:pt x="1542855" y="75218"/>
                </a:lnTo>
                <a:lnTo>
                  <a:pt x="1600200" y="73151"/>
                </a:lnTo>
                <a:lnTo>
                  <a:pt x="1657544" y="75218"/>
                </a:lnTo>
                <a:lnTo>
                  <a:pt x="1712765" y="81252"/>
                </a:lnTo>
                <a:lnTo>
                  <a:pt x="1765432" y="91004"/>
                </a:lnTo>
                <a:lnTo>
                  <a:pt x="1815119" y="104225"/>
                </a:lnTo>
                <a:lnTo>
                  <a:pt x="1861395" y="120668"/>
                </a:lnTo>
                <a:lnTo>
                  <a:pt x="1903833" y="140083"/>
                </a:lnTo>
                <a:lnTo>
                  <a:pt x="1942003" y="162222"/>
                </a:lnTo>
                <a:lnTo>
                  <a:pt x="1975477" y="186836"/>
                </a:lnTo>
                <a:lnTo>
                  <a:pt x="2003826" y="213677"/>
                </a:lnTo>
                <a:lnTo>
                  <a:pt x="2043434" y="273041"/>
                </a:lnTo>
                <a:lnTo>
                  <a:pt x="2057400" y="338327"/>
                </a:lnTo>
                <a:lnTo>
                  <a:pt x="2053837" y="371586"/>
                </a:lnTo>
                <a:lnTo>
                  <a:pt x="2026621" y="434161"/>
                </a:lnTo>
                <a:lnTo>
                  <a:pt x="1975477" y="489819"/>
                </a:lnTo>
                <a:lnTo>
                  <a:pt x="1942003" y="514433"/>
                </a:lnTo>
                <a:lnTo>
                  <a:pt x="1903833" y="536572"/>
                </a:lnTo>
                <a:lnTo>
                  <a:pt x="1861395" y="555987"/>
                </a:lnTo>
                <a:lnTo>
                  <a:pt x="1815119" y="572430"/>
                </a:lnTo>
                <a:lnTo>
                  <a:pt x="1765432" y="585651"/>
                </a:lnTo>
                <a:lnTo>
                  <a:pt x="1712765" y="595403"/>
                </a:lnTo>
                <a:lnTo>
                  <a:pt x="1657544" y="601437"/>
                </a:lnTo>
                <a:lnTo>
                  <a:pt x="1600200" y="603503"/>
                </a:lnTo>
                <a:lnTo>
                  <a:pt x="1542855" y="601437"/>
                </a:lnTo>
                <a:lnTo>
                  <a:pt x="1487634" y="595403"/>
                </a:lnTo>
                <a:lnTo>
                  <a:pt x="1434967" y="585651"/>
                </a:lnTo>
                <a:lnTo>
                  <a:pt x="1385280" y="572430"/>
                </a:lnTo>
                <a:lnTo>
                  <a:pt x="1339004" y="555987"/>
                </a:lnTo>
                <a:lnTo>
                  <a:pt x="1296566" y="536572"/>
                </a:lnTo>
                <a:lnTo>
                  <a:pt x="1258396" y="514433"/>
                </a:lnTo>
                <a:lnTo>
                  <a:pt x="1224922" y="489819"/>
                </a:lnTo>
                <a:lnTo>
                  <a:pt x="1196573" y="462978"/>
                </a:lnTo>
                <a:lnTo>
                  <a:pt x="1156965" y="403614"/>
                </a:lnTo>
                <a:lnTo>
                  <a:pt x="1143000" y="338327"/>
                </a:lnTo>
                <a:close/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641208" y="3664394"/>
            <a:ext cx="231140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50" spc="20" b="1">
                <a:latin typeface="Arial"/>
                <a:cs typeface="Arial"/>
              </a:rPr>
              <a:t>D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6496939" y="3511867"/>
            <a:ext cx="231140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50" spc="20" b="1">
                <a:latin typeface="Arial"/>
                <a:cs typeface="Arial"/>
              </a:rPr>
              <a:t>C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946390" y="2596197"/>
            <a:ext cx="231140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50" spc="20" b="1">
                <a:latin typeface="Arial"/>
                <a:cs typeface="Arial"/>
              </a:rPr>
              <a:t>B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02246" y="2672524"/>
            <a:ext cx="231140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50" spc="20" b="1">
                <a:latin typeface="Arial"/>
                <a:cs typeface="Arial"/>
              </a:rPr>
              <a:t>A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95"/>
              </a:spcBef>
            </a:pPr>
            <a:r>
              <a:rPr dirty="0"/>
              <a:t>解</a:t>
            </a:r>
            <a:r>
              <a:rPr dirty="0"/>
              <a:t>答</a:t>
            </a:r>
            <a:r>
              <a:rPr dirty="0" spc="-25">
                <a:latin typeface="Calibri"/>
                <a:cs typeface="Calibri"/>
              </a:rPr>
              <a:t>(</a:t>
            </a:r>
            <a:r>
              <a:rPr dirty="0"/>
              <a:t>续</a:t>
            </a:r>
            <a:r>
              <a:rPr dirty="0" spc="-50">
                <a:latin typeface="Calibri"/>
                <a:cs typeface="Calibri"/>
              </a:rPr>
              <a:t>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2882" y="1573728"/>
            <a:ext cx="8347075" cy="1123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95"/>
              </a:spcBef>
            </a:pPr>
            <a:r>
              <a:rPr dirty="0" sz="2600" spc="40" b="1">
                <a:latin typeface="微软雅黑"/>
                <a:cs typeface="微软雅黑"/>
              </a:rPr>
              <a:t>对</a:t>
            </a:r>
            <a:r>
              <a:rPr dirty="0" sz="2600" spc="40" b="1">
                <a:latin typeface="微软雅黑"/>
                <a:cs typeface="微软雅黑"/>
              </a:rPr>
              <a:t>集</a:t>
            </a:r>
            <a:r>
              <a:rPr dirty="0" sz="2600" spc="40" b="1">
                <a:latin typeface="微软雅黑"/>
                <a:cs typeface="微软雅黑"/>
              </a:rPr>
              <a:t>合</a:t>
            </a:r>
            <a:r>
              <a:rPr dirty="0" sz="2600" spc="-10" b="1">
                <a:latin typeface="Calibri"/>
                <a:cs typeface="Calibri"/>
              </a:rPr>
              <a:t>A</a:t>
            </a:r>
            <a:r>
              <a:rPr dirty="0" sz="2600" spc="40" b="1">
                <a:latin typeface="微软雅黑"/>
                <a:cs typeface="微软雅黑"/>
              </a:rPr>
              <a:t>、</a:t>
            </a:r>
            <a:r>
              <a:rPr dirty="0" sz="2600" spc="-30" b="1">
                <a:latin typeface="Calibri"/>
                <a:cs typeface="Calibri"/>
              </a:rPr>
              <a:t>B</a:t>
            </a:r>
            <a:r>
              <a:rPr dirty="0" sz="2600" spc="40" b="1">
                <a:latin typeface="微软雅黑"/>
                <a:cs typeface="微软雅黑"/>
              </a:rPr>
              <a:t>、</a:t>
            </a:r>
            <a:r>
              <a:rPr dirty="0" sz="2600" spc="-20" b="1">
                <a:latin typeface="Calibri"/>
                <a:cs typeface="Calibri"/>
              </a:rPr>
              <a:t>C</a:t>
            </a:r>
            <a:r>
              <a:rPr dirty="0" sz="2600" spc="-30" b="1">
                <a:latin typeface="微软雅黑"/>
                <a:cs typeface="微软雅黑"/>
              </a:rPr>
              <a:t>、</a:t>
            </a:r>
            <a:r>
              <a:rPr dirty="0" sz="2600" b="1">
                <a:latin typeface="Calibri"/>
                <a:cs typeface="Calibri"/>
              </a:rPr>
              <a:t>D</a:t>
            </a:r>
            <a:r>
              <a:rPr dirty="0" sz="2600" spc="-30" b="1">
                <a:latin typeface="微软雅黑"/>
                <a:cs typeface="微软雅黑"/>
              </a:rPr>
              <a:t>应</a:t>
            </a:r>
            <a:r>
              <a:rPr dirty="0" sz="2600" spc="-30" b="1">
                <a:latin typeface="微软雅黑"/>
                <a:cs typeface="微软雅黑"/>
              </a:rPr>
              <a:t>用</a:t>
            </a:r>
            <a:r>
              <a:rPr dirty="0" sz="2600" spc="40" b="1">
                <a:latin typeface="微软雅黑"/>
                <a:cs typeface="微软雅黑"/>
              </a:rPr>
              <a:t>容</a:t>
            </a:r>
            <a:r>
              <a:rPr dirty="0" sz="2600" spc="-30" b="1">
                <a:latin typeface="微软雅黑"/>
                <a:cs typeface="微软雅黑"/>
              </a:rPr>
              <a:t>斥</a:t>
            </a:r>
            <a:r>
              <a:rPr dirty="0" sz="2600" spc="-30" b="1">
                <a:latin typeface="微软雅黑"/>
                <a:cs typeface="微软雅黑"/>
              </a:rPr>
              <a:t>原</a:t>
            </a:r>
            <a:r>
              <a:rPr dirty="0" sz="2600" spc="-30" b="1">
                <a:latin typeface="微软雅黑"/>
                <a:cs typeface="微软雅黑"/>
              </a:rPr>
              <a:t>理</a:t>
            </a:r>
            <a:r>
              <a:rPr dirty="0" sz="2600" spc="40" b="1">
                <a:latin typeface="微软雅黑"/>
                <a:cs typeface="微软雅黑"/>
              </a:rPr>
              <a:t>，</a:t>
            </a:r>
            <a:r>
              <a:rPr dirty="0" sz="2600" spc="-30" b="1">
                <a:latin typeface="微软雅黑"/>
                <a:cs typeface="微软雅黑"/>
              </a:rPr>
              <a:t>并</a:t>
            </a:r>
            <a:r>
              <a:rPr dirty="0" sz="2600" spc="-30" b="1">
                <a:latin typeface="微软雅黑"/>
                <a:cs typeface="微软雅黑"/>
              </a:rPr>
              <a:t>代</a:t>
            </a:r>
            <a:r>
              <a:rPr dirty="0" sz="2600" spc="45" b="1">
                <a:latin typeface="微软雅黑"/>
                <a:cs typeface="微软雅黑"/>
              </a:rPr>
              <a:t>入</a:t>
            </a:r>
            <a:r>
              <a:rPr dirty="0" sz="2600" spc="-30" b="1">
                <a:latin typeface="微软雅黑"/>
                <a:cs typeface="微软雅黑"/>
              </a:rPr>
              <a:t>已</a:t>
            </a:r>
            <a:r>
              <a:rPr dirty="0" sz="2600" spc="-30" b="1">
                <a:latin typeface="微软雅黑"/>
                <a:cs typeface="微软雅黑"/>
              </a:rPr>
              <a:t>知</a:t>
            </a:r>
            <a:r>
              <a:rPr dirty="0" sz="2600" spc="-30" b="1">
                <a:latin typeface="微软雅黑"/>
                <a:cs typeface="微软雅黑"/>
              </a:rPr>
              <a:t>条</a:t>
            </a:r>
            <a:r>
              <a:rPr dirty="0" sz="2600" spc="40" b="1">
                <a:latin typeface="微软雅黑"/>
                <a:cs typeface="微软雅黑"/>
              </a:rPr>
              <a:t>件</a:t>
            </a:r>
            <a:r>
              <a:rPr dirty="0" sz="2600" spc="-30" b="1">
                <a:latin typeface="微软雅黑"/>
                <a:cs typeface="微软雅黑"/>
              </a:rPr>
              <a:t>得</a:t>
            </a:r>
            <a:r>
              <a:rPr dirty="0" sz="2600" spc="-30" b="1">
                <a:latin typeface="微软雅黑"/>
                <a:cs typeface="微软雅黑"/>
              </a:rPr>
              <a:t>方</a:t>
            </a:r>
            <a:r>
              <a:rPr dirty="0" sz="2600" spc="-114" b="1">
                <a:latin typeface="微软雅黑"/>
                <a:cs typeface="微软雅黑"/>
              </a:rPr>
              <a:t>程 </a:t>
            </a:r>
            <a:r>
              <a:rPr dirty="0" sz="2600" spc="-30" b="1">
                <a:latin typeface="Calibri"/>
                <a:cs typeface="Calibri"/>
              </a:rPr>
              <a:t>24=37-</a:t>
            </a:r>
            <a:r>
              <a:rPr dirty="0" sz="2600" b="1">
                <a:latin typeface="Calibri"/>
                <a:cs typeface="Calibri"/>
              </a:rPr>
              <a:t>14+|A</a:t>
            </a:r>
            <a:r>
              <a:rPr dirty="0" sz="2600" b="1">
                <a:latin typeface="Symbol"/>
                <a:cs typeface="Symbol"/>
              </a:rPr>
              <a:t></a:t>
            </a:r>
            <a:r>
              <a:rPr dirty="0" sz="2600" b="1">
                <a:latin typeface="Calibri"/>
                <a:cs typeface="Calibri"/>
              </a:rPr>
              <a:t>C</a:t>
            </a:r>
            <a:r>
              <a:rPr dirty="0" sz="2600" b="1">
                <a:latin typeface="Symbol"/>
                <a:cs typeface="Symbol"/>
              </a:rPr>
              <a:t></a:t>
            </a:r>
            <a:r>
              <a:rPr dirty="0" sz="2600" b="1">
                <a:latin typeface="Calibri"/>
                <a:cs typeface="Calibri"/>
              </a:rPr>
              <a:t>D|</a:t>
            </a:r>
            <a:r>
              <a:rPr dirty="0" sz="2600" b="1">
                <a:latin typeface="微软雅黑"/>
                <a:cs typeface="微软雅黑"/>
              </a:rPr>
              <a:t>，</a:t>
            </a:r>
            <a:r>
              <a:rPr dirty="0" sz="2600" spc="35" b="1">
                <a:latin typeface="微软雅黑"/>
                <a:cs typeface="微软雅黑"/>
              </a:rPr>
              <a:t>于</a:t>
            </a:r>
            <a:r>
              <a:rPr dirty="0" sz="2600" spc="35" b="1">
                <a:latin typeface="微软雅黑"/>
                <a:cs typeface="微软雅黑"/>
              </a:rPr>
              <a:t>是</a:t>
            </a:r>
            <a:r>
              <a:rPr dirty="0" sz="2600" spc="-15" b="1">
                <a:latin typeface="微软雅黑"/>
                <a:cs typeface="微软雅黑"/>
              </a:rPr>
              <a:t>，</a:t>
            </a:r>
            <a:r>
              <a:rPr dirty="0" sz="2600" spc="-15" b="1">
                <a:latin typeface="Calibri"/>
                <a:cs typeface="Calibri"/>
              </a:rPr>
              <a:t>|A</a:t>
            </a:r>
            <a:r>
              <a:rPr dirty="0" sz="2600" spc="-15" b="1">
                <a:latin typeface="Symbol"/>
                <a:cs typeface="Symbol"/>
              </a:rPr>
              <a:t></a:t>
            </a:r>
            <a:r>
              <a:rPr dirty="0" sz="2600" spc="-15" b="1">
                <a:latin typeface="Calibri"/>
                <a:cs typeface="Calibri"/>
              </a:rPr>
              <a:t>C</a:t>
            </a:r>
            <a:r>
              <a:rPr dirty="0" sz="2600" spc="-15" b="1">
                <a:latin typeface="Symbol"/>
                <a:cs typeface="Symbol"/>
              </a:rPr>
              <a:t></a:t>
            </a:r>
            <a:r>
              <a:rPr dirty="0" sz="2600" spc="-15" b="1">
                <a:latin typeface="Calibri"/>
                <a:cs typeface="Calibri"/>
              </a:rPr>
              <a:t>D|=1</a:t>
            </a:r>
            <a:r>
              <a:rPr dirty="0" sz="2600" spc="-25" b="1">
                <a:latin typeface="微软雅黑"/>
                <a:cs typeface="微软雅黑"/>
              </a:rPr>
              <a:t>，即</a:t>
            </a:r>
            <a:r>
              <a:rPr dirty="0" sz="2600" spc="-30" b="1">
                <a:latin typeface="微软雅黑"/>
                <a:cs typeface="微软雅黑"/>
              </a:rPr>
              <a:t>同</a:t>
            </a:r>
            <a:r>
              <a:rPr dirty="0" sz="2600" spc="-30" b="1">
                <a:latin typeface="微软雅黑"/>
                <a:cs typeface="微软雅黑"/>
              </a:rPr>
              <a:t>时</a:t>
            </a:r>
            <a:r>
              <a:rPr dirty="0" sz="2600" spc="-30" b="1">
                <a:latin typeface="微软雅黑"/>
                <a:cs typeface="微软雅黑"/>
              </a:rPr>
              <a:t>会</a:t>
            </a:r>
            <a:r>
              <a:rPr dirty="0" sz="2600" spc="-30" b="1">
                <a:latin typeface="微软雅黑"/>
                <a:cs typeface="微软雅黑"/>
              </a:rPr>
              <a:t>说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2882" y="2672194"/>
            <a:ext cx="4034790" cy="1142365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600" b="1">
                <a:latin typeface="微软雅黑"/>
                <a:cs typeface="微软雅黑"/>
              </a:rPr>
              <a:t>英</a:t>
            </a:r>
            <a:r>
              <a:rPr dirty="0" sz="2600" b="1">
                <a:latin typeface="微软雅黑"/>
                <a:cs typeface="微软雅黑"/>
              </a:rPr>
              <a:t>、</a:t>
            </a:r>
            <a:r>
              <a:rPr dirty="0" sz="2600" b="1">
                <a:latin typeface="微软雅黑"/>
                <a:cs typeface="微软雅黑"/>
              </a:rPr>
              <a:t>法</a:t>
            </a:r>
            <a:r>
              <a:rPr dirty="0" sz="2600" b="1">
                <a:latin typeface="微软雅黑"/>
                <a:cs typeface="微软雅黑"/>
              </a:rPr>
              <a:t>、</a:t>
            </a:r>
            <a:r>
              <a:rPr dirty="0" sz="2600" spc="-25" b="1">
                <a:latin typeface="微软雅黑"/>
                <a:cs typeface="微软雅黑"/>
              </a:rPr>
              <a:t>德语只有</a:t>
            </a:r>
            <a:r>
              <a:rPr dirty="0" sz="2600" spc="-40" b="1">
                <a:latin typeface="Calibri"/>
                <a:cs typeface="Calibri"/>
              </a:rPr>
              <a:t>1</a:t>
            </a:r>
            <a:r>
              <a:rPr dirty="0" sz="2600" b="1">
                <a:latin typeface="微软雅黑"/>
                <a:cs typeface="微软雅黑"/>
              </a:rPr>
              <a:t>人</a:t>
            </a:r>
            <a:r>
              <a:rPr dirty="0" sz="2600" spc="-50" b="1">
                <a:latin typeface="微软雅黑"/>
                <a:cs typeface="微软雅黑"/>
              </a:rPr>
              <a:t>。</a:t>
            </a:r>
            <a:endParaRPr sz="2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2600" b="1">
                <a:latin typeface="微软雅黑"/>
                <a:cs typeface="微软雅黑"/>
              </a:rPr>
              <a:t>设</a:t>
            </a:r>
            <a:r>
              <a:rPr dirty="0" sz="2600" b="1">
                <a:latin typeface="微软雅黑"/>
                <a:cs typeface="微软雅黑"/>
              </a:rPr>
              <a:t>只</a:t>
            </a:r>
            <a:r>
              <a:rPr dirty="0" sz="2600" b="1">
                <a:latin typeface="微软雅黑"/>
                <a:cs typeface="微软雅黑"/>
              </a:rPr>
              <a:t>会</a:t>
            </a:r>
            <a:r>
              <a:rPr dirty="0" sz="2600" b="1">
                <a:latin typeface="微软雅黑"/>
                <a:cs typeface="微软雅黑"/>
              </a:rPr>
              <a:t>说</a:t>
            </a:r>
            <a:r>
              <a:rPr dirty="0" sz="2600" spc="-20" b="1">
                <a:latin typeface="微软雅黑"/>
                <a:cs typeface="微软雅黑"/>
              </a:rPr>
              <a:t>英、</a:t>
            </a:r>
            <a:r>
              <a:rPr dirty="0" sz="2600" spc="-35" b="1">
                <a:latin typeface="微软雅黑"/>
                <a:cs typeface="微软雅黑"/>
              </a:rPr>
              <a:t>日</a:t>
            </a:r>
            <a:r>
              <a:rPr dirty="0" sz="2600" spc="-35" b="1">
                <a:latin typeface="微软雅黑"/>
                <a:cs typeface="微软雅黑"/>
              </a:rPr>
              <a:t>、</a:t>
            </a:r>
            <a:r>
              <a:rPr dirty="0" sz="2600" b="1">
                <a:latin typeface="微软雅黑"/>
                <a:cs typeface="微软雅黑"/>
              </a:rPr>
              <a:t>法</a:t>
            </a:r>
            <a:r>
              <a:rPr dirty="0" sz="2600" spc="-35" b="1">
                <a:latin typeface="微软雅黑"/>
                <a:cs typeface="微软雅黑"/>
              </a:rPr>
              <a:t>、</a:t>
            </a:r>
            <a:r>
              <a:rPr dirty="0" sz="2600" spc="-35" b="1">
                <a:latin typeface="微软雅黑"/>
                <a:cs typeface="微软雅黑"/>
              </a:rPr>
              <a:t>德</a:t>
            </a:r>
            <a:r>
              <a:rPr dirty="0" sz="2600" spc="-50" b="1">
                <a:latin typeface="微软雅黑"/>
                <a:cs typeface="微软雅黑"/>
              </a:rPr>
              <a:t>语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58975" y="4126039"/>
            <a:ext cx="194945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16585" algn="l"/>
                <a:tab pos="1220470" algn="l"/>
                <a:tab pos="1824989" algn="l"/>
              </a:tabLst>
            </a:pPr>
            <a:r>
              <a:rPr dirty="0" sz="1700" spc="-50" b="1">
                <a:latin typeface="Calibri"/>
                <a:cs typeface="Calibri"/>
              </a:rPr>
              <a:t>1</a:t>
            </a:r>
            <a:r>
              <a:rPr dirty="0" sz="1700" b="1">
                <a:latin typeface="Calibri"/>
                <a:cs typeface="Calibri"/>
              </a:rPr>
              <a:t>	</a:t>
            </a:r>
            <a:r>
              <a:rPr dirty="0" sz="1700" spc="-50" b="1">
                <a:latin typeface="Calibri"/>
                <a:cs typeface="Calibri"/>
              </a:rPr>
              <a:t>2</a:t>
            </a:r>
            <a:r>
              <a:rPr dirty="0" sz="1700" b="1">
                <a:latin typeface="Calibri"/>
                <a:cs typeface="Calibri"/>
              </a:rPr>
              <a:t>	</a:t>
            </a:r>
            <a:r>
              <a:rPr dirty="0" sz="1700" spc="-50" b="1">
                <a:latin typeface="Calibri"/>
                <a:cs typeface="Calibri"/>
              </a:rPr>
              <a:t>3</a:t>
            </a:r>
            <a:r>
              <a:rPr dirty="0" sz="1700" b="1">
                <a:latin typeface="Calibri"/>
                <a:cs typeface="Calibri"/>
              </a:rPr>
              <a:t>	</a:t>
            </a:r>
            <a:r>
              <a:rPr dirty="0" sz="1700" spc="-50" b="1">
                <a:latin typeface="Calibri"/>
                <a:cs typeface="Calibri"/>
              </a:rPr>
              <a:t>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2882" y="3942588"/>
            <a:ext cx="418147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微软雅黑"/>
                <a:cs typeface="微软雅黑"/>
              </a:rPr>
              <a:t>的</a:t>
            </a:r>
            <a:r>
              <a:rPr dirty="0" sz="2600" b="1">
                <a:latin typeface="微软雅黑"/>
                <a:cs typeface="微软雅黑"/>
              </a:rPr>
              <a:t>人</a:t>
            </a:r>
            <a:r>
              <a:rPr dirty="0" sz="2600" b="1">
                <a:latin typeface="微软雅黑"/>
                <a:cs typeface="微软雅黑"/>
              </a:rPr>
              <a:t>数</a:t>
            </a:r>
            <a:r>
              <a:rPr dirty="0" sz="2600" spc="400" b="1">
                <a:latin typeface="微软雅黑"/>
                <a:cs typeface="微软雅黑"/>
              </a:rPr>
              <a:t>为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spc="365" b="1">
                <a:latin typeface="Calibri"/>
                <a:cs typeface="Calibri"/>
              </a:rPr>
              <a:t> </a:t>
            </a:r>
            <a:r>
              <a:rPr dirty="0" sz="2600" b="1">
                <a:latin typeface="微软雅黑"/>
                <a:cs typeface="微软雅黑"/>
              </a:rPr>
              <a:t>、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spc="365" b="1">
                <a:latin typeface="Calibri"/>
                <a:cs typeface="Calibri"/>
              </a:rPr>
              <a:t> </a:t>
            </a:r>
            <a:r>
              <a:rPr dirty="0" sz="2600" b="1">
                <a:latin typeface="微软雅黑"/>
                <a:cs typeface="微软雅黑"/>
              </a:rPr>
              <a:t>、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spc="360" b="1">
                <a:latin typeface="Calibri"/>
                <a:cs typeface="Calibri"/>
              </a:rPr>
              <a:t> </a:t>
            </a:r>
            <a:r>
              <a:rPr dirty="0" sz="2600" b="1">
                <a:latin typeface="微软雅黑"/>
                <a:cs typeface="微软雅黑"/>
              </a:rPr>
              <a:t>、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spc="360" b="1">
                <a:latin typeface="Calibri"/>
                <a:cs typeface="Calibri"/>
              </a:rPr>
              <a:t> </a:t>
            </a:r>
            <a:r>
              <a:rPr dirty="0" sz="2600" b="1">
                <a:latin typeface="微软雅黑"/>
                <a:cs typeface="微软雅黑"/>
              </a:rPr>
              <a:t>，</a:t>
            </a:r>
            <a:r>
              <a:rPr dirty="0" sz="2600" spc="-50" b="1">
                <a:latin typeface="微软雅黑"/>
                <a:cs typeface="微软雅黑"/>
              </a:rPr>
              <a:t>则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7482" y="4338561"/>
            <a:ext cx="8515985" cy="169163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 marR="30480">
              <a:lnSpc>
                <a:spcPct val="139800"/>
              </a:lnSpc>
              <a:spcBef>
                <a:spcPts val="135"/>
              </a:spcBef>
            </a:pPr>
            <a:r>
              <a:rPr dirty="0" sz="2600" b="1">
                <a:latin typeface="Calibri"/>
                <a:cs typeface="Calibri"/>
              </a:rPr>
              <a:t>x</a:t>
            </a:r>
            <a:r>
              <a:rPr dirty="0" baseline="-19607" sz="2550" b="1">
                <a:latin typeface="Calibri"/>
                <a:cs typeface="Calibri"/>
              </a:rPr>
              <a:t>1</a:t>
            </a:r>
            <a:r>
              <a:rPr dirty="0" baseline="-19607" sz="2550" spc="44" b="1">
                <a:latin typeface="Calibri"/>
                <a:cs typeface="Calibri"/>
              </a:rPr>
              <a:t> </a:t>
            </a:r>
            <a:r>
              <a:rPr dirty="0" sz="2600" spc="-25" b="1">
                <a:latin typeface="Calibri"/>
                <a:cs typeface="Calibri"/>
              </a:rPr>
              <a:t>=|A|-</a:t>
            </a:r>
            <a:r>
              <a:rPr dirty="0" sz="2600" b="1">
                <a:latin typeface="Calibri"/>
                <a:cs typeface="Calibri"/>
              </a:rPr>
              <a:t>|(B</a:t>
            </a:r>
            <a:r>
              <a:rPr dirty="0" sz="2600" b="1">
                <a:latin typeface="Symbol"/>
                <a:cs typeface="Symbol"/>
              </a:rPr>
              <a:t></a:t>
            </a:r>
            <a:r>
              <a:rPr dirty="0" sz="2600" b="1">
                <a:latin typeface="Calibri"/>
                <a:cs typeface="Calibri"/>
              </a:rPr>
              <a:t>C</a:t>
            </a:r>
            <a:r>
              <a:rPr dirty="0" sz="2600" b="1">
                <a:latin typeface="Symbol"/>
                <a:cs typeface="Symbol"/>
              </a:rPr>
              <a:t></a:t>
            </a:r>
            <a:r>
              <a:rPr dirty="0" sz="2600" b="1">
                <a:latin typeface="Calibri"/>
                <a:cs typeface="Calibri"/>
              </a:rPr>
              <a:t>D)</a:t>
            </a:r>
            <a:r>
              <a:rPr dirty="0" sz="2600" b="1">
                <a:latin typeface="Symbol"/>
                <a:cs typeface="Symbol"/>
              </a:rPr>
              <a:t></a:t>
            </a:r>
            <a:r>
              <a:rPr dirty="0" sz="2600" b="1">
                <a:latin typeface="Calibri"/>
                <a:cs typeface="Calibri"/>
              </a:rPr>
              <a:t>A|=|A|-</a:t>
            </a:r>
            <a:r>
              <a:rPr dirty="0" sz="2600" spc="-10" b="1">
                <a:latin typeface="Calibri"/>
                <a:cs typeface="Calibri"/>
              </a:rPr>
              <a:t>|(B</a:t>
            </a:r>
            <a:r>
              <a:rPr dirty="0" sz="2600" spc="-10" b="1">
                <a:latin typeface="Symbol"/>
                <a:cs typeface="Symbol"/>
              </a:rPr>
              <a:t></a:t>
            </a:r>
            <a:r>
              <a:rPr dirty="0" sz="2600" spc="-10" b="1">
                <a:latin typeface="Calibri"/>
                <a:cs typeface="Calibri"/>
              </a:rPr>
              <a:t>A)</a:t>
            </a:r>
            <a:r>
              <a:rPr dirty="0" sz="2600" spc="-10" b="1">
                <a:latin typeface="Symbol"/>
                <a:cs typeface="Symbol"/>
              </a:rPr>
              <a:t></a:t>
            </a:r>
            <a:r>
              <a:rPr dirty="0" sz="2600" spc="-10" b="1">
                <a:latin typeface="Calibri"/>
                <a:cs typeface="Calibri"/>
              </a:rPr>
              <a:t>(C</a:t>
            </a:r>
            <a:r>
              <a:rPr dirty="0" sz="2600" spc="-10" b="1">
                <a:latin typeface="Symbol"/>
                <a:cs typeface="Symbol"/>
              </a:rPr>
              <a:t></a:t>
            </a:r>
            <a:r>
              <a:rPr dirty="0" sz="2600" spc="-10" b="1">
                <a:latin typeface="Calibri"/>
                <a:cs typeface="Calibri"/>
              </a:rPr>
              <a:t>A</a:t>
            </a:r>
            <a:r>
              <a:rPr dirty="0" sz="2600" spc="-15" b="1">
                <a:latin typeface="Calibri"/>
                <a:cs typeface="Calibri"/>
              </a:rPr>
              <a:t> ) </a:t>
            </a:r>
            <a:r>
              <a:rPr dirty="0" sz="2600" b="1">
                <a:latin typeface="Symbol"/>
                <a:cs typeface="Symbol"/>
              </a:rPr>
              <a:t></a:t>
            </a:r>
            <a:r>
              <a:rPr dirty="0" sz="2600" b="1">
                <a:latin typeface="Calibri"/>
                <a:cs typeface="Calibri"/>
              </a:rPr>
              <a:t>(D</a:t>
            </a:r>
            <a:r>
              <a:rPr dirty="0" sz="2600" b="1">
                <a:latin typeface="Symbol"/>
                <a:cs typeface="Symbol"/>
              </a:rPr>
              <a:t></a:t>
            </a:r>
            <a:r>
              <a:rPr dirty="0" sz="2600" b="1">
                <a:latin typeface="Calibri"/>
                <a:cs typeface="Calibri"/>
              </a:rPr>
              <a:t>A)|</a:t>
            </a:r>
            <a:r>
              <a:rPr dirty="0" sz="2600" b="1">
                <a:latin typeface="微软雅黑"/>
                <a:cs typeface="微软雅黑"/>
              </a:rPr>
              <a:t>，</a:t>
            </a:r>
            <a:r>
              <a:rPr dirty="0" sz="2600" spc="-50" b="1">
                <a:latin typeface="微软雅黑"/>
                <a:cs typeface="微软雅黑"/>
              </a:rPr>
              <a:t>对</a:t>
            </a:r>
            <a:r>
              <a:rPr dirty="0" sz="2600" spc="-50" b="1">
                <a:latin typeface="微软雅黑"/>
                <a:cs typeface="微软雅黑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B</a:t>
            </a:r>
            <a:r>
              <a:rPr dirty="0" sz="2600" spc="-20" b="1">
                <a:latin typeface="Symbol"/>
                <a:cs typeface="Symbol"/>
              </a:rPr>
              <a:t></a:t>
            </a:r>
            <a:r>
              <a:rPr dirty="0" sz="2600" spc="-20" b="1">
                <a:latin typeface="Calibri"/>
                <a:cs typeface="Calibri"/>
              </a:rPr>
              <a:t>A</a:t>
            </a:r>
            <a:r>
              <a:rPr dirty="0" sz="2600" b="1">
                <a:latin typeface="微软雅黑"/>
                <a:cs typeface="微软雅黑"/>
              </a:rPr>
              <a:t>、</a:t>
            </a:r>
            <a:r>
              <a:rPr dirty="0" sz="2600" spc="-40" b="1">
                <a:latin typeface="Calibri"/>
                <a:cs typeface="Calibri"/>
              </a:rPr>
              <a:t>C</a:t>
            </a:r>
            <a:r>
              <a:rPr dirty="0" sz="2600" spc="-40" b="1">
                <a:latin typeface="Symbol"/>
                <a:cs typeface="Symbol"/>
              </a:rPr>
              <a:t></a:t>
            </a:r>
            <a:r>
              <a:rPr dirty="0" sz="2600" spc="-40" b="1">
                <a:latin typeface="Calibri"/>
                <a:cs typeface="Calibri"/>
              </a:rPr>
              <a:t>A</a:t>
            </a:r>
            <a:r>
              <a:rPr dirty="0" sz="2600" b="1">
                <a:latin typeface="微软雅黑"/>
                <a:cs typeface="微软雅黑"/>
              </a:rPr>
              <a:t>、</a:t>
            </a:r>
            <a:r>
              <a:rPr dirty="0" sz="2600" spc="-30" b="1">
                <a:latin typeface="Calibri"/>
                <a:cs typeface="Calibri"/>
              </a:rPr>
              <a:t>D</a:t>
            </a:r>
            <a:r>
              <a:rPr dirty="0" sz="2600" spc="-30" b="1">
                <a:latin typeface="Symbol"/>
                <a:cs typeface="Symbol"/>
              </a:rPr>
              <a:t></a:t>
            </a:r>
            <a:r>
              <a:rPr dirty="0" sz="2600" spc="-30" b="1">
                <a:latin typeface="Calibri"/>
                <a:cs typeface="Calibri"/>
              </a:rPr>
              <a:t>A</a:t>
            </a:r>
            <a:r>
              <a:rPr dirty="0" sz="2600" spc="-20" b="1">
                <a:latin typeface="微软雅黑"/>
                <a:cs typeface="微软雅黑"/>
              </a:rPr>
              <a:t>用容</a:t>
            </a:r>
            <a:r>
              <a:rPr dirty="0" sz="2600" spc="-35" b="1">
                <a:latin typeface="微软雅黑"/>
                <a:cs typeface="微软雅黑"/>
              </a:rPr>
              <a:t>斥</a:t>
            </a:r>
            <a:r>
              <a:rPr dirty="0" sz="2600" spc="-35" b="1">
                <a:latin typeface="微软雅黑"/>
                <a:cs typeface="微软雅黑"/>
              </a:rPr>
              <a:t>原</a:t>
            </a:r>
            <a:r>
              <a:rPr dirty="0" sz="2600" spc="-35" b="1">
                <a:latin typeface="微软雅黑"/>
                <a:cs typeface="微软雅黑"/>
              </a:rPr>
              <a:t>理</a:t>
            </a:r>
            <a:r>
              <a:rPr dirty="0" sz="2600" spc="-20" b="1">
                <a:latin typeface="微软雅黑"/>
                <a:cs typeface="微软雅黑"/>
              </a:rPr>
              <a:t>，得</a:t>
            </a:r>
            <a:r>
              <a:rPr dirty="0" sz="2600" spc="-20" b="1">
                <a:latin typeface="Calibri"/>
                <a:cs typeface="Calibri"/>
              </a:rPr>
              <a:t>x</a:t>
            </a:r>
            <a:r>
              <a:rPr dirty="0" baseline="-19607" sz="2550" spc="-30" b="1">
                <a:latin typeface="Calibri"/>
                <a:cs typeface="Calibri"/>
              </a:rPr>
              <a:t>1</a:t>
            </a:r>
            <a:r>
              <a:rPr dirty="0" sz="2600" spc="-20" b="1">
                <a:latin typeface="Calibri"/>
                <a:cs typeface="Calibri"/>
              </a:rPr>
              <a:t>=1</a:t>
            </a:r>
            <a:r>
              <a:rPr dirty="0" sz="2600" spc="-10" b="1">
                <a:latin typeface="微软雅黑"/>
                <a:cs typeface="微软雅黑"/>
              </a:rPr>
              <a:t>，类</a:t>
            </a:r>
            <a:r>
              <a:rPr dirty="0" sz="2600" spc="-35" b="1">
                <a:latin typeface="微软雅黑"/>
                <a:cs typeface="微软雅黑"/>
              </a:rPr>
              <a:t>似</a:t>
            </a:r>
            <a:r>
              <a:rPr dirty="0" sz="2600" spc="-35" b="1">
                <a:latin typeface="微软雅黑"/>
                <a:cs typeface="微软雅黑"/>
              </a:rPr>
              <a:t>可</a:t>
            </a:r>
            <a:r>
              <a:rPr dirty="0" sz="2600" spc="-20" b="1">
                <a:latin typeface="微软雅黑"/>
                <a:cs typeface="微软雅黑"/>
              </a:rPr>
              <a:t>求出</a:t>
            </a:r>
            <a:r>
              <a:rPr dirty="0" sz="2600" spc="-10" b="1">
                <a:latin typeface="Calibri"/>
                <a:cs typeface="Calibri"/>
              </a:rPr>
              <a:t>x</a:t>
            </a:r>
            <a:r>
              <a:rPr dirty="0" baseline="-19607" sz="2550" spc="-15" b="1">
                <a:latin typeface="Calibri"/>
                <a:cs typeface="Calibri"/>
              </a:rPr>
              <a:t>2</a:t>
            </a:r>
            <a:r>
              <a:rPr dirty="0" sz="2600" spc="-10" b="1">
                <a:latin typeface="Calibri"/>
                <a:cs typeface="Calibri"/>
              </a:rPr>
              <a:t>=3</a:t>
            </a:r>
            <a:r>
              <a:rPr dirty="0" sz="2600" spc="-10" b="1">
                <a:latin typeface="微软雅黑"/>
                <a:cs typeface="微软雅黑"/>
              </a:rPr>
              <a:t>，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baseline="-19607" sz="2550" b="1">
                <a:latin typeface="Calibri"/>
                <a:cs typeface="Calibri"/>
              </a:rPr>
              <a:t>3</a:t>
            </a:r>
            <a:r>
              <a:rPr dirty="0" sz="2600" b="1">
                <a:latin typeface="Calibri"/>
                <a:cs typeface="Calibri"/>
              </a:rPr>
              <a:t>=3</a:t>
            </a:r>
            <a:r>
              <a:rPr dirty="0" sz="2600" spc="-80" b="1">
                <a:latin typeface="微软雅黑"/>
                <a:cs typeface="微软雅黑"/>
              </a:rPr>
              <a:t>，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baseline="-19607" sz="2550" b="1">
                <a:latin typeface="Calibri"/>
                <a:cs typeface="Calibri"/>
              </a:rPr>
              <a:t>4</a:t>
            </a:r>
            <a:r>
              <a:rPr dirty="0" sz="2600" b="1">
                <a:latin typeface="Calibri"/>
                <a:cs typeface="Calibri"/>
              </a:rPr>
              <a:t>=2</a:t>
            </a:r>
            <a:r>
              <a:rPr dirty="0" sz="2600" spc="-50" b="1">
                <a:latin typeface="Calibri"/>
                <a:cs typeface="Calibri"/>
              </a:rPr>
              <a:t> </a:t>
            </a:r>
            <a:r>
              <a:rPr dirty="0" sz="2600" spc="160" b="1">
                <a:latin typeface="微软雅黑"/>
                <a:cs typeface="微软雅黑"/>
              </a:rPr>
              <a:t>。 </a:t>
            </a:r>
            <a:r>
              <a:rPr dirty="0" sz="2600" spc="-50" b="1">
                <a:latin typeface="Symbol"/>
                <a:cs typeface="Symbol"/>
              </a:rPr>
              <a:t>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678423" y="2706623"/>
            <a:ext cx="2204085" cy="1755775"/>
          </a:xfrm>
          <a:custGeom>
            <a:avLst/>
            <a:gdLst/>
            <a:ahLst/>
            <a:cxnLst/>
            <a:rect l="l" t="t" r="r" b="b"/>
            <a:pathLst>
              <a:path w="2204084" h="1755775">
                <a:moveTo>
                  <a:pt x="0" y="1755648"/>
                </a:moveTo>
                <a:lnTo>
                  <a:pt x="2203704" y="1755648"/>
                </a:lnTo>
                <a:lnTo>
                  <a:pt x="2203704" y="0"/>
                </a:lnTo>
                <a:lnTo>
                  <a:pt x="0" y="0"/>
                </a:lnTo>
                <a:lnTo>
                  <a:pt x="0" y="1755648"/>
                </a:lnTo>
                <a:close/>
              </a:path>
              <a:path w="2204084" h="1755775">
                <a:moveTo>
                  <a:pt x="73151" y="1147571"/>
                </a:moveTo>
                <a:lnTo>
                  <a:pt x="75250" y="1101420"/>
                </a:lnTo>
                <a:lnTo>
                  <a:pt x="81429" y="1056358"/>
                </a:lnTo>
                <a:lnTo>
                  <a:pt x="91519" y="1012547"/>
                </a:lnTo>
                <a:lnTo>
                  <a:pt x="105347" y="970145"/>
                </a:lnTo>
                <a:lnTo>
                  <a:pt x="122741" y="929316"/>
                </a:lnTo>
                <a:lnTo>
                  <a:pt x="143531" y="890218"/>
                </a:lnTo>
                <a:lnTo>
                  <a:pt x="167544" y="853012"/>
                </a:lnTo>
                <a:lnTo>
                  <a:pt x="194609" y="817860"/>
                </a:lnTo>
                <a:lnTo>
                  <a:pt x="224554" y="784922"/>
                </a:lnTo>
                <a:lnTo>
                  <a:pt x="257208" y="754359"/>
                </a:lnTo>
                <a:lnTo>
                  <a:pt x="292398" y="726330"/>
                </a:lnTo>
                <a:lnTo>
                  <a:pt x="329954" y="700998"/>
                </a:lnTo>
                <a:lnTo>
                  <a:pt x="369703" y="678522"/>
                </a:lnTo>
                <a:lnTo>
                  <a:pt x="411474" y="659063"/>
                </a:lnTo>
                <a:lnTo>
                  <a:pt x="455096" y="642782"/>
                </a:lnTo>
                <a:lnTo>
                  <a:pt x="500396" y="629839"/>
                </a:lnTo>
                <a:lnTo>
                  <a:pt x="547203" y="620395"/>
                </a:lnTo>
                <a:lnTo>
                  <a:pt x="595345" y="614611"/>
                </a:lnTo>
                <a:lnTo>
                  <a:pt x="644651" y="612648"/>
                </a:lnTo>
                <a:lnTo>
                  <a:pt x="693958" y="614611"/>
                </a:lnTo>
                <a:lnTo>
                  <a:pt x="742100" y="620395"/>
                </a:lnTo>
                <a:lnTo>
                  <a:pt x="788907" y="629839"/>
                </a:lnTo>
                <a:lnTo>
                  <a:pt x="834207" y="642782"/>
                </a:lnTo>
                <a:lnTo>
                  <a:pt x="877829" y="659063"/>
                </a:lnTo>
                <a:lnTo>
                  <a:pt x="919600" y="678522"/>
                </a:lnTo>
                <a:lnTo>
                  <a:pt x="959349" y="700998"/>
                </a:lnTo>
                <a:lnTo>
                  <a:pt x="996905" y="726330"/>
                </a:lnTo>
                <a:lnTo>
                  <a:pt x="1032095" y="754359"/>
                </a:lnTo>
                <a:lnTo>
                  <a:pt x="1064749" y="784922"/>
                </a:lnTo>
                <a:lnTo>
                  <a:pt x="1094694" y="817860"/>
                </a:lnTo>
                <a:lnTo>
                  <a:pt x="1121759" y="853012"/>
                </a:lnTo>
                <a:lnTo>
                  <a:pt x="1145772" y="890218"/>
                </a:lnTo>
                <a:lnTo>
                  <a:pt x="1166562" y="929316"/>
                </a:lnTo>
                <a:lnTo>
                  <a:pt x="1183956" y="970145"/>
                </a:lnTo>
                <a:lnTo>
                  <a:pt x="1197784" y="1012547"/>
                </a:lnTo>
                <a:lnTo>
                  <a:pt x="1207874" y="1056358"/>
                </a:lnTo>
                <a:lnTo>
                  <a:pt x="1214053" y="1101420"/>
                </a:lnTo>
                <a:lnTo>
                  <a:pt x="1216152" y="1147571"/>
                </a:lnTo>
                <a:lnTo>
                  <a:pt x="1214053" y="1193723"/>
                </a:lnTo>
                <a:lnTo>
                  <a:pt x="1207874" y="1238785"/>
                </a:lnTo>
                <a:lnTo>
                  <a:pt x="1197784" y="1282596"/>
                </a:lnTo>
                <a:lnTo>
                  <a:pt x="1183956" y="1324998"/>
                </a:lnTo>
                <a:lnTo>
                  <a:pt x="1166562" y="1365827"/>
                </a:lnTo>
                <a:lnTo>
                  <a:pt x="1145772" y="1404925"/>
                </a:lnTo>
                <a:lnTo>
                  <a:pt x="1121759" y="1442131"/>
                </a:lnTo>
                <a:lnTo>
                  <a:pt x="1094694" y="1477283"/>
                </a:lnTo>
                <a:lnTo>
                  <a:pt x="1064749" y="1510221"/>
                </a:lnTo>
                <a:lnTo>
                  <a:pt x="1032095" y="1540784"/>
                </a:lnTo>
                <a:lnTo>
                  <a:pt x="996905" y="1568813"/>
                </a:lnTo>
                <a:lnTo>
                  <a:pt x="959349" y="1594145"/>
                </a:lnTo>
                <a:lnTo>
                  <a:pt x="919600" y="1616621"/>
                </a:lnTo>
                <a:lnTo>
                  <a:pt x="877829" y="1636080"/>
                </a:lnTo>
                <a:lnTo>
                  <a:pt x="834207" y="1652361"/>
                </a:lnTo>
                <a:lnTo>
                  <a:pt x="788907" y="1665304"/>
                </a:lnTo>
                <a:lnTo>
                  <a:pt x="742100" y="1674748"/>
                </a:lnTo>
                <a:lnTo>
                  <a:pt x="693958" y="1680532"/>
                </a:lnTo>
                <a:lnTo>
                  <a:pt x="644651" y="1682495"/>
                </a:lnTo>
                <a:lnTo>
                  <a:pt x="595345" y="1680532"/>
                </a:lnTo>
                <a:lnTo>
                  <a:pt x="547203" y="1674748"/>
                </a:lnTo>
                <a:lnTo>
                  <a:pt x="500396" y="1665304"/>
                </a:lnTo>
                <a:lnTo>
                  <a:pt x="455096" y="1652361"/>
                </a:lnTo>
                <a:lnTo>
                  <a:pt x="411474" y="1636080"/>
                </a:lnTo>
                <a:lnTo>
                  <a:pt x="369703" y="1616621"/>
                </a:lnTo>
                <a:lnTo>
                  <a:pt x="329954" y="1594145"/>
                </a:lnTo>
                <a:lnTo>
                  <a:pt x="292398" y="1568813"/>
                </a:lnTo>
                <a:lnTo>
                  <a:pt x="257208" y="1540784"/>
                </a:lnTo>
                <a:lnTo>
                  <a:pt x="224554" y="1510221"/>
                </a:lnTo>
                <a:lnTo>
                  <a:pt x="194609" y="1477283"/>
                </a:lnTo>
                <a:lnTo>
                  <a:pt x="167544" y="1442131"/>
                </a:lnTo>
                <a:lnTo>
                  <a:pt x="143531" y="1404925"/>
                </a:lnTo>
                <a:lnTo>
                  <a:pt x="122741" y="1365827"/>
                </a:lnTo>
                <a:lnTo>
                  <a:pt x="105347" y="1324998"/>
                </a:lnTo>
                <a:lnTo>
                  <a:pt x="91519" y="1282596"/>
                </a:lnTo>
                <a:lnTo>
                  <a:pt x="81429" y="1238785"/>
                </a:lnTo>
                <a:lnTo>
                  <a:pt x="75250" y="1193723"/>
                </a:lnTo>
                <a:lnTo>
                  <a:pt x="73151" y="1147571"/>
                </a:lnTo>
                <a:close/>
              </a:path>
              <a:path w="2204084" h="1755775">
                <a:moveTo>
                  <a:pt x="603503" y="1147571"/>
                </a:moveTo>
                <a:lnTo>
                  <a:pt x="605602" y="1101420"/>
                </a:lnTo>
                <a:lnTo>
                  <a:pt x="611781" y="1056358"/>
                </a:lnTo>
                <a:lnTo>
                  <a:pt x="621871" y="1012547"/>
                </a:lnTo>
                <a:lnTo>
                  <a:pt x="635699" y="970145"/>
                </a:lnTo>
                <a:lnTo>
                  <a:pt x="653093" y="929316"/>
                </a:lnTo>
                <a:lnTo>
                  <a:pt x="673883" y="890218"/>
                </a:lnTo>
                <a:lnTo>
                  <a:pt x="697896" y="853012"/>
                </a:lnTo>
                <a:lnTo>
                  <a:pt x="724961" y="817860"/>
                </a:lnTo>
                <a:lnTo>
                  <a:pt x="754906" y="784922"/>
                </a:lnTo>
                <a:lnTo>
                  <a:pt x="787560" y="754359"/>
                </a:lnTo>
                <a:lnTo>
                  <a:pt x="822750" y="726330"/>
                </a:lnTo>
                <a:lnTo>
                  <a:pt x="860306" y="700998"/>
                </a:lnTo>
                <a:lnTo>
                  <a:pt x="900055" y="678522"/>
                </a:lnTo>
                <a:lnTo>
                  <a:pt x="941826" y="659063"/>
                </a:lnTo>
                <a:lnTo>
                  <a:pt x="985448" y="642782"/>
                </a:lnTo>
                <a:lnTo>
                  <a:pt x="1030748" y="629839"/>
                </a:lnTo>
                <a:lnTo>
                  <a:pt x="1077555" y="620395"/>
                </a:lnTo>
                <a:lnTo>
                  <a:pt x="1125697" y="614611"/>
                </a:lnTo>
                <a:lnTo>
                  <a:pt x="1175003" y="612648"/>
                </a:lnTo>
                <a:lnTo>
                  <a:pt x="1224310" y="614611"/>
                </a:lnTo>
                <a:lnTo>
                  <a:pt x="1272452" y="620395"/>
                </a:lnTo>
                <a:lnTo>
                  <a:pt x="1319259" y="629839"/>
                </a:lnTo>
                <a:lnTo>
                  <a:pt x="1364559" y="642782"/>
                </a:lnTo>
                <a:lnTo>
                  <a:pt x="1408181" y="659063"/>
                </a:lnTo>
                <a:lnTo>
                  <a:pt x="1449952" y="678522"/>
                </a:lnTo>
                <a:lnTo>
                  <a:pt x="1489701" y="700998"/>
                </a:lnTo>
                <a:lnTo>
                  <a:pt x="1527257" y="726330"/>
                </a:lnTo>
                <a:lnTo>
                  <a:pt x="1562447" y="754359"/>
                </a:lnTo>
                <a:lnTo>
                  <a:pt x="1595101" y="784922"/>
                </a:lnTo>
                <a:lnTo>
                  <a:pt x="1625046" y="817860"/>
                </a:lnTo>
                <a:lnTo>
                  <a:pt x="1652111" y="853012"/>
                </a:lnTo>
                <a:lnTo>
                  <a:pt x="1676124" y="890218"/>
                </a:lnTo>
                <a:lnTo>
                  <a:pt x="1696914" y="929316"/>
                </a:lnTo>
                <a:lnTo>
                  <a:pt x="1714308" y="970145"/>
                </a:lnTo>
                <a:lnTo>
                  <a:pt x="1728136" y="1012547"/>
                </a:lnTo>
                <a:lnTo>
                  <a:pt x="1738226" y="1056358"/>
                </a:lnTo>
                <a:lnTo>
                  <a:pt x="1744405" y="1101420"/>
                </a:lnTo>
                <a:lnTo>
                  <a:pt x="1746503" y="1147571"/>
                </a:lnTo>
                <a:lnTo>
                  <a:pt x="1744405" y="1193723"/>
                </a:lnTo>
                <a:lnTo>
                  <a:pt x="1738226" y="1238785"/>
                </a:lnTo>
                <a:lnTo>
                  <a:pt x="1728136" y="1282596"/>
                </a:lnTo>
                <a:lnTo>
                  <a:pt x="1714308" y="1324998"/>
                </a:lnTo>
                <a:lnTo>
                  <a:pt x="1696914" y="1365827"/>
                </a:lnTo>
                <a:lnTo>
                  <a:pt x="1676124" y="1404925"/>
                </a:lnTo>
                <a:lnTo>
                  <a:pt x="1652111" y="1442131"/>
                </a:lnTo>
                <a:lnTo>
                  <a:pt x="1625046" y="1477283"/>
                </a:lnTo>
                <a:lnTo>
                  <a:pt x="1595101" y="1510221"/>
                </a:lnTo>
                <a:lnTo>
                  <a:pt x="1562447" y="1540784"/>
                </a:lnTo>
                <a:lnTo>
                  <a:pt x="1527257" y="1568813"/>
                </a:lnTo>
                <a:lnTo>
                  <a:pt x="1489701" y="1594145"/>
                </a:lnTo>
                <a:lnTo>
                  <a:pt x="1449952" y="1616621"/>
                </a:lnTo>
                <a:lnTo>
                  <a:pt x="1408181" y="1636080"/>
                </a:lnTo>
                <a:lnTo>
                  <a:pt x="1364559" y="1652361"/>
                </a:lnTo>
                <a:lnTo>
                  <a:pt x="1319259" y="1665304"/>
                </a:lnTo>
                <a:lnTo>
                  <a:pt x="1272452" y="1674748"/>
                </a:lnTo>
                <a:lnTo>
                  <a:pt x="1224310" y="1680532"/>
                </a:lnTo>
                <a:lnTo>
                  <a:pt x="1175003" y="1682495"/>
                </a:lnTo>
                <a:lnTo>
                  <a:pt x="1125697" y="1680532"/>
                </a:lnTo>
                <a:lnTo>
                  <a:pt x="1077555" y="1674748"/>
                </a:lnTo>
                <a:lnTo>
                  <a:pt x="1030748" y="1665304"/>
                </a:lnTo>
                <a:lnTo>
                  <a:pt x="985448" y="1652361"/>
                </a:lnTo>
                <a:lnTo>
                  <a:pt x="941826" y="1636080"/>
                </a:lnTo>
                <a:lnTo>
                  <a:pt x="900055" y="1616621"/>
                </a:lnTo>
                <a:lnTo>
                  <a:pt x="860306" y="1594145"/>
                </a:lnTo>
                <a:lnTo>
                  <a:pt x="822750" y="1568813"/>
                </a:lnTo>
                <a:lnTo>
                  <a:pt x="787560" y="1540784"/>
                </a:lnTo>
                <a:lnTo>
                  <a:pt x="754906" y="1510221"/>
                </a:lnTo>
                <a:lnTo>
                  <a:pt x="724961" y="1477283"/>
                </a:lnTo>
                <a:lnTo>
                  <a:pt x="697896" y="1442131"/>
                </a:lnTo>
                <a:lnTo>
                  <a:pt x="673883" y="1404925"/>
                </a:lnTo>
                <a:lnTo>
                  <a:pt x="653093" y="1365827"/>
                </a:lnTo>
                <a:lnTo>
                  <a:pt x="635699" y="1324998"/>
                </a:lnTo>
                <a:lnTo>
                  <a:pt x="621871" y="1282596"/>
                </a:lnTo>
                <a:lnTo>
                  <a:pt x="611781" y="1238785"/>
                </a:lnTo>
                <a:lnTo>
                  <a:pt x="605602" y="1193723"/>
                </a:lnTo>
                <a:lnTo>
                  <a:pt x="603503" y="1147571"/>
                </a:lnTo>
                <a:close/>
              </a:path>
              <a:path w="2204084" h="1755775">
                <a:moveTo>
                  <a:pt x="301751" y="612648"/>
                </a:moveTo>
                <a:lnTo>
                  <a:pt x="303850" y="566893"/>
                </a:lnTo>
                <a:lnTo>
                  <a:pt x="310029" y="522218"/>
                </a:lnTo>
                <a:lnTo>
                  <a:pt x="320119" y="478782"/>
                </a:lnTo>
                <a:lnTo>
                  <a:pt x="333947" y="436744"/>
                </a:lnTo>
                <a:lnTo>
                  <a:pt x="351341" y="396263"/>
                </a:lnTo>
                <a:lnTo>
                  <a:pt x="372131" y="357500"/>
                </a:lnTo>
                <a:lnTo>
                  <a:pt x="396144" y="320613"/>
                </a:lnTo>
                <a:lnTo>
                  <a:pt x="423209" y="285761"/>
                </a:lnTo>
                <a:lnTo>
                  <a:pt x="453154" y="253104"/>
                </a:lnTo>
                <a:lnTo>
                  <a:pt x="485808" y="222801"/>
                </a:lnTo>
                <a:lnTo>
                  <a:pt x="520998" y="195012"/>
                </a:lnTo>
                <a:lnTo>
                  <a:pt x="558554" y="169895"/>
                </a:lnTo>
                <a:lnTo>
                  <a:pt x="598303" y="147610"/>
                </a:lnTo>
                <a:lnTo>
                  <a:pt x="640074" y="128317"/>
                </a:lnTo>
                <a:lnTo>
                  <a:pt x="683696" y="112174"/>
                </a:lnTo>
                <a:lnTo>
                  <a:pt x="728996" y="99341"/>
                </a:lnTo>
                <a:lnTo>
                  <a:pt x="775803" y="89977"/>
                </a:lnTo>
                <a:lnTo>
                  <a:pt x="823945" y="84243"/>
                </a:lnTo>
                <a:lnTo>
                  <a:pt x="873251" y="82296"/>
                </a:lnTo>
                <a:lnTo>
                  <a:pt x="922558" y="84243"/>
                </a:lnTo>
                <a:lnTo>
                  <a:pt x="970700" y="89977"/>
                </a:lnTo>
                <a:lnTo>
                  <a:pt x="1017507" y="99341"/>
                </a:lnTo>
                <a:lnTo>
                  <a:pt x="1062807" y="112174"/>
                </a:lnTo>
                <a:lnTo>
                  <a:pt x="1106429" y="128317"/>
                </a:lnTo>
                <a:lnTo>
                  <a:pt x="1148200" y="147610"/>
                </a:lnTo>
                <a:lnTo>
                  <a:pt x="1187949" y="169895"/>
                </a:lnTo>
                <a:lnTo>
                  <a:pt x="1225505" y="195012"/>
                </a:lnTo>
                <a:lnTo>
                  <a:pt x="1260695" y="222801"/>
                </a:lnTo>
                <a:lnTo>
                  <a:pt x="1293349" y="253104"/>
                </a:lnTo>
                <a:lnTo>
                  <a:pt x="1323294" y="285761"/>
                </a:lnTo>
                <a:lnTo>
                  <a:pt x="1350359" y="320613"/>
                </a:lnTo>
                <a:lnTo>
                  <a:pt x="1374372" y="357500"/>
                </a:lnTo>
                <a:lnTo>
                  <a:pt x="1395162" y="396263"/>
                </a:lnTo>
                <a:lnTo>
                  <a:pt x="1412556" y="436744"/>
                </a:lnTo>
                <a:lnTo>
                  <a:pt x="1426384" y="478782"/>
                </a:lnTo>
                <a:lnTo>
                  <a:pt x="1436474" y="522218"/>
                </a:lnTo>
                <a:lnTo>
                  <a:pt x="1442653" y="566893"/>
                </a:lnTo>
                <a:lnTo>
                  <a:pt x="1444752" y="612648"/>
                </a:lnTo>
                <a:lnTo>
                  <a:pt x="1442653" y="658402"/>
                </a:lnTo>
                <a:lnTo>
                  <a:pt x="1436474" y="703077"/>
                </a:lnTo>
                <a:lnTo>
                  <a:pt x="1426384" y="746513"/>
                </a:lnTo>
                <a:lnTo>
                  <a:pt x="1412556" y="788551"/>
                </a:lnTo>
                <a:lnTo>
                  <a:pt x="1395162" y="829032"/>
                </a:lnTo>
                <a:lnTo>
                  <a:pt x="1374372" y="867795"/>
                </a:lnTo>
                <a:lnTo>
                  <a:pt x="1350359" y="904682"/>
                </a:lnTo>
                <a:lnTo>
                  <a:pt x="1323294" y="939534"/>
                </a:lnTo>
                <a:lnTo>
                  <a:pt x="1293349" y="972191"/>
                </a:lnTo>
                <a:lnTo>
                  <a:pt x="1260695" y="1002494"/>
                </a:lnTo>
                <a:lnTo>
                  <a:pt x="1225505" y="1030283"/>
                </a:lnTo>
                <a:lnTo>
                  <a:pt x="1187949" y="1055400"/>
                </a:lnTo>
                <a:lnTo>
                  <a:pt x="1148200" y="1077685"/>
                </a:lnTo>
                <a:lnTo>
                  <a:pt x="1106429" y="1096978"/>
                </a:lnTo>
                <a:lnTo>
                  <a:pt x="1062807" y="1113121"/>
                </a:lnTo>
                <a:lnTo>
                  <a:pt x="1017507" y="1125954"/>
                </a:lnTo>
                <a:lnTo>
                  <a:pt x="970700" y="1135318"/>
                </a:lnTo>
                <a:lnTo>
                  <a:pt x="922558" y="1141052"/>
                </a:lnTo>
                <a:lnTo>
                  <a:pt x="873251" y="1143000"/>
                </a:lnTo>
                <a:lnTo>
                  <a:pt x="823945" y="1141052"/>
                </a:lnTo>
                <a:lnTo>
                  <a:pt x="775803" y="1135318"/>
                </a:lnTo>
                <a:lnTo>
                  <a:pt x="728996" y="1125954"/>
                </a:lnTo>
                <a:lnTo>
                  <a:pt x="683696" y="1113121"/>
                </a:lnTo>
                <a:lnTo>
                  <a:pt x="640074" y="1096978"/>
                </a:lnTo>
                <a:lnTo>
                  <a:pt x="598303" y="1077685"/>
                </a:lnTo>
                <a:lnTo>
                  <a:pt x="558554" y="1055400"/>
                </a:lnTo>
                <a:lnTo>
                  <a:pt x="520998" y="1030283"/>
                </a:lnTo>
                <a:lnTo>
                  <a:pt x="485808" y="1002494"/>
                </a:lnTo>
                <a:lnTo>
                  <a:pt x="453154" y="972191"/>
                </a:lnTo>
                <a:lnTo>
                  <a:pt x="423209" y="939534"/>
                </a:lnTo>
                <a:lnTo>
                  <a:pt x="396144" y="904682"/>
                </a:lnTo>
                <a:lnTo>
                  <a:pt x="372131" y="867795"/>
                </a:lnTo>
                <a:lnTo>
                  <a:pt x="351341" y="829032"/>
                </a:lnTo>
                <a:lnTo>
                  <a:pt x="333947" y="788551"/>
                </a:lnTo>
                <a:lnTo>
                  <a:pt x="320119" y="746513"/>
                </a:lnTo>
                <a:lnTo>
                  <a:pt x="310029" y="703077"/>
                </a:lnTo>
                <a:lnTo>
                  <a:pt x="303850" y="658402"/>
                </a:lnTo>
                <a:lnTo>
                  <a:pt x="301751" y="612648"/>
                </a:lnTo>
                <a:close/>
              </a:path>
              <a:path w="2204084" h="1755775">
                <a:moveTo>
                  <a:pt x="1143000" y="347472"/>
                </a:moveTo>
                <a:lnTo>
                  <a:pt x="1156965" y="282185"/>
                </a:lnTo>
                <a:lnTo>
                  <a:pt x="1196573" y="222821"/>
                </a:lnTo>
                <a:lnTo>
                  <a:pt x="1224922" y="195980"/>
                </a:lnTo>
                <a:lnTo>
                  <a:pt x="1258396" y="171366"/>
                </a:lnTo>
                <a:lnTo>
                  <a:pt x="1296566" y="149227"/>
                </a:lnTo>
                <a:lnTo>
                  <a:pt x="1339004" y="129812"/>
                </a:lnTo>
                <a:lnTo>
                  <a:pt x="1385280" y="113369"/>
                </a:lnTo>
                <a:lnTo>
                  <a:pt x="1434967" y="100148"/>
                </a:lnTo>
                <a:lnTo>
                  <a:pt x="1487634" y="90396"/>
                </a:lnTo>
                <a:lnTo>
                  <a:pt x="1542855" y="84362"/>
                </a:lnTo>
                <a:lnTo>
                  <a:pt x="1600200" y="82296"/>
                </a:lnTo>
                <a:lnTo>
                  <a:pt x="1657544" y="84362"/>
                </a:lnTo>
                <a:lnTo>
                  <a:pt x="1712765" y="90396"/>
                </a:lnTo>
                <a:lnTo>
                  <a:pt x="1765432" y="100148"/>
                </a:lnTo>
                <a:lnTo>
                  <a:pt x="1815119" y="113369"/>
                </a:lnTo>
                <a:lnTo>
                  <a:pt x="1861395" y="129812"/>
                </a:lnTo>
                <a:lnTo>
                  <a:pt x="1903833" y="149227"/>
                </a:lnTo>
                <a:lnTo>
                  <a:pt x="1942003" y="171366"/>
                </a:lnTo>
                <a:lnTo>
                  <a:pt x="1975477" y="195980"/>
                </a:lnTo>
                <a:lnTo>
                  <a:pt x="2003826" y="222821"/>
                </a:lnTo>
                <a:lnTo>
                  <a:pt x="2043434" y="282185"/>
                </a:lnTo>
                <a:lnTo>
                  <a:pt x="2057400" y="347472"/>
                </a:lnTo>
                <a:lnTo>
                  <a:pt x="2053837" y="380730"/>
                </a:lnTo>
                <a:lnTo>
                  <a:pt x="2026621" y="443305"/>
                </a:lnTo>
                <a:lnTo>
                  <a:pt x="1975477" y="498963"/>
                </a:lnTo>
                <a:lnTo>
                  <a:pt x="1942003" y="523577"/>
                </a:lnTo>
                <a:lnTo>
                  <a:pt x="1903833" y="545716"/>
                </a:lnTo>
                <a:lnTo>
                  <a:pt x="1861395" y="565131"/>
                </a:lnTo>
                <a:lnTo>
                  <a:pt x="1815119" y="581574"/>
                </a:lnTo>
                <a:lnTo>
                  <a:pt x="1765432" y="594795"/>
                </a:lnTo>
                <a:lnTo>
                  <a:pt x="1712765" y="604547"/>
                </a:lnTo>
                <a:lnTo>
                  <a:pt x="1657544" y="610581"/>
                </a:lnTo>
                <a:lnTo>
                  <a:pt x="1600200" y="612648"/>
                </a:lnTo>
                <a:lnTo>
                  <a:pt x="1542855" y="610581"/>
                </a:lnTo>
                <a:lnTo>
                  <a:pt x="1487634" y="604547"/>
                </a:lnTo>
                <a:lnTo>
                  <a:pt x="1434967" y="594795"/>
                </a:lnTo>
                <a:lnTo>
                  <a:pt x="1385280" y="581574"/>
                </a:lnTo>
                <a:lnTo>
                  <a:pt x="1339004" y="565131"/>
                </a:lnTo>
                <a:lnTo>
                  <a:pt x="1296566" y="545716"/>
                </a:lnTo>
                <a:lnTo>
                  <a:pt x="1258396" y="523577"/>
                </a:lnTo>
                <a:lnTo>
                  <a:pt x="1224922" y="498963"/>
                </a:lnTo>
                <a:lnTo>
                  <a:pt x="1196573" y="472122"/>
                </a:lnTo>
                <a:lnTo>
                  <a:pt x="1156965" y="412758"/>
                </a:lnTo>
                <a:lnTo>
                  <a:pt x="1143000" y="347472"/>
                </a:lnTo>
                <a:close/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848730" y="3727767"/>
            <a:ext cx="231140" cy="387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350" spc="20" b="1">
                <a:latin typeface="Arial"/>
                <a:cs typeface="Arial"/>
              </a:rPr>
              <a:t>C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6128511" y="2769234"/>
            <a:ext cx="55372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-22458" sz="3525" b="1">
                <a:latin typeface="Arial"/>
                <a:cs typeface="Arial"/>
              </a:rPr>
              <a:t>A</a:t>
            </a:r>
            <a:r>
              <a:rPr dirty="0" baseline="-22458" sz="3525" spc="60" b="1">
                <a:latin typeface="Arial"/>
                <a:cs typeface="Arial"/>
              </a:rPr>
              <a:t> </a:t>
            </a:r>
            <a:r>
              <a:rPr dirty="0" sz="1350" spc="-25" b="1">
                <a:latin typeface="Arial"/>
                <a:cs typeface="Arial"/>
              </a:rPr>
              <a:t>X</a:t>
            </a:r>
            <a:r>
              <a:rPr dirty="0" baseline="-18518" sz="1350" spc="-37" b="1">
                <a:latin typeface="Arial"/>
                <a:cs typeface="Arial"/>
              </a:rPr>
              <a:t>1</a:t>
            </a:r>
            <a:endParaRPr baseline="-18518" sz="1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272401" y="2811907"/>
            <a:ext cx="47815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350" spc="-25" b="1">
                <a:latin typeface="Arial"/>
                <a:cs typeface="Arial"/>
              </a:rPr>
              <a:t>B</a:t>
            </a:r>
            <a:r>
              <a:rPr dirty="0" baseline="14403" sz="2025" spc="-37" b="1">
                <a:latin typeface="Arial"/>
                <a:cs typeface="Arial"/>
              </a:rPr>
              <a:t>X</a:t>
            </a:r>
            <a:r>
              <a:rPr dirty="0" baseline="3086" sz="1350" spc="-37" b="1">
                <a:latin typeface="Arial"/>
                <a:cs typeface="Arial"/>
              </a:rPr>
              <a:t>2</a:t>
            </a:r>
            <a:endParaRPr baseline="3086" sz="13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66409" y="3966209"/>
            <a:ext cx="248920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1350" spc="-25" b="1">
                <a:latin typeface="Arial"/>
                <a:cs typeface="Arial"/>
              </a:rPr>
              <a:t>X</a:t>
            </a:r>
            <a:r>
              <a:rPr dirty="0" baseline="-18518" sz="1350" spc="-37" b="1">
                <a:latin typeface="Arial"/>
                <a:cs typeface="Arial"/>
              </a:rPr>
              <a:t>3</a:t>
            </a:r>
            <a:endParaRPr baseline="-18518" sz="13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67601" y="3737228"/>
            <a:ext cx="415290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91770">
              <a:lnSpc>
                <a:spcPts val="1380"/>
              </a:lnSpc>
              <a:spcBef>
                <a:spcPts val="114"/>
              </a:spcBef>
            </a:pPr>
            <a:r>
              <a:rPr dirty="0" sz="1350" spc="-25" b="1">
                <a:latin typeface="Arial"/>
                <a:cs typeface="Arial"/>
              </a:rPr>
              <a:t>X</a:t>
            </a:r>
            <a:r>
              <a:rPr dirty="0" baseline="-18518" sz="1350" spc="-37" b="1">
                <a:latin typeface="Arial"/>
                <a:cs typeface="Arial"/>
              </a:rPr>
              <a:t>4</a:t>
            </a:r>
            <a:endParaRPr baseline="-18518" sz="1350">
              <a:latin typeface="Arial"/>
              <a:cs typeface="Arial"/>
            </a:endParaRPr>
          </a:p>
          <a:p>
            <a:pPr marL="25400">
              <a:lnSpc>
                <a:spcPts val="2580"/>
              </a:lnSpc>
            </a:pPr>
            <a:r>
              <a:rPr dirty="0" sz="2350" spc="20" b="1">
                <a:latin typeface="Arial"/>
                <a:cs typeface="Arial"/>
              </a:rPr>
              <a:t>D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071" y="471551"/>
            <a:ext cx="11601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小</a:t>
            </a:r>
            <a:r>
              <a:rPr dirty="0" spc="-50"/>
              <a:t>结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33029"/>
            <a:ext cx="6513830" cy="46405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dirty="0" sz="2800" spc="5" b="1">
                <a:latin typeface="微软雅黑"/>
                <a:cs typeface="微软雅黑"/>
              </a:rPr>
              <a:t>集合的概念、集合之间的关系</a:t>
            </a:r>
            <a:endParaRPr sz="2800">
              <a:latin typeface="微软雅黑"/>
              <a:cs typeface="微软雅黑"/>
            </a:endParaRPr>
          </a:p>
          <a:p>
            <a:pPr lvl="1" marL="753745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-5" b="1">
                <a:latin typeface="微软雅黑"/>
                <a:cs typeface="微软雅黑"/>
              </a:rPr>
              <a:t>集合、集合的表示、文氏图、多重集</a:t>
            </a:r>
            <a:endParaRPr sz="2800">
              <a:latin typeface="微软雅黑"/>
              <a:cs typeface="微软雅黑"/>
            </a:endParaRPr>
          </a:p>
          <a:p>
            <a:pPr lvl="1" marL="753745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-5" b="1">
                <a:latin typeface="微软雅黑"/>
                <a:cs typeface="微软雅黑"/>
              </a:rPr>
              <a:t>子集、相等、真子集、空集、全集</a:t>
            </a:r>
            <a:endParaRPr sz="2800">
              <a:latin typeface="微软雅黑"/>
              <a:cs typeface="微软雅黑"/>
            </a:endParaRPr>
          </a:p>
          <a:p>
            <a:pPr lvl="1" marL="753745" indent="-28448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-5" b="1">
                <a:latin typeface="微软雅黑"/>
                <a:cs typeface="微软雅黑"/>
              </a:rPr>
              <a:t>幂集、集族、带指标集的集族</a:t>
            </a:r>
            <a:endParaRPr sz="2800">
              <a:latin typeface="微软雅黑"/>
              <a:cs typeface="微软雅黑"/>
            </a:endParaRPr>
          </a:p>
          <a:p>
            <a:pPr lvl="1" marL="753745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b="1">
                <a:latin typeface="微软雅黑"/>
                <a:cs typeface="微软雅黑"/>
              </a:rPr>
              <a:t>集合的元素个数、容斥原理</a:t>
            </a:r>
            <a:endParaRPr sz="2800">
              <a:latin typeface="微软雅黑"/>
              <a:cs typeface="微软雅黑"/>
            </a:endParaRPr>
          </a:p>
          <a:p>
            <a:pPr marL="360045" indent="-347980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dirty="0" sz="2800" spc="-5" b="1">
                <a:latin typeface="微软雅黑"/>
                <a:cs typeface="微软雅黑"/>
              </a:rPr>
              <a:t>集合的运算、集合运算的优先级</a:t>
            </a:r>
            <a:endParaRPr sz="2800">
              <a:latin typeface="微软雅黑"/>
              <a:cs typeface="微软雅黑"/>
            </a:endParaRPr>
          </a:p>
          <a:p>
            <a:pPr lvl="1" marL="753745" indent="-28448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20" b="1">
                <a:latin typeface="微软雅黑"/>
                <a:cs typeface="微软雅黑"/>
              </a:rPr>
              <a:t>并、初级并、广义并</a:t>
            </a:r>
            <a:endParaRPr sz="2800">
              <a:latin typeface="微软雅黑"/>
              <a:cs typeface="微软雅黑"/>
            </a:endParaRPr>
          </a:p>
          <a:p>
            <a:pPr lvl="1" marL="753745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20" b="1">
                <a:latin typeface="微软雅黑"/>
                <a:cs typeface="微软雅黑"/>
              </a:rPr>
              <a:t>交、初级交、广义交</a:t>
            </a:r>
            <a:endParaRPr sz="2800">
              <a:latin typeface="微软雅黑"/>
              <a:cs typeface="微软雅黑"/>
            </a:endParaRPr>
          </a:p>
          <a:p>
            <a:pPr lvl="1" marL="753745" indent="-2844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10" b="1">
                <a:latin typeface="微软雅黑"/>
                <a:cs typeface="微软雅黑"/>
              </a:rPr>
              <a:t>相对补、对称差、绝对补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2023-02-13T23:37:53Z</dcterms:created>
  <dcterms:modified xsi:type="dcterms:W3CDTF">2023-02-13T23:37:53Z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2018-01-29T00:00:00Z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2018-01-29T00:00:00Z</vt:filetime>
  </property>
</Properties>
</file>