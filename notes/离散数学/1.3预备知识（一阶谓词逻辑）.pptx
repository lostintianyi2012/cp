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6575" y="1763395"/>
            <a:ext cx="3322954" cy="40805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6783" y="471551"/>
            <a:ext cx="1170432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C00000"/>
                </a:solidFill>
                <a:latin typeface="Microsoft JhengHei"/>
                <a:cs typeface="Microsoft JhengHe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28320" y="1754568"/>
            <a:ext cx="8087359" cy="3112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398002" y="6473078"/>
            <a:ext cx="254000" cy="181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4228" y="2493086"/>
            <a:ext cx="650494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65"/>
              <a:t>单元</a:t>
            </a:r>
            <a:r>
              <a:rPr dirty="0">
                <a:latin typeface="Calibri"/>
                <a:cs typeface="Calibri"/>
              </a:rPr>
              <a:t>1.3</a:t>
            </a:r>
            <a:r>
              <a:rPr dirty="0" spc="-80">
                <a:latin typeface="Calibri"/>
                <a:cs typeface="Calibri"/>
              </a:rPr>
              <a:t> </a:t>
            </a:r>
            <a:r>
              <a:rPr dirty="0" spc="25"/>
              <a:t>谓词逻辑预备知识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2084070" y="3803472"/>
            <a:ext cx="4986655" cy="1197610"/>
          </a:xfrm>
          <a:prstGeom prst="rect">
            <a:avLst/>
          </a:prstGeom>
        </p:spPr>
        <p:txBody>
          <a:bodyPr wrap="square" lIns="0" tIns="1181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0"/>
              </a:spcBef>
              <a:tabLst>
                <a:tab pos="2831465" algn="l"/>
              </a:tabLst>
            </a:pP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第一</a:t>
            </a:r>
            <a:r>
              <a:rPr dirty="0" sz="3150" spc="720" b="1">
                <a:solidFill>
                  <a:srgbClr val="888888"/>
                </a:solidFill>
                <a:latin typeface="Microsoft JhengHei"/>
                <a:cs typeface="Microsoft JhengHei"/>
              </a:rPr>
              <a:t>编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集合</a:t>
            </a:r>
            <a:r>
              <a:rPr dirty="0" sz="3150" spc="-50" b="1">
                <a:solidFill>
                  <a:srgbClr val="888888"/>
                </a:solidFill>
                <a:latin typeface="Microsoft JhengHei"/>
                <a:cs typeface="Microsoft JhengHei"/>
              </a:rPr>
              <a:t>论</a:t>
            </a:r>
            <a:r>
              <a:rPr dirty="0" sz="3150" b="1">
                <a:solidFill>
                  <a:srgbClr val="888888"/>
                </a:solidFill>
                <a:latin typeface="Microsoft JhengHei"/>
                <a:cs typeface="Microsoft JhengHei"/>
              </a:rPr>
              <a:t>	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第一</a:t>
            </a:r>
            <a:r>
              <a:rPr dirty="0" sz="3150" spc="720" b="1">
                <a:solidFill>
                  <a:srgbClr val="888888"/>
                </a:solidFill>
                <a:latin typeface="Microsoft JhengHei"/>
                <a:cs typeface="Microsoft JhengHei"/>
              </a:rPr>
              <a:t>章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集</a:t>
            </a:r>
            <a:r>
              <a:rPr dirty="0" sz="3150" spc="15" b="1">
                <a:solidFill>
                  <a:srgbClr val="888888"/>
                </a:solidFill>
                <a:latin typeface="Microsoft JhengHei"/>
                <a:cs typeface="Microsoft JhengHei"/>
              </a:rPr>
              <a:t>合</a:t>
            </a:r>
            <a:endParaRPr sz="3150">
              <a:latin typeface="Microsoft JhengHei"/>
              <a:cs typeface="Microsoft JhengHei"/>
            </a:endParaRPr>
          </a:p>
          <a:p>
            <a:pPr marL="744855">
              <a:lnSpc>
                <a:spcPct val="100000"/>
              </a:lnSpc>
              <a:spcBef>
                <a:spcPts val="835"/>
              </a:spcBef>
            </a:pPr>
            <a:r>
              <a:rPr dirty="0" sz="3150" b="1">
                <a:solidFill>
                  <a:srgbClr val="888888"/>
                </a:solidFill>
                <a:latin typeface="Calibri"/>
                <a:cs typeface="Calibri"/>
              </a:rPr>
              <a:t>1.1</a:t>
            </a:r>
            <a:r>
              <a:rPr dirty="0" sz="3150" spc="45" b="1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dirty="0" sz="3150" spc="65" b="1">
                <a:solidFill>
                  <a:srgbClr val="888888"/>
                </a:solidFill>
                <a:latin typeface="Microsoft JhengHei"/>
                <a:cs typeface="Microsoft JhengHei"/>
              </a:rPr>
              <a:t>预备知识（下</a:t>
            </a:r>
            <a:r>
              <a:rPr dirty="0" sz="3150" spc="15" b="1">
                <a:solidFill>
                  <a:srgbClr val="888888"/>
                </a:solidFill>
                <a:latin typeface="Microsoft JhengHei"/>
                <a:cs typeface="Microsoft JhengHei"/>
              </a:rPr>
              <a:t>）</a:t>
            </a:r>
            <a:endParaRPr sz="315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508" y="471551"/>
            <a:ext cx="22961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内</a:t>
            </a:r>
            <a:r>
              <a:rPr dirty="0"/>
              <a:t>容</a:t>
            </a:r>
            <a:r>
              <a:rPr dirty="0"/>
              <a:t>提</a:t>
            </a:r>
            <a:r>
              <a:rPr dirty="0" spc="-50"/>
              <a:t>要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5443855" cy="26333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5" b="1">
                <a:latin typeface="Microsoft JhengHei"/>
                <a:cs typeface="Microsoft JhengHei"/>
              </a:rPr>
              <a:t>一阶谓词逻辑中的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33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65" b="1">
                <a:solidFill>
                  <a:srgbClr val="FF0000"/>
                </a:solidFill>
                <a:latin typeface="Microsoft JhengHei"/>
                <a:cs typeface="Microsoft JhengHei"/>
              </a:rPr>
              <a:t>个体</a:t>
            </a:r>
            <a:r>
              <a:rPr dirty="0" sz="2800" spc="70" b="1">
                <a:latin typeface="Microsoft JhengHei"/>
                <a:cs typeface="Microsoft JhengHei"/>
              </a:rPr>
              <a:t>、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谓词</a:t>
            </a:r>
            <a:r>
              <a:rPr dirty="0" sz="2800" spc="-10" b="1">
                <a:latin typeface="Microsoft JhengHei"/>
                <a:cs typeface="Microsoft JhengHei"/>
              </a:rPr>
              <a:t>、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量词</a:t>
            </a:r>
            <a:r>
              <a:rPr dirty="0" sz="2800" spc="-20" b="1">
                <a:latin typeface="Microsoft JhengHei"/>
                <a:cs typeface="Microsoft JhengHei"/>
              </a:rPr>
              <a:t>等基本概念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340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35" b="1">
                <a:latin typeface="Microsoft JhengHei"/>
                <a:cs typeface="Microsoft JhengHei"/>
              </a:rPr>
              <a:t>几个重要的</a:t>
            </a:r>
            <a:r>
              <a:rPr dirty="0" sz="2800" spc="-25" b="1">
                <a:solidFill>
                  <a:srgbClr val="FF0000"/>
                </a:solidFill>
                <a:latin typeface="Microsoft JhengHei"/>
                <a:cs typeface="Microsoft JhengHei"/>
              </a:rPr>
              <a:t>等值式</a:t>
            </a:r>
            <a:endParaRPr sz="2800">
              <a:latin typeface="Microsoft JhengHei"/>
              <a:cs typeface="Microsoft JhengHei"/>
            </a:endParaRPr>
          </a:p>
          <a:p>
            <a:pPr marL="753745" indent="-284480">
              <a:lnSpc>
                <a:spcPct val="100000"/>
              </a:lnSpc>
              <a:spcBef>
                <a:spcPts val="2405"/>
              </a:spcBef>
              <a:buFont typeface="Arial"/>
              <a:buChar char="–"/>
              <a:tabLst>
                <a:tab pos="754380" algn="l"/>
              </a:tabLst>
            </a:pPr>
            <a:r>
              <a:rPr dirty="0" sz="2800" spc="50" b="1">
                <a:solidFill>
                  <a:srgbClr val="FF0000"/>
                </a:solidFill>
                <a:latin typeface="Microsoft JhengHei"/>
                <a:cs typeface="Microsoft JhengHei"/>
              </a:rPr>
              <a:t>推理定律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个</a:t>
            </a:r>
            <a:r>
              <a:rPr dirty="0" spc="-50"/>
              <a:t>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258470" y="1550493"/>
            <a:ext cx="8629650" cy="4595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spc="10" b="1">
                <a:latin typeface="Microsoft JhengHei"/>
                <a:cs typeface="Microsoft JhengHei"/>
              </a:rPr>
              <a:t>将可以独立存在的客体</a:t>
            </a:r>
            <a:r>
              <a:rPr dirty="0" sz="2800" b="1">
                <a:latin typeface="Microsoft JhengHei"/>
                <a:cs typeface="Microsoft JhengHei"/>
              </a:rPr>
              <a:t>（</a:t>
            </a:r>
            <a:r>
              <a:rPr dirty="0" sz="2800" spc="-15" b="1">
                <a:latin typeface="Microsoft JhengHei"/>
                <a:cs typeface="Microsoft JhengHei"/>
              </a:rPr>
              <a:t>具体事务或抽象概念</a:t>
            </a:r>
            <a:r>
              <a:rPr dirty="0" sz="2800" b="1">
                <a:latin typeface="Microsoft JhengHei"/>
                <a:cs typeface="Microsoft JhengHei"/>
              </a:rPr>
              <a:t>）称为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个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体</a:t>
            </a:r>
            <a:r>
              <a:rPr dirty="0" sz="2800" spc="70" b="1">
                <a:latin typeface="Microsoft JhengHei"/>
                <a:cs typeface="Microsoft JhengHei"/>
              </a:rPr>
              <a:t>或</a:t>
            </a:r>
            <a:r>
              <a:rPr dirty="0" sz="2800" spc="20" b="1">
                <a:solidFill>
                  <a:srgbClr val="FF0000"/>
                </a:solidFill>
                <a:latin typeface="Microsoft JhengHei"/>
                <a:cs typeface="Microsoft JhengHei"/>
              </a:rPr>
              <a:t>个体词</a:t>
            </a:r>
            <a:r>
              <a:rPr dirty="0" sz="2800" spc="20" b="1">
                <a:latin typeface="Microsoft JhengHei"/>
                <a:cs typeface="Microsoft JhengHei"/>
              </a:rPr>
              <a:t>，并用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a,b,c,…</a:t>
            </a:r>
            <a:r>
              <a:rPr dirty="0" sz="2800" b="1">
                <a:latin typeface="Microsoft JhengHei"/>
                <a:cs typeface="Microsoft JhengHei"/>
              </a:rPr>
              <a:t>表示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个体常元</a:t>
            </a:r>
            <a:r>
              <a:rPr dirty="0" sz="2800" b="1">
                <a:latin typeface="Microsoft JhengHei"/>
                <a:cs typeface="Microsoft JhengHei"/>
              </a:rPr>
              <a:t>，用</a:t>
            </a:r>
            <a:r>
              <a:rPr dirty="0" sz="2800" spc="-40" b="1">
                <a:solidFill>
                  <a:srgbClr val="006FC0"/>
                </a:solidFill>
                <a:latin typeface="Calibri"/>
                <a:cs typeface="Calibri"/>
              </a:rPr>
              <a:t>x,y,z,…</a:t>
            </a:r>
            <a:r>
              <a:rPr dirty="0" sz="2800" spc="45" b="1">
                <a:latin typeface="Microsoft JhengHei"/>
                <a:cs typeface="Microsoft JhengHei"/>
              </a:rPr>
              <a:t>表示</a:t>
            </a: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个体变元</a:t>
            </a:r>
            <a:r>
              <a:rPr dirty="0" sz="2800" b="1">
                <a:latin typeface="Microsoft JhengHei"/>
                <a:cs typeface="Microsoft JhengHei"/>
              </a:rPr>
              <a:t>。</a:t>
            </a:r>
            <a:r>
              <a:rPr dirty="0" sz="2800" spc="-15" b="1">
                <a:latin typeface="Calibri"/>
                <a:cs typeface="Calibri"/>
              </a:rPr>
              <a:t>(</a:t>
            </a:r>
            <a:r>
              <a:rPr dirty="0" sz="2800" b="1">
                <a:latin typeface="Microsoft JhengHei"/>
                <a:cs typeface="Microsoft JhengHei"/>
              </a:rPr>
              <a:t>个体的函数还是个体，例如，设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a,b</a:t>
            </a:r>
            <a:r>
              <a:rPr dirty="0" sz="2800" spc="5" b="1">
                <a:latin typeface="Microsoft JhengHei"/>
                <a:cs typeface="Microsoft JhengHei"/>
              </a:rPr>
              <a:t>是数，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f(a,b)</a:t>
            </a:r>
            <a:r>
              <a:rPr dirty="0" sz="2800" spc="65" b="1">
                <a:latin typeface="Microsoft JhengHei"/>
                <a:cs typeface="Microsoft JhengHei"/>
              </a:rPr>
              <a:t>可以表示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5" b="1">
                <a:latin typeface="Microsoft JhengHei"/>
                <a:cs typeface="Microsoft JhengHei"/>
              </a:rPr>
              <a:t>的运算结果，如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a+b</a:t>
            </a:r>
            <a:r>
              <a:rPr dirty="0" sz="2800" spc="-10" b="1">
                <a:latin typeface="Microsoft JhengHei"/>
                <a:cs typeface="Microsoft JhengHei"/>
              </a:rPr>
              <a:t>、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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等。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just" marL="12700" marR="5715">
              <a:lnSpc>
                <a:spcPct val="150200"/>
              </a:lnSpc>
              <a:spcBef>
                <a:spcPts val="650"/>
              </a:spcBef>
            </a:pPr>
            <a:r>
              <a:rPr dirty="0" sz="2800" b="1">
                <a:latin typeface="Microsoft JhengHei"/>
                <a:cs typeface="Microsoft JhengHei"/>
              </a:rPr>
              <a:t>将个体变元的取值范围称为</a:t>
            </a:r>
            <a:r>
              <a:rPr dirty="0" sz="2800" spc="-5" b="1">
                <a:solidFill>
                  <a:srgbClr val="FF0000"/>
                </a:solidFill>
                <a:latin typeface="Microsoft JhengHei"/>
                <a:cs typeface="Microsoft JhengHei"/>
              </a:rPr>
              <a:t>个体域</a:t>
            </a:r>
            <a:r>
              <a:rPr dirty="0" sz="2800" spc="-15" b="1">
                <a:latin typeface="Microsoft JhengHei"/>
                <a:cs typeface="Microsoft JhengHei"/>
              </a:rPr>
              <a:t>，个体域可以是有穷</a:t>
            </a:r>
            <a:r>
              <a:rPr dirty="0" sz="2800" spc="-15" b="1">
                <a:latin typeface="Microsoft JhengHei"/>
                <a:cs typeface="Microsoft JhengHei"/>
              </a:rPr>
              <a:t>或无穷集合。人们称由宇宙间一切事务组成的个体域为</a:t>
            </a:r>
            <a:r>
              <a:rPr dirty="0" sz="2800" spc="40" b="1">
                <a:solidFill>
                  <a:srgbClr val="FF0000"/>
                </a:solidFill>
                <a:latin typeface="Microsoft JhengHei"/>
                <a:cs typeface="Microsoft JhengHei"/>
              </a:rPr>
              <a:t>全总个体域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谓</a:t>
            </a:r>
            <a:r>
              <a:rPr dirty="0" spc="-50"/>
              <a:t>词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8171815" cy="399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5" b="1">
                <a:latin typeface="Microsoft JhengHei"/>
                <a:cs typeface="Microsoft JhengHei"/>
              </a:rPr>
              <a:t>将表示个体性质或彼此之间关系的词称为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谓词</a:t>
            </a:r>
            <a:r>
              <a:rPr dirty="0" sz="2800" spc="-5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59900"/>
              </a:lnSpc>
              <a:spcBef>
                <a:spcPts val="32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常用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F,G,H,…</a:t>
            </a:r>
            <a:r>
              <a:rPr dirty="0" sz="2800" spc="-10" b="1">
                <a:latin typeface="Microsoft JhengHei"/>
                <a:cs typeface="Microsoft JhengHei"/>
              </a:rPr>
              <a:t>表示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谓词常元</a:t>
            </a:r>
            <a:r>
              <a:rPr dirty="0" sz="2800" spc="-10" b="1">
                <a:latin typeface="Microsoft JhengHei"/>
                <a:cs typeface="Microsoft JhengHei"/>
              </a:rPr>
              <a:t>或</a:t>
            </a:r>
            <a:r>
              <a:rPr dirty="0" sz="2800" spc="15" b="1">
                <a:solidFill>
                  <a:srgbClr val="FF0000"/>
                </a:solidFill>
                <a:latin typeface="Microsoft JhengHei"/>
                <a:cs typeface="Microsoft JhengHei"/>
              </a:rPr>
              <a:t>谓词变元</a:t>
            </a:r>
            <a:r>
              <a:rPr dirty="0" sz="2800" spc="-10" b="1">
                <a:latin typeface="Microsoft JhengHei"/>
                <a:cs typeface="Microsoft JhengHei"/>
              </a:rPr>
              <a:t>，用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800" spc="-30" b="1">
                <a:latin typeface="Microsoft JhengHei"/>
                <a:cs typeface="Microsoft JhengHei"/>
              </a:rPr>
              <a:t>表示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b="1">
                <a:latin typeface="Microsoft JhengHei"/>
                <a:cs typeface="Microsoft JhengHei"/>
              </a:rPr>
              <a:t>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15" b="1">
                <a:solidFill>
                  <a:srgbClr val="FF0000"/>
                </a:solidFill>
                <a:latin typeface="Microsoft JhengHei"/>
                <a:cs typeface="Microsoft JhengHei"/>
              </a:rPr>
              <a:t>具有性质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F</a:t>
            </a:r>
            <a:r>
              <a:rPr dirty="0" sz="2800" b="1">
                <a:latin typeface="Microsoft JhengHei"/>
                <a:cs typeface="Microsoft JhengHei"/>
              </a:rPr>
              <a:t>”，用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F(x,y)</a:t>
            </a:r>
            <a:r>
              <a:rPr dirty="0" sz="2800" b="1">
                <a:latin typeface="Microsoft JhengHei"/>
                <a:cs typeface="Microsoft JhengHei"/>
              </a:rPr>
              <a:t>表示“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和</a:t>
            </a:r>
            <a:r>
              <a:rPr dirty="0" sz="2800" spc="-105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800" spc="15" b="1">
                <a:solidFill>
                  <a:srgbClr val="FF0000"/>
                </a:solidFill>
                <a:latin typeface="Microsoft JhengHei"/>
                <a:cs typeface="Microsoft JhengHei"/>
              </a:rPr>
              <a:t>具有关系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</a:t>
            </a:r>
            <a:r>
              <a:rPr dirty="0" sz="2800" spc="-50" b="1">
                <a:latin typeface="Microsoft JhengHei"/>
                <a:cs typeface="Microsoft JhengHei"/>
              </a:rPr>
              <a:t>” 。</a:t>
            </a:r>
            <a:r>
              <a:rPr dirty="0" sz="2800" spc="45" b="1">
                <a:latin typeface="Microsoft JhengHei"/>
                <a:cs typeface="Microsoft JhengHei"/>
              </a:rPr>
              <a:t>例如，若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800" spc="-10" b="1">
                <a:latin typeface="Microsoft JhengHei"/>
                <a:cs typeface="Microsoft JhengHei"/>
              </a:rPr>
              <a:t>表示“</a:t>
            </a:r>
            <a:r>
              <a:rPr dirty="0" sz="2800" spc="-10" b="1">
                <a:latin typeface="Calibri"/>
                <a:cs typeface="Calibri"/>
              </a:rPr>
              <a:t>x</a:t>
            </a:r>
            <a:r>
              <a:rPr dirty="0" sz="2800" b="1">
                <a:latin typeface="Microsoft JhengHei"/>
                <a:cs typeface="Microsoft JhengHei"/>
              </a:rPr>
              <a:t>是黑色的”，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表示黑板，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则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F(a)</a:t>
            </a:r>
            <a:r>
              <a:rPr dirty="0" sz="2800" spc="-5" b="1">
                <a:latin typeface="Microsoft JhengHei"/>
                <a:cs typeface="Microsoft JhengHei"/>
              </a:rPr>
              <a:t>表示“黑板是黑色的”；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F(x,y)</a:t>
            </a:r>
            <a:r>
              <a:rPr dirty="0" sz="2800" spc="45" b="1">
                <a:latin typeface="Microsoft JhengHei"/>
                <a:cs typeface="Microsoft JhengHei"/>
              </a:rPr>
              <a:t>表示“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-5" b="1">
                <a:latin typeface="Microsoft JhengHei"/>
                <a:cs typeface="Microsoft JhengHei"/>
              </a:rPr>
              <a:t>大于</a:t>
            </a:r>
            <a:r>
              <a:rPr dirty="0" sz="2800" spc="-25" b="1">
                <a:latin typeface="Calibri"/>
                <a:cs typeface="Calibri"/>
              </a:rPr>
              <a:t>y</a:t>
            </a:r>
            <a:r>
              <a:rPr dirty="0" sz="2800" spc="-20" b="1">
                <a:latin typeface="Microsoft JhengHei"/>
                <a:cs typeface="Microsoft JhengHei"/>
              </a:rPr>
              <a:t>”，则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F(5,2)</a:t>
            </a:r>
            <a:r>
              <a:rPr dirty="0" sz="2800" spc="-10" b="1">
                <a:latin typeface="Microsoft JhengHei"/>
                <a:cs typeface="Microsoft JhengHei"/>
              </a:rPr>
              <a:t>表示“</a:t>
            </a:r>
            <a:r>
              <a:rPr dirty="0" sz="2800" b="1">
                <a:latin typeface="Calibri"/>
                <a:cs typeface="Calibri"/>
              </a:rPr>
              <a:t>5</a:t>
            </a:r>
            <a:r>
              <a:rPr dirty="0" sz="2800" spc="-10" b="1">
                <a:latin typeface="Microsoft JhengHei"/>
                <a:cs typeface="Microsoft JhengHei"/>
              </a:rPr>
              <a:t>大于</a:t>
            </a:r>
            <a:r>
              <a:rPr dirty="0" sz="2800" b="1">
                <a:latin typeface="Calibri"/>
                <a:cs typeface="Calibri"/>
              </a:rPr>
              <a:t>2</a:t>
            </a:r>
            <a:r>
              <a:rPr dirty="0" sz="2800" spc="-25" b="1">
                <a:latin typeface="Microsoft JhengHei"/>
                <a:cs typeface="Microsoft JhengHei"/>
              </a:rPr>
              <a:t>”。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370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量</a:t>
            </a:r>
            <a:r>
              <a:rPr dirty="0"/>
              <a:t>词</a:t>
            </a:r>
            <a:r>
              <a:rPr dirty="0"/>
              <a:t>、</a:t>
            </a:r>
            <a:r>
              <a:rPr dirty="0"/>
              <a:t>全</a:t>
            </a:r>
            <a:r>
              <a:rPr dirty="0" spc="-35"/>
              <a:t>称量词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8244840" cy="399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20" b="1">
                <a:latin typeface="Microsoft JhengHei"/>
                <a:cs typeface="Microsoft JhengHei"/>
              </a:rPr>
              <a:t>称表示数量的词为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量词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50200"/>
              </a:lnSpc>
              <a:spcBef>
                <a:spcPts val="650"/>
              </a:spcBef>
            </a:pP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全称量词</a:t>
            </a:r>
            <a:r>
              <a:rPr dirty="0" sz="2800" spc="-20" b="1">
                <a:latin typeface="Microsoft JhengHei"/>
                <a:cs typeface="Microsoft JhengHei"/>
              </a:rPr>
              <a:t>是自然语言中的“所有的”、“一切的”、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spc="-5" b="1">
                <a:latin typeface="Microsoft JhengHei"/>
                <a:cs typeface="Microsoft JhengHei"/>
              </a:rPr>
              <a:t>“任意的”、“每一个”、“都”等的统称，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45" b="1">
                <a:latin typeface="Microsoft JhengHei"/>
                <a:cs typeface="Microsoft JhengHei"/>
              </a:rPr>
              <a:t>用符号“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20" b="1">
                <a:latin typeface="Microsoft JhengHei"/>
                <a:cs typeface="Microsoft JhengHei"/>
              </a:rPr>
              <a:t>”表示。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Microsoft JhengHei"/>
                <a:cs typeface="Microsoft JhengHei"/>
              </a:rPr>
              <a:t>表示个体域里的所有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xF(x)</a:t>
            </a:r>
            <a:r>
              <a:rPr dirty="0" sz="2800" b="1">
                <a:latin typeface="Microsoft JhengHei"/>
                <a:cs typeface="Microsoft JhengHei"/>
              </a:rPr>
              <a:t>表示个体域里所有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latin typeface="Microsoft JhengHei"/>
                <a:cs typeface="Microsoft JhengHei"/>
              </a:rPr>
              <a:t>都有性质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508" y="471551"/>
            <a:ext cx="22961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存</a:t>
            </a:r>
            <a:r>
              <a:rPr dirty="0"/>
              <a:t>在</a:t>
            </a:r>
            <a:r>
              <a:rPr dirty="0"/>
              <a:t>量</a:t>
            </a:r>
            <a:r>
              <a:rPr dirty="0" spc="-50"/>
              <a:t>词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7914640" cy="3487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存在量词</a:t>
            </a:r>
            <a:r>
              <a:rPr dirty="0" sz="2800" spc="-20" b="1">
                <a:latin typeface="Microsoft JhengHei"/>
                <a:cs typeface="Microsoft JhengHei"/>
              </a:rPr>
              <a:t>是自然语言中的“有一个”、“至少有一</a:t>
            </a:r>
            <a:r>
              <a:rPr dirty="0" sz="2800" spc="-5" b="1">
                <a:latin typeface="Microsoft JhengHei"/>
                <a:cs typeface="Microsoft JhengHei"/>
              </a:rPr>
              <a:t>个”、“存在着”、“有的”等的统称，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50" b="1">
                <a:latin typeface="Microsoft JhengHei"/>
                <a:cs typeface="Microsoft JhengHei"/>
              </a:rPr>
              <a:t>用符号“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-15" b="1">
                <a:latin typeface="Microsoft JhengHei"/>
                <a:cs typeface="Microsoft JhengHei"/>
              </a:rPr>
              <a:t>”表示。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spc="55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5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5" b="1">
                <a:latin typeface="Microsoft JhengHei"/>
                <a:cs typeface="Microsoft JhengHei"/>
              </a:rPr>
              <a:t>表示存在个体域里的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25" b="1">
                <a:latin typeface="Microsoft JhengHei"/>
                <a:cs typeface="Microsoft JhengHei"/>
              </a:rPr>
              <a:t>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用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xF(x)</a:t>
            </a:r>
            <a:r>
              <a:rPr dirty="0" sz="2800" spc="-5" b="1">
                <a:latin typeface="Microsoft JhengHei"/>
                <a:cs typeface="Microsoft JhengHei"/>
              </a:rPr>
              <a:t>表示在个体域里存在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5" b="1">
                <a:latin typeface="Microsoft JhengHei"/>
                <a:cs typeface="Microsoft JhengHei"/>
              </a:rPr>
              <a:t>具有性质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45789" y="471551"/>
            <a:ext cx="2863215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命</a:t>
            </a:r>
            <a:r>
              <a:rPr dirty="0"/>
              <a:t>题</a:t>
            </a:r>
            <a:r>
              <a:rPr dirty="0"/>
              <a:t>符</a:t>
            </a:r>
            <a:r>
              <a:rPr dirty="0"/>
              <a:t>号</a:t>
            </a:r>
            <a:r>
              <a:rPr dirty="0" spc="-50"/>
              <a:t>化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27136"/>
            <a:ext cx="8053070" cy="40652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Microsoft JhengHei"/>
                <a:cs typeface="Microsoft JhengHei"/>
              </a:rPr>
              <a:t>一</a:t>
            </a:r>
            <a:r>
              <a:rPr dirty="0" sz="2600" b="1">
                <a:latin typeface="Microsoft JhengHei"/>
                <a:cs typeface="Microsoft JhengHei"/>
              </a:rPr>
              <a:t>阶</a:t>
            </a:r>
            <a:r>
              <a:rPr dirty="0" sz="2600" b="1">
                <a:latin typeface="Microsoft JhengHei"/>
                <a:cs typeface="Microsoft JhengHei"/>
              </a:rPr>
              <a:t>逻</a:t>
            </a:r>
            <a:r>
              <a:rPr dirty="0" sz="2600" b="1">
                <a:latin typeface="Microsoft JhengHei"/>
                <a:cs typeface="Microsoft JhengHei"/>
              </a:rPr>
              <a:t>辑</a:t>
            </a:r>
            <a:r>
              <a:rPr dirty="0" sz="2600" spc="-40" b="1">
                <a:latin typeface="Microsoft JhengHei"/>
                <a:cs typeface="Microsoft JhengHei"/>
              </a:rPr>
              <a:t>中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命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题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符</a:t>
            </a:r>
            <a:r>
              <a:rPr dirty="0" sz="2600" spc="-20" b="1">
                <a:solidFill>
                  <a:srgbClr val="FF0000"/>
                </a:solidFill>
                <a:latin typeface="Microsoft JhengHei"/>
                <a:cs typeface="Microsoft JhengHei"/>
              </a:rPr>
              <a:t>号化</a:t>
            </a:r>
            <a:r>
              <a:rPr dirty="0" sz="2600" spc="-35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两</a:t>
            </a: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spc="-35" b="1">
                <a:latin typeface="Microsoft JhengHei"/>
                <a:cs typeface="Microsoft JhengHei"/>
              </a:rPr>
              <a:t>基</a:t>
            </a:r>
            <a:r>
              <a:rPr dirty="0" sz="2600" spc="-35" b="1">
                <a:latin typeface="Microsoft JhengHei"/>
                <a:cs typeface="Microsoft JhengHei"/>
              </a:rPr>
              <a:t>本</a:t>
            </a:r>
            <a:r>
              <a:rPr dirty="0" sz="2600" b="1">
                <a:latin typeface="Microsoft JhengHei"/>
                <a:cs typeface="Microsoft JhengHei"/>
              </a:rPr>
              <a:t>公</a:t>
            </a:r>
            <a:r>
              <a:rPr dirty="0" sz="2600" spc="-35" b="1">
                <a:latin typeface="Microsoft JhengHei"/>
                <a:cs typeface="Microsoft JhengHei"/>
              </a:rPr>
              <a:t>式</a:t>
            </a:r>
            <a:r>
              <a:rPr dirty="0" sz="2600" spc="-50" b="1">
                <a:latin typeface="Microsoft JhengHei"/>
                <a:cs typeface="Microsoft JhengHei"/>
              </a:rPr>
              <a:t>：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b="1">
                <a:latin typeface="Microsoft JhengHei"/>
                <a:cs typeface="Microsoft JhengHei"/>
              </a:rPr>
              <a:t>体</a:t>
            </a:r>
            <a:r>
              <a:rPr dirty="0" sz="2600" b="1">
                <a:latin typeface="Microsoft JhengHei"/>
                <a:cs typeface="Microsoft JhengHei"/>
              </a:rPr>
              <a:t>域</a:t>
            </a:r>
            <a:r>
              <a:rPr dirty="0" sz="2600" b="1">
                <a:latin typeface="Microsoft JhengHei"/>
                <a:cs typeface="Microsoft JhengHei"/>
              </a:rPr>
              <a:t>中</a:t>
            </a:r>
            <a:r>
              <a:rPr dirty="0" sz="2600" spc="-20" b="1">
                <a:latin typeface="Microsoft JhengHei"/>
                <a:cs typeface="Microsoft JhengHei"/>
              </a:rPr>
              <a:t>所有</a:t>
            </a:r>
            <a:r>
              <a:rPr dirty="0" sz="2600" spc="-35" b="1">
                <a:latin typeface="Microsoft JhengHei"/>
                <a:cs typeface="Microsoft JhengHei"/>
              </a:rPr>
              <a:t>有</a:t>
            </a:r>
            <a:r>
              <a:rPr dirty="0" sz="2600" spc="-35" b="1">
                <a:latin typeface="Microsoft JhengHei"/>
                <a:cs typeface="Microsoft JhengHei"/>
              </a:rPr>
              <a:t>性</a:t>
            </a:r>
            <a:r>
              <a:rPr dirty="0" sz="2600" spc="50" b="1">
                <a:latin typeface="Microsoft JhengHei"/>
                <a:cs typeface="Microsoft JhengHei"/>
              </a:rPr>
              <a:t>质</a:t>
            </a:r>
            <a:r>
              <a:rPr dirty="0" sz="2600" spc="-60" b="1">
                <a:latin typeface="Calibri"/>
                <a:cs typeface="Calibri"/>
              </a:rPr>
              <a:t>F</a:t>
            </a:r>
            <a:r>
              <a:rPr dirty="0" sz="2600" spc="-20" b="1">
                <a:latin typeface="Microsoft JhengHei"/>
                <a:cs typeface="Microsoft JhengHei"/>
              </a:rPr>
              <a:t>的个</a:t>
            </a:r>
            <a:r>
              <a:rPr dirty="0" sz="2600" spc="-35" b="1">
                <a:latin typeface="Microsoft JhengHei"/>
                <a:cs typeface="Microsoft JhengHei"/>
              </a:rPr>
              <a:t>体</a:t>
            </a:r>
            <a:r>
              <a:rPr dirty="0" sz="2600" spc="-35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有</a:t>
            </a:r>
            <a:r>
              <a:rPr dirty="0" sz="2600" spc="-20" b="1">
                <a:latin typeface="Microsoft JhengHei"/>
                <a:cs typeface="Microsoft JhengHei"/>
              </a:rPr>
              <a:t>性质</a:t>
            </a:r>
            <a:r>
              <a:rPr dirty="0" sz="2600" spc="-25" b="1">
                <a:latin typeface="Calibri"/>
                <a:cs typeface="Calibri"/>
              </a:rPr>
              <a:t>G</a:t>
            </a:r>
            <a:r>
              <a:rPr dirty="0" sz="2600" spc="-15" b="1">
                <a:latin typeface="Microsoft JhengHei"/>
                <a:cs typeface="Microsoft JhengHei"/>
              </a:rPr>
              <a:t>，应</a:t>
            </a:r>
            <a:r>
              <a:rPr dirty="0" sz="2600" spc="-35" b="1">
                <a:latin typeface="Microsoft JhengHei"/>
                <a:cs typeface="Microsoft JhengHei"/>
              </a:rPr>
              <a:t>符</a:t>
            </a:r>
            <a:r>
              <a:rPr dirty="0" sz="2600" spc="-35" b="1">
                <a:latin typeface="Microsoft JhengHei"/>
                <a:cs typeface="Microsoft JhengHei"/>
              </a:rPr>
              <a:t>号</a:t>
            </a:r>
            <a:r>
              <a:rPr dirty="0" sz="2600" spc="-25" b="1">
                <a:latin typeface="Microsoft JhengHei"/>
                <a:cs typeface="Microsoft JhengHei"/>
              </a:rPr>
              <a:t>化为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 (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5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G(x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) )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其</a:t>
            </a:r>
            <a:r>
              <a:rPr dirty="0" sz="2600" spc="-50" b="1">
                <a:latin typeface="Microsoft JhengHei"/>
                <a:cs typeface="Microsoft JhengHei"/>
              </a:rPr>
              <a:t>中</a:t>
            </a:r>
            <a:endParaRPr sz="2600">
              <a:latin typeface="Microsoft JhengHei"/>
              <a:cs typeface="Microsoft JhengHei"/>
            </a:endParaRPr>
          </a:p>
          <a:p>
            <a:pPr marL="85725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11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具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性</a:t>
            </a:r>
            <a:r>
              <a:rPr dirty="0" sz="2600" b="1">
                <a:latin typeface="Microsoft JhengHei"/>
                <a:cs typeface="Microsoft JhengHei"/>
              </a:rPr>
              <a:t>质</a:t>
            </a:r>
            <a:r>
              <a:rPr dirty="0" sz="2600" spc="-10" b="1">
                <a:latin typeface="Calibri"/>
                <a:cs typeface="Calibri"/>
              </a:rPr>
              <a:t>F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600" spc="-5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具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性</a:t>
            </a:r>
            <a:r>
              <a:rPr dirty="0" sz="2600" b="1">
                <a:latin typeface="Microsoft JhengHei"/>
                <a:cs typeface="Microsoft JhengHei"/>
              </a:rPr>
              <a:t>质</a:t>
            </a:r>
            <a:r>
              <a:rPr dirty="0" sz="2600" spc="-20" b="1">
                <a:latin typeface="Calibri"/>
                <a:cs typeface="Calibri"/>
              </a:rPr>
              <a:t>G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latin typeface="Microsoft JhengHei"/>
                <a:cs typeface="Microsoft JhengHei"/>
              </a:rPr>
              <a:t>个</a:t>
            </a:r>
            <a:r>
              <a:rPr dirty="0" sz="2600" b="1">
                <a:latin typeface="Microsoft JhengHei"/>
                <a:cs typeface="Microsoft JhengHei"/>
              </a:rPr>
              <a:t>体</a:t>
            </a:r>
            <a:r>
              <a:rPr dirty="0" sz="2600" b="1">
                <a:latin typeface="Microsoft JhengHei"/>
                <a:cs typeface="Microsoft JhengHei"/>
              </a:rPr>
              <a:t>域</a:t>
            </a:r>
            <a:r>
              <a:rPr dirty="0" sz="2600" b="1">
                <a:latin typeface="Microsoft JhengHei"/>
                <a:cs typeface="Microsoft JhengHei"/>
              </a:rPr>
              <a:t>中</a:t>
            </a:r>
            <a:r>
              <a:rPr dirty="0" sz="2600" spc="-25" b="1">
                <a:latin typeface="Microsoft JhengHei"/>
                <a:cs typeface="Microsoft JhengHei"/>
              </a:rPr>
              <a:t>存在有性质</a:t>
            </a:r>
            <a:r>
              <a:rPr dirty="0" sz="2600" spc="-60" b="1">
                <a:latin typeface="Calibri"/>
                <a:cs typeface="Calibri"/>
              </a:rPr>
              <a:t>F</a:t>
            </a:r>
            <a:r>
              <a:rPr dirty="0" sz="2600" spc="-20" b="1">
                <a:latin typeface="Microsoft JhengHei"/>
                <a:cs typeface="Microsoft JhengHei"/>
              </a:rPr>
              <a:t>同时</a:t>
            </a:r>
            <a:r>
              <a:rPr dirty="0" sz="2600" spc="-35" b="1">
                <a:latin typeface="Microsoft JhengHei"/>
                <a:cs typeface="Microsoft JhengHei"/>
              </a:rPr>
              <a:t>有</a:t>
            </a:r>
            <a:r>
              <a:rPr dirty="0" sz="2600" spc="-35" b="1">
                <a:latin typeface="Microsoft JhengHei"/>
                <a:cs typeface="Microsoft JhengHei"/>
              </a:rPr>
              <a:t>性</a:t>
            </a:r>
            <a:r>
              <a:rPr dirty="0" sz="2600" spc="-45" b="1">
                <a:latin typeface="Microsoft JhengHei"/>
                <a:cs typeface="Microsoft JhengHei"/>
              </a:rPr>
              <a:t>质</a:t>
            </a:r>
            <a:r>
              <a:rPr dirty="0" sz="2600" spc="-25" b="1">
                <a:latin typeface="Calibri"/>
                <a:cs typeface="Calibri"/>
              </a:rPr>
              <a:t>G</a:t>
            </a:r>
            <a:r>
              <a:rPr dirty="0" sz="2600" b="1">
                <a:latin typeface="Microsoft JhengHei"/>
                <a:cs typeface="Microsoft JhengHei"/>
              </a:rPr>
              <a:t>的</a:t>
            </a:r>
            <a:r>
              <a:rPr dirty="0" sz="2600" spc="-35" b="1">
                <a:latin typeface="Microsoft JhengHei"/>
                <a:cs typeface="Microsoft JhengHei"/>
              </a:rPr>
              <a:t>个</a:t>
            </a:r>
            <a:r>
              <a:rPr dirty="0" sz="2600" spc="-35" b="1">
                <a:latin typeface="Microsoft JhengHei"/>
                <a:cs typeface="Microsoft JhengHei"/>
              </a:rPr>
              <a:t>体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spc="-35" b="1">
                <a:latin typeface="Microsoft JhengHei"/>
                <a:cs typeface="Microsoft JhengHei"/>
              </a:rPr>
              <a:t>应</a:t>
            </a:r>
            <a:r>
              <a:rPr dirty="0" sz="2600" spc="-35" b="1">
                <a:latin typeface="Microsoft JhengHei"/>
                <a:cs typeface="Microsoft JhengHei"/>
              </a:rPr>
              <a:t>符</a:t>
            </a:r>
            <a:r>
              <a:rPr dirty="0" sz="2600" b="1">
                <a:latin typeface="Microsoft JhengHei"/>
                <a:cs typeface="Microsoft JhengHei"/>
              </a:rPr>
              <a:t>号</a:t>
            </a:r>
            <a:r>
              <a:rPr dirty="0" sz="2600" spc="-35" b="1">
                <a:latin typeface="Microsoft JhengHei"/>
                <a:cs typeface="Microsoft JhengHei"/>
              </a:rPr>
              <a:t>化</a:t>
            </a:r>
            <a:r>
              <a:rPr dirty="0" sz="2600" spc="-50" b="1">
                <a:latin typeface="Microsoft JhengHei"/>
                <a:cs typeface="Microsoft JhengHei"/>
              </a:rPr>
              <a:t>为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 (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</a:t>
            </a:r>
            <a:r>
              <a:rPr dirty="0" sz="2600" spc="-5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600" spc="-4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G(x</a:t>
            </a:r>
            <a:r>
              <a:rPr dirty="0" sz="2600" spc="-5" b="1">
                <a:solidFill>
                  <a:srgbClr val="006FC0"/>
                </a:solidFill>
                <a:latin typeface="Calibri"/>
                <a:cs typeface="Calibri"/>
              </a:rPr>
              <a:t>) )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其</a:t>
            </a:r>
            <a:r>
              <a:rPr dirty="0" sz="2600" spc="-50" b="1">
                <a:latin typeface="Microsoft JhengHei"/>
                <a:cs typeface="Microsoft JhengHei"/>
              </a:rPr>
              <a:t>中</a:t>
            </a:r>
            <a:endParaRPr sz="2600">
              <a:latin typeface="Microsoft JhengHei"/>
              <a:cs typeface="Microsoft JhengHei"/>
            </a:endParaRPr>
          </a:p>
          <a:p>
            <a:pPr marL="85725">
              <a:lnSpc>
                <a:spcPct val="100000"/>
              </a:lnSpc>
              <a:spcBef>
                <a:spcPts val="1850"/>
              </a:spcBef>
            </a:pP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114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具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性</a:t>
            </a:r>
            <a:r>
              <a:rPr dirty="0" sz="2600" b="1">
                <a:latin typeface="Microsoft JhengHei"/>
                <a:cs typeface="Microsoft JhengHei"/>
              </a:rPr>
              <a:t>质</a:t>
            </a:r>
            <a:r>
              <a:rPr dirty="0" sz="2600" spc="-20" b="1">
                <a:latin typeface="Calibri"/>
                <a:cs typeface="Calibri"/>
              </a:rPr>
              <a:t>F</a:t>
            </a:r>
            <a:r>
              <a:rPr dirty="0" sz="2600" spc="-20" b="1">
                <a:latin typeface="Microsoft JhengHei"/>
                <a:cs typeface="Microsoft JhengHei"/>
              </a:rPr>
              <a:t>，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600" spc="-5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具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性</a:t>
            </a:r>
            <a:r>
              <a:rPr dirty="0" sz="2600" b="1">
                <a:latin typeface="Microsoft JhengHei"/>
                <a:cs typeface="Microsoft JhengHei"/>
              </a:rPr>
              <a:t>质</a:t>
            </a:r>
            <a:r>
              <a:rPr dirty="0" sz="2600" spc="-25" b="1">
                <a:latin typeface="Calibri"/>
                <a:cs typeface="Calibri"/>
              </a:rPr>
              <a:t>G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915" y="471551"/>
            <a:ext cx="5842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6569075" cy="33566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5" b="1">
                <a:latin typeface="Microsoft JhengHei"/>
                <a:cs typeface="Microsoft JhengHei"/>
              </a:rPr>
              <a:t>将下面命题符号化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10" b="1">
                <a:latin typeface="Microsoft JhengHei"/>
                <a:cs typeface="Microsoft JhengHei"/>
              </a:rPr>
              <a:t>① 人都吃饭；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2800" b="1">
                <a:latin typeface="Microsoft JhengHei"/>
                <a:cs typeface="Microsoft JhengHei"/>
              </a:rPr>
              <a:t>② 有人喜欢吃糖；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69500"/>
              </a:lnSpc>
              <a:spcBef>
                <a:spcPts val="70"/>
              </a:spcBef>
            </a:pPr>
            <a:r>
              <a:rPr dirty="0" sz="2800" b="1">
                <a:latin typeface="Microsoft JhengHei"/>
                <a:cs typeface="Microsoft JhengHei"/>
              </a:rPr>
              <a:t>③ 男人都比女人跑得快</a:t>
            </a:r>
            <a:r>
              <a:rPr dirty="0" sz="2800" spc="60" b="1">
                <a:latin typeface="Microsoft JhengHei"/>
                <a:cs typeface="Microsoft JhengHei"/>
              </a:rPr>
              <a:t>（</a:t>
            </a:r>
            <a:r>
              <a:rPr dirty="0" sz="2800" spc="-5" b="1">
                <a:latin typeface="Microsoft JhengHei"/>
                <a:cs typeface="Microsoft JhengHei"/>
              </a:rPr>
              <a:t>这是假命题</a:t>
            </a:r>
            <a:r>
              <a:rPr dirty="0" sz="2800" b="1">
                <a:latin typeface="Microsoft JhengHei"/>
                <a:cs typeface="Microsoft JhengHei"/>
              </a:rPr>
              <a:t>）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r>
              <a:rPr dirty="0" sz="2800" spc="5" b="1">
                <a:latin typeface="Microsoft JhengHei"/>
                <a:cs typeface="Microsoft JhengHei"/>
              </a:rPr>
              <a:t>使用全总个体域。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13353" y="471551"/>
            <a:ext cx="17284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解</a:t>
            </a:r>
            <a:r>
              <a:rPr dirty="0" spc="-25"/>
              <a:t>①②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5132705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10" b="1">
                <a:latin typeface="Microsoft JhengHei"/>
                <a:cs typeface="Microsoft JhengHei"/>
              </a:rPr>
              <a:t>① 人都吃饭；</a:t>
            </a:r>
            <a:endParaRPr sz="2800">
              <a:latin typeface="Microsoft JhengHei"/>
              <a:cs typeface="Microsoft JhengHei"/>
            </a:endParaRPr>
          </a:p>
          <a:p>
            <a:pPr marL="12700" marR="370205">
              <a:lnSpc>
                <a:spcPct val="169500"/>
              </a:lnSpc>
            </a:pPr>
            <a:r>
              <a:rPr dirty="0" sz="2800" spc="65" b="1">
                <a:latin typeface="Microsoft JhengHei"/>
                <a:cs typeface="Microsoft JhengHei"/>
              </a:rPr>
              <a:t>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800" spc="-15" b="1">
                <a:latin typeface="Calibri"/>
                <a:cs typeface="Calibri"/>
              </a:rPr>
              <a:t>: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40" b="1">
                <a:latin typeface="Microsoft JhengHei"/>
                <a:cs typeface="Microsoft JhengHei"/>
              </a:rPr>
              <a:t>是人，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800" spc="-125" b="1">
                <a:latin typeface="Calibri"/>
                <a:cs typeface="Calibri"/>
              </a:rPr>
              <a:t>: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25" b="1">
                <a:latin typeface="Microsoft JhengHei"/>
                <a:cs typeface="Microsoft JhengHei"/>
              </a:rPr>
              <a:t>吃饭。</a:t>
            </a:r>
            <a:r>
              <a:rPr dirty="0" sz="2800" spc="-50" b="1">
                <a:latin typeface="Microsoft JhengHei"/>
                <a:cs typeface="Microsoft JhengHei"/>
              </a:rPr>
              <a:t> </a:t>
            </a:r>
            <a:r>
              <a:rPr dirty="0" sz="2800" spc="100" b="1">
                <a:latin typeface="Microsoft JhengHei"/>
                <a:cs typeface="Microsoft JhengHei"/>
              </a:rPr>
              <a:t>命题符号化为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x(F(x)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G(x))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410"/>
              </a:spcBef>
            </a:pPr>
            <a:r>
              <a:rPr dirty="0" sz="2800" b="1">
                <a:latin typeface="Microsoft JhengHei"/>
                <a:cs typeface="Microsoft JhengHei"/>
              </a:rPr>
              <a:t>② 有人喜欢吃糖；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ts val="5700"/>
              </a:lnSpc>
              <a:spcBef>
                <a:spcPts val="37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800" spc="-15" b="1">
                <a:latin typeface="Calibri"/>
                <a:cs typeface="Calibri"/>
              </a:rPr>
              <a:t>: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40" b="1">
                <a:latin typeface="Microsoft JhengHei"/>
                <a:cs typeface="Microsoft JhengHei"/>
              </a:rPr>
              <a:t>是人，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800" spc="-125" b="1">
                <a:latin typeface="Calibri"/>
                <a:cs typeface="Calibri"/>
              </a:rPr>
              <a:t>: 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55" b="1">
                <a:latin typeface="Microsoft JhengHei"/>
                <a:cs typeface="Microsoft JhengHei"/>
              </a:rPr>
              <a:t>喜欢吃糖。</a:t>
            </a:r>
            <a:r>
              <a:rPr dirty="0" sz="2800" spc="105" b="1">
                <a:latin typeface="Microsoft JhengHei"/>
                <a:cs typeface="Microsoft JhengHei"/>
              </a:rPr>
              <a:t>命题符号化为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x(F(x)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) 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解</a:t>
            </a:r>
            <a:r>
              <a:rPr dirty="0" spc="-50"/>
              <a:t>③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27136"/>
            <a:ext cx="6296660" cy="4230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105" b="1">
                <a:latin typeface="Microsoft JhengHei"/>
                <a:cs typeface="Microsoft JhengHei"/>
              </a:rPr>
              <a:t>③ 男</a:t>
            </a:r>
            <a:r>
              <a:rPr dirty="0" sz="2600" b="1">
                <a:latin typeface="Microsoft JhengHei"/>
                <a:cs typeface="Microsoft JhengHei"/>
              </a:rPr>
              <a:t>人</a:t>
            </a:r>
            <a:r>
              <a:rPr dirty="0" sz="2600" b="1">
                <a:latin typeface="Microsoft JhengHei"/>
                <a:cs typeface="Microsoft JhengHei"/>
              </a:rPr>
              <a:t>都</a:t>
            </a:r>
            <a:r>
              <a:rPr dirty="0" sz="2600" b="1">
                <a:latin typeface="Microsoft JhengHei"/>
                <a:cs typeface="Microsoft JhengHei"/>
              </a:rPr>
              <a:t>比</a:t>
            </a:r>
            <a:r>
              <a:rPr dirty="0" sz="2600" b="1">
                <a:latin typeface="Microsoft JhengHei"/>
                <a:cs typeface="Microsoft JhengHei"/>
              </a:rPr>
              <a:t>女</a:t>
            </a:r>
            <a:r>
              <a:rPr dirty="0" sz="2600" spc="-35" b="1">
                <a:latin typeface="Microsoft JhengHei"/>
                <a:cs typeface="Microsoft JhengHei"/>
              </a:rPr>
              <a:t>人</a:t>
            </a:r>
            <a:r>
              <a:rPr dirty="0" sz="2600" spc="-35" b="1">
                <a:latin typeface="Microsoft JhengHei"/>
                <a:cs typeface="Microsoft JhengHei"/>
              </a:rPr>
              <a:t>跑</a:t>
            </a:r>
            <a:r>
              <a:rPr dirty="0" sz="2600" b="1">
                <a:latin typeface="Microsoft JhengHei"/>
                <a:cs typeface="Microsoft JhengHei"/>
              </a:rPr>
              <a:t>得</a:t>
            </a:r>
            <a:r>
              <a:rPr dirty="0" sz="2600" spc="-35" b="1">
                <a:latin typeface="Microsoft JhengHei"/>
                <a:cs typeface="Microsoft JhengHei"/>
              </a:rPr>
              <a:t>快</a:t>
            </a:r>
            <a:r>
              <a:rPr dirty="0" sz="2600" spc="-35" b="1">
                <a:latin typeface="Microsoft JhengHei"/>
                <a:cs typeface="Microsoft JhengHei"/>
              </a:rPr>
              <a:t>（</a:t>
            </a:r>
            <a:r>
              <a:rPr dirty="0" sz="2600" b="1">
                <a:latin typeface="Microsoft JhengHei"/>
                <a:cs typeface="Microsoft JhengHei"/>
              </a:rPr>
              <a:t>这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假</a:t>
            </a:r>
            <a:r>
              <a:rPr dirty="0" sz="2600" spc="-35" b="1">
                <a:latin typeface="Microsoft JhengHei"/>
                <a:cs typeface="Microsoft JhengHei"/>
              </a:rPr>
              <a:t>命</a:t>
            </a:r>
            <a:r>
              <a:rPr dirty="0" sz="2600" b="1">
                <a:latin typeface="Microsoft JhengHei"/>
                <a:cs typeface="Microsoft JhengHei"/>
              </a:rPr>
              <a:t>题</a:t>
            </a:r>
            <a:r>
              <a:rPr dirty="0" sz="2600" spc="-35" b="1">
                <a:latin typeface="Microsoft JhengHei"/>
                <a:cs typeface="Microsoft JhengHei"/>
              </a:rPr>
              <a:t>）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387350" marR="1461135" indent="-375285">
              <a:lnSpc>
                <a:spcPct val="159400"/>
              </a:lnSpc>
            </a:pPr>
            <a:r>
              <a:rPr dirty="0" sz="2600" spc="545" b="1">
                <a:latin typeface="Microsoft JhengHei"/>
                <a:cs typeface="Microsoft JhengHei"/>
              </a:rPr>
              <a:t>令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75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b="1">
                <a:latin typeface="Microsoft JhengHei"/>
                <a:cs typeface="Microsoft JhengHei"/>
              </a:rPr>
              <a:t>男</a:t>
            </a:r>
            <a:r>
              <a:rPr dirty="0" sz="2600" b="1">
                <a:latin typeface="Microsoft JhengHei"/>
                <a:cs typeface="Microsoft JhengHei"/>
              </a:rPr>
              <a:t>人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G(y)</a:t>
            </a:r>
            <a:r>
              <a:rPr dirty="0" sz="2600" spc="-25" b="1">
                <a:latin typeface="Calibri"/>
                <a:cs typeface="Calibri"/>
              </a:rPr>
              <a:t>: y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b="1">
                <a:latin typeface="Microsoft JhengHei"/>
                <a:cs typeface="Microsoft JhengHei"/>
              </a:rPr>
              <a:t>女</a:t>
            </a:r>
            <a:r>
              <a:rPr dirty="0" sz="2600" b="1">
                <a:latin typeface="Microsoft JhengHei"/>
                <a:cs typeface="Microsoft JhengHei"/>
              </a:rPr>
              <a:t>人</a:t>
            </a:r>
            <a:r>
              <a:rPr dirty="0" sz="2600" spc="-50" b="1">
                <a:latin typeface="Microsoft JhengHei"/>
                <a:cs typeface="Microsoft JhengHei"/>
              </a:rPr>
              <a:t>，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H(x,y)</a:t>
            </a:r>
            <a:r>
              <a:rPr dirty="0" sz="2600" spc="4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比</a:t>
            </a:r>
            <a:r>
              <a:rPr dirty="0" sz="2600" spc="-30" b="1">
                <a:latin typeface="Calibri"/>
                <a:cs typeface="Calibri"/>
              </a:rPr>
              <a:t>y</a:t>
            </a:r>
            <a:r>
              <a:rPr dirty="0" sz="2600" b="1">
                <a:latin typeface="Microsoft JhengHei"/>
                <a:cs typeface="Microsoft JhengHei"/>
              </a:rPr>
              <a:t>跑</a:t>
            </a:r>
            <a:r>
              <a:rPr dirty="0" sz="2600" b="1">
                <a:latin typeface="Microsoft JhengHei"/>
                <a:cs typeface="Microsoft JhengHei"/>
              </a:rPr>
              <a:t>得</a:t>
            </a:r>
            <a:r>
              <a:rPr dirty="0" sz="2600" b="1">
                <a:latin typeface="Microsoft JhengHei"/>
                <a:cs typeface="Microsoft JhengHei"/>
              </a:rPr>
              <a:t>快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b="1">
                <a:latin typeface="Microsoft JhengHei"/>
                <a:cs typeface="Microsoft JhengHei"/>
              </a:rPr>
              <a:t>题</a:t>
            </a:r>
            <a:r>
              <a:rPr dirty="0" sz="2600" b="1">
                <a:latin typeface="Microsoft JhengHei"/>
                <a:cs typeface="Microsoft JhengHei"/>
              </a:rPr>
              <a:t>符</a:t>
            </a:r>
            <a:r>
              <a:rPr dirty="0" sz="2600" b="1">
                <a:latin typeface="Microsoft JhengHei"/>
                <a:cs typeface="Microsoft JhengHei"/>
              </a:rPr>
              <a:t>号</a:t>
            </a:r>
            <a:r>
              <a:rPr dirty="0" sz="2600" spc="-35" b="1">
                <a:latin typeface="Microsoft JhengHei"/>
                <a:cs typeface="Microsoft JhengHei"/>
              </a:rPr>
              <a:t>化</a:t>
            </a:r>
            <a:r>
              <a:rPr dirty="0" sz="2600" spc="-50" b="1">
                <a:latin typeface="Microsoft JhengHei"/>
                <a:cs typeface="Microsoft JhengHei"/>
              </a:rPr>
              <a:t>为</a:t>
            </a:r>
            <a:endParaRPr sz="2600">
              <a:latin typeface="Microsoft JhengHei"/>
              <a:cs typeface="Microsoft JhengHei"/>
            </a:endParaRPr>
          </a:p>
          <a:p>
            <a:pPr algn="ctr" marL="1784350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dirty="0" sz="26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6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600" spc="-4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dirty="0" sz="2600" spc="-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G(y)</a:t>
            </a:r>
            <a:r>
              <a:rPr dirty="0" sz="2600" spc="1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6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H(x,y)</a:t>
            </a:r>
            <a:r>
              <a:rPr dirty="0" sz="2600" spc="2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r>
              <a:rPr dirty="0" sz="26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600" b="1">
                <a:latin typeface="Microsoft JhengHei"/>
                <a:cs typeface="Microsoft JhengHei"/>
              </a:rPr>
              <a:t>等</a:t>
            </a:r>
            <a:r>
              <a:rPr dirty="0" sz="2600" b="1">
                <a:latin typeface="Microsoft JhengHei"/>
                <a:cs typeface="Microsoft JhengHei"/>
              </a:rPr>
              <a:t>值</a:t>
            </a:r>
            <a:r>
              <a:rPr dirty="0" sz="2600" b="1">
                <a:latin typeface="Microsoft JhengHei"/>
                <a:cs typeface="Microsoft JhengHei"/>
              </a:rPr>
              <a:t>形</a:t>
            </a:r>
            <a:r>
              <a:rPr dirty="0" sz="2600" b="1">
                <a:latin typeface="Microsoft JhengHei"/>
                <a:cs typeface="Microsoft JhengHei"/>
              </a:rPr>
              <a:t>式</a:t>
            </a:r>
            <a:r>
              <a:rPr dirty="0" sz="2600" spc="-50" b="1">
                <a:latin typeface="Microsoft JhengHei"/>
                <a:cs typeface="Microsoft JhengHei"/>
              </a:rPr>
              <a:t>为</a:t>
            </a:r>
            <a:endParaRPr sz="2600">
              <a:latin typeface="Microsoft JhengHei"/>
              <a:cs typeface="Microsoft JhengHei"/>
            </a:endParaRPr>
          </a:p>
          <a:p>
            <a:pPr algn="ctr" marL="1776095">
              <a:lnSpc>
                <a:spcPct val="100000"/>
              </a:lnSpc>
              <a:spcBef>
                <a:spcPts val="1930"/>
              </a:spcBef>
            </a:pP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600" spc="-3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(</a:t>
            </a:r>
            <a:r>
              <a:rPr dirty="0" sz="26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600" spc="-8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G(y)</a:t>
            </a:r>
            <a:r>
              <a:rPr dirty="0" sz="2600" spc="1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6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H(x,y)</a:t>
            </a:r>
            <a:r>
              <a:rPr dirty="0" sz="2600" spc="-5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spc="-50" b="1">
                <a:solidFill>
                  <a:srgbClr val="006FC0"/>
                </a:solidFill>
                <a:latin typeface="Calibri"/>
                <a:cs typeface="Calibri"/>
              </a:rPr>
              <a:t>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98092" y="610946"/>
            <a:ext cx="67792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5"/>
              <a:t>一阶谓词逻辑公式及其分类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60080"/>
            <a:ext cx="8107680" cy="4293235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40600"/>
              </a:lnSpc>
              <a:spcBef>
                <a:spcPts val="60"/>
              </a:spcBef>
            </a:pPr>
            <a:r>
              <a:rPr dirty="0" sz="2800" spc="10" b="1">
                <a:latin typeface="Microsoft JhengHei"/>
                <a:cs typeface="Microsoft JhengHei"/>
              </a:rPr>
              <a:t>一阶谓词逻辑公式也简称为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公式</a:t>
            </a:r>
            <a:r>
              <a:rPr dirty="0" sz="2800" spc="-10" b="1">
                <a:latin typeface="Microsoft JhengHei"/>
                <a:cs typeface="Microsoft JhengHei"/>
              </a:rPr>
              <a:t>，它的形成规则类</a:t>
            </a:r>
            <a:r>
              <a:rPr dirty="0" sz="2800" b="1">
                <a:latin typeface="Microsoft JhengHei"/>
                <a:cs typeface="Microsoft JhengHei"/>
              </a:rPr>
              <a:t>似于命题逻辑公式，只需加上一条，即若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5" b="1">
                <a:latin typeface="Microsoft JhengHei"/>
                <a:cs typeface="Microsoft JhengHei"/>
              </a:rPr>
              <a:t>是公式，</a:t>
            </a:r>
            <a:r>
              <a:rPr dirty="0" sz="2800" spc="65" b="1">
                <a:latin typeface="Microsoft JhengHei"/>
                <a:cs typeface="Microsoft JhengHei"/>
              </a:rPr>
              <a:t>则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及</a:t>
            </a:r>
            <a:r>
              <a:rPr dirty="0" sz="2800" spc="55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5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24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20" b="1">
                <a:latin typeface="Microsoft JhengHei"/>
                <a:cs typeface="Microsoft JhengHei"/>
              </a:rPr>
              <a:t>也都是公式。</a:t>
            </a:r>
            <a:endParaRPr sz="2800">
              <a:latin typeface="Microsoft JhengHei"/>
              <a:cs typeface="Microsoft JhengHei"/>
            </a:endParaRPr>
          </a:p>
          <a:p>
            <a:pPr algn="just" marL="12700" marR="233679">
              <a:lnSpc>
                <a:spcPct val="140200"/>
              </a:lnSpc>
              <a:spcBef>
                <a:spcPts val="625"/>
              </a:spcBef>
            </a:pPr>
            <a:r>
              <a:rPr dirty="0" sz="2800" spc="70" b="1">
                <a:latin typeface="Microsoft JhengHei"/>
                <a:cs typeface="Microsoft JhengHei"/>
              </a:rPr>
              <a:t>在公式</a:t>
            </a:r>
            <a:r>
              <a:rPr dirty="0" sz="2800" spc="-3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3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和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5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70" b="1">
                <a:latin typeface="Microsoft JhengHei"/>
                <a:cs typeface="Microsoft JhengHei"/>
              </a:rPr>
              <a:t>中，称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指导变元</a:t>
            </a:r>
            <a:r>
              <a:rPr dirty="0" sz="2800" spc="35" b="1">
                <a:latin typeface="Microsoft JhengHei"/>
                <a:cs typeface="Microsoft JhengHei"/>
              </a:rPr>
              <a:t>，称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latin typeface="Microsoft JhengHei"/>
                <a:cs typeface="Microsoft JhengHei"/>
              </a:rPr>
              <a:t>为相应</a:t>
            </a:r>
            <a:r>
              <a:rPr dirty="0" sz="2800" spc="70" b="1">
                <a:latin typeface="Microsoft JhengHei"/>
                <a:cs typeface="Microsoft JhengHei"/>
              </a:rPr>
              <a:t>量词的</a:t>
            </a:r>
            <a:r>
              <a:rPr dirty="0" sz="2800" b="1">
                <a:solidFill>
                  <a:srgbClr val="FF0000"/>
                </a:solidFill>
                <a:latin typeface="Microsoft JhengHei"/>
                <a:cs typeface="Microsoft JhengHei"/>
              </a:rPr>
              <a:t>辖域</a:t>
            </a:r>
            <a:r>
              <a:rPr dirty="0" sz="2800" b="1">
                <a:latin typeface="Microsoft JhengHei"/>
                <a:cs typeface="Microsoft JhengHei"/>
              </a:rPr>
              <a:t>。在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Microsoft JhengHei"/>
                <a:cs typeface="Microsoft JhengHei"/>
              </a:rPr>
              <a:t>和</a:t>
            </a:r>
            <a:r>
              <a:rPr dirty="0" sz="2800" spc="-15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-1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10" b="1">
                <a:latin typeface="Microsoft JhengHei"/>
                <a:cs typeface="Microsoft JhengHei"/>
              </a:rPr>
              <a:t>的辖域中，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latin typeface="Microsoft JhengHei"/>
                <a:cs typeface="Microsoft JhengHei"/>
              </a:rPr>
              <a:t>的所有出现都</a:t>
            </a:r>
            <a:r>
              <a:rPr dirty="0" sz="2800" spc="65" b="1">
                <a:latin typeface="Microsoft JhengHei"/>
                <a:cs typeface="Microsoft JhengHei"/>
              </a:rPr>
              <a:t>称为是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约束出现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中不是约束出现的变元称为</a:t>
            </a:r>
            <a:r>
              <a:rPr dirty="0" sz="2800" spc="-50" b="1">
                <a:solidFill>
                  <a:srgbClr val="FF0000"/>
                </a:solidFill>
                <a:latin typeface="Microsoft JhengHei"/>
                <a:cs typeface="Microsoft JhengHei"/>
              </a:rPr>
              <a:t>自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由出现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915" y="471551"/>
            <a:ext cx="5842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54949"/>
            <a:ext cx="8390255" cy="4015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15595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Symbol"/>
                <a:cs typeface="Symbol"/>
              </a:rPr>
              <a:t></a:t>
            </a:r>
            <a:r>
              <a:rPr dirty="0" sz="3600" b="1">
                <a:latin typeface="Calibri"/>
                <a:cs typeface="Calibri"/>
              </a:rPr>
              <a:t>x</a:t>
            </a:r>
            <a:r>
              <a:rPr dirty="0" sz="3600" spc="-3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( F(x)</a:t>
            </a:r>
            <a:r>
              <a:rPr dirty="0" sz="3600" spc="-45" b="1">
                <a:latin typeface="Calibri"/>
                <a:cs typeface="Calibri"/>
              </a:rPr>
              <a:t> </a:t>
            </a:r>
            <a:r>
              <a:rPr dirty="0" sz="3600" b="1">
                <a:latin typeface="Symbol"/>
                <a:cs typeface="Symbol"/>
              </a:rPr>
              <a:t></a:t>
            </a:r>
            <a:r>
              <a:rPr dirty="0" sz="3600" spc="-65">
                <a:latin typeface="Times New Roman"/>
                <a:cs typeface="Times New Roman"/>
              </a:rPr>
              <a:t> </a:t>
            </a:r>
            <a:r>
              <a:rPr dirty="0" sz="3600" b="1">
                <a:latin typeface="Symbol"/>
                <a:cs typeface="Symbol"/>
              </a:rPr>
              <a:t></a:t>
            </a:r>
            <a:r>
              <a:rPr dirty="0" sz="3600" b="1">
                <a:latin typeface="Calibri"/>
                <a:cs typeface="Calibri"/>
              </a:rPr>
              <a:t>y</a:t>
            </a:r>
            <a:r>
              <a:rPr dirty="0" sz="3600" spc="-80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(</a:t>
            </a:r>
            <a:r>
              <a:rPr dirty="0" sz="3600" spc="5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G(y)</a:t>
            </a:r>
            <a:r>
              <a:rPr dirty="0" sz="3600" spc="-50" b="1">
                <a:latin typeface="Calibri"/>
                <a:cs typeface="Calibri"/>
              </a:rPr>
              <a:t> </a:t>
            </a:r>
            <a:r>
              <a:rPr dirty="0" sz="3600" b="1">
                <a:latin typeface="Symbol"/>
                <a:cs typeface="Symbol"/>
              </a:rPr>
              <a:t></a:t>
            </a:r>
            <a:r>
              <a:rPr dirty="0" sz="3600" spc="-125">
                <a:latin typeface="Times New Roman"/>
                <a:cs typeface="Times New Roman"/>
              </a:rPr>
              <a:t> </a:t>
            </a:r>
            <a:r>
              <a:rPr dirty="0" sz="3600" b="1">
                <a:latin typeface="Calibri"/>
                <a:cs typeface="Calibri"/>
              </a:rPr>
              <a:t>H(x,y,z)</a:t>
            </a:r>
            <a:r>
              <a:rPr dirty="0" sz="3600" spc="-65" b="1">
                <a:latin typeface="Calibri"/>
                <a:cs typeface="Calibri"/>
              </a:rPr>
              <a:t> </a:t>
            </a:r>
            <a:r>
              <a:rPr dirty="0" sz="3600" b="1">
                <a:latin typeface="Calibri"/>
                <a:cs typeface="Calibri"/>
              </a:rPr>
              <a:t>) </a:t>
            </a:r>
            <a:r>
              <a:rPr dirty="0" sz="3600" spc="-50" b="1">
                <a:latin typeface="Calibri"/>
                <a:cs typeface="Calibri"/>
              </a:rPr>
              <a:t>)</a:t>
            </a:r>
            <a:endParaRPr sz="3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75"/>
              </a:spcBef>
            </a:pP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155" b="1">
                <a:latin typeface="Microsoft JhengHei"/>
                <a:cs typeface="Microsoft JhengHei"/>
              </a:rPr>
              <a:t>的辖域为</a:t>
            </a:r>
            <a:r>
              <a:rPr dirty="0" sz="2800" spc="-10" b="1">
                <a:latin typeface="Calibri"/>
                <a:cs typeface="Calibri"/>
              </a:rPr>
              <a:t>( </a:t>
            </a:r>
            <a:r>
              <a:rPr dirty="0" sz="2800" b="1">
                <a:latin typeface="Calibri"/>
                <a:cs typeface="Calibri"/>
              </a:rPr>
              <a:t>F(x) 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spc="-95">
                <a:latin typeface="Times New Roman"/>
                <a:cs typeface="Times New Roman"/>
              </a:rPr>
              <a:t> </a:t>
            </a:r>
            <a:r>
              <a:rPr dirty="0" sz="2800" spc="55" b="1">
                <a:latin typeface="Symbol"/>
                <a:cs typeface="Symbol"/>
              </a:rPr>
              <a:t></a:t>
            </a:r>
            <a:r>
              <a:rPr dirty="0" sz="2800" spc="55" b="1">
                <a:latin typeface="Calibri"/>
                <a:cs typeface="Calibri"/>
              </a:rPr>
              <a:t>y</a:t>
            </a:r>
            <a:r>
              <a:rPr dirty="0" sz="2800" spc="-40" b="1">
                <a:latin typeface="Calibri"/>
                <a:cs typeface="Calibri"/>
              </a:rPr>
              <a:t> ( </a:t>
            </a:r>
            <a:r>
              <a:rPr dirty="0" sz="2800" b="1">
                <a:latin typeface="Calibri"/>
                <a:cs typeface="Calibri"/>
              </a:rPr>
              <a:t>G(y</a:t>
            </a:r>
            <a:r>
              <a:rPr dirty="0" sz="2800" spc="-5" b="1">
                <a:latin typeface="Calibri"/>
                <a:cs typeface="Calibri"/>
              </a:rPr>
              <a:t>)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H(x,y,z</a:t>
            </a:r>
            <a:r>
              <a:rPr dirty="0" sz="2800" spc="-25" b="1">
                <a:latin typeface="Calibri"/>
                <a:cs typeface="Calibri"/>
              </a:rPr>
              <a:t>) ) )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800" spc="140" b="1">
                <a:latin typeface="Microsoft JhengHei"/>
                <a:cs typeface="Microsoft JhengHei"/>
              </a:rPr>
              <a:t>的辖域为</a:t>
            </a:r>
            <a:r>
              <a:rPr dirty="0" sz="2800" spc="-5" b="1">
                <a:latin typeface="Calibri"/>
                <a:cs typeface="Calibri"/>
              </a:rPr>
              <a:t>( </a:t>
            </a:r>
            <a:r>
              <a:rPr dirty="0" sz="2800" b="1">
                <a:latin typeface="Calibri"/>
                <a:cs typeface="Calibri"/>
              </a:rPr>
              <a:t>G(y</a:t>
            </a:r>
            <a:r>
              <a:rPr dirty="0" sz="2800" spc="-5" b="1">
                <a:latin typeface="Calibri"/>
                <a:cs typeface="Calibri"/>
              </a:rPr>
              <a:t>)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2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H(x,y,z</a:t>
            </a:r>
            <a:r>
              <a:rPr dirty="0" sz="2800" spc="-25" b="1">
                <a:latin typeface="Calibri"/>
                <a:cs typeface="Calibri"/>
              </a:rPr>
              <a:t>) ) </a:t>
            </a:r>
            <a:r>
              <a:rPr dirty="0" sz="2800" spc="-50" b="1">
                <a:latin typeface="Microsoft JhengHei"/>
                <a:cs typeface="Microsoft JhengHei"/>
              </a:rPr>
              <a:t>，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04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除</a:t>
            </a:r>
            <a:r>
              <a:rPr dirty="0" sz="2800" spc="-40" b="1">
                <a:solidFill>
                  <a:srgbClr val="006FC0"/>
                </a:solidFill>
                <a:latin typeface="Calibri"/>
                <a:cs typeface="Calibri"/>
              </a:rPr>
              <a:t>z</a:t>
            </a:r>
            <a:r>
              <a:rPr dirty="0" sz="2800" spc="-15" b="1">
                <a:latin typeface="Microsoft JhengHei"/>
                <a:cs typeface="Microsoft JhengHei"/>
              </a:rPr>
              <a:t>是自由出现的变元外，其他变元都是约束出现的。</a:t>
            </a:r>
            <a:endParaRPr sz="2800">
              <a:latin typeface="Microsoft JhengHei"/>
              <a:cs typeface="Microsoft JhengHei"/>
            </a:endParaRPr>
          </a:p>
          <a:p>
            <a:pPr algn="ctr" marR="301625">
              <a:lnSpc>
                <a:spcPct val="100000"/>
              </a:lnSpc>
              <a:spcBef>
                <a:spcPts val="1975"/>
              </a:spcBef>
            </a:pP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-1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F(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Calibri"/>
                <a:cs typeface="Calibri"/>
              </a:rPr>
              <a:t>)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55" b="1">
                <a:latin typeface="Symbol"/>
                <a:cs typeface="Symbol"/>
              </a:rPr>
              <a:t></a:t>
            </a:r>
            <a:r>
              <a:rPr dirty="0" sz="2800" spc="55" b="1">
                <a:latin typeface="Calibri"/>
                <a:cs typeface="Calibri"/>
              </a:rPr>
              <a:t>y</a:t>
            </a:r>
            <a:r>
              <a:rPr dirty="0" sz="2800" spc="-16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G(y)</a:t>
            </a:r>
            <a:r>
              <a:rPr dirty="0" sz="2800" spc="7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H(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latin typeface="Calibri"/>
                <a:cs typeface="Calibri"/>
              </a:rPr>
              <a:t>,y,z)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)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ctr" marR="300355">
              <a:lnSpc>
                <a:spcPct val="100000"/>
              </a:lnSpc>
              <a:spcBef>
                <a:spcPts val="2045"/>
              </a:spcBef>
            </a:pP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latin typeface="Calibri"/>
                <a:cs typeface="Calibri"/>
              </a:rPr>
              <a:t>x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F(x)</a:t>
            </a:r>
            <a:r>
              <a:rPr dirty="0" sz="2800" spc="-6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</a:t>
            </a:r>
            <a:r>
              <a:rPr dirty="0" sz="2800" spc="-35">
                <a:latin typeface="Times New Roman"/>
                <a:cs typeface="Times New Roman"/>
              </a:rPr>
              <a:t> </a:t>
            </a:r>
            <a:r>
              <a:rPr dirty="0" sz="2800" spc="55" b="1">
                <a:latin typeface="Symbol"/>
                <a:cs typeface="Symbol"/>
              </a:rPr>
              <a:t></a:t>
            </a:r>
            <a:r>
              <a:rPr dirty="0" sz="2800" spc="55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800" spc="-16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-15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G(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800" b="1">
                <a:latin typeface="Calibri"/>
                <a:cs typeface="Calibri"/>
              </a:rPr>
              <a:t>)</a:t>
            </a:r>
            <a:r>
              <a:rPr dirty="0" sz="2800" spc="6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</a:t>
            </a:r>
            <a:r>
              <a:rPr dirty="0" sz="2800" spc="-10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H(x,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y</a:t>
            </a:r>
            <a:r>
              <a:rPr dirty="0" sz="2800" spc="-10" b="1">
                <a:latin typeface="Calibri"/>
                <a:cs typeface="Calibri"/>
              </a:rPr>
              <a:t>,z)</a:t>
            </a:r>
            <a:r>
              <a:rPr dirty="0" sz="2800" spc="-80" b="1"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)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解</a:t>
            </a:r>
            <a:r>
              <a:rPr dirty="0" spc="-50"/>
              <a:t>释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550493"/>
            <a:ext cx="8190230" cy="331342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50200"/>
              </a:lnSpc>
              <a:spcBef>
                <a:spcPts val="100"/>
              </a:spcBef>
            </a:pPr>
            <a:r>
              <a:rPr dirty="0" sz="2800" b="1">
                <a:latin typeface="Microsoft JhengHei"/>
                <a:cs typeface="Microsoft JhengHei"/>
              </a:rPr>
              <a:t>对于给定的公式</a:t>
            </a:r>
            <a:r>
              <a:rPr dirty="0" sz="2800" spc="-3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，如果指定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的个体域为已知的</a:t>
            </a:r>
            <a:r>
              <a:rPr dirty="0" sz="2800" spc="-25" b="1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dirty="0" sz="2800" spc="-25" b="1">
                <a:latin typeface="Microsoft JhengHei"/>
                <a:cs typeface="Microsoft JhengHei"/>
              </a:rPr>
              <a:t>，</a:t>
            </a:r>
            <a:r>
              <a:rPr dirty="0" sz="2800" spc="15" b="1">
                <a:latin typeface="Microsoft JhengHei"/>
                <a:cs typeface="Microsoft JhengHei"/>
              </a:rPr>
              <a:t>并用特定的个体常元取代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中的个体常元，用特定</a:t>
            </a:r>
            <a:r>
              <a:rPr dirty="0" sz="2800" spc="700" b="1">
                <a:latin typeface="Microsoft JhengHei"/>
                <a:cs typeface="Microsoft JhengHei"/>
              </a:rPr>
              <a:t> </a:t>
            </a:r>
            <a:r>
              <a:rPr dirty="0" sz="2800" spc="50" b="1">
                <a:latin typeface="Microsoft JhengHei"/>
                <a:cs typeface="Microsoft JhengHei"/>
              </a:rPr>
              <a:t>函数取代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中的函数变元，用特定的谓词取代</a:t>
            </a:r>
            <a:r>
              <a:rPr dirty="0" sz="2800" spc="-45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5" b="1">
                <a:latin typeface="Microsoft JhengHei"/>
                <a:cs typeface="Microsoft JhengHei"/>
              </a:rPr>
              <a:t>中的</a:t>
            </a:r>
            <a:r>
              <a:rPr dirty="0" sz="2800" spc="10" b="1">
                <a:latin typeface="Microsoft JhengHei"/>
                <a:cs typeface="Microsoft JhengHei"/>
              </a:rPr>
              <a:t>谓词变元，则就构成了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的一个</a:t>
            </a:r>
            <a:r>
              <a:rPr dirty="0" sz="2800" spc="25" b="1">
                <a:solidFill>
                  <a:srgbClr val="FF0000"/>
                </a:solidFill>
                <a:latin typeface="Microsoft JhengHei"/>
                <a:cs typeface="Microsoft JhengHei"/>
              </a:rPr>
              <a:t>解释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20" b="1">
                <a:latin typeface="Microsoft JhengHei"/>
                <a:cs typeface="Microsoft JhengHei"/>
              </a:rPr>
              <a:t>给定的一个公式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latin typeface="Microsoft JhengHei"/>
                <a:cs typeface="Microsoft JhengHei"/>
              </a:rPr>
              <a:t>可以有多种解释。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915" y="471551"/>
            <a:ext cx="5842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27136"/>
            <a:ext cx="7555865" cy="4230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Microsoft JhengHei"/>
                <a:cs typeface="Microsoft JhengHei"/>
              </a:rPr>
              <a:t>给</a:t>
            </a:r>
            <a:r>
              <a:rPr dirty="0" sz="2600" b="1">
                <a:latin typeface="Microsoft JhengHei"/>
                <a:cs typeface="Microsoft JhengHei"/>
              </a:rPr>
              <a:t>定</a:t>
            </a:r>
            <a:r>
              <a:rPr dirty="0" sz="2600" b="1">
                <a:latin typeface="Microsoft JhengHei"/>
                <a:cs typeface="Microsoft JhengHei"/>
              </a:rPr>
              <a:t>公</a:t>
            </a:r>
            <a:r>
              <a:rPr dirty="0" sz="2600" b="1">
                <a:latin typeface="Microsoft JhengHei"/>
                <a:cs typeface="Microsoft JhengHei"/>
              </a:rPr>
              <a:t>式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600" spc="-35" b="1">
                <a:latin typeface="Microsoft JhengHei"/>
                <a:cs typeface="Microsoft JhengHei"/>
              </a:rPr>
              <a:t>为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x(F(x)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</a:t>
            </a:r>
            <a:r>
              <a:rPr dirty="0" sz="2600" spc="-20" b="1">
                <a:solidFill>
                  <a:srgbClr val="006FC0"/>
                </a:solidFill>
                <a:latin typeface="Calibri"/>
                <a:cs typeface="Calibri"/>
              </a:rPr>
              <a:t>G(x</a:t>
            </a:r>
            <a:r>
              <a:rPr dirty="0" sz="2600" spc="105" b="1">
                <a:solidFill>
                  <a:srgbClr val="006FC0"/>
                </a:solidFill>
                <a:latin typeface="Calibri"/>
                <a:cs typeface="Calibri"/>
              </a:rPr>
              <a:t>)) </a:t>
            </a:r>
            <a:r>
              <a:rPr dirty="0" sz="260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多</a:t>
            </a:r>
            <a:r>
              <a:rPr dirty="0" sz="2600" b="1">
                <a:latin typeface="Microsoft JhengHei"/>
                <a:cs typeface="Microsoft JhengHei"/>
              </a:rPr>
              <a:t>种</a:t>
            </a:r>
            <a:r>
              <a:rPr dirty="0" sz="2600" spc="-30" b="1">
                <a:latin typeface="Microsoft JhengHei"/>
                <a:cs typeface="Microsoft JhengHei"/>
              </a:rPr>
              <a:t>解释。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latin typeface="Microsoft JhengHei"/>
                <a:cs typeface="Microsoft JhengHei"/>
              </a:rPr>
              <a:t>解</a:t>
            </a:r>
            <a:r>
              <a:rPr dirty="0" sz="2600" b="1">
                <a:latin typeface="Microsoft JhengHei"/>
                <a:cs typeface="Microsoft JhengHei"/>
              </a:rPr>
              <a:t>释</a:t>
            </a:r>
            <a:r>
              <a:rPr dirty="0" sz="2600" spc="-15" b="1">
                <a:latin typeface="Microsoft JhengHei"/>
                <a:cs typeface="Microsoft JhengHei"/>
              </a:rPr>
              <a:t>①：取个</a:t>
            </a:r>
            <a:r>
              <a:rPr dirty="0" sz="2600" spc="-35" b="1">
                <a:latin typeface="Microsoft JhengHei"/>
                <a:cs typeface="Microsoft JhengHei"/>
              </a:rPr>
              <a:t>体</a:t>
            </a:r>
            <a:r>
              <a:rPr dirty="0" sz="2600" spc="-35" b="1">
                <a:latin typeface="Microsoft JhengHei"/>
                <a:cs typeface="Microsoft JhengHei"/>
              </a:rPr>
              <a:t>域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35" b="1">
                <a:latin typeface="Microsoft JhengHei"/>
                <a:cs typeface="Microsoft JhengHei"/>
              </a:rPr>
              <a:t>实</a:t>
            </a:r>
            <a:r>
              <a:rPr dirty="0" sz="2600" spc="-35" b="1">
                <a:latin typeface="Microsoft JhengHei"/>
                <a:cs typeface="Microsoft JhengHei"/>
              </a:rPr>
              <a:t>数</a:t>
            </a:r>
            <a:r>
              <a:rPr dirty="0" sz="2600" spc="-35" b="1">
                <a:latin typeface="Microsoft JhengHei"/>
                <a:cs typeface="Microsoft JhengHei"/>
              </a:rPr>
              <a:t>集</a:t>
            </a:r>
            <a:r>
              <a:rPr dirty="0" sz="2600" spc="-25" b="1">
                <a:latin typeface="Microsoft JhengHei"/>
                <a:cs typeface="Microsoft JhengHei"/>
              </a:rPr>
              <a:t>合，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125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b="1">
                <a:latin typeface="Microsoft JhengHei"/>
                <a:cs typeface="Microsoft JhengHei"/>
              </a:rPr>
              <a:t>有</a:t>
            </a:r>
            <a:r>
              <a:rPr dirty="0" sz="2600" b="1">
                <a:latin typeface="Microsoft JhengHei"/>
                <a:cs typeface="Microsoft JhengHei"/>
              </a:rPr>
              <a:t>理</a:t>
            </a:r>
            <a:r>
              <a:rPr dirty="0" sz="2600" b="1">
                <a:latin typeface="Microsoft JhengHei"/>
                <a:cs typeface="Microsoft JhengHei"/>
              </a:rPr>
              <a:t>数</a:t>
            </a:r>
            <a:r>
              <a:rPr dirty="0" sz="2600" spc="-25" b="1">
                <a:latin typeface="Microsoft JhengHei"/>
                <a:cs typeface="Microsoft JhengHei"/>
              </a:rPr>
              <a:t>，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600" spc="-45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能</a:t>
            </a:r>
            <a:r>
              <a:rPr dirty="0" sz="2600" b="1">
                <a:latin typeface="Microsoft JhengHei"/>
                <a:cs typeface="Microsoft JhengHei"/>
              </a:rPr>
              <a:t>表</a:t>
            </a:r>
            <a:r>
              <a:rPr dirty="0" sz="2600" b="1">
                <a:latin typeface="Microsoft JhengHei"/>
                <a:cs typeface="Microsoft JhengHei"/>
              </a:rPr>
              <a:t>示</a:t>
            </a:r>
            <a:r>
              <a:rPr dirty="0" sz="2600" b="1">
                <a:latin typeface="Microsoft JhengHei"/>
                <a:cs typeface="Microsoft JhengHei"/>
              </a:rPr>
              <a:t>成</a:t>
            </a:r>
            <a:r>
              <a:rPr dirty="0" sz="2600" spc="-30" b="1">
                <a:latin typeface="Microsoft JhengHei"/>
                <a:cs typeface="Microsoft JhengHei"/>
              </a:rPr>
              <a:t>分数，</a:t>
            </a:r>
            <a:endParaRPr sz="2600">
              <a:latin typeface="Microsoft JhengHei"/>
              <a:cs typeface="Microsoft JhengHei"/>
            </a:endParaRPr>
          </a:p>
          <a:p>
            <a:pPr marL="12700" marR="5080">
              <a:lnSpc>
                <a:spcPct val="159500"/>
              </a:lnSpc>
              <a:spcBef>
                <a:spcPts val="75"/>
              </a:spcBef>
            </a:pPr>
            <a:r>
              <a:rPr dirty="0" sz="2600" spc="-10" b="1">
                <a:latin typeface="Calibri"/>
                <a:cs typeface="Calibri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解</a:t>
            </a:r>
            <a:r>
              <a:rPr dirty="0" sz="2600" b="1">
                <a:latin typeface="Microsoft JhengHei"/>
                <a:cs typeface="Microsoft JhengHei"/>
              </a:rPr>
              <a:t>释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15" b="1">
                <a:latin typeface="Microsoft JhengHei"/>
                <a:cs typeface="Microsoft JhengHei"/>
              </a:rPr>
              <a:t>“有理</a:t>
            </a:r>
            <a:r>
              <a:rPr dirty="0" sz="2600" spc="-35" b="1">
                <a:latin typeface="Microsoft JhengHei"/>
                <a:cs typeface="Microsoft JhengHei"/>
              </a:rPr>
              <a:t>数</a:t>
            </a:r>
            <a:r>
              <a:rPr dirty="0" sz="2600" spc="-35" b="1">
                <a:latin typeface="Microsoft JhengHei"/>
                <a:cs typeface="Microsoft JhengHei"/>
              </a:rPr>
              <a:t>都</a:t>
            </a:r>
            <a:r>
              <a:rPr dirty="0" sz="2600" spc="-35" b="1">
                <a:latin typeface="Microsoft JhengHei"/>
                <a:cs typeface="Microsoft JhengHei"/>
              </a:rPr>
              <a:t>能</a:t>
            </a:r>
            <a:r>
              <a:rPr dirty="0" sz="2600" b="1">
                <a:latin typeface="Microsoft JhengHei"/>
                <a:cs typeface="Microsoft JhengHei"/>
              </a:rPr>
              <a:t>表</a:t>
            </a:r>
            <a:r>
              <a:rPr dirty="0" sz="2600" spc="-35" b="1">
                <a:latin typeface="Microsoft JhengHei"/>
                <a:cs typeface="Microsoft JhengHei"/>
              </a:rPr>
              <a:t>示</a:t>
            </a:r>
            <a:r>
              <a:rPr dirty="0" sz="2600" spc="-35" b="1">
                <a:latin typeface="Microsoft JhengHei"/>
                <a:cs typeface="Microsoft JhengHei"/>
              </a:rPr>
              <a:t>成</a:t>
            </a:r>
            <a:r>
              <a:rPr dirty="0" sz="2600" b="1">
                <a:latin typeface="Microsoft JhengHei"/>
                <a:cs typeface="Microsoft JhengHei"/>
              </a:rPr>
              <a:t>分</a:t>
            </a:r>
            <a:r>
              <a:rPr dirty="0" sz="2600" spc="-35" b="1">
                <a:latin typeface="Microsoft JhengHei"/>
                <a:cs typeface="Microsoft JhengHei"/>
              </a:rPr>
              <a:t>数</a:t>
            </a:r>
            <a:r>
              <a:rPr dirty="0" sz="2600" spc="-25" b="1">
                <a:latin typeface="Microsoft JhengHei"/>
                <a:cs typeface="Microsoft JhengHei"/>
              </a:rPr>
              <a:t>”，这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真</a:t>
            </a: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spc="-35" b="1">
                <a:latin typeface="Microsoft JhengHei"/>
                <a:cs typeface="Microsoft JhengHei"/>
              </a:rPr>
              <a:t>题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r>
              <a:rPr dirty="0" sz="2600" b="1">
                <a:latin typeface="Microsoft JhengHei"/>
                <a:cs typeface="Microsoft JhengHei"/>
              </a:rPr>
              <a:t>解</a:t>
            </a:r>
            <a:r>
              <a:rPr dirty="0" sz="2600" b="1">
                <a:latin typeface="Microsoft JhengHei"/>
                <a:cs typeface="Microsoft JhengHei"/>
              </a:rPr>
              <a:t>释</a:t>
            </a:r>
            <a:r>
              <a:rPr dirty="0" sz="2600" spc="-15" b="1">
                <a:latin typeface="Microsoft JhengHei"/>
                <a:cs typeface="Microsoft JhengHei"/>
              </a:rPr>
              <a:t>②：取个</a:t>
            </a:r>
            <a:r>
              <a:rPr dirty="0" sz="2600" spc="-35" b="1">
                <a:latin typeface="Microsoft JhengHei"/>
                <a:cs typeface="Microsoft JhengHei"/>
              </a:rPr>
              <a:t>体</a:t>
            </a:r>
            <a:r>
              <a:rPr dirty="0" sz="2600" spc="-35" b="1">
                <a:latin typeface="Microsoft JhengHei"/>
                <a:cs typeface="Microsoft JhengHei"/>
              </a:rPr>
              <a:t>域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35" b="1">
                <a:latin typeface="Microsoft JhengHei"/>
                <a:cs typeface="Microsoft JhengHei"/>
              </a:rPr>
              <a:t>全</a:t>
            </a:r>
            <a:r>
              <a:rPr dirty="0" sz="2600" spc="-35" b="1">
                <a:latin typeface="Microsoft JhengHei"/>
                <a:cs typeface="Microsoft JhengHei"/>
              </a:rPr>
              <a:t>总</a:t>
            </a:r>
            <a:r>
              <a:rPr dirty="0" sz="2600" spc="-35" b="1">
                <a:latin typeface="Microsoft JhengHei"/>
                <a:cs typeface="Microsoft JhengHei"/>
              </a:rPr>
              <a:t>个</a:t>
            </a:r>
            <a:r>
              <a:rPr dirty="0" sz="2600" b="1">
                <a:latin typeface="Microsoft JhengHei"/>
                <a:cs typeface="Microsoft JhengHei"/>
              </a:rPr>
              <a:t>体</a:t>
            </a:r>
            <a:r>
              <a:rPr dirty="0" sz="2600" spc="-35" b="1">
                <a:latin typeface="Microsoft JhengHei"/>
                <a:cs typeface="Microsoft JhengHei"/>
              </a:rPr>
              <a:t>域</a:t>
            </a:r>
            <a:r>
              <a:rPr dirty="0" sz="2600" spc="-50" b="1">
                <a:latin typeface="Microsoft JhengHei"/>
                <a:cs typeface="Microsoft JhengHei"/>
              </a:rPr>
              <a:t>，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0"/>
              </a:spcBef>
            </a:pP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F(x)</a:t>
            </a:r>
            <a:r>
              <a:rPr dirty="0" sz="2600" spc="8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是</a:t>
            </a:r>
            <a:r>
              <a:rPr dirty="0" sz="2600" b="1">
                <a:latin typeface="Microsoft JhengHei"/>
                <a:cs typeface="Microsoft JhengHei"/>
              </a:rPr>
              <a:t>人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G(x)</a:t>
            </a:r>
            <a:r>
              <a:rPr dirty="0" sz="2600" spc="-20" b="1">
                <a:latin typeface="Calibri"/>
                <a:cs typeface="Calibri"/>
              </a:rPr>
              <a:t>: </a:t>
            </a:r>
            <a:r>
              <a:rPr dirty="0" sz="2600" b="1">
                <a:latin typeface="Calibri"/>
                <a:cs typeface="Calibri"/>
              </a:rPr>
              <a:t>x</a:t>
            </a:r>
            <a:r>
              <a:rPr dirty="0" sz="2600" b="1">
                <a:latin typeface="Microsoft JhengHei"/>
                <a:cs typeface="Microsoft JhengHei"/>
              </a:rPr>
              <a:t>长</a:t>
            </a:r>
            <a:r>
              <a:rPr dirty="0" sz="2600" b="1">
                <a:latin typeface="Microsoft JhengHei"/>
                <a:cs typeface="Microsoft JhengHei"/>
              </a:rPr>
              <a:t>着</a:t>
            </a:r>
            <a:r>
              <a:rPr dirty="0" sz="2600" b="1">
                <a:latin typeface="Microsoft JhengHei"/>
                <a:cs typeface="Microsoft JhengHei"/>
              </a:rPr>
              <a:t>黑</a:t>
            </a:r>
            <a:r>
              <a:rPr dirty="0" sz="2600" b="1">
                <a:latin typeface="Microsoft JhengHei"/>
                <a:cs typeface="Microsoft JhengHei"/>
              </a:rPr>
              <a:t>头</a:t>
            </a:r>
            <a:r>
              <a:rPr dirty="0" sz="2600" spc="-35" b="1">
                <a:latin typeface="Microsoft JhengHei"/>
                <a:cs typeface="Microsoft JhengHei"/>
              </a:rPr>
              <a:t>发</a:t>
            </a:r>
            <a:r>
              <a:rPr dirty="0" sz="2600" spc="-50" b="1">
                <a:latin typeface="Microsoft JhengHei"/>
                <a:cs typeface="Microsoft JhengHei"/>
              </a:rPr>
              <a:t>，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930"/>
              </a:spcBef>
            </a:pPr>
            <a:r>
              <a:rPr dirty="0" sz="2600" spc="-10" b="1">
                <a:latin typeface="Calibri"/>
                <a:cs typeface="Calibri"/>
              </a:rPr>
              <a:t>A</a:t>
            </a:r>
            <a:r>
              <a:rPr dirty="0" sz="2600" b="1">
                <a:latin typeface="Microsoft JhengHei"/>
                <a:cs typeface="Microsoft JhengHei"/>
              </a:rPr>
              <a:t>解</a:t>
            </a:r>
            <a:r>
              <a:rPr dirty="0" sz="2600" b="1">
                <a:latin typeface="Microsoft JhengHei"/>
                <a:cs typeface="Microsoft JhengHei"/>
              </a:rPr>
              <a:t>释</a:t>
            </a:r>
            <a:r>
              <a:rPr dirty="0" sz="2600" b="1">
                <a:latin typeface="Microsoft JhengHei"/>
                <a:cs typeface="Microsoft JhengHei"/>
              </a:rPr>
              <a:t>为</a:t>
            </a:r>
            <a:r>
              <a:rPr dirty="0" sz="2600" spc="-15" b="1">
                <a:latin typeface="Microsoft JhengHei"/>
                <a:cs typeface="Microsoft JhengHei"/>
              </a:rPr>
              <a:t>“人都</a:t>
            </a:r>
            <a:r>
              <a:rPr dirty="0" sz="2600" spc="-35" b="1">
                <a:latin typeface="Microsoft JhengHei"/>
                <a:cs typeface="Microsoft JhengHei"/>
              </a:rPr>
              <a:t>长</a:t>
            </a:r>
            <a:r>
              <a:rPr dirty="0" sz="2600" spc="-35" b="1">
                <a:latin typeface="Microsoft JhengHei"/>
                <a:cs typeface="Microsoft JhengHei"/>
              </a:rPr>
              <a:t>着</a:t>
            </a:r>
            <a:r>
              <a:rPr dirty="0" sz="2600" spc="-35" b="1">
                <a:latin typeface="Microsoft JhengHei"/>
                <a:cs typeface="Microsoft JhengHei"/>
              </a:rPr>
              <a:t>黑</a:t>
            </a:r>
            <a:r>
              <a:rPr dirty="0" sz="2600" b="1">
                <a:latin typeface="Microsoft JhengHei"/>
                <a:cs typeface="Microsoft JhengHei"/>
              </a:rPr>
              <a:t>头</a:t>
            </a:r>
            <a:r>
              <a:rPr dirty="0" sz="2600" spc="-35" b="1">
                <a:latin typeface="Microsoft JhengHei"/>
                <a:cs typeface="Microsoft JhengHei"/>
              </a:rPr>
              <a:t>发</a:t>
            </a:r>
            <a:r>
              <a:rPr dirty="0" sz="2600" b="1">
                <a:latin typeface="Microsoft JhengHei"/>
                <a:cs typeface="Microsoft JhengHei"/>
              </a:rPr>
              <a:t>”，</a:t>
            </a:r>
            <a:r>
              <a:rPr dirty="0" sz="2600" spc="-35" b="1">
                <a:latin typeface="Microsoft JhengHei"/>
                <a:cs typeface="Microsoft JhengHei"/>
              </a:rPr>
              <a:t>这</a:t>
            </a:r>
            <a:r>
              <a:rPr dirty="0" sz="2600" spc="-35" b="1">
                <a:latin typeface="Microsoft JhengHei"/>
                <a:cs typeface="Microsoft JhengHei"/>
              </a:rPr>
              <a:t>是</a:t>
            </a:r>
            <a:r>
              <a:rPr dirty="0" sz="2600" spc="-35" b="1">
                <a:latin typeface="Microsoft JhengHei"/>
                <a:cs typeface="Microsoft JhengHei"/>
              </a:rPr>
              <a:t>假</a:t>
            </a:r>
            <a:r>
              <a:rPr dirty="0" sz="2600" b="1">
                <a:latin typeface="Microsoft JhengHei"/>
                <a:cs typeface="Microsoft JhengHei"/>
              </a:rPr>
              <a:t>命</a:t>
            </a:r>
            <a:r>
              <a:rPr dirty="0" sz="2600" spc="-35" b="1">
                <a:latin typeface="Microsoft JhengHei"/>
                <a:cs typeface="Microsoft JhengHei"/>
              </a:rPr>
              <a:t>题</a:t>
            </a:r>
            <a:r>
              <a:rPr dirty="0" sz="2600" spc="-50" b="1">
                <a:latin typeface="Microsoft JhengHei"/>
                <a:cs typeface="Microsoft JhengHei"/>
              </a:rPr>
              <a:t>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3274" y="682574"/>
            <a:ext cx="7338059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10"/>
              <a:t>永真、永假、可满足、等值式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8126095" cy="32746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在任何解释下都为真，则称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永真式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在任何解释下都为假，则称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永假式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" b="1">
                <a:latin typeface="Microsoft JhengHei"/>
                <a:cs typeface="Microsoft JhengHei"/>
              </a:rPr>
              <a:t>至少存在一个成真的解释，则称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20" b="1">
                <a:solidFill>
                  <a:srgbClr val="FF0000"/>
                </a:solidFill>
                <a:latin typeface="Microsoft JhengHei"/>
                <a:cs typeface="Microsoft JhengHei"/>
              </a:rPr>
              <a:t>可满足式。</a:t>
            </a:r>
            <a:endParaRPr sz="2800">
              <a:latin typeface="Microsoft JhengHei"/>
              <a:cs typeface="Microsoft JhengHei"/>
            </a:endParaRPr>
          </a:p>
          <a:p>
            <a:pPr marL="12700" marR="5080">
              <a:lnSpc>
                <a:spcPct val="150200"/>
              </a:lnSpc>
              <a:spcBef>
                <a:spcPts val="72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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b="1">
                <a:latin typeface="Microsoft JhengHei"/>
                <a:cs typeface="Microsoft JhengHei"/>
              </a:rPr>
              <a:t>是永真式，则称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与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是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等值</a:t>
            </a:r>
            <a:r>
              <a:rPr dirty="0" sz="2800" spc="15" b="1">
                <a:latin typeface="Microsoft JhengHei"/>
                <a:cs typeface="Microsoft JhengHei"/>
              </a:rPr>
              <a:t>的，记为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2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20" b="1">
                <a:latin typeface="Microsoft JhengHei"/>
                <a:cs typeface="Microsoft JhengHei"/>
              </a:rPr>
              <a:t>，</a:t>
            </a:r>
            <a:r>
              <a:rPr dirty="0" sz="2800" spc="65" b="1">
                <a:latin typeface="Microsoft JhengHei"/>
                <a:cs typeface="Microsoft JhengHei"/>
              </a:rPr>
              <a:t>并称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10" b="1">
                <a:solidFill>
                  <a:srgbClr val="FF0000"/>
                </a:solidFill>
                <a:latin typeface="Microsoft JhengHei"/>
                <a:cs typeface="Microsoft JhengHei"/>
              </a:rPr>
              <a:t>等值式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370" y="471551"/>
            <a:ext cx="3980179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等</a:t>
            </a:r>
            <a:r>
              <a:rPr dirty="0"/>
              <a:t>值</a:t>
            </a:r>
            <a:r>
              <a:rPr dirty="0" spc="-35"/>
              <a:t>式①②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763395"/>
            <a:ext cx="8002905" cy="408051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10"/>
              </a:spcBef>
            </a:pPr>
            <a:r>
              <a:rPr dirty="0" sz="2800" spc="25" b="1">
                <a:latin typeface="Microsoft JhengHei"/>
                <a:cs typeface="Microsoft JhengHei"/>
              </a:rPr>
              <a:t>① 在有限个体域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D={a</a:t>
            </a:r>
            <a:r>
              <a:rPr dirty="0" baseline="-19519" sz="2775" spc="-30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,a</a:t>
            </a:r>
            <a:r>
              <a:rPr dirty="0" baseline="-19519" sz="2775" spc="-30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,…,a</a:t>
            </a:r>
            <a:r>
              <a:rPr dirty="0" baseline="-19519" sz="2775" spc="-30" b="1">
                <a:solidFill>
                  <a:srgbClr val="006FC0"/>
                </a:solidFill>
                <a:latin typeface="Calibri"/>
                <a:cs typeface="Calibri"/>
              </a:rPr>
              <a:t>n</a:t>
            </a:r>
            <a:r>
              <a:rPr dirty="0" sz="2800" spc="-20" b="1">
                <a:solidFill>
                  <a:srgbClr val="006FC0"/>
                </a:solidFill>
                <a:latin typeface="Calibri"/>
                <a:cs typeface="Calibri"/>
              </a:rPr>
              <a:t>}</a:t>
            </a:r>
            <a:r>
              <a:rPr dirty="0" sz="2800" spc="-5" b="1">
                <a:latin typeface="Microsoft JhengHei"/>
                <a:cs typeface="Microsoft JhengHei"/>
              </a:rPr>
              <a:t>中消去量词等值式：</a:t>
            </a:r>
            <a:endParaRPr sz="2800">
              <a:latin typeface="Microsoft JhengHei"/>
              <a:cs typeface="Microsoft JhengHei"/>
            </a:endParaRPr>
          </a:p>
          <a:p>
            <a:pPr marL="45339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Calibri"/>
                <a:cs typeface="Calibri"/>
              </a:rPr>
              <a:t>(1)</a:t>
            </a:r>
            <a:r>
              <a:rPr dirty="0" sz="2800" spc="-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latin typeface="Calibri"/>
                <a:cs typeface="Calibri"/>
              </a:rPr>
              <a:t>xA(x)</a:t>
            </a:r>
            <a:r>
              <a:rPr dirty="0" sz="2800" spc="1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1</a:t>
            </a:r>
            <a:r>
              <a:rPr dirty="0" sz="2800" spc="-10" b="1">
                <a:latin typeface="Calibri"/>
                <a:cs typeface="Calibri"/>
              </a:rPr>
              <a:t>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…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n</a:t>
            </a:r>
            <a:r>
              <a:rPr dirty="0" sz="2800" spc="-1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453390">
              <a:lnSpc>
                <a:spcPct val="100000"/>
              </a:lnSpc>
              <a:spcBef>
                <a:spcPts val="2340"/>
              </a:spcBef>
            </a:pPr>
            <a:r>
              <a:rPr dirty="0" sz="2800" b="1">
                <a:latin typeface="Calibri"/>
                <a:cs typeface="Calibri"/>
              </a:rPr>
              <a:t>(2)</a:t>
            </a:r>
            <a:r>
              <a:rPr dirty="0" sz="2800" spc="3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</a:t>
            </a:r>
            <a:r>
              <a:rPr dirty="0" sz="2800" b="1">
                <a:latin typeface="Calibri"/>
                <a:cs typeface="Calibri"/>
              </a:rPr>
              <a:t>xA(x)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15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1</a:t>
            </a:r>
            <a:r>
              <a:rPr dirty="0" sz="2800" spc="-10" b="1">
                <a:latin typeface="Calibri"/>
                <a:cs typeface="Calibri"/>
              </a:rPr>
              <a:t>)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2</a:t>
            </a:r>
            <a:r>
              <a:rPr dirty="0" sz="2800" spc="-10" b="1">
                <a:latin typeface="Calibri"/>
                <a:cs typeface="Calibri"/>
              </a:rPr>
              <a:t>)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…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A(a</a:t>
            </a:r>
            <a:r>
              <a:rPr dirty="0" baseline="-19519" sz="2775" spc="-15" b="1">
                <a:latin typeface="Calibri"/>
                <a:cs typeface="Calibri"/>
              </a:rPr>
              <a:t>n</a:t>
            </a:r>
            <a:r>
              <a:rPr dirty="0" sz="2800" spc="-1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marL="50800">
              <a:lnSpc>
                <a:spcPct val="100000"/>
              </a:lnSpc>
              <a:spcBef>
                <a:spcPts val="2405"/>
              </a:spcBef>
            </a:pPr>
            <a:r>
              <a:rPr dirty="0" sz="2800" spc="-5" b="1">
                <a:latin typeface="Microsoft JhengHei"/>
                <a:cs typeface="Microsoft JhengHei"/>
              </a:rPr>
              <a:t>② 量词否定等值式：</a:t>
            </a:r>
            <a:endParaRPr sz="2800">
              <a:latin typeface="Microsoft JhengHei"/>
              <a:cs typeface="Microsoft JhengHei"/>
            </a:endParaRPr>
          </a:p>
          <a:p>
            <a:pPr marL="453390">
              <a:lnSpc>
                <a:spcPct val="100000"/>
              </a:lnSpc>
              <a:spcBef>
                <a:spcPts val="2335"/>
              </a:spcBef>
            </a:pPr>
            <a:r>
              <a:rPr dirty="0" sz="2800" b="1">
                <a:latin typeface="Calibri"/>
                <a:cs typeface="Calibri"/>
              </a:rPr>
              <a:t>(1)</a:t>
            </a:r>
            <a:r>
              <a:rPr dirty="0" sz="2800" spc="20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Symbol"/>
                <a:cs typeface="Symbol"/>
              </a:rPr>
              <a:t>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Calibri"/>
                <a:cs typeface="Calibri"/>
              </a:rPr>
              <a:t>A(x)</a:t>
            </a:r>
            <a:r>
              <a:rPr dirty="0" sz="2800" spc="-10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5"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solidFill>
                  <a:srgbClr val="FF0000"/>
                </a:solidFill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A(x)</a:t>
            </a:r>
            <a:endParaRPr sz="2800">
              <a:latin typeface="Calibri"/>
              <a:cs typeface="Calibri"/>
            </a:endParaRPr>
          </a:p>
          <a:p>
            <a:pPr marL="453390">
              <a:lnSpc>
                <a:spcPct val="100000"/>
              </a:lnSpc>
              <a:spcBef>
                <a:spcPts val="2340"/>
              </a:spcBef>
            </a:pPr>
            <a:r>
              <a:rPr dirty="0" sz="2800" b="1">
                <a:latin typeface="Calibri"/>
                <a:cs typeface="Calibri"/>
              </a:rPr>
              <a:t>(2)</a:t>
            </a:r>
            <a:r>
              <a:rPr dirty="0" sz="2800" spc="80" b="1"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FF0000"/>
                </a:solidFill>
                <a:latin typeface="Symbol"/>
                <a:cs typeface="Symbol"/>
              </a:rPr>
              <a:t>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b="1">
                <a:latin typeface="Calibri"/>
                <a:cs typeface="Calibri"/>
              </a:rPr>
              <a:t>A(x)</a:t>
            </a:r>
            <a:r>
              <a:rPr dirty="0" sz="2800" spc="-14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</a:t>
            </a:r>
            <a:r>
              <a:rPr dirty="0" sz="2800" spc="-30"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800" spc="-10" b="1">
                <a:solidFill>
                  <a:srgbClr val="FF0000"/>
                </a:solidFill>
                <a:latin typeface="Symbol"/>
                <a:cs typeface="Symbol"/>
              </a:rPr>
              <a:t></a:t>
            </a:r>
            <a:r>
              <a:rPr dirty="0" sz="2800" spc="-10" b="1">
                <a:latin typeface="Calibri"/>
                <a:cs typeface="Calibri"/>
              </a:rPr>
              <a:t>A(x)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等</a:t>
            </a:r>
            <a:r>
              <a:rPr dirty="0"/>
              <a:t>值</a:t>
            </a:r>
            <a:r>
              <a:rPr dirty="0" spc="-50"/>
              <a:t>式</a:t>
            </a:r>
            <a:r>
              <a:rPr dirty="0" spc="-50"/>
              <a:t>③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330047" y="1854898"/>
            <a:ext cx="8164195" cy="31127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b="1">
                <a:latin typeface="Microsoft JhengHei"/>
                <a:cs typeface="Microsoft JhengHei"/>
              </a:rPr>
              <a:t>③</a:t>
            </a:r>
            <a:r>
              <a:rPr dirty="0" sz="2600" b="1">
                <a:latin typeface="Microsoft JhengHei"/>
                <a:cs typeface="Microsoft JhengHei"/>
              </a:rPr>
              <a:t>量</a:t>
            </a:r>
            <a:r>
              <a:rPr dirty="0" sz="2600" b="1">
                <a:latin typeface="Microsoft JhengHei"/>
                <a:cs typeface="Microsoft JhengHei"/>
              </a:rPr>
              <a:t>词</a:t>
            </a:r>
            <a:r>
              <a:rPr dirty="0" sz="2600" b="1">
                <a:latin typeface="Microsoft JhengHei"/>
                <a:cs typeface="Microsoft JhengHei"/>
              </a:rPr>
              <a:t>辖</a:t>
            </a:r>
            <a:r>
              <a:rPr dirty="0" sz="2600" spc="-20" b="1">
                <a:latin typeface="Microsoft JhengHei"/>
                <a:cs typeface="Microsoft JhengHei"/>
              </a:rPr>
              <a:t>域收</a:t>
            </a:r>
            <a:r>
              <a:rPr dirty="0" sz="2600" spc="-35" b="1">
                <a:latin typeface="Microsoft JhengHei"/>
                <a:cs typeface="Microsoft JhengHei"/>
              </a:rPr>
              <a:t>缩</a:t>
            </a:r>
            <a:r>
              <a:rPr dirty="0" sz="2600" spc="-35" b="1">
                <a:latin typeface="Microsoft JhengHei"/>
                <a:cs typeface="Microsoft JhengHei"/>
              </a:rPr>
              <a:t>与</a:t>
            </a:r>
            <a:r>
              <a:rPr dirty="0" sz="2600" spc="-15" b="1">
                <a:latin typeface="Microsoft JhengHei"/>
                <a:cs typeface="Microsoft JhengHei"/>
              </a:rPr>
              <a:t>扩张</a:t>
            </a:r>
            <a:r>
              <a:rPr dirty="0" sz="2600" spc="-35" b="1">
                <a:latin typeface="Microsoft JhengHei"/>
                <a:cs typeface="Microsoft JhengHei"/>
              </a:rPr>
              <a:t>等</a:t>
            </a:r>
            <a:r>
              <a:rPr dirty="0" sz="2600" spc="-35" b="1">
                <a:latin typeface="Microsoft JhengHei"/>
                <a:cs typeface="Microsoft JhengHei"/>
              </a:rPr>
              <a:t>值</a:t>
            </a:r>
            <a:r>
              <a:rPr dirty="0" sz="2600" b="1">
                <a:latin typeface="Microsoft JhengHei"/>
                <a:cs typeface="Microsoft JhengHei"/>
              </a:rPr>
              <a:t>式</a:t>
            </a:r>
            <a:r>
              <a:rPr dirty="0" sz="2600" spc="-35" b="1">
                <a:latin typeface="Calibri"/>
                <a:cs typeface="Calibri"/>
              </a:rPr>
              <a:t>(</a:t>
            </a:r>
            <a:r>
              <a:rPr dirty="0" sz="2600" spc="-35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600" b="1">
                <a:solidFill>
                  <a:srgbClr val="FF0000"/>
                </a:solidFill>
                <a:latin typeface="Microsoft JhengHei"/>
                <a:cs typeface="Microsoft JhengHei"/>
              </a:rPr>
              <a:t>中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不</a:t>
            </a:r>
            <a:r>
              <a:rPr dirty="0" sz="2600" spc="-35" b="1">
                <a:solidFill>
                  <a:srgbClr val="FF0000"/>
                </a:solidFill>
                <a:latin typeface="Microsoft JhengHei"/>
                <a:cs typeface="Microsoft JhengHei"/>
              </a:rPr>
              <a:t>含</a:t>
            </a:r>
            <a:r>
              <a:rPr dirty="0" sz="2600" spc="-2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25" b="1">
                <a:latin typeface="Calibri"/>
                <a:cs typeface="Calibri"/>
              </a:rPr>
              <a:t>)</a:t>
            </a:r>
            <a:r>
              <a:rPr dirty="0" sz="2600" spc="-25" b="1">
                <a:latin typeface="Microsoft JhengHei"/>
                <a:cs typeface="Microsoft JhengHei"/>
              </a:rPr>
              <a:t>：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2140"/>
              </a:spcBef>
              <a:tabLst>
                <a:tab pos="4231640" algn="l"/>
              </a:tabLst>
            </a:pPr>
            <a:r>
              <a:rPr dirty="0" sz="2600" b="1">
                <a:latin typeface="Calibri"/>
                <a:cs typeface="Calibri"/>
              </a:rPr>
              <a:t>(1)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</a:t>
            </a:r>
            <a:r>
              <a:rPr dirty="0" sz="2600" spc="-10" b="1">
                <a:latin typeface="Calibri"/>
                <a:cs typeface="Calibri"/>
              </a:rPr>
              <a:t>x(A(x)</a:t>
            </a:r>
            <a:r>
              <a:rPr dirty="0" sz="2600" spc="-10" b="1">
                <a:latin typeface="Symbol"/>
                <a:cs typeface="Symbol"/>
              </a:rPr>
              <a:t>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</a:t>
            </a:r>
            <a:r>
              <a:rPr dirty="0" sz="2600" spc="-10" b="1">
                <a:latin typeface="Calibri"/>
                <a:cs typeface="Calibri"/>
              </a:rPr>
              <a:t>xA(x)</a:t>
            </a:r>
            <a:r>
              <a:rPr dirty="0" sz="2600" spc="-10" b="1">
                <a:latin typeface="Symbol"/>
                <a:cs typeface="Symbol"/>
              </a:rPr>
              <a:t>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	</a:t>
            </a:r>
            <a:r>
              <a:rPr dirty="0" sz="2600" b="1">
                <a:latin typeface="Calibri"/>
                <a:cs typeface="Calibri"/>
              </a:rPr>
              <a:t>(2)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</a:t>
            </a:r>
            <a:r>
              <a:rPr dirty="0" sz="2600" spc="-10" b="1">
                <a:latin typeface="Calibri"/>
                <a:cs typeface="Calibri"/>
              </a:rPr>
              <a:t>x(A(x)</a:t>
            </a:r>
            <a:r>
              <a:rPr dirty="0" sz="2600" spc="-10" b="1">
                <a:latin typeface="Symbol"/>
                <a:cs typeface="Symbol"/>
              </a:rPr>
              <a:t>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</a:t>
            </a:r>
            <a:r>
              <a:rPr dirty="0" sz="2600" spc="-10" b="1">
                <a:latin typeface="Calibri"/>
                <a:cs typeface="Calibri"/>
              </a:rPr>
              <a:t>xA(x)</a:t>
            </a:r>
            <a:r>
              <a:rPr dirty="0" sz="2600" spc="-10" b="1">
                <a:latin typeface="Symbol"/>
                <a:cs typeface="Symbol"/>
              </a:rPr>
              <a:t></a:t>
            </a:r>
            <a:r>
              <a:rPr dirty="0" sz="2600" spc="-10" b="1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</a:pPr>
            <a:r>
              <a:rPr dirty="0" sz="2600" b="1">
                <a:latin typeface="Calibri"/>
                <a:cs typeface="Calibri"/>
              </a:rPr>
              <a:t>(3)</a:t>
            </a:r>
            <a:r>
              <a:rPr dirty="0" sz="2600" spc="70" b="1"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latin typeface="Calibri"/>
                <a:cs typeface="Calibri"/>
              </a:rPr>
              <a:t>(A(x)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latin typeface="Calibri"/>
                <a:cs typeface="Calibri"/>
              </a:rPr>
              <a:t>A(x)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spc="-10" b="1">
                <a:latin typeface="Calibri"/>
                <a:cs typeface="Calibri"/>
              </a:rPr>
              <a:t>(4)</a:t>
            </a:r>
            <a:r>
              <a:rPr dirty="0" sz="2600" spc="-155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</a:t>
            </a:r>
            <a:r>
              <a:rPr dirty="0" sz="2600" spc="-10" b="1">
                <a:latin typeface="Calibri"/>
                <a:cs typeface="Calibri"/>
              </a:rPr>
              <a:t>x(B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A(x))</a:t>
            </a:r>
            <a:r>
              <a:rPr dirty="0" sz="2600" spc="-10" b="1">
                <a:latin typeface="Symbol"/>
                <a:cs typeface="Symbol"/>
              </a:rPr>
              <a:t>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Symbol"/>
                <a:cs typeface="Symbol"/>
              </a:rPr>
              <a:t></a:t>
            </a:r>
            <a:r>
              <a:rPr dirty="0" sz="2600" spc="-10" b="1">
                <a:latin typeface="Calibri"/>
                <a:cs typeface="Calibri"/>
              </a:rPr>
              <a:t>xA(x)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215"/>
              </a:spcBef>
              <a:tabLst>
                <a:tab pos="4204335" algn="l"/>
              </a:tabLst>
            </a:pPr>
            <a:r>
              <a:rPr dirty="0" sz="2600" b="1">
                <a:latin typeface="Calibri"/>
                <a:cs typeface="Calibri"/>
              </a:rPr>
              <a:t>(5)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</a:t>
            </a:r>
            <a:r>
              <a:rPr dirty="0" sz="2600" spc="-10" b="1">
                <a:latin typeface="Calibri"/>
                <a:cs typeface="Calibri"/>
              </a:rPr>
              <a:t>x(A(x)</a:t>
            </a:r>
            <a:r>
              <a:rPr dirty="0" sz="2600" spc="-10" b="1">
                <a:latin typeface="Symbol"/>
                <a:cs typeface="Symbol"/>
              </a:rPr>
              <a:t>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</a:t>
            </a:r>
            <a:r>
              <a:rPr dirty="0" sz="2600" spc="-10" b="1">
                <a:latin typeface="Calibri"/>
                <a:cs typeface="Calibri"/>
              </a:rPr>
              <a:t>xA(x)</a:t>
            </a:r>
            <a:r>
              <a:rPr dirty="0" sz="2600" spc="-10" b="1">
                <a:latin typeface="Symbol"/>
                <a:cs typeface="Symbol"/>
              </a:rPr>
              <a:t>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b="1">
                <a:latin typeface="Microsoft JhengHei"/>
                <a:cs typeface="Microsoft JhengHei"/>
              </a:rPr>
              <a:t>	</a:t>
            </a:r>
            <a:r>
              <a:rPr dirty="0" sz="2600" b="1">
                <a:latin typeface="Calibri"/>
                <a:cs typeface="Calibri"/>
              </a:rPr>
              <a:t>(6)</a:t>
            </a:r>
            <a:r>
              <a:rPr dirty="0" sz="2600" spc="-30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</a:t>
            </a:r>
            <a:r>
              <a:rPr dirty="0" sz="2600" spc="-10" b="1">
                <a:latin typeface="Calibri"/>
                <a:cs typeface="Calibri"/>
              </a:rPr>
              <a:t>x(A(x)</a:t>
            </a:r>
            <a:r>
              <a:rPr dirty="0" sz="2600" spc="-10" b="1">
                <a:latin typeface="Symbol"/>
                <a:cs typeface="Symbol"/>
              </a:rPr>
              <a:t>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</a:t>
            </a:r>
            <a:r>
              <a:rPr dirty="0" sz="2600" spc="-10" b="1">
                <a:latin typeface="Calibri"/>
                <a:cs typeface="Calibri"/>
              </a:rPr>
              <a:t>xA(x)</a:t>
            </a:r>
            <a:r>
              <a:rPr dirty="0" sz="2600" spc="-10" b="1">
                <a:latin typeface="Symbol"/>
                <a:cs typeface="Symbol"/>
              </a:rPr>
              <a:t></a:t>
            </a:r>
            <a:r>
              <a:rPr dirty="0" sz="2600" spc="-10" b="1">
                <a:latin typeface="Calibri"/>
                <a:cs typeface="Calibri"/>
              </a:rPr>
              <a:t>B</a:t>
            </a:r>
            <a:endParaRPr sz="2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</a:pPr>
            <a:r>
              <a:rPr dirty="0" sz="2600" b="1">
                <a:latin typeface="Calibri"/>
                <a:cs typeface="Calibri"/>
              </a:rPr>
              <a:t>(7)</a:t>
            </a:r>
            <a:r>
              <a:rPr dirty="0" sz="2600" spc="90" b="1"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latin typeface="Calibri"/>
                <a:cs typeface="Calibri"/>
              </a:rPr>
              <a:t>(A(x)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B)</a:t>
            </a:r>
            <a:r>
              <a:rPr dirty="0" sz="2600" spc="-10" b="1">
                <a:latin typeface="Symbol"/>
                <a:cs typeface="Symbol"/>
              </a:rPr>
              <a:t>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sz="2600" spc="-10" b="1">
                <a:latin typeface="Calibri"/>
                <a:cs typeface="Calibri"/>
              </a:rPr>
              <a:t>A(x)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Microsoft JhengHei"/>
                <a:cs typeface="Microsoft JhengHei"/>
              </a:rPr>
              <a:t>，</a:t>
            </a:r>
            <a:r>
              <a:rPr dirty="0" sz="2600" spc="-10" b="1">
                <a:latin typeface="Calibri"/>
                <a:cs typeface="Calibri"/>
              </a:rPr>
              <a:t>(8)</a:t>
            </a:r>
            <a:r>
              <a:rPr dirty="0" sz="2600" spc="-145" b="1">
                <a:latin typeface="Calibri"/>
                <a:cs typeface="Calibri"/>
              </a:rPr>
              <a:t> </a:t>
            </a:r>
            <a:r>
              <a:rPr dirty="0" sz="2600" spc="-10" b="1">
                <a:latin typeface="Symbol"/>
                <a:cs typeface="Symbol"/>
              </a:rPr>
              <a:t></a:t>
            </a:r>
            <a:r>
              <a:rPr dirty="0" sz="2600" spc="-10" b="1">
                <a:latin typeface="Calibri"/>
                <a:cs typeface="Calibri"/>
              </a:rPr>
              <a:t>x(B</a:t>
            </a:r>
            <a:r>
              <a:rPr dirty="0" sz="2600" spc="-10" b="1">
                <a:latin typeface="Symbol"/>
                <a:cs typeface="Symbol"/>
              </a:rPr>
              <a:t></a:t>
            </a:r>
            <a:r>
              <a:rPr dirty="0" sz="2600" spc="-10" b="1">
                <a:latin typeface="Calibri"/>
                <a:cs typeface="Calibri"/>
              </a:rPr>
              <a:t>A(x))</a:t>
            </a:r>
            <a:r>
              <a:rPr dirty="0" sz="2600" spc="-10" b="1">
                <a:latin typeface="Symbol"/>
                <a:cs typeface="Symbol"/>
              </a:rPr>
              <a:t></a:t>
            </a:r>
            <a:r>
              <a:rPr dirty="0" sz="2600" spc="-10" b="1">
                <a:latin typeface="Calibri"/>
                <a:cs typeface="Calibri"/>
              </a:rPr>
              <a:t>B</a:t>
            </a:r>
            <a:r>
              <a:rPr dirty="0" sz="2600" spc="-10" b="1">
                <a:latin typeface="Symbol"/>
                <a:cs typeface="Symbol"/>
              </a:rPr>
              <a:t></a:t>
            </a:r>
            <a:r>
              <a:rPr dirty="0" sz="2600" spc="-10" b="1">
                <a:latin typeface="Calibri"/>
                <a:cs typeface="Calibri"/>
              </a:rPr>
              <a:t>xA(x)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61945" y="471551"/>
            <a:ext cx="340995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基</a:t>
            </a:r>
            <a:r>
              <a:rPr dirty="0"/>
              <a:t>本</a:t>
            </a:r>
            <a:r>
              <a:rPr dirty="0"/>
              <a:t>等</a:t>
            </a:r>
            <a:r>
              <a:rPr dirty="0"/>
              <a:t>值</a:t>
            </a:r>
            <a:r>
              <a:rPr dirty="0" spc="-50"/>
              <a:t>式</a:t>
            </a:r>
            <a:r>
              <a:rPr dirty="0" spc="-50"/>
              <a:t>④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27136"/>
            <a:ext cx="5874385" cy="42303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600" spc="40" b="1">
                <a:latin typeface="Microsoft JhengHei"/>
                <a:cs typeface="Microsoft JhengHei"/>
              </a:rPr>
              <a:t>④ 量</a:t>
            </a:r>
            <a:r>
              <a:rPr dirty="0" sz="2600" b="1">
                <a:latin typeface="Microsoft JhengHei"/>
                <a:cs typeface="Microsoft JhengHei"/>
              </a:rPr>
              <a:t>词</a:t>
            </a:r>
            <a:r>
              <a:rPr dirty="0" sz="2600" b="1">
                <a:latin typeface="Microsoft JhengHei"/>
                <a:cs typeface="Microsoft JhengHei"/>
              </a:rPr>
              <a:t>分</a:t>
            </a:r>
            <a:r>
              <a:rPr dirty="0" sz="2600" b="1">
                <a:latin typeface="Microsoft JhengHei"/>
                <a:cs typeface="Microsoft JhengHei"/>
              </a:rPr>
              <a:t>配</a:t>
            </a:r>
            <a:r>
              <a:rPr dirty="0" sz="2600" b="1">
                <a:latin typeface="Microsoft JhengHei"/>
                <a:cs typeface="Microsoft JhengHei"/>
              </a:rPr>
              <a:t>等</a:t>
            </a:r>
            <a:r>
              <a:rPr dirty="0" sz="2600" spc="-35" b="1">
                <a:latin typeface="Microsoft JhengHei"/>
                <a:cs typeface="Microsoft JhengHei"/>
              </a:rPr>
              <a:t>值</a:t>
            </a:r>
            <a:r>
              <a:rPr dirty="0" sz="2600" spc="-50" b="1">
                <a:latin typeface="Microsoft JhengHei"/>
                <a:cs typeface="Microsoft JhengHei"/>
              </a:rPr>
              <a:t>式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855"/>
              </a:spcBef>
            </a:pPr>
            <a:r>
              <a:rPr dirty="0" sz="2600" b="1">
                <a:latin typeface="Calibri"/>
                <a:cs typeface="Calibri"/>
              </a:rPr>
              <a:t>(1)</a:t>
            </a:r>
            <a:r>
              <a:rPr dirty="0" sz="2600" spc="-15" b="1"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x(A(x)</a:t>
            </a:r>
            <a:r>
              <a:rPr dirty="0" sz="2600" b="1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B(x))</a:t>
            </a:r>
            <a:r>
              <a:rPr dirty="0" sz="2600" spc="-75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600" spc="-155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xA(x)</a:t>
            </a:r>
            <a:r>
              <a:rPr dirty="0" sz="2600" spc="-10" b="1">
                <a:solidFill>
                  <a:srgbClr val="FF0000"/>
                </a:solidFill>
                <a:latin typeface="Symbol"/>
                <a:cs typeface="Symbol"/>
              </a:rPr>
              <a:t>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xB(x)</a:t>
            </a:r>
            <a:endParaRPr sz="2600">
              <a:latin typeface="Calibri"/>
              <a:cs typeface="Calibri"/>
            </a:endParaRPr>
          </a:p>
          <a:p>
            <a:pPr marL="982344" marR="5080" indent="-970280">
              <a:lnSpc>
                <a:spcPts val="5050"/>
              </a:lnSpc>
              <a:spcBef>
                <a:spcPts val="409"/>
              </a:spcBef>
            </a:pPr>
            <a:r>
              <a:rPr dirty="0" sz="2600" spc="35" b="1">
                <a:latin typeface="Microsoft JhengHei"/>
                <a:cs typeface="Microsoft JhengHei"/>
              </a:rPr>
              <a:t>说</a:t>
            </a:r>
            <a:r>
              <a:rPr dirty="0" sz="2600" spc="35" b="1">
                <a:latin typeface="Microsoft JhengHei"/>
                <a:cs typeface="Microsoft JhengHei"/>
              </a:rPr>
              <a:t>明</a:t>
            </a:r>
            <a:r>
              <a:rPr dirty="0" sz="2600" spc="35" b="1">
                <a:latin typeface="Microsoft JhengHei"/>
                <a:cs typeface="Microsoft JhengHei"/>
              </a:rPr>
              <a:t>：</a:t>
            </a:r>
            <a:r>
              <a:rPr dirty="0" sz="2600" spc="35" b="1">
                <a:latin typeface="Microsoft JhengHei"/>
                <a:cs typeface="Microsoft JhengHei"/>
              </a:rPr>
              <a:t>全</a:t>
            </a:r>
            <a:r>
              <a:rPr dirty="0" sz="2600" b="1">
                <a:latin typeface="Microsoft JhengHei"/>
                <a:cs typeface="Microsoft JhengHei"/>
              </a:rPr>
              <a:t>称量</a:t>
            </a:r>
            <a:r>
              <a:rPr dirty="0" sz="2600" spc="-30" b="1">
                <a:latin typeface="Microsoft JhengHei"/>
                <a:cs typeface="Microsoft JhengHei"/>
              </a:rPr>
              <a:t>词</a:t>
            </a:r>
            <a:r>
              <a:rPr dirty="0" sz="2600" spc="-30" b="1">
                <a:latin typeface="Microsoft JhengHei"/>
                <a:cs typeface="Microsoft JhengHei"/>
              </a:rPr>
              <a:t>对</a:t>
            </a:r>
            <a:r>
              <a:rPr dirty="0" sz="2600" spc="5" b="1">
                <a:latin typeface="Microsoft JhengHei"/>
                <a:cs typeface="Microsoft JhengHei"/>
              </a:rPr>
              <a:t>“</a:t>
            </a:r>
            <a:r>
              <a:rPr dirty="0" sz="2600" spc="5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600" spc="5" b="1">
                <a:latin typeface="Microsoft JhengHei"/>
                <a:cs typeface="Microsoft JhengHei"/>
              </a:rPr>
              <a:t>”</a:t>
            </a:r>
            <a:r>
              <a:rPr dirty="0" sz="2600" spc="-30" b="1">
                <a:latin typeface="Microsoft JhengHei"/>
                <a:cs typeface="Microsoft JhengHei"/>
              </a:rPr>
              <a:t>有</a:t>
            </a:r>
            <a:r>
              <a:rPr dirty="0" sz="2600" spc="-30" b="1">
                <a:latin typeface="Microsoft JhengHei"/>
                <a:cs typeface="Microsoft JhengHei"/>
              </a:rPr>
              <a:t>分</a:t>
            </a:r>
            <a:r>
              <a:rPr dirty="0" sz="2600" spc="30" b="1">
                <a:latin typeface="Microsoft JhengHei"/>
                <a:cs typeface="Microsoft JhengHei"/>
              </a:rPr>
              <a:t>配</a:t>
            </a:r>
            <a:r>
              <a:rPr dirty="0" sz="2600" spc="-30" b="1">
                <a:latin typeface="Microsoft JhengHei"/>
                <a:cs typeface="Microsoft JhengHei"/>
              </a:rPr>
              <a:t>律</a:t>
            </a:r>
            <a:r>
              <a:rPr dirty="0" sz="2600" spc="-30" b="1">
                <a:latin typeface="Microsoft JhengHei"/>
                <a:cs typeface="Microsoft JhengHei"/>
              </a:rPr>
              <a:t>，</a:t>
            </a:r>
            <a:r>
              <a:rPr dirty="0" sz="2600" spc="-30" b="1">
                <a:latin typeface="Microsoft JhengHei"/>
                <a:cs typeface="Microsoft JhengHei"/>
              </a:rPr>
              <a:t>但</a:t>
            </a:r>
            <a:r>
              <a:rPr dirty="0" sz="2600" spc="40" b="1">
                <a:latin typeface="Microsoft JhengHei"/>
                <a:cs typeface="Microsoft JhengHei"/>
              </a:rPr>
              <a:t>全</a:t>
            </a:r>
            <a:r>
              <a:rPr dirty="0" sz="2600" spc="40" b="1">
                <a:latin typeface="Microsoft JhengHei"/>
                <a:cs typeface="Microsoft JhengHei"/>
              </a:rPr>
              <a:t>称</a:t>
            </a:r>
            <a:r>
              <a:rPr dirty="0" sz="2600" spc="40" b="1">
                <a:latin typeface="Microsoft JhengHei"/>
                <a:cs typeface="Microsoft JhengHei"/>
              </a:rPr>
              <a:t>量</a:t>
            </a:r>
            <a:r>
              <a:rPr dirty="0" sz="2600" spc="40" b="1">
                <a:latin typeface="Microsoft JhengHei"/>
                <a:cs typeface="Microsoft JhengHei"/>
              </a:rPr>
              <a:t>词</a:t>
            </a:r>
            <a:r>
              <a:rPr dirty="0" sz="2600" spc="40" b="1">
                <a:latin typeface="Microsoft JhengHei"/>
                <a:cs typeface="Microsoft JhengHei"/>
              </a:rPr>
              <a:t>对</a:t>
            </a:r>
            <a:r>
              <a:rPr dirty="0" sz="2600" spc="-20" b="1">
                <a:latin typeface="Microsoft JhengHei"/>
                <a:cs typeface="Microsoft JhengHei"/>
              </a:rPr>
              <a:t>“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sz="2600" spc="-20" b="1">
                <a:latin typeface="Microsoft JhengHei"/>
                <a:cs typeface="Microsoft JhengHei"/>
              </a:rPr>
              <a:t>”</a:t>
            </a:r>
            <a:r>
              <a:rPr dirty="0" sz="2600" spc="-30" b="1">
                <a:latin typeface="Microsoft JhengHei"/>
                <a:cs typeface="Microsoft JhengHei"/>
              </a:rPr>
              <a:t>不</a:t>
            </a:r>
            <a:r>
              <a:rPr dirty="0" sz="2600" spc="40" b="1">
                <a:latin typeface="Microsoft JhengHei"/>
                <a:cs typeface="Microsoft JhengHei"/>
              </a:rPr>
              <a:t>适</a:t>
            </a:r>
            <a:r>
              <a:rPr dirty="0" sz="2600" spc="-30" b="1">
                <a:latin typeface="Microsoft JhengHei"/>
                <a:cs typeface="Microsoft JhengHei"/>
              </a:rPr>
              <a:t>合</a:t>
            </a:r>
            <a:r>
              <a:rPr dirty="0" sz="2600" spc="-30" b="1">
                <a:latin typeface="Microsoft JhengHei"/>
                <a:cs typeface="Microsoft JhengHei"/>
              </a:rPr>
              <a:t>分</a:t>
            </a:r>
            <a:r>
              <a:rPr dirty="0" sz="2600" spc="-30" b="1">
                <a:latin typeface="Microsoft JhengHei"/>
                <a:cs typeface="Microsoft JhengHei"/>
              </a:rPr>
              <a:t>配</a:t>
            </a:r>
            <a:r>
              <a:rPr dirty="0" sz="2600" spc="5" b="1">
                <a:latin typeface="Microsoft JhengHei"/>
                <a:cs typeface="Microsoft JhengHei"/>
              </a:rPr>
              <a:t>律。</a:t>
            </a:r>
            <a:endParaRPr sz="2600">
              <a:latin typeface="Microsoft JhengHei"/>
              <a:cs typeface="Microsoft JhengHei"/>
            </a:endParaRPr>
          </a:p>
          <a:p>
            <a:pPr marL="12700">
              <a:lnSpc>
                <a:spcPct val="100000"/>
              </a:lnSpc>
              <a:spcBef>
                <a:spcPts val="1365"/>
              </a:spcBef>
            </a:pPr>
            <a:r>
              <a:rPr dirty="0" sz="2600" b="1">
                <a:latin typeface="Calibri"/>
                <a:cs typeface="Calibri"/>
              </a:rPr>
              <a:t>(2)</a:t>
            </a:r>
            <a:r>
              <a:rPr dirty="0" sz="2600" spc="15" b="1"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x(A(x)</a:t>
            </a:r>
            <a:r>
              <a:rPr dirty="0" sz="2600" b="1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dirty="0" sz="2600" b="1">
                <a:solidFill>
                  <a:srgbClr val="006FC0"/>
                </a:solidFill>
                <a:latin typeface="Calibri"/>
                <a:cs typeface="Calibri"/>
              </a:rPr>
              <a:t>B(x))</a:t>
            </a:r>
            <a:r>
              <a:rPr dirty="0" sz="2600" spc="-114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600" spc="-7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xA(x)</a:t>
            </a:r>
            <a:r>
              <a:rPr dirty="0" sz="2600" spc="-10" b="1">
                <a:solidFill>
                  <a:srgbClr val="FF0000"/>
                </a:solidFill>
                <a:latin typeface="Symbol"/>
                <a:cs typeface="Symbol"/>
              </a:rPr>
              <a:t></a:t>
            </a:r>
            <a:r>
              <a:rPr dirty="0" sz="2600" spc="-1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600" spc="-10" b="1">
                <a:solidFill>
                  <a:srgbClr val="006FC0"/>
                </a:solidFill>
                <a:latin typeface="Calibri"/>
                <a:cs typeface="Calibri"/>
              </a:rPr>
              <a:t>xB(x)</a:t>
            </a:r>
            <a:endParaRPr sz="2600">
              <a:latin typeface="Calibri"/>
              <a:cs typeface="Calibri"/>
            </a:endParaRPr>
          </a:p>
          <a:p>
            <a:pPr marL="982344" marR="5080" indent="-970280">
              <a:lnSpc>
                <a:spcPts val="5050"/>
              </a:lnSpc>
              <a:spcBef>
                <a:spcPts val="215"/>
              </a:spcBef>
            </a:pPr>
            <a:r>
              <a:rPr dirty="0" sz="2600" spc="35" b="1">
                <a:latin typeface="Microsoft JhengHei"/>
                <a:cs typeface="Microsoft JhengHei"/>
              </a:rPr>
              <a:t>说</a:t>
            </a:r>
            <a:r>
              <a:rPr dirty="0" sz="2600" spc="35" b="1">
                <a:latin typeface="Microsoft JhengHei"/>
                <a:cs typeface="Microsoft JhengHei"/>
              </a:rPr>
              <a:t>明</a:t>
            </a:r>
            <a:r>
              <a:rPr dirty="0" sz="2600" spc="35" b="1">
                <a:latin typeface="Microsoft JhengHei"/>
                <a:cs typeface="Microsoft JhengHei"/>
              </a:rPr>
              <a:t>：</a:t>
            </a:r>
            <a:r>
              <a:rPr dirty="0" sz="2600" spc="35" b="1">
                <a:latin typeface="Microsoft JhengHei"/>
                <a:cs typeface="Microsoft JhengHei"/>
              </a:rPr>
              <a:t>存</a:t>
            </a:r>
            <a:r>
              <a:rPr dirty="0" sz="2600" spc="-10" b="1">
                <a:latin typeface="Microsoft JhengHei"/>
                <a:cs typeface="Microsoft JhengHei"/>
              </a:rPr>
              <a:t>在量词</a:t>
            </a:r>
            <a:r>
              <a:rPr dirty="0" sz="2600" spc="-35" b="1">
                <a:latin typeface="Microsoft JhengHei"/>
                <a:cs typeface="Microsoft JhengHei"/>
              </a:rPr>
              <a:t>对</a:t>
            </a:r>
            <a:r>
              <a:rPr dirty="0" sz="2600" b="1">
                <a:latin typeface="Microsoft JhengHei"/>
                <a:cs typeface="Microsoft JhengHei"/>
              </a:rPr>
              <a:t>“</a:t>
            </a:r>
            <a:r>
              <a:rPr dirty="0" sz="2600" b="1">
                <a:solidFill>
                  <a:srgbClr val="006FC0"/>
                </a:solidFill>
                <a:latin typeface="Symbol"/>
                <a:cs typeface="Symbol"/>
              </a:rPr>
              <a:t></a:t>
            </a:r>
            <a:r>
              <a:rPr dirty="0" sz="2600" b="1">
                <a:latin typeface="Microsoft JhengHei"/>
                <a:cs typeface="Microsoft JhengHei"/>
              </a:rPr>
              <a:t>”</a:t>
            </a:r>
            <a:r>
              <a:rPr dirty="0" sz="2600" spc="-30" b="1">
                <a:latin typeface="Microsoft JhengHei"/>
                <a:cs typeface="Microsoft JhengHei"/>
              </a:rPr>
              <a:t>有</a:t>
            </a:r>
            <a:r>
              <a:rPr dirty="0" sz="2600" spc="-30" b="1">
                <a:latin typeface="Microsoft JhengHei"/>
                <a:cs typeface="Microsoft JhengHei"/>
              </a:rPr>
              <a:t>分</a:t>
            </a:r>
            <a:r>
              <a:rPr dirty="0" sz="2600" spc="30" b="1">
                <a:latin typeface="Microsoft JhengHei"/>
                <a:cs typeface="Microsoft JhengHei"/>
              </a:rPr>
              <a:t>配</a:t>
            </a:r>
            <a:r>
              <a:rPr dirty="0" sz="2600" spc="-30" b="1">
                <a:latin typeface="Microsoft JhengHei"/>
                <a:cs typeface="Microsoft JhengHei"/>
              </a:rPr>
              <a:t>律</a:t>
            </a:r>
            <a:r>
              <a:rPr dirty="0" sz="2600" spc="-30" b="1">
                <a:latin typeface="Microsoft JhengHei"/>
                <a:cs typeface="Microsoft JhengHei"/>
              </a:rPr>
              <a:t>，</a:t>
            </a:r>
            <a:r>
              <a:rPr dirty="0" sz="2600" spc="-30" b="1">
                <a:latin typeface="Microsoft JhengHei"/>
                <a:cs typeface="Microsoft JhengHei"/>
              </a:rPr>
              <a:t>但</a:t>
            </a:r>
            <a:r>
              <a:rPr dirty="0" sz="2600" spc="40" b="1">
                <a:latin typeface="Microsoft JhengHei"/>
                <a:cs typeface="Microsoft JhengHei"/>
              </a:rPr>
              <a:t>存</a:t>
            </a:r>
            <a:r>
              <a:rPr dirty="0" sz="2600" spc="40" b="1">
                <a:latin typeface="Microsoft JhengHei"/>
                <a:cs typeface="Microsoft JhengHei"/>
              </a:rPr>
              <a:t>在</a:t>
            </a:r>
            <a:r>
              <a:rPr dirty="0" sz="2600" spc="40" b="1">
                <a:latin typeface="Microsoft JhengHei"/>
                <a:cs typeface="Microsoft JhengHei"/>
              </a:rPr>
              <a:t>量</a:t>
            </a:r>
            <a:r>
              <a:rPr dirty="0" sz="2600" spc="40" b="1">
                <a:latin typeface="Microsoft JhengHei"/>
                <a:cs typeface="Microsoft JhengHei"/>
              </a:rPr>
              <a:t>词</a:t>
            </a:r>
            <a:r>
              <a:rPr dirty="0" sz="2600" spc="40" b="1">
                <a:latin typeface="Microsoft JhengHei"/>
                <a:cs typeface="Microsoft JhengHei"/>
              </a:rPr>
              <a:t>对</a:t>
            </a:r>
            <a:r>
              <a:rPr dirty="0" sz="2600" spc="-20" b="1">
                <a:latin typeface="Microsoft JhengHei"/>
                <a:cs typeface="Microsoft JhengHei"/>
              </a:rPr>
              <a:t>“</a:t>
            </a:r>
            <a:r>
              <a:rPr dirty="0" sz="2600" spc="-20" b="1">
                <a:solidFill>
                  <a:srgbClr val="006FC0"/>
                </a:solidFill>
                <a:latin typeface="Symbol"/>
                <a:cs typeface="Symbol"/>
              </a:rPr>
              <a:t></a:t>
            </a:r>
            <a:r>
              <a:rPr dirty="0" sz="2600" spc="-5" b="1">
                <a:latin typeface="Microsoft JhengHei"/>
                <a:cs typeface="Microsoft JhengHei"/>
              </a:rPr>
              <a:t>”不适</a:t>
            </a:r>
            <a:r>
              <a:rPr dirty="0" sz="2600" spc="-30" b="1">
                <a:latin typeface="Microsoft JhengHei"/>
                <a:cs typeface="Microsoft JhengHei"/>
              </a:rPr>
              <a:t>合</a:t>
            </a:r>
            <a:r>
              <a:rPr dirty="0" sz="2600" spc="-30" b="1">
                <a:latin typeface="Microsoft JhengHei"/>
                <a:cs typeface="Microsoft JhengHei"/>
              </a:rPr>
              <a:t>分</a:t>
            </a:r>
            <a:r>
              <a:rPr dirty="0" sz="2600" spc="-30" b="1">
                <a:latin typeface="Microsoft JhengHei"/>
                <a:cs typeface="Microsoft JhengHei"/>
              </a:rPr>
              <a:t>配</a:t>
            </a:r>
            <a:r>
              <a:rPr dirty="0" sz="2600" spc="5" b="1">
                <a:latin typeface="Microsoft JhengHei"/>
                <a:cs typeface="Microsoft JhengHei"/>
              </a:rPr>
              <a:t>律。</a:t>
            </a:r>
            <a:endParaRPr sz="26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29508" y="471551"/>
            <a:ext cx="229616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前</a:t>
            </a:r>
            <a:r>
              <a:rPr dirty="0"/>
              <a:t>束</a:t>
            </a:r>
            <a:r>
              <a:rPr dirty="0"/>
              <a:t>范</a:t>
            </a:r>
            <a:r>
              <a:rPr dirty="0" spc="-50"/>
              <a:t>式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498475" y="1550493"/>
            <a:ext cx="8065770" cy="4036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50800" marR="43180">
              <a:lnSpc>
                <a:spcPct val="150200"/>
              </a:lnSpc>
              <a:spcBef>
                <a:spcPts val="100"/>
              </a:spcBef>
            </a:pPr>
            <a:r>
              <a:rPr dirty="0" sz="2800" spc="65" b="1">
                <a:latin typeface="Microsoft JhengHei"/>
                <a:cs typeface="Microsoft JhengHei"/>
              </a:rPr>
              <a:t>若公式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具有形式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1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sz="2800" spc="-1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baseline="-19519" sz="2775" spc="-15" b="1">
                <a:solidFill>
                  <a:srgbClr val="006FC0"/>
                </a:solidFill>
                <a:latin typeface="Calibri"/>
                <a:cs typeface="Calibri"/>
              </a:rPr>
              <a:t>2</a:t>
            </a:r>
            <a:r>
              <a:rPr dirty="0" baseline="-19519" sz="2775" spc="-52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…Q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k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40" b="1">
                <a:latin typeface="Microsoft JhengHei"/>
                <a:cs typeface="Microsoft JhengHei"/>
              </a:rPr>
              <a:t>，则称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为</a:t>
            </a:r>
            <a:r>
              <a:rPr dirty="0" sz="2800" spc="-20" b="1">
                <a:solidFill>
                  <a:srgbClr val="FF0000"/>
                </a:solidFill>
                <a:latin typeface="Microsoft JhengHei"/>
                <a:cs typeface="Microsoft JhengHei"/>
              </a:rPr>
              <a:t>前束范</a:t>
            </a:r>
            <a:r>
              <a:rPr dirty="0" sz="2800" spc="70" b="1">
                <a:solidFill>
                  <a:srgbClr val="FF0000"/>
                </a:solidFill>
                <a:latin typeface="Microsoft JhengHei"/>
                <a:cs typeface="Microsoft JhengHei"/>
              </a:rPr>
              <a:t>式</a:t>
            </a:r>
            <a:r>
              <a:rPr dirty="0" sz="2800" spc="45" b="1">
                <a:latin typeface="Microsoft JhengHei"/>
                <a:cs typeface="Microsoft JhengHei"/>
              </a:rPr>
              <a:t>，其中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Q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baseline="-19519" sz="2775" spc="37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b="1">
                <a:latin typeface="Calibri"/>
                <a:cs typeface="Calibri"/>
              </a:rPr>
              <a:t>(1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i</a:t>
            </a:r>
            <a:r>
              <a:rPr dirty="0" sz="2800" b="1">
                <a:latin typeface="Symbol"/>
                <a:cs typeface="Symbol"/>
              </a:rPr>
              <a:t></a:t>
            </a:r>
            <a:r>
              <a:rPr dirty="0" sz="2800" b="1">
                <a:latin typeface="Calibri"/>
                <a:cs typeface="Calibri"/>
              </a:rPr>
              <a:t>k)</a:t>
            </a:r>
            <a:r>
              <a:rPr dirty="0" sz="2800" b="1">
                <a:latin typeface="Microsoft JhengHei"/>
                <a:cs typeface="Microsoft JhengHei"/>
              </a:rPr>
              <a:t>为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</a:t>
            </a:r>
            <a:r>
              <a:rPr dirty="0" sz="2800" b="1">
                <a:latin typeface="Microsoft JhengHei"/>
                <a:cs typeface="Microsoft JhengHei"/>
              </a:rPr>
              <a:t>或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</a:t>
            </a:r>
            <a:r>
              <a:rPr dirty="0" sz="2800" b="1">
                <a:latin typeface="Microsoft JhengHei"/>
                <a:cs typeface="Microsoft JhengHei"/>
              </a:rPr>
              <a:t>，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B</a:t>
            </a:r>
            <a:r>
              <a:rPr dirty="0" sz="2800" spc="-10" b="1">
                <a:latin typeface="Microsoft JhengHei"/>
                <a:cs typeface="Microsoft JhengHei"/>
              </a:rPr>
              <a:t>中不含量词。</a:t>
            </a:r>
            <a:endParaRPr sz="2800">
              <a:latin typeface="Microsoft JhengHei"/>
              <a:cs typeface="Microsoft JhengHei"/>
            </a:endParaRPr>
          </a:p>
          <a:p>
            <a:pPr marL="50800">
              <a:lnSpc>
                <a:spcPct val="100000"/>
              </a:lnSpc>
              <a:spcBef>
                <a:spcPts val="2335"/>
              </a:spcBef>
            </a:pPr>
            <a:r>
              <a:rPr dirty="0" sz="2800" spc="-5" b="1">
                <a:latin typeface="Microsoft JhengHei"/>
                <a:cs typeface="Microsoft JhengHei"/>
              </a:rPr>
              <a:t>求前束范式时用基本等值式和换名规则。</a:t>
            </a:r>
            <a:endParaRPr sz="2800">
              <a:latin typeface="Microsoft JhengHei"/>
              <a:cs typeface="Microsoft JhengHei"/>
            </a:endParaRPr>
          </a:p>
          <a:p>
            <a:pPr algn="just" marL="50800" marR="200660">
              <a:lnSpc>
                <a:spcPct val="150200"/>
              </a:lnSpc>
              <a:spcBef>
                <a:spcPts val="650"/>
              </a:spcBef>
            </a:pPr>
            <a:r>
              <a:rPr dirty="0" sz="2800" spc="45" b="1">
                <a:solidFill>
                  <a:srgbClr val="FF0000"/>
                </a:solidFill>
                <a:latin typeface="Microsoft JhengHei"/>
                <a:cs typeface="Microsoft JhengHei"/>
              </a:rPr>
              <a:t>换名规则</a:t>
            </a:r>
            <a:r>
              <a:rPr dirty="0" sz="2800" spc="10" b="1">
                <a:latin typeface="Microsoft JhengHei"/>
                <a:cs typeface="Microsoft JhengHei"/>
              </a:rPr>
              <a:t>：将公式</a:t>
            </a:r>
            <a:r>
              <a:rPr dirty="0" sz="2800" spc="-5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0" b="1">
                <a:latin typeface="Microsoft JhengHei"/>
                <a:cs typeface="Microsoft JhengHei"/>
              </a:rPr>
              <a:t>中某量词辖域中出现的某个约</a:t>
            </a:r>
            <a:r>
              <a:rPr dirty="0" sz="2800" b="1">
                <a:latin typeface="Microsoft JhengHei"/>
                <a:cs typeface="Microsoft JhengHei"/>
              </a:rPr>
              <a:t>束出现的个体变元及相应的指导变元</a:t>
            </a:r>
            <a:r>
              <a:rPr dirty="0" sz="2800" spc="-55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baseline="-19519" sz="2775" spc="-82" b="1">
                <a:solidFill>
                  <a:srgbClr val="006FC0"/>
                </a:solidFill>
                <a:latin typeface="Calibri"/>
                <a:cs typeface="Calibri"/>
              </a:rPr>
              <a:t>i</a:t>
            </a:r>
            <a:r>
              <a:rPr dirty="0" baseline="-19519" sz="2775" spc="-60" b="1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dirty="0" sz="2800" spc="10" b="1">
                <a:latin typeface="Microsoft JhengHei"/>
                <a:cs typeface="Microsoft JhengHei"/>
              </a:rPr>
              <a:t>，都改成公</a:t>
            </a:r>
            <a:r>
              <a:rPr dirty="0" sz="2800" spc="65" b="1">
                <a:latin typeface="Microsoft JhengHei"/>
                <a:cs typeface="Microsoft JhengHei"/>
              </a:rPr>
              <a:t>式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5" b="1">
                <a:latin typeface="Microsoft JhengHei"/>
                <a:cs typeface="Microsoft JhengHei"/>
              </a:rPr>
              <a:t>中没有出现过的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x</a:t>
            </a:r>
            <a:r>
              <a:rPr dirty="0" baseline="-19519" sz="2775" b="1">
                <a:solidFill>
                  <a:srgbClr val="006FC0"/>
                </a:solidFill>
                <a:latin typeface="Calibri"/>
                <a:cs typeface="Calibri"/>
              </a:rPr>
              <a:t>j</a:t>
            </a:r>
            <a:r>
              <a:rPr dirty="0" sz="2800" spc="-10" b="1">
                <a:latin typeface="Microsoft JhengHei"/>
                <a:cs typeface="Microsoft JhengHei"/>
              </a:rPr>
              <a:t>，所得公式</a:t>
            </a:r>
            <a:r>
              <a:rPr dirty="0" sz="2800" spc="-7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114" b="1">
                <a:solidFill>
                  <a:srgbClr val="006FC0"/>
                </a:solidFill>
                <a:latin typeface="Calibri"/>
                <a:cs typeface="Calibri"/>
              </a:rPr>
              <a:t>’ </a:t>
            </a:r>
            <a:r>
              <a:rPr dirty="0" sz="2800" b="1">
                <a:solidFill>
                  <a:srgbClr val="006FC0"/>
                </a:solidFill>
                <a:latin typeface="Symbol"/>
                <a:cs typeface="Symbol"/>
              </a:rPr>
              <a:t></a:t>
            </a:r>
            <a:r>
              <a:rPr dirty="0" sz="2800" spc="-40">
                <a:solidFill>
                  <a:srgbClr val="006FC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dirty="0" sz="2800" spc="-50" b="1">
                <a:latin typeface="Microsoft JhengHei"/>
                <a:cs typeface="Microsoft JhengHei"/>
              </a:rPr>
              <a:t>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80915" y="471551"/>
            <a:ext cx="58420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5"/>
              <a:t>例</a:t>
            </a:r>
          </a:p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idx="2" sz="half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algn="r" marR="206375">
              <a:lnSpc>
                <a:spcPct val="100000"/>
              </a:lnSpc>
              <a:spcBef>
                <a:spcPts val="110"/>
              </a:spcBef>
            </a:pPr>
            <a:r>
              <a:rPr dirty="0" spc="-10">
                <a:latin typeface="Symbol"/>
                <a:cs typeface="Symbol"/>
              </a:rPr>
              <a:t></a:t>
            </a:r>
            <a:r>
              <a:rPr dirty="0" spc="-10"/>
              <a:t>xF(x)</a:t>
            </a:r>
            <a:r>
              <a:rPr dirty="0" spc="-10">
                <a:latin typeface="Symbol"/>
                <a:cs typeface="Symbol"/>
              </a:rPr>
              <a:t></a:t>
            </a:r>
            <a:r>
              <a:rPr dirty="0" spc="-10"/>
              <a:t>xG(x,y)</a:t>
            </a:r>
          </a:p>
          <a:p>
            <a:pPr algn="r" marR="180340">
              <a:lnSpc>
                <a:spcPct val="100000"/>
              </a:lnSpc>
              <a:spcBef>
                <a:spcPts val="2335"/>
              </a:spcBef>
            </a:pPr>
            <a:r>
              <a:rPr dirty="0" spc="-10">
                <a:latin typeface="Symbol"/>
                <a:cs typeface="Symbol"/>
              </a:rPr>
              <a:t></a:t>
            </a:r>
            <a:r>
              <a:rPr dirty="0" spc="-10"/>
              <a:t>xF(x)</a:t>
            </a:r>
            <a:r>
              <a:rPr dirty="0" spc="-10">
                <a:latin typeface="Symbol"/>
                <a:cs typeface="Symbol"/>
              </a:rPr>
              <a:t></a:t>
            </a:r>
            <a:r>
              <a:rPr dirty="0" spc="-10"/>
              <a:t>x</a:t>
            </a:r>
            <a:r>
              <a:rPr dirty="0" spc="-10">
                <a:latin typeface="Symbol"/>
                <a:cs typeface="Symbol"/>
              </a:rPr>
              <a:t></a:t>
            </a:r>
            <a:r>
              <a:rPr dirty="0" spc="-10"/>
              <a:t>G(x,y)</a:t>
            </a:r>
          </a:p>
          <a:p>
            <a:pPr algn="r" marR="225425">
              <a:lnSpc>
                <a:spcPct val="100000"/>
              </a:lnSpc>
              <a:spcBef>
                <a:spcPts val="2340"/>
              </a:spcBef>
            </a:pPr>
            <a:r>
              <a:rPr dirty="0" spc="-10">
                <a:latin typeface="Symbol"/>
                <a:cs typeface="Symbol"/>
              </a:rPr>
              <a:t></a:t>
            </a:r>
            <a:r>
              <a:rPr dirty="0" spc="-10"/>
              <a:t>xF(x)</a:t>
            </a:r>
            <a:r>
              <a:rPr dirty="0" spc="-10">
                <a:latin typeface="Symbol"/>
                <a:cs typeface="Symbol"/>
              </a:rPr>
              <a:t></a:t>
            </a:r>
            <a:r>
              <a:rPr dirty="0" spc="-10"/>
              <a:t>z</a:t>
            </a:r>
            <a:r>
              <a:rPr dirty="0" spc="-10">
                <a:latin typeface="Symbol"/>
                <a:cs typeface="Symbol"/>
              </a:rPr>
              <a:t></a:t>
            </a:r>
            <a:r>
              <a:rPr dirty="0" spc="-10"/>
              <a:t>G(z,y)</a:t>
            </a:r>
          </a:p>
          <a:p>
            <a:pPr marL="12700">
              <a:lnSpc>
                <a:spcPct val="100000"/>
              </a:lnSpc>
              <a:spcBef>
                <a:spcPts val="2405"/>
              </a:spcBef>
            </a:pPr>
            <a:r>
              <a:rPr dirty="0" spc="-10">
                <a:latin typeface="Symbol"/>
                <a:cs typeface="Symbol"/>
              </a:rPr>
              <a:t></a:t>
            </a:r>
            <a:r>
              <a:rPr dirty="0" spc="-10"/>
              <a:t>x(F(x)</a:t>
            </a:r>
            <a:r>
              <a:rPr dirty="0" spc="-10">
                <a:latin typeface="Symbol"/>
                <a:cs typeface="Symbol"/>
              </a:rPr>
              <a:t></a:t>
            </a:r>
            <a:r>
              <a:rPr dirty="0" spc="-10"/>
              <a:t>z</a:t>
            </a:r>
            <a:r>
              <a:rPr dirty="0" spc="-10">
                <a:latin typeface="Symbol"/>
                <a:cs typeface="Symbol"/>
              </a:rPr>
              <a:t></a:t>
            </a:r>
            <a:r>
              <a:rPr dirty="0" spc="-10"/>
              <a:t>G(z,y))</a:t>
            </a:r>
          </a:p>
          <a:p>
            <a:pPr marL="12700">
              <a:lnSpc>
                <a:spcPct val="100000"/>
              </a:lnSpc>
              <a:spcBef>
                <a:spcPts val="2335"/>
              </a:spcBef>
            </a:pPr>
            <a:r>
              <a:rPr dirty="0" spc="-10">
                <a:latin typeface="Symbol"/>
                <a:cs typeface="Symbol"/>
              </a:rPr>
              <a:t></a:t>
            </a:r>
            <a:r>
              <a:rPr dirty="0" spc="-10"/>
              <a:t>x</a:t>
            </a:r>
            <a:r>
              <a:rPr dirty="0" spc="-10">
                <a:latin typeface="Symbol"/>
                <a:cs typeface="Symbol"/>
              </a:rPr>
              <a:t></a:t>
            </a:r>
            <a:r>
              <a:rPr dirty="0" spc="-10"/>
              <a:t>z(F(x)</a:t>
            </a:r>
            <a:r>
              <a:rPr dirty="0" spc="-10">
                <a:latin typeface="Symbol"/>
                <a:cs typeface="Symbol"/>
              </a:rPr>
              <a:t></a:t>
            </a:r>
            <a:r>
              <a:rPr dirty="0" spc="-10"/>
              <a:t>G(z,y))</a:t>
            </a:r>
          </a:p>
          <a:p>
            <a:pPr marL="12700">
              <a:lnSpc>
                <a:spcPct val="100000"/>
              </a:lnSpc>
              <a:spcBef>
                <a:spcPts val="2340"/>
              </a:spcBef>
            </a:pPr>
            <a:r>
              <a:rPr dirty="0" spc="-10">
                <a:latin typeface="Symbol"/>
                <a:cs typeface="Symbol"/>
              </a:rPr>
              <a:t></a:t>
            </a:r>
            <a:r>
              <a:rPr dirty="0" spc="-10"/>
              <a:t>x</a:t>
            </a:r>
            <a:r>
              <a:rPr dirty="0" spc="-10">
                <a:latin typeface="Symbol"/>
                <a:cs typeface="Symbol"/>
              </a:rPr>
              <a:t></a:t>
            </a:r>
            <a:r>
              <a:rPr dirty="0" spc="-10"/>
              <a:t>z(G(z,y)</a:t>
            </a:r>
            <a:r>
              <a:rPr dirty="0" spc="-10">
                <a:latin typeface="Symbol"/>
                <a:cs typeface="Symbol"/>
              </a:rPr>
              <a:t></a:t>
            </a:r>
            <a:r>
              <a:rPr dirty="0" spc="-10"/>
              <a:t>F(x))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4141701" y="2486786"/>
            <a:ext cx="2838450" cy="335724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20" b="1">
                <a:latin typeface="Microsoft JhengHei"/>
                <a:cs typeface="Microsoft JhengHei"/>
              </a:rPr>
              <a:t>量词否定等值式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r" marR="69215">
              <a:lnSpc>
                <a:spcPct val="100000"/>
              </a:lnSpc>
              <a:spcBef>
                <a:spcPts val="2335"/>
              </a:spcBef>
            </a:pPr>
            <a:r>
              <a:rPr dirty="0" sz="2800" spc="65" b="1">
                <a:latin typeface="Calibri"/>
                <a:cs typeface="Calibri"/>
              </a:rPr>
              <a:t>(</a:t>
            </a:r>
            <a:r>
              <a:rPr dirty="0" sz="2800" spc="45" b="1">
                <a:latin typeface="Microsoft JhengHei"/>
                <a:cs typeface="Microsoft JhengHei"/>
              </a:rPr>
              <a:t>换名规则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  <a:p>
            <a:pPr algn="r" marL="12700" marR="69215">
              <a:lnSpc>
                <a:spcPct val="169500"/>
              </a:lnSpc>
              <a:spcBef>
                <a:spcPts val="75"/>
              </a:spcBef>
            </a:pP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15" b="1">
                <a:latin typeface="Microsoft JhengHei"/>
                <a:cs typeface="Microsoft JhengHei"/>
              </a:rPr>
              <a:t>辖域扩张等值式</a:t>
            </a:r>
            <a:r>
              <a:rPr dirty="0" sz="2800" spc="-50" b="1">
                <a:latin typeface="Calibri"/>
                <a:cs typeface="Calibri"/>
              </a:rPr>
              <a:t>) </a:t>
            </a:r>
            <a:r>
              <a:rPr dirty="0" sz="2800" spc="-10" b="1">
                <a:latin typeface="Calibri"/>
                <a:cs typeface="Calibri"/>
              </a:rPr>
              <a:t>(</a:t>
            </a:r>
            <a:r>
              <a:rPr dirty="0" sz="2800" spc="15" b="1">
                <a:latin typeface="Microsoft JhengHei"/>
                <a:cs typeface="Microsoft JhengHei"/>
              </a:rPr>
              <a:t>辖域扩张等值式</a:t>
            </a:r>
            <a:r>
              <a:rPr dirty="0" sz="2800" spc="-50" b="1">
                <a:latin typeface="Calibri"/>
                <a:cs typeface="Calibri"/>
              </a:rPr>
              <a:t>) </a:t>
            </a:r>
            <a:r>
              <a:rPr dirty="0" sz="2800" b="1">
                <a:latin typeface="Calibri"/>
                <a:cs typeface="Calibri"/>
              </a:rPr>
              <a:t>(</a:t>
            </a:r>
            <a:r>
              <a:rPr dirty="0" sz="2800" spc="50" b="1">
                <a:latin typeface="Microsoft JhengHei"/>
                <a:cs typeface="Microsoft JhengHei"/>
              </a:rPr>
              <a:t>蕴涵等值式</a:t>
            </a:r>
            <a:r>
              <a:rPr dirty="0" sz="2800" spc="-50" b="1">
                <a:latin typeface="Calibri"/>
                <a:cs typeface="Calibri"/>
              </a:rPr>
              <a:t>)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87370" y="471551"/>
            <a:ext cx="3976370" cy="695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重</a:t>
            </a:r>
            <a:r>
              <a:rPr dirty="0"/>
              <a:t>要</a:t>
            </a:r>
            <a:r>
              <a:rPr dirty="0"/>
              <a:t>的</a:t>
            </a:r>
            <a:r>
              <a:rPr dirty="0"/>
              <a:t>推</a:t>
            </a:r>
            <a:r>
              <a:rPr dirty="0" spc="-35"/>
              <a:t>理定律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/>
          <p:nvPr/>
        </p:nvSpPr>
        <p:spPr>
          <a:xfrm>
            <a:off x="536575" y="1763395"/>
            <a:ext cx="8084184" cy="399796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b="1">
                <a:latin typeface="Calibri"/>
                <a:cs typeface="Calibri"/>
              </a:rPr>
              <a:t>(1)</a:t>
            </a:r>
            <a:r>
              <a:rPr dirty="0" sz="2800" spc="25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</a:t>
            </a:r>
            <a:r>
              <a:rPr dirty="0" sz="2800" b="1">
                <a:latin typeface="Calibri"/>
                <a:cs typeface="Calibri"/>
              </a:rPr>
              <a:t>xA(x)</a:t>
            </a:r>
            <a:r>
              <a:rPr dirty="0" sz="2800" b="1">
                <a:latin typeface="Symbol"/>
                <a:cs typeface="Symbol"/>
              </a:rPr>
              <a:t></a:t>
            </a:r>
            <a:r>
              <a:rPr dirty="0" sz="2800" b="1">
                <a:latin typeface="Calibri"/>
                <a:cs typeface="Calibri"/>
              </a:rPr>
              <a:t>xB(x)</a:t>
            </a:r>
            <a:r>
              <a:rPr dirty="0" sz="2800" spc="-180" b="1">
                <a:latin typeface="Calibri"/>
                <a:cs typeface="Calibri"/>
              </a:rPr>
              <a:t> 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2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</a:t>
            </a:r>
            <a:r>
              <a:rPr dirty="0" sz="2800" spc="-10" b="1">
                <a:latin typeface="Calibri"/>
                <a:cs typeface="Calibri"/>
              </a:rPr>
              <a:t>x(A(x)</a:t>
            </a:r>
            <a:r>
              <a:rPr dirty="0" sz="2800" spc="-10" b="1">
                <a:latin typeface="Symbol"/>
                <a:cs typeface="Symbol"/>
              </a:rPr>
              <a:t></a:t>
            </a:r>
            <a:r>
              <a:rPr dirty="0" sz="2800" spc="-10" b="1">
                <a:latin typeface="Calibri"/>
                <a:cs typeface="Calibri"/>
              </a:rPr>
              <a:t>B(x))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35"/>
              </a:spcBef>
              <a:tabLst>
                <a:tab pos="2804160" algn="l"/>
              </a:tabLst>
            </a:pPr>
            <a:r>
              <a:rPr dirty="0" sz="2800" b="1">
                <a:latin typeface="Calibri"/>
                <a:cs typeface="Calibri"/>
              </a:rPr>
              <a:t>(2) </a:t>
            </a:r>
            <a:r>
              <a:rPr dirty="0" sz="2800" spc="-10" b="1">
                <a:latin typeface="Symbol"/>
                <a:cs typeface="Symbol"/>
              </a:rPr>
              <a:t></a:t>
            </a:r>
            <a:r>
              <a:rPr dirty="0" sz="2800" spc="-10" b="1">
                <a:latin typeface="Calibri"/>
                <a:cs typeface="Calibri"/>
              </a:rPr>
              <a:t>x(A(x)</a:t>
            </a:r>
            <a:r>
              <a:rPr dirty="0" sz="2800" spc="-10" b="1">
                <a:latin typeface="Symbol"/>
                <a:cs typeface="Symbol"/>
              </a:rPr>
              <a:t></a:t>
            </a:r>
            <a:r>
              <a:rPr dirty="0" sz="2800" spc="-10" b="1">
                <a:latin typeface="Calibri"/>
                <a:cs typeface="Calibri"/>
              </a:rPr>
              <a:t>B(x))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</a:t>
            </a:r>
            <a:r>
              <a:rPr dirty="0" sz="2800" spc="-10" b="1">
                <a:latin typeface="Calibri"/>
                <a:cs typeface="Calibri"/>
              </a:rPr>
              <a:t>xA(x)</a:t>
            </a:r>
            <a:r>
              <a:rPr dirty="0" sz="2800" spc="-10" b="1">
                <a:latin typeface="Symbol"/>
                <a:cs typeface="Symbol"/>
              </a:rPr>
              <a:t></a:t>
            </a:r>
            <a:r>
              <a:rPr dirty="0" sz="2800" spc="-10" b="1">
                <a:latin typeface="Calibri"/>
                <a:cs typeface="Calibri"/>
              </a:rPr>
              <a:t>xB(x)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340"/>
              </a:spcBef>
              <a:tabLst>
                <a:tab pos="2840355" algn="l"/>
              </a:tabLst>
            </a:pPr>
            <a:r>
              <a:rPr dirty="0" sz="2800" b="1">
                <a:latin typeface="Calibri"/>
                <a:cs typeface="Calibri"/>
              </a:rPr>
              <a:t>(3) </a:t>
            </a:r>
            <a:r>
              <a:rPr dirty="0" sz="2800" spc="-10" b="1">
                <a:latin typeface="Symbol"/>
                <a:cs typeface="Symbol"/>
              </a:rPr>
              <a:t></a:t>
            </a:r>
            <a:r>
              <a:rPr dirty="0" sz="2800" spc="-10" b="1">
                <a:latin typeface="Calibri"/>
                <a:cs typeface="Calibri"/>
              </a:rPr>
              <a:t>x(A(x)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B(x))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</a:t>
            </a:r>
            <a:r>
              <a:rPr dirty="0" sz="2800" spc="-10" b="1">
                <a:latin typeface="Calibri"/>
                <a:cs typeface="Calibri"/>
              </a:rPr>
              <a:t>xA(x)</a:t>
            </a:r>
            <a:r>
              <a:rPr dirty="0" sz="2800" spc="-10" b="1">
                <a:latin typeface="Symbol"/>
                <a:cs typeface="Symbol"/>
              </a:rPr>
              <a:t></a:t>
            </a:r>
            <a:r>
              <a:rPr dirty="0" sz="2800" spc="-10" b="1">
                <a:latin typeface="Calibri"/>
                <a:cs typeface="Calibri"/>
              </a:rPr>
              <a:t>xB(x)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405"/>
              </a:spcBef>
              <a:tabLst>
                <a:tab pos="2840355" algn="l"/>
              </a:tabLst>
            </a:pPr>
            <a:r>
              <a:rPr dirty="0" sz="2800" b="1">
                <a:latin typeface="Calibri"/>
                <a:cs typeface="Calibri"/>
              </a:rPr>
              <a:t>(4) </a:t>
            </a:r>
            <a:r>
              <a:rPr dirty="0" sz="2800" spc="-10" b="1">
                <a:latin typeface="Symbol"/>
                <a:cs typeface="Symbol"/>
              </a:rPr>
              <a:t></a:t>
            </a:r>
            <a:r>
              <a:rPr dirty="0" sz="2800" spc="-10" b="1">
                <a:latin typeface="Calibri"/>
                <a:cs typeface="Calibri"/>
              </a:rPr>
              <a:t>x(A(x)</a:t>
            </a:r>
            <a:r>
              <a:rPr dirty="0" sz="2800" spc="-10" b="1">
                <a:latin typeface="Symbol"/>
                <a:cs typeface="Symbol"/>
              </a:rPr>
              <a:t></a:t>
            </a:r>
            <a:r>
              <a:rPr dirty="0" sz="2800" spc="-10" b="1">
                <a:latin typeface="Calibri"/>
                <a:cs typeface="Calibri"/>
              </a:rPr>
              <a:t>B(x))</a:t>
            </a:r>
            <a:r>
              <a:rPr dirty="0" sz="2800" b="1">
                <a:latin typeface="Calibri"/>
                <a:cs typeface="Calibri"/>
              </a:rPr>
              <a:t>	</a:t>
            </a:r>
            <a:r>
              <a:rPr dirty="0" sz="2800" b="1">
                <a:latin typeface="Symbol"/>
                <a:cs typeface="Symbol"/>
              </a:rPr>
              <a:t></a:t>
            </a:r>
            <a:r>
              <a:rPr dirty="0" sz="2800" spc="-100">
                <a:latin typeface="Times New Roman"/>
                <a:cs typeface="Times New Roman"/>
              </a:rPr>
              <a:t> </a:t>
            </a:r>
            <a:r>
              <a:rPr dirty="0" sz="2800" spc="-10" b="1">
                <a:latin typeface="Symbol"/>
                <a:cs typeface="Symbol"/>
              </a:rPr>
              <a:t></a:t>
            </a:r>
            <a:r>
              <a:rPr dirty="0" sz="2800" spc="-10" b="1">
                <a:latin typeface="Calibri"/>
                <a:cs typeface="Calibri"/>
              </a:rPr>
              <a:t>xA(x)</a:t>
            </a:r>
            <a:r>
              <a:rPr dirty="0" sz="2800" spc="-10" b="1">
                <a:latin typeface="Symbol"/>
                <a:cs typeface="Symbol"/>
              </a:rPr>
              <a:t></a:t>
            </a:r>
            <a:r>
              <a:rPr dirty="0" sz="2800" spc="-10" b="1">
                <a:latin typeface="Calibri"/>
                <a:cs typeface="Calibri"/>
              </a:rPr>
              <a:t>xB(x)</a:t>
            </a:r>
            <a:endParaRPr sz="2800">
              <a:latin typeface="Calibri"/>
              <a:cs typeface="Calibri"/>
            </a:endParaRPr>
          </a:p>
          <a:p>
            <a:pPr marL="12700" marR="5080">
              <a:lnSpc>
                <a:spcPct val="150200"/>
              </a:lnSpc>
              <a:spcBef>
                <a:spcPts val="650"/>
              </a:spcBef>
            </a:pPr>
            <a:r>
              <a:rPr dirty="0" sz="2800" spc="10" b="1">
                <a:latin typeface="Microsoft JhengHei"/>
                <a:cs typeface="Microsoft JhengHei"/>
              </a:rPr>
              <a:t>说明：在使用以上</a:t>
            </a:r>
            <a:r>
              <a:rPr dirty="0" sz="2800" spc="-60" b="1">
                <a:latin typeface="Calibri"/>
                <a:cs typeface="Calibri"/>
              </a:rPr>
              <a:t>4</a:t>
            </a:r>
            <a:r>
              <a:rPr dirty="0" sz="2800" spc="-5" b="1">
                <a:latin typeface="Microsoft JhengHei"/>
                <a:cs typeface="Microsoft JhengHei"/>
              </a:rPr>
              <a:t>条推理定律时，千万注意，别将</a:t>
            </a:r>
            <a:r>
              <a:rPr dirty="0" sz="2800" spc="-10" b="1">
                <a:latin typeface="Microsoft JhengHei"/>
                <a:cs typeface="Microsoft JhengHei"/>
              </a:rPr>
              <a:t>它们当成等值式用，这样会犯错误的。</a:t>
            </a:r>
            <a:endParaRPr sz="2800">
              <a:latin typeface="Microsoft JhengHei"/>
              <a:cs typeface="Microsoft JhengHe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2860">
              <a:lnSpc>
                <a:spcPct val="100000"/>
              </a:lnSpc>
              <a:spcBef>
                <a:spcPts val="95"/>
              </a:spcBef>
            </a:pPr>
            <a:r>
              <a:rPr dirty="0"/>
              <a:t>小</a:t>
            </a:r>
            <a:r>
              <a:rPr dirty="0" spc="-50"/>
              <a:t>结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38100">
              <a:lnSpc>
                <a:spcPts val="1260"/>
              </a:lnSpc>
            </a:pPr>
            <a:fld id="{81D60167-4931-47E6-BA6A-407CBD079E47}" type="slidenum">
              <a:rPr dirty="0" spc="-25"/>
              <a:t>10</a:t>
            </a:fld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20320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逻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辑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符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号</a:t>
            </a:r>
            <a:r>
              <a:rPr dirty="0" spc="65">
                <a:solidFill>
                  <a:srgbClr val="000000"/>
                </a:solidFill>
                <a:latin typeface="Microsoft JhengHei"/>
                <a:cs typeface="Microsoft JhengHei"/>
              </a:rPr>
              <a:t>：个体词</a:t>
            </a:r>
            <a:r>
              <a:rPr dirty="0" spc="-25"/>
              <a:t>a,b,c,…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谓</a:t>
            </a:r>
            <a:r>
              <a:rPr dirty="0" spc="120">
                <a:solidFill>
                  <a:srgbClr val="000000"/>
                </a:solidFill>
                <a:latin typeface="Microsoft JhengHei"/>
                <a:cs typeface="Microsoft JhengHei"/>
              </a:rPr>
              <a:t>词 </a:t>
            </a:r>
            <a:r>
              <a:rPr dirty="0"/>
              <a:t>F(x</a:t>
            </a:r>
            <a:r>
              <a:rPr dirty="0" spc="55"/>
              <a:t>), </a:t>
            </a:r>
            <a:r>
              <a:rPr dirty="0" spc="-35"/>
              <a:t>G(x,y),H(x,y,z),…</a:t>
            </a:r>
            <a:r>
              <a:rPr dirty="0" spc="-50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</a:p>
          <a:p>
            <a:pPr marL="1740535">
              <a:lnSpc>
                <a:spcPct val="100000"/>
              </a:lnSpc>
              <a:spcBef>
                <a:spcPts val="2140"/>
              </a:spcBef>
              <a:tabLst>
                <a:tab pos="2858135" algn="l"/>
              </a:tabLst>
            </a:pP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量</a:t>
            </a:r>
            <a:r>
              <a:rPr dirty="0" spc="470">
                <a:solidFill>
                  <a:srgbClr val="000000"/>
                </a:solidFill>
                <a:latin typeface="Microsoft JhengHei"/>
                <a:cs typeface="Microsoft JhengHei"/>
              </a:rPr>
              <a:t>词</a:t>
            </a:r>
            <a:r>
              <a:rPr dirty="0" spc="-50">
                <a:latin typeface="Symbol"/>
                <a:cs typeface="Symbol"/>
              </a:rPr>
              <a:t></a:t>
            </a:r>
            <a:r>
              <a:rPr dirty="0" b="0">
                <a:latin typeface="Times New Roman"/>
                <a:cs typeface="Times New Roman"/>
              </a:rPr>
              <a:t>	</a:t>
            </a:r>
            <a:r>
              <a:rPr dirty="0" spc="-50">
                <a:latin typeface="Symbol"/>
                <a:cs typeface="Symbol"/>
              </a:rPr>
              <a:t></a:t>
            </a:r>
          </a:p>
          <a:p>
            <a:pPr marL="1740535" marR="5080" indent="-1720850">
              <a:lnSpc>
                <a:spcPct val="171000"/>
              </a:lnSpc>
            </a:pP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逻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辑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概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念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： 公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式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解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释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永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真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式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永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假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式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可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满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足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式</a:t>
            </a:r>
            <a:r>
              <a:rPr dirty="0" spc="-50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等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值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式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等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值</a:t>
            </a:r>
            <a:r>
              <a:rPr dirty="0" spc="-20">
                <a:solidFill>
                  <a:srgbClr val="000000"/>
                </a:solidFill>
                <a:latin typeface="Microsoft JhengHei"/>
                <a:cs typeface="Microsoft JhengHei"/>
              </a:rPr>
              <a:t>演算、推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理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定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律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、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前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束</a:t>
            </a:r>
            <a:r>
              <a:rPr dirty="0" spc="-25">
                <a:solidFill>
                  <a:srgbClr val="000000"/>
                </a:solidFill>
                <a:latin typeface="Microsoft JhengHei"/>
                <a:cs typeface="Microsoft JhengHei"/>
              </a:rPr>
              <a:t>范式</a:t>
            </a:r>
          </a:p>
          <a:p>
            <a:pPr marL="20320">
              <a:lnSpc>
                <a:spcPct val="100000"/>
              </a:lnSpc>
              <a:spcBef>
                <a:spcPts val="2145"/>
              </a:spcBef>
            </a:pP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逻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辑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规</a:t>
            </a:r>
            <a:r>
              <a:rPr dirty="0">
                <a:solidFill>
                  <a:srgbClr val="000000"/>
                </a:solidFill>
                <a:latin typeface="Microsoft JhengHei"/>
                <a:cs typeface="Microsoft JhengHei"/>
              </a:rPr>
              <a:t>则</a:t>
            </a:r>
            <a:r>
              <a:rPr dirty="0" spc="-20">
                <a:solidFill>
                  <a:srgbClr val="000000"/>
                </a:solidFill>
                <a:latin typeface="Microsoft JhengHei"/>
                <a:cs typeface="Microsoft JhengHei"/>
              </a:rPr>
              <a:t>：换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名</a:t>
            </a:r>
            <a:r>
              <a:rPr dirty="0" spc="-35">
                <a:solidFill>
                  <a:srgbClr val="000000"/>
                </a:solidFill>
                <a:latin typeface="Microsoft JhengHei"/>
                <a:cs typeface="Microsoft JhengHei"/>
              </a:rPr>
              <a:t>规</a:t>
            </a:r>
            <a:r>
              <a:rPr dirty="0" spc="-50">
                <a:solidFill>
                  <a:srgbClr val="000000"/>
                </a:solidFill>
                <a:latin typeface="Microsoft JhengHei"/>
                <a:cs typeface="Microsoft JhengHei"/>
              </a:rPr>
              <a:t>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2023-02-03T01:33:29Z</dcterms:created>
  <dcterms:modified xsi:type="dcterms:W3CDTF">2023-02-03T01:33:29Z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2018-01-29T00:00:00Z</vt:filetime>
  </property>
  <property fmtid="{D5CDD505-2E9C-101B-9397-08002B2CF9AE}" pid="3" name="Creator">
    <vt:lpwstr>PDFium</vt:lpwstr>
  </property>
  <property fmtid="{D5CDD505-2E9C-101B-9397-08002B2CF9AE}" pid="4" name="LastSaved">
    <vt:filetime>2018-01-29T00:00:00Z</vt:filetime>
  </property>
</Properties>
</file>