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6"/>
  </p:notesMasterIdLst>
  <p:sldIdLst>
    <p:sldId id="295" r:id="rId2"/>
    <p:sldId id="296" r:id="rId3"/>
    <p:sldId id="297" r:id="rId4"/>
    <p:sldId id="298" r:id="rId5"/>
    <p:sldId id="299" r:id="rId6"/>
    <p:sldId id="300" r:id="rId7"/>
    <p:sldId id="301" r:id="rId8"/>
    <p:sldId id="369" r:id="rId9"/>
    <p:sldId id="303" r:id="rId10"/>
    <p:sldId id="304" r:id="rId11"/>
    <p:sldId id="305" r:id="rId12"/>
    <p:sldId id="309" r:id="rId13"/>
    <p:sldId id="310" r:id="rId14"/>
    <p:sldId id="311" r:id="rId1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A217264-35A7-4FDC-BF6F-579B610CC3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B278E0-90F2-4A5A-95A6-DC79E080079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53E11BE-1EDD-4DD6-91BB-3B7496067B33}" type="datetimeFigureOut">
              <a:rPr lang="zh-CN" altLang="en-US"/>
              <a:pPr>
                <a:defRPr/>
              </a:pPr>
              <a:t>2020/8/9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DAFA07B-7311-4C01-8E71-D9F327AE9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D1D67CF-0C1C-4D5E-BB1A-8EB790E95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F2302-E6C8-41A3-AAE6-F10FD6400D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B9858D-E2AE-4C27-987C-AF8B14C99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C2C601A-AC69-4487-B70A-1B2745F0F8C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FF09EC4-9A95-4763-A4B0-EC6D038978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B6A862-28AB-4B05-AA7B-E1326E4649C7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E5A26B5-D4C3-490C-916F-E981D22BD9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950A9A5-873D-40BB-9C13-9190583A6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2A0BCA5-18B9-40DA-9644-AC0B8D0CE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679836-119A-46A2-8CF7-896FE1C9D5E2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9136032-82AA-4154-B91D-9387C52753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56CCD4C-D103-476C-8BD4-116890AAB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978D687-0676-4E87-8FEF-425BC6BC3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A1D634-3003-4D7D-91DA-49E41BE8AED2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6821955-ED50-4D42-9FEE-4CFB4279097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75E7F4C-21AB-439A-94AF-EC4832ED0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4634B4D-D0B3-495E-8B27-873A6064B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04E048-D320-476F-A237-0180BBECE734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6262DD1-3E98-4741-8E0F-DFBDD5FF150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9EAE896-0062-4554-9598-2358094EB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2A178AD4-3F1A-4D02-A299-B1565D12EC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CF1BAC-6A9E-4841-B602-FA9A7B2DC187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1172170-832A-4EFC-A38B-EA0B4762F3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4B3E39A6-A3DB-475C-BCD5-93406C278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4AE241A-5719-4553-93AB-C98A124019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88D455-976A-4716-B56F-7392387AE5F7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1A09786-C042-4BB6-97FA-2ED4EE11D1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F3A26E7-0DF2-462B-96B1-68EC6233C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4B2B40F-9F65-43FE-BEF3-890485324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8C1144-E167-47D4-8784-BC6E3CBB466B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91382FE9-DB45-4173-A700-E2ECE371D8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BE2D697-4262-4D66-BAE3-B8C633A7B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48C09A0-91DA-450B-B854-0F8AC77E2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87A164-C4D1-4353-AFF3-E38F42CE0D27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4C2FCAE-ADCF-4007-B053-74146EE7C8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24CD252-22FA-4684-9D27-3650B0032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1A1358B-C249-4525-8D39-055AD1B63B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0A7CD5-D245-4EB6-98B6-17FFC09703B9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CD23C93-F62E-4276-AAC3-A6AB424998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37AA57A-D73A-4C6F-B8D0-67FA67B6E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BD5B35C-027C-408B-A845-D4DDCBD78D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D943DC-654A-4BC7-8049-F0F658DFD542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14D7904-1C0B-4300-99FA-2E4234ED49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FEA3409-8F95-4C41-9AD9-B751F9955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3EC6162B-0AFD-420C-8ACD-7D409A2191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C76F05-3230-46EC-933C-D0EC9F88E9E0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F6976BB-C54A-49B7-B881-EAD9DDC1B8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0809469-7552-4318-8663-FED78A0C4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4CF028D-6BA7-4B73-8F13-70DB7FAFD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671A97-857D-4893-8958-2933D4AC783E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D31970A-68F8-424C-96B2-A4D36415377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1754CC4-9269-498F-8388-0B9BE731F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9A96541-21AA-45D2-89C2-8A617A95F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472C3E-F984-4BFF-9EC4-3C8EF0E00208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4562259-1426-4AD4-87B8-E5C1E1DEEA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2C7AF51-FCEB-4D31-ACF1-7A0F32467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522F9-592C-482B-8887-9562483E2A9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36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F8F1EA-1E76-4EA6-94E4-4B2F98183A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870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CAB0CF-C276-47D5-A256-648409F5D02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180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98B89-5D6B-45E9-9255-0EF55A6592C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873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C227C-AE66-4575-B8CD-F8F9CFDCD8F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4074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BE7F78-B3A6-4815-9159-3D5B1B73FE3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464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3A6E47-FD52-4516-8390-30CBD266368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704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62C04-F7E3-4C36-BF79-845A939B4F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512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B8E4A2-D552-44A4-AC6C-5895D6CFC9E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522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21567-9D3A-407E-B291-0540AA4E14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01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D1276-0E3B-4BEB-857D-C20E8C72B5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56303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D1276-0E3B-4BEB-857D-C20E8C72B5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2354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69ED1276-0E3B-4BEB-857D-C20E8C72B5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78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B440F97-0C8F-4423-B7EE-531253F17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递推方程的其他解法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F1C810-171E-4625-9F21-D6D6EFED2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/>
              <a:t>换元法</a:t>
            </a:r>
          </a:p>
          <a:p>
            <a:pPr eaLnBrk="1" hangingPunct="1"/>
            <a:r>
              <a:rPr lang="zh-CN" altLang="en-US" b="1"/>
              <a:t>迭代归纳法</a:t>
            </a:r>
            <a:r>
              <a:rPr lang="en-US" altLang="zh-CN" b="1"/>
              <a:t>--</a:t>
            </a:r>
            <a:r>
              <a:rPr lang="zh-CN" altLang="en-US" b="1"/>
              <a:t>递归树</a:t>
            </a:r>
          </a:p>
          <a:p>
            <a:pPr eaLnBrk="1" hangingPunct="1"/>
            <a:r>
              <a:rPr lang="zh-CN" altLang="en-US" b="1"/>
              <a:t>差消法</a:t>
            </a:r>
          </a:p>
          <a:p>
            <a:pPr eaLnBrk="1" hangingPunct="1"/>
            <a:r>
              <a:rPr lang="zh-CN" altLang="en-US" b="1"/>
              <a:t>尝试法</a:t>
            </a:r>
          </a:p>
          <a:p>
            <a:pPr eaLnBrk="1" hangingPunct="1"/>
            <a:r>
              <a:rPr lang="zh-CN" altLang="en-US" b="1"/>
              <a:t>应用实例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82359E-3892-4DDC-BFA0-C95E9192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49BF7A-FFF9-4790-9204-EEF17BE0E4A9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013CF668-0DC8-48FF-84B3-49997762C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196975"/>
          <a:ext cx="7978775" cy="497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文档" r:id="rId4" imgW="3775689" imgH="2350869" progId="Word.Document.8">
                  <p:embed/>
                </p:oleObj>
              </mc:Choice>
              <mc:Fallback>
                <p:oleObj name="文档" r:id="rId4" imgW="3775689" imgH="235086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96975"/>
                        <a:ext cx="7978775" cy="497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Rectangle 3">
            <a:extLst>
              <a:ext uri="{FF2B5EF4-FFF2-40B4-BE49-F238E27FC236}">
                <a16:creationId xmlns:a16="http://schemas.microsoft.com/office/drawing/2014/main" id="{F81D6803-CF72-4D08-A06E-285293C0F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换元法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CE51CF-9361-468E-B22D-37EB12F7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1C3A1E-6777-4CF9-B0ED-CAAA00ABE0CA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2ABBEA43-1899-4923-951E-27189CDB6D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600" y="1268413"/>
          <a:ext cx="8054975" cy="483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Document" r:id="rId4" imgW="3892863" imgH="2332388" progId="Word.Document.8">
                  <p:embed/>
                </p:oleObj>
              </mc:Choice>
              <mc:Fallback>
                <p:oleObj name="Document" r:id="rId4" imgW="3892863" imgH="233238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1268413"/>
                        <a:ext cx="8054975" cy="483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3">
            <a:extLst>
              <a:ext uri="{FF2B5EF4-FFF2-40B4-BE49-F238E27FC236}">
                <a16:creationId xmlns:a16="http://schemas.microsoft.com/office/drawing/2014/main" id="{7941E7D1-11EC-4C8D-92D9-37E8364EE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换元法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归并排序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7CC7B0-BBDD-48EE-9D74-1B7A6675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DC5337-5CCD-411D-B004-B8E2317F2E2D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05AF6D18-1168-49EE-BE6F-47B34EBE11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196975"/>
          <a:ext cx="7515225" cy="562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文档" r:id="rId4" imgW="3896147" imgH="2916519" progId="Word.Document.8">
                  <p:embed/>
                </p:oleObj>
              </mc:Choice>
              <mc:Fallback>
                <p:oleObj name="文档" r:id="rId4" imgW="3896147" imgH="291651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96975"/>
                        <a:ext cx="7515225" cy="562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Rectangle 3">
            <a:extLst>
              <a:ext uri="{FF2B5EF4-FFF2-40B4-BE49-F238E27FC236}">
                <a16:creationId xmlns:a16="http://schemas.microsoft.com/office/drawing/2014/main" id="{CF5713E9-C9DC-4F1E-8F3E-5F2FCF1E1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迭代归纳法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6B41CF-3918-4CAC-9B52-B663B667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8377C1-DAD9-48C4-B8DC-C580B809AC29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F63AAF0D-5A78-4BB2-BE69-D2EA0FEC5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550" y="1268413"/>
          <a:ext cx="8104188" cy="541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文档" r:id="rId4" imgW="4201261" imgH="2806992" progId="Word.Document.8">
                  <p:embed/>
                </p:oleObj>
              </mc:Choice>
              <mc:Fallback>
                <p:oleObj name="文档" r:id="rId4" imgW="4201261" imgH="280699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1268413"/>
                        <a:ext cx="8104188" cy="541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Rectangle 3">
            <a:extLst>
              <a:ext uri="{FF2B5EF4-FFF2-40B4-BE49-F238E27FC236}">
                <a16:creationId xmlns:a16="http://schemas.microsoft.com/office/drawing/2014/main" id="{18916B53-7735-470B-B668-C8525B53F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迭代归纳法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错位排列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26A413-511E-453A-8D80-AE1DA745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F7B6A2-0B2A-4693-9E34-7F32F3D9A079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2892D131-E930-403C-B5B7-7BFF33469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7125" y="1341438"/>
          <a:ext cx="7415213" cy="567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文档" r:id="rId4" imgW="4010475" imgH="3066038" progId="Word.Document.8">
                  <p:embed/>
                </p:oleObj>
              </mc:Choice>
              <mc:Fallback>
                <p:oleObj name="文档" r:id="rId4" imgW="4010475" imgH="306603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1341438"/>
                        <a:ext cx="7415213" cy="567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3">
            <a:extLst>
              <a:ext uri="{FF2B5EF4-FFF2-40B4-BE49-F238E27FC236}">
                <a16:creationId xmlns:a16="http://schemas.microsoft.com/office/drawing/2014/main" id="{089CDE4C-A4F8-4323-9A78-5A160137F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迭代归纳法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错位排列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4F23D9-4227-4FC5-9A7C-8C5269EA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6D8B81-0993-462A-8320-35A872B0914E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75F73D6C-4BA7-4251-B9C3-EC2EAC0A3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195388"/>
          <a:ext cx="8096250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Document" r:id="rId4" imgW="3718539" imgH="646428" progId="Word.Document.8">
                  <p:embed/>
                </p:oleObj>
              </mc:Choice>
              <mc:Fallback>
                <p:oleObj name="Document" r:id="rId4" imgW="3718539" imgH="64642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95388"/>
                        <a:ext cx="8096250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3">
            <a:extLst>
              <a:ext uri="{FF2B5EF4-FFF2-40B4-BE49-F238E27FC236}">
                <a16:creationId xmlns:a16="http://schemas.microsoft.com/office/drawing/2014/main" id="{574C3BBB-4F70-48D1-A2B1-49486607D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15E6B26B-31D7-4A66-BF8F-7BD9940E4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迭代归纳法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递归树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DB7E89A9-6462-4707-AF1F-D3F17C5C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E32282-EC94-4C16-A8BF-45958FE60C6C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ED043C-23E7-4AF7-A965-5C8A98B833F8}"/>
              </a:ext>
            </a:extLst>
          </p:cNvPr>
          <p:cNvSpPr/>
          <p:nvPr/>
        </p:nvSpPr>
        <p:spPr>
          <a:xfrm>
            <a:off x="2124075" y="3213100"/>
            <a:ext cx="2303463" cy="3603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37FDC2-4F69-4D7E-9FCF-305D4C01008C}"/>
              </a:ext>
            </a:extLst>
          </p:cNvPr>
          <p:cNvSpPr/>
          <p:nvPr/>
        </p:nvSpPr>
        <p:spPr>
          <a:xfrm>
            <a:off x="4500563" y="3213100"/>
            <a:ext cx="2303462" cy="3603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168D7-EC0E-41DF-99D0-DD08DC7CA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3644900"/>
            <a:ext cx="325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ym typeface="Symbol" panose="05050102010706020507" pitchFamily="18" charset="2"/>
              </a:rPr>
              <a:t></a:t>
            </a:r>
            <a:endParaRPr lang="en-US" altLang="zh-CN" b="1"/>
          </a:p>
          <a:p>
            <a:pPr eaLnBrk="1" hangingPunct="1"/>
            <a:r>
              <a:rPr lang="en-US" altLang="zh-CN" b="1" i="1"/>
              <a:t>p</a:t>
            </a:r>
            <a:endParaRPr lang="zh-CN" altLang="en-US" b="1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4D2C5-E1A7-46B1-AC74-CD952B005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3644900"/>
            <a:ext cx="325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ym typeface="Symbol" panose="05050102010706020507" pitchFamily="18" charset="2"/>
              </a:rPr>
              <a:t></a:t>
            </a:r>
            <a:endParaRPr lang="en-US" altLang="zh-CN" b="1"/>
          </a:p>
          <a:p>
            <a:pPr eaLnBrk="1" hangingPunct="1"/>
            <a:r>
              <a:rPr lang="en-US" altLang="zh-CN" b="1" i="1"/>
              <a:t>q</a:t>
            </a:r>
            <a:endParaRPr lang="zh-CN" altLang="en-US" b="1" i="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08E9B0-7FBB-4CA8-A128-F5933C49BA72}"/>
              </a:ext>
            </a:extLst>
          </p:cNvPr>
          <p:cNvSpPr/>
          <p:nvPr/>
        </p:nvSpPr>
        <p:spPr>
          <a:xfrm>
            <a:off x="2124075" y="3213100"/>
            <a:ext cx="576263" cy="3603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0F3398-71E3-4DD6-8758-AF8D8BA3BA8A}"/>
              </a:ext>
            </a:extLst>
          </p:cNvPr>
          <p:cNvSpPr/>
          <p:nvPr/>
        </p:nvSpPr>
        <p:spPr>
          <a:xfrm>
            <a:off x="2700338" y="3213100"/>
            <a:ext cx="576262" cy="3603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" name="组合 23">
            <a:extLst>
              <a:ext uri="{FF2B5EF4-FFF2-40B4-BE49-F238E27FC236}">
                <a16:creationId xmlns:a16="http://schemas.microsoft.com/office/drawing/2014/main" id="{B210DE28-2516-4846-B06E-64786D67CA95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3213100"/>
            <a:ext cx="1150938" cy="360363"/>
            <a:chOff x="3275856" y="3212976"/>
            <a:chExt cx="1152128" cy="36004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61683D-A495-4768-8EA3-8AFAE6AE8F87}"/>
                </a:ext>
              </a:extLst>
            </p:cNvPr>
            <p:cNvSpPr/>
            <p:nvPr/>
          </p:nvSpPr>
          <p:spPr>
            <a:xfrm>
              <a:off x="3275856" y="3212976"/>
              <a:ext cx="576859" cy="3600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</a:rPr>
                <a:t>12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938C2C7-6514-4854-9982-1C67D00B7037}"/>
                </a:ext>
              </a:extLst>
            </p:cNvPr>
            <p:cNvSpPr/>
            <p:nvPr/>
          </p:nvSpPr>
          <p:spPr>
            <a:xfrm>
              <a:off x="3852715" y="3212976"/>
              <a:ext cx="575269" cy="3600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</a:rPr>
                <a:t>15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F77E6CC7-9579-455E-99DC-529BBE994490}"/>
              </a:ext>
            </a:extLst>
          </p:cNvPr>
          <p:cNvSpPr/>
          <p:nvPr/>
        </p:nvSpPr>
        <p:spPr>
          <a:xfrm>
            <a:off x="4500563" y="3213100"/>
            <a:ext cx="576262" cy="3603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DF137D-045E-44A2-83C6-FDCE5D38DFA8}"/>
              </a:ext>
            </a:extLst>
          </p:cNvPr>
          <p:cNvSpPr/>
          <p:nvPr/>
        </p:nvSpPr>
        <p:spPr>
          <a:xfrm>
            <a:off x="5076825" y="3213100"/>
            <a:ext cx="574675" cy="3603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6912DDB-2676-4AEF-87FE-5E7A7CFDA6F9}"/>
              </a:ext>
            </a:extLst>
          </p:cNvPr>
          <p:cNvSpPr/>
          <p:nvPr/>
        </p:nvSpPr>
        <p:spPr>
          <a:xfrm>
            <a:off x="5651500" y="3213100"/>
            <a:ext cx="576263" cy="3603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B919E4-C111-4EFA-B93B-D7858860E8C1}"/>
              </a:ext>
            </a:extLst>
          </p:cNvPr>
          <p:cNvSpPr/>
          <p:nvPr/>
        </p:nvSpPr>
        <p:spPr>
          <a:xfrm>
            <a:off x="6227763" y="3213100"/>
            <a:ext cx="576262" cy="3603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07407E-6 L -0.25989 0.23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03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22222E-6 L 0.0651 -0.004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7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07407E-6 L 0.06302 0.2363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22222E-6 L 0.06493 -0.0048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7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06302 0.2363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93 -0.00486 L 0.14375 -0.0048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07407E-6 L -0.13385 0.2363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1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1 -0.00486 L 0.12812 -0.0048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-0.13368 0.2363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4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812 -0.00486 L 0.19896 -0.0048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-0.13368 0.2363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4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07407E-6 L 0.25208 0.23634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9" grpId="2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标题 1">
            <a:extLst>
              <a:ext uri="{FF2B5EF4-FFF2-40B4-BE49-F238E27FC236}">
                <a16:creationId xmlns:a16="http://schemas.microsoft.com/office/drawing/2014/main" id="{31F0D66E-36A6-45A8-9234-80D8C243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/>
            <a:r>
              <a:rPr lang="zh-CN" altLang="en-US" sz="4000" b="1" dirty="0">
                <a:solidFill>
                  <a:srgbClr val="C00000"/>
                </a:solidFill>
              </a:rPr>
              <a:t>迭代模型：递归树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97B18248-B629-4586-B3C9-7CCA4E4D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172A4-EA4A-4A10-A64B-E4B748ACC991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4" name="Rectangle 2">
            <a:extLst>
              <a:ext uri="{FF2B5EF4-FFF2-40B4-BE49-F238E27FC236}">
                <a16:creationId xmlns:a16="http://schemas.microsoft.com/office/drawing/2014/main" id="{132E2760-6EDE-4F6A-9E82-3079E7970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graphicFrame>
        <p:nvGraphicFramePr>
          <p:cNvPr id="61441" name="Object 1">
            <a:extLst>
              <a:ext uri="{FF2B5EF4-FFF2-40B4-BE49-F238E27FC236}">
                <a16:creationId xmlns:a16="http://schemas.microsoft.com/office/drawing/2014/main" id="{4473095B-CF52-4F8F-9CD3-85D3BC5C5C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998538"/>
          <a:ext cx="45688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公式" r:id="rId3" imgW="2666880" imgH="228600" progId="Equation.3">
                  <p:embed/>
                </p:oleObj>
              </mc:Choice>
              <mc:Fallback>
                <p:oleObj name="公式" r:id="rId3" imgW="266688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998538"/>
                        <a:ext cx="4568825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5" name="组合 24">
            <a:extLst>
              <a:ext uri="{FF2B5EF4-FFF2-40B4-BE49-F238E27FC236}">
                <a16:creationId xmlns:a16="http://schemas.microsoft.com/office/drawing/2014/main" id="{BF001BB6-B8F4-4C28-9230-8312B2478C6F}"/>
              </a:ext>
            </a:extLst>
          </p:cNvPr>
          <p:cNvGrpSpPr>
            <a:grpSpLocks/>
          </p:cNvGrpSpPr>
          <p:nvPr/>
        </p:nvGrpSpPr>
        <p:grpSpPr bwMode="auto">
          <a:xfrm>
            <a:off x="1235075" y="981075"/>
            <a:ext cx="608013" cy="476250"/>
            <a:chOff x="755576" y="2051556"/>
            <a:chExt cx="606847" cy="477332"/>
          </a:xfrm>
        </p:grpSpPr>
        <p:sp>
          <p:nvSpPr>
            <p:cNvPr id="7220" name="TextBox 6">
              <a:extLst>
                <a:ext uri="{FF2B5EF4-FFF2-40B4-BE49-F238E27FC236}">
                  <a16:creationId xmlns:a16="http://schemas.microsoft.com/office/drawing/2014/main" id="{57C3825C-A09A-4DDC-932F-D9DB35A22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2051556"/>
              <a:ext cx="606847" cy="370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5E94DDC-8F22-4CD8-B7CE-AAE4028AF937}"/>
                </a:ext>
              </a:extLst>
            </p:cNvPr>
            <p:cNvSpPr/>
            <p:nvPr/>
          </p:nvSpPr>
          <p:spPr>
            <a:xfrm>
              <a:off x="971062" y="2420693"/>
              <a:ext cx="107743" cy="1081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" name="组合 23">
            <a:extLst>
              <a:ext uri="{FF2B5EF4-FFF2-40B4-BE49-F238E27FC236}">
                <a16:creationId xmlns:a16="http://schemas.microsoft.com/office/drawing/2014/main" id="{ECA0F60D-495C-4568-9DF0-816888971C4E}"/>
              </a:ext>
            </a:extLst>
          </p:cNvPr>
          <p:cNvGrpSpPr>
            <a:grpSpLocks/>
          </p:cNvGrpSpPr>
          <p:nvPr/>
        </p:nvGrpSpPr>
        <p:grpSpPr bwMode="auto">
          <a:xfrm>
            <a:off x="696913" y="2133600"/>
            <a:ext cx="1651000" cy="1098550"/>
            <a:chOff x="1619672" y="2051556"/>
            <a:chExt cx="1652001" cy="1098756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5137D9C-6EE4-45BD-BC3F-16B1D5C94233}"/>
                </a:ext>
              </a:extLst>
            </p:cNvPr>
            <p:cNvCxnSpPr/>
            <p:nvPr/>
          </p:nvCxnSpPr>
          <p:spPr>
            <a:xfrm rot="10800000">
              <a:off x="2471088" y="2410398"/>
              <a:ext cx="360580" cy="287392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13" name="TextBox 5">
              <a:extLst>
                <a:ext uri="{FF2B5EF4-FFF2-40B4-BE49-F238E27FC236}">
                  <a16:creationId xmlns:a16="http://schemas.microsoft.com/office/drawing/2014/main" id="{F7B639D0-CCF5-4DF6-8160-2D222EEBA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744" y="2051556"/>
              <a:ext cx="5180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>
                  <a:latin typeface="Calibri" panose="020F0502020204030204" pitchFamily="34" charset="0"/>
                </a:rPr>
                <a:t>-1</a:t>
              </a:r>
              <a:endParaRPr lang="zh-CN" altLang="en-US">
                <a:latin typeface="Calibri" panose="020F050202020403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708B3A0-8AE0-407E-92EA-8DD12A4F2DE2}"/>
                </a:ext>
              </a:extLst>
            </p:cNvPr>
            <p:cNvSpPr/>
            <p:nvPr/>
          </p:nvSpPr>
          <p:spPr>
            <a:xfrm>
              <a:off x="2412314" y="2348475"/>
              <a:ext cx="108015" cy="10797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910A9F4-73B4-420A-BB69-E42AE0853F68}"/>
                </a:ext>
              </a:extLst>
            </p:cNvPr>
            <p:cNvSpPr/>
            <p:nvPr/>
          </p:nvSpPr>
          <p:spPr>
            <a:xfrm>
              <a:off x="2051734" y="2672385"/>
              <a:ext cx="108015" cy="10797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CC0B81F-649B-4F5A-A948-E09BFBD64895}"/>
                </a:ext>
              </a:extLst>
            </p:cNvPr>
            <p:cNvSpPr/>
            <p:nvPr/>
          </p:nvSpPr>
          <p:spPr>
            <a:xfrm>
              <a:off x="2807842" y="2672385"/>
              <a:ext cx="108015" cy="10797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4F8F0EF-F147-4771-B065-81EFB55FAF36}"/>
                </a:ext>
              </a:extLst>
            </p:cNvPr>
            <p:cNvCxnSpPr/>
            <p:nvPr/>
          </p:nvCxnSpPr>
          <p:spPr>
            <a:xfrm rot="5400000">
              <a:off x="2150271" y="2429388"/>
              <a:ext cx="252459" cy="306574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18" name="TextBox 20">
              <a:extLst>
                <a:ext uri="{FF2B5EF4-FFF2-40B4-BE49-F238E27FC236}">
                  <a16:creationId xmlns:a16="http://schemas.microsoft.com/office/drawing/2014/main" id="{0885A477-BCDA-4200-AC45-D2C366B9B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672" y="2780928"/>
              <a:ext cx="787905" cy="369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19" name="TextBox 21">
              <a:extLst>
                <a:ext uri="{FF2B5EF4-FFF2-40B4-BE49-F238E27FC236}">
                  <a16:creationId xmlns:a16="http://schemas.microsoft.com/office/drawing/2014/main" id="{2E592108-4F08-4435-9CC2-DFA002DB2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768" y="2771636"/>
              <a:ext cx="787905" cy="369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3" name="右箭头 22">
            <a:extLst>
              <a:ext uri="{FF2B5EF4-FFF2-40B4-BE49-F238E27FC236}">
                <a16:creationId xmlns:a16="http://schemas.microsoft.com/office/drawing/2014/main" id="{56CDEF8C-EA91-45A6-942B-DB7FC7F3173E}"/>
              </a:ext>
            </a:extLst>
          </p:cNvPr>
          <p:cNvSpPr/>
          <p:nvPr/>
        </p:nvSpPr>
        <p:spPr>
          <a:xfrm rot="5400000">
            <a:off x="1331119" y="1845469"/>
            <a:ext cx="433387" cy="14287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511954E0-0DEA-45EF-9469-A7BE953D9B6E}"/>
              </a:ext>
            </a:extLst>
          </p:cNvPr>
          <p:cNvSpPr/>
          <p:nvPr/>
        </p:nvSpPr>
        <p:spPr>
          <a:xfrm rot="5400000">
            <a:off x="1331913" y="3573462"/>
            <a:ext cx="431800" cy="14287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57">
            <a:extLst>
              <a:ext uri="{FF2B5EF4-FFF2-40B4-BE49-F238E27FC236}">
                <a16:creationId xmlns:a16="http://schemas.microsoft.com/office/drawing/2014/main" id="{11F32245-4A87-468A-9E4D-3A496282C03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05263"/>
            <a:ext cx="2889250" cy="1449387"/>
            <a:chOff x="3491880" y="1844824"/>
            <a:chExt cx="2888096" cy="1449469"/>
          </a:xfrm>
        </p:grpSpPr>
        <p:grpSp>
          <p:nvGrpSpPr>
            <p:cNvPr id="7190" name="组合 37">
              <a:extLst>
                <a:ext uri="{FF2B5EF4-FFF2-40B4-BE49-F238E27FC236}">
                  <a16:creationId xmlns:a16="http://schemas.microsoft.com/office/drawing/2014/main" id="{8F4E5272-32AA-4C2D-9A22-348B0A7C7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1920" y="1844824"/>
              <a:ext cx="2160240" cy="864096"/>
              <a:chOff x="3851920" y="1844824"/>
              <a:chExt cx="2160240" cy="864096"/>
            </a:xfrm>
          </p:grpSpPr>
          <p:sp>
            <p:nvSpPr>
              <p:cNvPr id="7203" name="TextBox 32">
                <a:extLst>
                  <a:ext uri="{FF2B5EF4-FFF2-40B4-BE49-F238E27FC236}">
                    <a16:creationId xmlns:a16="http://schemas.microsoft.com/office/drawing/2014/main" id="{66A02A8D-70F2-4E7F-98DF-0178AC64B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1920" y="2339588"/>
                <a:ext cx="68480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n/</a:t>
                </a:r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2-1</a:t>
                </a:r>
                <a:endParaRPr lang="zh-CN" altLang="en-US" b="1">
                  <a:latin typeface="Calibri" panose="020F0502020204030204" pitchFamily="34" charset="0"/>
                </a:endParaRPr>
              </a:p>
            </p:txBody>
          </p:sp>
          <p:sp>
            <p:nvSpPr>
              <p:cNvPr id="7204" name="TextBox 26">
                <a:extLst>
                  <a:ext uri="{FF2B5EF4-FFF2-40B4-BE49-F238E27FC236}">
                    <a16:creationId xmlns:a16="http://schemas.microsoft.com/office/drawing/2014/main" id="{A6FC7389-8860-4E70-B3EC-752B80363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4008" y="1844824"/>
                <a:ext cx="51809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>
                    <a:latin typeface="Calibri" panose="020F0502020204030204" pitchFamily="34" charset="0"/>
                  </a:rPr>
                  <a:t>-1</a:t>
                </a:r>
                <a:endParaRPr lang="zh-CN" altLang="en-US">
                  <a:latin typeface="Calibri" panose="020F0502020204030204" pitchFamily="34" charset="0"/>
                </a:endParaRPr>
              </a:p>
            </p:txBody>
          </p:sp>
          <p:grpSp>
            <p:nvGrpSpPr>
              <p:cNvPr id="7205" name="组合 36">
                <a:extLst>
                  <a:ext uri="{FF2B5EF4-FFF2-40B4-BE49-F238E27FC236}">
                    <a16:creationId xmlns:a16="http://schemas.microsoft.com/office/drawing/2014/main" id="{152B9410-B69C-4A8E-AA33-7BB7CCF899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75842" y="2204864"/>
                <a:ext cx="1536318" cy="504056"/>
                <a:chOff x="4296549" y="2204864"/>
                <a:chExt cx="1536318" cy="504056"/>
              </a:xfrm>
            </p:grpSpPr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BCF7F024-35E6-44FC-AD50-41DD06821976}"/>
                    </a:ext>
                  </a:extLst>
                </p:cNvPr>
                <p:cNvCxnSpPr/>
                <p:nvPr/>
              </p:nvCxnSpPr>
              <p:spPr>
                <a:xfrm rot="5400000">
                  <a:off x="4395566" y="2285450"/>
                  <a:ext cx="250839" cy="306265"/>
                </a:xfrm>
                <a:prstGeom prst="line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B0EEE3C2-5506-4181-9579-F12357E096D1}"/>
                    </a:ext>
                  </a:extLst>
                </p:cNvPr>
                <p:cNvCxnSpPr/>
                <p:nvPr/>
              </p:nvCxnSpPr>
              <p:spPr>
                <a:xfrm rot="10800000">
                  <a:off x="4728072" y="2276648"/>
                  <a:ext cx="360219" cy="287354"/>
                </a:xfrm>
                <a:prstGeom prst="line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08" name="TextBox 33">
                  <a:extLst>
                    <a:ext uri="{FF2B5EF4-FFF2-40B4-BE49-F238E27FC236}">
                      <a16:creationId xmlns:a16="http://schemas.microsoft.com/office/drawing/2014/main" id="{DF0509EE-4B1C-4347-B4BD-00F4AE4816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48064" y="2339588"/>
                  <a:ext cx="68480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n/</a:t>
                  </a:r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2-1</a:t>
                  </a:r>
                  <a:endParaRPr lang="zh-CN" altLang="en-US" b="1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0A5CD6A2-10D9-4569-8785-FFC4490B8426}"/>
                    </a:ext>
                  </a:extLst>
                </p:cNvPr>
                <p:cNvSpPr/>
                <p:nvPr/>
              </p:nvSpPr>
              <p:spPr>
                <a:xfrm>
                  <a:off x="4656663" y="2205206"/>
                  <a:ext cx="107907" cy="107956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B6C66B02-55D9-4842-8C7D-FAAB1EA8F320}"/>
                    </a:ext>
                  </a:extLst>
                </p:cNvPr>
                <p:cNvSpPr/>
                <p:nvPr/>
              </p:nvSpPr>
              <p:spPr>
                <a:xfrm>
                  <a:off x="4296444" y="2529075"/>
                  <a:ext cx="107907" cy="107956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CE60611A-1DEA-4E2E-9F01-CC8050837290}"/>
                    </a:ext>
                  </a:extLst>
                </p:cNvPr>
                <p:cNvSpPr/>
                <p:nvPr/>
              </p:nvSpPr>
              <p:spPr>
                <a:xfrm>
                  <a:off x="5051792" y="2529075"/>
                  <a:ext cx="107907" cy="107956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</p:grp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F40FF32-930F-4E84-BA14-822E1E1AE52A}"/>
                </a:ext>
              </a:extLst>
            </p:cNvPr>
            <p:cNvCxnSpPr/>
            <p:nvPr/>
          </p:nvCxnSpPr>
          <p:spPr>
            <a:xfrm rot="16200000" flipV="1">
              <a:off x="4463770" y="2744210"/>
              <a:ext cx="287354" cy="72996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ADCAB758-D542-4AB2-A7B3-BD2C2F893212}"/>
                </a:ext>
              </a:extLst>
            </p:cNvPr>
            <p:cNvCxnSpPr>
              <a:endCxn id="29" idx="3"/>
            </p:cNvCxnSpPr>
            <p:nvPr/>
          </p:nvCxnSpPr>
          <p:spPr>
            <a:xfrm flipV="1">
              <a:off x="4067913" y="2621155"/>
              <a:ext cx="423693" cy="30323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A40647C-AE8B-4EE3-AE2B-4DD601156CEA}"/>
                </a:ext>
              </a:extLst>
            </p:cNvPr>
            <p:cNvCxnSpPr/>
            <p:nvPr/>
          </p:nvCxnSpPr>
          <p:spPr>
            <a:xfrm rot="10800000">
              <a:off x="5364382" y="2637031"/>
              <a:ext cx="358632" cy="287354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6B04654-5010-4966-B10E-713867EE90ED}"/>
                </a:ext>
              </a:extLst>
            </p:cNvPr>
            <p:cNvCxnSpPr/>
            <p:nvPr/>
          </p:nvCxnSpPr>
          <p:spPr>
            <a:xfrm rot="5400000">
              <a:off x="5112005" y="2745003"/>
              <a:ext cx="287354" cy="71408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95" name="TextBox 49">
              <a:extLst>
                <a:ext uri="{FF2B5EF4-FFF2-40B4-BE49-F238E27FC236}">
                  <a16:creationId xmlns:a16="http://schemas.microsoft.com/office/drawing/2014/main" id="{006139A2-DC9D-4406-9721-269AFAFF9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880" y="2915652"/>
              <a:ext cx="787282" cy="369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96" name="TextBox 50">
              <a:extLst>
                <a:ext uri="{FF2B5EF4-FFF2-40B4-BE49-F238E27FC236}">
                  <a16:creationId xmlns:a16="http://schemas.microsoft.com/office/drawing/2014/main" id="{E9407059-B3FF-4EDA-8E2B-5A398B06C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2533" y="2924944"/>
              <a:ext cx="787282" cy="369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97" name="TextBox 51">
              <a:extLst>
                <a:ext uri="{FF2B5EF4-FFF2-40B4-BE49-F238E27FC236}">
                  <a16:creationId xmlns:a16="http://schemas.microsoft.com/office/drawing/2014/main" id="{D9F4697D-7A18-4D23-9925-71B59515B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32" y="2924944"/>
              <a:ext cx="787282" cy="369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98" name="TextBox 52">
              <a:extLst>
                <a:ext uri="{FF2B5EF4-FFF2-40B4-BE49-F238E27FC236}">
                  <a16:creationId xmlns:a16="http://schemas.microsoft.com/office/drawing/2014/main" id="{D61256E7-EC26-4129-9479-0E4B244ED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2693" y="2915652"/>
              <a:ext cx="787283" cy="369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</a:t>
              </a:r>
              <a:r>
                <a:rPr lang="en-US" altLang="zh-CN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endParaRPr lang="zh-CN" altLang="en-US" b="1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C799A98-0D32-4D95-B468-387E4FA6020E}"/>
                </a:ext>
              </a:extLst>
            </p:cNvPr>
            <p:cNvSpPr/>
            <p:nvPr/>
          </p:nvSpPr>
          <p:spPr>
            <a:xfrm>
              <a:off x="4067913" y="2852943"/>
              <a:ext cx="107907" cy="107956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13CE3E33-6EB8-4D10-83FE-21C024FF55E1}"/>
                </a:ext>
              </a:extLst>
            </p:cNvPr>
            <p:cNvSpPr/>
            <p:nvPr/>
          </p:nvSpPr>
          <p:spPr>
            <a:xfrm>
              <a:off x="4570949" y="2852943"/>
              <a:ext cx="109494" cy="107956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662CEE1E-EEBC-4C62-B2EF-800E6B7357AD}"/>
                </a:ext>
              </a:extLst>
            </p:cNvPr>
            <p:cNvSpPr/>
            <p:nvPr/>
          </p:nvSpPr>
          <p:spPr>
            <a:xfrm>
              <a:off x="5146982" y="2852943"/>
              <a:ext cx="107907" cy="107956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543181D-869E-4785-B55E-CFD5851334DC}"/>
                </a:ext>
              </a:extLst>
            </p:cNvPr>
            <p:cNvSpPr/>
            <p:nvPr/>
          </p:nvSpPr>
          <p:spPr>
            <a:xfrm>
              <a:off x="5651605" y="2852943"/>
              <a:ext cx="107907" cy="107956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aphicFrame>
        <p:nvGraphicFramePr>
          <p:cNvPr id="61444" name="Object 4">
            <a:extLst>
              <a:ext uri="{FF2B5EF4-FFF2-40B4-BE49-F238E27FC236}">
                <a16:creationId xmlns:a16="http://schemas.microsoft.com/office/drawing/2014/main" id="{DBFB7FDB-29E2-44F0-BC49-0E324CE459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4250" y="5157788"/>
          <a:ext cx="345916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公式" r:id="rId5" imgW="1981080" imgH="482400" progId="Equation.3">
                  <p:embed/>
                </p:oleObj>
              </mc:Choice>
              <mc:Fallback>
                <p:oleObj name="公式" r:id="rId5" imgW="198108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5157788"/>
                        <a:ext cx="3459163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TextBox 59">
            <a:extLst>
              <a:ext uri="{FF2B5EF4-FFF2-40B4-BE49-F238E27FC236}">
                <a16:creationId xmlns:a16="http://schemas.microsoft.com/office/drawing/2014/main" id="{36EC4885-0BF5-4043-AA99-A90F2691B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732463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Calibri" panose="020F0502020204030204" pitchFamily="34" charset="0"/>
              </a:rPr>
              <a:t>生成过程</a:t>
            </a:r>
          </a:p>
        </p:txBody>
      </p:sp>
      <p:grpSp>
        <p:nvGrpSpPr>
          <p:cNvPr id="7" name="组合 57">
            <a:extLst>
              <a:ext uri="{FF2B5EF4-FFF2-40B4-BE49-F238E27FC236}">
                <a16:creationId xmlns:a16="http://schemas.microsoft.com/office/drawing/2014/main" id="{F24A1F7F-AEAF-4EF5-BE09-DF0B6AE61F33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06563"/>
            <a:ext cx="5384800" cy="2946400"/>
            <a:chOff x="3276600" y="1196975"/>
            <a:chExt cx="5384800" cy="2946400"/>
          </a:xfrm>
        </p:grpSpPr>
        <p:graphicFrame>
          <p:nvGraphicFramePr>
            <p:cNvPr id="61443" name="Object 3">
              <a:extLst>
                <a:ext uri="{FF2B5EF4-FFF2-40B4-BE49-F238E27FC236}">
                  <a16:creationId xmlns:a16="http://schemas.microsoft.com/office/drawing/2014/main" id="{3ACE7C32-180D-40F7-89B7-03F094AF54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6600" y="1196975"/>
            <a:ext cx="5384800" cy="294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7" name="公式" r:id="rId7" imgW="3581280" imgH="1955520" progId="Equation.3">
                    <p:embed/>
                  </p:oleObj>
                </mc:Choice>
                <mc:Fallback>
                  <p:oleObj name="公式" r:id="rId7" imgW="3581280" imgH="195552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1196975"/>
                          <a:ext cx="5384800" cy="294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83" name="组合 52">
              <a:extLst>
                <a:ext uri="{FF2B5EF4-FFF2-40B4-BE49-F238E27FC236}">
                  <a16:creationId xmlns:a16="http://schemas.microsoft.com/office/drawing/2014/main" id="{415B644B-6061-4944-B250-70479E2B7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7175" y="1484313"/>
              <a:ext cx="2808288" cy="1368425"/>
              <a:chOff x="4067175" y="1484313"/>
              <a:chExt cx="2808288" cy="1368425"/>
            </a:xfrm>
          </p:grpSpPr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6CE9D23D-C962-420F-ADE5-C397F2EC3EDA}"/>
                  </a:ext>
                </a:extLst>
              </p:cNvPr>
              <p:cNvCxnSpPr/>
              <p:nvPr/>
            </p:nvCxnSpPr>
            <p:spPr>
              <a:xfrm rot="5400000">
                <a:off x="4932362" y="1484313"/>
                <a:ext cx="360363" cy="360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00B6AA6E-DE38-4657-ACD6-3E8DBDBD2B69}"/>
                  </a:ext>
                </a:extLst>
              </p:cNvPr>
              <p:cNvCxnSpPr/>
              <p:nvPr/>
            </p:nvCxnSpPr>
            <p:spPr>
              <a:xfrm rot="10800000">
                <a:off x="5435600" y="1484312"/>
                <a:ext cx="423863" cy="3524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C9701D98-6ECB-4A8F-A240-041CFD0CE94D}"/>
                  </a:ext>
                </a:extLst>
              </p:cNvPr>
              <p:cNvCxnSpPr/>
              <p:nvPr/>
            </p:nvCxnSpPr>
            <p:spPr>
              <a:xfrm rot="5400000">
                <a:off x="4067176" y="2492374"/>
                <a:ext cx="360362" cy="36036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41643A48-85F2-4067-9742-06BF3094C823}"/>
                  </a:ext>
                </a:extLst>
              </p:cNvPr>
              <p:cNvCxnSpPr/>
              <p:nvPr/>
            </p:nvCxnSpPr>
            <p:spPr>
              <a:xfrm rot="10800000">
                <a:off x="4572000" y="2492375"/>
                <a:ext cx="423863" cy="3524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FAD433E7-1403-49DE-AA32-F5ADAD26D751}"/>
                  </a:ext>
                </a:extLst>
              </p:cNvPr>
              <p:cNvCxnSpPr/>
              <p:nvPr/>
            </p:nvCxnSpPr>
            <p:spPr>
              <a:xfrm rot="5400000">
                <a:off x="5795963" y="2492375"/>
                <a:ext cx="360362" cy="360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A8B1835A-EF0B-4E5F-A0D7-55CEDA9C65DD}"/>
                  </a:ext>
                </a:extLst>
              </p:cNvPr>
              <p:cNvCxnSpPr/>
              <p:nvPr/>
            </p:nvCxnSpPr>
            <p:spPr>
              <a:xfrm rot="10800000">
                <a:off x="6443663" y="2492375"/>
                <a:ext cx="431800" cy="360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E7B5020D-E7CC-47DC-BD02-48DFFDC29C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052513"/>
          <a:ext cx="7077075" cy="55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文档" r:id="rId4" imgW="3248412" imgH="2559115" progId="Word.Document.8">
                  <p:embed/>
                </p:oleObj>
              </mc:Choice>
              <mc:Fallback>
                <p:oleObj name="文档" r:id="rId4" imgW="3248412" imgH="25591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7077075" cy="557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Rectangle 3">
            <a:extLst>
              <a:ext uri="{FF2B5EF4-FFF2-40B4-BE49-F238E27FC236}">
                <a16:creationId xmlns:a16="http://schemas.microsoft.com/office/drawing/2014/main" id="{B72CE730-C022-4CFC-85A7-A5A50F339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差消法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快速排序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B26E82-CEEA-4B08-B253-97CA60F0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7304B1-E8F6-4B37-BEF8-1EAFCEF2E7C7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46862D9B-0053-401E-A2AA-D88AD952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E03DC1D4-5AD3-4F7F-8808-AA2D9876C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981075"/>
          <a:ext cx="381635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公式" r:id="rId4" imgW="1943100" imgH="609600" progId="Equation.3">
                  <p:embed/>
                </p:oleObj>
              </mc:Choice>
              <mc:Fallback>
                <p:oleObj name="公式" r:id="rId4" imgW="1943100" imgH="60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981075"/>
                        <a:ext cx="381635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4">
            <a:extLst>
              <a:ext uri="{FF2B5EF4-FFF2-40B4-BE49-F238E27FC236}">
                <a16:creationId xmlns:a16="http://schemas.microsoft.com/office/drawing/2014/main" id="{DDAD4D37-04AE-4D37-8B5C-0B05EBFF6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09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AA681A86-1BA1-4949-A370-E2F3C75E1C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133600"/>
          <a:ext cx="5473700" cy="413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公式" r:id="rId6" imgW="2959100" imgH="2235200" progId="Equation.3">
                  <p:embed/>
                </p:oleObj>
              </mc:Choice>
              <mc:Fallback>
                <p:oleObj name="公式" r:id="rId6" imgW="2959100" imgH="2235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133600"/>
                        <a:ext cx="5473700" cy="413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6">
            <a:extLst>
              <a:ext uri="{FF2B5EF4-FFF2-40B4-BE49-F238E27FC236}">
                <a16:creationId xmlns:a16="http://schemas.microsoft.com/office/drawing/2014/main" id="{614AE138-DDFB-4F7A-B780-DF1A32FDC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013" y="115888"/>
            <a:ext cx="822960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平均情况下复杂度分析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B492CA-2412-4048-8B7C-96028A25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2207C1-9C82-4A67-8090-40E5A780257B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44DA6566-9D60-489C-A19E-3033E992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EF09A6F-7458-41F3-938A-1BABEE3CA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5AF32AB5-6835-4931-8DB5-792D13B6F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810000"/>
          <a:ext cx="554355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公式" r:id="rId4" imgW="2184120" imgH="761760" progId="Equation.3">
                  <p:embed/>
                </p:oleObj>
              </mc:Choice>
              <mc:Fallback>
                <p:oleObj name="公式" r:id="rId4" imgW="2184120" imgH="761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810000"/>
                        <a:ext cx="5543550" cy="191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5">
            <a:extLst>
              <a:ext uri="{FF2B5EF4-FFF2-40B4-BE49-F238E27FC236}">
                <a16:creationId xmlns:a16="http://schemas.microsoft.com/office/drawing/2014/main" id="{3923D510-957A-42E4-846E-238E2BCEC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积分近似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DA683C9-8C9D-4EA7-BA17-5C53F762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FCF175-CC63-484D-92E6-7BC3D4C498ED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10246" name="Picture 6" descr="10">
            <a:extLst>
              <a:ext uri="{FF2B5EF4-FFF2-40B4-BE49-F238E27FC236}">
                <a16:creationId xmlns:a16="http://schemas.microsoft.com/office/drawing/2014/main" id="{A3EE8E83-FB3F-4B94-B004-DEFA16FE8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196975"/>
            <a:ext cx="547211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0F182657-DD28-4644-B947-DDAE3F5CC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541338" y="1196975"/>
          <a:ext cx="8429626" cy="497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文档" r:id="rId4" imgW="4118671" imgH="2425809" progId="Word.Document.8">
                  <p:embed/>
                </p:oleObj>
              </mc:Choice>
              <mc:Fallback>
                <p:oleObj name="文档" r:id="rId4" imgW="4118671" imgH="242580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41338" y="1196975"/>
                        <a:ext cx="8429626" cy="497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3">
            <a:extLst>
              <a:ext uri="{FF2B5EF4-FFF2-40B4-BE49-F238E27FC236}">
                <a16:creationId xmlns:a16="http://schemas.microsoft.com/office/drawing/2014/main" id="{88B4A87B-012E-4D4F-9D78-F09490DB7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7" name="Object 4">
            <a:extLst>
              <a:ext uri="{FF2B5EF4-FFF2-40B4-BE49-F238E27FC236}">
                <a16:creationId xmlns:a16="http://schemas.microsoft.com/office/drawing/2014/main" id="{5BA09A1A-05CF-473F-853F-D5382A621E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5516563"/>
          <a:ext cx="33131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公式" r:id="rId6" imgW="1168200" imgH="215640" progId="Equation.3">
                  <p:embed/>
                </p:oleObj>
              </mc:Choice>
              <mc:Fallback>
                <p:oleObj name="公式" r:id="rId6" imgW="11682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516563"/>
                        <a:ext cx="3313112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>
            <a:extLst>
              <a:ext uri="{FF2B5EF4-FFF2-40B4-BE49-F238E27FC236}">
                <a16:creationId xmlns:a16="http://schemas.microsoft.com/office/drawing/2014/main" id="{76A92559-6C49-4CA7-B91B-4E4596B6B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分治算法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DCE01B-796D-4552-A9E9-6B43C743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4C3048-4B58-4663-A67C-AEBD5A7228DE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5E192E98-6BB2-4B24-91F0-5B3CE4FDAB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2022475"/>
          <a:ext cx="7794625" cy="40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文档" r:id="rId4" imgW="4337544" imgH="2274562" progId="Word.Document.8">
                  <p:embed/>
                </p:oleObj>
              </mc:Choice>
              <mc:Fallback>
                <p:oleObj name="文档" r:id="rId4" imgW="4337544" imgH="227456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2022475"/>
                        <a:ext cx="7794625" cy="407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3">
            <a:extLst>
              <a:ext uri="{FF2B5EF4-FFF2-40B4-BE49-F238E27FC236}">
                <a16:creationId xmlns:a16="http://schemas.microsoft.com/office/drawing/2014/main" id="{D96D9F33-B067-48F3-9C76-2267E505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1" name="Object 4">
            <a:extLst>
              <a:ext uri="{FF2B5EF4-FFF2-40B4-BE49-F238E27FC236}">
                <a16:creationId xmlns:a16="http://schemas.microsoft.com/office/drawing/2014/main" id="{50E13C15-AB0A-469D-A1D7-31D3E788C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268413"/>
          <a:ext cx="62595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公式" r:id="rId6" imgW="2311200" imgH="431640" progId="Equation.3">
                  <p:embed/>
                </p:oleObj>
              </mc:Choice>
              <mc:Fallback>
                <p:oleObj name="公式" r:id="rId6" imgW="23112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268413"/>
                        <a:ext cx="6259513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Rectangle 5">
            <a:extLst>
              <a:ext uri="{FF2B5EF4-FFF2-40B4-BE49-F238E27FC236}">
                <a16:creationId xmlns:a16="http://schemas.microsoft.com/office/drawing/2014/main" id="{0C197AF2-5DA2-47AA-9418-A8F4808EE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243682"/>
            <a:ext cx="8388350" cy="647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分治与递归算法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二分检索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1AD127-FC49-4248-9C8E-BE3D7F17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10BE98-65B8-4C50-B620-7BB45C73E776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8CB020A0-0619-4D2B-9FC2-DAF5661299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088" y="1125538"/>
          <a:ext cx="8156575" cy="584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文档" r:id="rId4" imgW="4151375" imgH="2982707" progId="Word.Document.8">
                  <p:embed/>
                </p:oleObj>
              </mc:Choice>
              <mc:Fallback>
                <p:oleObj name="文档" r:id="rId4" imgW="4151375" imgH="298270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1125538"/>
                        <a:ext cx="8156575" cy="584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Rectangle 3">
            <a:extLst>
              <a:ext uri="{FF2B5EF4-FFF2-40B4-BE49-F238E27FC236}">
                <a16:creationId xmlns:a16="http://schemas.microsoft.com/office/drawing/2014/main" id="{B8887166-5C47-40CB-95C5-D97ACFD09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507413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分治与递归算法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归并排序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6888D4-FA0B-4EE6-80AB-EE4437C8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BCF580-E0D5-4DC6-BBAE-FE6310D8A587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3304</TotalTime>
  <Words>173</Words>
  <Application>Microsoft Office PowerPoint</Application>
  <PresentationFormat>全屏显示(4:3)</PresentationFormat>
  <Paragraphs>70</Paragraphs>
  <Slides>14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Calibri</vt:lpstr>
      <vt:lpstr>Symbol</vt:lpstr>
      <vt:lpstr>Times New Roman</vt:lpstr>
      <vt:lpstr>代数结构PPT</vt:lpstr>
      <vt:lpstr>Microsoft Word 文档</vt:lpstr>
      <vt:lpstr>Microsoft Office Word 97 - 2003 文档</vt:lpstr>
      <vt:lpstr>Microsoft 公式 3.0</vt:lpstr>
      <vt:lpstr>22.2 递推方程的其他解法</vt:lpstr>
      <vt:lpstr>换元法</vt:lpstr>
      <vt:lpstr>换元法—归并排序</vt:lpstr>
      <vt:lpstr>迭代归纳法</vt:lpstr>
      <vt:lpstr>迭代归纳法—错位排列</vt:lpstr>
      <vt:lpstr>迭代归纳法—错位排列</vt:lpstr>
      <vt:lpstr>迭代归纳法—递归树</vt:lpstr>
      <vt:lpstr>迭代模型：递归树</vt:lpstr>
      <vt:lpstr>差消法—快速排序</vt:lpstr>
      <vt:lpstr>平均情况下复杂度分析</vt:lpstr>
      <vt:lpstr>积分近似</vt:lpstr>
      <vt:lpstr>分治算法</vt:lpstr>
      <vt:lpstr>分治与递归算法—二分检索</vt:lpstr>
      <vt:lpstr>分治与递归算法—归并排序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323</cp:revision>
  <dcterms:created xsi:type="dcterms:W3CDTF">2005-12-02T07:25:32Z</dcterms:created>
  <dcterms:modified xsi:type="dcterms:W3CDTF">2020-08-09T07:25:14Z</dcterms:modified>
</cp:coreProperties>
</file>