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783" y="471551"/>
            <a:ext cx="117043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477" y="1550493"/>
            <a:ext cx="8507044" cy="4595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98002" y="6473078"/>
            <a:ext cx="2540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789" y="1814626"/>
            <a:ext cx="4903470" cy="185673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43890" marR="5080" indent="-631825">
              <a:lnSpc>
                <a:spcPct val="150200"/>
              </a:lnSpc>
              <a:spcBef>
                <a:spcPts val="90"/>
              </a:spcBef>
            </a:pPr>
            <a:r>
              <a:rPr dirty="0" sz="4000" spc="70"/>
              <a:t>单元</a:t>
            </a:r>
            <a:r>
              <a:rPr dirty="0" sz="4000" spc="-10">
                <a:latin typeface="Calibri"/>
                <a:cs typeface="Calibri"/>
              </a:rPr>
              <a:t>1.4</a:t>
            </a:r>
            <a:r>
              <a:rPr dirty="0" sz="4000" spc="-220">
                <a:latin typeface="Calibri"/>
                <a:cs typeface="Calibri"/>
              </a:rPr>
              <a:t> </a:t>
            </a:r>
            <a:r>
              <a:rPr dirty="0" sz="4000" spc="5"/>
              <a:t>集合的概念及</a:t>
            </a:r>
            <a:r>
              <a:rPr dirty="0" sz="4000" spc="-10"/>
              <a:t>集合之间的关系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955800" y="4052887"/>
            <a:ext cx="5243195" cy="1177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96875">
              <a:lnSpc>
                <a:spcPct val="100000"/>
              </a:lnSpc>
              <a:spcBef>
                <a:spcPts val="110"/>
              </a:spcBef>
              <a:tabLst>
                <a:tab pos="2950210" algn="l"/>
              </a:tabLst>
            </a:pPr>
            <a:r>
              <a:rPr dirty="0" sz="2800" spc="70" b="1">
                <a:solidFill>
                  <a:srgbClr val="7E7E7E"/>
                </a:solidFill>
                <a:latin typeface="Microsoft JhengHei"/>
                <a:cs typeface="Microsoft JhengHei"/>
              </a:rPr>
              <a:t>第一</a:t>
            </a:r>
            <a:r>
              <a:rPr dirty="0" sz="2800" spc="500" b="1">
                <a:solidFill>
                  <a:srgbClr val="7E7E7E"/>
                </a:solidFill>
                <a:latin typeface="Microsoft JhengHei"/>
                <a:cs typeface="Microsoft JhengHei"/>
              </a:rPr>
              <a:t>编</a:t>
            </a:r>
            <a:r>
              <a:rPr dirty="0" sz="2800" spc="70" b="1">
                <a:solidFill>
                  <a:srgbClr val="7E7E7E"/>
                </a:solidFill>
                <a:latin typeface="Microsoft JhengHei"/>
                <a:cs typeface="Microsoft JhengHei"/>
              </a:rPr>
              <a:t>集合</a:t>
            </a:r>
            <a:r>
              <a:rPr dirty="0" sz="2800" spc="-50" b="1">
                <a:solidFill>
                  <a:srgbClr val="7E7E7E"/>
                </a:solidFill>
                <a:latin typeface="Microsoft JhengHei"/>
                <a:cs typeface="Microsoft JhengHei"/>
              </a:rPr>
              <a:t>论</a:t>
            </a:r>
            <a:r>
              <a:rPr dirty="0" sz="2800" b="1">
                <a:solidFill>
                  <a:srgbClr val="7E7E7E"/>
                </a:solidFill>
                <a:latin typeface="Microsoft JhengHei"/>
                <a:cs typeface="Microsoft JhengHei"/>
              </a:rPr>
              <a:t>	</a:t>
            </a:r>
            <a:r>
              <a:rPr dirty="0" sz="2800" spc="70" b="1">
                <a:solidFill>
                  <a:srgbClr val="7E7E7E"/>
                </a:solidFill>
                <a:latin typeface="Microsoft JhengHei"/>
                <a:cs typeface="Microsoft JhengHei"/>
              </a:rPr>
              <a:t>第一</a:t>
            </a:r>
            <a:r>
              <a:rPr dirty="0" sz="2800" spc="500" b="1">
                <a:solidFill>
                  <a:srgbClr val="7E7E7E"/>
                </a:solidFill>
                <a:latin typeface="Microsoft JhengHei"/>
                <a:cs typeface="Microsoft JhengHei"/>
              </a:rPr>
              <a:t>章</a:t>
            </a:r>
            <a:r>
              <a:rPr dirty="0" sz="2800" spc="70" b="1">
                <a:solidFill>
                  <a:srgbClr val="7E7E7E"/>
                </a:solidFill>
                <a:latin typeface="Microsoft JhengHei"/>
                <a:cs typeface="Microsoft JhengHei"/>
              </a:rPr>
              <a:t>集</a:t>
            </a:r>
            <a:r>
              <a:rPr dirty="0" sz="2800" spc="20" b="1">
                <a:solidFill>
                  <a:srgbClr val="7E7E7E"/>
                </a:solidFill>
                <a:latin typeface="Microsoft JhengHei"/>
                <a:cs typeface="Microsoft JhengHei"/>
              </a:rPr>
              <a:t>合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solidFill>
                  <a:srgbClr val="7E7E7E"/>
                </a:solidFill>
                <a:latin typeface="Calibri"/>
                <a:cs typeface="Calibri"/>
              </a:rPr>
              <a:t>1.2</a:t>
            </a:r>
            <a:r>
              <a:rPr dirty="0" sz="2800" spc="1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800" spc="5" b="1">
                <a:solidFill>
                  <a:srgbClr val="7E7E7E"/>
                </a:solidFill>
                <a:latin typeface="Microsoft JhengHei"/>
                <a:cs typeface="Microsoft JhengHei"/>
              </a:rPr>
              <a:t>集合的概念及集合之间的关系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508" y="471551"/>
            <a:ext cx="22961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内</a:t>
            </a:r>
            <a:r>
              <a:rPr dirty="0"/>
              <a:t>容</a:t>
            </a:r>
            <a:r>
              <a:rPr dirty="0"/>
              <a:t>提</a:t>
            </a:r>
            <a:r>
              <a:rPr dirty="0" spc="-50"/>
              <a:t>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2552065" cy="190118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5" b="1">
                <a:latin typeface="Microsoft JhengHei"/>
                <a:cs typeface="Microsoft JhengHei"/>
              </a:rPr>
              <a:t>关于集合论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69500"/>
              </a:lnSpc>
            </a:pPr>
            <a:r>
              <a:rPr dirty="0" sz="2800" spc="10" b="1">
                <a:latin typeface="Microsoft JhengHei"/>
                <a:cs typeface="Microsoft JhengHei"/>
              </a:rPr>
              <a:t>集合的基本概念</a:t>
            </a:r>
            <a:r>
              <a:rPr dirty="0" sz="2800" spc="10" b="1">
                <a:latin typeface="Microsoft JhengHei"/>
                <a:cs typeface="Microsoft JhengHei"/>
              </a:rPr>
              <a:t>集合之间的关系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关</a:t>
            </a:r>
            <a:r>
              <a:rPr dirty="0"/>
              <a:t>于</a:t>
            </a:r>
            <a:r>
              <a:rPr dirty="0"/>
              <a:t>集</a:t>
            </a:r>
            <a:r>
              <a:rPr dirty="0"/>
              <a:t>合</a:t>
            </a:r>
            <a:r>
              <a:rPr dirty="0" spc="-50"/>
              <a:t>论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431163"/>
            <a:ext cx="4728845" cy="2633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31750">
              <a:lnSpc>
                <a:spcPct val="100000"/>
              </a:lnSpc>
              <a:spcBef>
                <a:spcPts val="110"/>
              </a:spcBef>
            </a:pPr>
            <a:r>
              <a:rPr dirty="0" sz="2800" spc="-5" b="1">
                <a:latin typeface="Microsoft JhengHei"/>
                <a:cs typeface="Microsoft JhengHei"/>
              </a:rPr>
              <a:t>集合论是基本的数学描述工具</a:t>
            </a:r>
            <a:endParaRPr sz="2800">
              <a:latin typeface="Microsoft JhengHei"/>
              <a:cs typeface="Microsoft JhengHei"/>
            </a:endParaRPr>
          </a:p>
          <a:p>
            <a:pPr algn="r" marL="283210" marR="5080" indent="-283845">
              <a:lnSpc>
                <a:spcPct val="100000"/>
              </a:lnSpc>
              <a:spcBef>
                <a:spcPts val="2340"/>
              </a:spcBef>
              <a:buFont typeface="Arial"/>
              <a:buChar char="–"/>
              <a:tabLst>
                <a:tab pos="283845" algn="l"/>
              </a:tabLst>
            </a:pPr>
            <a:r>
              <a:rPr dirty="0" sz="2800" spc="10" b="1">
                <a:latin typeface="Microsoft JhengHei"/>
                <a:cs typeface="Microsoft JhengHei"/>
              </a:rPr>
              <a:t>集合是数学中的基本概念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33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15" b="1">
                <a:latin typeface="Microsoft JhengHei"/>
                <a:cs typeface="Microsoft JhengHei"/>
              </a:rPr>
              <a:t>诞生于十九世纪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40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25" b="1">
                <a:latin typeface="Microsoft JhengHei"/>
                <a:cs typeface="Microsoft JhengHei"/>
              </a:rPr>
              <a:t>创始人是康托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4334192"/>
            <a:ext cx="183705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30" b="1">
                <a:latin typeface="Microsoft JhengHei"/>
                <a:cs typeface="Microsoft JhengHei"/>
              </a:rPr>
              <a:t>集合论体系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4079" y="5057457"/>
            <a:ext cx="4382770" cy="11868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10"/>
              </a:spcBef>
              <a:buFont typeface="Arial"/>
              <a:buChar char="–"/>
              <a:tabLst>
                <a:tab pos="296545" algn="l"/>
              </a:tabLst>
            </a:pPr>
            <a:r>
              <a:rPr dirty="0" sz="2800" spc="40" b="1">
                <a:latin typeface="Microsoft JhengHei"/>
                <a:cs typeface="Microsoft JhengHei"/>
              </a:rPr>
              <a:t>朴素集合论</a:t>
            </a:r>
            <a:r>
              <a:rPr dirty="0" sz="2800" b="1">
                <a:latin typeface="Microsoft JhengHei"/>
                <a:cs typeface="Microsoft JhengHei"/>
              </a:rPr>
              <a:t>（</a:t>
            </a:r>
            <a:r>
              <a:rPr dirty="0" sz="2800" spc="35" b="1">
                <a:latin typeface="Microsoft JhengHei"/>
                <a:cs typeface="Microsoft JhengHei"/>
              </a:rPr>
              <a:t>教材</a:t>
            </a:r>
            <a:r>
              <a:rPr dirty="0" sz="2800" spc="-35" b="1">
                <a:latin typeface="Calibri"/>
                <a:cs typeface="Calibri"/>
              </a:rPr>
              <a:t>1-</a:t>
            </a:r>
            <a:r>
              <a:rPr dirty="0" sz="2800" b="1">
                <a:latin typeface="Calibri"/>
                <a:cs typeface="Calibri"/>
              </a:rPr>
              <a:t>6</a:t>
            </a:r>
            <a:r>
              <a:rPr dirty="0" sz="2800" b="1">
                <a:latin typeface="Microsoft JhengHei"/>
                <a:cs typeface="Microsoft JhengHei"/>
              </a:rPr>
              <a:t>章</a:t>
            </a:r>
            <a:r>
              <a:rPr dirty="0" sz="2800" spc="-50" b="1"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  <a:p>
            <a:pPr marL="295910" indent="-283845">
              <a:lnSpc>
                <a:spcPct val="100000"/>
              </a:lnSpc>
              <a:spcBef>
                <a:spcPts val="2405"/>
              </a:spcBef>
              <a:buFont typeface="Arial"/>
              <a:buChar char="–"/>
              <a:tabLst>
                <a:tab pos="296545" algn="l"/>
              </a:tabLst>
            </a:pPr>
            <a:r>
              <a:rPr dirty="0" sz="2800" spc="25" b="1">
                <a:latin typeface="Microsoft JhengHei"/>
                <a:cs typeface="Microsoft JhengHei"/>
              </a:rPr>
              <a:t>公理集合论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3911" y="1609344"/>
            <a:ext cx="2377440" cy="282549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049771" y="4584255"/>
            <a:ext cx="275336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90" b="1">
                <a:latin typeface="Microsoft JhengHei"/>
                <a:cs typeface="Microsoft JhengHei"/>
              </a:rPr>
              <a:t>康</a:t>
            </a:r>
            <a:r>
              <a:rPr dirty="0" sz="2350" spc="90" b="1">
                <a:latin typeface="Microsoft JhengHei"/>
                <a:cs typeface="Microsoft JhengHei"/>
              </a:rPr>
              <a:t>托</a:t>
            </a:r>
            <a:r>
              <a:rPr dirty="0" sz="2350" spc="-10" b="1">
                <a:latin typeface="Microsoft JhengHei"/>
                <a:cs typeface="Microsoft JhengHei"/>
              </a:rPr>
              <a:t>（</a:t>
            </a:r>
            <a:r>
              <a:rPr dirty="0" sz="2350" spc="-10" b="1">
                <a:latin typeface="Arial"/>
                <a:cs typeface="Arial"/>
              </a:rPr>
              <a:t>1845~1918</a:t>
            </a:r>
            <a:r>
              <a:rPr dirty="0" sz="2350" spc="-10" b="1">
                <a:latin typeface="Microsoft JhengHei"/>
                <a:cs typeface="Microsoft JhengHei"/>
              </a:rPr>
              <a:t>）</a:t>
            </a:r>
            <a:endParaRPr sz="2350">
              <a:latin typeface="Microsoft JhengHei"/>
              <a:cs typeface="Microsoft JhengHe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 spc="-50"/>
              <a:t>合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30047" y="1763395"/>
            <a:ext cx="7613650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5" b="1">
                <a:latin typeface="Microsoft JhengHei"/>
                <a:cs typeface="Microsoft JhengHei"/>
              </a:rPr>
              <a:t>在朴素集合论中，不能精确地定义什么是</a:t>
            </a:r>
            <a:r>
              <a:rPr dirty="0" sz="2800" spc="204" b="1">
                <a:solidFill>
                  <a:srgbClr val="FF0000"/>
                </a:solidFill>
                <a:latin typeface="Microsoft JhengHei"/>
                <a:cs typeface="Microsoft JhengHei"/>
              </a:rPr>
              <a:t>集合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 marR="68580" indent="5344795">
              <a:lnSpc>
                <a:spcPct val="169500"/>
              </a:lnSpc>
            </a:pPr>
            <a:r>
              <a:rPr dirty="0" sz="2800" spc="70" b="1">
                <a:latin typeface="Microsoft JhengHei"/>
                <a:cs typeface="Microsoft JhengHei"/>
              </a:rPr>
              <a:t>（为什么</a:t>
            </a:r>
            <a:r>
              <a:rPr dirty="0" sz="2800" spc="-25" b="1">
                <a:latin typeface="Microsoft JhengHei"/>
                <a:cs typeface="Microsoft JhengHei"/>
              </a:rPr>
              <a:t>？）</a:t>
            </a:r>
            <a:r>
              <a:rPr dirty="0" sz="2800" spc="15" b="1">
                <a:latin typeface="Microsoft JhengHei"/>
                <a:cs typeface="Microsoft JhengHei"/>
              </a:rPr>
              <a:t>人们用大写英文字母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A,B,C,…</a:t>
            </a:r>
            <a:r>
              <a:rPr dirty="0" sz="2800" b="1">
                <a:latin typeface="Microsoft JhengHei"/>
                <a:cs typeface="Microsoft JhengHei"/>
              </a:rPr>
              <a:t>表示集合；</a:t>
            </a:r>
            <a:endParaRPr sz="2800">
              <a:latin typeface="Microsoft JhengHei"/>
              <a:cs typeface="Microsoft JhengHei"/>
            </a:endParaRPr>
          </a:p>
          <a:p>
            <a:pPr marL="12700" marR="691515">
              <a:lnSpc>
                <a:spcPct val="169500"/>
              </a:lnSpc>
              <a:spcBef>
                <a:spcPts val="75"/>
              </a:spcBef>
            </a:pPr>
            <a:r>
              <a:rPr dirty="0" sz="2800" spc="20" b="1">
                <a:latin typeface="Microsoft JhengHei"/>
                <a:cs typeface="Microsoft JhengHei"/>
              </a:rPr>
              <a:t>用小写英文字母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a,b,c,…</a:t>
            </a:r>
            <a:r>
              <a:rPr dirty="0" sz="2800" b="1">
                <a:latin typeface="Microsoft JhengHei"/>
                <a:cs typeface="Microsoft JhengHei"/>
              </a:rPr>
              <a:t>表示集合中的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元素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65" b="1">
                <a:latin typeface="Microsoft JhengHei"/>
                <a:cs typeface="Microsoft JhengHei"/>
              </a:rPr>
              <a:t>表示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是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15" b="1">
                <a:latin typeface="Microsoft JhengHei"/>
                <a:cs typeface="Microsoft JhengHei"/>
              </a:rPr>
              <a:t>的元素，读作“</a:t>
            </a:r>
            <a:r>
              <a:rPr dirty="0" sz="2800" spc="-15" b="1"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属于</a:t>
            </a:r>
            <a:r>
              <a:rPr dirty="0" sz="2800" spc="-25" b="1">
                <a:latin typeface="Calibri"/>
                <a:cs typeface="Calibri"/>
              </a:rPr>
              <a:t>A</a:t>
            </a:r>
            <a:r>
              <a:rPr dirty="0" sz="2800" spc="-25" b="1">
                <a:latin typeface="Microsoft JhengHei"/>
                <a:cs typeface="Microsoft JhengHei"/>
              </a:rPr>
              <a:t>”；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2800" spc="70" b="1">
                <a:latin typeface="Microsoft JhengHei"/>
                <a:cs typeface="Microsoft JhengHei"/>
              </a:rPr>
              <a:t>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35" b="1">
                <a:latin typeface="Microsoft JhengHei"/>
                <a:cs typeface="Microsoft JhengHei"/>
              </a:rPr>
              <a:t>表示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不是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的元素，读作“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20" b="1">
                <a:latin typeface="Microsoft JhengHei"/>
                <a:cs typeface="Microsoft JhengHei"/>
              </a:rPr>
              <a:t>不属于</a:t>
            </a:r>
            <a:r>
              <a:rPr dirty="0" sz="2800" spc="-30" b="1">
                <a:latin typeface="Calibri"/>
                <a:cs typeface="Calibri"/>
              </a:rPr>
              <a:t>A</a:t>
            </a:r>
            <a:r>
              <a:rPr dirty="0" sz="2800" spc="-40" b="1">
                <a:latin typeface="Microsoft JhengHei"/>
                <a:cs typeface="Microsoft JhengHei"/>
              </a:rPr>
              <a:t>”。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的</a:t>
            </a:r>
            <a:r>
              <a:rPr dirty="0"/>
              <a:t>表</a:t>
            </a:r>
            <a:r>
              <a:rPr dirty="0" spc="-50"/>
              <a:t>示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6520" marR="27940">
              <a:lnSpc>
                <a:spcPct val="150200"/>
              </a:lnSpc>
              <a:spcBef>
                <a:spcPts val="100"/>
              </a:spcBef>
              <a:buClr>
                <a:srgbClr val="000000"/>
              </a:buClr>
              <a:buFont typeface="Calibri"/>
              <a:buAutoNum type="arabicParenBoth"/>
              <a:tabLst>
                <a:tab pos="582930" algn="l"/>
              </a:tabLst>
            </a:pPr>
            <a:r>
              <a:rPr dirty="0" spc="65">
                <a:solidFill>
                  <a:srgbClr val="FF0000"/>
                </a:solidFill>
              </a:rPr>
              <a:t>列举法</a:t>
            </a:r>
            <a:r>
              <a:rPr dirty="0" spc="-20"/>
              <a:t>：列出集合中的全体元素，元素之间用逗号</a:t>
            </a:r>
            <a:r>
              <a:rPr dirty="0" spc="-5"/>
              <a:t>分开，然后用花括号括起来，例如，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A={a,b,c,d}</a:t>
            </a:r>
            <a:r>
              <a:rPr dirty="0" spc="-10"/>
              <a:t>， 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B={2,4,6,…}</a:t>
            </a:r>
            <a:r>
              <a:rPr dirty="0" spc="-50"/>
              <a:t>。</a:t>
            </a:r>
          </a:p>
          <a:p>
            <a:pPr marL="96520" marR="17780">
              <a:lnSpc>
                <a:spcPct val="150200"/>
              </a:lnSpc>
              <a:spcBef>
                <a:spcPts val="650"/>
              </a:spcBef>
              <a:buClr>
                <a:srgbClr val="000000"/>
              </a:buClr>
              <a:buFont typeface="Calibri"/>
              <a:buAutoNum type="arabicParenBoth"/>
              <a:tabLst>
                <a:tab pos="582930" algn="l"/>
                <a:tab pos="3987165" algn="l"/>
              </a:tabLst>
            </a:pPr>
            <a:r>
              <a:rPr dirty="0" spc="70">
                <a:solidFill>
                  <a:srgbClr val="FF0000"/>
                </a:solidFill>
              </a:rPr>
              <a:t>描述法</a:t>
            </a:r>
            <a:r>
              <a:rPr dirty="0"/>
              <a:t>：用谓</a:t>
            </a:r>
            <a:r>
              <a:rPr dirty="0" spc="-10"/>
              <a:t>词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P(x)</a:t>
            </a:r>
            <a:r>
              <a:rPr dirty="0"/>
              <a:t>表示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/>
              <a:t>具有性</a:t>
            </a:r>
            <a:r>
              <a:rPr dirty="0" spc="65"/>
              <a:t>质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spc="-18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pc="70"/>
              <a:t>，用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{x|P(x)}</a:t>
            </a:r>
            <a:r>
              <a:rPr dirty="0" spc="-50"/>
              <a:t>表</a:t>
            </a:r>
            <a:r>
              <a:rPr dirty="0" spc="70"/>
              <a:t>示具有</a:t>
            </a:r>
            <a:r>
              <a:rPr dirty="0"/>
              <a:t>性</a:t>
            </a:r>
            <a:r>
              <a:rPr dirty="0" spc="425"/>
              <a:t>质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spc="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pc="65"/>
              <a:t>的集合</a:t>
            </a:r>
            <a:r>
              <a:rPr dirty="0" spc="-50"/>
              <a:t>。</a:t>
            </a:r>
            <a:r>
              <a:rPr dirty="0"/>
              <a:t>	</a:t>
            </a:r>
            <a:r>
              <a:rPr dirty="0" spc="65"/>
              <a:t>例如</a:t>
            </a:r>
            <a:r>
              <a:rPr dirty="0"/>
              <a:t>，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baseline="-19519" sz="2775" spc="-187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6FC0"/>
                </a:solidFill>
                <a:latin typeface="Calibri"/>
                <a:cs typeface="Calibri"/>
              </a:rPr>
              <a:t>(x)</a:t>
            </a:r>
            <a:r>
              <a:rPr dirty="0" sz="2800">
                <a:latin typeface="Calibri"/>
                <a:cs typeface="Calibri"/>
              </a:rPr>
              <a:t>: x</a:t>
            </a:r>
            <a:r>
              <a:rPr dirty="0" sz="2800" spc="70"/>
              <a:t>是英文</a:t>
            </a:r>
            <a:r>
              <a:rPr dirty="0" sz="2800"/>
              <a:t>字母</a:t>
            </a:r>
            <a:r>
              <a:rPr dirty="0" sz="2800" spc="-50"/>
              <a:t>， </a:t>
            </a:r>
            <a:r>
              <a:rPr dirty="0" sz="280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>
                <a:solidFill>
                  <a:srgbClr val="006FC0"/>
                </a:solidFill>
                <a:latin typeface="Calibri"/>
                <a:cs typeface="Calibri"/>
              </a:rPr>
              <a:t>2 </a:t>
            </a:r>
            <a:r>
              <a:rPr dirty="0" sz="2800">
                <a:solidFill>
                  <a:srgbClr val="006FC0"/>
                </a:solidFill>
                <a:latin typeface="Calibri"/>
                <a:cs typeface="Calibri"/>
              </a:rPr>
              <a:t>(x)</a:t>
            </a:r>
            <a:r>
              <a:rPr dirty="0" sz="2800">
                <a:latin typeface="Calibri"/>
                <a:cs typeface="Calibri"/>
              </a:rPr>
              <a:t>: x</a:t>
            </a:r>
            <a:r>
              <a:rPr dirty="0" sz="2800" spc="65"/>
              <a:t>是十进</a:t>
            </a:r>
            <a:r>
              <a:rPr dirty="0" sz="2800"/>
              <a:t>制数字</a:t>
            </a:r>
            <a:r>
              <a:rPr dirty="0" sz="2800" spc="-10"/>
              <a:t>，</a:t>
            </a:r>
            <a:r>
              <a:rPr dirty="0" sz="2800" spc="-10">
                <a:solidFill>
                  <a:srgbClr val="006FC0"/>
                </a:solidFill>
                <a:latin typeface="Calibri"/>
                <a:cs typeface="Calibri"/>
              </a:rPr>
              <a:t>C={x|P</a:t>
            </a:r>
            <a:r>
              <a:rPr dirty="0" baseline="-19519" sz="2775" spc="-15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baseline="-19519" sz="2775" spc="-217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6FC0"/>
                </a:solidFill>
                <a:latin typeface="Calibri"/>
                <a:cs typeface="Calibri"/>
              </a:rPr>
              <a:t>(x)}</a:t>
            </a:r>
            <a:r>
              <a:rPr dirty="0" sz="28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65"/>
              <a:t>表</a:t>
            </a:r>
            <a:r>
              <a:rPr dirty="0" sz="2800" spc="70"/>
              <a:t>示</a:t>
            </a:r>
            <a:r>
              <a:rPr dirty="0" sz="2800">
                <a:latin typeface="Calibri"/>
                <a:cs typeface="Calibri"/>
              </a:rPr>
              <a:t>26</a:t>
            </a:r>
            <a:r>
              <a:rPr dirty="0" sz="2800" spc="65"/>
              <a:t>个</a:t>
            </a:r>
            <a:r>
              <a:rPr dirty="0" sz="2800"/>
              <a:t>英文字</a:t>
            </a:r>
            <a:r>
              <a:rPr dirty="0" sz="2800" spc="-50"/>
              <a:t>母</a:t>
            </a:r>
            <a:r>
              <a:rPr dirty="0" sz="2800" spc="70"/>
              <a:t>的集合</a:t>
            </a:r>
            <a:r>
              <a:rPr dirty="0" sz="2800" spc="-10"/>
              <a:t>，</a:t>
            </a:r>
            <a:r>
              <a:rPr dirty="0" sz="2800" spc="-10">
                <a:solidFill>
                  <a:srgbClr val="006FC0"/>
                </a:solidFill>
                <a:latin typeface="Calibri"/>
                <a:cs typeface="Calibri"/>
              </a:rPr>
              <a:t>D={x|P</a:t>
            </a:r>
            <a:r>
              <a:rPr dirty="0" baseline="-19519" sz="2775" spc="-15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10">
                <a:solidFill>
                  <a:srgbClr val="006FC0"/>
                </a:solidFill>
                <a:latin typeface="Calibri"/>
                <a:cs typeface="Calibri"/>
              </a:rPr>
              <a:t>(x)}</a:t>
            </a:r>
            <a:r>
              <a:rPr dirty="0" sz="2800" spc="-1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70"/>
              <a:t>表示</a:t>
            </a:r>
            <a:r>
              <a:rPr dirty="0" sz="2800">
                <a:latin typeface="Calibri"/>
                <a:cs typeface="Calibri"/>
              </a:rPr>
              <a:t>10</a:t>
            </a:r>
            <a:r>
              <a:rPr dirty="0" sz="2800" spc="70"/>
              <a:t>个</a:t>
            </a:r>
            <a:r>
              <a:rPr dirty="0" sz="2800"/>
              <a:t>十进制数字的集合</a:t>
            </a:r>
            <a:r>
              <a:rPr dirty="0" sz="2800" spc="-50"/>
              <a:t>。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0061" y="471551"/>
            <a:ext cx="50927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表</a:t>
            </a:r>
            <a:r>
              <a:rPr dirty="0"/>
              <a:t>示</a:t>
            </a:r>
            <a:r>
              <a:rPr dirty="0" spc="-25"/>
              <a:t>的注</a:t>
            </a:r>
            <a:r>
              <a:rPr dirty="0" spc="-50"/>
              <a:t>意</a:t>
            </a:r>
            <a:r>
              <a:rPr dirty="0" spc="-50"/>
              <a:t>事</a:t>
            </a:r>
            <a:r>
              <a:rPr dirty="0" spc="-50"/>
              <a:t>项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6167120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97205" indent="-485140">
              <a:lnSpc>
                <a:spcPct val="100000"/>
              </a:lnSpc>
              <a:spcBef>
                <a:spcPts val="11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z="2800" spc="-5" b="1">
                <a:latin typeface="Microsoft JhengHei"/>
                <a:cs typeface="Microsoft JhengHei"/>
              </a:rPr>
              <a:t>集合中的元素是各不相同的。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2335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z="2800" spc="5" b="1">
                <a:latin typeface="Microsoft JhengHei"/>
                <a:cs typeface="Microsoft JhengHei"/>
              </a:rPr>
              <a:t>集合中的元素不规定顺序。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234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z="2800" spc="-10" b="1">
                <a:latin typeface="Microsoft JhengHei"/>
                <a:cs typeface="Microsoft JhengHei"/>
              </a:rPr>
              <a:t>集合的两种表示法可以互相转化，</a:t>
            </a:r>
            <a:endParaRPr sz="2800">
              <a:latin typeface="Microsoft JhengHei"/>
              <a:cs typeface="Microsoft JhengHei"/>
            </a:endParaRPr>
          </a:p>
          <a:p>
            <a:pPr marL="415290" marR="5080">
              <a:lnSpc>
                <a:spcPct val="169500"/>
              </a:lnSpc>
              <a:spcBef>
                <a:spcPts val="70"/>
              </a:spcBef>
              <a:tabLst>
                <a:tab pos="365506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例如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spc="-145" b="1">
                <a:latin typeface="Microsoft JhengHei"/>
                <a:cs typeface="Microsoft JhengHei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B={2,4,6,…}</a:t>
            </a:r>
            <a:r>
              <a:rPr dirty="0" sz="2800" spc="65" b="1">
                <a:latin typeface="Microsoft JhengHei"/>
                <a:cs typeface="Microsoft JhengHei"/>
              </a:rPr>
              <a:t>可用描述</a:t>
            </a:r>
            <a:r>
              <a:rPr dirty="0" sz="2800" b="1">
                <a:latin typeface="Microsoft JhengHei"/>
                <a:cs typeface="Microsoft JhengHei"/>
              </a:rPr>
              <a:t>法表示</a:t>
            </a:r>
            <a:r>
              <a:rPr dirty="0" sz="2800" spc="-50" b="1">
                <a:latin typeface="Microsoft JhengHei"/>
                <a:cs typeface="Microsoft JhengHei"/>
              </a:rPr>
              <a:t>为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B={x|x&gt;0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且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65" b="1">
                <a:solidFill>
                  <a:srgbClr val="006FC0"/>
                </a:solidFill>
                <a:latin typeface="Microsoft JhengHei"/>
                <a:cs typeface="Microsoft JhengHei"/>
              </a:rPr>
              <a:t>是偶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数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dirty="0" sz="2800" spc="-50" b="1">
                <a:latin typeface="Microsoft JhengHei"/>
                <a:cs typeface="Microsoft JhengHei"/>
              </a:rPr>
              <a:t>或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B={x|x=2(k+1),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为非负</a:t>
            </a:r>
            <a:r>
              <a:rPr dirty="0" sz="2800" b="1">
                <a:solidFill>
                  <a:srgbClr val="006FC0"/>
                </a:solidFill>
                <a:latin typeface="Microsoft JhengHei"/>
                <a:cs typeface="Microsoft JhengHei"/>
              </a:rPr>
              <a:t>整数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常</a:t>
            </a:r>
            <a:r>
              <a:rPr dirty="0"/>
              <a:t>用</a:t>
            </a:r>
            <a:r>
              <a:rPr dirty="0"/>
              <a:t>的</a:t>
            </a:r>
            <a:r>
              <a:rPr dirty="0"/>
              <a:t>数</a:t>
            </a:r>
            <a:r>
              <a:rPr dirty="0" spc="-50"/>
              <a:t>集</a:t>
            </a:r>
            <a:r>
              <a:rPr dirty="0" spc="-50"/>
              <a:t>合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46887" y="1901253"/>
            <a:ext cx="7331709" cy="340232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12720" algn="l"/>
              </a:tabLst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b="1">
                <a:latin typeface="Microsoft JhengHei"/>
                <a:cs typeface="Microsoft JhengHei"/>
              </a:rPr>
              <a:t>：</a:t>
            </a:r>
            <a:r>
              <a:rPr dirty="0" sz="2800" spc="70" b="1">
                <a:latin typeface="Microsoft JhengHei"/>
                <a:cs typeface="Microsoft JhengHei"/>
              </a:rPr>
              <a:t>自</a:t>
            </a:r>
            <a:r>
              <a:rPr dirty="0" sz="2800" b="1">
                <a:latin typeface="Microsoft JhengHei"/>
                <a:cs typeface="Microsoft JhengHei"/>
              </a:rPr>
              <a:t>然</a:t>
            </a:r>
            <a:r>
              <a:rPr dirty="0" sz="2800" spc="70" b="1">
                <a:latin typeface="Microsoft JhengHei"/>
                <a:cs typeface="Microsoft JhengHei"/>
              </a:rPr>
              <a:t>数</a:t>
            </a:r>
            <a:r>
              <a:rPr dirty="0" sz="2800" b="1">
                <a:latin typeface="Microsoft JhengHei"/>
                <a:cs typeface="Microsoft JhengHei"/>
              </a:rPr>
              <a:t>集</a:t>
            </a:r>
            <a:r>
              <a:rPr dirty="0" sz="2800" spc="-50" b="1">
                <a:latin typeface="Microsoft JhengHei"/>
                <a:cs typeface="Microsoft JhengHei"/>
              </a:rPr>
              <a:t>合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N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{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spc="-10" b="1">
                <a:latin typeface="Calibri"/>
                <a:cs typeface="Calibri"/>
              </a:rPr>
              <a:t>,1,2,3,…}</a:t>
            </a:r>
            <a:endParaRPr sz="2800">
              <a:latin typeface="Calibri"/>
              <a:cs typeface="Calibri"/>
            </a:endParaRPr>
          </a:p>
          <a:p>
            <a:pPr marL="49530">
              <a:lnSpc>
                <a:spcPct val="100000"/>
              </a:lnSpc>
              <a:spcBef>
                <a:spcPts val="2695"/>
              </a:spcBef>
              <a:tabLst>
                <a:tab pos="2328545" algn="l"/>
              </a:tabLst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z="2800" b="1">
                <a:latin typeface="Microsoft JhengHei"/>
                <a:cs typeface="Microsoft JhengHei"/>
              </a:rPr>
              <a:t>：</a:t>
            </a:r>
            <a:r>
              <a:rPr dirty="0" sz="2800" spc="70" b="1">
                <a:latin typeface="Microsoft JhengHei"/>
                <a:cs typeface="Microsoft JhengHei"/>
              </a:rPr>
              <a:t>整</a:t>
            </a:r>
            <a:r>
              <a:rPr dirty="0" sz="2800" b="1">
                <a:latin typeface="Microsoft JhengHei"/>
                <a:cs typeface="Microsoft JhengHei"/>
              </a:rPr>
              <a:t>数集</a:t>
            </a:r>
            <a:r>
              <a:rPr dirty="0" sz="2800" spc="-50" b="1">
                <a:latin typeface="Microsoft JhengHei"/>
                <a:cs typeface="Microsoft JhengHei"/>
              </a:rPr>
              <a:t>合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Z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{0,</a:t>
            </a:r>
            <a:r>
              <a:rPr dirty="0" sz="2800" b="1">
                <a:latin typeface="Symbol"/>
                <a:cs typeface="Symbol"/>
              </a:rPr>
              <a:t></a:t>
            </a:r>
            <a:r>
              <a:rPr dirty="0" sz="2800" b="1">
                <a:latin typeface="Calibri"/>
                <a:cs typeface="Calibri"/>
              </a:rPr>
              <a:t>1,</a:t>
            </a:r>
            <a:r>
              <a:rPr dirty="0" sz="2800" b="1">
                <a:latin typeface="Symbol"/>
                <a:cs typeface="Symbol"/>
              </a:rPr>
              <a:t></a:t>
            </a:r>
            <a:r>
              <a:rPr dirty="0" sz="2800" b="1">
                <a:latin typeface="Calibri"/>
                <a:cs typeface="Calibri"/>
              </a:rPr>
              <a:t>2,…}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{…,-</a:t>
            </a:r>
            <a:r>
              <a:rPr dirty="0" sz="2800" b="1">
                <a:latin typeface="Calibri"/>
                <a:cs typeface="Calibri"/>
              </a:rPr>
              <a:t>2,-</a:t>
            </a:r>
            <a:r>
              <a:rPr dirty="0" sz="2800" spc="-10" b="1">
                <a:latin typeface="Calibri"/>
                <a:cs typeface="Calibri"/>
              </a:rPr>
              <a:t>1,0,1,2,…}</a:t>
            </a:r>
            <a:endParaRPr sz="2800">
              <a:latin typeface="Calibri"/>
              <a:cs typeface="Calibri"/>
            </a:endParaRPr>
          </a:p>
          <a:p>
            <a:pPr marL="4953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dirty="0" sz="2800" spc="5" b="1">
                <a:latin typeface="Microsoft JhengHei"/>
                <a:cs typeface="Microsoft JhengHei"/>
              </a:rPr>
              <a:t>：有理数集合</a:t>
            </a:r>
            <a:endParaRPr sz="2800">
              <a:latin typeface="Microsoft JhengHei"/>
              <a:cs typeface="Microsoft JhengHei"/>
            </a:endParaRPr>
          </a:p>
          <a:p>
            <a:pPr marL="49530" marR="5260340">
              <a:lnSpc>
                <a:spcPct val="169500"/>
              </a:lnSpc>
              <a:spcBef>
                <a:spcPts val="70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dirty="0" sz="2800" spc="10" b="1">
                <a:latin typeface="Microsoft JhengHei"/>
                <a:cs typeface="Microsoft JhengHei"/>
              </a:rPr>
              <a:t>：实数集合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dirty="0" sz="2800" b="1">
                <a:latin typeface="Microsoft JhengHei"/>
                <a:cs typeface="Microsoft JhengHei"/>
              </a:rPr>
              <a:t>：复数集合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370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之</a:t>
            </a:r>
            <a:r>
              <a:rPr dirty="0"/>
              <a:t>间</a:t>
            </a:r>
            <a:r>
              <a:rPr dirty="0" spc="-35"/>
              <a:t>的关系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8318500" cy="4678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8290">
              <a:lnSpc>
                <a:spcPct val="150200"/>
              </a:lnSpc>
              <a:spcBef>
                <a:spcPts val="100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b="1">
                <a:latin typeface="Microsoft JhengHei"/>
                <a:cs typeface="Microsoft JhengHei"/>
              </a:rPr>
              <a:t>1.1</a:t>
            </a:r>
            <a:r>
              <a:rPr dirty="0" sz="2800" spc="10" b="1">
                <a:latin typeface="Microsoft JhengHei"/>
                <a:cs typeface="Microsoft JhengHei"/>
              </a:rPr>
              <a:t> 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15" b="1">
                <a:latin typeface="Microsoft JhengHei"/>
                <a:cs typeface="Microsoft JhengHei"/>
              </a:rPr>
              <a:t>为二集合，若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中的元素都是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5" b="1">
                <a:latin typeface="Microsoft JhengHei"/>
                <a:cs typeface="Microsoft JhengHei"/>
              </a:rPr>
              <a:t>中的元</a:t>
            </a:r>
            <a:r>
              <a:rPr dirty="0" sz="2800" spc="50" b="1">
                <a:latin typeface="Microsoft JhengHei"/>
                <a:cs typeface="Microsoft JhengHei"/>
              </a:rPr>
              <a:t>素，则称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是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子集</a:t>
            </a:r>
            <a:r>
              <a:rPr dirty="0" sz="2800" b="1">
                <a:latin typeface="Microsoft JhengHei"/>
                <a:cs typeface="Microsoft JhengHei"/>
              </a:rPr>
              <a:t>，也称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包含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solidFill>
                  <a:srgbClr val="006FC0"/>
                </a:solidFill>
                <a:latin typeface="Microsoft JhengHei"/>
                <a:cs typeface="Microsoft JhengHei"/>
              </a:rPr>
              <a:t>，</a:t>
            </a:r>
            <a:r>
              <a:rPr dirty="0" sz="2800" spc="-10" b="1">
                <a:latin typeface="Microsoft JhengHei"/>
                <a:cs typeface="Microsoft JhengHei"/>
              </a:rPr>
              <a:t>或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" b="1">
                <a:latin typeface="Microsoft JhengHei"/>
                <a:cs typeface="Microsoft JhengHei"/>
              </a:rPr>
              <a:t>包含于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5" b="1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  <a:tabLst>
                <a:tab pos="450659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记</a:t>
            </a:r>
            <a:r>
              <a:rPr dirty="0" sz="2800" spc="70" b="1">
                <a:latin typeface="Microsoft JhengHei"/>
                <a:cs typeface="Microsoft JhengHei"/>
              </a:rPr>
              <a:t>作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Microsoft JhengHei"/>
                <a:cs typeface="Microsoft JhengHei"/>
              </a:rPr>
              <a:t>其符号化形式</a:t>
            </a:r>
            <a:r>
              <a:rPr dirty="0" sz="2800" spc="-50" b="1">
                <a:latin typeface="Microsoft JhengHei"/>
                <a:cs typeface="Microsoft JhengHei"/>
              </a:rPr>
              <a:t>为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3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x(x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A)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70" b="1">
                <a:latin typeface="Microsoft JhengHei"/>
                <a:cs typeface="Microsoft JhengHei"/>
              </a:rPr>
              <a:t>不是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85" b="1">
                <a:latin typeface="Microsoft JhengHei"/>
                <a:cs typeface="Microsoft JhengHei"/>
              </a:rPr>
              <a:t>的子集，则记作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u="sng" sz="2800" spc="-10" b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Symbol"/>
                <a:cs typeface="Symbol"/>
              </a:rPr>
              <a:t>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，其符号化形式为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u="sng" sz="2800" b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Symbol"/>
                <a:cs typeface="Symbol"/>
              </a:rPr>
              <a:t>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7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x(x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 marR="572135">
              <a:lnSpc>
                <a:spcPct val="150200"/>
              </a:lnSpc>
              <a:spcBef>
                <a:spcPts val="645"/>
              </a:spcBef>
            </a:pPr>
            <a:r>
              <a:rPr dirty="0" sz="2800" spc="204" b="1">
                <a:latin typeface="Microsoft JhengHei"/>
                <a:cs typeface="Microsoft JhengHei"/>
              </a:rPr>
              <a:t>例：设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A={a,b,c}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B={a,b,c,d}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C={a,b}</a:t>
            </a:r>
            <a:r>
              <a:rPr dirty="0" sz="2800" spc="35" b="1">
                <a:latin typeface="Microsoft JhengHei"/>
                <a:cs typeface="Microsoft JhengHei"/>
              </a:rPr>
              <a:t>，则 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0" b="1">
                <a:solidFill>
                  <a:srgbClr val="006FC0"/>
                </a:solidFill>
                <a:latin typeface="Microsoft JhengHei"/>
                <a:cs typeface="Microsoft JhengHei"/>
              </a:rPr>
              <a:t>，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相</a:t>
            </a:r>
            <a:r>
              <a:rPr dirty="0" spc="-50"/>
              <a:t>等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11175" y="1550493"/>
            <a:ext cx="8378190" cy="275526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90"/>
              </a:spcBef>
              <a:tabLst>
                <a:tab pos="1474470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义</a:t>
            </a:r>
            <a:r>
              <a:rPr dirty="0" sz="2800" spc="-25" b="1">
                <a:latin typeface="Microsoft JhengHei"/>
                <a:cs typeface="Microsoft JhengHei"/>
              </a:rPr>
              <a:t>1.2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65" b="1">
                <a:latin typeface="Microsoft JhengHei"/>
                <a:cs typeface="Microsoft JhengHei"/>
              </a:rPr>
              <a:t>为二</a:t>
            </a:r>
            <a:r>
              <a:rPr dirty="0" sz="2800" b="1">
                <a:latin typeface="Microsoft JhengHei"/>
                <a:cs typeface="Microsoft JhengHei"/>
              </a:rPr>
              <a:t>集合，</a:t>
            </a:r>
            <a:r>
              <a:rPr dirty="0" sz="2800" spc="-10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包</a:t>
            </a:r>
            <a:r>
              <a:rPr dirty="0" sz="2800" spc="-10" b="1">
                <a:latin typeface="Microsoft JhengHei"/>
                <a:cs typeface="Microsoft JhengHei"/>
              </a:rPr>
              <a:t>含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且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包</a:t>
            </a:r>
            <a:r>
              <a:rPr dirty="0" sz="2800" spc="-10" b="1">
                <a:latin typeface="Microsoft JhengHei"/>
                <a:cs typeface="Microsoft JhengHei"/>
              </a:rPr>
              <a:t>含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35" b="1">
                <a:latin typeface="Microsoft JhengHei"/>
                <a:cs typeface="Microsoft JhengHei"/>
              </a:rPr>
              <a:t>，</a:t>
            </a:r>
            <a:r>
              <a:rPr dirty="0" sz="2800" spc="-50" b="1">
                <a:latin typeface="Microsoft JhengHei"/>
                <a:cs typeface="Microsoft JhengHei"/>
              </a:rPr>
              <a:t>则</a:t>
            </a:r>
            <a:endParaRPr sz="2800">
              <a:latin typeface="Microsoft JhengHei"/>
              <a:cs typeface="Microsoft JhengHei"/>
            </a:endParaRPr>
          </a:p>
          <a:p>
            <a:pPr marL="38100">
              <a:lnSpc>
                <a:spcPct val="100000"/>
              </a:lnSpc>
              <a:spcBef>
                <a:spcPts val="1685"/>
              </a:spcBef>
              <a:tabLst>
                <a:tab pos="4431030" algn="l"/>
              </a:tabLst>
            </a:pPr>
            <a:r>
              <a:rPr dirty="0" sz="2800" spc="70" b="1">
                <a:latin typeface="Microsoft JhengHei"/>
                <a:cs typeface="Microsoft JhengHei"/>
              </a:rPr>
              <a:t>称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与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相等，记</a:t>
            </a:r>
            <a:r>
              <a:rPr dirty="0" sz="2800" spc="70" b="1">
                <a:latin typeface="Microsoft JhengHei"/>
                <a:cs typeface="Microsoft JhengHei"/>
              </a:rPr>
              <a:t>作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A=B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r>
              <a:rPr dirty="0" sz="2800" spc="-50" b="1">
                <a:latin typeface="Microsoft JhengHei"/>
                <a:cs typeface="Microsoft JhengHei"/>
              </a:rPr>
              <a:t>即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A=B</a:t>
            </a:r>
            <a:r>
              <a:rPr dirty="0" sz="2800" spc="-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2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x(x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</a:t>
            </a:r>
            <a:r>
              <a:rPr dirty="0" sz="2800" spc="3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3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A)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770255" marR="1805939" indent="-732155">
              <a:lnSpc>
                <a:spcPct val="169500"/>
              </a:lnSpc>
            </a:pPr>
            <a:r>
              <a:rPr dirty="0" sz="2800" spc="210" b="1">
                <a:latin typeface="Microsoft JhengHei"/>
                <a:cs typeface="Microsoft JhengHei"/>
              </a:rPr>
              <a:t>例：设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A={2}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B={1,4}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C={x|x</a:t>
            </a:r>
            <a:r>
              <a:rPr dirty="0" baseline="25525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5x+4=0}</a:t>
            </a:r>
            <a:r>
              <a:rPr dirty="0" sz="2800" spc="-10" b="1">
                <a:latin typeface="Microsoft JhengHei"/>
                <a:cs typeface="Microsoft JhengHei"/>
              </a:rPr>
              <a:t>， 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D={x|x</a:t>
            </a:r>
            <a:r>
              <a:rPr dirty="0" sz="2800" spc="30" b="1">
                <a:solidFill>
                  <a:srgbClr val="006FC0"/>
                </a:solidFill>
                <a:latin typeface="Microsoft JhengHei"/>
                <a:cs typeface="Microsoft JhengHei"/>
              </a:rPr>
              <a:t>为偶素数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b="1">
                <a:solidFill>
                  <a:srgbClr val="006FC0"/>
                </a:solidFill>
                <a:latin typeface="Microsoft JhengHei"/>
                <a:cs typeface="Microsoft JhengHei"/>
              </a:rPr>
              <a:t>，</a:t>
            </a:r>
            <a:r>
              <a:rPr dirty="0" sz="2800" spc="-10" b="1">
                <a:latin typeface="Microsoft JhengHei"/>
                <a:cs typeface="Microsoft JhengHei"/>
              </a:rPr>
              <a:t>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A=D</a:t>
            </a:r>
            <a:r>
              <a:rPr dirty="0" sz="2800" spc="-5" b="1">
                <a:latin typeface="Microsoft JhengHei"/>
                <a:cs typeface="Microsoft JhengHei"/>
              </a:rPr>
              <a:t>，且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B=C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642" y="471551"/>
            <a:ext cx="621855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之</a:t>
            </a:r>
            <a:r>
              <a:rPr dirty="0"/>
              <a:t>间</a:t>
            </a:r>
            <a:r>
              <a:rPr dirty="0" spc="-25"/>
              <a:t>包含</a:t>
            </a:r>
            <a:r>
              <a:rPr dirty="0" spc="-50"/>
              <a:t>关</a:t>
            </a:r>
            <a:r>
              <a:rPr dirty="0" spc="-50"/>
              <a:t>系</a:t>
            </a:r>
            <a:r>
              <a:rPr dirty="0"/>
              <a:t>的</a:t>
            </a:r>
            <a:r>
              <a:rPr dirty="0" spc="-50"/>
              <a:t>性</a:t>
            </a:r>
            <a:r>
              <a:rPr dirty="0" spc="-50"/>
              <a:t>质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6207125" cy="2633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A,B,C</a:t>
            </a:r>
            <a:r>
              <a:rPr dirty="0" sz="2800" spc="-5" b="1">
                <a:latin typeface="Microsoft JhengHei"/>
                <a:cs typeface="Microsoft JhengHei"/>
              </a:rPr>
              <a:t>为三个集合，则以下三命题为真</a:t>
            </a:r>
            <a:endParaRPr sz="2800">
              <a:latin typeface="Microsoft JhengHei"/>
              <a:cs typeface="Microsoft JhengHei"/>
            </a:endParaRPr>
          </a:p>
          <a:p>
            <a:pPr marL="744855" indent="-567690">
              <a:lnSpc>
                <a:spcPct val="100000"/>
              </a:lnSpc>
              <a:spcBef>
                <a:spcPts val="2335"/>
              </a:spcBef>
              <a:buAutoNum type="arabicParenBoth"/>
              <a:tabLst>
                <a:tab pos="744220" algn="l"/>
                <a:tab pos="744855" algn="l"/>
              </a:tabLst>
            </a:pP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Symbol"/>
                <a:cs typeface="Symbol"/>
              </a:rPr>
              <a:t>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662305" indent="-485775">
              <a:lnSpc>
                <a:spcPct val="100000"/>
              </a:lnSpc>
              <a:spcBef>
                <a:spcPts val="2340"/>
              </a:spcBef>
              <a:buFont typeface="Calibri"/>
              <a:buAutoNum type="arabicParenBoth"/>
              <a:tabLst>
                <a:tab pos="66294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且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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210" b="1">
                <a:latin typeface="Microsoft JhengHei"/>
                <a:cs typeface="Microsoft JhengHei"/>
              </a:rPr>
              <a:t>，则</a:t>
            </a:r>
            <a:r>
              <a:rPr dirty="0" sz="2800" spc="-20" b="1">
                <a:latin typeface="Calibri"/>
                <a:cs typeface="Calibri"/>
              </a:rPr>
              <a:t>B</a:t>
            </a:r>
            <a:r>
              <a:rPr dirty="0" u="sng" sz="2800" spc="-20" b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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662305" indent="-485775">
              <a:lnSpc>
                <a:spcPct val="100000"/>
              </a:lnSpc>
              <a:spcBef>
                <a:spcPts val="2405"/>
              </a:spcBef>
              <a:buFont typeface="Calibri"/>
              <a:buAutoNum type="arabicParenBoth"/>
              <a:tabLst>
                <a:tab pos="66294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且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>
                <a:latin typeface="Symbol"/>
                <a:cs typeface="Symbol"/>
              </a:rPr>
              <a:t></a:t>
            </a:r>
            <a:r>
              <a:rPr dirty="0" sz="2800" spc="-10" b="1">
                <a:latin typeface="Calibri"/>
                <a:cs typeface="Calibri"/>
              </a:rPr>
              <a:t>C</a:t>
            </a:r>
            <a:r>
              <a:rPr dirty="0" sz="2800" spc="-10" b="1">
                <a:latin typeface="Microsoft JhengHei"/>
                <a:cs typeface="Microsoft JhengHei"/>
              </a:rPr>
              <a:t>，则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真</a:t>
            </a:r>
            <a:r>
              <a:rPr dirty="0"/>
              <a:t>子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8126095" cy="395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6520">
              <a:lnSpc>
                <a:spcPct val="150200"/>
              </a:lnSpc>
              <a:spcBef>
                <a:spcPts val="100"/>
              </a:spcBef>
              <a:tabLst>
                <a:tab pos="1449070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义</a:t>
            </a:r>
            <a:r>
              <a:rPr dirty="0" sz="2800" spc="-25" b="1">
                <a:latin typeface="Microsoft JhengHei"/>
                <a:cs typeface="Microsoft JhengHei"/>
              </a:rPr>
              <a:t>1.3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65" b="1">
                <a:latin typeface="Microsoft JhengHei"/>
                <a:cs typeface="Microsoft JhengHei"/>
              </a:rPr>
              <a:t>为二</a:t>
            </a:r>
            <a:r>
              <a:rPr dirty="0" sz="2800" b="1">
                <a:latin typeface="Microsoft JhengHei"/>
                <a:cs typeface="Microsoft JhengHei"/>
              </a:rPr>
              <a:t>集合，</a:t>
            </a:r>
            <a:r>
              <a:rPr dirty="0" sz="2800" spc="-10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10" b="1">
                <a:latin typeface="Microsoft JhengHei"/>
                <a:cs typeface="Microsoft JhengHei"/>
              </a:rPr>
              <a:t>子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10" b="1">
                <a:latin typeface="Microsoft JhengHei"/>
                <a:cs typeface="Microsoft JhengHei"/>
              </a:rPr>
              <a:t>且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50" b="1">
                <a:latin typeface="Microsoft JhengHei"/>
                <a:cs typeface="Microsoft JhengHei"/>
              </a:rPr>
              <a:t>则</a:t>
            </a:r>
            <a:r>
              <a:rPr dirty="0" sz="2800" spc="70" b="1">
                <a:latin typeface="Microsoft JhengHei"/>
                <a:cs typeface="Microsoft JhengHei"/>
              </a:rPr>
              <a:t>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70" b="1">
                <a:latin typeface="Microsoft JhengHei"/>
                <a:cs typeface="Microsoft JhengHei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真子集</a:t>
            </a:r>
            <a:r>
              <a:rPr dirty="0" sz="2800" b="1">
                <a:latin typeface="Microsoft JhengHei"/>
                <a:cs typeface="Microsoft JhengHei"/>
              </a:rPr>
              <a:t>，或</a:t>
            </a:r>
            <a:r>
              <a:rPr dirty="0" sz="2800" spc="-10" b="1">
                <a:latin typeface="Microsoft JhengHei"/>
                <a:cs typeface="Microsoft JhengHei"/>
              </a:rPr>
              <a:t>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真包</a:t>
            </a:r>
            <a:r>
              <a:rPr dirty="0" sz="2800" spc="-10" b="1">
                <a:latin typeface="Microsoft JhengHei"/>
                <a:cs typeface="Microsoft JhengHei"/>
              </a:rPr>
              <a:t>含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，记</a:t>
            </a:r>
            <a:r>
              <a:rPr dirty="0" sz="2800" spc="-10" b="1">
                <a:latin typeface="Microsoft JhengHei"/>
                <a:cs typeface="Microsoft JhengHei"/>
              </a:rPr>
              <a:t>作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50" b="1">
                <a:latin typeface="Microsoft JhengHei"/>
                <a:cs typeface="Microsoft JhengHei"/>
              </a:rPr>
              <a:t>即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7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3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7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3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。</a:t>
            </a:r>
            <a:r>
              <a:rPr dirty="0" sz="2800" spc="-150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不是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70" b="1">
                <a:latin typeface="Microsoft JhengHei"/>
                <a:cs typeface="Microsoft JhengHei"/>
              </a:rPr>
              <a:t>的</a:t>
            </a:r>
            <a:r>
              <a:rPr dirty="0" sz="2800" b="1">
                <a:latin typeface="Microsoft JhengHei"/>
                <a:cs typeface="Microsoft JhengHei"/>
              </a:rPr>
              <a:t>真子集，则记</a:t>
            </a:r>
            <a:r>
              <a:rPr dirty="0" sz="2800" spc="-50" b="1">
                <a:latin typeface="Microsoft JhengHei"/>
                <a:cs typeface="Microsoft JhengHei"/>
              </a:rPr>
              <a:t>作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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Microsoft JhengHei"/>
                <a:cs typeface="Microsoft JhengHei"/>
              </a:rPr>
              <a:t>其符</a:t>
            </a:r>
            <a:r>
              <a:rPr dirty="0" sz="2800" spc="60" b="1">
                <a:latin typeface="Microsoft JhengHei"/>
                <a:cs typeface="Microsoft JhengHei"/>
              </a:rPr>
              <a:t>号</a:t>
            </a:r>
            <a:r>
              <a:rPr dirty="0" sz="2800" b="1">
                <a:latin typeface="Microsoft JhengHei"/>
                <a:cs typeface="Microsoft JhengHei"/>
              </a:rPr>
              <a:t>化形式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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8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x(x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64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A,B,C</a:t>
            </a:r>
            <a:r>
              <a:rPr dirty="0" sz="2800" spc="-25" b="1">
                <a:latin typeface="Microsoft JhengHei"/>
                <a:cs typeface="Microsoft JhengHei"/>
              </a:rPr>
              <a:t>为三个集合，下面三命题为真： </a:t>
            </a:r>
            <a:r>
              <a:rPr dirty="0" sz="2800" b="1">
                <a:latin typeface="Calibri"/>
                <a:cs typeface="Calibri"/>
              </a:rPr>
              <a:t>(1</a:t>
            </a:r>
            <a:r>
              <a:rPr dirty="0" sz="2800" spc="15" b="1">
                <a:latin typeface="Calibri"/>
                <a:cs typeface="Calibri"/>
              </a:rPr>
              <a:t>) 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Symbol"/>
                <a:cs typeface="Symbol"/>
              </a:rPr>
              <a:t>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2800" b="1">
                <a:latin typeface="Calibri"/>
                <a:cs typeface="Calibri"/>
              </a:rPr>
              <a:t>(2) </a:t>
            </a:r>
            <a:r>
              <a:rPr dirty="0" sz="2800" spc="645" b="1">
                <a:latin typeface="Microsoft JhengHei"/>
                <a:cs typeface="Microsoft JhengHei"/>
              </a:rPr>
              <a:t>若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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，则 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b="1">
                <a:latin typeface="Symbol"/>
                <a:cs typeface="Symbol"/>
              </a:rPr>
              <a:t>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；</a:t>
            </a:r>
            <a:r>
              <a:rPr dirty="0" sz="2800" b="1">
                <a:latin typeface="Calibri"/>
                <a:cs typeface="Calibri"/>
              </a:rPr>
              <a:t>(3</a:t>
            </a:r>
            <a:r>
              <a:rPr dirty="0" sz="2800" spc="-35" b="1">
                <a:latin typeface="Calibri"/>
                <a:cs typeface="Calibri"/>
              </a:rPr>
              <a:t>) </a:t>
            </a:r>
            <a:r>
              <a:rPr dirty="0" sz="2800" spc="5" b="1">
                <a:latin typeface="Microsoft JhengHei"/>
                <a:cs typeface="Microsoft JhengHei"/>
              </a:rPr>
              <a:t>若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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25" b="1">
                <a:latin typeface="Microsoft JhengHei"/>
                <a:cs typeface="Microsoft JhengHei"/>
              </a:rPr>
              <a:t>，且</a:t>
            </a:r>
            <a:r>
              <a:rPr dirty="0" sz="2800" spc="-35" b="1">
                <a:latin typeface="Calibri"/>
                <a:cs typeface="Calibri"/>
              </a:rPr>
              <a:t>B</a:t>
            </a:r>
            <a:r>
              <a:rPr dirty="0" sz="2800" spc="-35" b="1">
                <a:latin typeface="Symbol"/>
                <a:cs typeface="Symbol"/>
              </a:rPr>
              <a:t></a:t>
            </a:r>
            <a:r>
              <a:rPr dirty="0" sz="2800" spc="-35" b="1">
                <a:latin typeface="Calibri"/>
                <a:cs typeface="Calibri"/>
              </a:rPr>
              <a:t>C</a:t>
            </a:r>
            <a:r>
              <a:rPr dirty="0" sz="2800" spc="15" b="1">
                <a:latin typeface="Microsoft JhengHei"/>
                <a:cs typeface="Microsoft JhengHei"/>
              </a:rPr>
              <a:t>，则</a:t>
            </a:r>
            <a:r>
              <a:rPr dirty="0" sz="2800" spc="-30" b="1">
                <a:latin typeface="Calibri"/>
                <a:cs typeface="Calibri"/>
              </a:rPr>
              <a:t>A</a:t>
            </a:r>
            <a:r>
              <a:rPr dirty="0" sz="2800" spc="-30" b="1">
                <a:latin typeface="Symbol"/>
                <a:cs typeface="Symbol"/>
              </a:rPr>
              <a:t></a:t>
            </a:r>
            <a:r>
              <a:rPr dirty="0" sz="2800" spc="-30" b="1">
                <a:latin typeface="Calibri"/>
                <a:cs typeface="Calibri"/>
              </a:rPr>
              <a:t>C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空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85775" y="1550493"/>
            <a:ext cx="8328025" cy="4128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201930">
              <a:lnSpc>
                <a:spcPct val="150200"/>
              </a:lnSpc>
              <a:spcBef>
                <a:spcPts val="100"/>
              </a:spcBef>
              <a:tabLst>
                <a:tab pos="1692275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义</a:t>
            </a:r>
            <a:r>
              <a:rPr dirty="0" sz="2800" spc="-25" b="1">
                <a:latin typeface="Microsoft JhengHei"/>
                <a:cs typeface="Microsoft JhengHei"/>
              </a:rPr>
              <a:t>1.4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-10" b="1">
                <a:latin typeface="Microsoft JhengHei"/>
                <a:cs typeface="Microsoft JhengHei"/>
              </a:rPr>
              <a:t>不</a:t>
            </a:r>
            <a:r>
              <a:rPr dirty="0" sz="2800" spc="-10" b="1">
                <a:latin typeface="Microsoft JhengHei"/>
                <a:cs typeface="Microsoft JhengHei"/>
              </a:rPr>
              <a:t>拥</a:t>
            </a:r>
            <a:r>
              <a:rPr dirty="0" sz="2800" spc="-10" b="1">
                <a:latin typeface="Microsoft JhengHei"/>
                <a:cs typeface="Microsoft JhengHei"/>
              </a:rPr>
              <a:t>有</a:t>
            </a:r>
            <a:r>
              <a:rPr dirty="0" sz="2800" spc="-10" b="1">
                <a:latin typeface="Microsoft JhengHei"/>
                <a:cs typeface="Microsoft JhengHei"/>
              </a:rPr>
              <a:t>任</a:t>
            </a:r>
            <a:r>
              <a:rPr dirty="0" sz="2800" spc="-10" b="1">
                <a:latin typeface="Microsoft JhengHei"/>
                <a:cs typeface="Microsoft JhengHei"/>
              </a:rPr>
              <a:t>何</a:t>
            </a:r>
            <a:r>
              <a:rPr dirty="0" sz="2800" spc="-10" b="1">
                <a:latin typeface="Microsoft JhengHei"/>
                <a:cs typeface="Microsoft JhengHei"/>
              </a:rPr>
              <a:t>元</a:t>
            </a:r>
            <a:r>
              <a:rPr dirty="0" sz="2800" spc="-10" b="1">
                <a:latin typeface="Microsoft JhengHei"/>
                <a:cs typeface="Microsoft JhengHei"/>
              </a:rPr>
              <a:t>素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10" b="1">
                <a:latin typeface="Microsoft JhengHei"/>
                <a:cs typeface="Microsoft JhengHei"/>
              </a:rPr>
              <a:t>合</a:t>
            </a:r>
            <a:r>
              <a:rPr dirty="0" sz="2800" spc="-10" b="1">
                <a:latin typeface="Microsoft JhengHei"/>
                <a:cs typeface="Microsoft JhengHei"/>
              </a:rPr>
              <a:t>称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latin typeface="Microsoft JhengHei"/>
                <a:cs typeface="Microsoft JhengHei"/>
              </a:rPr>
              <a:t>空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10" b="1">
                <a:latin typeface="Microsoft JhengHei"/>
                <a:cs typeface="Microsoft JhengHei"/>
              </a:rPr>
              <a:t>合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latin typeface="Microsoft JhengHei"/>
                <a:cs typeface="Microsoft JhengHei"/>
              </a:rPr>
              <a:t>简</a:t>
            </a:r>
            <a:r>
              <a:rPr dirty="0" sz="2800" spc="-50" b="1">
                <a:latin typeface="Microsoft JhengHei"/>
                <a:cs typeface="Microsoft JhengHei"/>
              </a:rPr>
              <a:t>称</a:t>
            </a:r>
            <a:r>
              <a:rPr dirty="0" sz="2800" spc="70" b="1">
                <a:latin typeface="Microsoft JhengHei"/>
                <a:cs typeface="Microsoft JhengHei"/>
              </a:rPr>
              <a:t>为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空集</a:t>
            </a:r>
            <a:r>
              <a:rPr dirty="0" sz="2800" b="1">
                <a:latin typeface="Microsoft JhengHei"/>
                <a:cs typeface="Microsoft JhengHei"/>
              </a:rPr>
              <a:t>，记作</a:t>
            </a:r>
            <a:r>
              <a:rPr dirty="0" sz="2800" spc="65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spc="-10" b="1">
                <a:latin typeface="Microsoft JhengHei"/>
                <a:cs typeface="Microsoft JhengHei"/>
              </a:rPr>
              <a:t>。</a:t>
            </a: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b="1">
                <a:latin typeface="Microsoft JhengHei"/>
                <a:cs typeface="Microsoft JhengHei"/>
              </a:rPr>
              <a:t>读</a:t>
            </a:r>
            <a:r>
              <a:rPr dirty="0" sz="2800" spc="-20" b="1">
                <a:latin typeface="Calibri"/>
                <a:cs typeface="Calibri"/>
              </a:rPr>
              <a:t>ugh)</a:t>
            </a:r>
            <a:endParaRPr sz="2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335"/>
              </a:spcBef>
              <a:tabLst>
                <a:tab pos="6479540" algn="l"/>
              </a:tabLst>
            </a:pPr>
            <a:r>
              <a:rPr dirty="0" sz="2800" b="1">
                <a:latin typeface="Calibri"/>
                <a:cs typeface="Calibri"/>
              </a:rPr>
              <a:t>{x|x</a:t>
            </a:r>
            <a:r>
              <a:rPr dirty="0" baseline="25525" sz="2775" b="1">
                <a:latin typeface="Calibri"/>
                <a:cs typeface="Calibri"/>
              </a:rPr>
              <a:t>2 </a:t>
            </a:r>
            <a:r>
              <a:rPr dirty="0" sz="2800" b="1">
                <a:latin typeface="Calibri"/>
                <a:cs typeface="Calibri"/>
              </a:rPr>
              <a:t>+1=0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R}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Microsoft JhengHei"/>
                <a:cs typeface="Microsoft JhengHei"/>
              </a:rPr>
              <a:t>和</a:t>
            </a:r>
            <a:r>
              <a:rPr dirty="0" sz="2800" spc="25" b="1">
                <a:latin typeface="Microsoft JhengHei"/>
                <a:cs typeface="Microsoft JhengHe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{(x,y)|x</a:t>
            </a:r>
            <a:r>
              <a:rPr dirty="0" baseline="25525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+y</a:t>
            </a:r>
            <a:r>
              <a:rPr dirty="0" baseline="25525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&lt;0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x,y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R}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Microsoft JhengHei"/>
                <a:cs typeface="Microsoft JhengHei"/>
              </a:rPr>
              <a:t>都是空集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63500">
              <a:lnSpc>
                <a:spcPct val="100000"/>
              </a:lnSpc>
              <a:spcBef>
                <a:spcPts val="2335"/>
              </a:spcBef>
              <a:tabLst>
                <a:tab pos="1499870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理</a:t>
            </a:r>
            <a:r>
              <a:rPr dirty="0" sz="2800" spc="-25" b="1">
                <a:latin typeface="Microsoft JhengHei"/>
                <a:cs typeface="Microsoft JhengHei"/>
              </a:rPr>
              <a:t>1.1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空集是</a:t>
            </a:r>
            <a:r>
              <a:rPr dirty="0" sz="2800" b="1">
                <a:latin typeface="Microsoft JhengHei"/>
                <a:cs typeface="Microsoft JhengHei"/>
              </a:rPr>
              <a:t>一切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10" b="1">
                <a:latin typeface="Microsoft JhengHei"/>
                <a:cs typeface="Microsoft JhengHei"/>
              </a:rPr>
              <a:t>合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10" b="1">
                <a:latin typeface="Microsoft JhengHei"/>
                <a:cs typeface="Microsoft JhengHei"/>
              </a:rPr>
              <a:t>子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63500">
              <a:lnSpc>
                <a:spcPct val="100000"/>
              </a:lnSpc>
              <a:spcBef>
                <a:spcPts val="2410"/>
              </a:spcBef>
              <a:tabLst>
                <a:tab pos="960119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证</a:t>
            </a:r>
            <a:r>
              <a:rPr dirty="0" sz="2800" spc="-50" b="1">
                <a:latin typeface="Microsoft JhengHei"/>
                <a:cs typeface="Microsoft JhengHei"/>
              </a:rPr>
              <a:t>明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对于任</a:t>
            </a:r>
            <a:r>
              <a:rPr dirty="0" sz="2800" b="1">
                <a:latin typeface="Microsoft JhengHei"/>
                <a:cs typeface="Microsoft JhengHei"/>
              </a:rPr>
              <a:t>意集</a:t>
            </a:r>
            <a:r>
              <a:rPr dirty="0" sz="2800" spc="-10" b="1">
                <a:latin typeface="Microsoft JhengHei"/>
                <a:cs typeface="Microsoft JhengHei"/>
              </a:rPr>
              <a:t>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latin typeface="Microsoft JhengHei"/>
                <a:cs typeface="Microsoft JhengHei"/>
              </a:rPr>
              <a:t>均</a:t>
            </a:r>
            <a:r>
              <a:rPr dirty="0" sz="2800" spc="-10" b="1">
                <a:latin typeface="Microsoft JhengHei"/>
                <a:cs typeface="Microsoft JhengHei"/>
              </a:rPr>
              <a:t>有</a:t>
            </a:r>
            <a:r>
              <a:rPr dirty="0" sz="2800" spc="-25" b="1">
                <a:solidFill>
                  <a:srgbClr val="006FC0"/>
                </a:solidFill>
                <a:latin typeface="Symbol"/>
                <a:cs typeface="Symbol"/>
              </a:rPr>
              <a:t>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成</a:t>
            </a:r>
            <a:r>
              <a:rPr dirty="0" sz="2800" b="1">
                <a:latin typeface="Microsoft JhengHei"/>
                <a:cs typeface="Microsoft JhengHei"/>
              </a:rPr>
              <a:t>立，这</a:t>
            </a:r>
            <a:r>
              <a:rPr dirty="0" sz="2800" spc="-15" b="1">
                <a:latin typeface="Microsoft JhengHei"/>
                <a:cs typeface="Microsoft JhengHei"/>
              </a:rPr>
              <a:t>是</a:t>
            </a:r>
            <a:r>
              <a:rPr dirty="0" sz="2800" b="1">
                <a:latin typeface="Microsoft JhengHei"/>
                <a:cs typeface="Microsoft JhengHei"/>
              </a:rPr>
              <a:t>因</a:t>
            </a:r>
            <a:r>
              <a:rPr dirty="0" sz="2800" spc="-50" b="1">
                <a:latin typeface="Microsoft JhengHei"/>
                <a:cs typeface="Microsoft JhengHei"/>
              </a:rPr>
              <a:t>为</a:t>
            </a:r>
            <a:endParaRPr sz="2800">
              <a:latin typeface="Microsoft JhengHei"/>
              <a:cs typeface="Microsoft JhengHei"/>
            </a:endParaRPr>
          </a:p>
          <a:p>
            <a:pPr marL="410845">
              <a:lnSpc>
                <a:spcPct val="100000"/>
              </a:lnSpc>
              <a:spcBef>
                <a:spcPts val="1685"/>
              </a:spcBef>
              <a:tabLst>
                <a:tab pos="5509260" algn="l"/>
              </a:tabLst>
            </a:pP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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2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x(x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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A)</a:t>
            </a:r>
            <a:r>
              <a:rPr dirty="0" sz="2800" spc="-18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2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25" b="1">
                <a:latin typeface="Calibri"/>
                <a:cs typeface="Calibri"/>
              </a:rPr>
              <a:t>.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50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空</a:t>
            </a:r>
            <a:r>
              <a:rPr dirty="0"/>
              <a:t>集</a:t>
            </a:r>
            <a:r>
              <a:rPr dirty="0"/>
              <a:t>的</a:t>
            </a:r>
            <a:r>
              <a:rPr dirty="0"/>
              <a:t>惟</a:t>
            </a:r>
            <a:r>
              <a:rPr dirty="0" spc="-50"/>
              <a:t>一</a:t>
            </a:r>
            <a:r>
              <a:rPr dirty="0" spc="-50"/>
              <a:t>性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60375" y="1763395"/>
            <a:ext cx="8078470" cy="39154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  <a:tabLst>
                <a:tab pos="985519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推</a:t>
            </a:r>
            <a:r>
              <a:rPr dirty="0" sz="2800" spc="-50" b="1">
                <a:latin typeface="Microsoft JhengHei"/>
                <a:cs typeface="Microsoft JhengHei"/>
              </a:rPr>
              <a:t>论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空集是</a:t>
            </a:r>
            <a:r>
              <a:rPr dirty="0" sz="2800" b="1">
                <a:latin typeface="Microsoft JhengHei"/>
                <a:cs typeface="Microsoft JhengHei"/>
              </a:rPr>
              <a:t>惟一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88900">
              <a:lnSpc>
                <a:spcPct val="100000"/>
              </a:lnSpc>
              <a:spcBef>
                <a:spcPts val="2335"/>
              </a:spcBef>
              <a:tabLst>
                <a:tab pos="985519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证</a:t>
            </a:r>
            <a:r>
              <a:rPr dirty="0" sz="2800" spc="-50" b="1">
                <a:latin typeface="Microsoft JhengHei"/>
                <a:cs typeface="Microsoft JhengHei"/>
              </a:rPr>
              <a:t>明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70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70" b="1">
                <a:latin typeface="Microsoft JhengHei"/>
                <a:cs typeface="Microsoft JhengHei"/>
              </a:rPr>
              <a:t>与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65" b="1">
                <a:latin typeface="Microsoft JhengHei"/>
                <a:cs typeface="Microsoft JhengHei"/>
              </a:rPr>
              <a:t>都</a:t>
            </a:r>
            <a:r>
              <a:rPr dirty="0" sz="2800" spc="-10" b="1">
                <a:latin typeface="Microsoft JhengHei"/>
                <a:cs typeface="Microsoft JhengHei"/>
              </a:rPr>
              <a:t>是</a:t>
            </a:r>
            <a:r>
              <a:rPr dirty="0" sz="2800" spc="-10" b="1">
                <a:latin typeface="Microsoft JhengHei"/>
                <a:cs typeface="Microsoft JhengHei"/>
              </a:rPr>
              <a:t>空</a:t>
            </a:r>
            <a:r>
              <a:rPr dirty="0" sz="2800" spc="-10" b="1">
                <a:latin typeface="Microsoft JhengHei"/>
                <a:cs typeface="Microsoft JhengHei"/>
              </a:rPr>
              <a:t>集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latin typeface="Microsoft JhengHei"/>
                <a:cs typeface="Microsoft JhengHei"/>
              </a:rPr>
              <a:t>由</a:t>
            </a:r>
            <a:r>
              <a:rPr dirty="0" sz="2800" spc="-10" b="1">
                <a:latin typeface="Microsoft JhengHei"/>
                <a:cs typeface="Microsoft JhengHei"/>
              </a:rPr>
              <a:t>定</a:t>
            </a:r>
            <a:r>
              <a:rPr dirty="0" sz="2800" spc="-10" b="1">
                <a:latin typeface="Microsoft JhengHei"/>
                <a:cs typeface="Microsoft JhengHei"/>
              </a:rPr>
              <a:t>理</a:t>
            </a:r>
            <a:r>
              <a:rPr dirty="0" sz="2800" spc="-10" b="1">
                <a:latin typeface="Calibri"/>
                <a:cs typeface="Calibri"/>
              </a:rPr>
              <a:t>1.1</a:t>
            </a:r>
            <a:r>
              <a:rPr dirty="0" sz="2800" spc="-10" b="1">
                <a:latin typeface="Microsoft JhengHei"/>
                <a:cs typeface="Microsoft JhengHei"/>
              </a:rPr>
              <a:t>可</a:t>
            </a:r>
            <a:r>
              <a:rPr dirty="0" sz="2800" spc="425" b="1">
                <a:latin typeface="Microsoft JhengHei"/>
                <a:cs typeface="Microsoft JhengHei"/>
              </a:rPr>
              <a:t>知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262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endParaRPr sz="2800">
              <a:latin typeface="Symbol"/>
              <a:cs typeface="Symbol"/>
            </a:endParaRPr>
          </a:p>
          <a:p>
            <a:pPr marL="88900">
              <a:lnSpc>
                <a:spcPct val="100000"/>
              </a:lnSpc>
              <a:spcBef>
                <a:spcPts val="1689"/>
              </a:spcBef>
              <a:tabLst>
                <a:tab pos="4152265" algn="l"/>
              </a:tabLst>
            </a:pP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baseline="-19519" sz="2775" spc="202" b="1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dirty="0" sz="2800" spc="70" b="1">
                <a:latin typeface="Microsoft JhengHei"/>
                <a:cs typeface="Microsoft JhengHei"/>
              </a:rPr>
              <a:t>，所</a:t>
            </a:r>
            <a:r>
              <a:rPr dirty="0" sz="2800" spc="430" b="1">
                <a:latin typeface="Microsoft JhengHei"/>
                <a:cs typeface="Microsoft JhengHei"/>
              </a:rPr>
              <a:t>以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39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-50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  <a:p>
            <a:pPr marL="88900" marR="93345">
              <a:lnSpc>
                <a:spcPct val="150200"/>
              </a:lnSpc>
              <a:spcBef>
                <a:spcPts val="650"/>
              </a:spcBef>
              <a:tabLst>
                <a:tab pos="2559685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由推论</a:t>
            </a:r>
            <a:r>
              <a:rPr dirty="0" sz="2800" b="1">
                <a:latin typeface="Microsoft JhengHei"/>
                <a:cs typeface="Microsoft JhengHei"/>
              </a:rPr>
              <a:t>可知，</a:t>
            </a:r>
            <a:r>
              <a:rPr dirty="0" sz="2800" spc="-15" b="1">
                <a:latin typeface="Microsoft JhengHei"/>
                <a:cs typeface="Microsoft JhengHei"/>
              </a:rPr>
              <a:t>无</a:t>
            </a:r>
            <a:r>
              <a:rPr dirty="0" sz="2800" spc="65" b="1">
                <a:latin typeface="Microsoft JhengHei"/>
                <a:cs typeface="Microsoft JhengHei"/>
              </a:rPr>
              <a:t>论</a:t>
            </a:r>
            <a:r>
              <a:rPr dirty="0" sz="2800" b="1">
                <a:latin typeface="Microsoft JhengHei"/>
                <a:cs typeface="Microsoft JhengHei"/>
              </a:rPr>
              <a:t>空集以</a:t>
            </a:r>
            <a:r>
              <a:rPr dirty="0" sz="2800" spc="-15" b="1">
                <a:latin typeface="Microsoft JhengHei"/>
                <a:cs typeface="Microsoft JhengHei"/>
              </a:rPr>
              <a:t>什</a:t>
            </a:r>
            <a:r>
              <a:rPr dirty="0" sz="2800" b="1">
                <a:latin typeface="Microsoft JhengHei"/>
                <a:cs typeface="Microsoft JhengHei"/>
              </a:rPr>
              <a:t>么形式</a:t>
            </a:r>
            <a:r>
              <a:rPr dirty="0" sz="2800" spc="-15" b="1">
                <a:latin typeface="Microsoft JhengHei"/>
                <a:cs typeface="Microsoft JhengHei"/>
              </a:rPr>
              <a:t>出</a:t>
            </a:r>
            <a:r>
              <a:rPr dirty="0" sz="2800" b="1">
                <a:latin typeface="Microsoft JhengHei"/>
                <a:cs typeface="Microsoft JhengHei"/>
              </a:rPr>
              <a:t>现，它</a:t>
            </a:r>
            <a:r>
              <a:rPr dirty="0" sz="2800" spc="-15" b="1">
                <a:latin typeface="Microsoft JhengHei"/>
                <a:cs typeface="Microsoft JhengHei"/>
              </a:rPr>
              <a:t>们</a:t>
            </a:r>
            <a:r>
              <a:rPr dirty="0" sz="2800" b="1">
                <a:latin typeface="Microsoft JhengHei"/>
                <a:cs typeface="Microsoft JhengHei"/>
              </a:rPr>
              <a:t>都</a:t>
            </a:r>
            <a:r>
              <a:rPr dirty="0" sz="2800" spc="-50" b="1">
                <a:latin typeface="Microsoft JhengHei"/>
                <a:cs typeface="Microsoft JhengHei"/>
              </a:rPr>
              <a:t>是</a:t>
            </a:r>
            <a:r>
              <a:rPr dirty="0" sz="2800" spc="70" b="1">
                <a:latin typeface="Microsoft JhengHei"/>
                <a:cs typeface="Microsoft JhengHei"/>
              </a:rPr>
              <a:t>相等的</a:t>
            </a:r>
            <a:r>
              <a:rPr dirty="0" sz="2800" b="1">
                <a:latin typeface="Microsoft JhengHei"/>
                <a:cs typeface="Microsoft JhengHei"/>
              </a:rPr>
              <a:t>，所</a:t>
            </a:r>
            <a:r>
              <a:rPr dirty="0" sz="2800" spc="-50" b="1">
                <a:latin typeface="Microsoft JhengHei"/>
                <a:cs typeface="Microsoft JhengHei"/>
              </a:rPr>
              <a:t>以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{x|x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x}</a:t>
            </a:r>
            <a:r>
              <a:rPr dirty="0" sz="2800" spc="-11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{x|x</a:t>
            </a:r>
            <a:r>
              <a:rPr dirty="0" baseline="25525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25525" sz="2775" spc="7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+1=0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R}</a:t>
            </a:r>
            <a:r>
              <a:rPr dirty="0" sz="2800" spc="-19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30" b="1">
                <a:latin typeface="Calibri"/>
                <a:cs typeface="Calibri"/>
              </a:rPr>
              <a:t> </a:t>
            </a:r>
            <a:r>
              <a:rPr dirty="0" sz="2800" spc="65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88900">
              <a:lnSpc>
                <a:spcPct val="100000"/>
              </a:lnSpc>
              <a:spcBef>
                <a:spcPts val="2405"/>
              </a:spcBef>
            </a:pPr>
            <a:r>
              <a:rPr dirty="0" sz="2800" spc="-5" b="1">
                <a:latin typeface="Microsoft JhengHei"/>
                <a:cs typeface="Microsoft JhengHei"/>
              </a:rPr>
              <a:t>空集是“最小”的集合，有没有最大的集合呢？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全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882" y="1554594"/>
            <a:ext cx="8491855" cy="434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1605">
              <a:lnSpc>
                <a:spcPct val="150300"/>
              </a:lnSpc>
              <a:spcBef>
                <a:spcPts val="100"/>
              </a:spcBef>
              <a:tabLst>
                <a:tab pos="1339850" algn="l"/>
              </a:tabLst>
            </a:pP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义</a:t>
            </a:r>
            <a:r>
              <a:rPr dirty="0" sz="2600" spc="50" b="1">
                <a:latin typeface="Microsoft JhengHei"/>
                <a:cs typeface="Microsoft JhengHei"/>
              </a:rPr>
              <a:t>1.5</a:t>
            </a:r>
            <a:r>
              <a:rPr dirty="0" sz="2600" b="1">
                <a:latin typeface="Microsoft JhengHei"/>
                <a:cs typeface="Microsoft JhengHei"/>
              </a:rPr>
              <a:t>	如</a:t>
            </a:r>
            <a:r>
              <a:rPr dirty="0" sz="2600" b="1">
                <a:latin typeface="Microsoft JhengHei"/>
                <a:cs typeface="Microsoft JhengHei"/>
              </a:rPr>
              <a:t>果</a:t>
            </a:r>
            <a:r>
              <a:rPr dirty="0" sz="2600" b="1">
                <a:latin typeface="Microsoft JhengHei"/>
                <a:cs typeface="Microsoft JhengHei"/>
              </a:rPr>
              <a:t>限</a:t>
            </a: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所</a:t>
            </a:r>
            <a:r>
              <a:rPr dirty="0" sz="2600" spc="-35" b="1">
                <a:latin typeface="Microsoft JhengHei"/>
                <a:cs typeface="Microsoft JhengHei"/>
              </a:rPr>
              <a:t>讨</a:t>
            </a:r>
            <a:r>
              <a:rPr dirty="0" sz="2600" spc="-35" b="1">
                <a:latin typeface="Microsoft JhengHei"/>
                <a:cs typeface="Microsoft JhengHei"/>
              </a:rPr>
              <a:t>论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某</a:t>
            </a:r>
            <a:r>
              <a:rPr dirty="0" sz="2600" spc="-35" b="1">
                <a:latin typeface="Microsoft JhengHei"/>
                <a:cs typeface="Microsoft JhengHei"/>
              </a:rPr>
              <a:t>个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spc="-25" b="1">
                <a:latin typeface="Microsoft JhengHei"/>
                <a:cs typeface="Microsoft JhengHei"/>
              </a:rPr>
              <a:t>的</a:t>
            </a:r>
            <a:r>
              <a:rPr dirty="0" sz="2600" b="1">
                <a:latin typeface="Microsoft JhengHei"/>
                <a:cs typeface="Microsoft JhengHei"/>
              </a:rPr>
              <a:t>子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，</a:t>
            </a:r>
            <a:r>
              <a:rPr dirty="0" sz="2600" spc="-50" b="1">
                <a:latin typeface="Microsoft JhengHei"/>
                <a:cs typeface="Microsoft JhengHei"/>
              </a:rPr>
              <a:t>则</a:t>
            </a:r>
            <a:r>
              <a:rPr dirty="0" sz="2600" b="1">
                <a:latin typeface="Microsoft JhengHei"/>
                <a:cs typeface="Microsoft JhengHei"/>
              </a:rPr>
              <a:t>称</a:t>
            </a:r>
            <a:r>
              <a:rPr dirty="0" sz="2600" b="1">
                <a:latin typeface="Microsoft JhengHei"/>
                <a:cs typeface="Microsoft JhengHei"/>
              </a:rPr>
              <a:t>该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b="1">
                <a:latin typeface="Microsoft JhengHei"/>
                <a:cs typeface="Microsoft JhengHei"/>
              </a:rPr>
              <a:t>合</a:t>
            </a:r>
            <a:r>
              <a:rPr dirty="0" sz="2600" spc="-35" b="1">
                <a:latin typeface="Microsoft JhengHei"/>
                <a:cs typeface="Microsoft JhengHei"/>
              </a:rPr>
              <a:t>为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全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记</a:t>
            </a:r>
            <a:r>
              <a:rPr dirty="0" sz="2600" spc="-35" b="1">
                <a:latin typeface="Microsoft JhengHei"/>
                <a:cs typeface="Microsoft JhengHei"/>
              </a:rPr>
              <a:t>作</a:t>
            </a:r>
            <a:r>
              <a:rPr dirty="0" sz="2600" spc="-65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12700" marR="142240">
              <a:lnSpc>
                <a:spcPct val="150200"/>
              </a:lnSpc>
              <a:spcBef>
                <a:spcPts val="575"/>
              </a:spcBef>
            </a:pPr>
            <a:r>
              <a:rPr dirty="0" sz="2600" b="1">
                <a:latin typeface="Microsoft JhengHei"/>
                <a:cs typeface="Microsoft JhengHei"/>
              </a:rPr>
              <a:t>从</a:t>
            </a: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义</a:t>
            </a:r>
            <a:r>
              <a:rPr dirty="0" sz="2600" b="1">
                <a:latin typeface="Microsoft JhengHei"/>
                <a:cs typeface="Microsoft JhengHei"/>
              </a:rPr>
              <a:t>可</a:t>
            </a:r>
            <a:r>
              <a:rPr dirty="0" sz="2600" spc="-20" b="1">
                <a:latin typeface="Microsoft JhengHei"/>
                <a:cs typeface="Microsoft JhengHei"/>
              </a:rPr>
              <a:t>以看</a:t>
            </a:r>
            <a:r>
              <a:rPr dirty="0" sz="2600" spc="-35" b="1">
                <a:latin typeface="Microsoft JhengHei"/>
                <a:cs typeface="Microsoft JhengHei"/>
              </a:rPr>
              <a:t>出</a:t>
            </a:r>
            <a:r>
              <a:rPr dirty="0" sz="2600" spc="-25" b="1">
                <a:latin typeface="Microsoft JhengHei"/>
                <a:cs typeface="Microsoft JhengHei"/>
              </a:rPr>
              <a:t>，全集</a:t>
            </a:r>
            <a:r>
              <a:rPr dirty="0" sz="2600" spc="-40" b="1">
                <a:latin typeface="Microsoft JhengHei"/>
                <a:cs typeface="Microsoft JhengHei"/>
              </a:rPr>
              <a:t>是</a:t>
            </a:r>
            <a:r>
              <a:rPr dirty="0" sz="2600" spc="-40" b="1">
                <a:latin typeface="Microsoft JhengHei"/>
                <a:cs typeface="Microsoft JhengHei"/>
              </a:rPr>
              <a:t>相</a:t>
            </a:r>
            <a:r>
              <a:rPr dirty="0" sz="2600" b="1">
                <a:latin typeface="Microsoft JhengHei"/>
                <a:cs typeface="Microsoft JhengHei"/>
              </a:rPr>
              <a:t>对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20" b="1">
                <a:latin typeface="Microsoft JhengHei"/>
                <a:cs typeface="Microsoft JhengHei"/>
              </a:rPr>
              <a:t>，视</a:t>
            </a:r>
            <a:r>
              <a:rPr dirty="0" sz="2600" spc="-35" b="1">
                <a:latin typeface="Microsoft JhengHei"/>
                <a:cs typeface="Microsoft JhengHei"/>
              </a:rPr>
              <a:t>具</a:t>
            </a:r>
            <a:r>
              <a:rPr dirty="0" sz="2600" spc="-35" b="1">
                <a:latin typeface="Microsoft JhengHei"/>
                <a:cs typeface="Microsoft JhengHei"/>
              </a:rPr>
              <a:t>体</a:t>
            </a:r>
            <a:r>
              <a:rPr dirty="0" sz="2600" spc="-35" b="1">
                <a:latin typeface="Microsoft JhengHei"/>
                <a:cs typeface="Microsoft JhengHei"/>
              </a:rPr>
              <a:t>情</a:t>
            </a:r>
            <a:r>
              <a:rPr dirty="0" sz="2600" b="1">
                <a:latin typeface="Microsoft JhengHei"/>
                <a:cs typeface="Microsoft JhengHei"/>
              </a:rPr>
              <a:t>况</a:t>
            </a:r>
            <a:r>
              <a:rPr dirty="0" sz="2600" spc="-35" b="1">
                <a:latin typeface="Microsoft JhengHei"/>
                <a:cs typeface="Microsoft JhengHei"/>
              </a:rPr>
              <a:t>而</a:t>
            </a:r>
            <a:r>
              <a:rPr dirty="0" sz="2600" spc="-35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因</a:t>
            </a:r>
            <a:r>
              <a:rPr dirty="0" sz="2600" spc="-50" b="1">
                <a:latin typeface="Microsoft JhengHei"/>
                <a:cs typeface="Microsoft JhengHei"/>
              </a:rPr>
              <a:t>此</a:t>
            </a:r>
            <a:r>
              <a:rPr dirty="0" sz="2600" b="1">
                <a:solidFill>
                  <a:srgbClr val="CC0000"/>
                </a:solidFill>
                <a:latin typeface="Microsoft JhengHei"/>
                <a:cs typeface="Microsoft JhengHei"/>
              </a:rPr>
              <a:t>不</a:t>
            </a:r>
            <a:r>
              <a:rPr dirty="0" sz="2600" b="1">
                <a:solidFill>
                  <a:srgbClr val="CC0000"/>
                </a:solidFill>
                <a:latin typeface="Microsoft JhengHei"/>
                <a:cs typeface="Microsoft JhengHei"/>
              </a:rPr>
              <a:t>唯</a:t>
            </a:r>
            <a:r>
              <a:rPr dirty="0" sz="2600" b="1">
                <a:solidFill>
                  <a:srgbClr val="CC0000"/>
                </a:solidFill>
                <a:latin typeface="Microsoft JhengHei"/>
                <a:cs typeface="Microsoft JhengHei"/>
              </a:rPr>
              <a:t>一</a:t>
            </a:r>
            <a:r>
              <a:rPr dirty="0" sz="2600" spc="-20" b="1">
                <a:latin typeface="Microsoft JhengHei"/>
                <a:cs typeface="Microsoft JhengHei"/>
              </a:rPr>
              <a:t>。例如，</a:t>
            </a:r>
            <a:r>
              <a:rPr dirty="0" sz="2600" spc="-35" b="1">
                <a:latin typeface="Microsoft JhengHei"/>
                <a:cs typeface="Microsoft JhengHei"/>
              </a:rPr>
              <a:t>讨</a:t>
            </a:r>
            <a:r>
              <a:rPr dirty="0" sz="2600" spc="-25" b="1">
                <a:latin typeface="Microsoft JhengHei"/>
                <a:cs typeface="Microsoft JhengHei"/>
              </a:rPr>
              <a:t>论区间</a:t>
            </a:r>
            <a:r>
              <a:rPr dirty="0" sz="2600" spc="-30" b="1">
                <a:solidFill>
                  <a:srgbClr val="006FC0"/>
                </a:solidFill>
                <a:latin typeface="Calibri"/>
                <a:cs typeface="Calibri"/>
              </a:rPr>
              <a:t>(a,b)</a:t>
            </a:r>
            <a:r>
              <a:rPr dirty="0" sz="2600" b="1">
                <a:latin typeface="Microsoft JhengHei"/>
                <a:cs typeface="Microsoft JhengHei"/>
              </a:rPr>
              <a:t>上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spc="-20" b="1">
                <a:latin typeface="Microsoft JhengHei"/>
                <a:cs typeface="Microsoft JhengHei"/>
              </a:rPr>
              <a:t>实数</a:t>
            </a:r>
            <a:r>
              <a:rPr dirty="0" sz="2600" spc="-35" b="1">
                <a:latin typeface="Microsoft JhengHei"/>
                <a:cs typeface="Microsoft JhengHei"/>
              </a:rPr>
              <a:t>性</a:t>
            </a:r>
            <a:r>
              <a:rPr dirty="0" sz="2600" spc="-35" b="1">
                <a:latin typeface="Microsoft JhengHei"/>
                <a:cs typeface="Microsoft JhengHei"/>
              </a:rPr>
              <a:t>质</a:t>
            </a:r>
            <a:r>
              <a:rPr dirty="0" sz="2600" spc="-35" b="1">
                <a:latin typeface="Microsoft JhengHei"/>
                <a:cs typeface="Microsoft JhengHei"/>
              </a:rPr>
              <a:t>时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可</a:t>
            </a:r>
            <a:r>
              <a:rPr dirty="0" sz="2600" spc="-35" b="1">
                <a:latin typeface="Microsoft JhengHei"/>
                <a:cs typeface="Microsoft JhengHei"/>
              </a:rPr>
              <a:t>以</a:t>
            </a:r>
            <a:r>
              <a:rPr dirty="0" sz="2600" spc="-50" b="1">
                <a:latin typeface="Microsoft JhengHei"/>
                <a:cs typeface="Microsoft JhengHei"/>
              </a:rPr>
              <a:t>取</a:t>
            </a:r>
            <a:r>
              <a:rPr dirty="0" sz="2600" spc="-50" b="1">
                <a:latin typeface="Microsoft JhengHei"/>
                <a:cs typeface="Microsoft JhengHei"/>
              </a:rPr>
              <a:t> </a:t>
            </a:r>
            <a:r>
              <a:rPr dirty="0" sz="2600" spc="-30" b="1">
                <a:solidFill>
                  <a:srgbClr val="006FC0"/>
                </a:solidFill>
                <a:latin typeface="Calibri"/>
                <a:cs typeface="Calibri"/>
              </a:rPr>
              <a:t>(a,b)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b="1">
                <a:latin typeface="Microsoft JhengHei"/>
                <a:cs typeface="Microsoft JhengHei"/>
              </a:rPr>
              <a:t>全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也</a:t>
            </a:r>
            <a:r>
              <a:rPr dirty="0" sz="2600" b="1">
                <a:latin typeface="Microsoft JhengHei"/>
                <a:cs typeface="Microsoft JhengHei"/>
              </a:rPr>
              <a:t>可</a:t>
            </a:r>
            <a:r>
              <a:rPr dirty="0" sz="2600" spc="5" b="1">
                <a:latin typeface="Microsoft JhengHei"/>
                <a:cs typeface="Microsoft JhengHei"/>
              </a:rPr>
              <a:t>以取</a:t>
            </a:r>
            <a:r>
              <a:rPr dirty="0" sz="2600" spc="-40" b="1">
                <a:solidFill>
                  <a:srgbClr val="006FC0"/>
                </a:solidFill>
                <a:latin typeface="Calibri"/>
                <a:cs typeface="Calibri"/>
              </a:rPr>
              <a:t>[a,b)</a:t>
            </a:r>
            <a:r>
              <a:rPr dirty="0" sz="260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(a,b]</a:t>
            </a:r>
            <a:r>
              <a:rPr dirty="0" sz="260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(a,+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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dirty="0" sz="260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600" spc="-45" b="1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dirty="0" sz="2600" spc="-35" b="1">
                <a:latin typeface="Microsoft JhengHei"/>
                <a:cs typeface="Microsoft JhengHei"/>
              </a:rPr>
              <a:t>等</a:t>
            </a:r>
            <a:r>
              <a:rPr dirty="0" sz="2600" spc="-35" b="1">
                <a:latin typeface="Microsoft JhengHei"/>
                <a:cs typeface="Microsoft JhengHei"/>
              </a:rPr>
              <a:t>为</a:t>
            </a:r>
            <a:r>
              <a:rPr dirty="0" sz="2600" b="1">
                <a:latin typeface="Microsoft JhengHei"/>
                <a:cs typeface="Microsoft JhengHei"/>
              </a:rPr>
              <a:t>全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12700" marR="5080">
              <a:lnSpc>
                <a:spcPct val="150200"/>
              </a:lnSpc>
              <a:spcBef>
                <a:spcPts val="650"/>
              </a:spcBef>
            </a:pPr>
            <a:r>
              <a:rPr dirty="0" sz="2600" b="1">
                <a:latin typeface="Microsoft JhengHei"/>
                <a:cs typeface="Microsoft JhengHei"/>
              </a:rPr>
              <a:t>给</a:t>
            </a: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若</a:t>
            </a:r>
            <a:r>
              <a:rPr dirty="0" sz="2600" b="1">
                <a:latin typeface="Microsoft JhengHei"/>
                <a:cs typeface="Microsoft JhengHei"/>
              </a:rPr>
              <a:t>干</a:t>
            </a:r>
            <a:r>
              <a:rPr dirty="0" sz="2600" spc="-20" b="1">
                <a:latin typeface="Microsoft JhengHei"/>
                <a:cs typeface="Microsoft JhengHei"/>
              </a:rPr>
              <a:t>个集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spc="-35" b="1">
                <a:latin typeface="Microsoft JhengHei"/>
                <a:cs typeface="Microsoft JhengHei"/>
              </a:rPr>
              <a:t>之</a:t>
            </a:r>
            <a:r>
              <a:rPr dirty="0" sz="2600" spc="-20" b="1">
                <a:latin typeface="Microsoft JhengHei"/>
                <a:cs typeface="Microsoft JhengHei"/>
              </a:rPr>
              <a:t>后，</a:t>
            </a:r>
            <a:r>
              <a:rPr dirty="0" sz="2600" spc="-35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可</a:t>
            </a:r>
            <a:r>
              <a:rPr dirty="0" sz="2600" b="1">
                <a:latin typeface="Microsoft JhengHei"/>
                <a:cs typeface="Microsoft JhengHei"/>
              </a:rPr>
              <a:t>以</a:t>
            </a:r>
            <a:r>
              <a:rPr dirty="0" sz="2600" spc="-35" b="1">
                <a:latin typeface="Microsoft JhengHei"/>
                <a:cs typeface="Microsoft JhengHei"/>
              </a:rPr>
              <a:t>找</a:t>
            </a:r>
            <a:r>
              <a:rPr dirty="0" sz="2600" spc="-35" b="1">
                <a:latin typeface="Microsoft JhengHei"/>
                <a:cs typeface="Microsoft JhengHei"/>
              </a:rPr>
              <a:t>到</a:t>
            </a:r>
            <a:r>
              <a:rPr dirty="0" sz="2600" b="1">
                <a:latin typeface="Microsoft JhengHei"/>
                <a:cs typeface="Microsoft JhengHei"/>
              </a:rPr>
              <a:t>包</a:t>
            </a:r>
            <a:r>
              <a:rPr dirty="0" sz="2600" spc="-35" b="1">
                <a:latin typeface="Microsoft JhengHei"/>
                <a:cs typeface="Microsoft JhengHei"/>
              </a:rPr>
              <a:t>含</a:t>
            </a:r>
            <a:r>
              <a:rPr dirty="0" sz="2600" spc="-35" b="1">
                <a:latin typeface="Microsoft JhengHei"/>
                <a:cs typeface="Microsoft JhengHei"/>
              </a:rPr>
              <a:t>它</a:t>
            </a:r>
            <a:r>
              <a:rPr dirty="0" sz="2600" spc="-35" b="1">
                <a:latin typeface="Microsoft JhengHei"/>
                <a:cs typeface="Microsoft JhengHei"/>
              </a:rPr>
              <a:t>们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全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b="1">
                <a:latin typeface="Microsoft JhengHei"/>
                <a:cs typeface="Microsoft JhengHei"/>
              </a:rPr>
              <a:t>。</a:t>
            </a:r>
            <a:r>
              <a:rPr dirty="0" sz="2600" spc="-35" b="1">
                <a:latin typeface="Microsoft JhengHei"/>
                <a:cs typeface="Microsoft JhengHei"/>
              </a:rPr>
              <a:t>在</a:t>
            </a:r>
            <a:r>
              <a:rPr dirty="0" sz="2600" spc="-50" b="1">
                <a:latin typeface="Microsoft JhengHei"/>
                <a:cs typeface="Microsoft JhengHei"/>
              </a:rPr>
              <a:t>今</a:t>
            </a:r>
            <a:r>
              <a:rPr dirty="0" sz="2600" b="1">
                <a:latin typeface="Microsoft JhengHei"/>
                <a:cs typeface="Microsoft JhengHei"/>
              </a:rPr>
              <a:t>后</a:t>
            </a:r>
            <a:r>
              <a:rPr dirty="0" sz="2600" spc="-35" b="1">
                <a:latin typeface="Microsoft JhengHei"/>
                <a:cs typeface="Microsoft JhengHei"/>
              </a:rPr>
              <a:t>讨</a:t>
            </a:r>
            <a:r>
              <a:rPr dirty="0" sz="2600" spc="-35" b="1">
                <a:latin typeface="Microsoft JhengHei"/>
                <a:cs typeface="Microsoft JhengHei"/>
              </a:rPr>
              <a:t>论</a:t>
            </a:r>
            <a:r>
              <a:rPr dirty="0" sz="2600" spc="-35" b="1">
                <a:latin typeface="Microsoft JhengHei"/>
                <a:cs typeface="Microsoft JhengHei"/>
              </a:rPr>
              <a:t>中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所</a:t>
            </a:r>
            <a:r>
              <a:rPr dirty="0" sz="2600" spc="-35" b="1">
                <a:latin typeface="Microsoft JhengHei"/>
                <a:cs typeface="Microsoft JhengHei"/>
              </a:rPr>
              <a:t>涉</a:t>
            </a:r>
            <a:r>
              <a:rPr dirty="0" sz="2600" b="1">
                <a:latin typeface="Microsoft JhengHei"/>
                <a:cs typeface="Microsoft JhengHei"/>
              </a:rPr>
              <a:t>及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可</a:t>
            </a:r>
            <a:r>
              <a:rPr dirty="0" sz="2600" spc="-35" b="1">
                <a:latin typeface="Microsoft JhengHei"/>
                <a:cs typeface="Microsoft JhengHei"/>
              </a:rPr>
              <a:t>以</a:t>
            </a:r>
            <a:r>
              <a:rPr dirty="0" sz="2600" b="1">
                <a:latin typeface="Microsoft JhengHei"/>
                <a:cs typeface="Microsoft JhengHei"/>
              </a:rPr>
              <a:t>看</a:t>
            </a:r>
            <a:r>
              <a:rPr dirty="0" sz="2600" spc="-35" b="1">
                <a:latin typeface="Microsoft JhengHei"/>
                <a:cs typeface="Microsoft JhengHei"/>
              </a:rPr>
              <a:t>成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某</a:t>
            </a:r>
            <a:r>
              <a:rPr dirty="0" sz="2600" spc="5" b="1">
                <a:latin typeface="Microsoft JhengHei"/>
                <a:cs typeface="Microsoft JhengHei"/>
              </a:rPr>
              <a:t>个全集</a:t>
            </a:r>
            <a:r>
              <a:rPr dirty="0" sz="2600" spc="-6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子</a:t>
            </a:r>
            <a:r>
              <a:rPr dirty="0" sz="2600" spc="-25" b="1">
                <a:latin typeface="Microsoft JhengHei"/>
                <a:cs typeface="Microsoft JhengHei"/>
              </a:rPr>
              <a:t>集。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幂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64782" y="1550493"/>
            <a:ext cx="8408035" cy="421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7780">
              <a:lnSpc>
                <a:spcPct val="150200"/>
              </a:lnSpc>
              <a:spcBef>
                <a:spcPts val="100"/>
              </a:spcBef>
              <a:tabLst>
                <a:tab pos="1487805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义</a:t>
            </a:r>
            <a:r>
              <a:rPr dirty="0" sz="2800" spc="-25" b="1">
                <a:latin typeface="Microsoft JhengHei"/>
                <a:cs typeface="Microsoft JhengHei"/>
              </a:rPr>
              <a:t>1.6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为</a:t>
            </a:r>
            <a:r>
              <a:rPr dirty="0" sz="2800" b="1">
                <a:latin typeface="Microsoft JhengHei"/>
                <a:cs typeface="Microsoft JhengHei"/>
              </a:rPr>
              <a:t>一个</a:t>
            </a:r>
            <a:r>
              <a:rPr dirty="0" sz="2800" spc="60" b="1">
                <a:latin typeface="Microsoft JhengHei"/>
                <a:cs typeface="Microsoft JhengHei"/>
              </a:rPr>
              <a:t>集</a:t>
            </a:r>
            <a:r>
              <a:rPr dirty="0" sz="2800" b="1">
                <a:latin typeface="Microsoft JhengHei"/>
                <a:cs typeface="Microsoft JhengHei"/>
              </a:rPr>
              <a:t>合，称</a:t>
            </a:r>
            <a:r>
              <a:rPr dirty="0" sz="2800" spc="-10" b="1">
                <a:latin typeface="Microsoft JhengHei"/>
                <a:cs typeface="Microsoft JhengHei"/>
              </a:rPr>
              <a:t>由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的</a:t>
            </a:r>
            <a:r>
              <a:rPr dirty="0" sz="2800" spc="70" b="1">
                <a:latin typeface="Microsoft JhengHei"/>
                <a:cs typeface="Microsoft JhengHei"/>
              </a:rPr>
              <a:t>全</a:t>
            </a:r>
            <a:r>
              <a:rPr dirty="0" sz="2800" b="1">
                <a:latin typeface="Microsoft JhengHei"/>
                <a:cs typeface="Microsoft JhengHei"/>
              </a:rPr>
              <a:t>体子集组成的</a:t>
            </a:r>
            <a:r>
              <a:rPr dirty="0" sz="2800" spc="-50" b="1">
                <a:latin typeface="Microsoft JhengHei"/>
                <a:cs typeface="Microsoft JhengHei"/>
              </a:rPr>
              <a:t>集</a:t>
            </a:r>
            <a:r>
              <a:rPr dirty="0" sz="2800" spc="70" b="1">
                <a:latin typeface="Microsoft JhengHei"/>
                <a:cs typeface="Microsoft JhengHei"/>
              </a:rPr>
              <a:t>合为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幂集</a:t>
            </a:r>
            <a:r>
              <a:rPr dirty="0" sz="2800" b="1">
                <a:latin typeface="Microsoft JhengHei"/>
                <a:cs typeface="Microsoft JhengHei"/>
              </a:rPr>
              <a:t>，记</a:t>
            </a:r>
            <a:r>
              <a:rPr dirty="0" sz="2800" spc="-10" b="1">
                <a:latin typeface="Microsoft JhengHei"/>
                <a:cs typeface="Microsoft JhengHei"/>
              </a:rPr>
              <a:t>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50800" marR="3131820">
              <a:lnSpc>
                <a:spcPct val="169500"/>
              </a:lnSpc>
              <a:tabLst>
                <a:tab pos="2713990" algn="l"/>
              </a:tabLst>
            </a:pPr>
            <a:r>
              <a:rPr dirty="0" sz="2800" spc="70" b="1">
                <a:latin typeface="Microsoft JhengHei"/>
                <a:cs typeface="Microsoft JhengHei"/>
              </a:rPr>
              <a:t>用描述</a:t>
            </a:r>
            <a:r>
              <a:rPr dirty="0" sz="2800" b="1">
                <a:latin typeface="Microsoft JhengHei"/>
                <a:cs typeface="Microsoft JhengHei"/>
              </a:rPr>
              <a:t>法表示</a:t>
            </a:r>
            <a:r>
              <a:rPr dirty="0" sz="2800" spc="-50" b="1">
                <a:latin typeface="Microsoft JhengHei"/>
                <a:cs typeface="Microsoft JhengHei"/>
              </a:rPr>
              <a:t>为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P(A) = {x|x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A}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r>
              <a:rPr dirty="0" sz="2800" spc="70" b="1">
                <a:latin typeface="Microsoft JhengHei"/>
                <a:cs typeface="Microsoft JhengHei"/>
              </a:rPr>
              <a:t>说明</a:t>
            </a:r>
            <a:r>
              <a:rPr dirty="0" sz="2800" spc="20" b="1">
                <a:latin typeface="Microsoft JhengHei"/>
                <a:cs typeface="Microsoft JhengHei"/>
              </a:rPr>
              <a:t>：</a:t>
            </a:r>
            <a:endParaRPr sz="2800">
              <a:latin typeface="Microsoft JhengHei"/>
              <a:cs typeface="Microsoft JhengHei"/>
            </a:endParaRPr>
          </a:p>
          <a:p>
            <a:pPr marL="535940" indent="-485775">
              <a:lnSpc>
                <a:spcPct val="100000"/>
              </a:lnSpc>
              <a:spcBef>
                <a:spcPts val="2410"/>
              </a:spcBef>
              <a:buFont typeface="Calibri"/>
              <a:buAutoNum type="arabicParenBoth"/>
              <a:tabLst>
                <a:tab pos="536575" algn="l"/>
              </a:tabLst>
            </a:pPr>
            <a:r>
              <a:rPr dirty="0" sz="2800" spc="20" b="1">
                <a:latin typeface="Microsoft JhengHei"/>
                <a:cs typeface="Microsoft JhengHei"/>
              </a:rPr>
              <a:t>在概率论中，用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z="2800" spc="-10" b="1">
                <a:latin typeface="Microsoft JhengHei"/>
                <a:cs typeface="Microsoft JhengHei"/>
              </a:rPr>
              <a:t>表示事件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的概率。</a:t>
            </a:r>
            <a:endParaRPr sz="2800">
              <a:latin typeface="Microsoft JhengHei"/>
              <a:cs typeface="Microsoft JhengHei"/>
            </a:endParaRPr>
          </a:p>
          <a:p>
            <a:pPr marL="535940" indent="-485775">
              <a:lnSpc>
                <a:spcPct val="100000"/>
              </a:lnSpc>
              <a:spcBef>
                <a:spcPts val="2335"/>
              </a:spcBef>
              <a:buFont typeface="Calibri"/>
              <a:buAutoNum type="arabicParenBoth"/>
              <a:tabLst>
                <a:tab pos="536575" algn="l"/>
              </a:tabLst>
            </a:pPr>
            <a:r>
              <a:rPr dirty="0" sz="2800" spc="35" b="1">
                <a:latin typeface="Microsoft JhengHei"/>
                <a:cs typeface="Microsoft JhengHei"/>
              </a:rPr>
              <a:t>有的书上用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25525" sz="277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表示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10" b="1">
                <a:latin typeface="Microsoft JhengHei"/>
                <a:cs typeface="Microsoft JhengHei"/>
              </a:rPr>
              <a:t>的幂集。</a:t>
            </a: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spc="-5" b="1">
                <a:latin typeface="Microsoft JhengHei"/>
                <a:cs typeface="Microsoft JhengHei"/>
              </a:rPr>
              <a:t>为什么</a:t>
            </a:r>
            <a:r>
              <a:rPr dirty="0" sz="2800" spc="-25" b="1">
                <a:latin typeface="Calibri"/>
                <a:cs typeface="Calibri"/>
              </a:rPr>
              <a:t>?)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370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的</a:t>
            </a:r>
            <a:r>
              <a:rPr dirty="0"/>
              <a:t>元</a:t>
            </a:r>
            <a:r>
              <a:rPr dirty="0" spc="-35"/>
              <a:t>素个数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233070" y="1550493"/>
            <a:ext cx="8781415" cy="403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200"/>
              </a:lnSpc>
              <a:spcBef>
                <a:spcPts val="100"/>
              </a:spcBef>
            </a:pPr>
            <a:r>
              <a:rPr dirty="0" sz="2800" spc="-10" b="1">
                <a:latin typeface="Microsoft JhengHei"/>
                <a:cs typeface="Microsoft JhengHei"/>
              </a:rPr>
              <a:t>规定：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spc="70" b="1">
                <a:latin typeface="Microsoft JhengHei"/>
                <a:cs typeface="Microsoft JhengHei"/>
              </a:rPr>
              <a:t>为</a:t>
            </a:r>
            <a:r>
              <a:rPr dirty="0" sz="2800" spc="-60" b="1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元集</a:t>
            </a:r>
            <a:r>
              <a:rPr dirty="0" sz="2800" spc="25" b="1">
                <a:latin typeface="Microsoft JhengHei"/>
                <a:cs typeface="Microsoft JhengHei"/>
              </a:rPr>
              <a:t>，含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5" b="1">
                <a:latin typeface="Microsoft JhengHei"/>
                <a:cs typeface="Microsoft JhengHei"/>
              </a:rPr>
              <a:t>个元素的集合为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单元集</a:t>
            </a:r>
            <a:r>
              <a:rPr dirty="0" sz="2800" spc="65" b="1">
                <a:latin typeface="Microsoft JhengHei"/>
                <a:cs typeface="Microsoft JhengHei"/>
              </a:rPr>
              <a:t>或</a:t>
            </a:r>
            <a:r>
              <a:rPr dirty="0" sz="2800" spc="-55" b="1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元集</a:t>
            </a:r>
            <a:r>
              <a:rPr dirty="0" sz="2800" spc="-50" b="1">
                <a:latin typeface="Microsoft JhengHei"/>
                <a:cs typeface="Microsoft JhengHei"/>
              </a:rPr>
              <a:t>，</a:t>
            </a:r>
            <a:r>
              <a:rPr dirty="0" sz="2800" spc="70" b="1">
                <a:latin typeface="Microsoft JhengHei"/>
                <a:cs typeface="Microsoft JhengHei"/>
              </a:rPr>
              <a:t>含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10" b="1">
                <a:latin typeface="Microsoft JhengHei"/>
                <a:cs typeface="Microsoft JhengHei"/>
              </a:rPr>
              <a:t>个元素的集合为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元集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……</a:t>
            </a:r>
            <a:r>
              <a:rPr dirty="0" sz="2800" b="1">
                <a:latin typeface="Microsoft JhengHei"/>
                <a:cs typeface="Microsoft JhengHei"/>
              </a:rPr>
              <a:t>，含</a:t>
            </a:r>
            <a:r>
              <a:rPr dirty="0" sz="2800" spc="-7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b="1">
                <a:latin typeface="Microsoft JhengHei"/>
                <a:cs typeface="Microsoft JhengHei"/>
              </a:rPr>
              <a:t>个元素的集合为</a:t>
            </a:r>
            <a:r>
              <a:rPr dirty="0" sz="2800" spc="-50" b="1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元集</a:t>
            </a:r>
            <a:r>
              <a:rPr dirty="0" sz="2800" b="1">
                <a:latin typeface="Calibri"/>
                <a:cs typeface="Calibri"/>
              </a:rPr>
              <a:t>(n</a:t>
            </a:r>
            <a:r>
              <a:rPr dirty="0" sz="2800" b="1">
                <a:latin typeface="Symbol"/>
                <a:cs typeface="Symbol"/>
              </a:rPr>
              <a:t></a:t>
            </a:r>
            <a:r>
              <a:rPr dirty="0" sz="2800" b="1">
                <a:latin typeface="Calibri"/>
                <a:cs typeface="Calibri"/>
              </a:rPr>
              <a:t>1)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38100" marR="213995">
              <a:lnSpc>
                <a:spcPct val="150100"/>
              </a:lnSpc>
              <a:spcBef>
                <a:spcPts val="655"/>
              </a:spcBef>
            </a:pPr>
            <a:r>
              <a:rPr dirty="0" sz="2800" spc="70" b="1">
                <a:latin typeface="Microsoft JhengHei"/>
                <a:cs typeface="Microsoft JhengHei"/>
              </a:rPr>
              <a:t>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|A|</a:t>
            </a:r>
            <a:r>
              <a:rPr dirty="0" sz="2800" spc="15" b="1">
                <a:latin typeface="Microsoft JhengHei"/>
                <a:cs typeface="Microsoft JhengHei"/>
              </a:rPr>
              <a:t>表示集合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中的元素个数，当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中的元素个数为有</a:t>
            </a:r>
            <a:r>
              <a:rPr dirty="0" sz="2800" spc="45" b="1">
                <a:latin typeface="Microsoft JhengHei"/>
                <a:cs typeface="Microsoft JhengHei"/>
              </a:rPr>
              <a:t>限数时，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有穷集</a:t>
            </a:r>
            <a:r>
              <a:rPr dirty="0" sz="2800" spc="-10" b="1">
                <a:latin typeface="Microsoft JhengHei"/>
                <a:cs typeface="Microsoft JhengHei"/>
              </a:rPr>
              <a:t>或</a:t>
            </a:r>
            <a:r>
              <a:rPr dirty="0" sz="2800" spc="135" b="1">
                <a:solidFill>
                  <a:srgbClr val="FF0000"/>
                </a:solidFill>
                <a:latin typeface="Microsoft JhengHei"/>
                <a:cs typeface="Microsoft JhengHei"/>
              </a:rPr>
              <a:t>有限集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38100">
              <a:lnSpc>
                <a:spcPct val="100000"/>
              </a:lnSpc>
              <a:spcBef>
                <a:spcPts val="2335"/>
              </a:spcBef>
              <a:tabLst>
                <a:tab pos="1474470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65" b="1">
                <a:latin typeface="Microsoft JhengHei"/>
                <a:cs typeface="Microsoft JhengHei"/>
              </a:rPr>
              <a:t>理</a:t>
            </a:r>
            <a:r>
              <a:rPr dirty="0" sz="2800" spc="-25" b="1">
                <a:latin typeface="Microsoft JhengHei"/>
                <a:cs typeface="Microsoft JhengHei"/>
              </a:rPr>
              <a:t>1.2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设集</a:t>
            </a:r>
            <a:r>
              <a:rPr dirty="0" sz="2800" spc="70" b="1">
                <a:latin typeface="Microsoft JhengHei"/>
                <a:cs typeface="Microsoft JhengHei"/>
              </a:rPr>
              <a:t>合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的</a:t>
            </a:r>
            <a:r>
              <a:rPr dirty="0" sz="2800" spc="70" b="1">
                <a:latin typeface="Microsoft JhengHei"/>
                <a:cs typeface="Microsoft JhengHei"/>
              </a:rPr>
              <a:t>元</a:t>
            </a:r>
            <a:r>
              <a:rPr dirty="0" sz="2800" b="1">
                <a:latin typeface="Microsoft JhengHei"/>
                <a:cs typeface="Microsoft JhengHei"/>
              </a:rPr>
              <a:t>素个</a:t>
            </a:r>
            <a:r>
              <a:rPr dirty="0" sz="2800" spc="-10" b="1">
                <a:latin typeface="Microsoft JhengHei"/>
                <a:cs typeface="Microsoft JhengHei"/>
              </a:rPr>
              <a:t>数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|A|=n</a:t>
            </a:r>
            <a:r>
              <a:rPr dirty="0" sz="2800" spc="-25" b="1">
                <a:solidFill>
                  <a:srgbClr val="006FC0"/>
                </a:solidFill>
                <a:latin typeface="Microsoft JhengHei"/>
                <a:cs typeface="Microsoft JhengHei"/>
              </a:rPr>
              <a:t>，</a:t>
            </a:r>
            <a:r>
              <a:rPr dirty="0" sz="2800" spc="65" b="1">
                <a:latin typeface="Microsoft JhengHei"/>
                <a:cs typeface="Microsoft JhengHei"/>
              </a:rPr>
              <a:t>则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|P(A)|=2</a:t>
            </a:r>
            <a:r>
              <a:rPr dirty="0" baseline="25525" sz="2775" spc="-1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5097" y="471551"/>
            <a:ext cx="3275329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求</a:t>
            </a:r>
            <a:r>
              <a:rPr dirty="0" spc="-35">
                <a:latin typeface="Calibri"/>
                <a:cs typeface="Calibri"/>
              </a:rPr>
              <a:t>P(A)</a:t>
            </a:r>
            <a:r>
              <a:rPr dirty="0"/>
              <a:t>的</a:t>
            </a:r>
            <a:r>
              <a:rPr dirty="0"/>
              <a:t>步</a:t>
            </a:r>
            <a:r>
              <a:rPr dirty="0" spc="-50"/>
              <a:t>骤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74459" y="1560080"/>
            <a:ext cx="8347709" cy="4640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95"/>
              </a:spcBef>
            </a:pPr>
            <a:r>
              <a:rPr dirty="0" sz="2800" spc="30" b="1">
                <a:latin typeface="Microsoft JhengHei"/>
                <a:cs typeface="Microsoft JhengHei"/>
              </a:rPr>
              <a:t>为了求出给定集合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10" b="1">
                <a:latin typeface="Microsoft JhengHei"/>
                <a:cs typeface="Microsoft JhengHei"/>
              </a:rPr>
              <a:t>的幂集，先求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的由低到高元的所</a:t>
            </a:r>
            <a:r>
              <a:rPr dirty="0" sz="2800" spc="5" b="1">
                <a:latin typeface="Microsoft JhengHei"/>
                <a:cs typeface="Microsoft JhengHei"/>
              </a:rPr>
              <a:t>有子集，再将它们组成集合。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A={a,b,c}</a:t>
            </a:r>
            <a:r>
              <a:rPr dirty="0" sz="2800" spc="25" b="1">
                <a:latin typeface="Microsoft JhengHei"/>
                <a:cs typeface="Microsoft JhengHei"/>
              </a:rPr>
              <a:t>，求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z="2800" spc="-5" b="1">
                <a:latin typeface="Microsoft JhengHei"/>
                <a:cs typeface="Microsoft JhengHei"/>
              </a:rPr>
              <a:t>的步骤如下：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spc="45" b="1">
                <a:latin typeface="Microsoft JhengHei"/>
                <a:cs typeface="Microsoft JhengHei"/>
              </a:rPr>
              <a:t>元子集为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b="1">
                <a:latin typeface="Microsoft JhengHei"/>
                <a:cs typeface="Microsoft JhengHei"/>
              </a:rPr>
              <a:t>；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-10" b="1">
                <a:latin typeface="Microsoft JhengHei"/>
                <a:cs typeface="Microsoft JhengHei"/>
              </a:rPr>
              <a:t>元子集为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{a}</a:t>
            </a:r>
            <a:r>
              <a:rPr dirty="0" sz="2800" spc="65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{b}</a:t>
            </a:r>
            <a:r>
              <a:rPr dirty="0" sz="2800" spc="65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{c}</a:t>
            </a:r>
            <a:r>
              <a:rPr dirty="0" sz="2800" spc="-2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 marR="272415">
              <a:lnSpc>
                <a:spcPts val="5410"/>
              </a:lnSpc>
              <a:spcBef>
                <a:spcPts val="445"/>
              </a:spcBef>
            </a:pPr>
            <a:r>
              <a:rPr dirty="0" sz="2800" b="1">
                <a:latin typeface="Calibri"/>
                <a:cs typeface="Calibri"/>
              </a:rPr>
              <a:t>2</a:t>
            </a:r>
            <a:r>
              <a:rPr dirty="0" sz="2800" spc="45" b="1">
                <a:latin typeface="Microsoft JhengHei"/>
                <a:cs typeface="Microsoft JhengHei"/>
              </a:rPr>
              <a:t>元子集为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{a,b}</a:t>
            </a:r>
            <a:r>
              <a:rPr dirty="0" sz="2800" spc="65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{a,c}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{b,c}</a:t>
            </a:r>
            <a:r>
              <a:rPr dirty="0" sz="2800" spc="-10" b="1">
                <a:latin typeface="Microsoft JhengHei"/>
                <a:cs typeface="Microsoft JhengHei"/>
              </a:rPr>
              <a:t>；</a:t>
            </a:r>
            <a:r>
              <a:rPr dirty="0" sz="2800" spc="-10" b="1">
                <a:latin typeface="Calibri"/>
                <a:cs typeface="Calibri"/>
              </a:rPr>
              <a:t>3</a:t>
            </a:r>
            <a:r>
              <a:rPr dirty="0" sz="2800" spc="10" b="1">
                <a:latin typeface="Microsoft JhengHei"/>
                <a:cs typeface="Microsoft JhengHei"/>
              </a:rPr>
              <a:t>元子集为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{a,b,c}=A</a:t>
            </a:r>
            <a:r>
              <a:rPr dirty="0" sz="2800" spc="-10" b="1">
                <a:latin typeface="Microsoft JhengHei"/>
                <a:cs typeface="Microsoft JhengHei"/>
              </a:rPr>
              <a:t>；</a:t>
            </a:r>
            <a:r>
              <a:rPr dirty="0" sz="2800" spc="40" b="1">
                <a:latin typeface="Microsoft JhengHei"/>
                <a:cs typeface="Microsoft JhengHei"/>
              </a:rPr>
              <a:t>所以，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的幂集为</a:t>
            </a:r>
            <a:endParaRPr sz="2800">
              <a:latin typeface="Microsoft JhengHei"/>
              <a:cs typeface="Microsoft JhengHei"/>
            </a:endParaRPr>
          </a:p>
          <a:p>
            <a:pPr marL="845185">
              <a:lnSpc>
                <a:spcPct val="100000"/>
              </a:lnSpc>
              <a:spcBef>
                <a:spcPts val="1525"/>
              </a:spcBef>
            </a:pP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P(A)={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,{a},{b},{c},{a,b},{a,c</a:t>
            </a:r>
            <a:r>
              <a:rPr dirty="0" sz="2800" spc="55" b="1">
                <a:solidFill>
                  <a:srgbClr val="006FC0"/>
                </a:solidFill>
                <a:latin typeface="Calibri"/>
                <a:cs typeface="Calibri"/>
              </a:rPr>
              <a:t>}, {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b,c},{a,b,c}}</a:t>
            </a:r>
            <a:r>
              <a:rPr dirty="0" sz="2800" spc="-50" b="1">
                <a:solidFill>
                  <a:srgbClr val="006FC0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 spc="-50"/>
              <a:t>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573728"/>
            <a:ext cx="8131809" cy="46215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50800" marR="74930">
              <a:lnSpc>
                <a:spcPct val="139800"/>
              </a:lnSpc>
              <a:spcBef>
                <a:spcPts val="60"/>
              </a:spcBef>
            </a:pPr>
            <a:r>
              <a:rPr dirty="0" sz="2600" b="1">
                <a:latin typeface="Microsoft JhengHei"/>
                <a:cs typeface="Microsoft JhengHei"/>
              </a:rPr>
              <a:t>除</a:t>
            </a:r>
            <a:r>
              <a:rPr dirty="0" sz="2600" b="1">
                <a:latin typeface="Microsoft JhengHei"/>
                <a:cs typeface="Microsoft JhengHei"/>
              </a:rPr>
              <a:t>了</a:t>
            </a:r>
            <a:r>
              <a:rPr dirty="0" sz="2600" spc="-30" b="1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z="2600" b="1">
                <a:latin typeface="Microsoft JhengHei"/>
                <a:cs typeface="Microsoft JhengHei"/>
              </a:rPr>
              <a:t>以</a:t>
            </a:r>
            <a:r>
              <a:rPr dirty="0" sz="2600" b="1">
                <a:latin typeface="Microsoft JhengHei"/>
                <a:cs typeface="Microsoft JhengHei"/>
              </a:rPr>
              <a:t>外</a:t>
            </a:r>
            <a:r>
              <a:rPr dirty="0" sz="2600" spc="-15" b="1">
                <a:latin typeface="Microsoft JhengHei"/>
                <a:cs typeface="Microsoft JhengHei"/>
              </a:rPr>
              <a:t>，还有</a:t>
            </a:r>
            <a:r>
              <a:rPr dirty="0" sz="2600" spc="-35" b="1">
                <a:latin typeface="Microsoft JhengHei"/>
                <a:cs typeface="Microsoft JhengHei"/>
              </a:rPr>
              <a:t>其</a:t>
            </a:r>
            <a:r>
              <a:rPr dirty="0" sz="2600" spc="-35" b="1">
                <a:latin typeface="Microsoft JhengHei"/>
                <a:cs typeface="Microsoft JhengHei"/>
              </a:rPr>
              <a:t>他</a:t>
            </a:r>
            <a:r>
              <a:rPr dirty="0" sz="2600" b="1">
                <a:latin typeface="Microsoft JhengHei"/>
                <a:cs typeface="Microsoft JhengHei"/>
              </a:rPr>
              <a:t>形</a:t>
            </a:r>
            <a:r>
              <a:rPr dirty="0" sz="2600" spc="-35" b="1">
                <a:latin typeface="Microsoft JhengHei"/>
                <a:cs typeface="Microsoft JhengHei"/>
              </a:rPr>
              <a:t>式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由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spc="-35" b="1">
                <a:latin typeface="Microsoft JhengHei"/>
                <a:cs typeface="Microsoft JhengHei"/>
              </a:rPr>
              <a:t>构</a:t>
            </a:r>
            <a:r>
              <a:rPr dirty="0" sz="2600" b="1">
                <a:latin typeface="Microsoft JhengHei"/>
                <a:cs typeface="Microsoft JhengHei"/>
              </a:rPr>
              <a:t>成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spc="-25" b="1">
                <a:latin typeface="Microsoft JhengHei"/>
                <a:cs typeface="Microsoft JhengHei"/>
              </a:rPr>
              <a:t>，统</a:t>
            </a:r>
            <a:r>
              <a:rPr dirty="0" sz="2600" b="1">
                <a:latin typeface="Microsoft JhengHei"/>
                <a:cs typeface="Microsoft JhengHei"/>
              </a:rPr>
              <a:t>称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集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族</a:t>
            </a:r>
            <a:r>
              <a:rPr dirty="0" sz="2600" spc="-20" b="1">
                <a:latin typeface="Microsoft JhengHei"/>
                <a:cs typeface="Microsoft JhengHei"/>
              </a:rPr>
              <a:t>。若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族</a:t>
            </a:r>
            <a:r>
              <a:rPr dirty="0" sz="2600" b="1">
                <a:latin typeface="Microsoft JhengHei"/>
                <a:cs typeface="Microsoft JhengHei"/>
              </a:rPr>
              <a:t>中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赋</a:t>
            </a:r>
            <a:r>
              <a:rPr dirty="0" sz="2600" spc="-35" b="1">
                <a:latin typeface="Microsoft JhengHei"/>
                <a:cs typeface="Microsoft JhengHei"/>
              </a:rPr>
              <a:t>予</a:t>
            </a:r>
            <a:r>
              <a:rPr dirty="0" sz="2600" b="1">
                <a:latin typeface="Microsoft JhengHei"/>
                <a:cs typeface="Microsoft JhengHei"/>
              </a:rPr>
              <a:t>记</a:t>
            </a:r>
            <a:r>
              <a:rPr dirty="0" sz="2600" spc="-35" b="1">
                <a:latin typeface="Microsoft JhengHei"/>
                <a:cs typeface="Microsoft JhengHei"/>
              </a:rPr>
              <a:t>号</a:t>
            </a:r>
            <a:r>
              <a:rPr dirty="0" sz="2600" spc="-35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则</a:t>
            </a:r>
            <a:r>
              <a:rPr dirty="0" sz="2600" b="1">
                <a:latin typeface="Microsoft JhengHei"/>
                <a:cs typeface="Microsoft JhengHei"/>
              </a:rPr>
              <a:t>可</a:t>
            </a:r>
            <a:r>
              <a:rPr dirty="0" sz="2600" spc="-35" b="1">
                <a:latin typeface="Microsoft JhengHei"/>
                <a:cs typeface="Microsoft JhengHei"/>
              </a:rPr>
              <a:t>得</a:t>
            </a:r>
            <a:r>
              <a:rPr dirty="0" sz="2600" spc="-35" b="1">
                <a:latin typeface="Microsoft JhengHei"/>
                <a:cs typeface="Microsoft JhengHei"/>
              </a:rPr>
              <a:t>带</a:t>
            </a:r>
            <a:r>
              <a:rPr dirty="0" sz="2600" spc="-25" b="1">
                <a:latin typeface="Microsoft JhengHei"/>
                <a:cs typeface="Microsoft JhengHei"/>
              </a:rPr>
              <a:t>指标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b="1">
                <a:latin typeface="Microsoft JhengHei"/>
                <a:cs typeface="Microsoft JhengHei"/>
              </a:rPr>
              <a:t>集</a:t>
            </a:r>
            <a:r>
              <a:rPr dirty="0" sz="2600" b="1">
                <a:latin typeface="Microsoft JhengHei"/>
                <a:cs typeface="Microsoft JhengHei"/>
              </a:rPr>
              <a:t>族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algn="just" marL="50800">
              <a:lnSpc>
                <a:spcPct val="100000"/>
              </a:lnSpc>
              <a:spcBef>
                <a:spcPts val="1850"/>
              </a:spcBef>
            </a:pP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义</a:t>
            </a:r>
            <a:r>
              <a:rPr dirty="0" sz="2600" spc="75" b="1">
                <a:latin typeface="Microsoft JhengHei"/>
                <a:cs typeface="Microsoft JhengHei"/>
              </a:rPr>
              <a:t>1.7</a:t>
            </a:r>
            <a:r>
              <a:rPr dirty="0" sz="2600" spc="100" b="1">
                <a:latin typeface="Microsoft JhengHei"/>
                <a:cs typeface="Microsoft JhengHei"/>
              </a:rPr>
              <a:t>  设</a:t>
            </a:r>
            <a:r>
              <a:rPr dirty="0" sz="26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b="1">
                <a:latin typeface="Microsoft JhengHei"/>
                <a:cs typeface="Microsoft JhengHei"/>
              </a:rPr>
              <a:t>一</a:t>
            </a: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spc="-25" b="1">
                <a:latin typeface="Microsoft JhengHei"/>
                <a:cs typeface="Microsoft JhengHei"/>
              </a:rPr>
              <a:t>集族，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spc="-35" b="1">
                <a:latin typeface="Microsoft JhengHei"/>
                <a:cs typeface="Microsoft JhengHei"/>
              </a:rPr>
              <a:t>为</a:t>
            </a:r>
            <a:r>
              <a:rPr dirty="0" sz="2600" spc="-35" b="1">
                <a:latin typeface="Microsoft JhengHei"/>
                <a:cs typeface="Microsoft JhengHei"/>
              </a:rPr>
              <a:t>一</a:t>
            </a: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35" b="1">
                <a:latin typeface="Microsoft JhengHei"/>
                <a:cs typeface="Microsoft JhengHei"/>
              </a:rPr>
              <a:t>合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若</a:t>
            </a:r>
            <a:r>
              <a:rPr dirty="0" sz="2600" spc="-35" b="1">
                <a:latin typeface="Microsoft JhengHei"/>
                <a:cs typeface="Microsoft JhengHei"/>
              </a:rPr>
              <a:t>对</a:t>
            </a:r>
            <a:r>
              <a:rPr dirty="0" sz="2600" spc="-35" b="1">
                <a:latin typeface="Microsoft JhengHei"/>
                <a:cs typeface="Microsoft JhengHei"/>
              </a:rPr>
              <a:t>于</a:t>
            </a:r>
            <a:r>
              <a:rPr dirty="0" sz="2600" b="1">
                <a:latin typeface="Microsoft JhengHei"/>
                <a:cs typeface="Microsoft JhengHei"/>
              </a:rPr>
              <a:t>任</a:t>
            </a:r>
            <a:r>
              <a:rPr dirty="0" sz="2600" spc="-35" b="1">
                <a:latin typeface="Microsoft JhengHei"/>
                <a:cs typeface="Microsoft JhengHei"/>
              </a:rPr>
              <a:t>意</a:t>
            </a:r>
            <a:r>
              <a:rPr dirty="0" sz="2600" spc="-50" b="1">
                <a:latin typeface="Microsoft JhengHei"/>
                <a:cs typeface="Microsoft JhengHei"/>
              </a:rPr>
              <a:t>的</a:t>
            </a:r>
            <a:endParaRPr sz="2600">
              <a:latin typeface="Microsoft JhengHei"/>
              <a:cs typeface="Microsoft JhengHei"/>
            </a:endParaRPr>
          </a:p>
          <a:p>
            <a:pPr algn="just" marL="50800" marR="64135">
              <a:lnSpc>
                <a:spcPct val="139800"/>
              </a:lnSpc>
              <a:spcBef>
                <a:spcPts val="40"/>
              </a:spcBef>
            </a:pP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存</a:t>
            </a:r>
            <a:r>
              <a:rPr dirty="0" sz="2600" b="1">
                <a:latin typeface="Microsoft JhengHei"/>
                <a:cs typeface="Microsoft JhengHei"/>
              </a:rPr>
              <a:t>在</a:t>
            </a:r>
            <a:r>
              <a:rPr dirty="0" sz="2600" b="1">
                <a:latin typeface="Microsoft JhengHei"/>
                <a:cs typeface="Microsoft JhengHei"/>
              </a:rPr>
              <a:t>惟</a:t>
            </a:r>
            <a:r>
              <a:rPr dirty="0" sz="2600" spc="-35" b="1">
                <a:latin typeface="Microsoft JhengHei"/>
                <a:cs typeface="Microsoft JhengHei"/>
              </a:rPr>
              <a:t>一的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607" sz="2550" spc="-3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600" spc="-2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与</a:t>
            </a:r>
            <a:r>
              <a:rPr dirty="0" sz="2600" spc="-35" b="1">
                <a:latin typeface="Microsoft JhengHei"/>
                <a:cs typeface="Microsoft JhengHei"/>
              </a:rPr>
              <a:t>之</a:t>
            </a:r>
            <a:r>
              <a:rPr dirty="0" sz="2600" spc="-35" b="1">
                <a:latin typeface="Microsoft JhengHei"/>
                <a:cs typeface="Microsoft JhengHei"/>
              </a:rPr>
              <a:t>对</a:t>
            </a:r>
            <a:r>
              <a:rPr dirty="0" sz="2600" spc="-20" b="1">
                <a:latin typeface="Microsoft JhengHei"/>
                <a:cs typeface="Microsoft JhengHei"/>
              </a:rPr>
              <a:t>应，</a:t>
            </a:r>
            <a:r>
              <a:rPr dirty="0" sz="2600" spc="-35" b="1">
                <a:latin typeface="Microsoft JhengHei"/>
                <a:cs typeface="Microsoft JhengHei"/>
              </a:rPr>
              <a:t>而</a:t>
            </a:r>
            <a:r>
              <a:rPr dirty="0" sz="2600" spc="-40" b="1">
                <a:latin typeface="Microsoft JhengHei"/>
                <a:cs typeface="Microsoft JhengHei"/>
              </a:rPr>
              <a:t>且</a:t>
            </a:r>
            <a:r>
              <a:rPr dirty="0" sz="26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spc="-35" b="1">
                <a:latin typeface="Microsoft JhengHei"/>
                <a:cs typeface="Microsoft JhengHei"/>
              </a:rPr>
              <a:t>中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b="1">
                <a:latin typeface="Microsoft JhengHei"/>
                <a:cs typeface="Microsoft JhengHei"/>
              </a:rPr>
              <a:t>任</a:t>
            </a:r>
            <a:r>
              <a:rPr dirty="0" sz="2600" spc="-35" b="1">
                <a:latin typeface="Microsoft JhengHei"/>
                <a:cs typeface="Microsoft JhengHei"/>
              </a:rPr>
              <a:t>何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50" b="1">
                <a:latin typeface="Microsoft JhengHei"/>
                <a:cs typeface="Microsoft JhengHei"/>
              </a:rPr>
              <a:t>合</a:t>
            </a:r>
            <a:r>
              <a:rPr dirty="0" sz="2600" b="1">
                <a:latin typeface="Microsoft JhengHei"/>
                <a:cs typeface="Microsoft JhengHei"/>
              </a:rPr>
              <a:t>都</a:t>
            </a:r>
            <a:r>
              <a:rPr dirty="0" sz="2600" b="1">
                <a:latin typeface="Microsoft JhengHei"/>
                <a:cs typeface="Microsoft JhengHei"/>
              </a:rPr>
              <a:t>对</a:t>
            </a:r>
            <a:r>
              <a:rPr dirty="0" sz="2600" b="1">
                <a:latin typeface="Microsoft JhengHei"/>
                <a:cs typeface="Microsoft JhengHei"/>
              </a:rPr>
              <a:t>应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spc="-15" b="1">
                <a:latin typeface="Microsoft JhengHei"/>
                <a:cs typeface="Microsoft JhengHei"/>
              </a:rPr>
              <a:t>中的某</a:t>
            </a:r>
            <a:r>
              <a:rPr dirty="0" sz="2600" spc="-35" b="1">
                <a:latin typeface="Microsoft JhengHei"/>
                <a:cs typeface="Microsoft JhengHei"/>
              </a:rPr>
              <a:t>一</a:t>
            </a:r>
            <a:r>
              <a:rPr dirty="0" sz="2600" spc="-35" b="1">
                <a:latin typeface="Microsoft JhengHei"/>
                <a:cs typeface="Microsoft JhengHei"/>
              </a:rPr>
              <a:t>元</a:t>
            </a:r>
            <a:r>
              <a:rPr dirty="0" sz="2600" spc="-20" b="1">
                <a:latin typeface="Microsoft JhengHei"/>
                <a:cs typeface="Microsoft JhengHei"/>
              </a:rPr>
              <a:t>素，</a:t>
            </a:r>
            <a:r>
              <a:rPr dirty="0" sz="2600" spc="-35" b="1">
                <a:latin typeface="Microsoft JhengHei"/>
                <a:cs typeface="Microsoft JhengHei"/>
              </a:rPr>
              <a:t>则</a:t>
            </a:r>
            <a:r>
              <a:rPr dirty="0" sz="2600" spc="-45" b="1">
                <a:latin typeface="Microsoft JhengHei"/>
                <a:cs typeface="Microsoft JhengHei"/>
              </a:rPr>
              <a:t>称</a:t>
            </a:r>
            <a:r>
              <a:rPr dirty="0" sz="26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以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35" b="1">
                <a:latin typeface="Microsoft JhengHei"/>
                <a:cs typeface="Microsoft JhengHei"/>
              </a:rPr>
              <a:t>指</a:t>
            </a:r>
            <a:r>
              <a:rPr dirty="0" sz="2600" spc="-35" b="1">
                <a:latin typeface="Microsoft JhengHei"/>
                <a:cs typeface="Microsoft JhengHei"/>
              </a:rPr>
              <a:t>标</a:t>
            </a:r>
            <a:r>
              <a:rPr dirty="0" sz="2600" spc="-20" b="1">
                <a:latin typeface="Microsoft JhengHei"/>
                <a:cs typeface="Microsoft JhengHei"/>
              </a:rPr>
              <a:t>集的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集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族</a:t>
            </a:r>
            <a:r>
              <a:rPr dirty="0" sz="2600" spc="-25" b="1">
                <a:latin typeface="Microsoft JhengHei"/>
                <a:cs typeface="Microsoft JhengHei"/>
              </a:rPr>
              <a:t>，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b="1">
                <a:latin typeface="Microsoft JhengHei"/>
                <a:cs typeface="Microsoft JhengHei"/>
              </a:rPr>
              <a:t>称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指</a:t>
            </a:r>
            <a:r>
              <a:rPr dirty="0" sz="2600" spc="-40" b="1">
                <a:solidFill>
                  <a:srgbClr val="FF0000"/>
                </a:solidFill>
                <a:latin typeface="Microsoft JhengHei"/>
                <a:cs typeface="Microsoft JhengHei"/>
              </a:rPr>
              <a:t>标</a:t>
            </a:r>
            <a:r>
              <a:rPr dirty="0" sz="2600" spc="-40" b="1">
                <a:solidFill>
                  <a:srgbClr val="FF0000"/>
                </a:solidFill>
                <a:latin typeface="Microsoft JhengHei"/>
                <a:cs typeface="Microsoft JhengHei"/>
              </a:rPr>
              <a:t>集</a:t>
            </a:r>
            <a:r>
              <a:rPr dirty="0" sz="2600" spc="-25" b="1">
                <a:latin typeface="Microsoft JhengHei"/>
                <a:cs typeface="Microsoft JhengHei"/>
              </a:rPr>
              <a:t>。记为</a:t>
            </a:r>
            <a:r>
              <a:rPr dirty="0" sz="2600" spc="-1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607" sz="2550" spc="-15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S}</a:t>
            </a:r>
            <a:r>
              <a:rPr dirty="0" sz="2600" spc="155" b="1">
                <a:latin typeface="Microsoft JhengHei"/>
                <a:cs typeface="Microsoft JhengHei"/>
              </a:rPr>
              <a:t>，或</a:t>
            </a:r>
            <a:r>
              <a:rPr dirty="0" sz="26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607" sz="255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baseline="-19607" sz="2550" b="1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baseline="-19607" sz="2550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50800">
              <a:lnSpc>
                <a:spcPct val="100000"/>
              </a:lnSpc>
              <a:spcBef>
                <a:spcPts val="1925"/>
              </a:spcBef>
            </a:pPr>
            <a:r>
              <a:rPr dirty="0" sz="2600" b="1">
                <a:latin typeface="Microsoft JhengHei"/>
                <a:cs typeface="Microsoft JhengHei"/>
              </a:rPr>
              <a:t>如</a:t>
            </a:r>
            <a:r>
              <a:rPr dirty="0" sz="2600" b="1">
                <a:latin typeface="Microsoft JhengHei"/>
                <a:cs typeface="Microsoft JhengHei"/>
              </a:rPr>
              <a:t>果</a:t>
            </a:r>
            <a:r>
              <a:rPr dirty="0" sz="2600" b="1">
                <a:latin typeface="Microsoft JhengHei"/>
                <a:cs typeface="Microsoft JhengHei"/>
              </a:rPr>
              <a:t>把</a:t>
            </a:r>
            <a:r>
              <a:rPr dirty="0" sz="2600" spc="7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600" spc="-35" b="1">
                <a:latin typeface="Microsoft JhengHei"/>
                <a:cs typeface="Microsoft JhengHei"/>
              </a:rPr>
              <a:t>看</a:t>
            </a:r>
            <a:r>
              <a:rPr dirty="0" sz="2600" spc="-35" b="1">
                <a:latin typeface="Microsoft JhengHei"/>
                <a:cs typeface="Microsoft JhengHei"/>
              </a:rPr>
              <a:t>成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20" b="1">
                <a:latin typeface="Microsoft JhengHei"/>
                <a:cs typeface="Microsoft JhengHei"/>
              </a:rPr>
              <a:t>族，</a:t>
            </a:r>
            <a:r>
              <a:rPr dirty="0" sz="2600" spc="-35" b="1">
                <a:latin typeface="Microsoft JhengHei"/>
                <a:cs typeface="Microsoft JhengHei"/>
              </a:rPr>
              <a:t>则</a:t>
            </a:r>
            <a:r>
              <a:rPr dirty="0" sz="2600" spc="-35" b="1">
                <a:latin typeface="Microsoft JhengHei"/>
                <a:cs typeface="Microsoft JhengHei"/>
              </a:rPr>
              <a:t>称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空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集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族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219" y="471551"/>
            <a:ext cx="411734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族</a:t>
            </a:r>
            <a:r>
              <a:rPr dirty="0"/>
              <a:t>的</a:t>
            </a:r>
            <a:r>
              <a:rPr dirty="0"/>
              <a:t>例</a:t>
            </a:r>
            <a:r>
              <a:rPr dirty="0" spc="-55"/>
              <a:t>子</a:t>
            </a:r>
            <a:r>
              <a:rPr dirty="0" spc="-10">
                <a:latin typeface="Calibri"/>
                <a:cs typeface="Calibri"/>
              </a:rPr>
              <a:t>(1)(2)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74193" y="1504314"/>
            <a:ext cx="8757920" cy="3357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10540" indent="-485775">
              <a:lnSpc>
                <a:spcPct val="100000"/>
              </a:lnSpc>
              <a:spcBef>
                <a:spcPts val="110"/>
              </a:spcBef>
              <a:buFont typeface="Calibri"/>
              <a:buAutoNum type="arabicParenBoth"/>
              <a:tabLst>
                <a:tab pos="511175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={x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N|x</a:t>
            </a:r>
            <a:r>
              <a:rPr dirty="0" sz="2800" spc="-10" b="1">
                <a:solidFill>
                  <a:srgbClr val="006FC0"/>
                </a:solidFill>
                <a:latin typeface="Microsoft JhengHei"/>
                <a:cs typeface="Microsoft JhengHei"/>
              </a:rPr>
              <a:t>为奇数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={x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N|x</a:t>
            </a:r>
            <a:r>
              <a:rPr dirty="0" sz="2800" spc="-10" b="1">
                <a:solidFill>
                  <a:srgbClr val="006FC0"/>
                </a:solidFill>
                <a:latin typeface="Microsoft JhengHei"/>
                <a:cs typeface="Microsoft JhengHei"/>
              </a:rPr>
              <a:t>为偶数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510540">
              <a:lnSpc>
                <a:spcPct val="100000"/>
              </a:lnSpc>
              <a:spcBef>
                <a:spcPts val="2335"/>
              </a:spcBef>
            </a:pPr>
            <a:r>
              <a:rPr dirty="0" sz="2800" spc="645" b="1">
                <a:latin typeface="Microsoft JhengHei"/>
                <a:cs typeface="Microsoft JhengHei"/>
              </a:rPr>
              <a:t>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65" b="1">
                <a:latin typeface="Microsoft JhengHei"/>
                <a:cs typeface="Microsoft JhengHei"/>
              </a:rPr>
              <a:t>是以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{1,2}</a:t>
            </a:r>
            <a:r>
              <a:rPr dirty="0" sz="2800" spc="-5" b="1">
                <a:latin typeface="Microsoft JhengHei"/>
                <a:cs typeface="Microsoft JhengHei"/>
              </a:rPr>
              <a:t>为指标集的集族。</a:t>
            </a:r>
            <a:endParaRPr sz="2800">
              <a:latin typeface="Microsoft JhengHei"/>
              <a:cs typeface="Microsoft JhengHei"/>
            </a:endParaRPr>
          </a:p>
          <a:p>
            <a:pPr marL="510540" indent="-485775">
              <a:lnSpc>
                <a:spcPct val="100000"/>
              </a:lnSpc>
              <a:spcBef>
                <a:spcPts val="2340"/>
              </a:spcBef>
              <a:buFont typeface="Calibri"/>
              <a:buAutoNum type="arabicParenBoth" startAt="2"/>
              <a:tabLst>
                <a:tab pos="511175" algn="l"/>
              </a:tabLst>
            </a:pPr>
            <a:r>
              <a:rPr dirty="0" sz="2800" spc="70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sz="2800" spc="20" b="1">
                <a:latin typeface="Microsoft JhengHei"/>
                <a:cs typeface="Microsoft JhengHei"/>
              </a:rPr>
              <a:t>为一素数，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={x|x=k(mod</a:t>
            </a:r>
            <a:r>
              <a:rPr dirty="0" sz="2800" spc="-1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p)}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k=0</a:t>
            </a:r>
            <a:r>
              <a:rPr dirty="0" sz="2800" spc="-5" b="1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5" b="1">
                <a:solidFill>
                  <a:srgbClr val="006FC0"/>
                </a:solidFill>
                <a:latin typeface="Calibri"/>
                <a:cs typeface="Calibri"/>
              </a:rPr>
              <a:t>,…,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p-1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510540">
              <a:lnSpc>
                <a:spcPct val="100000"/>
              </a:lnSpc>
              <a:spcBef>
                <a:spcPts val="2405"/>
              </a:spcBef>
            </a:pPr>
            <a:r>
              <a:rPr dirty="0" sz="2800" spc="-10" b="1">
                <a:latin typeface="Microsoft JhengHei"/>
                <a:cs typeface="Microsoft JhengHei"/>
              </a:rPr>
              <a:t>则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,…,A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p-</a:t>
            </a:r>
            <a:r>
              <a:rPr dirty="0" baseline="-19519" sz="2775" spc="-44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35" b="1">
                <a:latin typeface="Microsoft JhengHei"/>
                <a:cs typeface="Microsoft JhengHei"/>
              </a:rPr>
              <a:t>是以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{0,1,2,…,p-1}</a:t>
            </a:r>
            <a:r>
              <a:rPr dirty="0" sz="2800" spc="-10" b="1">
                <a:latin typeface="Microsoft JhengHei"/>
                <a:cs typeface="Microsoft JhengHei"/>
              </a:rPr>
              <a:t>为指标集的集族，</a:t>
            </a:r>
            <a:endParaRPr sz="2800">
              <a:latin typeface="Microsoft JhengHei"/>
              <a:cs typeface="Microsoft JhengHei"/>
            </a:endParaRPr>
          </a:p>
          <a:p>
            <a:pPr marL="427990">
              <a:lnSpc>
                <a:spcPct val="100000"/>
              </a:lnSpc>
              <a:spcBef>
                <a:spcPts val="2340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记为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|k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{0,1,…,p-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55" b="1">
                <a:solidFill>
                  <a:srgbClr val="006FC0"/>
                </a:solidFill>
                <a:latin typeface="Calibri"/>
                <a:cs typeface="Calibri"/>
              </a:rPr>
              <a:t>}} </a:t>
            </a:r>
            <a:r>
              <a:rPr dirty="0" sz="2800" spc="70" b="1">
                <a:latin typeface="Microsoft JhengHei"/>
                <a:cs typeface="Microsoft JhengHei"/>
              </a:rPr>
              <a:t>，或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= {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baseline="-19519" sz="277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{0,1,2,…,p-1}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219" y="471551"/>
            <a:ext cx="411734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族</a:t>
            </a:r>
            <a:r>
              <a:rPr dirty="0"/>
              <a:t>的</a:t>
            </a:r>
            <a:r>
              <a:rPr dirty="0"/>
              <a:t>例</a:t>
            </a:r>
            <a:r>
              <a:rPr dirty="0" spc="-55"/>
              <a:t>子</a:t>
            </a:r>
            <a:r>
              <a:rPr dirty="0" spc="-10">
                <a:latin typeface="Calibri"/>
                <a:cs typeface="Calibri"/>
              </a:rPr>
              <a:t>(3)(4)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48793" y="1504314"/>
            <a:ext cx="7021830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(3) </a:t>
            </a: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={x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N|x=n}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453390" marR="456565">
              <a:lnSpc>
                <a:spcPts val="5700"/>
              </a:lnSpc>
              <a:spcBef>
                <a:spcPts val="57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则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|n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N}</a:t>
            </a:r>
            <a:r>
              <a:rPr dirty="0" sz="2800" spc="30" b="1">
                <a:latin typeface="Microsoft JhengHei"/>
                <a:cs typeface="Microsoft JhengHei"/>
              </a:rPr>
              <a:t>是以</a:t>
            </a:r>
            <a:r>
              <a:rPr dirty="0" sz="2800" b="1">
                <a:latin typeface="Calibri"/>
                <a:cs typeface="Calibri"/>
              </a:rPr>
              <a:t>N</a:t>
            </a:r>
            <a:r>
              <a:rPr dirty="0" sz="2800" spc="-15" b="1">
                <a:latin typeface="Microsoft JhengHei"/>
                <a:cs typeface="Microsoft JhengHei"/>
              </a:rPr>
              <a:t>为指标集的集族，</a:t>
            </a:r>
            <a:r>
              <a:rPr dirty="0" sz="2800" spc="-5" b="1">
                <a:latin typeface="Microsoft JhengHei"/>
                <a:cs typeface="Microsoft JhengHei"/>
              </a:rPr>
              <a:t>其元素为以各自然数为元素的单元集。</a:t>
            </a:r>
            <a:endParaRPr sz="2800">
              <a:latin typeface="Microsoft JhengHei"/>
              <a:cs typeface="Microsoft JhengHei"/>
            </a:endParaRPr>
          </a:p>
          <a:p>
            <a:pPr marL="50800">
              <a:lnSpc>
                <a:spcPct val="100000"/>
              </a:lnSpc>
              <a:spcBef>
                <a:spcPts val="1825"/>
              </a:spcBef>
            </a:pPr>
            <a:r>
              <a:rPr dirty="0" sz="2800" b="1">
                <a:latin typeface="Calibri"/>
                <a:cs typeface="Calibri"/>
              </a:rPr>
              <a:t>(4</a:t>
            </a:r>
            <a:r>
              <a:rPr dirty="0" sz="2800" spc="10" b="1">
                <a:latin typeface="Calibri"/>
                <a:cs typeface="Calibri"/>
              </a:rPr>
              <a:t>) </a:t>
            </a:r>
            <a:r>
              <a:rPr dirty="0" sz="2800" spc="70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=N</a:t>
            </a:r>
            <a:r>
              <a:rPr dirty="0" sz="2800" spc="-5" b="1">
                <a:solidFill>
                  <a:srgbClr val="006FC0"/>
                </a:solidFill>
                <a:latin typeface="Calibri"/>
                <a:cs typeface="Calibri"/>
              </a:rPr>
              <a:t>-{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0}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={x|0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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x&lt;1/n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453390" marR="43180" indent="82550">
              <a:lnSpc>
                <a:spcPct val="169500"/>
              </a:lnSpc>
            </a:pPr>
            <a:r>
              <a:rPr dirty="0" sz="2800" spc="70" b="1">
                <a:latin typeface="Microsoft JhengHei"/>
                <a:cs typeface="Microsoft JhengHei"/>
              </a:rPr>
              <a:t>则</a:t>
            </a:r>
            <a:r>
              <a:rPr dirty="0" sz="2800" spc="-1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={A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|n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35" b="1">
                <a:latin typeface="Microsoft JhengHei"/>
                <a:cs typeface="Microsoft JhengHei"/>
              </a:rPr>
              <a:t>是以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baseline="-19519" sz="2775" spc="-44" b="1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dirty="0" sz="2800" spc="-5" b="1">
                <a:latin typeface="Microsoft JhengHei"/>
                <a:cs typeface="Microsoft JhengHei"/>
              </a:rPr>
              <a:t>为指标集的集族，</a:t>
            </a:r>
            <a:r>
              <a:rPr dirty="0" sz="2800" spc="20" b="1">
                <a:latin typeface="Microsoft JhengHei"/>
                <a:cs typeface="Microsoft JhengHei"/>
              </a:rPr>
              <a:t>其元素为半开半闭区间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[0,1/n)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n=1,2,…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多</a:t>
            </a:r>
            <a:r>
              <a:rPr dirty="0"/>
              <a:t>重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882" y="1560080"/>
            <a:ext cx="8208645" cy="43846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40600"/>
              </a:lnSpc>
              <a:spcBef>
                <a:spcPts val="60"/>
              </a:spcBef>
            </a:pPr>
            <a:r>
              <a:rPr dirty="0" sz="2800" spc="45" b="1">
                <a:latin typeface="Microsoft JhengHei"/>
                <a:cs typeface="Microsoft JhengHei"/>
              </a:rPr>
              <a:t>设全集为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b="1">
                <a:latin typeface="Microsoft JhengHei"/>
                <a:cs typeface="Microsoft JhengHei"/>
              </a:rPr>
              <a:t>中元素可以不止一次在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中出现的集合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称为</a:t>
            </a:r>
            <a:r>
              <a:rPr dirty="0" sz="2800" spc="20" b="1">
                <a:solidFill>
                  <a:srgbClr val="FF0000"/>
                </a:solidFill>
                <a:latin typeface="Microsoft JhengHei"/>
                <a:cs typeface="Microsoft JhengHei"/>
              </a:rPr>
              <a:t>多重集</a:t>
            </a:r>
            <a:r>
              <a:rPr dirty="0" sz="2800" b="1">
                <a:latin typeface="Microsoft JhengHei"/>
                <a:cs typeface="Microsoft JhengHei"/>
              </a:rPr>
              <a:t>。若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b="1">
                <a:latin typeface="Microsoft JhengHei"/>
                <a:cs typeface="Microsoft JhengHei"/>
              </a:rPr>
              <a:t>中元素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在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中出现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b="1">
                <a:latin typeface="Microsoft JhengHei"/>
                <a:cs typeface="Microsoft JhengHei"/>
              </a:rPr>
              <a:t>次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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spc="-10" b="1">
                <a:latin typeface="Calibri"/>
                <a:cs typeface="Calibri"/>
              </a:rPr>
              <a:t>)</a:t>
            </a:r>
            <a:r>
              <a:rPr dirty="0" sz="2800" spc="-20" b="1">
                <a:latin typeface="Microsoft JhengHei"/>
                <a:cs typeface="Microsoft JhengHei"/>
              </a:rPr>
              <a:t>，则称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在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中</a:t>
            </a:r>
            <a:r>
              <a:rPr dirty="0" sz="2800" spc="15" b="1">
                <a:solidFill>
                  <a:srgbClr val="FF0000"/>
                </a:solidFill>
                <a:latin typeface="Microsoft JhengHei"/>
                <a:cs typeface="Microsoft JhengHei"/>
              </a:rPr>
              <a:t>重复度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algn="just" marL="12700" marR="114300">
              <a:lnSpc>
                <a:spcPct val="140600"/>
              </a:lnSpc>
              <a:spcBef>
                <a:spcPts val="610"/>
              </a:spcBef>
            </a:pPr>
            <a:r>
              <a:rPr dirty="0" sz="2800" spc="30" b="1">
                <a:latin typeface="Microsoft JhengHei"/>
                <a:cs typeface="Microsoft JhengHei"/>
              </a:rPr>
              <a:t>例子：设全集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E={a,b,c,d,e}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A={a,a,b,b,c}</a:t>
            </a:r>
            <a:r>
              <a:rPr dirty="0" sz="2800" spc="30" b="1">
                <a:latin typeface="Microsoft JhengHei"/>
                <a:cs typeface="Microsoft JhengHei"/>
              </a:rPr>
              <a:t>为多重集，</a:t>
            </a:r>
            <a:r>
              <a:rPr dirty="0" sz="2800" spc="70" b="1">
                <a:latin typeface="Microsoft JhengHei"/>
                <a:cs typeface="Microsoft JhengHei"/>
              </a:rPr>
              <a:t>其中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10" b="1">
                <a:latin typeface="Microsoft JhengHei"/>
                <a:cs typeface="Microsoft JhengHei"/>
              </a:rPr>
              <a:t>的重复度为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30" b="1">
                <a:latin typeface="Microsoft JhengHei"/>
                <a:cs typeface="Microsoft JhengHei"/>
              </a:rPr>
              <a:t>，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dirty="0" sz="2800" spc="10" b="1">
                <a:latin typeface="Microsoft JhengHei"/>
                <a:cs typeface="Microsoft JhengHei"/>
              </a:rPr>
              <a:t>的重复度为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latin typeface="Microsoft JhengHei"/>
                <a:cs typeface="Microsoft JhengHei"/>
              </a:rPr>
              <a:t>，而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dirty="0" sz="2800" spc="-10" b="1">
                <a:solidFill>
                  <a:srgbClr val="006FC0"/>
                </a:solidFill>
                <a:latin typeface="Microsoft JhengHei"/>
                <a:cs typeface="Microsoft JhengHei"/>
              </a:rPr>
              <a:t>、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25" b="1">
                <a:latin typeface="Microsoft JhengHei"/>
                <a:cs typeface="Microsoft JhengHei"/>
              </a:rPr>
              <a:t>的重</a:t>
            </a:r>
            <a:r>
              <a:rPr dirty="0" sz="2800" spc="65" b="1">
                <a:latin typeface="Microsoft JhengHei"/>
                <a:cs typeface="Microsoft JhengHei"/>
              </a:rPr>
              <a:t>复度为</a:t>
            </a: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dirty="0" sz="2800" spc="5" b="1">
                <a:latin typeface="Microsoft JhengHei"/>
                <a:cs typeface="Microsoft JhengHei"/>
              </a:rPr>
              <a:t>集合可看作重复度均小于等于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20" b="1">
                <a:latin typeface="Microsoft JhengHei"/>
                <a:cs typeface="Microsoft JhengHei"/>
              </a:rPr>
              <a:t>的多重集。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小</a:t>
            </a:r>
            <a:r>
              <a:rPr dirty="0" spc="-50"/>
              <a:t>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11787"/>
            <a:ext cx="6514465" cy="390144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360680" algn="l"/>
              </a:tabLst>
            </a:pPr>
            <a:r>
              <a:rPr dirty="0" sz="3600" spc="20" b="1">
                <a:latin typeface="Microsoft JhengHei"/>
                <a:cs typeface="Microsoft JhengHei"/>
              </a:rPr>
              <a:t>集合的基本概念</a:t>
            </a:r>
            <a:endParaRPr sz="3600">
              <a:latin typeface="Microsoft JhengHei"/>
              <a:cs typeface="Microsoft JhengHei"/>
            </a:endParaRPr>
          </a:p>
          <a:p>
            <a:pPr lvl="1" marL="753745" indent="-284480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-5" b="1">
                <a:latin typeface="Microsoft JhengHei"/>
                <a:cs typeface="Microsoft JhengHei"/>
              </a:rPr>
              <a:t>集合、集合的表示、文氏图、多重集</a:t>
            </a:r>
            <a:endParaRPr sz="2800">
              <a:latin typeface="Microsoft JhengHei"/>
              <a:cs typeface="Microsoft JhengHei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10" b="1">
                <a:latin typeface="Microsoft JhengHei"/>
                <a:cs typeface="Microsoft JhengHei"/>
              </a:rPr>
              <a:t>集合的元素个数</a:t>
            </a:r>
            <a:endParaRPr sz="2800">
              <a:latin typeface="Microsoft JhengHei"/>
              <a:cs typeface="Microsoft JhengHei"/>
            </a:endParaRPr>
          </a:p>
          <a:p>
            <a:pPr marL="360045" indent="-34798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60680" algn="l"/>
              </a:tabLst>
            </a:pPr>
            <a:r>
              <a:rPr dirty="0" sz="3600" spc="20" b="1">
                <a:latin typeface="Microsoft JhengHei"/>
                <a:cs typeface="Microsoft JhengHei"/>
              </a:rPr>
              <a:t>集合之间的关系</a:t>
            </a:r>
            <a:endParaRPr sz="3600">
              <a:latin typeface="Microsoft JhengHei"/>
              <a:cs typeface="Microsoft JhengHei"/>
            </a:endParaRPr>
          </a:p>
          <a:p>
            <a:pPr lvl="1" marL="753745" indent="-284480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-5" b="1">
                <a:latin typeface="Microsoft JhengHei"/>
                <a:cs typeface="Microsoft JhengHei"/>
              </a:rPr>
              <a:t>子集、相等、真子集、空集、全集</a:t>
            </a:r>
            <a:endParaRPr sz="2800">
              <a:latin typeface="Microsoft JhengHei"/>
              <a:cs typeface="Microsoft JhengHei"/>
            </a:endParaRPr>
          </a:p>
          <a:p>
            <a:pPr lvl="1" marL="753745" indent="-28448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5" b="1">
                <a:latin typeface="Microsoft JhengHei"/>
                <a:cs typeface="Microsoft JhengHei"/>
              </a:rPr>
              <a:t>幂集、集族、带指标集的集族</a:t>
            </a:r>
            <a:endParaRPr sz="2800">
              <a:latin typeface="Microsoft JhengHei"/>
              <a:cs typeface="Microsoft JhengHei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55" b="1">
                <a:latin typeface="Microsoft JhengHei"/>
                <a:cs typeface="Microsoft JhengHei"/>
              </a:rPr>
              <a:t>容斥原理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2023-02-03T03:03:23Z</dcterms:created>
  <dcterms:modified xsi:type="dcterms:W3CDTF">2023-02-03T03:03:23Z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LastSaved">
    <vt:filetime>2018-01-29T00:00:00Z</vt:filetime>
  </property>
</Properties>
</file>