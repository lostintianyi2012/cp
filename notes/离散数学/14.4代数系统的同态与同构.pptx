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9" r:id="rId1"/>
  </p:sldMasterIdLst>
  <p:notesMasterIdLst>
    <p:notesMasterId r:id="rId14"/>
  </p:notesMasterIdLst>
  <p:sldIdLst>
    <p:sldId id="298" r:id="rId2"/>
    <p:sldId id="299" r:id="rId3"/>
    <p:sldId id="300" r:id="rId4"/>
    <p:sldId id="301" r:id="rId5"/>
    <p:sldId id="302" r:id="rId6"/>
    <p:sldId id="303" r:id="rId7"/>
    <p:sldId id="304" r:id="rId8"/>
    <p:sldId id="305" r:id="rId9"/>
    <p:sldId id="306" r:id="rId10"/>
    <p:sldId id="307" r:id="rId11"/>
    <p:sldId id="309" r:id="rId12"/>
    <p:sldId id="308" r:id="rId13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00"/>
    <a:srgbClr val="008000"/>
    <a:srgbClr val="669900"/>
    <a:srgbClr val="99CC00"/>
    <a:srgbClr val="CC0000"/>
    <a:srgbClr val="FFD54F"/>
    <a:srgbClr val="4D4D4D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32" autoAdjust="0"/>
    <p:restoredTop sz="93231" autoAdjust="0"/>
  </p:normalViewPr>
  <p:slideViewPr>
    <p:cSldViewPr>
      <p:cViewPr varScale="1">
        <p:scale>
          <a:sx n="80" d="100"/>
          <a:sy n="80" d="100"/>
        </p:scale>
        <p:origin x="1301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4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9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183324B3-9382-4FF9-B6E9-A348062AEF0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D907330-1620-48FD-A4AB-A3E1F3DA930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4959D62E-58E7-464F-8F22-DC847B62A7DE}" type="datetimeFigureOut">
              <a:rPr lang="zh-CN" altLang="en-US"/>
              <a:pPr>
                <a:defRPr/>
              </a:pPr>
              <a:t>2020/7/3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5D5305CE-D793-4BA8-975D-8FB6539F4A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9632296B-7B37-486D-9BC3-A8A1E50D8A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vert="horz" lIns="99048" tIns="49524" rIns="99048" bIns="49524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9D3214F-D10B-4F14-87EF-912B5EF5FF3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85371C3-4079-44E2-ABD4-4CBD54D88B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E830FBC7-D8A5-487B-8620-76B9A494B12E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2CF2D68F-6FA1-4DB9-848D-59EE575FFE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D121DD8-F5A0-48B8-9D2F-11D9847009B7}" type="slidenum">
              <a:rPr lang="en-US" altLang="zh-CN"/>
              <a:pPr eaLnBrk="1" hangingPunct="1"/>
              <a:t>1</a:t>
            </a:fld>
            <a:endParaRPr lang="en-US" altLang="zh-CN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C709B12C-1771-480C-9CE1-6A5A68E88D6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4C2B813E-69FC-41C5-A574-26D47C4F91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64BF6FA2-7A36-4473-A8A6-BB74A78C21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B010B8F-3FE9-4491-A6F3-95EE80DD93E2}" type="slidenum">
              <a:rPr lang="en-US" altLang="zh-CN"/>
              <a:pPr eaLnBrk="1" hangingPunct="1"/>
              <a:t>2</a:t>
            </a:fld>
            <a:endParaRPr lang="en-US" altLang="zh-CN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44A58E79-48E0-42B1-A5CF-C582881A8E0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77DE6BF2-22D7-4209-BB62-F7989A8C00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466F4876-EAE1-4D5C-A706-357B91574F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8B772F0-CD37-42D8-817F-7E665B98A936}" type="slidenum">
              <a:rPr lang="en-US" altLang="zh-CN"/>
              <a:pPr eaLnBrk="1" hangingPunct="1"/>
              <a:t>3</a:t>
            </a:fld>
            <a:endParaRPr lang="en-US" altLang="zh-CN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28957044-46F9-4AFE-94C7-F3A935EB2BA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16C30039-FB92-44BD-9785-7112141EFF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6399BB75-10F7-4134-A476-D2BD381943C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2D76CBF-259F-4359-A3EF-F14CD8879CE7}" type="slidenum">
              <a:rPr lang="en-US" altLang="zh-CN"/>
              <a:pPr eaLnBrk="1" hangingPunct="1"/>
              <a:t>4</a:t>
            </a:fld>
            <a:endParaRPr lang="en-US" altLang="zh-CN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C39F1FF4-7ABE-4974-B443-8CC8EEF4C3D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C5F6D0A9-C0E6-48CD-AEDF-A5A3ABDFFF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5BC4B50C-153F-4397-99DB-F72CAA716B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6F7294E-72DD-4799-ACEB-35E932C0697E}" type="slidenum">
              <a:rPr lang="en-US" altLang="zh-CN"/>
              <a:pPr eaLnBrk="1" hangingPunct="1"/>
              <a:t>5</a:t>
            </a:fld>
            <a:endParaRPr lang="en-US" altLang="zh-CN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7119C279-FF30-40C3-9A9F-38486573A05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BDFCDFC6-AE81-4643-B999-D111ED6181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F8B0B7BC-C574-432D-B542-82525B947D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FF3EDE8-AD6F-42D6-97A6-9EA68EBA5D95}" type="slidenum">
              <a:rPr lang="en-US" altLang="zh-CN"/>
              <a:pPr eaLnBrk="1" hangingPunct="1"/>
              <a:t>6</a:t>
            </a:fld>
            <a:endParaRPr lang="en-US" altLang="zh-CN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B18A1AD5-5FC0-4D15-89AA-9C7BE774486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FBB55681-004A-410E-BC5E-C5C97B5511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FE55C354-5D97-47BF-9B33-65A09C81C0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C73E523-7707-449B-9D89-E073B03034C1}" type="slidenum">
              <a:rPr lang="en-US" altLang="zh-CN"/>
              <a:pPr eaLnBrk="1" hangingPunct="1"/>
              <a:t>7</a:t>
            </a:fld>
            <a:endParaRPr lang="en-US" altLang="zh-CN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A9F56AA7-5568-49F8-9A99-EEEDD6ED8F8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1C1B497C-765F-4923-8A49-3E18279E10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3FAB1453-3AE9-4107-85B8-2F6309C646D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46311EC-A9AE-480E-8196-EEE543BCCE05}" type="slidenum">
              <a:rPr lang="en-US" altLang="zh-CN"/>
              <a:pPr eaLnBrk="1" hangingPunct="1"/>
              <a:t>8</a:t>
            </a:fld>
            <a:endParaRPr lang="en-US" altLang="zh-CN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3E3127C3-E616-49DA-9090-50AAF421239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A52A545F-976A-46FE-B86A-860B1D8358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6710CF34-2E32-49E4-B258-AF573E65F6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E6E1CA3-E91D-4E84-804F-C6A92859BE68}" type="slidenum">
              <a:rPr lang="en-US" altLang="zh-CN"/>
              <a:pPr eaLnBrk="1" hangingPunct="1"/>
              <a:t>9</a:t>
            </a:fld>
            <a:endParaRPr lang="en-US" altLang="zh-CN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0E607CB5-2B42-4A1F-9EAF-EFD8C5648ED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00982B42-3820-42A6-9ABC-ACB338CF44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6B511CE0-D1F1-4218-A472-C3261A501E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F83963E-73F1-4DD5-BDD1-FCD2083FEB4E}" type="slidenum">
              <a:rPr lang="en-US" altLang="zh-CN"/>
              <a:pPr eaLnBrk="1" hangingPunct="1"/>
              <a:t>10</a:t>
            </a:fld>
            <a:endParaRPr lang="en-US" altLang="zh-CN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A85BF085-A031-484D-A872-B064D03D054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B26603A4-603E-4AFA-90F7-AB75D7CA05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DB3F54ED-B00D-4738-889B-B44D7BC186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C0AEE8B-2228-460D-AA2F-CB9C999991DF}" type="slidenum">
              <a:rPr lang="en-US" altLang="zh-CN"/>
              <a:pPr eaLnBrk="1" hangingPunct="1"/>
              <a:t>12</a:t>
            </a:fld>
            <a:endParaRPr lang="en-US" altLang="zh-CN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C067AA2F-8363-4BA1-BAAB-8122D783F1F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93A64564-9ECA-4414-92CE-CAC7BBAEC2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4530"/>
            <a:ext cx="6858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zh-CN" altLang="en-US" noProof="1"/>
              <a:t>单击此处编辑母版副标题样式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302FB-ECBB-4181-BEAC-75E5AD4D8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044936-3FE8-4186-AAFA-A6A52493B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A8976-C2FE-4A99-BF8D-52F451515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82D285-7846-43A8-B547-7A7AF0FD2D1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42420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8ECD6-6DE1-442B-B5A0-C847BC381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12DB9-2F7E-4D22-8307-61F0B7736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EB7D0-3C40-4C38-B8F0-1CA91BE98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056DA4-FD6D-4F93-AA65-67B1D00BE42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63775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12423"/>
            <a:ext cx="78867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5263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7BDF6-4F17-4692-AA70-0696F7822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8B359-034A-4589-9748-9B077717F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4759B-2BFD-4394-9510-E4EFA530A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184CEF-19FE-4826-A4AA-6EC85DD0C0AE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9879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845" y="1828801"/>
            <a:ext cx="3886200" cy="43513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8801"/>
            <a:ext cx="3886200" cy="43513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C3B0C42-1B67-4DF6-BB0A-476FB12BD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89F5DBE-72F9-4365-85FA-41EC1CB2B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C6DA02B-39B3-4BC0-81C3-BF13A68F2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A8DC73-F77B-4CCB-B877-A2412D10E646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4130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681851"/>
            <a:ext cx="3867150" cy="825699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45" y="2507551"/>
            <a:ext cx="3867150" cy="36805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851"/>
            <a:ext cx="38862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7551"/>
            <a:ext cx="3886201" cy="36805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5CFAED1-575A-4879-9D8C-4794E13E4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FF9D973-1A10-4A91-8EF1-468D9342C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ADF493-71C3-43F0-B09E-26C2A41E5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B9210C-FD01-46C6-AC17-69B3825BFE6F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126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6492A12-AAED-4B63-BBC2-66BC9FD75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033C87E-CC8D-444B-8D0A-2A8C6EDB7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40900BF-CDF2-45B9-9106-6AEACC82F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7111C7-075A-4987-A55C-F025B0910A3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32353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2FBF27B-9518-48EF-992A-F6E90B2EF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16399A0-9354-4706-93F0-C3D62C401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F6D78E-0DD8-4BD2-AD64-DA29B3CB6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00D22E-C04D-4A40-B11B-56AE03880C8F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1872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94894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399"/>
            <a:ext cx="2948940" cy="381000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A33AD2E-6DEB-4AF4-A79C-128340565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F46D1DB-23D2-45A0-B12B-31DB83381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417D2F3-2191-4AE0-8322-90EAED316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BE6191-8FEB-4B5E-A407-4A99D6C2B9DC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44352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0"/>
            <a:ext cx="294894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0" y="990600"/>
            <a:ext cx="4629150" cy="4876800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400"/>
            <a:ext cx="2948940" cy="3810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FE11BA2-2645-4C86-BF7B-DA6370188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CF70980-D09A-4988-A0F8-4D86BA374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3B8F944-89CC-4976-B04A-25BDBFAF7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705653-C196-46BA-82C4-8FA8984FC143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15889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EEA7E6-CC2A-44FB-9827-7901DE7DB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B0C6C-4F52-4307-B118-8EA1B2599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21E3C-95E3-4173-A314-9B6B9C42A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5BEB9D-50E7-472D-B941-26CA002EC414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22605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0362"/>
            <a:ext cx="1971675" cy="5811838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0363"/>
            <a:ext cx="5800725" cy="5811837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E3772-D4C0-460C-AE3A-DA07F0D01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17A07-0398-4508-A4EB-5F91716CE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656AB-A5D4-4116-9083-0DFD3809A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59E17B-A3F1-46C7-B5C3-09EC1F778FF3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54926155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 rtlCol="0">
            <a:normAutofit/>
          </a:bodyPr>
          <a:lstStyle/>
          <a:p>
            <a:pPr lvl="0"/>
            <a:r>
              <a:rPr lang="zh-CN" altLang="en-US" noProof="0"/>
              <a:t>单击图标添加表格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2C9AE-DCDD-4E04-A04F-F233CFAEC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215395-8C76-4F42-B5A2-248312DCA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E1F831-1DA4-4961-BA8E-42854D1E8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59E17B-A3F1-46C7-B5C3-09EC1F778FF3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9890372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2C97DEA6-37C0-475E-81B2-85EB35C6C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EA80BD0B-C5D8-4A87-BA2B-4C28ACB84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C6ED457F-C936-4DE4-86D7-48148ADC0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A95390-2950-44BD-824B-5E37B9056C1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1758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70E1B553-E368-40D3-9D3E-3BD6D64E1BC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33413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2D4F9B0E-3BF4-4FE4-8C05-05BA84AA6F3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33413" y="1828800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altLang="zh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03578-8626-4448-B336-3FEB4105EF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825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E14521-3337-49DA-BA1B-81BE548869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825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37BF5-319D-4483-810E-894D2B2F12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62713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800" smtClean="0">
                <a:solidFill>
                  <a:srgbClr val="898989"/>
                </a:solidFill>
              </a:defRPr>
            </a:lvl1pPr>
          </a:lstStyle>
          <a:p>
            <a:fld id="{D859E17B-A3F1-46C7-B5C3-09EC1F778FF3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32694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  <p:sldLayoutId id="2147483722" r:id="rId13"/>
  </p:sldLayoutIdLst>
  <p:hf hdr="0" ftr="0" dt="0"/>
  <p:txStyles>
    <p:titleStyle>
      <a:lvl1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2pPr>
      <a:lvl3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3pPr>
      <a:lvl4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4pPr>
      <a:lvl5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eaLnBrk="1" fontAlgn="base" hangingPunct="1">
        <a:lnSpc>
          <a:spcPct val="90000"/>
        </a:lnSpc>
        <a:spcBef>
          <a:spcPts val="750"/>
        </a:spcBef>
        <a:spcAft>
          <a:spcPct val="0"/>
        </a:spcAft>
        <a:buFont typeface="Wingdings 2" panose="05020102010507070707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7.wmf"/><Relationship Id="rId5" Type="http://schemas.openxmlformats.org/officeDocument/2006/relationships/image" Target="../media/image4.wmf"/><Relationship Id="rId10" Type="http://schemas.openxmlformats.org/officeDocument/2006/relationships/oleObject" Target="../embeddings/oleObject6.bin"/><Relationship Id="rId4" Type="http://schemas.openxmlformats.org/officeDocument/2006/relationships/oleObject" Target="../embeddings/oleObject3.bin"/><Relationship Id="rId9" Type="http://schemas.openxmlformats.org/officeDocument/2006/relationships/image" Target="../media/image6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7" Type="http://schemas.openxmlformats.org/officeDocument/2006/relationships/image" Target="../media/image9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8.wmf"/><Relationship Id="rId4" Type="http://schemas.openxmlformats.org/officeDocument/2006/relationships/oleObject" Target="../embeddings/oleObject7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9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9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2.wmf"/><Relationship Id="rId4" Type="http://schemas.openxmlformats.org/officeDocument/2006/relationships/oleObject" Target="../embeddings/oleObject1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>
            <a:extLst>
              <a:ext uri="{FF2B5EF4-FFF2-40B4-BE49-F238E27FC236}">
                <a16:creationId xmlns:a16="http://schemas.microsoft.com/office/drawing/2014/main" id="{0919D4B1-EBFC-49F9-A0D8-EBC26CFC61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65150" y="188913"/>
            <a:ext cx="8578850" cy="849312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15.3 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代数系统的同态同构</a:t>
            </a:r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69AA6901-5909-4009-8F56-71C52792799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1341438"/>
            <a:ext cx="8229600" cy="4525962"/>
          </a:xfrm>
        </p:spPr>
        <p:txBody>
          <a:bodyPr/>
          <a:lstStyle/>
          <a:p>
            <a:pPr eaLnBrk="1" hangingPunct="1"/>
            <a:r>
              <a:rPr lang="zh-CN" altLang="en-US" b="1">
                <a:solidFill>
                  <a:srgbClr val="C00000"/>
                </a:solidFill>
              </a:rPr>
              <a:t>同态映射的概念</a:t>
            </a:r>
          </a:p>
          <a:p>
            <a:pPr lvl="1" eaLnBrk="1" hangingPunct="1"/>
            <a:r>
              <a:rPr lang="zh-CN" altLang="en-US" b="1"/>
              <a:t>同态映射定义</a:t>
            </a:r>
          </a:p>
          <a:p>
            <a:pPr lvl="1" eaLnBrk="1" hangingPunct="1"/>
            <a:r>
              <a:rPr lang="zh-CN" altLang="en-US" b="1"/>
              <a:t>同态映射分类</a:t>
            </a:r>
          </a:p>
          <a:p>
            <a:pPr lvl="1" eaLnBrk="1" hangingPunct="1"/>
            <a:r>
              <a:rPr lang="zh-CN" altLang="en-US" b="1"/>
              <a:t>实例</a:t>
            </a:r>
          </a:p>
          <a:p>
            <a:pPr eaLnBrk="1" hangingPunct="1">
              <a:spcBef>
                <a:spcPts val="1800"/>
              </a:spcBef>
            </a:pPr>
            <a:r>
              <a:rPr lang="zh-CN" altLang="en-US" b="1">
                <a:solidFill>
                  <a:srgbClr val="C00000"/>
                </a:solidFill>
              </a:rPr>
              <a:t>同态映射的性质</a:t>
            </a:r>
          </a:p>
          <a:p>
            <a:pPr lvl="1" eaLnBrk="1" hangingPunct="1"/>
            <a:r>
              <a:rPr lang="zh-CN" altLang="en-US" b="1"/>
              <a:t>同态映射的合成仍旧是同态映射</a:t>
            </a:r>
          </a:p>
          <a:p>
            <a:pPr lvl="1" eaLnBrk="1" hangingPunct="1"/>
            <a:r>
              <a:rPr lang="zh-CN" altLang="en-US" b="1"/>
              <a:t>同态像是映到代数系统的子代数</a:t>
            </a:r>
          </a:p>
          <a:p>
            <a:pPr lvl="1" eaLnBrk="1" hangingPunct="1"/>
            <a:r>
              <a:rPr lang="zh-CN" altLang="en-US" b="1"/>
              <a:t>同态像中保持原有代数系统的运算性</a:t>
            </a:r>
            <a:r>
              <a:rPr lang="zh-CN" altLang="en-US"/>
              <a:t>质</a:t>
            </a:r>
          </a:p>
          <a:p>
            <a:pPr eaLnBrk="1" hangingPunct="1"/>
            <a:endParaRPr lang="en-US" altLang="zh-CN"/>
          </a:p>
        </p:txBody>
      </p:sp>
      <p:sp>
        <p:nvSpPr>
          <p:cNvPr id="15362" name="灯片编号占位符 5">
            <a:extLst>
              <a:ext uri="{FF2B5EF4-FFF2-40B4-BE49-F238E27FC236}">
                <a16:creationId xmlns:a16="http://schemas.microsoft.com/office/drawing/2014/main" id="{ABF6848E-8B9D-4195-8F97-6581936F2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0EB9592-1A09-44AB-B162-5BD71FD05643}" type="slidenum">
              <a:rPr lang="en-US" altLang="zh-CN">
                <a:solidFill>
                  <a:srgbClr val="898989"/>
                </a:solidFill>
              </a:rPr>
              <a:pPr eaLnBrk="1" hangingPunct="1"/>
              <a:t>1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2">
            <a:extLst>
              <a:ext uri="{FF2B5EF4-FFF2-40B4-BE49-F238E27FC236}">
                <a16:creationId xmlns:a16="http://schemas.microsoft.com/office/drawing/2014/main" id="{C64FA4CB-F645-4158-98EF-432C98FC84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51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同态映射的定义</a:t>
            </a:r>
          </a:p>
        </p:txBody>
      </p:sp>
      <p:sp>
        <p:nvSpPr>
          <p:cNvPr id="1028" name="灯片编号占位符 5">
            <a:extLst>
              <a:ext uri="{FF2B5EF4-FFF2-40B4-BE49-F238E27FC236}">
                <a16:creationId xmlns:a16="http://schemas.microsoft.com/office/drawing/2014/main" id="{E262AB6D-94DD-4145-B507-AF44F1176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C6EC61C-4E8E-4B22-9250-BE3BD585AB63}" type="slidenum">
              <a:rPr lang="en-US" altLang="zh-CN">
                <a:solidFill>
                  <a:srgbClr val="898989"/>
                </a:solidFill>
              </a:rPr>
              <a:pPr eaLnBrk="1" hangingPunct="1"/>
              <a:t>2</a:t>
            </a:fld>
            <a:endParaRPr lang="en-US" altLang="zh-CN">
              <a:solidFill>
                <a:srgbClr val="898989"/>
              </a:solidFill>
            </a:endParaRPr>
          </a:p>
        </p:txBody>
      </p:sp>
      <p:grpSp>
        <p:nvGrpSpPr>
          <p:cNvPr id="1030" name="Group 10">
            <a:extLst>
              <a:ext uri="{FF2B5EF4-FFF2-40B4-BE49-F238E27FC236}">
                <a16:creationId xmlns:a16="http://schemas.microsoft.com/office/drawing/2014/main" id="{EA915EB4-0ADF-49EA-A0B4-61A666176458}"/>
              </a:ext>
            </a:extLst>
          </p:cNvPr>
          <p:cNvGrpSpPr>
            <a:grpSpLocks/>
          </p:cNvGrpSpPr>
          <p:nvPr/>
        </p:nvGrpSpPr>
        <p:grpSpPr bwMode="auto">
          <a:xfrm>
            <a:off x="755650" y="1341438"/>
            <a:ext cx="7775575" cy="3529012"/>
            <a:chOff x="567" y="1071"/>
            <a:chExt cx="4898" cy="2223"/>
          </a:xfrm>
        </p:grpSpPr>
        <p:graphicFrame>
          <p:nvGraphicFramePr>
            <p:cNvPr id="1026" name="Object 4">
              <a:extLst>
                <a:ext uri="{FF2B5EF4-FFF2-40B4-BE49-F238E27FC236}">
                  <a16:creationId xmlns:a16="http://schemas.microsoft.com/office/drawing/2014/main" id="{720708FE-48F1-4C24-9AFC-E8E2FF26449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93" y="2328"/>
            <a:ext cx="3947" cy="6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5" name="公式" r:id="rId4" imgW="2895480" imgH="457200" progId="Equation.3">
                    <p:embed/>
                  </p:oleObj>
                </mc:Choice>
                <mc:Fallback>
                  <p:oleObj name="公式" r:id="rId4" imgW="2895480" imgH="4572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3" y="2328"/>
                          <a:ext cx="3947" cy="62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031" name="Group 5">
              <a:extLst>
                <a:ext uri="{FF2B5EF4-FFF2-40B4-BE49-F238E27FC236}">
                  <a16:creationId xmlns:a16="http://schemas.microsoft.com/office/drawing/2014/main" id="{C09E6233-6793-422F-BD92-5ECE6E98BD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7" y="1071"/>
              <a:ext cx="4400" cy="572"/>
              <a:chOff x="567" y="1071"/>
              <a:chExt cx="4400" cy="572"/>
            </a:xfrm>
          </p:grpSpPr>
          <p:graphicFrame>
            <p:nvGraphicFramePr>
              <p:cNvPr id="1027" name="Object 6">
                <a:extLst>
                  <a:ext uri="{FF2B5EF4-FFF2-40B4-BE49-F238E27FC236}">
                    <a16:creationId xmlns:a16="http://schemas.microsoft.com/office/drawing/2014/main" id="{8D38C713-4343-4BB9-A7A9-842B3A5A489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84" y="1353"/>
              <a:ext cx="4083" cy="2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36" name="公式" r:id="rId6" imgW="2806560" imgH="203040" progId="Equation.3">
                      <p:embed/>
                    </p:oleObj>
                  </mc:Choice>
                  <mc:Fallback>
                    <p:oleObj name="公式" r:id="rId6" imgW="2806560" imgH="203040" progId="Equation.3">
                      <p:embed/>
                      <p:pic>
                        <p:nvPicPr>
                          <p:cNvPr id="0" name="Object 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84" y="1353"/>
                            <a:ext cx="4083" cy="29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34" name="Rectangle 7">
                <a:extLst>
                  <a:ext uri="{FF2B5EF4-FFF2-40B4-BE49-F238E27FC236}">
                    <a16:creationId xmlns:a16="http://schemas.microsoft.com/office/drawing/2014/main" id="{995CFFF6-48BA-4E8F-8E5A-D21C0CD491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7" y="1071"/>
                <a:ext cx="79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400" b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定义  </a:t>
                </a:r>
                <a:r>
                  <a:rPr lang="zh-CN" altLang="en-US" sz="2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设</a:t>
                </a:r>
                <a:endParaRPr lang="zh-CN" altLang="en-US" sz="2400"/>
              </a:p>
            </p:txBody>
          </p:sp>
        </p:grpSp>
        <p:sp>
          <p:nvSpPr>
            <p:cNvPr id="1032" name="Rectangle 8">
              <a:extLst>
                <a:ext uri="{FF2B5EF4-FFF2-40B4-BE49-F238E27FC236}">
                  <a16:creationId xmlns:a16="http://schemas.microsoft.com/office/drawing/2014/main" id="{9BCB822F-E67E-4150-9F43-3337B071D7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" y="1660"/>
              <a:ext cx="4898" cy="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</a:pP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是同类型的代数系统，对于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=1,2,</a:t>
              </a:r>
              <a:r>
                <a:rPr lang="en-US" altLang="zh-CN" sz="2400" b="1">
                  <a:cs typeface="Times New Roman" panose="02020603050405020304" pitchFamily="18" charset="0"/>
                </a:rPr>
                <a:t>…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，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zh-CN" sz="2400" b="1" i="1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为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zh-CN" sz="2400" b="1" i="1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i </a:t>
              </a: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元运算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函数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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如果对于所有的运算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o</a:t>
              </a:r>
              <a:r>
                <a:rPr lang="en-US" altLang="zh-CN" sz="2400" b="1" i="1" baseline="-3000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i</a:t>
              </a: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与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o</a:t>
              </a:r>
              <a:r>
                <a:rPr lang="en-US" altLang="zh-CN" sz="2400" b="1" i="1" baseline="-3000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i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’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      </a:t>
              </a:r>
            </a:p>
          </p:txBody>
        </p:sp>
        <p:sp>
          <p:nvSpPr>
            <p:cNvPr id="1033" name="Rectangle 9">
              <a:extLst>
                <a:ext uri="{FF2B5EF4-FFF2-40B4-BE49-F238E27FC236}">
                  <a16:creationId xmlns:a16="http://schemas.microsoft.com/office/drawing/2014/main" id="{6B5D0E8A-6EDC-44EB-A9F6-F867EDA1BE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7" y="3006"/>
              <a:ext cx="434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则称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 </a:t>
              </a: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是代数系统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400" b="1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 </a:t>
              </a: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到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400" b="1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 </a:t>
              </a: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的</a:t>
              </a:r>
              <a:r>
                <a:rPr lang="zh-CN" altLang="en-US" sz="2400" b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同态映射</a:t>
              </a: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，简称</a:t>
              </a:r>
              <a:r>
                <a:rPr lang="zh-CN" altLang="en-US" sz="2400" b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同态 </a:t>
              </a:r>
              <a:endParaRPr lang="zh-CN" altLang="en-US" sz="2400">
                <a:solidFill>
                  <a:srgbClr val="C00000"/>
                </a:solidFill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>
            <a:extLst>
              <a:ext uri="{FF2B5EF4-FFF2-40B4-BE49-F238E27FC236}">
                <a16:creationId xmlns:a16="http://schemas.microsoft.com/office/drawing/2014/main" id="{1C9A9C2C-5B04-4B67-B9B3-A6F71C52DB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90550" y="201613"/>
            <a:ext cx="8229600" cy="779462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同态映射的含义</a:t>
            </a:r>
          </a:p>
        </p:txBody>
      </p:sp>
      <p:sp>
        <p:nvSpPr>
          <p:cNvPr id="16386" name="灯片编号占位符 4">
            <a:extLst>
              <a:ext uri="{FF2B5EF4-FFF2-40B4-BE49-F238E27FC236}">
                <a16:creationId xmlns:a16="http://schemas.microsoft.com/office/drawing/2014/main" id="{90B035AF-B2EC-4E5C-ADF4-3A09AA277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57938" y="6054725"/>
            <a:ext cx="2133600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9617E54-2D36-4896-8195-9E6C0EF87F11}" type="slidenum">
              <a:rPr lang="en-US" altLang="zh-CN">
                <a:solidFill>
                  <a:srgbClr val="898989"/>
                </a:solidFill>
              </a:rPr>
              <a:pPr eaLnBrk="1" hangingPunct="1"/>
              <a:t>3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9220" name="Oval 4">
            <a:extLst>
              <a:ext uri="{FF2B5EF4-FFF2-40B4-BE49-F238E27FC236}">
                <a16:creationId xmlns:a16="http://schemas.microsoft.com/office/drawing/2014/main" id="{DB8D75F8-967D-45CD-8C35-AA629093F2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7975" y="1814513"/>
            <a:ext cx="2232025" cy="3455987"/>
          </a:xfrm>
          <a:prstGeom prst="ellipse">
            <a:avLst/>
          </a:prstGeom>
          <a:solidFill>
            <a:srgbClr val="FFFF99">
              <a:alpha val="47058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9221" name="Text Box 6">
            <a:extLst>
              <a:ext uri="{FF2B5EF4-FFF2-40B4-BE49-F238E27FC236}">
                <a16:creationId xmlns:a16="http://schemas.microsoft.com/office/drawing/2014/main" id="{504CA48A-115C-40C4-A73A-5E5964D96A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4238" y="2101850"/>
            <a:ext cx="9350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 i="1">
                <a:latin typeface="Times New Roman" panose="02020603050405020304" pitchFamily="18" charset="0"/>
              </a:rPr>
              <a:t>x</a:t>
            </a:r>
            <a:r>
              <a:rPr lang="en-US" altLang="zh-CN" sz="2400" b="1" baseline="-25000"/>
              <a:t>1 </a:t>
            </a:r>
            <a:r>
              <a:rPr lang="en-US" altLang="zh-CN"/>
              <a:t> ●</a:t>
            </a:r>
          </a:p>
        </p:txBody>
      </p:sp>
      <p:sp>
        <p:nvSpPr>
          <p:cNvPr id="9222" name="Text Box 9">
            <a:extLst>
              <a:ext uri="{FF2B5EF4-FFF2-40B4-BE49-F238E27FC236}">
                <a16:creationId xmlns:a16="http://schemas.microsoft.com/office/drawing/2014/main" id="{7D747EC7-7EB0-4ACB-BA62-78E0788C0D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4238" y="2462213"/>
            <a:ext cx="9350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 i="1">
                <a:latin typeface="Times New Roman" panose="02020603050405020304" pitchFamily="18" charset="0"/>
              </a:rPr>
              <a:t>x</a:t>
            </a:r>
            <a:r>
              <a:rPr lang="en-US" altLang="zh-CN" sz="2400" b="1" baseline="-25000"/>
              <a:t>2</a:t>
            </a:r>
            <a:r>
              <a:rPr lang="en-US" altLang="zh-CN" b="1"/>
              <a:t>  </a:t>
            </a:r>
            <a:r>
              <a:rPr lang="en-US" altLang="zh-CN"/>
              <a:t>●</a:t>
            </a:r>
          </a:p>
        </p:txBody>
      </p:sp>
      <p:sp>
        <p:nvSpPr>
          <p:cNvPr id="9223" name="Text Box 10">
            <a:extLst>
              <a:ext uri="{FF2B5EF4-FFF2-40B4-BE49-F238E27FC236}">
                <a16:creationId xmlns:a16="http://schemas.microsoft.com/office/drawing/2014/main" id="{08703AB5-C382-4FBC-998A-7AD4AB47AC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4238" y="3182938"/>
            <a:ext cx="9350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 i="1">
                <a:latin typeface="Times New Roman" panose="02020603050405020304" pitchFamily="18" charset="0"/>
              </a:rPr>
              <a:t>x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ki</a:t>
            </a:r>
            <a:r>
              <a:rPr lang="en-US" altLang="zh-CN" sz="2400"/>
              <a:t> </a:t>
            </a:r>
            <a:r>
              <a:rPr lang="en-US" altLang="zh-CN"/>
              <a:t>●</a:t>
            </a:r>
          </a:p>
        </p:txBody>
      </p:sp>
      <p:sp>
        <p:nvSpPr>
          <p:cNvPr id="292875" name="Text Box 11">
            <a:extLst>
              <a:ext uri="{FF2B5EF4-FFF2-40B4-BE49-F238E27FC236}">
                <a16:creationId xmlns:a16="http://schemas.microsoft.com/office/drawing/2014/main" id="{A282D35D-14E3-4ED7-921C-35D861A595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925" y="4191000"/>
            <a:ext cx="2673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 i="1">
                <a:latin typeface="Times New Roman" panose="02020603050405020304" pitchFamily="18" charset="0"/>
              </a:rPr>
              <a:t>o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i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x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400" b="1" i="1">
                <a:latin typeface="Times New Roman" panose="02020603050405020304" pitchFamily="18" charset="0"/>
              </a:rPr>
              <a:t>, x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400" b="1" i="1">
                <a:latin typeface="Times New Roman" panose="02020603050405020304" pitchFamily="18" charset="0"/>
              </a:rPr>
              <a:t>, … , x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ki</a:t>
            </a:r>
            <a:r>
              <a:rPr lang="en-US" altLang="zh-CN" sz="2400" b="1">
                <a:latin typeface="Times New Roman" panose="02020603050405020304" pitchFamily="18" charset="0"/>
              </a:rPr>
              <a:t>)</a:t>
            </a:r>
            <a:r>
              <a:rPr lang="en-US" altLang="zh-CN"/>
              <a:t>  ●</a:t>
            </a:r>
          </a:p>
        </p:txBody>
      </p:sp>
      <p:grpSp>
        <p:nvGrpSpPr>
          <p:cNvPr id="2" name="Group 34">
            <a:extLst>
              <a:ext uri="{FF2B5EF4-FFF2-40B4-BE49-F238E27FC236}">
                <a16:creationId xmlns:a16="http://schemas.microsoft.com/office/drawing/2014/main" id="{6721CD93-38E9-40FE-8F06-ADD97618B11D}"/>
              </a:ext>
            </a:extLst>
          </p:cNvPr>
          <p:cNvGrpSpPr>
            <a:grpSpLocks/>
          </p:cNvGrpSpPr>
          <p:nvPr/>
        </p:nvGrpSpPr>
        <p:grpSpPr bwMode="auto">
          <a:xfrm>
            <a:off x="2336800" y="3562350"/>
            <a:ext cx="393700" cy="628650"/>
            <a:chOff x="1595" y="2434"/>
            <a:chExt cx="248" cy="396"/>
          </a:xfrm>
        </p:grpSpPr>
        <p:sp>
          <p:nvSpPr>
            <p:cNvPr id="9238" name="Line 16">
              <a:extLst>
                <a:ext uri="{FF2B5EF4-FFF2-40B4-BE49-F238E27FC236}">
                  <a16:creationId xmlns:a16="http://schemas.microsoft.com/office/drawing/2014/main" id="{2AF5E715-0D23-4684-9B70-33ADAA0ED4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43" y="2467"/>
              <a:ext cx="0" cy="363"/>
            </a:xfrm>
            <a:prstGeom prst="line">
              <a:avLst/>
            </a:prstGeom>
            <a:noFill/>
            <a:ln w="38100">
              <a:solidFill>
                <a:srgbClr val="339933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9" name="Text Box 17">
              <a:extLst>
                <a:ext uri="{FF2B5EF4-FFF2-40B4-BE49-F238E27FC236}">
                  <a16:creationId xmlns:a16="http://schemas.microsoft.com/office/drawing/2014/main" id="{F4F32050-9E23-4FBC-8B8D-7D6695B880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5" y="2434"/>
              <a:ext cx="24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 i="1">
                  <a:latin typeface="Times New Roman" panose="02020603050405020304" pitchFamily="18" charset="0"/>
                </a:rPr>
                <a:t>o</a:t>
              </a:r>
              <a:r>
                <a:rPr lang="en-US" altLang="zh-CN" sz="2400" b="1" i="1" baseline="-25000">
                  <a:latin typeface="Times New Roman" panose="02020603050405020304" pitchFamily="18" charset="0"/>
                </a:rPr>
                <a:t>i</a:t>
              </a:r>
            </a:p>
          </p:txBody>
        </p:sp>
      </p:grpSp>
      <p:sp>
        <p:nvSpPr>
          <p:cNvPr id="9226" name="Oval 19">
            <a:extLst>
              <a:ext uri="{FF2B5EF4-FFF2-40B4-BE49-F238E27FC236}">
                <a16:creationId xmlns:a16="http://schemas.microsoft.com/office/drawing/2014/main" id="{1834CCE3-E2BF-4603-AF9C-059DDDDBB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3963" y="1814513"/>
            <a:ext cx="2232025" cy="3455987"/>
          </a:xfrm>
          <a:prstGeom prst="ellipse">
            <a:avLst/>
          </a:prstGeom>
          <a:solidFill>
            <a:srgbClr val="FFFF99">
              <a:alpha val="47058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9227" name="Text Box 20">
            <a:extLst>
              <a:ext uri="{FF2B5EF4-FFF2-40B4-BE49-F238E27FC236}">
                <a16:creationId xmlns:a16="http://schemas.microsoft.com/office/drawing/2014/main" id="{5FB370C2-0224-49EA-98F7-CE54A00D2F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0225" y="2101850"/>
            <a:ext cx="15033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/>
              <a:t>● </a:t>
            </a:r>
            <a:r>
              <a:rPr lang="en-US" altLang="zh-CN" sz="2400" b="1" i="1">
                <a:latin typeface="Times New Roman" panose="02020603050405020304" pitchFamily="18" charset="0"/>
              </a:rPr>
              <a:t>f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x</a:t>
            </a:r>
            <a:r>
              <a:rPr lang="en-US" altLang="zh-CN" sz="2400" b="1" baseline="-25000"/>
              <a:t>1</a:t>
            </a:r>
            <a:r>
              <a:rPr lang="en-US" altLang="zh-CN" sz="2400" b="1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292887" name="Text Box 23">
            <a:extLst>
              <a:ext uri="{FF2B5EF4-FFF2-40B4-BE49-F238E27FC236}">
                <a16:creationId xmlns:a16="http://schemas.microsoft.com/office/drawing/2014/main" id="{C546EF95-2594-406F-BD92-2ED936020B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2888" y="4191000"/>
            <a:ext cx="362585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/>
              <a:t>     ● </a:t>
            </a:r>
            <a:r>
              <a:rPr lang="en-US" altLang="zh-CN" sz="2400" b="1" i="1">
                <a:latin typeface="Times New Roman" panose="02020603050405020304" pitchFamily="18" charset="0"/>
              </a:rPr>
              <a:t>f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o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i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x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400" b="1" i="1">
                <a:latin typeface="Times New Roman" panose="02020603050405020304" pitchFamily="18" charset="0"/>
              </a:rPr>
              <a:t>, x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400" b="1" i="1">
                <a:latin typeface="Times New Roman" panose="02020603050405020304" pitchFamily="18" charset="0"/>
              </a:rPr>
              <a:t>, … , x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ki</a:t>
            </a:r>
            <a:r>
              <a:rPr lang="en-US" altLang="zh-CN" sz="2400" b="1">
                <a:latin typeface="Times New Roman" panose="02020603050405020304" pitchFamily="18" charset="0"/>
              </a:rPr>
              <a:t>)) =</a:t>
            </a:r>
            <a:r>
              <a:rPr lang="en-US" altLang="zh-CN" sz="2400" b="1" i="1">
                <a:latin typeface="Times New Roman" panose="02020603050405020304" pitchFamily="18" charset="0"/>
              </a:rPr>
              <a:t>o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i</a:t>
            </a:r>
            <a:r>
              <a:rPr lang="en-US" altLang="zh-CN" sz="2400" b="1">
                <a:latin typeface="Times New Roman" panose="02020603050405020304" pitchFamily="18" charset="0"/>
              </a:rPr>
              <a:t>’(</a:t>
            </a:r>
            <a:r>
              <a:rPr lang="en-US" altLang="zh-CN" sz="2400" b="1" i="1">
                <a:latin typeface="Times New Roman" panose="02020603050405020304" pitchFamily="18" charset="0"/>
              </a:rPr>
              <a:t>f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x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</a:rPr>
              <a:t>), </a:t>
            </a:r>
            <a:r>
              <a:rPr lang="en-US" altLang="zh-CN" sz="2400" b="1" i="1">
                <a:latin typeface="Times New Roman" panose="02020603050405020304" pitchFamily="18" charset="0"/>
              </a:rPr>
              <a:t>f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x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</a:rPr>
              <a:t>), … , </a:t>
            </a:r>
            <a:r>
              <a:rPr lang="en-US" altLang="zh-CN" sz="2400" b="1" i="1">
                <a:latin typeface="Times New Roman" panose="02020603050405020304" pitchFamily="18" charset="0"/>
              </a:rPr>
              <a:t>f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x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ki</a:t>
            </a:r>
            <a:r>
              <a:rPr lang="en-US" altLang="zh-CN" sz="2400" b="1">
                <a:latin typeface="Times New Roman" panose="02020603050405020304" pitchFamily="18" charset="0"/>
              </a:rPr>
              <a:t>))</a:t>
            </a:r>
            <a:r>
              <a:rPr lang="en-US" altLang="zh-CN" sz="2000" b="1">
                <a:latin typeface="Times New Roman" panose="02020603050405020304" pitchFamily="18" charset="0"/>
              </a:rPr>
              <a:t>   </a:t>
            </a:r>
            <a:r>
              <a:rPr lang="en-US" altLang="zh-CN"/>
              <a:t> </a:t>
            </a:r>
          </a:p>
        </p:txBody>
      </p:sp>
      <p:grpSp>
        <p:nvGrpSpPr>
          <p:cNvPr id="3" name="Group 33">
            <a:extLst>
              <a:ext uri="{FF2B5EF4-FFF2-40B4-BE49-F238E27FC236}">
                <a16:creationId xmlns:a16="http://schemas.microsoft.com/office/drawing/2014/main" id="{979A189C-E617-4793-B36B-5A61DC9C501F}"/>
              </a:ext>
            </a:extLst>
          </p:cNvPr>
          <p:cNvGrpSpPr>
            <a:grpSpLocks/>
          </p:cNvGrpSpPr>
          <p:nvPr/>
        </p:nvGrpSpPr>
        <p:grpSpPr bwMode="auto">
          <a:xfrm>
            <a:off x="5797550" y="3614738"/>
            <a:ext cx="533400" cy="647700"/>
            <a:chOff x="4150" y="2750"/>
            <a:chExt cx="336" cy="408"/>
          </a:xfrm>
        </p:grpSpPr>
        <p:sp>
          <p:nvSpPr>
            <p:cNvPr id="9236" name="Line 25">
              <a:extLst>
                <a:ext uri="{FF2B5EF4-FFF2-40B4-BE49-F238E27FC236}">
                  <a16:creationId xmlns:a16="http://schemas.microsoft.com/office/drawing/2014/main" id="{AA0E6EFE-3EB0-4D02-9351-8B991664A1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0" y="2795"/>
              <a:ext cx="0" cy="363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7" name="Text Box 26">
              <a:extLst>
                <a:ext uri="{FF2B5EF4-FFF2-40B4-BE49-F238E27FC236}">
                  <a16:creationId xmlns:a16="http://schemas.microsoft.com/office/drawing/2014/main" id="{A374F051-542A-4732-9025-8113D6FE16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4" y="2750"/>
              <a:ext cx="3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 i="1">
                  <a:latin typeface="Times New Roman" panose="02020603050405020304" pitchFamily="18" charset="0"/>
                </a:rPr>
                <a:t>o</a:t>
              </a:r>
              <a:r>
                <a:rPr lang="en-US" altLang="zh-CN" sz="2400" b="1" i="1" baseline="-25000">
                  <a:latin typeface="Times New Roman" panose="02020603050405020304" pitchFamily="18" charset="0"/>
                </a:rPr>
                <a:t>i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’</a:t>
              </a:r>
              <a:endParaRPr lang="en-US" altLang="zh-CN" sz="2400" b="1" i="1" baseline="-25000">
                <a:latin typeface="Times New Roman" panose="02020603050405020304" pitchFamily="18" charset="0"/>
              </a:endParaRPr>
            </a:p>
          </p:txBody>
        </p:sp>
      </p:grpSp>
      <p:sp>
        <p:nvSpPr>
          <p:cNvPr id="9230" name="Text Box 27">
            <a:extLst>
              <a:ext uri="{FF2B5EF4-FFF2-40B4-BE49-F238E27FC236}">
                <a16:creationId xmlns:a16="http://schemas.microsoft.com/office/drawing/2014/main" id="{4C3DF27E-BE45-49DC-8222-6E2021F84D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0225" y="2497138"/>
            <a:ext cx="12874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/>
              <a:t>● </a:t>
            </a:r>
            <a:r>
              <a:rPr lang="en-US" altLang="zh-CN" sz="2400" b="1" i="1">
                <a:latin typeface="Times New Roman" panose="02020603050405020304" pitchFamily="18" charset="0"/>
              </a:rPr>
              <a:t>f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x</a:t>
            </a:r>
            <a:r>
              <a:rPr lang="en-US" altLang="zh-CN" sz="2400" b="1" baseline="-25000"/>
              <a:t>2</a:t>
            </a:r>
            <a:r>
              <a:rPr lang="en-US" altLang="zh-CN" sz="2400" b="1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9231" name="Text Box 28">
            <a:extLst>
              <a:ext uri="{FF2B5EF4-FFF2-40B4-BE49-F238E27FC236}">
                <a16:creationId xmlns:a16="http://schemas.microsoft.com/office/drawing/2014/main" id="{D2197AF2-255E-4FEB-9A70-80F37AC494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0225" y="3182938"/>
            <a:ext cx="12144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/>
              <a:t>● </a:t>
            </a:r>
            <a:r>
              <a:rPr lang="en-US" altLang="zh-CN" sz="2400" b="1" i="1">
                <a:latin typeface="Times New Roman" panose="02020603050405020304" pitchFamily="18" charset="0"/>
              </a:rPr>
              <a:t>f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x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ki</a:t>
            </a:r>
            <a:r>
              <a:rPr lang="en-US" altLang="zh-CN" sz="2400" b="1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9232" name="Line 29">
            <a:extLst>
              <a:ext uri="{FF2B5EF4-FFF2-40B4-BE49-F238E27FC236}">
                <a16:creationId xmlns:a16="http://schemas.microsoft.com/office/drawing/2014/main" id="{941508EA-0783-4C0E-BD19-107D0D6FCC2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74963" y="2317750"/>
            <a:ext cx="2735262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33" name="Line 30">
            <a:extLst>
              <a:ext uri="{FF2B5EF4-FFF2-40B4-BE49-F238E27FC236}">
                <a16:creationId xmlns:a16="http://schemas.microsoft.com/office/drawing/2014/main" id="{29CD37D0-B224-4DE4-AF4D-14FB52FD436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74963" y="2678113"/>
            <a:ext cx="2735262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34" name="Line 31">
            <a:extLst>
              <a:ext uri="{FF2B5EF4-FFF2-40B4-BE49-F238E27FC236}">
                <a16:creationId xmlns:a16="http://schemas.microsoft.com/office/drawing/2014/main" id="{FC05583D-1224-43EB-991C-601388F3AE6A}"/>
              </a:ext>
            </a:extLst>
          </p:cNvPr>
          <p:cNvSpPr>
            <a:spLocks noChangeShapeType="1"/>
          </p:cNvSpPr>
          <p:nvPr/>
        </p:nvSpPr>
        <p:spPr bwMode="auto">
          <a:xfrm>
            <a:off x="2946400" y="3398838"/>
            <a:ext cx="2735263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2896" name="Line 32">
            <a:extLst>
              <a:ext uri="{FF2B5EF4-FFF2-40B4-BE49-F238E27FC236}">
                <a16:creationId xmlns:a16="http://schemas.microsoft.com/office/drawing/2014/main" id="{574E5B81-7ECE-4859-8FD3-C3DA6C9AC28B}"/>
              </a:ext>
            </a:extLst>
          </p:cNvPr>
          <p:cNvSpPr>
            <a:spLocks noChangeShapeType="1"/>
          </p:cNvSpPr>
          <p:nvPr/>
        </p:nvSpPr>
        <p:spPr bwMode="auto">
          <a:xfrm>
            <a:off x="2936875" y="4422775"/>
            <a:ext cx="2735263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28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28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928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928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928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928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2875" grpId="0"/>
      <p:bldP spid="29288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">
            <a:extLst>
              <a:ext uri="{FF2B5EF4-FFF2-40B4-BE49-F238E27FC236}">
                <a16:creationId xmlns:a16="http://schemas.microsoft.com/office/drawing/2014/main" id="{1D4A29DE-F76F-4A59-929A-6230E0D0D7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188913"/>
            <a:ext cx="7772400" cy="703262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几点说明</a:t>
            </a:r>
          </a:p>
        </p:txBody>
      </p:sp>
      <p:sp>
        <p:nvSpPr>
          <p:cNvPr id="2054" name="灯片编号占位符 6">
            <a:extLst>
              <a:ext uri="{FF2B5EF4-FFF2-40B4-BE49-F238E27FC236}">
                <a16:creationId xmlns:a16="http://schemas.microsoft.com/office/drawing/2014/main" id="{0C93557A-291E-450B-AD5B-7FA4DE24B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909C3FE-B43E-4BAE-8FB4-CEAA20EB20F0}" type="slidenum">
              <a:rPr lang="en-US" altLang="zh-CN">
                <a:solidFill>
                  <a:srgbClr val="898989"/>
                </a:solidFill>
              </a:rPr>
              <a:pPr eaLnBrk="1" hangingPunct="1"/>
              <a:t>4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2056" name="Rectangle 3">
            <a:extLst>
              <a:ext uri="{FF2B5EF4-FFF2-40B4-BE49-F238E27FC236}">
                <a16:creationId xmlns:a16="http://schemas.microsoft.com/office/drawing/2014/main" id="{52137FAA-7479-4E7E-B183-9D81E20FFB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2057" name="Group 4">
            <a:extLst>
              <a:ext uri="{FF2B5EF4-FFF2-40B4-BE49-F238E27FC236}">
                <a16:creationId xmlns:a16="http://schemas.microsoft.com/office/drawing/2014/main" id="{B6331152-2F4B-47A1-9A13-52A3D457EBF9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1052513"/>
            <a:ext cx="8137525" cy="4895850"/>
            <a:chOff x="612" y="805"/>
            <a:chExt cx="4857" cy="2912"/>
          </a:xfrm>
        </p:grpSpPr>
        <p:sp>
          <p:nvSpPr>
            <p:cNvPr id="2058" name="Rectangle 5">
              <a:extLst>
                <a:ext uri="{FF2B5EF4-FFF2-40B4-BE49-F238E27FC236}">
                  <a16:creationId xmlns:a16="http://schemas.microsoft.com/office/drawing/2014/main" id="{51528FA2-06C2-4521-A24D-A589F97FC9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" y="805"/>
              <a:ext cx="4808" cy="28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>
                  <a:latin typeface="Times New Roman" panose="02020603050405020304" pitchFamily="18" charset="0"/>
                </a:rPr>
                <a:t>1.  </a:t>
              </a:r>
              <a:r>
                <a:rPr lang="zh-CN" altLang="en-US" sz="2400" b="1">
                  <a:latin typeface="Times New Roman" panose="02020603050405020304" pitchFamily="18" charset="0"/>
                </a:rPr>
                <a:t>对于二元运算</a:t>
              </a:r>
              <a:r>
                <a:rPr lang="zh-CN" altLang="en-US" b="1">
                  <a:latin typeface="Times New Roman" panose="02020603050405020304" pitchFamily="18" charset="0"/>
                  <a:sym typeface="Symbol" panose="05050102010706020507" pitchFamily="18" charset="2"/>
                </a:rPr>
                <a:t></a:t>
              </a:r>
              <a:r>
                <a:rPr lang="zh-CN" altLang="en-US" sz="2400" b="1">
                  <a:latin typeface="Times New Roman" panose="02020603050405020304" pitchFamily="18" charset="0"/>
                </a:rPr>
                <a:t>、一元运算</a:t>
              </a:r>
              <a:r>
                <a:rPr lang="zh-CN" altLang="en-US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</a:t>
              </a:r>
              <a:r>
                <a:rPr lang="zh-CN" altLang="en-US" sz="2400" b="1">
                  <a:latin typeface="Times New Roman" panose="02020603050405020304" pitchFamily="18" charset="0"/>
                </a:rPr>
                <a:t>、</a:t>
              </a:r>
              <a:r>
                <a:rPr lang="en-US" altLang="zh-CN" sz="2400" b="1">
                  <a:latin typeface="Times New Roman" panose="02020603050405020304" pitchFamily="18" charset="0"/>
                </a:rPr>
                <a:t>0</a:t>
              </a:r>
              <a:r>
                <a:rPr lang="zh-CN" altLang="en-US" sz="2400" b="1">
                  <a:latin typeface="Times New Roman" panose="02020603050405020304" pitchFamily="18" charset="0"/>
                </a:rPr>
                <a:t>元运算 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k </a:t>
              </a:r>
              <a:r>
                <a:rPr lang="zh-CN" altLang="en-US" sz="2400" b="1">
                  <a:latin typeface="Times New Roman" panose="02020603050405020304" pitchFamily="18" charset="0"/>
                </a:rPr>
                <a:t>采用下述表示：</a:t>
              </a:r>
            </a:p>
            <a:p>
              <a:pPr eaLnBrk="1" hangingPunct="1"/>
              <a:endParaRPr lang="zh-CN" altLang="en-US" sz="2400" b="1">
                <a:latin typeface="Times New Roman" panose="02020603050405020304" pitchFamily="18" charset="0"/>
              </a:endParaRPr>
            </a:p>
            <a:p>
              <a:pPr eaLnBrk="1" hangingPunct="1"/>
              <a:endParaRPr lang="zh-CN" altLang="en-US" sz="2400" b="1">
                <a:latin typeface="Times New Roman" panose="02020603050405020304" pitchFamily="18" charset="0"/>
              </a:endParaRPr>
            </a:p>
            <a:p>
              <a:pPr eaLnBrk="1" hangingPunct="1"/>
              <a:endParaRPr lang="zh-CN" altLang="en-US" sz="2400" b="1">
                <a:latin typeface="Times New Roman" panose="02020603050405020304" pitchFamily="18" charset="0"/>
              </a:endParaRPr>
            </a:p>
            <a:p>
              <a:pPr eaLnBrk="1" hangingPunct="1"/>
              <a:endParaRPr lang="zh-CN" altLang="en-US" sz="2400" b="1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ts val="2400"/>
                </a:spcBef>
              </a:pPr>
              <a:r>
                <a:rPr lang="en-US" altLang="zh-CN" sz="2400" b="1">
                  <a:latin typeface="Times New Roman" panose="02020603050405020304" pitchFamily="18" charset="0"/>
                </a:rPr>
                <a:t>2. </a:t>
              </a:r>
              <a:r>
                <a:rPr lang="zh-CN" altLang="en-US" sz="2400" b="1">
                  <a:latin typeface="Times New Roman" panose="02020603050405020304" pitchFamily="18" charset="0"/>
                </a:rPr>
                <a:t>同态映射必须保持所有的运算，包括</a:t>
              </a:r>
              <a:r>
                <a:rPr lang="en-US" altLang="zh-CN" sz="2400" b="1">
                  <a:latin typeface="Times New Roman" panose="02020603050405020304" pitchFamily="18" charset="0"/>
                </a:rPr>
                <a:t>0</a:t>
              </a:r>
              <a:r>
                <a:rPr lang="zh-CN" altLang="en-US" sz="2400" b="1">
                  <a:latin typeface="Times New Roman" panose="02020603050405020304" pitchFamily="18" charset="0"/>
                </a:rPr>
                <a:t>元运算在内，例如</a:t>
              </a:r>
            </a:p>
            <a:p>
              <a:pPr eaLnBrk="1" hangingPunct="1"/>
              <a:r>
                <a:rPr lang="zh-CN" altLang="en-US" sz="2400" b="1">
                  <a:latin typeface="Times New Roman" panose="02020603050405020304" pitchFamily="18" charset="0"/>
                </a:rPr>
                <a:t> </a:t>
              </a:r>
            </a:p>
            <a:p>
              <a:pPr eaLnBrk="1" hangingPunct="1"/>
              <a:endParaRPr lang="zh-CN" altLang="en-US" sz="2400" b="1">
                <a:latin typeface="Times New Roman" panose="02020603050405020304" pitchFamily="18" charset="0"/>
              </a:endParaRPr>
            </a:p>
            <a:p>
              <a:pPr eaLnBrk="1" hangingPunct="1"/>
              <a:endParaRPr lang="zh-CN" altLang="en-US" sz="2400" b="1">
                <a:latin typeface="Times New Roman" panose="02020603050405020304" pitchFamily="18" charset="0"/>
              </a:endParaRPr>
            </a:p>
            <a:p>
              <a:pPr eaLnBrk="1" hangingPunct="1"/>
              <a:endParaRPr lang="zh-CN" altLang="en-US" sz="2400" b="1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ts val="2400"/>
                </a:spcBef>
              </a:pPr>
              <a:r>
                <a:rPr lang="zh-CN" altLang="en-US" sz="2400" b="1">
                  <a:latin typeface="Times New Roman" panose="02020603050405020304" pitchFamily="18" charset="0"/>
                </a:rPr>
                <a:t>    则 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f </a:t>
              </a:r>
              <a:r>
                <a:rPr lang="zh-CN" altLang="en-US" sz="2400" b="1">
                  <a:latin typeface="Times New Roman" panose="02020603050405020304" pitchFamily="18" charset="0"/>
                </a:rPr>
                <a:t>不是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V </a:t>
              </a:r>
              <a:r>
                <a:rPr lang="zh-CN" altLang="en-US" sz="2400" b="1">
                  <a:latin typeface="Times New Roman" panose="02020603050405020304" pitchFamily="18" charset="0"/>
                </a:rPr>
                <a:t>的自同态，因为不保持</a:t>
              </a:r>
              <a:r>
                <a:rPr lang="en-US" altLang="zh-CN" sz="2400" b="1">
                  <a:latin typeface="Times New Roman" panose="02020603050405020304" pitchFamily="18" charset="0"/>
                </a:rPr>
                <a:t>0</a:t>
              </a:r>
              <a:r>
                <a:rPr lang="zh-CN" altLang="en-US" sz="2400" b="1">
                  <a:latin typeface="Times New Roman" panose="02020603050405020304" pitchFamily="18" charset="0"/>
                </a:rPr>
                <a:t>元运算</a:t>
              </a:r>
            </a:p>
          </p:txBody>
        </p:sp>
        <p:graphicFrame>
          <p:nvGraphicFramePr>
            <p:cNvPr id="2051" name="Object 6">
              <a:extLst>
                <a:ext uri="{FF2B5EF4-FFF2-40B4-BE49-F238E27FC236}">
                  <a16:creationId xmlns:a16="http://schemas.microsoft.com/office/drawing/2014/main" id="{1C55744D-4867-401B-9B1D-151BEF3C359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99" y="1148"/>
            <a:ext cx="1982" cy="8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9" name="公式" r:id="rId4" imgW="1473120" imgH="660240" progId="Equation.3">
                    <p:embed/>
                  </p:oleObj>
                </mc:Choice>
                <mc:Fallback>
                  <p:oleObj name="公式" r:id="rId4" imgW="1473120" imgH="66024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9" y="1148"/>
                          <a:ext cx="1982" cy="8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2" name="Object 7">
              <a:extLst>
                <a:ext uri="{FF2B5EF4-FFF2-40B4-BE49-F238E27FC236}">
                  <a16:creationId xmlns:a16="http://schemas.microsoft.com/office/drawing/2014/main" id="{95DE8272-D3FA-481E-A9F6-D60081A39ED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23" y="2347"/>
            <a:ext cx="2882" cy="9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0" name="公式" r:id="rId6" imgW="2895480" imgH="977760" progId="Equation.3">
                    <p:embed/>
                  </p:oleObj>
                </mc:Choice>
                <mc:Fallback>
                  <p:oleObj name="公式" r:id="rId6" imgW="2895480" imgH="97776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3" y="2347"/>
                          <a:ext cx="2882" cy="9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3" name="Object 8">
              <a:extLst>
                <a:ext uri="{FF2B5EF4-FFF2-40B4-BE49-F238E27FC236}">
                  <a16:creationId xmlns:a16="http://schemas.microsoft.com/office/drawing/2014/main" id="{8A354DF3-AAE2-4981-90C0-7D29AD7973D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84" y="3246"/>
            <a:ext cx="1285" cy="4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1" name="公式" r:id="rId8" imgW="1206500" imgH="431800" progId="Equation.3">
                    <p:embed/>
                  </p:oleObj>
                </mc:Choice>
                <mc:Fallback>
                  <p:oleObj name="公式" r:id="rId8" imgW="1206500" imgH="4318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84" y="3246"/>
                          <a:ext cx="1285" cy="47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050" name="Object 10">
            <a:extLst>
              <a:ext uri="{FF2B5EF4-FFF2-40B4-BE49-F238E27FC236}">
                <a16:creationId xmlns:a16="http://schemas.microsoft.com/office/drawing/2014/main" id="{FAEBC120-D809-46DB-A3E5-D393EB1B4E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" name="公式" r:id="rId10" imgW="114120" imgH="215640" progId="Equation.3">
                  <p:embed/>
                </p:oleObj>
              </mc:Choice>
              <mc:Fallback>
                <p:oleObj name="公式" r:id="rId10" imgW="114120" imgH="2156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>
            <a:extLst>
              <a:ext uri="{FF2B5EF4-FFF2-40B4-BE49-F238E27FC236}">
                <a16:creationId xmlns:a16="http://schemas.microsoft.com/office/drawing/2014/main" id="{382AC4EE-5093-4EB4-9A97-0D300504CA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29600" cy="850900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同态映射的分类</a:t>
            </a: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209AEFB2-88F0-40BB-83B0-56BB2AD687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412875"/>
            <a:ext cx="8229600" cy="4525963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/>
              <a:t>特殊的同态映射</a:t>
            </a:r>
          </a:p>
          <a:p>
            <a:pPr eaLnBrk="1" hangingPunct="1"/>
            <a:r>
              <a:rPr lang="zh-CN" altLang="en-US" sz="2800" b="1"/>
              <a:t>按映射性质分为：</a:t>
            </a:r>
          </a:p>
          <a:p>
            <a:pPr lvl="1" eaLnBrk="1" hangingPunct="1"/>
            <a:r>
              <a:rPr lang="zh-CN" altLang="en-US" sz="2600" b="1">
                <a:solidFill>
                  <a:srgbClr val="C00000"/>
                </a:solidFill>
              </a:rPr>
              <a:t>单同态</a:t>
            </a:r>
          </a:p>
          <a:p>
            <a:pPr lvl="1" eaLnBrk="1" hangingPunct="1"/>
            <a:r>
              <a:rPr lang="zh-CN" altLang="en-US" sz="2600" b="1">
                <a:solidFill>
                  <a:srgbClr val="C00000"/>
                </a:solidFill>
              </a:rPr>
              <a:t>满同态</a:t>
            </a:r>
            <a:r>
              <a:rPr lang="zh-CN" altLang="en-US" sz="2600" b="1"/>
              <a:t>   </a:t>
            </a:r>
            <a:r>
              <a:rPr lang="en-US" altLang="zh-CN" sz="2600" b="1" i="1">
                <a:latin typeface="Times New Roman" panose="02020603050405020304" pitchFamily="18" charset="0"/>
              </a:rPr>
              <a:t>V</a:t>
            </a:r>
            <a:r>
              <a:rPr lang="en-US" altLang="zh-CN" sz="26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</a:t>
            </a:r>
            <a:r>
              <a:rPr lang="en-US" altLang="zh-CN" sz="2600" b="1" i="1">
                <a:latin typeface="Times New Roman" panose="02020603050405020304" pitchFamily="18" charset="0"/>
              </a:rPr>
              <a:t>V</a:t>
            </a:r>
            <a:r>
              <a:rPr lang="en-US" altLang="zh-CN" sz="2600" b="1" baseline="-25000">
                <a:latin typeface="Times New Roman" panose="02020603050405020304" pitchFamily="18" charset="0"/>
              </a:rPr>
              <a:t>2 </a:t>
            </a:r>
          </a:p>
          <a:p>
            <a:pPr lvl="1" eaLnBrk="1" hangingPunct="1"/>
            <a:r>
              <a:rPr lang="zh-CN" altLang="en-US" sz="2600" b="1">
                <a:solidFill>
                  <a:srgbClr val="C00000"/>
                </a:solidFill>
              </a:rPr>
              <a:t>同构 </a:t>
            </a:r>
            <a:r>
              <a:rPr lang="zh-CN" altLang="en-US" sz="2600" b="1"/>
              <a:t>       </a:t>
            </a:r>
            <a:r>
              <a:rPr lang="en-US" altLang="zh-CN" sz="2600" b="1" i="1">
                <a:latin typeface="Times New Roman" panose="02020603050405020304" pitchFamily="18" charset="0"/>
              </a:rPr>
              <a:t>V</a:t>
            </a:r>
            <a:r>
              <a:rPr lang="en-US" altLang="zh-CN" sz="26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600" b="1">
                <a:latin typeface="Times New Roman" panose="02020603050405020304" pitchFamily="18" charset="0"/>
                <a:sym typeface="Symbol" panose="05050102010706020507" pitchFamily="18" charset="2"/>
              </a:rPr>
              <a:t></a:t>
            </a:r>
            <a:r>
              <a:rPr lang="en-US" altLang="zh-CN" sz="2600" b="1" i="1">
                <a:latin typeface="Times New Roman" panose="02020603050405020304" pitchFamily="18" charset="0"/>
              </a:rPr>
              <a:t>V</a:t>
            </a:r>
            <a:r>
              <a:rPr lang="en-US" altLang="zh-CN" sz="2600" b="1" baseline="-25000">
                <a:latin typeface="Times New Roman" panose="02020603050405020304" pitchFamily="18" charset="0"/>
              </a:rPr>
              <a:t>2</a:t>
            </a:r>
          </a:p>
          <a:p>
            <a:pPr eaLnBrk="1" hangingPunct="1">
              <a:spcBef>
                <a:spcPts val="1800"/>
              </a:spcBef>
            </a:pPr>
            <a:r>
              <a:rPr lang="zh-CN" altLang="en-US" sz="2800" b="1"/>
              <a:t>按载体分：自同态</a:t>
            </a:r>
          </a:p>
          <a:p>
            <a:pPr eaLnBrk="1" hangingPunct="1">
              <a:spcBef>
                <a:spcPts val="1800"/>
              </a:spcBef>
            </a:pPr>
            <a:r>
              <a:rPr lang="zh-CN" altLang="en-US" sz="2800" b="1"/>
              <a:t>综合：单自同态、满自同态、自同构 </a:t>
            </a:r>
          </a:p>
        </p:txBody>
      </p:sp>
      <p:sp>
        <p:nvSpPr>
          <p:cNvPr id="17410" name="灯片编号占位符 5">
            <a:extLst>
              <a:ext uri="{FF2B5EF4-FFF2-40B4-BE49-F238E27FC236}">
                <a16:creationId xmlns:a16="http://schemas.microsoft.com/office/drawing/2014/main" id="{20E0C3E2-9DB1-46F1-BB62-BFDB7D026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CE63BC5-FA9A-441F-BDDD-48FD0226A5DA}" type="slidenum">
              <a:rPr lang="en-US" altLang="zh-CN">
                <a:solidFill>
                  <a:srgbClr val="898989"/>
                </a:solidFill>
              </a:rPr>
              <a:pPr eaLnBrk="1" hangingPunct="1"/>
              <a:t>5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>
            <a:extLst>
              <a:ext uri="{FF2B5EF4-FFF2-40B4-BE49-F238E27FC236}">
                <a16:creationId xmlns:a16="http://schemas.microsoft.com/office/drawing/2014/main" id="{3455A3E0-133F-4EB2-8955-5CC325A952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188913"/>
            <a:ext cx="7772400" cy="703262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 同态映射的实例</a:t>
            </a:r>
          </a:p>
        </p:txBody>
      </p:sp>
      <p:sp>
        <p:nvSpPr>
          <p:cNvPr id="18434" name="灯片编号占位符 4">
            <a:extLst>
              <a:ext uri="{FF2B5EF4-FFF2-40B4-BE49-F238E27FC236}">
                <a16:creationId xmlns:a16="http://schemas.microsoft.com/office/drawing/2014/main" id="{EA3A555D-9003-4BC7-8153-064113CD2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F865417-BC3F-48A5-9328-92D7F2E9FE26}" type="slidenum">
              <a:rPr lang="en-US" altLang="zh-CN">
                <a:solidFill>
                  <a:srgbClr val="898989"/>
                </a:solidFill>
              </a:rPr>
              <a:pPr eaLnBrk="1" hangingPunct="1"/>
              <a:t>6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90E2BA8D-18B5-4AB9-B112-BCA46B136D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" y="1071563"/>
            <a:ext cx="9001125" cy="512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381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CN" sz="2400" b="1">
                <a:latin typeface="Times New Roman" panose="02020603050405020304" pitchFamily="18" charset="0"/>
              </a:rPr>
              <a:t>(1) </a:t>
            </a:r>
            <a:r>
              <a:rPr lang="en-US" altLang="zh-CN" sz="2400" b="1" i="1">
                <a:latin typeface="Times New Roman" panose="02020603050405020304" pitchFamily="18" charset="0"/>
              </a:rPr>
              <a:t>V</a:t>
            </a:r>
            <a:r>
              <a:rPr lang="en-US" altLang="zh-CN" sz="2400" b="1">
                <a:latin typeface="Times New Roman" panose="02020603050405020304" pitchFamily="18" charset="0"/>
              </a:rPr>
              <a:t> = &lt;Z,+&gt;, </a:t>
            </a:r>
            <a:r>
              <a:rPr lang="en-US" altLang="zh-CN" sz="2400" b="1" i="1">
                <a:latin typeface="Times New Roman" panose="02020603050405020304" pitchFamily="18" charset="0"/>
              </a:rPr>
              <a:t>f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c</a:t>
            </a:r>
            <a:r>
              <a:rPr lang="en-US" altLang="zh-CN" sz="2400" b="1">
                <a:latin typeface="Times New Roman" panose="02020603050405020304" pitchFamily="18" charset="0"/>
              </a:rPr>
              <a:t>:Z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>
                <a:latin typeface="Times New Roman" panose="02020603050405020304" pitchFamily="18" charset="0"/>
              </a:rPr>
              <a:t>Z, </a:t>
            </a:r>
            <a:r>
              <a:rPr lang="en-US" altLang="zh-CN" sz="2400" b="1" i="1">
                <a:latin typeface="Times New Roman" panose="02020603050405020304" pitchFamily="18" charset="0"/>
              </a:rPr>
              <a:t>f</a:t>
            </a:r>
            <a:r>
              <a:rPr lang="en-US" altLang="zh-CN" sz="24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 =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cx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为给定整数</a:t>
            </a:r>
            <a:endParaRPr lang="zh-CN" altLang="en-US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c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= 0,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零同态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; 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= </a:t>
            </a:r>
            <a:r>
              <a:rPr lang="en-US" altLang="zh-CN" sz="2400" b="1">
                <a:latin typeface="Times New Roman" panose="02020603050405020304" pitchFamily="18" charset="0"/>
              </a:rPr>
              <a:t>1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，自同构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; 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其它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单自同态</a:t>
            </a:r>
            <a:endParaRPr lang="zh-CN" altLang="en-US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ts val="600"/>
              </a:spcBef>
            </a:pP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(2)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V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= &lt;Z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6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,</a:t>
            </a:r>
            <a:r>
              <a:rPr lang="en-US" altLang="zh-CN" sz="2400" b="1">
                <a:latin typeface="Times New Roman" panose="02020603050405020304" pitchFamily="18" charset="0"/>
              </a:rPr>
              <a:t>&gt;,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4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:Z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6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>
                <a:latin typeface="Times New Roman" panose="02020603050405020304" pitchFamily="18" charset="0"/>
              </a:rPr>
              <a:t>Z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6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4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 = 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px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 mod 6,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p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= 0,1,2,3,4,5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 p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= 0, 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0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零同态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; 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= 1, 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1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恒等映射，自同构</a:t>
            </a:r>
            <a:endParaRPr lang="zh-CN" altLang="en-US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</a:t>
            </a:r>
            <a:r>
              <a:rPr lang="zh-CN" altLang="en-US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= 2, 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= {&lt;0,0&gt;,&lt;1,2&gt;,&lt;2,4&gt;,&lt;3,0&gt;,&lt;4,2&gt;,&lt;5,4&gt;}, 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= 3, 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= {&lt;0,0&gt;,&lt;1,3&gt;,&lt;2,0&gt;,&lt;3,3&gt;,&lt;4,0&gt;,&lt;5,3&gt;}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      p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= 4,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 f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4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= {&lt;0,0&gt;,&lt;1,4&gt;,&lt;2,2&gt;,&lt;3,0&gt;,&lt;4,4&gt;,&lt;5,2&gt;}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      p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= 5,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 f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5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= {&lt;0,0&gt;,&lt;1,5&gt;,&lt;2,4&gt;,&lt;3,3&gt;,&lt;4,2&gt;,&lt;5,1&gt;}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自同构</a:t>
            </a:r>
            <a:endParaRPr lang="zh-CN" altLang="en-US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ts val="600"/>
              </a:spcBef>
            </a:pP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(3)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推广到 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4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:Z</a:t>
            </a:r>
            <a:r>
              <a:rPr lang="en-US" altLang="zh-CN" sz="24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>
                <a:latin typeface="Times New Roman" panose="02020603050405020304" pitchFamily="18" charset="0"/>
              </a:rPr>
              <a:t>Z</a:t>
            </a:r>
            <a:r>
              <a:rPr lang="en-US" altLang="zh-CN" sz="24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恰好存在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n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个自同态，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=0,1,…,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-1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      </a:t>
            </a:r>
            <a:r>
              <a:rPr lang="zh-CN" altLang="en-US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4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en-US" altLang="zh-CN" sz="2400" b="1" i="1">
                <a:latin typeface="Times New Roman" panose="02020603050405020304" pitchFamily="18" charset="0"/>
              </a:rPr>
              <a:t>y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 = 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en-US" altLang="zh-CN" sz="2400" b="1" i="1">
                <a:latin typeface="Times New Roman" panose="02020603050405020304" pitchFamily="18" charset="0"/>
              </a:rPr>
              <a:t>y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))mod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n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    = 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px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)mod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n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 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py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)mod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n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4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)</a:t>
            </a:r>
            <a:r>
              <a:rPr lang="en-US" altLang="zh-CN" sz="2400" b="1" i="1">
                <a:latin typeface="Times New Roman" panose="02020603050405020304" pitchFamily="18" charset="0"/>
              </a:rPr>
              <a:t>f</a:t>
            </a:r>
            <a:r>
              <a:rPr lang="en-US" altLang="zh-CN" sz="24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    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>
            <a:extLst>
              <a:ext uri="{FF2B5EF4-FFF2-40B4-BE49-F238E27FC236}">
                <a16:creationId xmlns:a16="http://schemas.microsoft.com/office/drawing/2014/main" id="{CCFE4C7C-365A-4EE9-A0CF-52A008671E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77875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同态性质</a:t>
            </a:r>
          </a:p>
        </p:txBody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A82401B2-A89E-414C-96F5-79CD9DC306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1419225"/>
            <a:ext cx="7920037" cy="4530725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同态的合成仍旧是同态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同态像是映到的代数系统的子代数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满同态映射（在同态像中）保持原代数系统的下述性质：</a:t>
            </a: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b="1"/>
              <a:t>交换、结合、幂等、分配、吸收</a:t>
            </a: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b="1"/>
              <a:t>单位元、零元、逆元</a:t>
            </a:r>
            <a:endParaRPr lang="en-US" altLang="zh-CN" b="1"/>
          </a:p>
          <a:p>
            <a:pPr lvl="1" eaLnBrk="1" hangingPunct="1">
              <a:lnSpc>
                <a:spcPct val="120000"/>
              </a:lnSpc>
              <a:spcBef>
                <a:spcPts val="1800"/>
              </a:spcBef>
              <a:buFont typeface="Arial" panose="020B0604020202020204" pitchFamily="34" charset="0"/>
              <a:buNone/>
            </a:pPr>
            <a:r>
              <a:rPr lang="zh-CN" altLang="en-US" b="1"/>
              <a:t>注意：消去律不一定保持</a:t>
            </a:r>
          </a:p>
          <a:p>
            <a:pPr eaLnBrk="1" hangingPunct="1"/>
            <a:endParaRPr lang="en-US" altLang="zh-CN"/>
          </a:p>
        </p:txBody>
      </p:sp>
      <p:sp>
        <p:nvSpPr>
          <p:cNvPr id="19458" name="灯片编号占位符 5">
            <a:extLst>
              <a:ext uri="{FF2B5EF4-FFF2-40B4-BE49-F238E27FC236}">
                <a16:creationId xmlns:a16="http://schemas.microsoft.com/office/drawing/2014/main" id="{7BF64D7E-BE39-4C1B-AA3E-5CEA78ABE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FE82A6E-523E-42AF-8CFA-E08DDADD1E89}" type="slidenum">
              <a:rPr lang="en-US" altLang="zh-CN">
                <a:solidFill>
                  <a:srgbClr val="898989"/>
                </a:solidFill>
              </a:rPr>
              <a:pPr eaLnBrk="1" hangingPunct="1"/>
              <a:t>7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>
            <a:extLst>
              <a:ext uri="{FF2B5EF4-FFF2-40B4-BE49-F238E27FC236}">
                <a16:creationId xmlns:a16="http://schemas.microsoft.com/office/drawing/2014/main" id="{02D535F9-2E71-49F0-ACD4-B5902C4C53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188913"/>
            <a:ext cx="8135937" cy="7747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同态的合成仍是同态</a:t>
            </a:r>
          </a:p>
        </p:txBody>
      </p:sp>
      <p:sp>
        <p:nvSpPr>
          <p:cNvPr id="20482" name="灯片编号占位符 5">
            <a:extLst>
              <a:ext uri="{FF2B5EF4-FFF2-40B4-BE49-F238E27FC236}">
                <a16:creationId xmlns:a16="http://schemas.microsoft.com/office/drawing/2014/main" id="{BD110009-8312-423B-A72E-D51679115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3BECAA8-3064-4254-8E82-DC719A5B2EDA}" type="slidenum">
              <a:rPr lang="en-US" altLang="zh-CN">
                <a:solidFill>
                  <a:srgbClr val="898989"/>
                </a:solidFill>
              </a:rPr>
              <a:pPr eaLnBrk="1" hangingPunct="1"/>
              <a:t>8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89DFC3DA-5D59-42F3-B841-5EE07A515B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196975"/>
            <a:ext cx="8247062" cy="493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2270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</a:rPr>
              <a:t>命题  </a:t>
            </a:r>
            <a:r>
              <a:rPr lang="zh-CN" altLang="en-US" sz="2400" b="1">
                <a:latin typeface="Times New Roman" panose="02020603050405020304" pitchFamily="18" charset="0"/>
              </a:rPr>
              <a:t>若 </a:t>
            </a:r>
            <a:r>
              <a:rPr lang="en-US" altLang="zh-CN" sz="2400" b="1" i="1">
                <a:latin typeface="Times New Roman" panose="02020603050405020304" pitchFamily="18" charset="0"/>
              </a:rPr>
              <a:t>f</a:t>
            </a:r>
            <a:r>
              <a:rPr lang="en-US" altLang="zh-CN" sz="2400" b="1">
                <a:latin typeface="Times New Roman" panose="02020603050405020304" pitchFamily="18" charset="0"/>
              </a:rPr>
              <a:t>:</a:t>
            </a:r>
            <a:r>
              <a:rPr lang="en-US" altLang="zh-CN" sz="2400" b="1" i="1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i="1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: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i="1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为同态映射，则</a:t>
            </a:r>
            <a:r>
              <a:rPr lang="zh-CN" altLang="en-US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400" b="1">
                <a:latin typeface="Lucida Sans Unicode" panose="020B0602030504020204" pitchFamily="34" charset="0"/>
                <a:cs typeface="Lucida Sans Unicode" panose="020B0602030504020204" pitchFamily="34" charset="0"/>
                <a:sym typeface="Symbol" panose="05050102010706020507" pitchFamily="18" charset="2"/>
              </a:rPr>
              <a:t>∘</a:t>
            </a:r>
            <a:r>
              <a:rPr lang="en-US" altLang="zh-CN" sz="2400" b="1" i="1">
                <a:latin typeface="Times New Roman" panose="02020603050405020304" pitchFamily="18" charset="0"/>
              </a:rPr>
              <a:t>f</a:t>
            </a:r>
            <a:r>
              <a:rPr lang="en-US" altLang="zh-CN" sz="2400" b="1">
                <a:latin typeface="Times New Roman" panose="02020603050405020304" pitchFamily="18" charset="0"/>
              </a:rPr>
              <a:t>:</a:t>
            </a:r>
            <a:r>
              <a:rPr lang="en-US" altLang="zh-CN" sz="2400" b="1" i="1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i="1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也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为同态映射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  <a:p>
            <a:pPr eaLnBrk="1" hangingPunct="1">
              <a:lnSpc>
                <a:spcPct val="110000"/>
              </a:lnSpc>
              <a:spcBef>
                <a:spcPct val="50000"/>
              </a:spcBef>
            </a:pP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证  根据集合论的定理，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400" b="1">
                <a:sym typeface="Symbol" panose="05050102010706020507" pitchFamily="18" charset="2"/>
              </a:rPr>
              <a:t>∘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i="1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为映射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任取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中一组对应的运算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设为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k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元运算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1" i="1">
                <a:latin typeface="Times New Roman" panose="02020603050405020304" pitchFamily="18" charset="0"/>
              </a:rPr>
              <a:t>x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… ,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 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 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 g</a:t>
            </a:r>
            <a:r>
              <a:rPr lang="en-US" altLang="zh-CN" sz="2400" b="1">
                <a:sym typeface="Symbol" panose="05050102010706020507" pitchFamily="18" charset="2"/>
              </a:rPr>
              <a:t>∘</a:t>
            </a:r>
            <a:r>
              <a:rPr lang="en-US" altLang="zh-CN" sz="2400" b="1" i="1">
                <a:latin typeface="Times New Roman" panose="02020603050405020304" pitchFamily="18" charset="0"/>
              </a:rPr>
              <a:t>f 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o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…,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 x</a:t>
            </a:r>
            <a:r>
              <a:rPr lang="en-US" altLang="zh-CN" sz="24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)) =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…,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 ) )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=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g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),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 f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), …,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 ) ) 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=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)),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)), …,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)) ) 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=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400" b="1">
                <a:sym typeface="Symbol" panose="05050102010706020507" pitchFamily="18" charset="2"/>
              </a:rPr>
              <a:t>∘</a:t>
            </a:r>
            <a:r>
              <a:rPr lang="en-US" altLang="zh-CN" sz="2400" b="1" i="1">
                <a:latin typeface="Times New Roman" panose="02020603050405020304" pitchFamily="18" charset="0"/>
              </a:rPr>
              <a:t>f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x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),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400" b="1">
                <a:sym typeface="Symbol" panose="05050102010706020507" pitchFamily="18" charset="2"/>
              </a:rPr>
              <a:t>∘</a:t>
            </a:r>
            <a:r>
              <a:rPr lang="en-US" altLang="zh-CN" sz="2400" b="1" i="1">
                <a:latin typeface="Times New Roman" panose="02020603050405020304" pitchFamily="18" charset="0"/>
              </a:rPr>
              <a:t>f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x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), …,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400" b="1">
                <a:sym typeface="Symbol" panose="05050102010706020507" pitchFamily="18" charset="2"/>
              </a:rPr>
              <a:t>∘</a:t>
            </a:r>
            <a:r>
              <a:rPr lang="en-US" altLang="zh-CN" sz="2400" b="1" i="1">
                <a:latin typeface="Times New Roman" panose="02020603050405020304" pitchFamily="18" charset="0"/>
              </a:rPr>
              <a:t>f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x</a:t>
            </a:r>
            <a:r>
              <a:rPr lang="en-US" altLang="zh-CN" sz="24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 ) 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由于运算的任意性，命题得证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ct val="50000"/>
              </a:spcBef>
            </a:pP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推论 </a:t>
            </a:r>
            <a:r>
              <a:rPr lang="zh-CN" altLang="en-US" sz="2400" b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代数系统的同构具有自反、对称、传递的性质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2">
            <a:extLst>
              <a:ext uri="{FF2B5EF4-FFF2-40B4-BE49-F238E27FC236}">
                <a16:creationId xmlns:a16="http://schemas.microsoft.com/office/drawing/2014/main" id="{031A6567-5205-4B2E-B4B3-ECE02201E0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7362" y="142032"/>
            <a:ext cx="8243887" cy="1225550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同态像是映到系统的子代数</a:t>
            </a:r>
          </a:p>
        </p:txBody>
      </p:sp>
      <p:sp>
        <p:nvSpPr>
          <p:cNvPr id="3076" name="灯片编号占位符 4">
            <a:extLst>
              <a:ext uri="{FF2B5EF4-FFF2-40B4-BE49-F238E27FC236}">
                <a16:creationId xmlns:a16="http://schemas.microsoft.com/office/drawing/2014/main" id="{39B2F71C-49E4-47E3-BBC2-B9490F5B8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924550"/>
            <a:ext cx="2133600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09BF162-20CF-46D0-964D-5A12D99DAF6E}" type="slidenum">
              <a:rPr lang="en-US" altLang="zh-CN">
                <a:solidFill>
                  <a:srgbClr val="898989"/>
                </a:solidFill>
              </a:rPr>
              <a:pPr eaLnBrk="1" hangingPunct="1"/>
              <a:t>9</a:t>
            </a:fld>
            <a:endParaRPr lang="en-US" altLang="zh-CN">
              <a:solidFill>
                <a:srgbClr val="898989"/>
              </a:solidFill>
            </a:endParaRPr>
          </a:p>
        </p:txBody>
      </p:sp>
      <p:grpSp>
        <p:nvGrpSpPr>
          <p:cNvPr id="3078" name="Group 3">
            <a:extLst>
              <a:ext uri="{FF2B5EF4-FFF2-40B4-BE49-F238E27FC236}">
                <a16:creationId xmlns:a16="http://schemas.microsoft.com/office/drawing/2014/main" id="{EB64E34F-B910-4238-BE76-A593DF59E6A8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1460500"/>
            <a:ext cx="8424862" cy="4705350"/>
            <a:chOff x="295" y="1026"/>
            <a:chExt cx="5307" cy="2964"/>
          </a:xfrm>
        </p:grpSpPr>
        <p:sp>
          <p:nvSpPr>
            <p:cNvPr id="3079" name="Rectangle 4">
              <a:extLst>
                <a:ext uri="{FF2B5EF4-FFF2-40B4-BE49-F238E27FC236}">
                  <a16:creationId xmlns:a16="http://schemas.microsoft.com/office/drawing/2014/main" id="{5675B973-C38A-4E52-9601-A986A7B636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" y="1261"/>
              <a:ext cx="5307" cy="21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indent="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</a:pPr>
              <a:r>
                <a:rPr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是同类型的代数系统，对于 </a:t>
              </a: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=1,2,…,</a:t>
              </a: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，</a:t>
              </a: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zh-CN" sz="2400" b="1" i="1" baseline="-30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与</a:t>
              </a: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zh-CN" sz="2400" b="1" i="1" baseline="-30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CN" sz="2400" b="1">
                  <a:solidFill>
                    <a:srgbClr val="000000"/>
                  </a:solidFill>
                  <a:sym typeface="Symbol" panose="05050102010706020507" pitchFamily="18" charset="2"/>
                </a:rPr>
                <a:t></a:t>
              </a:r>
              <a:r>
                <a:rPr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是</a:t>
              </a: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zh-CN" sz="2400" b="1" i="1" baseline="-30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 </a:t>
              </a:r>
              <a:r>
                <a:rPr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元运算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</a:p>
            <a:p>
              <a:pPr eaLnBrk="1" hangingPunct="1">
                <a:lnSpc>
                  <a:spcPct val="120000"/>
                </a:lnSpc>
              </a:pP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f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</a:t>
              </a: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是</a:t>
              </a: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V</a:t>
              </a:r>
              <a:r>
                <a:rPr lang="en-US" altLang="zh-CN" sz="2400" b="1" baseline="-30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到</a:t>
              </a: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V</a:t>
              </a:r>
              <a:r>
                <a:rPr lang="en-US" altLang="zh-CN" sz="2400" b="1" baseline="-30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2</a:t>
              </a:r>
              <a:r>
                <a:rPr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的同态，则 </a:t>
              </a: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(</a:t>
              </a: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A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)</a:t>
              </a:r>
              <a:r>
                <a:rPr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关于</a:t>
              </a: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V</a:t>
              </a:r>
              <a:r>
                <a:rPr lang="en-US" altLang="zh-CN" sz="2400" b="1" baseline="-30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2</a:t>
              </a:r>
              <a:r>
                <a:rPr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中的运算构成代</a:t>
              </a:r>
            </a:p>
            <a:p>
              <a:pPr eaLnBrk="1" hangingPunct="1">
                <a:lnSpc>
                  <a:spcPct val="120000"/>
                </a:lnSpc>
              </a:pPr>
              <a:r>
                <a:rPr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数系统，且是</a:t>
              </a: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V</a:t>
              </a:r>
              <a:r>
                <a:rPr lang="en-US" altLang="zh-CN" sz="2400" b="1" baseline="-30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2</a:t>
              </a:r>
              <a:r>
                <a:rPr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的子代数，称为</a:t>
              </a: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V</a:t>
              </a:r>
              <a:r>
                <a:rPr lang="en-US" altLang="zh-CN" sz="2400" b="1" baseline="-30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在 </a:t>
              </a: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f </a:t>
              </a:r>
              <a:r>
                <a:rPr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下的</a:t>
              </a:r>
              <a:r>
                <a:rPr lang="zh-CN" altLang="en-US" sz="2400" b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同态像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.</a:t>
              </a:r>
              <a:endParaRPr lang="en-US" altLang="zh-CN" sz="2400">
                <a:latin typeface="Times New Roman" panose="02020603050405020304" pitchFamily="18" charset="0"/>
                <a:sym typeface="Symbol" panose="05050102010706020507" pitchFamily="18" charset="2"/>
              </a:endParaRPr>
            </a:p>
            <a:p>
              <a:pPr>
                <a:lnSpc>
                  <a:spcPct val="120000"/>
                </a:lnSpc>
                <a:spcBef>
                  <a:spcPts val="1800"/>
                </a:spcBef>
              </a:pPr>
              <a:r>
                <a:rPr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证  </a:t>
              </a:r>
              <a:r>
                <a:rPr lang="zh-CN" altLang="en-US" sz="24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(</a:t>
              </a: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A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)</a:t>
              </a:r>
              <a:r>
                <a:rPr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是 </a:t>
              </a: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B </a:t>
              </a:r>
              <a:r>
                <a:rPr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的非空子集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.</a:t>
              </a:r>
              <a:r>
                <a:rPr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证明</a:t>
              </a:r>
              <a:r>
                <a:rPr lang="zh-CN" altLang="en-US" sz="24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(</a:t>
              </a: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A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) </a:t>
              </a:r>
              <a:r>
                <a:rPr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对</a:t>
              </a: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V</a:t>
              </a:r>
              <a:r>
                <a:rPr lang="en-US" altLang="zh-CN" sz="2400" b="1" baseline="-30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2</a:t>
              </a:r>
              <a:r>
                <a:rPr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中的所有运算封闭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. </a:t>
              </a:r>
              <a:endPara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若</a:t>
              </a: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V</a:t>
              </a:r>
              <a:r>
                <a:rPr lang="en-US" altLang="zh-CN" sz="2400" b="1" baseline="-30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2</a:t>
              </a:r>
              <a:r>
                <a:rPr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中有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0</a:t>
              </a:r>
              <a:r>
                <a:rPr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元运算</a:t>
              </a: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a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, </a:t>
              </a:r>
              <a:r>
                <a:rPr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则</a:t>
              </a: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V</a:t>
              </a:r>
              <a:r>
                <a:rPr lang="en-US" altLang="zh-CN" sz="2400" b="1" baseline="-30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存在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0</a:t>
              </a:r>
              <a:r>
                <a:rPr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元运算 </a:t>
              </a: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a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,  </a:t>
              </a: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(</a:t>
              </a: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a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)=</a:t>
              </a: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a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. </a:t>
              </a:r>
              <a:r>
                <a:rPr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因此 </a:t>
              </a:r>
            </a:p>
            <a:p>
              <a:pPr>
                <a:lnSpc>
                  <a:spcPct val="120000"/>
                </a:lnSpc>
              </a:pPr>
              <a:r>
                <a:rPr lang="zh-CN" altLang="en-US" sz="24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a</a:t>
              </a:r>
              <a:r>
                <a:rPr lang="en-US" altLang="zh-CN" sz="2400" b="1">
                  <a:solidFill>
                    <a:srgbClr val="000000"/>
                  </a:solidFill>
                  <a:sym typeface="Symbol" panose="05050102010706020507" pitchFamily="18" charset="2"/>
                </a:rPr>
                <a:t>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</a:t>
              </a: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). </a:t>
              </a:r>
              <a:r>
                <a:rPr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考虑</a:t>
              </a: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V</a:t>
              </a:r>
              <a:r>
                <a:rPr lang="en-US" altLang="zh-CN" sz="2400" b="1" baseline="-30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2</a:t>
              </a:r>
              <a:r>
                <a:rPr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中任意非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0</a:t>
              </a:r>
              <a:r>
                <a:rPr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元运算</a:t>
              </a: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o</a:t>
              </a:r>
              <a:r>
                <a:rPr lang="en-US" altLang="zh-CN" sz="2400" b="1">
                  <a:solidFill>
                    <a:srgbClr val="000000"/>
                  </a:solidFill>
                  <a:sym typeface="Symbol" panose="05050102010706020507" pitchFamily="18" charset="2"/>
                </a:rPr>
                <a:t>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( </a:t>
              </a: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k</a:t>
              </a:r>
              <a:r>
                <a:rPr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元运算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). </a:t>
              </a:r>
              <a:r>
                <a:rPr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任取 </a:t>
              </a: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(</a:t>
              </a: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A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)</a:t>
              </a:r>
              <a:r>
                <a:rPr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中</a:t>
              </a:r>
            </a:p>
            <a:p>
              <a:pPr>
                <a:lnSpc>
                  <a:spcPct val="120000"/>
                </a:lnSpc>
              </a:pPr>
              <a:r>
                <a:rPr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元素 </a:t>
              </a: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y</a:t>
              </a:r>
              <a:r>
                <a:rPr lang="en-US" altLang="zh-CN" sz="2400" b="1" baseline="-30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,</a:t>
              </a: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y</a:t>
              </a:r>
              <a:r>
                <a:rPr lang="en-US" altLang="zh-CN" sz="2400" b="1" baseline="-30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2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,…,</a:t>
              </a: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y</a:t>
              </a:r>
              <a:r>
                <a:rPr lang="en-US" altLang="zh-CN" sz="2400" b="1" i="1" baseline="-30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k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,</a:t>
              </a:r>
              <a:r>
                <a:rPr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存在</a:t>
              </a: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x</a:t>
              </a:r>
              <a:r>
                <a:rPr lang="en-US" altLang="zh-CN" sz="2400" b="1" baseline="-30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,</a:t>
              </a: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x</a:t>
              </a:r>
              <a:r>
                <a:rPr lang="en-US" altLang="zh-CN" sz="2400" b="1" baseline="-30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2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,…,</a:t>
              </a: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x</a:t>
              </a:r>
              <a:r>
                <a:rPr lang="en-US" altLang="zh-CN" sz="2400" b="1" i="1" baseline="-30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k</a:t>
              </a:r>
              <a:r>
                <a:rPr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使得 </a:t>
              </a: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(</a:t>
              </a: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x</a:t>
              </a:r>
              <a:r>
                <a:rPr lang="en-US" altLang="zh-CN" sz="2400" b="1" i="1" baseline="-30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i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)=</a:t>
              </a: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y</a:t>
              </a:r>
              <a:r>
                <a:rPr lang="en-US" altLang="zh-CN" sz="2400" b="1" i="1" baseline="-30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i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, </a:t>
              </a: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i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=1,2,…,</a:t>
              </a: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k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, </a:t>
              </a:r>
              <a:r>
                <a:rPr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那么</a:t>
              </a:r>
            </a:p>
          </p:txBody>
        </p:sp>
        <p:graphicFrame>
          <p:nvGraphicFramePr>
            <p:cNvPr id="3074" name="Object 5">
              <a:extLst>
                <a:ext uri="{FF2B5EF4-FFF2-40B4-BE49-F238E27FC236}">
                  <a16:creationId xmlns:a16="http://schemas.microsoft.com/office/drawing/2014/main" id="{D0B1E22E-648F-4897-8584-CD43C7975B0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67" y="3419"/>
            <a:ext cx="4673" cy="2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3" name="公式" r:id="rId4" imgW="3822700" imgH="203200" progId="Equation.3">
                    <p:embed/>
                  </p:oleObj>
                </mc:Choice>
                <mc:Fallback>
                  <p:oleObj name="公式" r:id="rId4" imgW="3822700" imgH="2032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7" y="3419"/>
                          <a:ext cx="4673" cy="28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80" name="Rectangle 6">
              <a:extLst>
                <a:ext uri="{FF2B5EF4-FFF2-40B4-BE49-F238E27FC236}">
                  <a16:creationId xmlns:a16="http://schemas.microsoft.com/office/drawing/2014/main" id="{905A2F39-11F6-4BDB-863E-1E43040F70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" y="3702"/>
              <a:ext cx="308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显然上述结果属于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).</a:t>
              </a:r>
              <a:endParaRPr lang="en-US" altLang="zh-CN" sz="2400"/>
            </a:p>
          </p:txBody>
        </p:sp>
        <p:grpSp>
          <p:nvGrpSpPr>
            <p:cNvPr id="3081" name="Group 7">
              <a:extLst>
                <a:ext uri="{FF2B5EF4-FFF2-40B4-BE49-F238E27FC236}">
                  <a16:creationId xmlns:a16="http://schemas.microsoft.com/office/drawing/2014/main" id="{83B867DB-ADCC-4A53-ADFB-B98736D3F5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1" y="1026"/>
              <a:ext cx="4808" cy="291"/>
              <a:chOff x="431" y="1026"/>
              <a:chExt cx="4808" cy="291"/>
            </a:xfrm>
          </p:grpSpPr>
          <p:graphicFrame>
            <p:nvGraphicFramePr>
              <p:cNvPr id="3075" name="Object 8">
                <a:extLst>
                  <a:ext uri="{FF2B5EF4-FFF2-40B4-BE49-F238E27FC236}">
                    <a16:creationId xmlns:a16="http://schemas.microsoft.com/office/drawing/2014/main" id="{292F5AF0-7EC1-403C-B63D-5F4BEA61021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383" y="1026"/>
              <a:ext cx="3856" cy="27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4" name="公式" r:id="rId6" imgW="2844800" imgH="203200" progId="Equation.3">
                      <p:embed/>
                    </p:oleObj>
                  </mc:Choice>
                  <mc:Fallback>
                    <p:oleObj name="公式" r:id="rId6" imgW="2844800" imgH="203200" progId="Equation.3">
                      <p:embed/>
                      <p:pic>
                        <p:nvPicPr>
                          <p:cNvPr id="0" name="Object 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83" y="1026"/>
                            <a:ext cx="3856" cy="27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082" name="Text Box 9">
                <a:extLst>
                  <a:ext uri="{FF2B5EF4-FFF2-40B4-BE49-F238E27FC236}">
                    <a16:creationId xmlns:a16="http://schemas.microsoft.com/office/drawing/2014/main" id="{8C443181-7B48-4598-918A-41EB74D60F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1" y="1026"/>
                <a:ext cx="970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400" b="1">
                    <a:solidFill>
                      <a:srgbClr val="C00000"/>
                    </a:solidFill>
                  </a:rPr>
                  <a:t>定理</a:t>
                </a:r>
                <a:r>
                  <a:rPr lang="en-US" altLang="zh-CN" sz="2400" b="1">
                    <a:solidFill>
                      <a:srgbClr val="C00000"/>
                    </a:solidFill>
                  </a:rPr>
                  <a:t>1   </a:t>
                </a:r>
                <a:r>
                  <a:rPr lang="zh-CN" altLang="en-US" sz="2400" b="1"/>
                  <a:t>设</a:t>
                </a:r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>
            <a:extLst>
              <a:ext uri="{FF2B5EF4-FFF2-40B4-BE49-F238E27FC236}">
                <a16:creationId xmlns:a16="http://schemas.microsoft.com/office/drawing/2014/main" id="{9A6AF0E4-E9A7-452E-B406-D46D089D98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188913"/>
            <a:ext cx="8229600" cy="849312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满同态保持原代数性质</a:t>
            </a:r>
          </a:p>
        </p:txBody>
      </p:sp>
      <p:sp>
        <p:nvSpPr>
          <p:cNvPr id="4099" name="灯片编号占位符 4">
            <a:extLst>
              <a:ext uri="{FF2B5EF4-FFF2-40B4-BE49-F238E27FC236}">
                <a16:creationId xmlns:a16="http://schemas.microsoft.com/office/drawing/2014/main" id="{FBC0BF85-5042-46DB-8702-35C5E96B9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CAA26C7-BC4D-4349-88C6-0E9309EFD14F}" type="slidenum">
              <a:rPr lang="en-US" altLang="zh-CN">
                <a:solidFill>
                  <a:srgbClr val="898989"/>
                </a:solidFill>
              </a:rPr>
              <a:pPr eaLnBrk="1" hangingPunct="1"/>
              <a:t>10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4101" name="Rectangle 3">
            <a:extLst>
              <a:ext uri="{FF2B5EF4-FFF2-40B4-BE49-F238E27FC236}">
                <a16:creationId xmlns:a16="http://schemas.microsoft.com/office/drawing/2014/main" id="{82197ECE-6BFC-4497-8A9C-4EC90D84FD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412875"/>
            <a:ext cx="1409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rgbClr val="C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定理</a:t>
            </a:r>
            <a:r>
              <a:rPr lang="en-US" altLang="zh-CN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>
                <a:latin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>
                <a:latin typeface="宋体" panose="02010600030101010101" pitchFamily="2" charset="-122"/>
                <a:cs typeface="Times New Roman" panose="02020603050405020304" pitchFamily="18" charset="0"/>
              </a:rPr>
              <a:t>设</a:t>
            </a:r>
            <a:endParaRPr lang="zh-CN" altLang="en-US" sz="2400"/>
          </a:p>
        </p:txBody>
      </p:sp>
      <p:graphicFrame>
        <p:nvGraphicFramePr>
          <p:cNvPr id="4098" name="Object 4">
            <a:extLst>
              <a:ext uri="{FF2B5EF4-FFF2-40B4-BE49-F238E27FC236}">
                <a16:creationId xmlns:a16="http://schemas.microsoft.com/office/drawing/2014/main" id="{72FD2774-BBFC-41D3-B6BA-84A1352072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79538" y="1846263"/>
          <a:ext cx="6577012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" name="公式" r:id="rId4" imgW="2806560" imgH="203040" progId="Equation.3">
                  <p:embed/>
                </p:oleObj>
              </mc:Choice>
              <mc:Fallback>
                <p:oleObj name="公式" r:id="rId4" imgW="2806560" imgH="2030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9538" y="1846263"/>
                        <a:ext cx="6577012" cy="500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2" name="Rectangle 5">
            <a:extLst>
              <a:ext uri="{FF2B5EF4-FFF2-40B4-BE49-F238E27FC236}">
                <a16:creationId xmlns:a16="http://schemas.microsoft.com/office/drawing/2014/main" id="{D65ACE67-AE07-402A-81D9-08DBF7425B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2263775"/>
            <a:ext cx="7993062" cy="334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304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是同类型的代数系统，函数 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400" b="1" baseline="-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到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400" b="1" baseline="-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的满同态，</a:t>
            </a:r>
            <a:endParaRPr lang="zh-CN" altLang="en-US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(1)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400" b="1" baseline="-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中运算保持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400" b="1" baseline="-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中相应运算的下述性质：</a:t>
            </a:r>
            <a:endParaRPr lang="zh-CN" altLang="en-US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</a:pP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交换、结合、幂等、分配、吸收</a:t>
            </a:r>
            <a:endParaRPr lang="zh-CN" altLang="en-US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(2)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400" b="1" baseline="-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中保持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400" b="1" baseline="-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中的 单位元、零元、逆元，即</a:t>
            </a:r>
            <a:endParaRPr lang="zh-CN" altLang="en-US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400" b="1" baseline="-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中单位元，其中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为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400" b="1" baseline="-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中相应运算单位元 </a:t>
            </a:r>
            <a:endParaRPr lang="zh-CN" altLang="en-US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400" b="1" baseline="-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中零元，其中</a:t>
            </a:r>
            <a:r>
              <a:rPr lang="zh-CN" altLang="en-US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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400" b="1" baseline="-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中相应运算零元</a:t>
            </a:r>
            <a:endParaRPr lang="zh-CN" altLang="en-US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</a:t>
            </a:r>
            <a:r>
              <a:rPr lang="zh-CN" altLang="en-US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baseline="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1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zh-CN" altLang="en-US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的逆元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9B6E8486-2440-4775-A874-36FC4F86D2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188913"/>
            <a:ext cx="8229600" cy="849312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结合律的证明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FF76E43-E6BE-487D-9009-379AEC4B0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2D46DD1-F798-4CD3-862C-3B9DB65FFB78}" type="slidenum">
              <a:rPr lang="en-US" altLang="zh-CN">
                <a:solidFill>
                  <a:srgbClr val="898989"/>
                </a:solidFill>
              </a:rPr>
              <a:pPr eaLnBrk="1" hangingPunct="1"/>
              <a:t>11</a:t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5122" name="Object 8">
            <a:extLst>
              <a:ext uri="{FF2B5EF4-FFF2-40B4-BE49-F238E27FC236}">
                <a16:creationId xmlns:a16="http://schemas.microsoft.com/office/drawing/2014/main" id="{336DE81F-37BE-46DD-9E98-05A297203B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5650" y="1052513"/>
          <a:ext cx="612140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" name="公式" r:id="rId3" imgW="2844800" imgH="203200" progId="Equation.3">
                  <p:embed/>
                </p:oleObj>
              </mc:Choice>
              <mc:Fallback>
                <p:oleObj name="公式" r:id="rId3" imgW="2844800" imgH="2032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1052513"/>
                        <a:ext cx="6121400" cy="4302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6" name="Rectangle 3">
            <a:extLst>
              <a:ext uri="{FF2B5EF4-FFF2-40B4-BE49-F238E27FC236}">
                <a16:creationId xmlns:a16="http://schemas.microsoft.com/office/drawing/2014/main" id="{20ABBBE7-903F-4F00-8799-E097334743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557338"/>
            <a:ext cx="8247062" cy="471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2270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x, y, z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B,  f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是满同态</a:t>
            </a:r>
            <a:r>
              <a:rPr lang="zh-CN" altLang="en-US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存在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 a, b, c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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A,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使得</a:t>
            </a:r>
            <a:endParaRPr lang="en-US" altLang="zh-CN" sz="2400" b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                    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)=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 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)=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 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)=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z</a:t>
            </a:r>
          </a:p>
          <a:p>
            <a:pPr eaLnBrk="1" hangingPunct="1">
              <a:lnSpc>
                <a:spcPct val="110000"/>
              </a:lnSpc>
            </a:pPr>
            <a:endParaRPr lang="en-US" altLang="zh-CN" sz="2400" b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 eaLnBrk="1" hangingPunct="1">
              <a:lnSpc>
                <a:spcPct val="110000"/>
              </a:lnSpc>
            </a:pPr>
            <a:endParaRPr lang="en-US" altLang="zh-CN" sz="2400" b="1" i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ts val="1200"/>
              </a:spcBef>
            </a:pP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                                                   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 o</a:t>
            </a:r>
            <a:r>
              <a:rPr lang="en-US" altLang="zh-CN" sz="24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是可结合的)</a:t>
            </a:r>
            <a:endParaRPr lang="en-US" altLang="zh-CN" sz="2400" b="1" i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</a:pP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</a:pPr>
            <a:endParaRPr lang="en-US" altLang="zh-CN" sz="2400" b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</a:pPr>
            <a:endParaRPr lang="en-US" altLang="zh-CN" sz="2400" b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</a:pPr>
            <a:endParaRPr lang="en-US" altLang="zh-CN" sz="2400" b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由于运算的任意性，命题得证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graphicFrame>
        <p:nvGraphicFramePr>
          <p:cNvPr id="5123" name="Object 4">
            <a:extLst>
              <a:ext uri="{FF2B5EF4-FFF2-40B4-BE49-F238E27FC236}">
                <a16:creationId xmlns:a16="http://schemas.microsoft.com/office/drawing/2014/main" id="{5C359737-3CB1-4108-B926-6E4BABDD98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52588" y="2570163"/>
          <a:ext cx="4359275" cy="301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8" name="公式" r:id="rId5" imgW="2349360" imgH="1625400" progId="Equation.3">
                  <p:embed/>
                </p:oleObj>
              </mc:Choice>
              <mc:Fallback>
                <p:oleObj name="公式" r:id="rId5" imgW="2349360" imgH="1625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2588" y="2570163"/>
                        <a:ext cx="4359275" cy="301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2">
            <a:extLst>
              <a:ext uri="{FF2B5EF4-FFF2-40B4-BE49-F238E27FC236}">
                <a16:creationId xmlns:a16="http://schemas.microsoft.com/office/drawing/2014/main" id="{8659C004-98D2-4BFE-B1BD-E5E3C637F8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60350"/>
            <a:ext cx="8208963" cy="720725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几点说明</a:t>
            </a:r>
          </a:p>
        </p:txBody>
      </p:sp>
      <p:sp>
        <p:nvSpPr>
          <p:cNvPr id="5123" name="灯片编号占位符 4">
            <a:extLst>
              <a:ext uri="{FF2B5EF4-FFF2-40B4-BE49-F238E27FC236}">
                <a16:creationId xmlns:a16="http://schemas.microsoft.com/office/drawing/2014/main" id="{1BDAB53C-8D8C-472A-95A3-CA58FD6B7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08AABF4-D40D-484E-9784-A9E16D3B4790}" type="slidenum">
              <a:rPr lang="en-US" altLang="zh-CN">
                <a:solidFill>
                  <a:srgbClr val="898989"/>
                </a:solidFill>
              </a:rPr>
              <a:pPr eaLnBrk="1" hangingPunct="1"/>
              <a:t>12</a:t>
            </a:fld>
            <a:endParaRPr lang="en-US" altLang="zh-CN">
              <a:solidFill>
                <a:srgbClr val="898989"/>
              </a:solidFill>
            </a:endParaRPr>
          </a:p>
        </p:txBody>
      </p:sp>
      <p:grpSp>
        <p:nvGrpSpPr>
          <p:cNvPr id="6149" name="Group 3">
            <a:extLst>
              <a:ext uri="{FF2B5EF4-FFF2-40B4-BE49-F238E27FC236}">
                <a16:creationId xmlns:a16="http://schemas.microsoft.com/office/drawing/2014/main" id="{4CB814A4-A860-409F-A2B7-664CCF1FE506}"/>
              </a:ext>
            </a:extLst>
          </p:cNvPr>
          <p:cNvGrpSpPr>
            <a:grpSpLocks/>
          </p:cNvGrpSpPr>
          <p:nvPr/>
        </p:nvGrpSpPr>
        <p:grpSpPr bwMode="auto">
          <a:xfrm>
            <a:off x="395288" y="1268413"/>
            <a:ext cx="8093075" cy="4970462"/>
            <a:chOff x="431" y="1030"/>
            <a:chExt cx="5098" cy="2860"/>
          </a:xfrm>
        </p:grpSpPr>
        <p:sp>
          <p:nvSpPr>
            <p:cNvPr id="6150" name="Rectangle 4">
              <a:extLst>
                <a:ext uri="{FF2B5EF4-FFF2-40B4-BE49-F238E27FC236}">
                  <a16:creationId xmlns:a16="http://schemas.microsoft.com/office/drawing/2014/main" id="{D96C0EDF-3842-4A7E-884F-52CB590A61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1030"/>
              <a:ext cx="5012" cy="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indent="228600" eaLnBrk="0" hangingPunct="0">
                <a:tabLst>
                  <a:tab pos="2667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tabLst>
                  <a:tab pos="2667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tabLst>
                  <a:tab pos="2667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tabLst>
                  <a:tab pos="2667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tabLst>
                  <a:tab pos="2667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buFont typeface="Wingdings" panose="05000000000000000000" pitchFamily="2" charset="2"/>
                <a:buAutoNum type="arabicPeriod"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满同态条件重要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如果不是满同态，有关性质只能在同</a:t>
              </a:r>
            </a:p>
            <a:p>
              <a:pPr eaLnBrk="1" hangingPunct="1">
                <a:lnSpc>
                  <a:spcPct val="120000"/>
                </a:lnSpc>
                <a:buFont typeface="Wingdings" panose="05000000000000000000" pitchFamily="2" charset="2"/>
                <a:buNone/>
              </a:pP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态像中成立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.  </a:t>
              </a: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例如</a:t>
              </a:r>
              <a:endParaRPr lang="zh-CN" altLang="en-US" sz="2400"/>
            </a:p>
          </p:txBody>
        </p:sp>
        <p:graphicFrame>
          <p:nvGraphicFramePr>
            <p:cNvPr id="6146" name="Object 5">
              <a:extLst>
                <a:ext uri="{FF2B5EF4-FFF2-40B4-BE49-F238E27FC236}">
                  <a16:creationId xmlns:a16="http://schemas.microsoft.com/office/drawing/2014/main" id="{6B5C4395-6BC2-45B0-8F44-F14F12E0E6B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80" y="1580"/>
            <a:ext cx="2682" cy="11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2" name="公式" r:id="rId4" imgW="2336760" imgH="977760" progId="Equation.3">
                    <p:embed/>
                  </p:oleObj>
                </mc:Choice>
                <mc:Fallback>
                  <p:oleObj name="公式" r:id="rId4" imgW="2336760" imgH="97776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0" y="1580"/>
                          <a:ext cx="2682" cy="112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51" name="Rectangle 6">
              <a:extLst>
                <a:ext uri="{FF2B5EF4-FFF2-40B4-BE49-F238E27FC236}">
                  <a16:creationId xmlns:a16="http://schemas.microsoft.com/office/drawing/2014/main" id="{D9CABE68-A796-4CC3-B925-6FEA7A9A7A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" y="2710"/>
              <a:ext cx="5081" cy="1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indent="228600" eaLnBrk="0" hangingPunct="0">
                <a:tabLst>
                  <a:tab pos="2667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tabLst>
                  <a:tab pos="2667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tabLst>
                  <a:tab pos="2667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tabLst>
                  <a:tab pos="2667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tabLst>
                  <a:tab pos="2667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ts val="2400"/>
                </a:spcBef>
              </a:pP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f </a:t>
              </a: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不是满同态，只能将单位元映到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) </a:t>
              </a: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的单位元，不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lnSpc>
                  <a:spcPct val="120000"/>
                </a:lnSpc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是自身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.  </a:t>
              </a: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其他见书上例题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15.22, 15.23.</a:t>
              </a:r>
              <a:endParaRPr lang="en-US" altLang="zh-CN" sz="2400"/>
            </a:p>
            <a:p>
              <a:pPr>
                <a:lnSpc>
                  <a:spcPct val="120000"/>
                </a:lnSpc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2. </a:t>
              </a: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消去律不一定保持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en-US" altLang="zh-CN" sz="2400"/>
            </a:p>
            <a:p>
              <a:pPr>
                <a:lnSpc>
                  <a:spcPct val="120000"/>
                </a:lnSpc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书上例题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15.24,  &lt;Z,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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&gt;, &lt;Z</a:t>
              </a:r>
              <a:r>
                <a:rPr lang="en-US" altLang="zh-CN" sz="2400" b="1" baseline="-3000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6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,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&gt;,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) = (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) mod 6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  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代数结构PP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代数结构PPT" id="{59FB3D3D-6029-4102-98A0-9B60F27E0E23}" vid="{0AB676A5-E0BB-48C0-B1BF-4DD3C7F3CCB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代数结构PPT</Template>
  <TotalTime>2802</TotalTime>
  <Words>1243</Words>
  <Application>Microsoft Office PowerPoint</Application>
  <PresentationFormat>全屏显示(4:3)</PresentationFormat>
  <Paragraphs>137</Paragraphs>
  <Slides>12</Slides>
  <Notes>11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宋体</vt:lpstr>
      <vt:lpstr>Calibri</vt:lpstr>
      <vt:lpstr>Times New Roman</vt:lpstr>
      <vt:lpstr>Symbol</vt:lpstr>
      <vt:lpstr>Wingdings</vt:lpstr>
      <vt:lpstr>Lucida Sans Unicode</vt:lpstr>
      <vt:lpstr>代数结构PPT</vt:lpstr>
      <vt:lpstr>Microsoft 公式 3.0</vt:lpstr>
      <vt:lpstr>15.3 代数系统的同态同构</vt:lpstr>
      <vt:lpstr>                 同态映射的定义</vt:lpstr>
      <vt:lpstr>同态映射的含义</vt:lpstr>
      <vt:lpstr>几点说明</vt:lpstr>
      <vt:lpstr>同态映射的分类</vt:lpstr>
      <vt:lpstr>                      同态映射的实例</vt:lpstr>
      <vt:lpstr>同态性质</vt:lpstr>
      <vt:lpstr>                  同态的合成仍是同态</vt:lpstr>
      <vt:lpstr>同态像是映到系统的子代数</vt:lpstr>
      <vt:lpstr>                  满同态保持原代数性质</vt:lpstr>
      <vt:lpstr>结合律的证明</vt:lpstr>
      <vt:lpstr>几点说明</vt:lpstr>
    </vt:vector>
  </TitlesOfParts>
  <Company>深圳市斯尔顿科技有限公司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付 康</cp:lastModifiedBy>
  <cp:revision>308</cp:revision>
  <dcterms:created xsi:type="dcterms:W3CDTF">2005-12-02T07:25:32Z</dcterms:created>
  <dcterms:modified xsi:type="dcterms:W3CDTF">2020-07-03T09:34:14Z</dcterms:modified>
</cp:coreProperties>
</file>